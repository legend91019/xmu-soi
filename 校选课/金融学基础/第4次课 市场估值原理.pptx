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312" r:id="rId3"/>
    <p:sldId id="309" r:id="rId4"/>
    <p:sldId id="310" r:id="rId5"/>
    <p:sldId id="311" r:id="rId6"/>
    <p:sldId id="315" r:id="rId7"/>
    <p:sldId id="317" r:id="rId8"/>
    <p:sldId id="257" r:id="rId9"/>
    <p:sldId id="258" r:id="rId10"/>
    <p:sldId id="259" r:id="rId11"/>
    <p:sldId id="260" r:id="rId12"/>
    <p:sldId id="261" r:id="rId13"/>
    <p:sldId id="262" r:id="rId14"/>
    <p:sldId id="263" r:id="rId15"/>
    <p:sldId id="301" r:id="rId16"/>
    <p:sldId id="302" r:id="rId17"/>
    <p:sldId id="303" r:id="rId18"/>
    <p:sldId id="304" r:id="rId19"/>
    <p:sldId id="305" r:id="rId20"/>
    <p:sldId id="306" r:id="rId21"/>
    <p:sldId id="307" r:id="rId22"/>
    <p:sldId id="264" r:id="rId23"/>
    <p:sldId id="265" r:id="rId24"/>
    <p:sldId id="267" r:id="rId25"/>
    <p:sldId id="268" r:id="rId26"/>
    <p:sldId id="269" r:id="rId27"/>
    <p:sldId id="270" r:id="rId28"/>
    <p:sldId id="272" r:id="rId29"/>
    <p:sldId id="271" r:id="rId30"/>
    <p:sldId id="273" r:id="rId31"/>
    <p:sldId id="274" r:id="rId32"/>
    <p:sldId id="275" r:id="rId33"/>
    <p:sldId id="276" r:id="rId34"/>
    <p:sldId id="318" r:id="rId35"/>
    <p:sldId id="277" r:id="rId36"/>
    <p:sldId id="293" r:id="rId37"/>
    <p:sldId id="308" r:id="rId38"/>
    <p:sldId id="298" r:id="rId39"/>
    <p:sldId id="294" r:id="rId40"/>
    <p:sldId id="292" r:id="rId41"/>
    <p:sldId id="316" r:id="rId42"/>
    <p:sldId id="314" r:id="rId43"/>
    <p:sldId id="313" r:id="rId44"/>
    <p:sldId id="278" r:id="rId45"/>
    <p:sldId id="279" r:id="rId46"/>
    <p:sldId id="280" r:id="rId47"/>
    <p:sldId id="281" r:id="rId48"/>
    <p:sldId id="282" r:id="rId49"/>
    <p:sldId id="283" r:id="rId50"/>
    <p:sldId id="285" r:id="rId51"/>
    <p:sldId id="296" r:id="rId52"/>
    <p:sldId id="297" r:id="rId53"/>
    <p:sldId id="319" r:id="rId54"/>
    <p:sldId id="321" r:id="rId55"/>
    <p:sldId id="320" r:id="rId56"/>
    <p:sldId id="322" r:id="rId57"/>
    <p:sldId id="323" r:id="rId58"/>
    <p:sldId id="325" r:id="rId59"/>
    <p:sldId id="324" r:id="rId60"/>
    <p:sldId id="326" r:id="rId61"/>
    <p:sldId id="327" r:id="rId62"/>
    <p:sldId id="328" r:id="rId63"/>
    <p:sldId id="299" r:id="rId64"/>
    <p:sldId id="300"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9B2B61-FC8D-44F5-BF55-1EF0B7F64702}" type="datetimeFigureOut">
              <a:rPr lang="zh-CN" altLang="en-US" smtClean="0"/>
              <a:t>2026/3/19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68F75D-C8E1-4A8C-8FD7-0B2839494E1B}" type="slidenum">
              <a:rPr lang="zh-CN" altLang="en-US" smtClean="0"/>
              <a:t>‹#›</a:t>
            </a:fld>
            <a:endParaRPr lang="zh-CN" altLang="en-US"/>
          </a:p>
        </p:txBody>
      </p:sp>
    </p:spTree>
    <p:extLst>
      <p:ext uri="{BB962C8B-B14F-4D97-AF65-F5344CB8AC3E}">
        <p14:creationId xmlns:p14="http://schemas.microsoft.com/office/powerpoint/2010/main" val="130574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8045A5-4E90-4011-93AA-2DCA4EB0618B}" type="slidenum">
              <a:rPr lang="zh-CN" altLang="en-US"/>
              <a:pPr/>
              <a:t>27</a:t>
            </a:fld>
            <a:endParaRPr lang="en-US" altLang="zh-CN"/>
          </a:p>
        </p:txBody>
      </p:sp>
      <p:sp>
        <p:nvSpPr>
          <p:cNvPr id="34818" name="Rectangle 2"/>
          <p:cNvSpPr>
            <a:spLocks noGrp="1" noRot="1" noChangeAspect="1" noChangeArrowheads="1" noTextEdit="1"/>
          </p:cNvSpPr>
          <p:nvPr>
            <p:ph type="sldImg"/>
          </p:nvPr>
        </p:nvSpPr>
        <p:spPr>
          <a:ln cap="flat"/>
        </p:spPr>
      </p:sp>
      <p:sp>
        <p:nvSpPr>
          <p:cNvPr id="34819"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2616686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2334964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3659859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118812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266475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3173979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1521470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292358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1362186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394158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9726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25AE3AC-1FF0-450C-B4C4-9C75DEC82A36}"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90380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625600" y="304800"/>
            <a:ext cx="10363200"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1625600" y="1295400"/>
            <a:ext cx="5080000" cy="5105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908800" y="1295400"/>
            <a:ext cx="5080000" cy="24765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908800" y="3924300"/>
            <a:ext cx="5080000" cy="24765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0" y="6553200"/>
            <a:ext cx="2540000" cy="304800"/>
          </a:xfrm>
        </p:spPr>
        <p:txBody>
          <a:bodyPr/>
          <a:lstStyle>
            <a:lvl1pPr>
              <a:defRPr/>
            </a:lvl1pPr>
          </a:lstStyle>
          <a:p>
            <a:fld id="{6C97B150-D7FB-44AA-9019-BF93EA08B963}" type="datetime1">
              <a:rPr lang="zh-CN" altLang="en-US"/>
              <a:pPr/>
              <a:t>2026/3/19</a:t>
            </a:fld>
            <a:endParaRPr lang="en-US" altLang="zh-CN"/>
          </a:p>
        </p:txBody>
      </p:sp>
      <p:sp>
        <p:nvSpPr>
          <p:cNvPr id="7" name="页脚占位符 6"/>
          <p:cNvSpPr>
            <a:spLocks noGrp="1"/>
          </p:cNvSpPr>
          <p:nvPr>
            <p:ph type="ftr" sz="quarter" idx="11"/>
          </p:nvPr>
        </p:nvSpPr>
        <p:spPr>
          <a:xfrm>
            <a:off x="4775200" y="6477000"/>
            <a:ext cx="3860800" cy="381000"/>
          </a:xfrm>
        </p:spPr>
        <p:txBody>
          <a:bodyPr/>
          <a:lstStyle>
            <a:lvl1pPr>
              <a:defRPr/>
            </a:lvl1pPr>
          </a:lstStyle>
          <a:p>
            <a:r>
              <a:rPr lang="zh-CN" altLang="en-US"/>
              <a:t>光华管理学院</a:t>
            </a:r>
          </a:p>
        </p:txBody>
      </p:sp>
      <p:sp>
        <p:nvSpPr>
          <p:cNvPr id="8" name="灯片编号占位符 7"/>
          <p:cNvSpPr>
            <a:spLocks noGrp="1"/>
          </p:cNvSpPr>
          <p:nvPr>
            <p:ph type="sldNum" sz="quarter" idx="12"/>
          </p:nvPr>
        </p:nvSpPr>
        <p:spPr>
          <a:xfrm>
            <a:off x="9652000" y="6553200"/>
            <a:ext cx="2540000" cy="304800"/>
          </a:xfrm>
        </p:spPr>
        <p:txBody>
          <a:bodyPr/>
          <a:lstStyle>
            <a:lvl1pPr>
              <a:defRPr/>
            </a:lvl1pPr>
          </a:lstStyle>
          <a:p>
            <a:fld id="{3F1D99F9-B381-40E7-A1B6-03BF63474B86}" type="slidenum">
              <a:rPr lang="en-US" altLang="zh-CN"/>
              <a:pPr/>
              <a:t>‹#›</a:t>
            </a:fld>
            <a:endParaRPr lang="en-US" altLang="zh-CN"/>
          </a:p>
        </p:txBody>
      </p:sp>
    </p:spTree>
    <p:extLst>
      <p:ext uri="{BB962C8B-B14F-4D97-AF65-F5344CB8AC3E}">
        <p14:creationId xmlns:p14="http://schemas.microsoft.com/office/powerpoint/2010/main" val="1849228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AE3AC-1FF0-450C-B4C4-9C75DEC82A36}" type="datetimeFigureOut">
              <a:rPr lang="zh-CN" altLang="en-US" smtClean="0"/>
              <a:t>2026/3/19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496F1F-D3EF-4590-A781-2637556C787C}" type="slidenum">
              <a:rPr lang="zh-CN" altLang="en-US" smtClean="0"/>
              <a:t>‹#›</a:t>
            </a:fld>
            <a:endParaRPr lang="zh-CN" altLang="en-US"/>
          </a:p>
        </p:txBody>
      </p:sp>
    </p:spTree>
    <p:extLst>
      <p:ext uri="{BB962C8B-B14F-4D97-AF65-F5344CB8AC3E}">
        <p14:creationId xmlns:p14="http://schemas.microsoft.com/office/powerpoint/2010/main" val="3776918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efdsearch.senate.gov/search/view/paper/156b69ba-6f48-4a32-b796-707093c476c6/" TargetMode="External"/><Relationship Id="rId2" Type="http://schemas.openxmlformats.org/officeDocument/2006/relationships/hyperlink" Target="https://projects.propublica.org/represent/members/B001135-richard-m-burr" TargetMode="External"/><Relationship Id="rId1" Type="http://schemas.openxmlformats.org/officeDocument/2006/relationships/slideLayout" Target="../slideLayouts/slideLayout2.xml"/><Relationship Id="rId4" Type="http://schemas.openxmlformats.org/officeDocument/2006/relationships/hyperlink" Target="https://www.reuters.com/article/us-china-health-usa-intelligence/u-s-spy-agencies-monitor-coronavirus-spread-concerns-about-india-sources-idUSKCN20L37R"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4</a:t>
            </a:r>
            <a:r>
              <a:rPr lang="zh-CN" altLang="en-US" dirty="0" smtClean="0"/>
              <a:t>次课</a:t>
            </a:r>
            <a:r>
              <a:rPr lang="en-US" altLang="zh-CN" dirty="0" smtClean="0"/>
              <a:t/>
            </a:r>
            <a:br>
              <a:rPr lang="en-US" altLang="zh-CN" dirty="0" smtClean="0"/>
            </a:br>
            <a:r>
              <a:rPr lang="zh-CN" altLang="en-US" dirty="0" smtClean="0"/>
              <a:t>第</a:t>
            </a:r>
            <a:r>
              <a:rPr lang="en-US" altLang="zh-CN" dirty="0"/>
              <a:t>7</a:t>
            </a:r>
            <a:r>
              <a:rPr lang="zh-CN" altLang="en-US"/>
              <a:t>章 </a:t>
            </a:r>
            <a:r>
              <a:rPr lang="zh-CN" altLang="en-US" smtClean="0"/>
              <a:t>市场估值</a:t>
            </a:r>
            <a:r>
              <a:rPr lang="zh-CN" altLang="en-US" dirty="0"/>
              <a:t>原理</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4184658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BAAD7C4C-5D2D-44DA-BAB6-34C434F1887F}"/>
              </a:ext>
            </a:extLst>
          </p:cNvPr>
          <p:cNvSpPr>
            <a:spLocks noGrp="1"/>
          </p:cNvSpPr>
          <p:nvPr>
            <p:ph type="title"/>
          </p:nvPr>
        </p:nvSpPr>
        <p:spPr>
          <a:xfrm>
            <a:off x="838200" y="365126"/>
            <a:ext cx="10515600" cy="713662"/>
          </a:xfrm>
        </p:spPr>
        <p:txBody>
          <a:bodyPr/>
          <a:lstStyle/>
          <a:p>
            <a:pPr algn="ctr"/>
            <a:r>
              <a:rPr lang="zh-CN" altLang="en-US" dirty="0"/>
              <a:t>九安医疗</a:t>
            </a:r>
            <a:r>
              <a:rPr lang="en-US" altLang="zh-CN" dirty="0"/>
              <a:t>(002432.SZ)</a:t>
            </a:r>
            <a:endParaRPr lang="zh-CN" altLang="en-US" dirty="0"/>
          </a:p>
        </p:txBody>
      </p:sp>
      <p:pic>
        <p:nvPicPr>
          <p:cNvPr id="2" name="图片 1">
            <a:extLst>
              <a:ext uri="{FF2B5EF4-FFF2-40B4-BE49-F238E27FC236}">
                <a16:creationId xmlns:a16="http://schemas.microsoft.com/office/drawing/2014/main" xmlns="" id="{550A69BD-7656-427B-B312-9B24149A8B47}"/>
              </a:ext>
            </a:extLst>
          </p:cNvPr>
          <p:cNvPicPr>
            <a:picLocks noChangeAspect="1"/>
          </p:cNvPicPr>
          <p:nvPr/>
        </p:nvPicPr>
        <p:blipFill>
          <a:blip r:embed="rId2"/>
          <a:stretch>
            <a:fillRect/>
          </a:stretch>
        </p:blipFill>
        <p:spPr>
          <a:xfrm>
            <a:off x="565080" y="1519489"/>
            <a:ext cx="10788720" cy="5107341"/>
          </a:xfrm>
          <a:prstGeom prst="rect">
            <a:avLst/>
          </a:prstGeom>
        </p:spPr>
      </p:pic>
    </p:spTree>
    <p:extLst>
      <p:ext uri="{BB962C8B-B14F-4D97-AF65-F5344CB8AC3E}">
        <p14:creationId xmlns:p14="http://schemas.microsoft.com/office/powerpoint/2010/main" val="4168156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2021</a:t>
            </a:r>
            <a:r>
              <a:rPr lang="zh-CN" altLang="en-US" dirty="0"/>
              <a:t>年业绩快报</a:t>
            </a:r>
            <a:r>
              <a:rPr lang="en-US" altLang="zh-CN" dirty="0"/>
              <a:t>: 20</a:t>
            </a:r>
            <a:r>
              <a:rPr lang="zh-CN" altLang="en-US" dirty="0"/>
              <a:t>年</a:t>
            </a:r>
            <a:r>
              <a:rPr lang="en-US" altLang="zh-CN" dirty="0"/>
              <a:t>2.5</a:t>
            </a:r>
            <a:r>
              <a:rPr lang="zh-CN" altLang="en-US" dirty="0"/>
              <a:t>亿、</a:t>
            </a:r>
            <a:r>
              <a:rPr lang="en-US" altLang="zh-CN" dirty="0"/>
              <a:t>21</a:t>
            </a:r>
            <a:r>
              <a:rPr lang="zh-CN" altLang="en-US" dirty="0"/>
              <a:t>年</a:t>
            </a:r>
            <a:r>
              <a:rPr lang="en-US" altLang="zh-CN" dirty="0"/>
              <a:t>8.3</a:t>
            </a:r>
            <a:r>
              <a:rPr lang="zh-CN" altLang="en-US" dirty="0"/>
              <a:t>亿</a:t>
            </a:r>
            <a:r>
              <a:rPr lang="en-US" altLang="zh-CN" dirty="0"/>
              <a:t/>
            </a:r>
            <a:br>
              <a:rPr lang="en-US" altLang="zh-CN" dirty="0"/>
            </a:br>
            <a:r>
              <a:rPr lang="en-US" altLang="zh-CN" dirty="0" smtClean="0"/>
              <a:t>2022-4-12</a:t>
            </a:r>
            <a:r>
              <a:rPr lang="zh-CN" altLang="en-US" dirty="0" smtClean="0"/>
              <a:t>发布</a:t>
            </a:r>
            <a:endParaRPr lang="zh-CN" altLang="en-US" dirty="0"/>
          </a:p>
        </p:txBody>
      </p:sp>
      <p:pic>
        <p:nvPicPr>
          <p:cNvPr id="4" name="图片 3"/>
          <p:cNvPicPr>
            <a:picLocks noChangeAspect="1"/>
          </p:cNvPicPr>
          <p:nvPr/>
        </p:nvPicPr>
        <p:blipFill>
          <a:blip r:embed="rId2"/>
          <a:stretch>
            <a:fillRect/>
          </a:stretch>
        </p:blipFill>
        <p:spPr>
          <a:xfrm>
            <a:off x="713999" y="1821772"/>
            <a:ext cx="10764002" cy="4574930"/>
          </a:xfrm>
          <a:prstGeom prst="rect">
            <a:avLst/>
          </a:prstGeom>
        </p:spPr>
      </p:pic>
    </p:spTree>
    <p:extLst>
      <p:ext uri="{BB962C8B-B14F-4D97-AF65-F5344CB8AC3E}">
        <p14:creationId xmlns:p14="http://schemas.microsoft.com/office/powerpoint/2010/main" val="1083175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2593832"/>
          </a:xfrm>
        </p:spPr>
        <p:txBody>
          <a:bodyPr>
            <a:normAutofit/>
          </a:bodyPr>
          <a:lstStyle/>
          <a:p>
            <a:pPr algn="ctr"/>
            <a:r>
              <a:rPr lang="en-US" altLang="zh-CN" dirty="0"/>
              <a:t>2022</a:t>
            </a:r>
            <a:r>
              <a:rPr lang="zh-CN" altLang="en-US" dirty="0"/>
              <a:t>年第一季度业绩快报</a:t>
            </a:r>
            <a:r>
              <a:rPr lang="en-US" altLang="zh-CN" dirty="0"/>
              <a:t/>
            </a:r>
            <a:br>
              <a:rPr lang="en-US" altLang="zh-CN" dirty="0"/>
            </a:br>
            <a:r>
              <a:rPr lang="en-US" altLang="zh-CN" dirty="0"/>
              <a:t>2022-4-12</a:t>
            </a:r>
            <a:br>
              <a:rPr lang="en-US" altLang="zh-CN" dirty="0"/>
            </a:br>
            <a:r>
              <a:rPr lang="zh-CN" altLang="en-US" dirty="0"/>
              <a:t>一季度赚了</a:t>
            </a:r>
            <a:r>
              <a:rPr lang="en-US" altLang="zh-CN" dirty="0"/>
              <a:t>140-160</a:t>
            </a:r>
            <a:r>
              <a:rPr lang="zh-CN" altLang="en-US" dirty="0"/>
              <a:t>亿！每股收益</a:t>
            </a:r>
            <a:r>
              <a:rPr lang="en-US" altLang="zh-CN" dirty="0"/>
              <a:t>30-35</a:t>
            </a:r>
            <a:r>
              <a:rPr lang="zh-CN" altLang="en-US" dirty="0"/>
              <a:t>元！</a:t>
            </a:r>
            <a:r>
              <a:rPr lang="en-US" altLang="zh-CN" dirty="0"/>
              <a:t/>
            </a:r>
            <a:br>
              <a:rPr lang="en-US" altLang="zh-CN" dirty="0"/>
            </a:br>
            <a:r>
              <a:rPr lang="en-US" altLang="zh-CN" dirty="0"/>
              <a:t>2022-4-14</a:t>
            </a:r>
            <a:r>
              <a:rPr lang="zh-CN" altLang="en-US" dirty="0"/>
              <a:t>中午收盘时总市值</a:t>
            </a:r>
            <a:r>
              <a:rPr lang="en-US" altLang="zh-CN" dirty="0"/>
              <a:t>431</a:t>
            </a:r>
            <a:r>
              <a:rPr lang="zh-CN" altLang="en-US" dirty="0"/>
              <a:t>亿！</a:t>
            </a:r>
          </a:p>
        </p:txBody>
      </p:sp>
      <p:pic>
        <p:nvPicPr>
          <p:cNvPr id="3" name="图片 2"/>
          <p:cNvPicPr>
            <a:picLocks noChangeAspect="1"/>
          </p:cNvPicPr>
          <p:nvPr/>
        </p:nvPicPr>
        <p:blipFill>
          <a:blip r:embed="rId2"/>
          <a:stretch>
            <a:fillRect/>
          </a:stretch>
        </p:blipFill>
        <p:spPr>
          <a:xfrm>
            <a:off x="571054" y="3374439"/>
            <a:ext cx="11049892" cy="2866381"/>
          </a:xfrm>
          <a:prstGeom prst="rect">
            <a:avLst/>
          </a:prstGeom>
        </p:spPr>
      </p:pic>
    </p:spTree>
    <p:extLst>
      <p:ext uri="{BB962C8B-B14F-4D97-AF65-F5344CB8AC3E}">
        <p14:creationId xmlns:p14="http://schemas.microsoft.com/office/powerpoint/2010/main" val="1239691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en-US" altLang="zh-CN" dirty="0"/>
              <a:t>2022</a:t>
            </a:r>
            <a:r>
              <a:rPr lang="zh-CN" altLang="en-US" dirty="0"/>
              <a:t>年第一季度</a:t>
            </a:r>
            <a:r>
              <a:rPr lang="zh-CN" altLang="en-US" b="1" dirty="0"/>
              <a:t>业绩变动原因说明</a:t>
            </a:r>
            <a:endParaRPr lang="zh-CN" altLang="en-US" dirty="0"/>
          </a:p>
        </p:txBody>
      </p:sp>
      <p:sp>
        <p:nvSpPr>
          <p:cNvPr id="4" name="内容占位符 3"/>
          <p:cNvSpPr>
            <a:spLocks noGrp="1"/>
          </p:cNvSpPr>
          <p:nvPr>
            <p:ph idx="1"/>
          </p:nvPr>
        </p:nvSpPr>
        <p:spPr/>
        <p:txBody>
          <a:bodyPr/>
          <a:lstStyle/>
          <a:p>
            <a:r>
              <a:rPr lang="zh-CN" altLang="en-US" dirty="0"/>
              <a:t>公司本报告期业绩预计较去年同期增长主要原因如下：</a:t>
            </a:r>
          </a:p>
          <a:p>
            <a:pPr lvl="1"/>
            <a:r>
              <a:rPr lang="zh-CN" altLang="en-US" dirty="0"/>
              <a:t>受美国疫情发展的影响，当地对</a:t>
            </a:r>
            <a:r>
              <a:rPr lang="zh-CN" altLang="en-US" sz="4000" dirty="0">
                <a:solidFill>
                  <a:srgbClr val="0070C0"/>
                </a:solidFill>
                <a:latin typeface="华光隶变_CNKI" panose="02000500000000000000" pitchFamily="2" charset="-122"/>
                <a:ea typeface="华光隶变_CNKI" panose="02000500000000000000" pitchFamily="2" charset="-122"/>
              </a:rPr>
              <a:t>新冠抗原检测试剂盒</a:t>
            </a:r>
            <a:r>
              <a:rPr lang="zh-CN" altLang="en-US" dirty="0"/>
              <a:t>产品需求大幅增长。</a:t>
            </a:r>
            <a:endParaRPr lang="en-US" altLang="zh-CN" dirty="0"/>
          </a:p>
          <a:p>
            <a:pPr lvl="1"/>
            <a:r>
              <a:rPr lang="zh-CN" altLang="en-US" dirty="0"/>
              <a:t>报告期内，公司</a:t>
            </a:r>
            <a:r>
              <a:rPr lang="en-US" altLang="zh-CN" dirty="0" err="1"/>
              <a:t>iHealth</a:t>
            </a:r>
            <a:r>
              <a:rPr lang="zh-CN" altLang="en-US" dirty="0"/>
              <a:t>美国子公司就</a:t>
            </a:r>
            <a:r>
              <a:rPr lang="en-US" altLang="zh-CN" dirty="0" err="1"/>
              <a:t>iHealth</a:t>
            </a:r>
            <a:r>
              <a:rPr lang="zh-CN" altLang="en-US" dirty="0"/>
              <a:t>新冠抗原检测试剂盒产品通过自身渠道及亚马逊平台进行销售</a:t>
            </a:r>
            <a:r>
              <a:rPr lang="en-US" altLang="zh-CN" dirty="0"/>
              <a:t>,</a:t>
            </a:r>
            <a:r>
              <a:rPr lang="zh-CN" altLang="en-US" dirty="0"/>
              <a:t>并与客户签署重大合同及订单。</a:t>
            </a:r>
            <a:endParaRPr lang="en-US" altLang="zh-CN" dirty="0"/>
          </a:p>
          <a:p>
            <a:pPr lvl="1"/>
            <a:r>
              <a:rPr lang="zh-CN" altLang="en-US" dirty="0"/>
              <a:t>该产品的销售收入增长为公司报告期内的业绩作出了重要贡献。</a:t>
            </a:r>
          </a:p>
        </p:txBody>
      </p:sp>
    </p:spTree>
    <p:extLst>
      <p:ext uri="{BB962C8B-B14F-4D97-AF65-F5344CB8AC3E}">
        <p14:creationId xmlns:p14="http://schemas.microsoft.com/office/powerpoint/2010/main" val="3353261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883426B-2119-4CA6-A760-EF36F31985C1}"/>
              </a:ext>
            </a:extLst>
          </p:cNvPr>
          <p:cNvSpPr>
            <a:spLocks noGrp="1"/>
          </p:cNvSpPr>
          <p:nvPr>
            <p:ph type="title"/>
          </p:nvPr>
        </p:nvSpPr>
        <p:spPr/>
        <p:txBody>
          <a:bodyPr>
            <a:normAutofit/>
          </a:bodyPr>
          <a:lstStyle/>
          <a:p>
            <a:r>
              <a:rPr lang="zh-CN" altLang="en-US" dirty="0"/>
              <a:t>问题</a:t>
            </a:r>
            <a:r>
              <a:rPr lang="en-US" altLang="zh-CN" dirty="0"/>
              <a:t/>
            </a:r>
            <a:br>
              <a:rPr lang="en-US" altLang="zh-CN" dirty="0"/>
            </a:br>
            <a:r>
              <a:rPr lang="zh-CN" altLang="en-US" sz="2200" dirty="0"/>
              <a:t>九安医疗</a:t>
            </a:r>
            <a:r>
              <a:rPr lang="en-US" altLang="zh-CN" sz="2200" dirty="0"/>
              <a:t>2022</a:t>
            </a:r>
            <a:r>
              <a:rPr lang="zh-CN" altLang="en-US" sz="2200" dirty="0"/>
              <a:t>年一季度业绩预告赚</a:t>
            </a:r>
            <a:r>
              <a:rPr lang="en-US" altLang="zh-CN" sz="2200" dirty="0"/>
              <a:t>140-160</a:t>
            </a:r>
            <a:r>
              <a:rPr lang="zh-CN" altLang="en-US" sz="2200" dirty="0"/>
              <a:t>亿，但在</a:t>
            </a:r>
            <a:r>
              <a:rPr lang="en-US" altLang="zh-CN" sz="2200" dirty="0"/>
              <a:t>2022-4-12</a:t>
            </a:r>
            <a:r>
              <a:rPr lang="zh-CN" altLang="en-US" sz="2200" dirty="0"/>
              <a:t>才发布业绩预告，为什么股价很早就大涨了？</a:t>
            </a:r>
            <a:endParaRPr lang="zh-CN" altLang="en-US" dirty="0"/>
          </a:p>
        </p:txBody>
      </p:sp>
      <p:pic>
        <p:nvPicPr>
          <p:cNvPr id="4" name="图片 3">
            <a:extLst>
              <a:ext uri="{FF2B5EF4-FFF2-40B4-BE49-F238E27FC236}">
                <a16:creationId xmlns:a16="http://schemas.microsoft.com/office/drawing/2014/main" xmlns="" id="{3A9F665E-F94C-47E6-ABF0-38A1EBEF5B96}"/>
              </a:ext>
            </a:extLst>
          </p:cNvPr>
          <p:cNvPicPr>
            <a:picLocks noChangeAspect="1"/>
          </p:cNvPicPr>
          <p:nvPr/>
        </p:nvPicPr>
        <p:blipFill>
          <a:blip r:embed="rId2"/>
          <a:stretch>
            <a:fillRect/>
          </a:stretch>
        </p:blipFill>
        <p:spPr>
          <a:xfrm>
            <a:off x="1458930" y="1690688"/>
            <a:ext cx="9503596" cy="5018337"/>
          </a:xfrm>
          <a:prstGeom prst="rect">
            <a:avLst/>
          </a:prstGeom>
        </p:spPr>
      </p:pic>
    </p:spTree>
    <p:extLst>
      <p:ext uri="{BB962C8B-B14F-4D97-AF65-F5344CB8AC3E}">
        <p14:creationId xmlns:p14="http://schemas.microsoft.com/office/powerpoint/2010/main" val="3748947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972175" y="723900"/>
            <a:ext cx="5695950" cy="4864100"/>
          </a:xfrm>
        </p:spPr>
        <p:txBody>
          <a:bodyPr/>
          <a:lstStyle/>
          <a:p>
            <a:pPr algn="ctr"/>
            <a:r>
              <a:rPr lang="en-US" altLang="zh-CN" dirty="0" smtClean="0"/>
              <a:t>2025-3-13</a:t>
            </a:r>
            <a:r>
              <a:rPr lang="zh-CN" altLang="en-US" dirty="0" smtClean="0"/>
              <a:t>收盘价</a:t>
            </a:r>
            <a:r>
              <a:rPr lang="en-US" altLang="zh-CN" dirty="0" smtClean="0"/>
              <a:t>41.57</a:t>
            </a:r>
            <a:r>
              <a:rPr lang="zh-CN" altLang="en-US" dirty="0" smtClean="0"/>
              <a:t>，总市值</a:t>
            </a:r>
            <a:r>
              <a:rPr lang="en-US" altLang="zh-CN" dirty="0" smtClean="0"/>
              <a:t>196.6</a:t>
            </a:r>
            <a:r>
              <a:rPr lang="zh-CN" altLang="en-US" dirty="0" smtClean="0"/>
              <a:t>亿</a:t>
            </a:r>
            <a:r>
              <a:rPr lang="en-US" altLang="zh-CN" dirty="0" smtClean="0"/>
              <a:t/>
            </a:r>
            <a:br>
              <a:rPr lang="en-US" altLang="zh-CN" dirty="0" smtClean="0"/>
            </a:br>
            <a:r>
              <a:rPr lang="en-US" altLang="zh-CN" sz="3500" dirty="0"/>
              <a:t>2022-4-14</a:t>
            </a:r>
            <a:r>
              <a:rPr lang="zh-CN" altLang="en-US" sz="3500" dirty="0"/>
              <a:t>中午收盘时总市值</a:t>
            </a:r>
            <a:r>
              <a:rPr lang="en-US" altLang="zh-CN" sz="3500" dirty="0"/>
              <a:t>431</a:t>
            </a:r>
            <a:r>
              <a:rPr lang="zh-CN" altLang="en-US" sz="3500" dirty="0"/>
              <a:t>亿</a:t>
            </a:r>
          </a:p>
        </p:txBody>
      </p:sp>
      <p:pic>
        <p:nvPicPr>
          <p:cNvPr id="3" name="图片 2"/>
          <p:cNvPicPr>
            <a:picLocks noChangeAspect="1"/>
          </p:cNvPicPr>
          <p:nvPr/>
        </p:nvPicPr>
        <p:blipFill>
          <a:blip r:embed="rId2"/>
          <a:stretch>
            <a:fillRect/>
          </a:stretch>
        </p:blipFill>
        <p:spPr>
          <a:xfrm>
            <a:off x="738187" y="723900"/>
            <a:ext cx="4300538" cy="5753100"/>
          </a:xfrm>
          <a:prstGeom prst="rect">
            <a:avLst/>
          </a:prstGeom>
        </p:spPr>
      </p:pic>
    </p:spTree>
    <p:extLst>
      <p:ext uri="{BB962C8B-B14F-4D97-AF65-F5344CB8AC3E}">
        <p14:creationId xmlns:p14="http://schemas.microsoft.com/office/powerpoint/2010/main" val="2256723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34286"/>
          </a:xfrm>
        </p:spPr>
        <p:txBody>
          <a:bodyPr/>
          <a:lstStyle/>
          <a:p>
            <a:pPr algn="ctr"/>
            <a:r>
              <a:rPr lang="zh-CN" altLang="en-US" dirty="0"/>
              <a:t>内容</a:t>
            </a:r>
          </a:p>
        </p:txBody>
      </p:sp>
      <p:sp>
        <p:nvSpPr>
          <p:cNvPr id="3" name="内容占位符 2"/>
          <p:cNvSpPr>
            <a:spLocks noGrp="1"/>
          </p:cNvSpPr>
          <p:nvPr>
            <p:ph idx="1"/>
          </p:nvPr>
        </p:nvSpPr>
        <p:spPr>
          <a:xfrm>
            <a:off x="838200" y="1434164"/>
            <a:ext cx="10515600" cy="4742799"/>
          </a:xfrm>
        </p:spPr>
        <p:txBody>
          <a:bodyPr>
            <a:noAutofit/>
          </a:bodyPr>
          <a:lstStyle/>
          <a:p>
            <a:r>
              <a:rPr lang="en-US" altLang="zh-CN" sz="2000" dirty="0"/>
              <a:t>7.1 </a:t>
            </a:r>
            <a:r>
              <a:rPr lang="zh-CN" altLang="en-US" sz="2000" dirty="0"/>
              <a:t>资产价值与资产价格的关系</a:t>
            </a:r>
            <a:endParaRPr lang="en-US" altLang="zh-CN" sz="2000" dirty="0"/>
          </a:p>
          <a:p>
            <a:r>
              <a:rPr lang="en-US" altLang="zh-CN" sz="2000" dirty="0"/>
              <a:t>7.2 </a:t>
            </a:r>
            <a:r>
              <a:rPr lang="zh-CN" altLang="en-US" sz="2000" dirty="0"/>
              <a:t>价值最大化与金融决策</a:t>
            </a:r>
            <a:endParaRPr lang="en-US" altLang="zh-CN" sz="2000" dirty="0"/>
          </a:p>
          <a:p>
            <a:r>
              <a:rPr lang="en-US" altLang="zh-CN" sz="2000" dirty="0"/>
              <a:t>7.3 </a:t>
            </a:r>
            <a:r>
              <a:rPr lang="zh-CN" altLang="en-US" sz="2000" dirty="0"/>
              <a:t>一价定律与套利</a:t>
            </a:r>
            <a:endParaRPr lang="en-US" altLang="zh-CN" sz="2000" dirty="0"/>
          </a:p>
          <a:p>
            <a:r>
              <a:rPr lang="en-US" altLang="zh-CN" sz="2000" dirty="0"/>
              <a:t>7.4 </a:t>
            </a:r>
            <a:r>
              <a:rPr lang="zh-CN" altLang="en-US" sz="2000" dirty="0"/>
              <a:t>套利与金融资产价格</a:t>
            </a:r>
            <a:endParaRPr lang="en-US" altLang="zh-CN" sz="2000" dirty="0"/>
          </a:p>
          <a:p>
            <a:r>
              <a:rPr lang="en-US" altLang="zh-CN" sz="2000" dirty="0"/>
              <a:t>7.5 </a:t>
            </a:r>
            <a:r>
              <a:rPr lang="zh-CN" altLang="en-US" sz="2000" dirty="0"/>
              <a:t>利率和一价定律</a:t>
            </a:r>
            <a:endParaRPr lang="en-US" altLang="zh-CN" sz="2000" dirty="0"/>
          </a:p>
          <a:p>
            <a:r>
              <a:rPr lang="en-US" altLang="zh-CN" sz="2000" dirty="0"/>
              <a:t>7.6 </a:t>
            </a:r>
            <a:r>
              <a:rPr lang="zh-CN" altLang="en-US" sz="2000" dirty="0"/>
              <a:t>汇率与三角套利</a:t>
            </a:r>
            <a:endParaRPr lang="en-US" altLang="zh-CN" sz="2000" dirty="0"/>
          </a:p>
          <a:p>
            <a:r>
              <a:rPr lang="en-US" altLang="zh-CN" sz="2000" dirty="0"/>
              <a:t>7.7 </a:t>
            </a:r>
            <a:r>
              <a:rPr lang="zh-CN" altLang="en-US" sz="2000" dirty="0"/>
              <a:t>运用参照物进行价值评估</a:t>
            </a:r>
            <a:endParaRPr lang="en-US" altLang="zh-CN" sz="2000" dirty="0"/>
          </a:p>
          <a:p>
            <a:r>
              <a:rPr lang="en-US" altLang="zh-CN" sz="2000" dirty="0"/>
              <a:t>7.8 </a:t>
            </a:r>
            <a:r>
              <a:rPr lang="zh-CN" altLang="en-US" sz="2000" dirty="0"/>
              <a:t>价值评估模型</a:t>
            </a:r>
            <a:endParaRPr lang="en-US" altLang="zh-CN" sz="2000" dirty="0"/>
          </a:p>
          <a:p>
            <a:r>
              <a:rPr lang="en-US" altLang="zh-CN" sz="2000" dirty="0"/>
              <a:t>7.9 </a:t>
            </a:r>
            <a:r>
              <a:rPr lang="zh-CN" altLang="en-US" sz="2000" dirty="0"/>
              <a:t>价值的会计标准</a:t>
            </a:r>
            <a:endParaRPr lang="en-US" altLang="zh-CN" sz="2000" dirty="0"/>
          </a:p>
          <a:p>
            <a:r>
              <a:rPr lang="en-US" altLang="zh-CN" sz="2000" dirty="0"/>
              <a:t>7.10 </a:t>
            </a:r>
            <a:r>
              <a:rPr lang="zh-CN" altLang="en-US" sz="2000" dirty="0"/>
              <a:t>信息怎样反映在股票价格之中</a:t>
            </a:r>
            <a:endParaRPr lang="en-US" altLang="zh-CN" sz="2000" dirty="0"/>
          </a:p>
          <a:p>
            <a:r>
              <a:rPr lang="en-US" altLang="zh-CN" sz="2000" dirty="0"/>
              <a:t>7.11 </a:t>
            </a:r>
            <a:r>
              <a:rPr lang="zh-CN" altLang="en-US" sz="2000" dirty="0"/>
              <a:t>有效市场假说</a:t>
            </a:r>
          </a:p>
        </p:txBody>
      </p:sp>
    </p:spTree>
    <p:extLst>
      <p:ext uri="{BB962C8B-B14F-4D97-AF65-F5344CB8AC3E}">
        <p14:creationId xmlns:p14="http://schemas.microsoft.com/office/powerpoint/2010/main" val="1206817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lang="zh-CN" altLang="en-US" dirty="0"/>
              <a:t>资产价值与资产价格的关系</a:t>
            </a:r>
          </a:p>
        </p:txBody>
      </p:sp>
      <p:sp>
        <p:nvSpPr>
          <p:cNvPr id="3" name="内容占位符 2"/>
          <p:cNvSpPr>
            <a:spLocks noGrp="1"/>
          </p:cNvSpPr>
          <p:nvPr>
            <p:ph idx="1"/>
          </p:nvPr>
        </p:nvSpPr>
        <p:spPr/>
        <p:txBody>
          <a:bodyPr/>
          <a:lstStyle/>
          <a:p>
            <a:r>
              <a:rPr lang="zh-CN" altLang="en-US" dirty="0"/>
              <a:t>金融的三大分析支柱</a:t>
            </a:r>
            <a:endParaRPr lang="en-US" altLang="zh-CN" dirty="0"/>
          </a:p>
          <a:p>
            <a:pPr lvl="1"/>
            <a:r>
              <a:rPr lang="zh-CN" altLang="en-US" dirty="0"/>
              <a:t>货币时间价值</a:t>
            </a:r>
          </a:p>
          <a:p>
            <a:pPr lvl="1"/>
            <a:r>
              <a:rPr lang="zh-CN" altLang="en-US" b="1" dirty="0"/>
              <a:t>资产价值评估</a:t>
            </a:r>
            <a:r>
              <a:rPr lang="zh-CN" altLang="en-US" dirty="0"/>
              <a:t>－－</a:t>
            </a:r>
            <a:r>
              <a:rPr lang="zh-CN" altLang="en-US" b="1" dirty="0"/>
              <a:t>核心内容</a:t>
            </a:r>
            <a:endParaRPr lang="en-US" altLang="zh-CN" b="1" dirty="0"/>
          </a:p>
          <a:p>
            <a:pPr lvl="1"/>
            <a:r>
              <a:rPr lang="zh-CN" altLang="en-US" dirty="0"/>
              <a:t>风险管理</a:t>
            </a:r>
          </a:p>
        </p:txBody>
      </p:sp>
    </p:spTree>
    <p:extLst>
      <p:ext uri="{BB962C8B-B14F-4D97-AF65-F5344CB8AC3E}">
        <p14:creationId xmlns:p14="http://schemas.microsoft.com/office/powerpoint/2010/main" val="1182969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CF2A6F1D-76B7-493F-86C4-F304CC3E949D}" type="slidenum">
              <a:rPr lang="zh-CN" altLang="en-US"/>
              <a:pPr/>
              <a:t>10</a:t>
            </a:fld>
            <a:endParaRPr lang="en-US" altLang="zh-CN"/>
          </a:p>
        </p:txBody>
      </p:sp>
      <p:sp>
        <p:nvSpPr>
          <p:cNvPr id="96258" name="Rectangle 2"/>
          <p:cNvSpPr>
            <a:spLocks noGrp="1" noChangeArrowheads="1"/>
          </p:cNvSpPr>
          <p:nvPr>
            <p:ph type="title"/>
          </p:nvPr>
        </p:nvSpPr>
        <p:spPr/>
        <p:txBody>
          <a:bodyPr/>
          <a:lstStyle/>
          <a:p>
            <a:r>
              <a:rPr lang="zh-CN" altLang="en-US" dirty="0"/>
              <a:t>资产价值与价格</a:t>
            </a:r>
          </a:p>
        </p:txBody>
      </p:sp>
      <p:sp>
        <p:nvSpPr>
          <p:cNvPr id="96259" name="Rectangle 3"/>
          <p:cNvSpPr>
            <a:spLocks noGrp="1" noChangeArrowheads="1"/>
          </p:cNvSpPr>
          <p:nvPr>
            <p:ph type="body" idx="1"/>
          </p:nvPr>
        </p:nvSpPr>
        <p:spPr/>
        <p:txBody>
          <a:bodyPr>
            <a:normAutofit/>
          </a:bodyPr>
          <a:lstStyle/>
          <a:p>
            <a:r>
              <a:rPr lang="zh-CN" altLang="en-US" dirty="0"/>
              <a:t>基本价值（内在价值）：信息充分的投资者在自由竞争的市场上购买该资产时必须支付的价格。</a:t>
            </a:r>
          </a:p>
          <a:p>
            <a:r>
              <a:rPr lang="zh-CN" altLang="en-US" dirty="0"/>
              <a:t>资产的市场价格与基本价值之间可能暂时存在差别</a:t>
            </a:r>
            <a:endParaRPr lang="en-US" altLang="zh-CN" dirty="0"/>
          </a:p>
          <a:p>
            <a:pPr lvl="1"/>
            <a:r>
              <a:rPr lang="zh-CN" altLang="en-US" dirty="0"/>
              <a:t>价格回归价值的时间受市场竞争程度影响</a:t>
            </a:r>
            <a:endParaRPr lang="en-US" altLang="zh-CN" dirty="0"/>
          </a:p>
          <a:p>
            <a:pPr lvl="2"/>
            <a:r>
              <a:rPr lang="zh-CN" altLang="en-US" dirty="0"/>
              <a:t>在竞争市场上，价格与价值的差异很小；在非竞争市场上，差异很大</a:t>
            </a:r>
          </a:p>
          <a:p>
            <a:pPr lvl="3"/>
            <a:r>
              <a:rPr lang="zh-CN" altLang="en-US" dirty="0"/>
              <a:t>实际上，有效市场假说的最新进展认为市场的有效程度是一个连续变量，而不是仅仅只有三种状态，学者认为应该使用交易成本或者买卖价差来测算市场的有效程度</a:t>
            </a:r>
            <a:endParaRPr lang="en-US" altLang="zh-CN" dirty="0"/>
          </a:p>
          <a:p>
            <a:pPr lvl="2"/>
            <a:r>
              <a:rPr lang="zh-CN" altLang="en-US" dirty="0"/>
              <a:t>一种投资策略就是寻找价格偏离价值的证券，以获得超额收益</a:t>
            </a:r>
            <a:endParaRPr lang="en-US" altLang="zh-CN" dirty="0"/>
          </a:p>
          <a:p>
            <a:pPr lvl="3"/>
            <a:r>
              <a:rPr lang="zh-CN" altLang="en-US" dirty="0"/>
              <a:t>价格显著高于价值，做空</a:t>
            </a:r>
            <a:endParaRPr lang="en-US" altLang="zh-CN" dirty="0"/>
          </a:p>
          <a:p>
            <a:pPr lvl="3"/>
            <a:r>
              <a:rPr lang="zh-CN" altLang="en-US" dirty="0"/>
              <a:t>价格显著低于价值，做多</a:t>
            </a:r>
          </a:p>
        </p:txBody>
      </p:sp>
    </p:spTree>
    <p:extLst>
      <p:ext uri="{BB962C8B-B14F-4D97-AF65-F5344CB8AC3E}">
        <p14:creationId xmlns:p14="http://schemas.microsoft.com/office/powerpoint/2010/main" val="2017351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p:cNvSpPr>
            <a:spLocks noGrp="1" noChangeArrowheads="1"/>
          </p:cNvSpPr>
          <p:nvPr>
            <p:ph type="title"/>
          </p:nvPr>
        </p:nvSpPr>
        <p:spPr/>
        <p:txBody>
          <a:bodyPr/>
          <a:lstStyle/>
          <a:p>
            <a:r>
              <a:rPr lang="en-US" altLang="zh-CN" dirty="0"/>
              <a:t>7.</a:t>
            </a:r>
            <a:r>
              <a:rPr lang="zh-CN" altLang="en-US" dirty="0"/>
              <a:t>2 价值最大化和金融决策</a:t>
            </a:r>
          </a:p>
        </p:txBody>
      </p:sp>
      <p:sp>
        <p:nvSpPr>
          <p:cNvPr id="13315" name="Rectangle 1027"/>
          <p:cNvSpPr>
            <a:spLocks noGrp="1" noChangeArrowheads="1"/>
          </p:cNvSpPr>
          <p:nvPr>
            <p:ph type="body" idx="1"/>
          </p:nvPr>
        </p:nvSpPr>
        <p:spPr/>
        <p:txBody>
          <a:bodyPr/>
          <a:lstStyle/>
          <a:p>
            <a:r>
              <a:rPr lang="zh-CN" altLang="en-US" dirty="0"/>
              <a:t>个人（看教材例子）</a:t>
            </a:r>
          </a:p>
          <a:p>
            <a:pPr lvl="1"/>
            <a:r>
              <a:rPr lang="zh-CN" altLang="en-US" dirty="0"/>
              <a:t>选择价值最大化的方案</a:t>
            </a:r>
          </a:p>
          <a:p>
            <a:pPr lvl="2"/>
            <a:r>
              <a:rPr lang="zh-CN" altLang="en-US" dirty="0"/>
              <a:t>收益与风险的权衡已经反映到价值中去：如果风险高，则贴现率高；反之亦然。</a:t>
            </a:r>
          </a:p>
          <a:p>
            <a:pPr lvl="2"/>
            <a:r>
              <a:rPr lang="zh-CN" altLang="en-US" dirty="0"/>
              <a:t>因此，给定两个财务决策方案，总选择价值最大的</a:t>
            </a:r>
          </a:p>
          <a:p>
            <a:pPr lvl="1"/>
            <a:r>
              <a:rPr lang="zh-CN" altLang="en-US" dirty="0"/>
              <a:t>市场比较有效，资产的价格比较真实地反映了其价值</a:t>
            </a:r>
          </a:p>
        </p:txBody>
      </p:sp>
    </p:spTree>
    <p:extLst>
      <p:ext uri="{BB962C8B-B14F-4D97-AF65-F5344CB8AC3E}">
        <p14:creationId xmlns:p14="http://schemas.microsoft.com/office/powerpoint/2010/main" val="2984379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p:txBody>
          <a:bodyPr/>
          <a:lstStyle/>
          <a:p>
            <a:endParaRPr lang="zh-CN" altLang="en-US"/>
          </a:p>
        </p:txBody>
      </p:sp>
      <p:sp>
        <p:nvSpPr>
          <p:cNvPr id="14339" name="Rectangle 1027"/>
          <p:cNvSpPr>
            <a:spLocks noGrp="1" noChangeArrowheads="1"/>
          </p:cNvSpPr>
          <p:nvPr>
            <p:ph type="body" idx="1"/>
          </p:nvPr>
        </p:nvSpPr>
        <p:spPr/>
        <p:txBody>
          <a:bodyPr/>
          <a:lstStyle/>
          <a:p>
            <a:r>
              <a:rPr lang="zh-CN" altLang="en-US" dirty="0"/>
              <a:t>公司</a:t>
            </a:r>
          </a:p>
          <a:p>
            <a:pPr lvl="1"/>
            <a:r>
              <a:rPr lang="zh-CN" altLang="en-US" dirty="0"/>
              <a:t>根据价值最大化进行财务决策</a:t>
            </a:r>
          </a:p>
          <a:p>
            <a:pPr lvl="1"/>
            <a:r>
              <a:rPr lang="zh-CN" altLang="en-US" dirty="0"/>
              <a:t>经理人员只选择使现有股东财富最大的投资项目</a:t>
            </a:r>
          </a:p>
          <a:p>
            <a:pPr lvl="1"/>
            <a:r>
              <a:rPr lang="zh-CN" altLang="en-US" dirty="0"/>
              <a:t>各个股东的个人偏好在这里是不相关的，因为股东可以通过金融市场调整自己的投资组合，以使其适合自己的风险偏好</a:t>
            </a:r>
            <a:endParaRPr lang="en-US" altLang="zh-CN" dirty="0"/>
          </a:p>
          <a:p>
            <a:pPr lvl="1"/>
            <a:endParaRPr lang="en-US" altLang="zh-CN" dirty="0"/>
          </a:p>
          <a:p>
            <a:pPr lvl="1"/>
            <a:r>
              <a:rPr lang="zh-CN" altLang="en-US" dirty="0"/>
              <a:t>个人资产组合调整：无风险债券（比如余额宝）与沪深</a:t>
            </a:r>
            <a:r>
              <a:rPr lang="en-US" altLang="zh-CN" dirty="0"/>
              <a:t>300</a:t>
            </a:r>
            <a:r>
              <a:rPr lang="zh-CN" altLang="en-US" dirty="0"/>
              <a:t>股票组合（</a:t>
            </a:r>
            <a:r>
              <a:rPr lang="en-US" altLang="zh-CN" dirty="0"/>
              <a:t>510300</a:t>
            </a:r>
            <a:r>
              <a:rPr lang="zh-CN" altLang="en-US" dirty="0"/>
              <a:t>）</a:t>
            </a:r>
            <a:endParaRPr lang="en-US" altLang="zh-CN" dirty="0"/>
          </a:p>
          <a:p>
            <a:pPr lvl="2"/>
            <a:r>
              <a:rPr lang="zh-CN" altLang="en-US" dirty="0"/>
              <a:t>风险偏好者：</a:t>
            </a:r>
            <a:r>
              <a:rPr lang="en-US" altLang="zh-CN" dirty="0"/>
              <a:t>90%</a:t>
            </a:r>
            <a:r>
              <a:rPr lang="zh-CN" altLang="en-US" dirty="0"/>
              <a:t>的</a:t>
            </a:r>
            <a:r>
              <a:rPr lang="en-US" altLang="zh-CN" dirty="0"/>
              <a:t>510300</a:t>
            </a:r>
            <a:r>
              <a:rPr lang="zh-CN" altLang="en-US" dirty="0"/>
              <a:t>；</a:t>
            </a:r>
            <a:r>
              <a:rPr lang="en-US" altLang="zh-CN" dirty="0"/>
              <a:t>10%</a:t>
            </a:r>
            <a:r>
              <a:rPr lang="zh-CN" altLang="en-US" dirty="0"/>
              <a:t>的余额宝</a:t>
            </a:r>
            <a:endParaRPr lang="en-US" altLang="zh-CN" dirty="0"/>
          </a:p>
          <a:p>
            <a:pPr lvl="2"/>
            <a:r>
              <a:rPr lang="zh-CN" altLang="en-US" dirty="0"/>
              <a:t>风险厌恶者：</a:t>
            </a:r>
            <a:r>
              <a:rPr lang="en-US" altLang="zh-CN" dirty="0"/>
              <a:t>10%</a:t>
            </a:r>
            <a:r>
              <a:rPr lang="zh-CN" altLang="en-US" dirty="0"/>
              <a:t>的</a:t>
            </a:r>
            <a:r>
              <a:rPr lang="en-US" altLang="zh-CN" dirty="0"/>
              <a:t>510300</a:t>
            </a:r>
            <a:r>
              <a:rPr lang="zh-CN" altLang="en-US" dirty="0"/>
              <a:t>；</a:t>
            </a:r>
            <a:r>
              <a:rPr lang="en-US" altLang="zh-CN" dirty="0"/>
              <a:t>90%</a:t>
            </a:r>
            <a:r>
              <a:rPr lang="zh-CN" altLang="en-US" dirty="0"/>
              <a:t>的余额宝</a:t>
            </a:r>
            <a:endParaRPr lang="en-US" altLang="zh-CN" dirty="0"/>
          </a:p>
        </p:txBody>
      </p:sp>
    </p:spTree>
    <p:extLst>
      <p:ext uri="{BB962C8B-B14F-4D97-AF65-F5344CB8AC3E}">
        <p14:creationId xmlns:p14="http://schemas.microsoft.com/office/powerpoint/2010/main" val="253470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0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371600"/>
            <a:ext cx="6400800" cy="4343400"/>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2398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zh-CN" dirty="0"/>
              <a:t>7.</a:t>
            </a:r>
            <a:r>
              <a:rPr lang="zh-CN" altLang="en-US" dirty="0"/>
              <a:t>3 一价定律与套利</a:t>
            </a:r>
          </a:p>
        </p:txBody>
      </p:sp>
      <p:sp>
        <p:nvSpPr>
          <p:cNvPr id="7171" name="Rectangle 3"/>
          <p:cNvSpPr>
            <a:spLocks noGrp="1" noChangeArrowheads="1"/>
          </p:cNvSpPr>
          <p:nvPr>
            <p:ph type="body" idx="1"/>
          </p:nvPr>
        </p:nvSpPr>
        <p:spPr/>
        <p:txBody>
          <a:bodyPr>
            <a:normAutofit fontScale="85000" lnSpcReduction="20000"/>
          </a:bodyPr>
          <a:lstStyle/>
          <a:p>
            <a:r>
              <a:rPr lang="zh-CN" altLang="en-US" dirty="0"/>
              <a:t>一价原则：在竞争性市场上，如果两个资产是等同的，它们的市场价格应趋于一致</a:t>
            </a:r>
          </a:p>
          <a:p>
            <a:r>
              <a:rPr lang="zh-CN" altLang="en-US" dirty="0"/>
              <a:t>否则，就存在套利的机会</a:t>
            </a:r>
          </a:p>
          <a:p>
            <a:r>
              <a:rPr lang="zh-CN" altLang="en-US" dirty="0"/>
              <a:t>套利需要考虑交易成本</a:t>
            </a:r>
            <a:endParaRPr lang="en-US" altLang="zh-CN" dirty="0"/>
          </a:p>
          <a:p>
            <a:pPr lvl="1"/>
            <a:r>
              <a:rPr lang="zh-CN" altLang="en-US" dirty="0"/>
              <a:t>交易成本越低，价差区域就越窄</a:t>
            </a:r>
          </a:p>
          <a:p>
            <a:endParaRPr lang="en-US" altLang="zh-CN" dirty="0"/>
          </a:p>
          <a:p>
            <a:r>
              <a:rPr lang="zh-CN" altLang="en-US" dirty="0"/>
              <a:t>教材例子：黄金套利</a:t>
            </a:r>
            <a:endParaRPr lang="en-US" altLang="zh-CN" dirty="0"/>
          </a:p>
          <a:p>
            <a:endParaRPr lang="en-US" altLang="zh-CN" dirty="0"/>
          </a:p>
          <a:p>
            <a:r>
              <a:rPr lang="en-US" altLang="zh-CN" dirty="0"/>
              <a:t>LTCM</a:t>
            </a:r>
            <a:r>
              <a:rPr lang="zh-CN" altLang="en-US" dirty="0"/>
              <a:t>例子：收敛套利</a:t>
            </a:r>
            <a:endParaRPr lang="en-US" altLang="zh-CN" dirty="0"/>
          </a:p>
          <a:p>
            <a:pPr lvl="1"/>
            <a:r>
              <a:rPr lang="zh-CN" altLang="en-US" dirty="0"/>
              <a:t>新发行债券价格比类似的已发行债券价格高一点点</a:t>
            </a:r>
            <a:endParaRPr lang="en-US" altLang="zh-CN" dirty="0"/>
          </a:p>
          <a:p>
            <a:pPr lvl="1"/>
            <a:r>
              <a:rPr lang="zh-CN" altLang="en-US" dirty="0"/>
              <a:t>做空新债、做多旧</a:t>
            </a:r>
            <a:r>
              <a:rPr lang="zh-CN" altLang="en-US" dirty="0" smtClean="0"/>
              <a:t>债</a:t>
            </a:r>
            <a:endParaRPr lang="en-US" altLang="zh-CN" dirty="0" smtClean="0"/>
          </a:p>
          <a:p>
            <a:pPr lvl="2"/>
            <a:r>
              <a:rPr lang="zh-CN" altLang="en-US" dirty="0"/>
              <a:t>借入新发</a:t>
            </a:r>
            <a:r>
              <a:rPr lang="en-US" altLang="zh-CN" dirty="0"/>
              <a:t>30</a:t>
            </a:r>
            <a:r>
              <a:rPr lang="zh-CN" altLang="en-US" dirty="0"/>
              <a:t>年期国债并卖</a:t>
            </a:r>
            <a:r>
              <a:rPr lang="zh-CN" altLang="en-US" dirty="0" smtClean="0"/>
              <a:t>出</a:t>
            </a:r>
            <a:endParaRPr lang="en-US" altLang="zh-CN" dirty="0" smtClean="0"/>
          </a:p>
          <a:p>
            <a:pPr lvl="2"/>
            <a:r>
              <a:rPr lang="zh-CN" altLang="en-US" dirty="0"/>
              <a:t>买入剩余期限</a:t>
            </a:r>
            <a:r>
              <a:rPr lang="en-US" altLang="zh-CN" dirty="0"/>
              <a:t>29.5</a:t>
            </a:r>
            <a:r>
              <a:rPr lang="zh-CN" altLang="en-US" dirty="0"/>
              <a:t>年的次新债</a:t>
            </a:r>
          </a:p>
        </p:txBody>
      </p:sp>
    </p:spTree>
    <p:extLst>
      <p:ext uri="{BB962C8B-B14F-4D97-AF65-F5344CB8AC3E}">
        <p14:creationId xmlns:p14="http://schemas.microsoft.com/office/powerpoint/2010/main" val="3308619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长期资本管理公司的故事</a:t>
            </a:r>
          </a:p>
        </p:txBody>
      </p:sp>
      <p:sp>
        <p:nvSpPr>
          <p:cNvPr id="3" name="内容占位符 2"/>
          <p:cNvSpPr>
            <a:spLocks noGrp="1"/>
          </p:cNvSpPr>
          <p:nvPr>
            <p:ph idx="1"/>
          </p:nvPr>
        </p:nvSpPr>
        <p:spPr>
          <a:xfrm>
            <a:off x="838200" y="1825625"/>
            <a:ext cx="5042836" cy="4351338"/>
          </a:xfrm>
        </p:spPr>
        <p:txBody>
          <a:bodyPr>
            <a:normAutofit/>
          </a:bodyPr>
          <a:lstStyle/>
          <a:p>
            <a:r>
              <a:rPr lang="en-US" altLang="zh-CN" sz="2000" dirty="0"/>
              <a:t>1994</a:t>
            </a:r>
            <a:r>
              <a:rPr lang="zh-CN" altLang="en-US" sz="2000" dirty="0"/>
              <a:t>年，因莫泽尔事件从所罗门兄弟公司离职的</a:t>
            </a:r>
            <a:r>
              <a:rPr lang="en-US" altLang="zh-CN" sz="2000" dirty="0"/>
              <a:t>John Meriwether</a:t>
            </a:r>
            <a:r>
              <a:rPr lang="zh-CN" altLang="en-US" sz="2000" dirty="0"/>
              <a:t>创立了长期资本管理公司。</a:t>
            </a:r>
            <a:endParaRPr lang="en-US" altLang="zh-CN" sz="2000" dirty="0"/>
          </a:p>
          <a:p>
            <a:r>
              <a:rPr lang="zh-CN" altLang="en-US" sz="2000" dirty="0"/>
              <a:t>约翰</a:t>
            </a:r>
            <a:r>
              <a:rPr lang="en-US" altLang="zh-CN" sz="2000" dirty="0"/>
              <a:t>·</a:t>
            </a:r>
            <a:r>
              <a:rPr lang="zh-CN" altLang="en-US" sz="2000" dirty="0"/>
              <a:t>麦利威瑟，被誉为能“点石成金”的华尔街债券套利之父，是一个工于心计、精于算计的“赌徒”。不管交易是赢还是输，麦利威瑟永远能保持着一张冷漠脸。</a:t>
            </a:r>
            <a:endParaRPr lang="en-US" altLang="zh-CN" sz="2000" dirty="0"/>
          </a:p>
          <a:p>
            <a:r>
              <a:rPr lang="zh-CN" altLang="en-US" sz="2000" dirty="0"/>
              <a:t>他有一种常人所不具有的能力，使得他可以很好地控制大部分交易员都无法控制的两种情绪：贪婪和恐惧。正是在他负责的债券套利部门的引领下，所罗门兄弟公司才成为华尔街的债券之王。</a:t>
            </a:r>
          </a:p>
        </p:txBody>
      </p:sp>
      <p:pic>
        <p:nvPicPr>
          <p:cNvPr id="4" name="图片 3"/>
          <p:cNvPicPr>
            <a:picLocks noChangeAspect="1"/>
          </p:cNvPicPr>
          <p:nvPr/>
        </p:nvPicPr>
        <p:blipFill>
          <a:blip r:embed="rId2"/>
          <a:stretch>
            <a:fillRect/>
          </a:stretch>
        </p:blipFill>
        <p:spPr>
          <a:xfrm>
            <a:off x="6634140" y="1910191"/>
            <a:ext cx="4121362" cy="3441877"/>
          </a:xfrm>
          <a:prstGeom prst="rect">
            <a:avLst/>
          </a:prstGeom>
        </p:spPr>
      </p:pic>
    </p:spTree>
    <p:extLst>
      <p:ext uri="{BB962C8B-B14F-4D97-AF65-F5344CB8AC3E}">
        <p14:creationId xmlns:p14="http://schemas.microsoft.com/office/powerpoint/2010/main" val="1443688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LTCM——</a:t>
            </a:r>
            <a:r>
              <a:rPr lang="zh-CN" altLang="en-US" dirty="0"/>
              <a:t>华尔街的梦之队</a:t>
            </a:r>
          </a:p>
        </p:txBody>
      </p:sp>
      <p:sp>
        <p:nvSpPr>
          <p:cNvPr id="3" name="内容占位符 2"/>
          <p:cNvSpPr>
            <a:spLocks noGrp="1"/>
          </p:cNvSpPr>
          <p:nvPr>
            <p:ph idx="1"/>
          </p:nvPr>
        </p:nvSpPr>
        <p:spPr/>
        <p:txBody>
          <a:bodyPr>
            <a:normAutofit/>
          </a:bodyPr>
          <a:lstStyle/>
          <a:p>
            <a:r>
              <a:rPr lang="zh-CN" altLang="en-US" dirty="0"/>
              <a:t>凭借在华尔街的声望，麦利威瑟聚集了一批精英加盟：</a:t>
            </a:r>
            <a:endParaRPr lang="en-US" altLang="zh-CN" dirty="0"/>
          </a:p>
          <a:p>
            <a:pPr lvl="1"/>
            <a:r>
              <a:rPr lang="zh-CN" altLang="en-US" dirty="0"/>
              <a:t>他的老部下前所罗门兄弟公司债券交易主管和王牌交易员们</a:t>
            </a:r>
            <a:r>
              <a:rPr lang="en-US" altLang="zh-CN" dirty="0"/>
              <a:t>——</a:t>
            </a:r>
            <a:r>
              <a:rPr lang="zh-CN" altLang="en-US" dirty="0"/>
              <a:t>艾里克</a:t>
            </a:r>
            <a:r>
              <a:rPr lang="en-US" altLang="zh-CN" dirty="0"/>
              <a:t>·</a:t>
            </a:r>
            <a:r>
              <a:rPr lang="zh-CN" altLang="en-US" dirty="0"/>
              <a:t>罗森菲尔德、维克多</a:t>
            </a:r>
            <a:r>
              <a:rPr lang="en-US" altLang="zh-CN" dirty="0"/>
              <a:t>·</a:t>
            </a:r>
            <a:r>
              <a:rPr lang="zh-CN" altLang="en-US" dirty="0"/>
              <a:t>哈吉哈尼、格里高利</a:t>
            </a:r>
            <a:r>
              <a:rPr lang="en-US" altLang="zh-CN" dirty="0"/>
              <a:t>·</a:t>
            </a:r>
            <a:r>
              <a:rPr lang="zh-CN" altLang="en-US" dirty="0"/>
              <a:t>霍金斯、劳伦斯</a:t>
            </a:r>
            <a:r>
              <a:rPr lang="en-US" altLang="zh-CN" dirty="0"/>
              <a:t>·</a:t>
            </a:r>
            <a:r>
              <a:rPr lang="zh-CN" altLang="en-US" dirty="0"/>
              <a:t>希利布兰德；</a:t>
            </a:r>
            <a:endParaRPr lang="en-US" altLang="zh-CN" dirty="0"/>
          </a:p>
          <a:p>
            <a:pPr lvl="1"/>
            <a:r>
              <a:rPr lang="en-US" altLang="zh-CN" dirty="0"/>
              <a:t>1997</a:t>
            </a:r>
            <a:r>
              <a:rPr lang="zh-CN" altLang="en-US" dirty="0"/>
              <a:t>年诺贝尔经济学奖得主</a:t>
            </a:r>
            <a:r>
              <a:rPr lang="en-US" altLang="zh-CN" dirty="0"/>
              <a:t>Robert Merton </a:t>
            </a:r>
            <a:r>
              <a:rPr lang="zh-CN" altLang="en-US" dirty="0"/>
              <a:t>和</a:t>
            </a:r>
            <a:r>
              <a:rPr lang="en-US" altLang="zh-CN" dirty="0"/>
              <a:t> Myron Scholes </a:t>
            </a:r>
            <a:r>
              <a:rPr lang="zh-CN" altLang="en-US" dirty="0"/>
              <a:t>，他们因取得了一个“牛顿式”的开创性成果</a:t>
            </a:r>
            <a:r>
              <a:rPr lang="en-US" altLang="zh-CN" dirty="0"/>
              <a:t>——</a:t>
            </a:r>
            <a:r>
              <a:rPr lang="zh-CN" altLang="en-US" dirty="0"/>
              <a:t>期权定价公式而获奖；</a:t>
            </a:r>
            <a:endParaRPr lang="en-US" altLang="zh-CN" dirty="0"/>
          </a:p>
          <a:p>
            <a:pPr lvl="1"/>
            <a:r>
              <a:rPr lang="zh-CN" altLang="en-US" dirty="0"/>
              <a:t>还有前美国财政部副部长兼美联储副主席戴维</a:t>
            </a:r>
            <a:r>
              <a:rPr lang="en-US" altLang="zh-CN" dirty="0"/>
              <a:t>·</a:t>
            </a:r>
            <a:r>
              <a:rPr lang="zh-CN" altLang="en-US" dirty="0"/>
              <a:t>马林斯，曾被视为格林斯潘的继任者。</a:t>
            </a:r>
            <a:endParaRPr lang="en-US" altLang="zh-CN" dirty="0"/>
          </a:p>
          <a:p>
            <a:r>
              <a:rPr lang="zh-CN" altLang="en-US" dirty="0"/>
              <a:t>这是一个云集了债券套利鼻祖、学术界泰斗和美联储二号人物的“梦幻组合”，是一支号称“每平方英寸智商高于地球上任何其他地方”的梦之队。</a:t>
            </a:r>
          </a:p>
        </p:txBody>
      </p:sp>
    </p:spTree>
    <p:extLst>
      <p:ext uri="{BB962C8B-B14F-4D97-AF65-F5344CB8AC3E}">
        <p14:creationId xmlns:p14="http://schemas.microsoft.com/office/powerpoint/2010/main" val="3477237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长期资本管理公司（</a:t>
            </a:r>
            <a:r>
              <a:rPr lang="en-US" altLang="zh-CN" dirty="0"/>
              <a:t>LTCM</a:t>
            </a:r>
            <a:r>
              <a:rPr lang="zh-CN" altLang="en-US" dirty="0"/>
              <a:t>）合伙人</a:t>
            </a:r>
          </a:p>
        </p:txBody>
      </p:sp>
      <p:pic>
        <p:nvPicPr>
          <p:cNvPr id="4" name="图片 3"/>
          <p:cNvPicPr>
            <a:picLocks noChangeAspect="1"/>
          </p:cNvPicPr>
          <p:nvPr/>
        </p:nvPicPr>
        <p:blipFill>
          <a:blip r:embed="rId2"/>
          <a:stretch>
            <a:fillRect/>
          </a:stretch>
        </p:blipFill>
        <p:spPr>
          <a:xfrm>
            <a:off x="1597794" y="1578543"/>
            <a:ext cx="8932244" cy="4649002"/>
          </a:xfrm>
          <a:prstGeom prst="rect">
            <a:avLst/>
          </a:prstGeom>
        </p:spPr>
      </p:pic>
    </p:spTree>
    <p:extLst>
      <p:ext uri="{BB962C8B-B14F-4D97-AF65-F5344CB8AC3E}">
        <p14:creationId xmlns:p14="http://schemas.microsoft.com/office/powerpoint/2010/main" val="499660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LTCM</a:t>
            </a:r>
            <a:r>
              <a:rPr lang="zh-CN" altLang="en-US" dirty="0"/>
              <a:t>合伙人：</a:t>
            </a:r>
            <a:r>
              <a:rPr lang="en-US" altLang="zh-CN" dirty="0"/>
              <a:t>Robert C. Merton—</a:t>
            </a:r>
            <a:r>
              <a:rPr lang="zh-CN" altLang="en-US" dirty="0"/>
              <a:t>教材作者</a:t>
            </a:r>
          </a:p>
        </p:txBody>
      </p:sp>
      <p:pic>
        <p:nvPicPr>
          <p:cNvPr id="3" name="图片 2"/>
          <p:cNvPicPr>
            <a:picLocks noChangeAspect="1"/>
          </p:cNvPicPr>
          <p:nvPr/>
        </p:nvPicPr>
        <p:blipFill>
          <a:blip r:embed="rId2"/>
          <a:stretch>
            <a:fillRect/>
          </a:stretch>
        </p:blipFill>
        <p:spPr>
          <a:xfrm>
            <a:off x="2098307" y="2011680"/>
            <a:ext cx="8162224" cy="4206239"/>
          </a:xfrm>
          <a:prstGeom prst="rect">
            <a:avLst/>
          </a:prstGeom>
        </p:spPr>
      </p:pic>
    </p:spTree>
    <p:extLst>
      <p:ext uri="{BB962C8B-B14F-4D97-AF65-F5344CB8AC3E}">
        <p14:creationId xmlns:p14="http://schemas.microsoft.com/office/powerpoint/2010/main" val="1251693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zh-CN" altLang="en-US" dirty="0"/>
              <a:t>宴宾客</a:t>
            </a:r>
          </a:p>
        </p:txBody>
      </p:sp>
      <p:sp>
        <p:nvSpPr>
          <p:cNvPr id="4" name="内容占位符 3"/>
          <p:cNvSpPr>
            <a:spLocks noGrp="1"/>
          </p:cNvSpPr>
          <p:nvPr>
            <p:ph idx="1"/>
          </p:nvPr>
        </p:nvSpPr>
        <p:spPr/>
        <p:txBody>
          <a:bodyPr>
            <a:normAutofit fontScale="92500" lnSpcReduction="10000"/>
          </a:bodyPr>
          <a:lstStyle/>
          <a:p>
            <a:r>
              <a:rPr lang="en-US" altLang="zh-CN" dirty="0"/>
              <a:t>LTCM</a:t>
            </a:r>
            <a:r>
              <a:rPr lang="zh-CN" altLang="en-US" dirty="0"/>
              <a:t>的募资标准高得盛气凌人</a:t>
            </a:r>
            <a:r>
              <a:rPr lang="en-US" altLang="zh-CN" dirty="0"/>
              <a:t>——</a:t>
            </a:r>
            <a:r>
              <a:rPr lang="zh-CN" altLang="en-US" dirty="0"/>
              <a:t>除每年对资产提取</a:t>
            </a:r>
            <a:r>
              <a:rPr lang="en-US" altLang="zh-CN" dirty="0"/>
              <a:t>2</a:t>
            </a:r>
            <a:r>
              <a:rPr lang="zh-CN" altLang="en-US" dirty="0"/>
              <a:t>个百分点的管理费外，还要提取高达利润</a:t>
            </a:r>
            <a:r>
              <a:rPr lang="en-US" altLang="zh-CN" dirty="0"/>
              <a:t>25%</a:t>
            </a:r>
            <a:r>
              <a:rPr lang="zh-CN" altLang="en-US" dirty="0"/>
              <a:t>的提成，且投资者被要求</a:t>
            </a:r>
            <a:r>
              <a:rPr lang="en-US" altLang="zh-CN" dirty="0"/>
              <a:t>3</a:t>
            </a:r>
            <a:r>
              <a:rPr lang="zh-CN" altLang="en-US" dirty="0"/>
              <a:t>年内不得撤资。但他们还是毫不费力地说服</a:t>
            </a:r>
            <a:r>
              <a:rPr lang="en-US" altLang="zh-CN" dirty="0"/>
              <a:t>80</a:t>
            </a:r>
            <a:r>
              <a:rPr lang="zh-CN" altLang="en-US" dirty="0"/>
              <a:t>名原始投资者每人至少拿出</a:t>
            </a:r>
            <a:r>
              <a:rPr lang="en-US" altLang="zh-CN" dirty="0"/>
              <a:t>1000</a:t>
            </a:r>
            <a:r>
              <a:rPr lang="zh-CN" altLang="en-US" dirty="0"/>
              <a:t>万美元。</a:t>
            </a:r>
            <a:endParaRPr lang="en-US" altLang="zh-CN" dirty="0"/>
          </a:p>
          <a:p>
            <a:r>
              <a:rPr lang="zh-CN" altLang="en-US" dirty="0"/>
              <a:t>投资者包括：前贝尔斯登董事长詹姆斯</a:t>
            </a:r>
            <a:r>
              <a:rPr lang="en-US" altLang="zh-CN" dirty="0"/>
              <a:t>·</a:t>
            </a:r>
            <a:r>
              <a:rPr lang="zh-CN" altLang="en-US" dirty="0"/>
              <a:t>凯恩、耐克创始人菲尔</a:t>
            </a:r>
            <a:r>
              <a:rPr lang="en-US" altLang="zh-CN" dirty="0"/>
              <a:t>·</a:t>
            </a:r>
            <a:r>
              <a:rPr lang="zh-CN" altLang="en-US" dirty="0"/>
              <a:t>奈特、好莱坞著名经纪人迈克尔</a:t>
            </a:r>
            <a:r>
              <a:rPr lang="en-US" altLang="zh-CN" dirty="0"/>
              <a:t>·</a:t>
            </a:r>
            <a:r>
              <a:rPr lang="zh-CN" altLang="en-US" dirty="0"/>
              <a:t>欧维兹、麦肯锡多位合伙人、纽约石油巨头罗伯特</a:t>
            </a:r>
            <a:r>
              <a:rPr lang="en-US" altLang="zh-CN" dirty="0"/>
              <a:t>·</a:t>
            </a:r>
            <a:r>
              <a:rPr lang="zh-CN" altLang="en-US" dirty="0"/>
              <a:t>贝尔夫等等。除了个人投资者外，还有来自全球的机构投资者，有美林证券、纽约大陆保险公司、总统人寿保险公司、瑞士联合银行、德雷斯顿银行、新加坡政府投资公司、日本住友银行、台湾银行、泰国盘谷银行、科威特政府养老基金等等，更令人称奇的是还有意大利中央银行的外汇局和一些著名的大学。</a:t>
            </a:r>
            <a:endParaRPr lang="en-US" altLang="zh-CN" dirty="0"/>
          </a:p>
          <a:p>
            <a:r>
              <a:rPr lang="zh-CN" altLang="en-US" dirty="0"/>
              <a:t>最后，长期资本管理公司总共募集到</a:t>
            </a:r>
            <a:r>
              <a:rPr lang="en-US" altLang="zh-CN" dirty="0"/>
              <a:t>12.5</a:t>
            </a:r>
            <a:r>
              <a:rPr lang="zh-CN" altLang="en-US" dirty="0"/>
              <a:t>亿美元，这创下了当时的历史最高记录。</a:t>
            </a:r>
          </a:p>
        </p:txBody>
      </p:sp>
    </p:spTree>
    <p:extLst>
      <p:ext uri="{BB962C8B-B14F-4D97-AF65-F5344CB8AC3E}">
        <p14:creationId xmlns:p14="http://schemas.microsoft.com/office/powerpoint/2010/main" val="937487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起高楼</a:t>
            </a:r>
          </a:p>
        </p:txBody>
      </p:sp>
      <p:sp>
        <p:nvSpPr>
          <p:cNvPr id="3" name="内容占位符 2"/>
          <p:cNvSpPr>
            <a:spLocks noGrp="1"/>
          </p:cNvSpPr>
          <p:nvPr>
            <p:ph idx="1"/>
          </p:nvPr>
        </p:nvSpPr>
        <p:spPr/>
        <p:txBody>
          <a:bodyPr/>
          <a:lstStyle/>
          <a:p>
            <a:r>
              <a:rPr lang="zh-CN" altLang="en-US" dirty="0"/>
              <a:t>初始资金</a:t>
            </a:r>
            <a:r>
              <a:rPr lang="en-US" altLang="zh-CN" dirty="0"/>
              <a:t>12.5</a:t>
            </a:r>
            <a:r>
              <a:rPr lang="zh-CN" altLang="en-US" dirty="0"/>
              <a:t>亿美元，到了</a:t>
            </a:r>
            <a:r>
              <a:rPr lang="en-US" altLang="zh-CN" dirty="0"/>
              <a:t>1997</a:t>
            </a:r>
            <a:r>
              <a:rPr lang="zh-CN" altLang="en-US" dirty="0"/>
              <a:t>年末，其净资产达到了</a:t>
            </a:r>
            <a:r>
              <a:rPr lang="en-US" altLang="zh-CN" dirty="0"/>
              <a:t>48</a:t>
            </a:r>
            <a:r>
              <a:rPr lang="zh-CN" altLang="en-US" dirty="0"/>
              <a:t>亿美元。</a:t>
            </a:r>
            <a:endParaRPr lang="en-US" altLang="zh-CN" dirty="0"/>
          </a:p>
          <a:p>
            <a:r>
              <a:rPr lang="en-US" altLang="zh-CN" dirty="0"/>
              <a:t>1994-1997</a:t>
            </a:r>
            <a:r>
              <a:rPr lang="zh-CN" altLang="en-US" dirty="0"/>
              <a:t>年每年的投资回报率为：</a:t>
            </a:r>
            <a:r>
              <a:rPr lang="en-US" altLang="zh-CN" dirty="0"/>
              <a:t>28.5%</a:t>
            </a:r>
            <a:r>
              <a:rPr lang="zh-CN" altLang="en-US" dirty="0"/>
              <a:t>，</a:t>
            </a:r>
            <a:r>
              <a:rPr lang="en-US" altLang="zh-CN" dirty="0"/>
              <a:t>42.8%</a:t>
            </a:r>
            <a:r>
              <a:rPr lang="zh-CN" altLang="en-US" dirty="0"/>
              <a:t>，</a:t>
            </a:r>
            <a:r>
              <a:rPr lang="en-US" altLang="zh-CN" dirty="0"/>
              <a:t>40.8%</a:t>
            </a:r>
            <a:r>
              <a:rPr lang="zh-CN" altLang="en-US" dirty="0"/>
              <a:t>和</a:t>
            </a:r>
            <a:r>
              <a:rPr lang="en-US" altLang="zh-CN" dirty="0"/>
              <a:t>17%</a:t>
            </a:r>
            <a:r>
              <a:rPr lang="zh-CN" altLang="en-US" dirty="0"/>
              <a:t>，这还是扣除了管理费和高昂的提成之后的数字。</a:t>
            </a:r>
            <a:endParaRPr lang="en-US" altLang="zh-CN" dirty="0"/>
          </a:p>
          <a:p>
            <a:r>
              <a:rPr lang="zh-CN" altLang="en-US" dirty="0"/>
              <a:t>如果我们补回管理费和利润提成，基金的初始回报为：</a:t>
            </a:r>
            <a:r>
              <a:rPr lang="en-US" altLang="zh-CN" dirty="0"/>
              <a:t>40.82%</a:t>
            </a:r>
            <a:r>
              <a:rPr lang="zh-CN" altLang="en-US" dirty="0"/>
              <a:t>，</a:t>
            </a:r>
            <a:r>
              <a:rPr lang="en-US" altLang="zh-CN" dirty="0"/>
              <a:t>60.2%</a:t>
            </a:r>
            <a:r>
              <a:rPr lang="zh-CN" altLang="en-US" dirty="0"/>
              <a:t>，</a:t>
            </a:r>
            <a:r>
              <a:rPr lang="en-US" altLang="zh-CN" dirty="0"/>
              <a:t>57.55%</a:t>
            </a:r>
            <a:r>
              <a:rPr lang="zh-CN" altLang="en-US" dirty="0"/>
              <a:t>和</a:t>
            </a:r>
            <a:r>
              <a:rPr lang="en-US" altLang="zh-CN" dirty="0"/>
              <a:t>25.17%</a:t>
            </a:r>
            <a:r>
              <a:rPr lang="zh-CN" altLang="en-US" dirty="0"/>
              <a:t>。</a:t>
            </a:r>
            <a:endParaRPr lang="en-US" altLang="zh-CN" dirty="0"/>
          </a:p>
          <a:p>
            <a:r>
              <a:rPr lang="zh-CN" altLang="en-US" dirty="0"/>
              <a:t>这是一串多么令人震惊的数字。更令人称奇的是，基金只有个别月出现了不到</a:t>
            </a:r>
            <a:r>
              <a:rPr lang="en-US" altLang="zh-CN" dirty="0"/>
              <a:t>1%</a:t>
            </a:r>
            <a:r>
              <a:rPr lang="zh-CN" altLang="en-US" dirty="0"/>
              <a:t>的亏损，其他月份都实现了盈利，它稳的就像一颗恒星。</a:t>
            </a:r>
            <a:endParaRPr lang="en-US" altLang="zh-CN" dirty="0"/>
          </a:p>
          <a:p>
            <a:r>
              <a:rPr lang="zh-CN" altLang="en-US" dirty="0"/>
              <a:t>与此同时，</a:t>
            </a:r>
            <a:r>
              <a:rPr lang="en-US" altLang="zh-CN" dirty="0"/>
              <a:t>1997</a:t>
            </a:r>
            <a:r>
              <a:rPr lang="zh-CN" altLang="en-US" dirty="0"/>
              <a:t>年，两位合伙人获得诺贝尔经济学奖</a:t>
            </a:r>
          </a:p>
        </p:txBody>
      </p:sp>
    </p:spTree>
    <p:extLst>
      <p:ext uri="{BB962C8B-B14F-4D97-AF65-F5344CB8AC3E}">
        <p14:creationId xmlns:p14="http://schemas.microsoft.com/office/powerpoint/2010/main" val="3959971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楼塌了</a:t>
            </a:r>
          </a:p>
        </p:txBody>
      </p:sp>
      <p:sp>
        <p:nvSpPr>
          <p:cNvPr id="3" name="内容占位符 2"/>
          <p:cNvSpPr>
            <a:spLocks noGrp="1"/>
          </p:cNvSpPr>
          <p:nvPr>
            <p:ph idx="1"/>
          </p:nvPr>
        </p:nvSpPr>
        <p:spPr/>
        <p:txBody>
          <a:bodyPr/>
          <a:lstStyle/>
          <a:p>
            <a:r>
              <a:rPr lang="en-US" altLang="zh-CN" dirty="0"/>
              <a:t>1998</a:t>
            </a:r>
            <a:r>
              <a:rPr lang="zh-CN" altLang="en-US" dirty="0"/>
              <a:t>年，因为全球债市动荡特别是俄罗斯国债违约，</a:t>
            </a:r>
            <a:r>
              <a:rPr lang="en-US" altLang="zh-CN" dirty="0"/>
              <a:t>LTCM</a:t>
            </a:r>
            <a:r>
              <a:rPr lang="zh-CN" altLang="en-US" dirty="0"/>
              <a:t>破产了</a:t>
            </a:r>
          </a:p>
        </p:txBody>
      </p:sp>
    </p:spTree>
    <p:extLst>
      <p:ext uri="{BB962C8B-B14F-4D97-AF65-F5344CB8AC3E}">
        <p14:creationId xmlns:p14="http://schemas.microsoft.com/office/powerpoint/2010/main" val="51299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无风险套利定价原则</a:t>
            </a:r>
          </a:p>
        </p:txBody>
      </p:sp>
      <p:sp>
        <p:nvSpPr>
          <p:cNvPr id="3" name="内容占位符 2"/>
          <p:cNvSpPr>
            <a:spLocks noGrp="1"/>
          </p:cNvSpPr>
          <p:nvPr>
            <p:ph idx="1"/>
          </p:nvPr>
        </p:nvSpPr>
        <p:spPr/>
        <p:txBody>
          <a:bodyPr/>
          <a:lstStyle/>
          <a:p>
            <a:r>
              <a:rPr lang="zh-CN" altLang="en-US" dirty="0"/>
              <a:t>对于期权类衍生品，难以运用现金流贴现定价方法</a:t>
            </a:r>
            <a:endParaRPr lang="en-US" altLang="zh-CN" dirty="0"/>
          </a:p>
          <a:p>
            <a:endParaRPr lang="en-US" altLang="zh-CN" dirty="0"/>
          </a:p>
          <a:p>
            <a:r>
              <a:rPr lang="zh-CN" altLang="en-US" dirty="0"/>
              <a:t>一般需要应用无风险套利定价原则，基于期权与基础资产的关系推导出期权的价值</a:t>
            </a:r>
          </a:p>
        </p:txBody>
      </p:sp>
    </p:spTree>
    <p:extLst>
      <p:ext uri="{BB962C8B-B14F-4D97-AF65-F5344CB8AC3E}">
        <p14:creationId xmlns:p14="http://schemas.microsoft.com/office/powerpoint/2010/main" val="3438647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6C21434-58DF-44F1-8205-7626EE0CA3E5}" type="slidenum">
              <a:rPr lang="zh-CN" altLang="en-US"/>
              <a:pPr/>
              <a:t>23</a:t>
            </a:fld>
            <a:endParaRPr lang="en-US" altLang="zh-CN"/>
          </a:p>
        </p:txBody>
      </p:sp>
      <p:sp>
        <p:nvSpPr>
          <p:cNvPr id="99330" name="Rectangle 2"/>
          <p:cNvSpPr>
            <a:spLocks noGrp="1" noChangeArrowheads="1"/>
          </p:cNvSpPr>
          <p:nvPr>
            <p:ph type="title"/>
          </p:nvPr>
        </p:nvSpPr>
        <p:spPr>
          <a:xfrm>
            <a:off x="2674938" y="214314"/>
            <a:ext cx="6805612" cy="1462087"/>
          </a:xfrm>
        </p:spPr>
        <p:txBody>
          <a:bodyPr/>
          <a:lstStyle/>
          <a:p>
            <a:r>
              <a:rPr lang="en-US" altLang="zh-CN" dirty="0"/>
              <a:t>7.4 </a:t>
            </a:r>
            <a:r>
              <a:rPr lang="zh-CN" altLang="en-US" dirty="0"/>
              <a:t>套利</a:t>
            </a:r>
            <a:r>
              <a:rPr lang="zh-CN" altLang="en-US" dirty="0" smtClean="0"/>
              <a:t>与金融资产</a:t>
            </a:r>
            <a:r>
              <a:rPr lang="zh-CN" altLang="en-US" dirty="0"/>
              <a:t>的价格</a:t>
            </a:r>
          </a:p>
        </p:txBody>
      </p:sp>
      <p:sp>
        <p:nvSpPr>
          <p:cNvPr id="99331" name="Rectangle 3"/>
          <p:cNvSpPr>
            <a:spLocks noGrp="1" noChangeArrowheads="1"/>
          </p:cNvSpPr>
          <p:nvPr>
            <p:ph type="body" idx="1"/>
          </p:nvPr>
        </p:nvSpPr>
        <p:spPr>
          <a:xfrm>
            <a:off x="2135189" y="2017713"/>
            <a:ext cx="8281987" cy="4114800"/>
          </a:xfrm>
        </p:spPr>
        <p:txBody>
          <a:bodyPr>
            <a:normAutofit lnSpcReduction="10000"/>
          </a:bodyPr>
          <a:lstStyle/>
          <a:p>
            <a:r>
              <a:rPr lang="zh-CN" altLang="en-US" dirty="0"/>
              <a:t>套利组合（零投资组合）</a:t>
            </a:r>
            <a:endParaRPr lang="en-US" altLang="zh-CN" dirty="0"/>
          </a:p>
          <a:p>
            <a:pPr lvl="1"/>
            <a:r>
              <a:rPr lang="zh-CN" altLang="en-US" dirty="0"/>
              <a:t>做多被低估的资产、同时做空被高估的资产</a:t>
            </a:r>
            <a:endParaRPr lang="en-US" altLang="zh-CN" dirty="0"/>
          </a:p>
          <a:p>
            <a:pPr lvl="1"/>
            <a:r>
              <a:rPr lang="zh-CN" altLang="en-US" dirty="0"/>
              <a:t>被低估的资产价格因大量做多而上涨、被高估的资产价格因被大量做空而下跌，直至趋于均衡</a:t>
            </a:r>
            <a:endParaRPr lang="en-US" altLang="zh-CN" dirty="0"/>
          </a:p>
          <a:p>
            <a:pPr lvl="1"/>
            <a:r>
              <a:rPr lang="zh-CN" altLang="en-US" dirty="0"/>
              <a:t>程序化套利的广泛存在导致难以出现明显套利机会</a:t>
            </a:r>
          </a:p>
          <a:p>
            <a:endParaRPr lang="zh-CN" altLang="en-US" dirty="0"/>
          </a:p>
          <a:p>
            <a:r>
              <a:rPr lang="zh-CN" altLang="en-US" dirty="0"/>
              <a:t>一价原则是金融中最基本的评估原则。如有违背，必有</a:t>
            </a:r>
          </a:p>
          <a:p>
            <a:pPr lvl="1"/>
            <a:r>
              <a:rPr lang="zh-CN" altLang="en-US" dirty="0"/>
              <a:t>某物妨碍了竞争市场的正常操作</a:t>
            </a:r>
          </a:p>
          <a:p>
            <a:pPr lvl="1"/>
            <a:r>
              <a:rPr lang="zh-CN" altLang="en-US" dirty="0"/>
              <a:t>这两个资产之间存在经济上的差别（或许没有被发觉）</a:t>
            </a:r>
          </a:p>
          <a:p>
            <a:pPr lvl="1"/>
            <a:endParaRPr lang="zh-CN" altLang="en-US" dirty="0"/>
          </a:p>
          <a:p>
            <a:pPr lvl="2"/>
            <a:endParaRPr lang="zh-CN" altLang="en-US" dirty="0"/>
          </a:p>
        </p:txBody>
      </p:sp>
    </p:spTree>
    <p:extLst>
      <p:ext uri="{BB962C8B-B14F-4D97-AF65-F5344CB8AC3E}">
        <p14:creationId xmlns:p14="http://schemas.microsoft.com/office/powerpoint/2010/main" val="2132241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3500" dirty="0"/>
              <a:t>分级基金的套利（极度简化，实务中更为复杂）</a:t>
            </a:r>
          </a:p>
        </p:txBody>
      </p:sp>
      <p:sp>
        <p:nvSpPr>
          <p:cNvPr id="3" name="内容占位符 2"/>
          <p:cNvSpPr>
            <a:spLocks noGrp="1"/>
          </p:cNvSpPr>
          <p:nvPr>
            <p:ph idx="1"/>
          </p:nvPr>
        </p:nvSpPr>
        <p:spPr/>
        <p:txBody>
          <a:bodyPr/>
          <a:lstStyle/>
          <a:p>
            <a:r>
              <a:rPr lang="zh-CN" altLang="en-US" dirty="0"/>
              <a:t>假定基金协议规定： </a:t>
            </a:r>
            <a:r>
              <a:rPr lang="en-US" altLang="zh-CN" dirty="0"/>
              <a:t>2</a:t>
            </a:r>
            <a:r>
              <a:rPr lang="zh-CN" altLang="en-US" dirty="0"/>
              <a:t>份母基金 </a:t>
            </a:r>
            <a:r>
              <a:rPr lang="en-US" altLang="zh-CN" dirty="0"/>
              <a:t>= </a:t>
            </a:r>
            <a:r>
              <a:rPr lang="zh-CN" altLang="en-US" dirty="0"/>
              <a:t>一份分级</a:t>
            </a:r>
            <a:r>
              <a:rPr lang="en-US" altLang="zh-CN" dirty="0"/>
              <a:t>A</a:t>
            </a:r>
            <a:r>
              <a:rPr lang="zh-CN" altLang="en-US" dirty="0"/>
              <a:t>（低风险）</a:t>
            </a:r>
            <a:r>
              <a:rPr lang="en-US" altLang="zh-CN" dirty="0"/>
              <a:t>+ </a:t>
            </a:r>
            <a:r>
              <a:rPr lang="zh-CN" altLang="en-US" dirty="0"/>
              <a:t>一份分级</a:t>
            </a:r>
            <a:r>
              <a:rPr lang="en-US" altLang="zh-CN" dirty="0"/>
              <a:t>B</a:t>
            </a:r>
            <a:r>
              <a:rPr lang="zh-CN" altLang="en-US" dirty="0"/>
              <a:t>（高风险）</a:t>
            </a:r>
            <a:endParaRPr lang="en-US" altLang="zh-CN" dirty="0"/>
          </a:p>
          <a:p>
            <a:r>
              <a:rPr lang="zh-CN" altLang="en-US" dirty="0"/>
              <a:t>拆分套利</a:t>
            </a:r>
            <a:endParaRPr lang="en-US" altLang="zh-CN" dirty="0"/>
          </a:p>
          <a:p>
            <a:pPr lvl="1"/>
            <a:r>
              <a:rPr lang="zh-CN" altLang="en-US" sz="1800" dirty="0"/>
              <a:t>如果  </a:t>
            </a:r>
            <a:r>
              <a:rPr lang="en-US" altLang="zh-CN" sz="1800" dirty="0"/>
              <a:t>2</a:t>
            </a:r>
            <a:r>
              <a:rPr lang="zh-CN" altLang="en-US" sz="1800" dirty="0"/>
              <a:t>份母基金的净值之和（净值</a:t>
            </a:r>
            <a:r>
              <a:rPr lang="en-US" altLang="zh-CN" sz="1800" dirty="0"/>
              <a:t>1</a:t>
            </a:r>
            <a:r>
              <a:rPr lang="zh-CN" altLang="en-US" sz="1800" dirty="0"/>
              <a:t>元） </a:t>
            </a:r>
            <a:r>
              <a:rPr lang="en-US" altLang="zh-CN" sz="1800" dirty="0"/>
              <a:t>&lt; </a:t>
            </a:r>
            <a:r>
              <a:rPr lang="zh-CN" altLang="en-US" sz="1800" dirty="0"/>
              <a:t>一份分级</a:t>
            </a:r>
            <a:r>
              <a:rPr lang="en-US" altLang="zh-CN" sz="1800" dirty="0"/>
              <a:t>A</a:t>
            </a:r>
            <a:r>
              <a:rPr lang="zh-CN" altLang="en-US" sz="1800" dirty="0"/>
              <a:t>的价格（</a:t>
            </a:r>
            <a:r>
              <a:rPr lang="en-US" altLang="zh-CN" sz="1800" dirty="0"/>
              <a:t>0.9</a:t>
            </a:r>
            <a:r>
              <a:rPr lang="zh-CN" altLang="en-US" sz="1800" dirty="0"/>
              <a:t>） </a:t>
            </a:r>
            <a:r>
              <a:rPr lang="en-US" altLang="zh-CN" sz="1800" dirty="0"/>
              <a:t>+ </a:t>
            </a:r>
            <a:r>
              <a:rPr lang="zh-CN" altLang="en-US" sz="1800" dirty="0"/>
              <a:t>一份分级</a:t>
            </a:r>
            <a:r>
              <a:rPr lang="en-US" altLang="zh-CN" sz="1800" dirty="0"/>
              <a:t>B</a:t>
            </a:r>
            <a:r>
              <a:rPr lang="zh-CN" altLang="en-US" sz="1800" dirty="0"/>
              <a:t>的价格（</a:t>
            </a:r>
            <a:r>
              <a:rPr lang="en-US" altLang="zh-CN" sz="1800" dirty="0"/>
              <a:t>1.6</a:t>
            </a:r>
            <a:r>
              <a:rPr lang="zh-CN" altLang="en-US" sz="1800" dirty="0"/>
              <a:t>）</a:t>
            </a:r>
            <a:endParaRPr lang="en-US" altLang="zh-CN" sz="1800" dirty="0"/>
          </a:p>
          <a:p>
            <a:pPr lvl="2"/>
            <a:r>
              <a:rPr lang="zh-CN" altLang="en-US" dirty="0"/>
              <a:t>申购</a:t>
            </a:r>
            <a:r>
              <a:rPr lang="en-US" altLang="zh-CN" dirty="0"/>
              <a:t>100</a:t>
            </a:r>
            <a:r>
              <a:rPr lang="zh-CN" altLang="en-US" dirty="0"/>
              <a:t>万份母基金，成本</a:t>
            </a:r>
            <a:r>
              <a:rPr lang="en-US" altLang="zh-CN" dirty="0"/>
              <a:t>100</a:t>
            </a:r>
            <a:r>
              <a:rPr lang="zh-CN" altLang="en-US" dirty="0"/>
              <a:t>万</a:t>
            </a:r>
            <a:endParaRPr lang="en-US" altLang="zh-CN" dirty="0"/>
          </a:p>
          <a:p>
            <a:pPr lvl="2"/>
            <a:r>
              <a:rPr lang="zh-CN" altLang="en-US" dirty="0"/>
              <a:t>拆成</a:t>
            </a:r>
            <a:r>
              <a:rPr lang="en-US" altLang="zh-CN" dirty="0"/>
              <a:t>50</a:t>
            </a:r>
            <a:r>
              <a:rPr lang="zh-CN" altLang="en-US" dirty="0"/>
              <a:t>万份</a:t>
            </a:r>
            <a:r>
              <a:rPr lang="en-US" altLang="zh-CN" dirty="0"/>
              <a:t>A</a:t>
            </a:r>
            <a:r>
              <a:rPr lang="zh-CN" altLang="en-US" dirty="0"/>
              <a:t>和</a:t>
            </a:r>
            <a:r>
              <a:rPr lang="en-US" altLang="zh-CN" dirty="0"/>
              <a:t>50</a:t>
            </a:r>
            <a:r>
              <a:rPr lang="zh-CN" altLang="en-US" dirty="0"/>
              <a:t>万份</a:t>
            </a:r>
            <a:r>
              <a:rPr lang="en-US" altLang="zh-CN" dirty="0"/>
              <a:t>B</a:t>
            </a:r>
            <a:r>
              <a:rPr lang="zh-CN" altLang="en-US" dirty="0"/>
              <a:t>然后卖出，得到</a:t>
            </a:r>
            <a:r>
              <a:rPr lang="en-US" altLang="zh-CN" dirty="0"/>
              <a:t>125</a:t>
            </a:r>
            <a:r>
              <a:rPr lang="zh-CN" altLang="en-US" dirty="0"/>
              <a:t>万</a:t>
            </a:r>
            <a:endParaRPr lang="en-US" altLang="zh-CN" dirty="0"/>
          </a:p>
          <a:p>
            <a:r>
              <a:rPr lang="zh-CN" altLang="en-US" dirty="0"/>
              <a:t>合并套利</a:t>
            </a:r>
            <a:endParaRPr lang="en-US" altLang="zh-CN" dirty="0"/>
          </a:p>
          <a:p>
            <a:pPr lvl="1"/>
            <a:r>
              <a:rPr lang="zh-CN" altLang="en-US" dirty="0"/>
              <a:t>如果  </a:t>
            </a:r>
            <a:r>
              <a:rPr lang="en-US" altLang="zh-CN" dirty="0"/>
              <a:t>2</a:t>
            </a:r>
            <a:r>
              <a:rPr lang="zh-CN" altLang="en-US" dirty="0"/>
              <a:t>份母基金的净值之和（净值</a:t>
            </a:r>
            <a:r>
              <a:rPr lang="en-US" altLang="zh-CN" dirty="0"/>
              <a:t>1.2</a:t>
            </a:r>
            <a:r>
              <a:rPr lang="zh-CN" altLang="en-US" dirty="0"/>
              <a:t>元） </a:t>
            </a:r>
            <a:r>
              <a:rPr lang="en-US" altLang="zh-CN" dirty="0"/>
              <a:t>&gt; </a:t>
            </a:r>
            <a:r>
              <a:rPr lang="zh-CN" altLang="en-US" dirty="0"/>
              <a:t>一份分级</a:t>
            </a:r>
            <a:r>
              <a:rPr lang="en-US" altLang="zh-CN" dirty="0"/>
              <a:t>A</a:t>
            </a:r>
            <a:r>
              <a:rPr lang="zh-CN" altLang="en-US" dirty="0"/>
              <a:t>的价格（</a:t>
            </a:r>
            <a:r>
              <a:rPr lang="en-US" altLang="zh-CN" dirty="0"/>
              <a:t>0.8</a:t>
            </a:r>
            <a:r>
              <a:rPr lang="zh-CN" altLang="en-US" dirty="0"/>
              <a:t>） </a:t>
            </a:r>
            <a:r>
              <a:rPr lang="en-US" altLang="zh-CN" dirty="0"/>
              <a:t>+ </a:t>
            </a:r>
            <a:r>
              <a:rPr lang="zh-CN" altLang="en-US" dirty="0"/>
              <a:t>一份分级</a:t>
            </a:r>
            <a:r>
              <a:rPr lang="en-US" altLang="zh-CN" dirty="0"/>
              <a:t>B</a:t>
            </a:r>
            <a:r>
              <a:rPr lang="zh-CN" altLang="en-US" dirty="0"/>
              <a:t>的价格（</a:t>
            </a:r>
            <a:r>
              <a:rPr lang="en-US" altLang="zh-CN" dirty="0"/>
              <a:t>1.2</a:t>
            </a:r>
            <a:r>
              <a:rPr lang="zh-CN" altLang="en-US" dirty="0"/>
              <a:t>）</a:t>
            </a:r>
            <a:endParaRPr lang="en-US" altLang="zh-CN" dirty="0"/>
          </a:p>
          <a:p>
            <a:pPr lvl="2"/>
            <a:r>
              <a:rPr lang="zh-CN" altLang="en-US" dirty="0"/>
              <a:t>二级市场买入</a:t>
            </a:r>
            <a:r>
              <a:rPr lang="en-US" altLang="zh-CN" dirty="0"/>
              <a:t>50</a:t>
            </a:r>
            <a:r>
              <a:rPr lang="zh-CN" altLang="en-US" dirty="0"/>
              <a:t>万</a:t>
            </a:r>
            <a:r>
              <a:rPr lang="en-US" altLang="zh-CN" dirty="0"/>
              <a:t>A</a:t>
            </a:r>
            <a:r>
              <a:rPr lang="zh-CN" altLang="en-US" dirty="0"/>
              <a:t>和</a:t>
            </a:r>
            <a:r>
              <a:rPr lang="en-US" altLang="zh-CN" dirty="0"/>
              <a:t>50</a:t>
            </a:r>
            <a:r>
              <a:rPr lang="zh-CN" altLang="en-US" dirty="0"/>
              <a:t>万</a:t>
            </a:r>
            <a:r>
              <a:rPr lang="en-US" altLang="zh-CN" dirty="0"/>
              <a:t>B</a:t>
            </a:r>
            <a:r>
              <a:rPr lang="zh-CN" altLang="en-US" dirty="0"/>
              <a:t>，成本</a:t>
            </a:r>
            <a:r>
              <a:rPr lang="en-US" altLang="zh-CN" dirty="0"/>
              <a:t>100</a:t>
            </a:r>
            <a:r>
              <a:rPr lang="zh-CN" altLang="en-US" dirty="0"/>
              <a:t>万</a:t>
            </a:r>
            <a:endParaRPr lang="en-US" altLang="zh-CN" dirty="0"/>
          </a:p>
          <a:p>
            <a:pPr lvl="2"/>
            <a:r>
              <a:rPr lang="zh-CN" altLang="en-US" dirty="0"/>
              <a:t>合并成</a:t>
            </a:r>
            <a:r>
              <a:rPr lang="en-US" altLang="zh-CN" dirty="0"/>
              <a:t>100</a:t>
            </a:r>
            <a:r>
              <a:rPr lang="zh-CN" altLang="en-US" dirty="0"/>
              <a:t>万份母基金，然后赎回，得到</a:t>
            </a:r>
            <a:r>
              <a:rPr lang="en-US" altLang="zh-CN" dirty="0"/>
              <a:t>120</a:t>
            </a:r>
            <a:r>
              <a:rPr lang="zh-CN" altLang="en-US" dirty="0"/>
              <a:t>万</a:t>
            </a:r>
            <a:endParaRPr lang="en-US" altLang="zh-CN" dirty="0"/>
          </a:p>
          <a:p>
            <a:endParaRPr lang="zh-CN" altLang="en-US" dirty="0"/>
          </a:p>
        </p:txBody>
      </p:sp>
    </p:spTree>
    <p:extLst>
      <p:ext uri="{BB962C8B-B14F-4D97-AF65-F5344CB8AC3E}">
        <p14:creationId xmlns:p14="http://schemas.microsoft.com/office/powerpoint/2010/main" val="3182230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3500" dirty="0"/>
              <a:t>可转换债券套利（极度简化，实务中更为复杂）</a:t>
            </a:r>
          </a:p>
        </p:txBody>
      </p:sp>
      <p:sp>
        <p:nvSpPr>
          <p:cNvPr id="3" name="内容占位符 2"/>
          <p:cNvSpPr>
            <a:spLocks noGrp="1"/>
          </p:cNvSpPr>
          <p:nvPr>
            <p:ph idx="1"/>
          </p:nvPr>
        </p:nvSpPr>
        <p:spPr/>
        <p:txBody>
          <a:bodyPr/>
          <a:lstStyle/>
          <a:p>
            <a:r>
              <a:rPr lang="zh-CN" altLang="en-US" dirty="0"/>
              <a:t>假定某上市公司发行可转债，价格</a:t>
            </a:r>
            <a:r>
              <a:rPr lang="en-US" altLang="zh-CN" dirty="0"/>
              <a:t>100</a:t>
            </a:r>
            <a:r>
              <a:rPr lang="zh-CN" altLang="en-US" dirty="0"/>
              <a:t>元，发行时约定转股价格为</a:t>
            </a:r>
            <a:r>
              <a:rPr lang="en-US" altLang="zh-CN" dirty="0"/>
              <a:t>10</a:t>
            </a:r>
            <a:r>
              <a:rPr lang="zh-CN" altLang="en-US" dirty="0"/>
              <a:t>元，则一份转债可以转换成</a:t>
            </a:r>
            <a:r>
              <a:rPr lang="en-US" altLang="zh-CN" dirty="0"/>
              <a:t>10</a:t>
            </a:r>
            <a:r>
              <a:rPr lang="zh-CN" altLang="en-US" dirty="0"/>
              <a:t>股股票</a:t>
            </a:r>
            <a:endParaRPr lang="en-US" altLang="zh-CN" dirty="0"/>
          </a:p>
          <a:p>
            <a:endParaRPr lang="en-US" altLang="zh-CN" dirty="0"/>
          </a:p>
          <a:p>
            <a:r>
              <a:rPr lang="zh-CN" altLang="en-US" dirty="0"/>
              <a:t>假定</a:t>
            </a:r>
            <a:r>
              <a:rPr lang="en-US" altLang="zh-CN" dirty="0"/>
              <a:t>2</a:t>
            </a:r>
            <a:r>
              <a:rPr lang="zh-CN" altLang="en-US" dirty="0"/>
              <a:t>年后进入转股期，现在股价为</a:t>
            </a:r>
            <a:r>
              <a:rPr lang="en-US" altLang="zh-CN" dirty="0"/>
              <a:t>20</a:t>
            </a:r>
            <a:r>
              <a:rPr lang="zh-CN" altLang="en-US" dirty="0"/>
              <a:t>元，转股价仍然为</a:t>
            </a:r>
            <a:r>
              <a:rPr lang="en-US" altLang="zh-CN" dirty="0"/>
              <a:t>10</a:t>
            </a:r>
            <a:r>
              <a:rPr lang="zh-CN" altLang="en-US" dirty="0"/>
              <a:t>元，但转债价格现在为</a:t>
            </a:r>
            <a:r>
              <a:rPr lang="en-US" altLang="zh-CN" dirty="0"/>
              <a:t>150</a:t>
            </a:r>
            <a:r>
              <a:rPr lang="zh-CN" altLang="en-US" dirty="0"/>
              <a:t>元</a:t>
            </a:r>
            <a:endParaRPr lang="en-US" altLang="zh-CN" dirty="0"/>
          </a:p>
          <a:p>
            <a:pPr lvl="1"/>
            <a:r>
              <a:rPr lang="zh-CN" altLang="en-US" dirty="0"/>
              <a:t>买入一份转债，成本</a:t>
            </a:r>
            <a:r>
              <a:rPr lang="en-US" altLang="zh-CN" dirty="0"/>
              <a:t>150</a:t>
            </a:r>
            <a:r>
              <a:rPr lang="zh-CN" altLang="en-US" dirty="0"/>
              <a:t>元</a:t>
            </a:r>
            <a:endParaRPr lang="en-US" altLang="zh-CN" dirty="0"/>
          </a:p>
          <a:p>
            <a:pPr lvl="1"/>
            <a:r>
              <a:rPr lang="zh-CN" altLang="en-US" dirty="0"/>
              <a:t>转成</a:t>
            </a:r>
            <a:r>
              <a:rPr lang="en-US" altLang="zh-CN" dirty="0"/>
              <a:t>10</a:t>
            </a:r>
            <a:r>
              <a:rPr lang="zh-CN" altLang="en-US" dirty="0"/>
              <a:t>股股票，然后卖出，得到</a:t>
            </a:r>
            <a:r>
              <a:rPr lang="en-US" altLang="zh-CN" dirty="0"/>
              <a:t>200</a:t>
            </a:r>
            <a:r>
              <a:rPr lang="zh-CN" altLang="en-US" dirty="0"/>
              <a:t>元</a:t>
            </a:r>
          </a:p>
        </p:txBody>
      </p:sp>
    </p:spTree>
    <p:extLst>
      <p:ext uri="{BB962C8B-B14F-4D97-AF65-F5344CB8AC3E}">
        <p14:creationId xmlns:p14="http://schemas.microsoft.com/office/powerpoint/2010/main" val="2023340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ctr"/>
            <a:r>
              <a:rPr lang="en-US" altLang="zh-CN" dirty="0"/>
              <a:t>7.</a:t>
            </a:r>
            <a:r>
              <a:rPr lang="zh-CN" altLang="en-US" dirty="0"/>
              <a:t>5 利率与一价定律</a:t>
            </a:r>
          </a:p>
        </p:txBody>
      </p:sp>
      <p:sp>
        <p:nvSpPr>
          <p:cNvPr id="9219" name="Rectangle 3"/>
          <p:cNvSpPr>
            <a:spLocks noGrp="1" noChangeArrowheads="1"/>
          </p:cNvSpPr>
          <p:nvPr>
            <p:ph type="body" idx="1"/>
          </p:nvPr>
        </p:nvSpPr>
        <p:spPr/>
        <p:txBody>
          <a:bodyPr/>
          <a:lstStyle/>
          <a:p>
            <a:r>
              <a:rPr lang="zh-CN" altLang="en-US" dirty="0"/>
              <a:t>严格地说，如果两种资金的风险、到期时间等相同，则其</a:t>
            </a:r>
            <a:r>
              <a:rPr lang="zh-CN" altLang="en-US" b="1" i="1" dirty="0">
                <a:solidFill>
                  <a:srgbClr val="00FF00"/>
                </a:solidFill>
              </a:rPr>
              <a:t>实际利率</a:t>
            </a:r>
            <a:r>
              <a:rPr lang="zh-CN" altLang="en-US" dirty="0"/>
              <a:t>也必然相同。</a:t>
            </a:r>
          </a:p>
          <a:p>
            <a:pPr lvl="1"/>
            <a:r>
              <a:rPr lang="zh-CN" altLang="en-US" dirty="0"/>
              <a:t>否则就可以借入低利率贷款，放出高利率贷款</a:t>
            </a:r>
            <a:endParaRPr lang="en-US" altLang="zh-CN" dirty="0"/>
          </a:p>
          <a:p>
            <a:pPr lvl="1"/>
            <a:endParaRPr lang="en-US" altLang="zh-CN" dirty="0"/>
          </a:p>
          <a:p>
            <a:r>
              <a:rPr lang="zh-CN" altLang="en-US" dirty="0"/>
              <a:t>为什么各国的利率不同呢？</a:t>
            </a:r>
            <a:endParaRPr lang="en-US" altLang="zh-CN" dirty="0"/>
          </a:p>
          <a:p>
            <a:pPr lvl="1"/>
            <a:r>
              <a:rPr lang="en-US" altLang="zh-CN" dirty="0"/>
              <a:t>1+</a:t>
            </a:r>
            <a:r>
              <a:rPr lang="zh-CN" altLang="en-US" dirty="0"/>
              <a:t>名义利率 </a:t>
            </a:r>
            <a:r>
              <a:rPr lang="en-US" altLang="zh-CN" dirty="0"/>
              <a:t>= (1+</a:t>
            </a:r>
            <a:r>
              <a:rPr lang="zh-CN" altLang="en-US" dirty="0"/>
              <a:t>实际利率</a:t>
            </a:r>
            <a:r>
              <a:rPr lang="en-US" altLang="zh-CN" dirty="0"/>
              <a:t>)*(1+</a:t>
            </a:r>
            <a:r>
              <a:rPr lang="zh-CN" altLang="en-US" dirty="0"/>
              <a:t>通货膨胀率</a:t>
            </a:r>
            <a:r>
              <a:rPr lang="en-US" altLang="zh-CN" dirty="0"/>
              <a:t>)</a:t>
            </a:r>
          </a:p>
          <a:p>
            <a:pPr lvl="2"/>
            <a:r>
              <a:rPr lang="zh-CN" altLang="en-US" dirty="0"/>
              <a:t>一些国家的基准利率甚至为负</a:t>
            </a:r>
            <a:endParaRPr lang="en-US" altLang="zh-CN" dirty="0"/>
          </a:p>
          <a:p>
            <a:pPr lvl="2"/>
            <a:r>
              <a:rPr lang="zh-CN" altLang="en-US" dirty="0"/>
              <a:t>美国的央行</a:t>
            </a:r>
            <a:r>
              <a:rPr lang="en-US" altLang="zh-CN" dirty="0"/>
              <a:t>——</a:t>
            </a:r>
            <a:r>
              <a:rPr lang="zh-CN" altLang="en-US" dirty="0"/>
              <a:t>美联储</a:t>
            </a:r>
            <a:r>
              <a:rPr lang="en-US" altLang="zh-CN" dirty="0"/>
              <a:t>2020</a:t>
            </a:r>
            <a:r>
              <a:rPr lang="zh-CN" altLang="en-US" dirty="0"/>
              <a:t>年第一季度将基准利率降到</a:t>
            </a:r>
            <a:r>
              <a:rPr lang="en-US" altLang="zh-CN" dirty="0"/>
              <a:t>0~0.25%</a:t>
            </a:r>
            <a:endParaRPr lang="zh-CN" altLang="en-US" dirty="0"/>
          </a:p>
        </p:txBody>
      </p:sp>
    </p:spTree>
    <p:extLst>
      <p:ext uri="{BB962C8B-B14F-4D97-AF65-F5344CB8AC3E}">
        <p14:creationId xmlns:p14="http://schemas.microsoft.com/office/powerpoint/2010/main" val="1894245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p:cNvSpPr>
            <a:spLocks noGrp="1"/>
          </p:cNvSpPr>
          <p:nvPr>
            <p:ph type="sldNum" sz="quarter" idx="12"/>
          </p:nvPr>
        </p:nvSpPr>
        <p:spPr/>
        <p:txBody>
          <a:bodyPr/>
          <a:lstStyle/>
          <a:p>
            <a:fld id="{A3FF08AF-222C-4A1D-9D2D-B107E9B73799}" type="slidenum">
              <a:rPr lang="zh-CN" altLang="en-US"/>
              <a:pPr/>
              <a:t>27</a:t>
            </a:fld>
            <a:endParaRPr lang="en-US" altLang="zh-CN"/>
          </a:p>
        </p:txBody>
      </p:sp>
      <p:sp>
        <p:nvSpPr>
          <p:cNvPr id="33794" name="Rectangle 2"/>
          <p:cNvSpPr>
            <a:spLocks noGrp="1" noChangeArrowheads="1"/>
          </p:cNvSpPr>
          <p:nvPr>
            <p:ph type="title"/>
          </p:nvPr>
        </p:nvSpPr>
        <p:spPr>
          <a:noFill/>
          <a:ln/>
        </p:spPr>
        <p:txBody>
          <a:bodyPr vert="horz" lIns="92075" tIns="46038" rIns="92075" bIns="46038" rtlCol="0" anchor="ctr">
            <a:normAutofit/>
          </a:bodyPr>
          <a:lstStyle/>
          <a:p>
            <a:pPr algn="ctr"/>
            <a:r>
              <a:rPr lang="en-US" altLang="zh-CN" dirty="0"/>
              <a:t>7.6 </a:t>
            </a:r>
            <a:r>
              <a:rPr lang="zh-CN" altLang="en-US" dirty="0"/>
              <a:t>汇率与三角套利</a:t>
            </a:r>
          </a:p>
        </p:txBody>
      </p:sp>
      <p:sp>
        <p:nvSpPr>
          <p:cNvPr id="33795" name="Rectangle 3"/>
          <p:cNvSpPr>
            <a:spLocks noChangeArrowheads="1"/>
          </p:cNvSpPr>
          <p:nvPr/>
        </p:nvSpPr>
        <p:spPr bwMode="auto">
          <a:xfrm>
            <a:off x="2363789" y="2287589"/>
            <a:ext cx="2663825" cy="987425"/>
          </a:xfrm>
          <a:prstGeom prst="rect">
            <a:avLst/>
          </a:prstGeom>
          <a:solidFill>
            <a:schemeClr val="hlink">
              <a:alpha val="50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20000"/>
              </a:spcBef>
              <a:buFontTx/>
              <a:buChar char=" "/>
            </a:pPr>
            <a:r>
              <a:rPr lang="zh-CN" altLang="en-US" sz="3000"/>
              <a:t>美国</a:t>
            </a:r>
          </a:p>
        </p:txBody>
      </p:sp>
      <p:sp>
        <p:nvSpPr>
          <p:cNvPr id="33796" name="Rectangle 4"/>
          <p:cNvSpPr>
            <a:spLocks noChangeArrowheads="1"/>
          </p:cNvSpPr>
          <p:nvPr/>
        </p:nvSpPr>
        <p:spPr bwMode="auto">
          <a:xfrm>
            <a:off x="7392989" y="2287589"/>
            <a:ext cx="2663825" cy="987425"/>
          </a:xfrm>
          <a:prstGeom prst="rect">
            <a:avLst/>
          </a:prstGeom>
          <a:solidFill>
            <a:schemeClr val="hlink">
              <a:alpha val="50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20000"/>
              </a:spcBef>
              <a:buFontTx/>
              <a:buChar char=" "/>
            </a:pPr>
            <a:r>
              <a:rPr lang="zh-CN" altLang="en-US" sz="3000"/>
              <a:t>日本</a:t>
            </a:r>
          </a:p>
        </p:txBody>
      </p:sp>
      <p:sp>
        <p:nvSpPr>
          <p:cNvPr id="33797" name="Rectangle 5"/>
          <p:cNvSpPr>
            <a:spLocks noChangeArrowheads="1"/>
          </p:cNvSpPr>
          <p:nvPr/>
        </p:nvSpPr>
        <p:spPr bwMode="auto">
          <a:xfrm>
            <a:off x="4802189" y="4268789"/>
            <a:ext cx="2663825" cy="987425"/>
          </a:xfrm>
          <a:prstGeom prst="rect">
            <a:avLst/>
          </a:prstGeom>
          <a:solidFill>
            <a:schemeClr val="hlink">
              <a:alpha val="50000"/>
            </a:scheme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hangingPunct="0">
              <a:spcBef>
                <a:spcPct val="20000"/>
              </a:spcBef>
              <a:buFontTx/>
              <a:buChar char=" "/>
            </a:pPr>
            <a:r>
              <a:rPr lang="zh-CN" altLang="en-US" sz="3000"/>
              <a:t>英国</a:t>
            </a:r>
          </a:p>
        </p:txBody>
      </p:sp>
      <p:sp>
        <p:nvSpPr>
          <p:cNvPr id="33798" name="Line 6"/>
          <p:cNvSpPr>
            <a:spLocks noChangeShapeType="1"/>
          </p:cNvSpPr>
          <p:nvPr/>
        </p:nvSpPr>
        <p:spPr bwMode="auto">
          <a:xfrm>
            <a:off x="5030788" y="2743200"/>
            <a:ext cx="2360612" cy="0"/>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9" name="Freeform 7"/>
          <p:cNvSpPr>
            <a:spLocks/>
          </p:cNvSpPr>
          <p:nvPr/>
        </p:nvSpPr>
        <p:spPr bwMode="auto">
          <a:xfrm>
            <a:off x="7467600" y="2781300"/>
            <a:ext cx="2820988" cy="1982788"/>
          </a:xfrm>
          <a:custGeom>
            <a:avLst/>
            <a:gdLst>
              <a:gd name="T0" fmla="*/ 1632 w 1777"/>
              <a:gd name="T1" fmla="*/ 0 h 1249"/>
              <a:gd name="T2" fmla="*/ 1776 w 1777"/>
              <a:gd name="T3" fmla="*/ 0 h 1249"/>
              <a:gd name="T4" fmla="*/ 1776 w 1777"/>
              <a:gd name="T5" fmla="*/ 1248 h 1249"/>
              <a:gd name="T6" fmla="*/ 0 w 1777"/>
              <a:gd name="T7" fmla="*/ 1248 h 1249"/>
            </a:gdLst>
            <a:ahLst/>
            <a:cxnLst>
              <a:cxn ang="0">
                <a:pos x="T0" y="T1"/>
              </a:cxn>
              <a:cxn ang="0">
                <a:pos x="T2" y="T3"/>
              </a:cxn>
              <a:cxn ang="0">
                <a:pos x="T4" y="T5"/>
              </a:cxn>
              <a:cxn ang="0">
                <a:pos x="T6" y="T7"/>
              </a:cxn>
            </a:cxnLst>
            <a:rect l="0" t="0" r="r" b="b"/>
            <a:pathLst>
              <a:path w="1777" h="1249">
                <a:moveTo>
                  <a:pt x="1632" y="0"/>
                </a:moveTo>
                <a:lnTo>
                  <a:pt x="1776" y="0"/>
                </a:lnTo>
                <a:lnTo>
                  <a:pt x="1776" y="1248"/>
                </a:lnTo>
                <a:lnTo>
                  <a:pt x="0" y="1248"/>
                </a:lnTo>
              </a:path>
            </a:pathLst>
          </a:custGeom>
          <a:noFill/>
          <a:ln w="12700" cap="rnd" cmpd="sng">
            <a:solidFill>
              <a:schemeClr val="tx1"/>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0" name="Freeform 8"/>
          <p:cNvSpPr>
            <a:spLocks/>
          </p:cNvSpPr>
          <p:nvPr/>
        </p:nvSpPr>
        <p:spPr bwMode="auto">
          <a:xfrm>
            <a:off x="2133600" y="2781300"/>
            <a:ext cx="2668588" cy="1982788"/>
          </a:xfrm>
          <a:custGeom>
            <a:avLst/>
            <a:gdLst>
              <a:gd name="T0" fmla="*/ 1680 w 1681"/>
              <a:gd name="T1" fmla="*/ 1248 h 1249"/>
              <a:gd name="T2" fmla="*/ 0 w 1681"/>
              <a:gd name="T3" fmla="*/ 1248 h 1249"/>
              <a:gd name="T4" fmla="*/ 0 w 1681"/>
              <a:gd name="T5" fmla="*/ 0 h 1249"/>
              <a:gd name="T6" fmla="*/ 144 w 1681"/>
              <a:gd name="T7" fmla="*/ 0 h 1249"/>
            </a:gdLst>
            <a:ahLst/>
            <a:cxnLst>
              <a:cxn ang="0">
                <a:pos x="T0" y="T1"/>
              </a:cxn>
              <a:cxn ang="0">
                <a:pos x="T2" y="T3"/>
              </a:cxn>
              <a:cxn ang="0">
                <a:pos x="T4" y="T5"/>
              </a:cxn>
              <a:cxn ang="0">
                <a:pos x="T6" y="T7"/>
              </a:cxn>
            </a:cxnLst>
            <a:rect l="0" t="0" r="r" b="b"/>
            <a:pathLst>
              <a:path w="1681" h="1249">
                <a:moveTo>
                  <a:pt x="1680" y="1248"/>
                </a:moveTo>
                <a:lnTo>
                  <a:pt x="0" y="1248"/>
                </a:lnTo>
                <a:lnTo>
                  <a:pt x="0" y="0"/>
                </a:lnTo>
                <a:lnTo>
                  <a:pt x="144" y="0"/>
                </a:lnTo>
              </a:path>
            </a:pathLst>
          </a:custGeom>
          <a:noFill/>
          <a:ln w="12700" cap="rnd" cmpd="sng">
            <a:solidFill>
              <a:schemeClr val="tx1"/>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1" name="Rectangle 9"/>
          <p:cNvSpPr>
            <a:spLocks noChangeArrowheads="1"/>
          </p:cNvSpPr>
          <p:nvPr/>
        </p:nvSpPr>
        <p:spPr bwMode="auto">
          <a:xfrm>
            <a:off x="4343400" y="1524000"/>
            <a:ext cx="3581400" cy="55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20000"/>
              </a:spcBef>
              <a:buFontTx/>
              <a:buChar char=" "/>
            </a:pPr>
            <a:r>
              <a:rPr lang="zh-CN" altLang="en-US" sz="3000"/>
              <a:t>¥100/$ </a:t>
            </a:r>
            <a:r>
              <a:rPr lang="en-US" altLang="zh-CN" sz="3000"/>
              <a:t>or $0.01/¥</a:t>
            </a:r>
          </a:p>
        </p:txBody>
      </p:sp>
      <p:sp>
        <p:nvSpPr>
          <p:cNvPr id="33802" name="Rectangle 10"/>
          <p:cNvSpPr>
            <a:spLocks noChangeArrowheads="1"/>
          </p:cNvSpPr>
          <p:nvPr/>
        </p:nvSpPr>
        <p:spPr bwMode="auto">
          <a:xfrm>
            <a:off x="6781800" y="5486400"/>
            <a:ext cx="3657600" cy="55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20000"/>
              </a:spcBef>
              <a:buFontTx/>
              <a:buChar char=" "/>
            </a:pPr>
            <a:r>
              <a:rPr lang="zh-CN" altLang="en-US" sz="3000"/>
              <a:t>£0.005/¥ </a:t>
            </a:r>
            <a:r>
              <a:rPr lang="en-US" altLang="zh-CN" sz="3000"/>
              <a:t>or ¥200/£</a:t>
            </a:r>
          </a:p>
        </p:txBody>
      </p:sp>
      <p:sp>
        <p:nvSpPr>
          <p:cNvPr id="33803" name="Rectangle 11"/>
          <p:cNvSpPr>
            <a:spLocks noChangeArrowheads="1"/>
          </p:cNvSpPr>
          <p:nvPr/>
        </p:nvSpPr>
        <p:spPr bwMode="auto">
          <a:xfrm>
            <a:off x="2133600" y="5486400"/>
            <a:ext cx="2895600" cy="55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20000"/>
              </a:spcBef>
              <a:buFontTx/>
              <a:buChar char=" "/>
            </a:pPr>
            <a:r>
              <a:rPr lang="zh-CN" altLang="en-US" sz="3000"/>
              <a:t>$2/£ </a:t>
            </a:r>
            <a:r>
              <a:rPr lang="en-US" altLang="zh-CN" sz="3000"/>
              <a:t>or £0.5/$</a:t>
            </a:r>
          </a:p>
        </p:txBody>
      </p:sp>
    </p:spTree>
    <p:extLst>
      <p:ext uri="{BB962C8B-B14F-4D97-AF65-F5344CB8AC3E}">
        <p14:creationId xmlns:p14="http://schemas.microsoft.com/office/powerpoint/2010/main" val="2792606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a:t>汇率推算</a:t>
            </a:r>
          </a:p>
        </p:txBody>
      </p:sp>
      <p:sp>
        <p:nvSpPr>
          <p:cNvPr id="16387" name="Rectangle 3"/>
          <p:cNvSpPr>
            <a:spLocks noGrp="1" noChangeArrowheads="1"/>
          </p:cNvSpPr>
          <p:nvPr>
            <p:ph type="body" idx="1"/>
          </p:nvPr>
        </p:nvSpPr>
        <p:spPr/>
        <p:txBody>
          <a:bodyPr/>
          <a:lstStyle/>
          <a:p>
            <a:r>
              <a:rPr lang="zh-CN" altLang="en-US" dirty="0"/>
              <a:t>对于任意三种竞争市场上可自由兑换的货币，只要知道任两种汇率，就可以推算出第三种汇率</a:t>
            </a:r>
          </a:p>
        </p:txBody>
      </p:sp>
    </p:spTree>
    <p:extLst>
      <p:ext uri="{BB962C8B-B14F-4D97-AF65-F5344CB8AC3E}">
        <p14:creationId xmlns:p14="http://schemas.microsoft.com/office/powerpoint/2010/main" val="661324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套利容易赚钱吗？</a:t>
            </a:r>
          </a:p>
        </p:txBody>
      </p:sp>
      <p:sp>
        <p:nvSpPr>
          <p:cNvPr id="4" name="内容占位符 3"/>
          <p:cNvSpPr>
            <a:spLocks noGrp="1"/>
          </p:cNvSpPr>
          <p:nvPr>
            <p:ph idx="1"/>
          </p:nvPr>
        </p:nvSpPr>
        <p:spPr/>
        <p:txBody>
          <a:bodyPr/>
          <a:lstStyle/>
          <a:p>
            <a:r>
              <a:rPr lang="zh-CN" altLang="en-US" dirty="0"/>
              <a:t>一个交易员，一台电脑就可以在世界范围内的外汇市场进行套利</a:t>
            </a:r>
          </a:p>
          <a:p>
            <a:r>
              <a:rPr lang="zh-CN" altLang="en-US" dirty="0"/>
              <a:t>可以预期，利润并不丰厚</a:t>
            </a:r>
          </a:p>
          <a:p>
            <a:r>
              <a:rPr lang="zh-CN" altLang="en-US" dirty="0"/>
              <a:t>因此，在竞争性市场上赚钱太辛苦、太困难。</a:t>
            </a:r>
            <a:endParaRPr lang="en-US" altLang="zh-CN" dirty="0"/>
          </a:p>
          <a:p>
            <a:endParaRPr lang="en-US" altLang="zh-CN" dirty="0"/>
          </a:p>
          <a:p>
            <a:r>
              <a:rPr lang="zh-CN" altLang="en-US" dirty="0"/>
              <a:t>程序化套利的存在，极大地降低了套利的利润空间，当然同时提高了市场效率，降低了资产定价错误的可能性</a:t>
            </a:r>
          </a:p>
          <a:p>
            <a:endParaRPr lang="zh-CN" altLang="en-US" dirty="0"/>
          </a:p>
        </p:txBody>
      </p:sp>
    </p:spTree>
    <p:extLst>
      <p:ext uri="{BB962C8B-B14F-4D97-AF65-F5344CB8AC3E}">
        <p14:creationId xmlns:p14="http://schemas.microsoft.com/office/powerpoint/2010/main" val="2057102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7.7 </a:t>
            </a:r>
            <a:r>
              <a:rPr lang="zh-CN" altLang="en-US" dirty="0"/>
              <a:t>运用参照物进行价值评估</a:t>
            </a:r>
          </a:p>
        </p:txBody>
      </p:sp>
      <p:sp>
        <p:nvSpPr>
          <p:cNvPr id="3" name="内容占位符 2"/>
          <p:cNvSpPr>
            <a:spLocks noGrp="1"/>
          </p:cNvSpPr>
          <p:nvPr>
            <p:ph idx="1"/>
          </p:nvPr>
        </p:nvSpPr>
        <p:spPr/>
        <p:txBody>
          <a:bodyPr/>
          <a:lstStyle/>
          <a:p>
            <a:r>
              <a:rPr lang="zh-CN" altLang="en-US" dirty="0"/>
              <a:t>如何知道一套房屋的价值？</a:t>
            </a:r>
            <a:endParaRPr lang="en-US" altLang="zh-CN" dirty="0"/>
          </a:p>
          <a:p>
            <a:pPr lvl="1"/>
            <a:r>
              <a:rPr lang="zh-CN" altLang="en-US" dirty="0"/>
              <a:t>参照邻近的类似的房屋，看其二级市场交易价格</a:t>
            </a:r>
            <a:endParaRPr lang="en-US" altLang="zh-CN" dirty="0"/>
          </a:p>
          <a:p>
            <a:pPr lvl="1"/>
            <a:r>
              <a:rPr lang="zh-CN" altLang="en-US" dirty="0"/>
              <a:t>前提有两个</a:t>
            </a:r>
            <a:endParaRPr lang="en-US" altLang="zh-CN" dirty="0"/>
          </a:p>
          <a:p>
            <a:pPr lvl="2"/>
            <a:r>
              <a:rPr lang="zh-CN" altLang="en-US" dirty="0"/>
              <a:t>待评估房屋与参照房屋要非常类似</a:t>
            </a:r>
            <a:endParaRPr lang="en-US" altLang="zh-CN" dirty="0"/>
          </a:p>
          <a:p>
            <a:pPr lvl="2"/>
            <a:r>
              <a:rPr lang="zh-CN" altLang="en-US" dirty="0"/>
              <a:t>参照房屋的二级市场交易价格是合理价格：显然，如果有活跃交易的二手房市场，则比较容易</a:t>
            </a:r>
            <a:r>
              <a:rPr lang="zh-CN" altLang="en-US" dirty="0" smtClean="0"/>
              <a:t>判断（某些金融巨骗通过操纵流动性非常差的证券价格来拉升自己管理的投资组合，以欺骗外部投资者购买自己管理的基金）</a:t>
            </a:r>
            <a:endParaRPr lang="en-US" altLang="zh-CN" dirty="0"/>
          </a:p>
          <a:p>
            <a:pPr lvl="3"/>
            <a:r>
              <a:rPr lang="zh-CN" altLang="en-US" dirty="0"/>
              <a:t>小镇甚至县城的房屋价格评估比较困难，缺乏活跃交易的二手房市场</a:t>
            </a:r>
            <a:endParaRPr lang="en-US" altLang="zh-CN" dirty="0"/>
          </a:p>
          <a:p>
            <a:pPr lvl="3"/>
            <a:r>
              <a:rPr lang="zh-CN" altLang="en-US" dirty="0"/>
              <a:t>北京上海核心区域（如学区房）的住宅二级市场比较发达，价格参考性比较强</a:t>
            </a:r>
            <a:endParaRPr lang="en-US" altLang="zh-CN" dirty="0"/>
          </a:p>
          <a:p>
            <a:pPr lvl="3"/>
            <a:endParaRPr lang="en-US" altLang="zh-CN" dirty="0"/>
          </a:p>
          <a:p>
            <a:r>
              <a:rPr lang="zh-CN" altLang="en-US" dirty="0"/>
              <a:t>这实际上是相对定价的一种方法</a:t>
            </a:r>
            <a:endParaRPr lang="en-US" altLang="zh-CN" dirty="0"/>
          </a:p>
          <a:p>
            <a:pPr lvl="1"/>
            <a:r>
              <a:rPr lang="zh-CN" altLang="en-US" dirty="0"/>
              <a:t>如果绝对价值（未来现金流贴现）难以评估，相对定价法比较容易实现</a:t>
            </a:r>
          </a:p>
        </p:txBody>
      </p:sp>
    </p:spTree>
    <p:extLst>
      <p:ext uri="{BB962C8B-B14F-4D97-AF65-F5344CB8AC3E}">
        <p14:creationId xmlns:p14="http://schemas.microsoft.com/office/powerpoint/2010/main" val="900741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ctr"/>
            <a:r>
              <a:rPr lang="zh-CN" altLang="en-US" dirty="0"/>
              <a:t>延伸</a:t>
            </a:r>
          </a:p>
        </p:txBody>
      </p:sp>
      <p:sp>
        <p:nvSpPr>
          <p:cNvPr id="17411" name="Rectangle 3"/>
          <p:cNvSpPr>
            <a:spLocks noGrp="1" noChangeArrowheads="1"/>
          </p:cNvSpPr>
          <p:nvPr>
            <p:ph type="body" idx="1"/>
          </p:nvPr>
        </p:nvSpPr>
        <p:spPr/>
        <p:txBody>
          <a:bodyPr/>
          <a:lstStyle/>
          <a:p>
            <a:pPr>
              <a:lnSpc>
                <a:spcPct val="90000"/>
              </a:lnSpc>
            </a:pPr>
            <a:r>
              <a:rPr lang="zh-CN" altLang="en-US" dirty="0"/>
              <a:t>如果两种资产完全相同，则其价值必然相同</a:t>
            </a:r>
          </a:p>
          <a:p>
            <a:pPr>
              <a:lnSpc>
                <a:spcPct val="90000"/>
              </a:lnSpc>
            </a:pPr>
            <a:r>
              <a:rPr lang="zh-CN" altLang="en-US" dirty="0"/>
              <a:t>如果两种资产未来的现金流量完全相同，则其现在的价值必然相同</a:t>
            </a:r>
          </a:p>
          <a:p>
            <a:pPr lvl="1">
              <a:lnSpc>
                <a:spcPct val="90000"/>
              </a:lnSpc>
            </a:pPr>
            <a:r>
              <a:rPr lang="zh-CN" altLang="en-US" dirty="0"/>
              <a:t>因此，如果我们知道了其中一种资产的价值，就可以推算出另外一种资产的价值</a:t>
            </a:r>
          </a:p>
          <a:p>
            <a:pPr>
              <a:lnSpc>
                <a:spcPct val="90000"/>
              </a:lnSpc>
            </a:pPr>
            <a:r>
              <a:rPr lang="zh-CN" altLang="en-US" dirty="0"/>
              <a:t>同时，我们可以利用已有的资产来复制新的资产</a:t>
            </a:r>
          </a:p>
          <a:p>
            <a:pPr lvl="1">
              <a:lnSpc>
                <a:spcPct val="90000"/>
              </a:lnSpc>
            </a:pPr>
            <a:r>
              <a:rPr lang="zh-CN" altLang="en-US" dirty="0"/>
              <a:t>用股票和债券可以复制期权</a:t>
            </a:r>
          </a:p>
          <a:p>
            <a:pPr lvl="1">
              <a:lnSpc>
                <a:spcPct val="90000"/>
              </a:lnSpc>
            </a:pPr>
            <a:r>
              <a:rPr lang="zh-CN" altLang="en-US" dirty="0"/>
              <a:t>在完全的市场条件下，可以用无负债公司和债券来复制有负债公司，因此，资本结构与公司价值无关</a:t>
            </a:r>
          </a:p>
        </p:txBody>
      </p:sp>
    </p:spTree>
    <p:extLst>
      <p:ext uri="{BB962C8B-B14F-4D97-AF65-F5344CB8AC3E}">
        <p14:creationId xmlns:p14="http://schemas.microsoft.com/office/powerpoint/2010/main" val="365358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7A8A15D0-8272-486A-9D26-BC00238AA81E}" type="slidenum">
              <a:rPr lang="zh-CN" altLang="en-US"/>
              <a:pPr/>
              <a:t>32</a:t>
            </a:fld>
            <a:endParaRPr lang="en-US" altLang="zh-CN"/>
          </a:p>
        </p:txBody>
      </p:sp>
      <p:sp>
        <p:nvSpPr>
          <p:cNvPr id="110594" name="Rectangle 2"/>
          <p:cNvSpPr>
            <a:spLocks noGrp="1" noChangeArrowheads="1"/>
          </p:cNvSpPr>
          <p:nvPr>
            <p:ph type="title"/>
          </p:nvPr>
        </p:nvSpPr>
        <p:spPr/>
        <p:txBody>
          <a:bodyPr/>
          <a:lstStyle/>
          <a:p>
            <a:r>
              <a:rPr lang="en-US" altLang="zh-CN" dirty="0"/>
              <a:t>7.8 </a:t>
            </a:r>
            <a:r>
              <a:rPr lang="zh-CN" altLang="en-US" dirty="0"/>
              <a:t>价值评估模型</a:t>
            </a:r>
          </a:p>
        </p:txBody>
      </p:sp>
      <p:sp>
        <p:nvSpPr>
          <p:cNvPr id="110595" name="Rectangle 3"/>
          <p:cNvSpPr>
            <a:spLocks noGrp="1" noChangeArrowheads="1"/>
          </p:cNvSpPr>
          <p:nvPr>
            <p:ph type="body" idx="1"/>
          </p:nvPr>
        </p:nvSpPr>
        <p:spPr>
          <a:xfrm>
            <a:off x="1001027" y="2017712"/>
            <a:ext cx="8911323" cy="3574565"/>
          </a:xfrm>
        </p:spPr>
        <p:txBody>
          <a:bodyPr/>
          <a:lstStyle/>
          <a:p>
            <a:r>
              <a:rPr lang="zh-CN" altLang="en-US" dirty="0"/>
              <a:t>价值评估模型：通过了解其他可比资产的价格和市场利率来推断某资产的价值的定量计算方法。</a:t>
            </a:r>
          </a:p>
          <a:p>
            <a:r>
              <a:rPr lang="zh-CN" altLang="en-US" dirty="0"/>
              <a:t>哪种模型最适于评估，取决于评估的特定目的和可得的信息</a:t>
            </a:r>
          </a:p>
          <a:p>
            <a:pPr lvl="1"/>
            <a:r>
              <a:rPr lang="zh-CN" altLang="en-US" dirty="0"/>
              <a:t>房地产评估</a:t>
            </a:r>
          </a:p>
          <a:p>
            <a:pPr lvl="1"/>
            <a:r>
              <a:rPr lang="zh-CN" altLang="en-US" dirty="0"/>
              <a:t>股票评估</a:t>
            </a:r>
          </a:p>
          <a:p>
            <a:pPr lvl="2"/>
            <a:r>
              <a:rPr lang="zh-CN" altLang="en-US" dirty="0"/>
              <a:t>市盈率倍数</a:t>
            </a:r>
          </a:p>
          <a:p>
            <a:pPr lvl="1">
              <a:buFont typeface="Wingdings" panose="05000000000000000000" pitchFamily="2" charset="2"/>
              <a:buNone/>
            </a:pPr>
            <a:endParaRPr lang="zh-CN" altLang="en-US" dirty="0"/>
          </a:p>
        </p:txBody>
      </p:sp>
    </p:spTree>
    <p:extLst>
      <p:ext uri="{BB962C8B-B14F-4D97-AF65-F5344CB8AC3E}">
        <p14:creationId xmlns:p14="http://schemas.microsoft.com/office/powerpoint/2010/main" val="1171621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6908D318-F9E7-40EC-A9F8-0A0C6589DF82}" type="slidenum">
              <a:rPr lang="zh-CN" altLang="en-US"/>
              <a:pPr/>
              <a:t>33</a:t>
            </a:fld>
            <a:endParaRPr lang="en-US" altLang="zh-CN"/>
          </a:p>
        </p:txBody>
      </p:sp>
      <p:sp>
        <p:nvSpPr>
          <p:cNvPr id="111618" name="Rectangle 2"/>
          <p:cNvSpPr>
            <a:spLocks noGrp="1" noChangeArrowheads="1"/>
          </p:cNvSpPr>
          <p:nvPr>
            <p:ph type="title"/>
          </p:nvPr>
        </p:nvSpPr>
        <p:spPr/>
        <p:txBody>
          <a:bodyPr/>
          <a:lstStyle/>
          <a:p>
            <a:r>
              <a:rPr lang="en-US" altLang="zh-CN" dirty="0"/>
              <a:t>7.9 </a:t>
            </a:r>
            <a:r>
              <a:rPr lang="zh-CN" altLang="en-US" dirty="0"/>
              <a:t>价值的会计标准</a:t>
            </a:r>
          </a:p>
        </p:txBody>
      </p:sp>
      <p:sp>
        <p:nvSpPr>
          <p:cNvPr id="111619" name="Rectangle 3"/>
          <p:cNvSpPr>
            <a:spLocks noGrp="1" noChangeArrowheads="1"/>
          </p:cNvSpPr>
          <p:nvPr>
            <p:ph type="body" idx="1"/>
          </p:nvPr>
        </p:nvSpPr>
        <p:spPr/>
        <p:txBody>
          <a:bodyPr/>
          <a:lstStyle/>
          <a:p>
            <a:r>
              <a:rPr lang="zh-CN" altLang="en-US" dirty="0"/>
              <a:t>帐面价值</a:t>
            </a:r>
          </a:p>
          <a:p>
            <a:r>
              <a:rPr lang="zh-CN" altLang="en-US" dirty="0"/>
              <a:t>市场价格</a:t>
            </a:r>
          </a:p>
          <a:p>
            <a:endParaRPr lang="zh-CN" altLang="en-US" dirty="0"/>
          </a:p>
          <a:p>
            <a:r>
              <a:rPr lang="zh-CN" altLang="en-US" dirty="0"/>
              <a:t>两者常常不同（</a:t>
            </a:r>
            <a:r>
              <a:rPr lang="en-US" altLang="zh-CN" dirty="0"/>
              <a:t>A</a:t>
            </a:r>
            <a:r>
              <a:rPr lang="zh-CN" altLang="en-US" dirty="0"/>
              <a:t>股市场）</a:t>
            </a:r>
            <a:endParaRPr lang="en-US" altLang="zh-CN" dirty="0"/>
          </a:p>
          <a:p>
            <a:pPr lvl="1"/>
            <a:r>
              <a:rPr lang="zh-CN" altLang="en-US" dirty="0"/>
              <a:t>银行股</a:t>
            </a:r>
            <a:endParaRPr lang="en-US" altLang="zh-CN" dirty="0"/>
          </a:p>
          <a:p>
            <a:pPr lvl="2"/>
            <a:r>
              <a:rPr lang="en-US" altLang="zh-CN" dirty="0"/>
              <a:t>PB</a:t>
            </a:r>
            <a:r>
              <a:rPr lang="zh-CN" altLang="en-US" dirty="0"/>
              <a:t>比率 </a:t>
            </a:r>
            <a:r>
              <a:rPr lang="en-US" altLang="zh-CN" dirty="0"/>
              <a:t>= </a:t>
            </a:r>
            <a:r>
              <a:rPr lang="zh-CN" altLang="en-US" dirty="0"/>
              <a:t>每股股价</a:t>
            </a:r>
            <a:r>
              <a:rPr lang="en-US" altLang="zh-CN" dirty="0"/>
              <a:t>(Market Price)/</a:t>
            </a:r>
            <a:r>
              <a:rPr lang="zh-CN" altLang="en-US" dirty="0"/>
              <a:t>每股净资产账面价值</a:t>
            </a:r>
            <a:r>
              <a:rPr lang="en-US" altLang="zh-CN" dirty="0"/>
              <a:t>(Book Value)</a:t>
            </a:r>
          </a:p>
          <a:p>
            <a:pPr lvl="2"/>
            <a:r>
              <a:rPr lang="zh-CN" altLang="en-US" dirty="0"/>
              <a:t>目前相当多的银行</a:t>
            </a:r>
            <a:r>
              <a:rPr lang="en-US" altLang="zh-CN" dirty="0"/>
              <a:t>PB&lt;1</a:t>
            </a:r>
          </a:p>
          <a:p>
            <a:pPr lvl="1"/>
            <a:r>
              <a:rPr lang="zh-CN" altLang="en-US" dirty="0"/>
              <a:t>白酒股：</a:t>
            </a:r>
            <a:r>
              <a:rPr lang="en-US" altLang="zh-CN" dirty="0"/>
              <a:t>PB&gt;&gt;1</a:t>
            </a:r>
          </a:p>
          <a:p>
            <a:pPr lvl="1"/>
            <a:r>
              <a:rPr lang="zh-CN" altLang="en-US" dirty="0"/>
              <a:t>芯片股：</a:t>
            </a:r>
            <a:r>
              <a:rPr lang="en-US" altLang="zh-CN" dirty="0"/>
              <a:t>PB&gt;&gt;&gt;1</a:t>
            </a:r>
            <a:endParaRPr lang="zh-CN" altLang="en-US" dirty="0"/>
          </a:p>
        </p:txBody>
      </p:sp>
    </p:spTree>
    <p:extLst>
      <p:ext uri="{BB962C8B-B14F-4D97-AF65-F5344CB8AC3E}">
        <p14:creationId xmlns:p14="http://schemas.microsoft.com/office/powerpoint/2010/main" val="3721875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849077" y="1420681"/>
            <a:ext cx="6853188" cy="5162999"/>
          </a:xfrm>
          <a:prstGeom prst="rect">
            <a:avLst/>
          </a:prstGeom>
        </p:spPr>
      </p:pic>
      <p:sp>
        <p:nvSpPr>
          <p:cNvPr id="5" name="标题 4"/>
          <p:cNvSpPr>
            <a:spLocks noGrp="1"/>
          </p:cNvSpPr>
          <p:nvPr>
            <p:ph type="title"/>
          </p:nvPr>
        </p:nvSpPr>
        <p:spPr>
          <a:xfrm>
            <a:off x="838200" y="365125"/>
            <a:ext cx="10515600" cy="761031"/>
          </a:xfrm>
        </p:spPr>
        <p:txBody>
          <a:bodyPr/>
          <a:lstStyle/>
          <a:p>
            <a:pPr algn="ctr"/>
            <a:r>
              <a:rPr lang="zh-CN" altLang="en-US" dirty="0" smtClean="0"/>
              <a:t>估值水平的行业差异</a:t>
            </a:r>
            <a:endParaRPr lang="zh-CN" altLang="en-US" dirty="0"/>
          </a:p>
        </p:txBody>
      </p:sp>
    </p:spTree>
    <p:extLst>
      <p:ext uri="{BB962C8B-B14F-4D97-AF65-F5344CB8AC3E}">
        <p14:creationId xmlns:p14="http://schemas.microsoft.com/office/powerpoint/2010/main" val="1464885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7.10 </a:t>
            </a:r>
            <a:r>
              <a:rPr lang="zh-CN" altLang="en-US" dirty="0"/>
              <a:t>信息怎样反映在股票价格中？</a:t>
            </a:r>
          </a:p>
        </p:txBody>
      </p:sp>
      <p:sp>
        <p:nvSpPr>
          <p:cNvPr id="3" name="内容占位符 2"/>
          <p:cNvSpPr>
            <a:spLocks noGrp="1"/>
          </p:cNvSpPr>
          <p:nvPr>
            <p:ph idx="1"/>
          </p:nvPr>
        </p:nvSpPr>
        <p:spPr/>
        <p:txBody>
          <a:bodyPr>
            <a:normAutofit lnSpcReduction="10000"/>
          </a:bodyPr>
          <a:lstStyle/>
          <a:p>
            <a:r>
              <a:rPr lang="zh-CN" altLang="en-US" dirty="0"/>
              <a:t>如果发布了</a:t>
            </a:r>
            <a:r>
              <a:rPr lang="zh-CN" altLang="en-US" b="1" dirty="0">
                <a:solidFill>
                  <a:srgbClr val="FF0000"/>
                </a:solidFill>
              </a:rPr>
              <a:t>新</a:t>
            </a:r>
            <a:r>
              <a:rPr lang="zh-CN" altLang="en-US" dirty="0"/>
              <a:t>的</a:t>
            </a:r>
            <a:r>
              <a:rPr lang="zh-CN" altLang="en-US" b="1" dirty="0">
                <a:solidFill>
                  <a:srgbClr val="FF0000"/>
                </a:solidFill>
              </a:rPr>
              <a:t>重要信息</a:t>
            </a:r>
            <a:r>
              <a:rPr lang="zh-CN" altLang="en-US" dirty="0"/>
              <a:t>（市场此前并不知道），则发布之后股价将会变动</a:t>
            </a:r>
            <a:endParaRPr lang="en-US" altLang="zh-CN" dirty="0"/>
          </a:p>
          <a:p>
            <a:pPr lvl="1"/>
            <a:r>
              <a:rPr lang="zh-CN" altLang="en-US" dirty="0"/>
              <a:t>利好消息，股价上涨</a:t>
            </a:r>
            <a:endParaRPr lang="en-US" altLang="zh-CN" dirty="0"/>
          </a:p>
          <a:p>
            <a:pPr lvl="2"/>
            <a:r>
              <a:rPr lang="zh-CN" altLang="en-US" dirty="0"/>
              <a:t>中国神华（煤茅）高分红导致股价大涨</a:t>
            </a:r>
            <a:endParaRPr lang="en-US" altLang="zh-CN" dirty="0"/>
          </a:p>
          <a:p>
            <a:pPr lvl="1"/>
            <a:r>
              <a:rPr lang="zh-CN" altLang="en-US" dirty="0"/>
              <a:t>利空消息，股价下跌</a:t>
            </a:r>
            <a:endParaRPr lang="en-US" altLang="zh-CN" dirty="0"/>
          </a:p>
          <a:p>
            <a:pPr lvl="2"/>
            <a:r>
              <a:rPr lang="zh-CN" altLang="en-US" dirty="0"/>
              <a:t>波音</a:t>
            </a:r>
            <a:r>
              <a:rPr lang="en-US" altLang="zh-CN" dirty="0"/>
              <a:t>737Max</a:t>
            </a:r>
            <a:r>
              <a:rPr lang="zh-CN" altLang="en-US" dirty="0"/>
              <a:t>飞机失事，波音股价下跌</a:t>
            </a:r>
            <a:endParaRPr lang="en-US" altLang="zh-CN" dirty="0"/>
          </a:p>
          <a:p>
            <a:pPr lvl="2"/>
            <a:r>
              <a:rPr lang="zh-CN" altLang="en-US" dirty="0"/>
              <a:t>波音近几年利空消息不断，股价在</a:t>
            </a:r>
            <a:r>
              <a:rPr lang="en-US" altLang="zh-CN" dirty="0"/>
              <a:t>2019</a:t>
            </a:r>
            <a:r>
              <a:rPr lang="zh-CN" altLang="en-US" dirty="0"/>
              <a:t>年</a:t>
            </a:r>
            <a:r>
              <a:rPr lang="en-US" altLang="zh-CN" dirty="0"/>
              <a:t>3</a:t>
            </a:r>
            <a:r>
              <a:rPr lang="zh-CN" altLang="en-US" dirty="0"/>
              <a:t>月曾高达</a:t>
            </a:r>
            <a:r>
              <a:rPr lang="en-US" altLang="zh-CN" dirty="0"/>
              <a:t>435</a:t>
            </a:r>
            <a:r>
              <a:rPr lang="zh-CN" altLang="en-US" dirty="0"/>
              <a:t>美元，</a:t>
            </a:r>
            <a:r>
              <a:rPr lang="en-US" altLang="zh-CN" dirty="0"/>
              <a:t>2020</a:t>
            </a:r>
            <a:r>
              <a:rPr lang="zh-CN" altLang="en-US" dirty="0"/>
              <a:t>年</a:t>
            </a:r>
            <a:r>
              <a:rPr lang="en-US" altLang="zh-CN" dirty="0"/>
              <a:t>3</a:t>
            </a:r>
            <a:r>
              <a:rPr lang="zh-CN" altLang="en-US" dirty="0"/>
              <a:t>月最低下跌到</a:t>
            </a:r>
            <a:r>
              <a:rPr lang="en-US" altLang="zh-CN" dirty="0"/>
              <a:t>88</a:t>
            </a:r>
            <a:r>
              <a:rPr lang="zh-CN" altLang="en-US" dirty="0"/>
              <a:t>美元，</a:t>
            </a:r>
            <a:r>
              <a:rPr lang="en-US" altLang="zh-CN" dirty="0"/>
              <a:t>2022</a:t>
            </a:r>
            <a:r>
              <a:rPr lang="zh-CN" altLang="en-US" dirty="0"/>
              <a:t>年</a:t>
            </a:r>
            <a:r>
              <a:rPr lang="en-US" altLang="zh-CN" dirty="0"/>
              <a:t>4</a:t>
            </a:r>
            <a:r>
              <a:rPr lang="zh-CN" altLang="en-US" dirty="0"/>
              <a:t>月</a:t>
            </a:r>
            <a:r>
              <a:rPr lang="en-US" altLang="zh-CN" dirty="0"/>
              <a:t>13</a:t>
            </a:r>
            <a:r>
              <a:rPr lang="zh-CN" altLang="en-US" dirty="0"/>
              <a:t>日收盘价</a:t>
            </a:r>
            <a:r>
              <a:rPr lang="en-US" altLang="zh-CN" dirty="0"/>
              <a:t>182.87</a:t>
            </a:r>
            <a:r>
              <a:rPr lang="zh-CN" altLang="en-US" dirty="0"/>
              <a:t>美元。而同期美国股市大幅度上涨。</a:t>
            </a:r>
            <a:endParaRPr lang="en-US" altLang="zh-CN" dirty="0"/>
          </a:p>
          <a:p>
            <a:pPr lvl="2"/>
            <a:endParaRPr lang="en-US" altLang="zh-CN" dirty="0"/>
          </a:p>
          <a:p>
            <a:r>
              <a:rPr lang="zh-CN" altLang="en-US" dirty="0"/>
              <a:t>形式上相同的事件可能有不同后果</a:t>
            </a:r>
            <a:endParaRPr lang="en-US" altLang="zh-CN" dirty="0"/>
          </a:p>
          <a:p>
            <a:pPr lvl="1"/>
            <a:r>
              <a:rPr lang="zh-CN" altLang="en-US" dirty="0"/>
              <a:t>民营上市公司创始人与实际控制人突然死亡（如飞机失事），股价大跌</a:t>
            </a:r>
            <a:endParaRPr lang="en-US" altLang="zh-CN" dirty="0"/>
          </a:p>
          <a:p>
            <a:pPr lvl="1"/>
            <a:r>
              <a:rPr lang="zh-CN" altLang="en-US" dirty="0"/>
              <a:t>国有上市公司董事长或</a:t>
            </a:r>
            <a:r>
              <a:rPr lang="en-US" altLang="zh-CN" dirty="0"/>
              <a:t>CEO</a:t>
            </a:r>
            <a:r>
              <a:rPr lang="zh-CN" altLang="en-US" dirty="0"/>
              <a:t>跳楼自杀（如因贪污等），股价可能上涨</a:t>
            </a:r>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2087956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lang="zh-CN" altLang="en-US" dirty="0"/>
              <a:t>中国神华（</a:t>
            </a:r>
            <a:r>
              <a:rPr lang="en-US" altLang="zh-CN" dirty="0"/>
              <a:t>601088.SH 1088.HK</a:t>
            </a:r>
            <a:r>
              <a:rPr lang="zh-CN" altLang="en-US" dirty="0"/>
              <a:t>）</a:t>
            </a:r>
          </a:p>
        </p:txBody>
      </p:sp>
      <p:sp>
        <p:nvSpPr>
          <p:cNvPr id="2" name="内容占位符 1"/>
          <p:cNvSpPr>
            <a:spLocks noGrp="1"/>
          </p:cNvSpPr>
          <p:nvPr>
            <p:ph idx="1"/>
          </p:nvPr>
        </p:nvSpPr>
        <p:spPr/>
        <p:txBody>
          <a:bodyPr>
            <a:normAutofit/>
          </a:bodyPr>
          <a:lstStyle/>
          <a:p>
            <a:r>
              <a:rPr lang="en-US" altLang="zh-CN" dirty="0"/>
              <a:t>2021.3.26</a:t>
            </a:r>
            <a:r>
              <a:rPr lang="zh-CN" altLang="en-US" dirty="0"/>
              <a:t>中国神华</a:t>
            </a:r>
            <a:r>
              <a:rPr lang="en-US" altLang="zh-CN" dirty="0"/>
              <a:t>A</a:t>
            </a:r>
            <a:r>
              <a:rPr lang="zh-CN" altLang="en-US" dirty="0"/>
              <a:t>股微涨</a:t>
            </a:r>
            <a:r>
              <a:rPr lang="en-US" altLang="zh-CN" dirty="0"/>
              <a:t>0.17%</a:t>
            </a:r>
            <a:r>
              <a:rPr lang="zh-CN" altLang="en-US" dirty="0"/>
              <a:t>，收于</a:t>
            </a:r>
            <a:r>
              <a:rPr lang="en-US" altLang="zh-CN" dirty="0"/>
              <a:t>18.13</a:t>
            </a:r>
            <a:r>
              <a:rPr lang="zh-CN" altLang="en-US" dirty="0"/>
              <a:t>；港股上涨</a:t>
            </a:r>
            <a:r>
              <a:rPr lang="en-US" altLang="zh-CN" dirty="0"/>
              <a:t>0.69%</a:t>
            </a:r>
            <a:r>
              <a:rPr lang="zh-CN" altLang="en-US" dirty="0"/>
              <a:t>，收于</a:t>
            </a:r>
            <a:r>
              <a:rPr lang="en-US" altLang="zh-CN" dirty="0"/>
              <a:t>14.50</a:t>
            </a:r>
            <a:r>
              <a:rPr lang="zh-CN" altLang="en-US" dirty="0"/>
              <a:t>港币（按当日汇率折人民币</a:t>
            </a:r>
            <a:r>
              <a:rPr lang="en-US" altLang="zh-CN" dirty="0"/>
              <a:t>12.2</a:t>
            </a:r>
            <a:r>
              <a:rPr lang="zh-CN" altLang="en-US" dirty="0"/>
              <a:t>元）</a:t>
            </a:r>
            <a:endParaRPr lang="en-US" altLang="zh-CN" dirty="0"/>
          </a:p>
          <a:p>
            <a:r>
              <a:rPr lang="en-US" altLang="zh-CN" dirty="0"/>
              <a:t>2021-03-26 19:33 </a:t>
            </a:r>
            <a:r>
              <a:rPr lang="zh-CN" altLang="en-US" dirty="0"/>
              <a:t>公告利润分配方案，每股派发现金红利</a:t>
            </a:r>
            <a:r>
              <a:rPr lang="en-US" altLang="zh-CN" dirty="0"/>
              <a:t>1.81</a:t>
            </a:r>
            <a:r>
              <a:rPr lang="zh-CN" altLang="en-US" dirty="0"/>
              <a:t>元，按照</a:t>
            </a:r>
            <a:r>
              <a:rPr lang="en-US" altLang="zh-CN" dirty="0"/>
              <a:t>3.26A</a:t>
            </a:r>
            <a:r>
              <a:rPr lang="zh-CN" altLang="en-US" dirty="0"/>
              <a:t>股收盘价</a:t>
            </a:r>
            <a:r>
              <a:rPr lang="en-US" altLang="zh-CN" dirty="0"/>
              <a:t>18.13</a:t>
            </a:r>
            <a:r>
              <a:rPr lang="zh-CN" altLang="en-US" dirty="0"/>
              <a:t>计算，股息收益率</a:t>
            </a:r>
            <a:r>
              <a:rPr lang="en-US" altLang="zh-CN" dirty="0"/>
              <a:t>10%</a:t>
            </a:r>
            <a:r>
              <a:rPr lang="zh-CN" altLang="en-US" dirty="0"/>
              <a:t>！按港股折人民币</a:t>
            </a:r>
            <a:r>
              <a:rPr lang="en-US" altLang="zh-CN" dirty="0"/>
              <a:t>12.2</a:t>
            </a:r>
            <a:r>
              <a:rPr lang="zh-CN" altLang="en-US" dirty="0"/>
              <a:t>元计算，股息收益率</a:t>
            </a:r>
            <a:r>
              <a:rPr lang="en-US" altLang="zh-CN" dirty="0"/>
              <a:t>14.8%</a:t>
            </a:r>
            <a:r>
              <a:rPr lang="zh-CN" altLang="en-US" dirty="0"/>
              <a:t>！</a:t>
            </a:r>
            <a:endParaRPr lang="en-US" altLang="zh-CN" dirty="0"/>
          </a:p>
          <a:p>
            <a:r>
              <a:rPr lang="en-US" altLang="zh-CN" dirty="0"/>
              <a:t>2021-03-29</a:t>
            </a:r>
            <a:r>
              <a:rPr lang="zh-CN" altLang="en-US" dirty="0"/>
              <a:t>：</a:t>
            </a:r>
            <a:r>
              <a:rPr lang="en-US" altLang="zh-CN" dirty="0"/>
              <a:t>A</a:t>
            </a:r>
            <a:r>
              <a:rPr lang="zh-CN" altLang="en-US" dirty="0"/>
              <a:t>股涨停（</a:t>
            </a:r>
            <a:r>
              <a:rPr lang="en-US" altLang="zh-CN" dirty="0"/>
              <a:t>9.98%</a:t>
            </a:r>
            <a:r>
              <a:rPr lang="zh-CN" altLang="en-US" dirty="0"/>
              <a:t>），港股上涨</a:t>
            </a:r>
            <a:r>
              <a:rPr lang="en-US" altLang="zh-CN" dirty="0"/>
              <a:t>10.34%</a:t>
            </a:r>
          </a:p>
          <a:p>
            <a:r>
              <a:rPr lang="en-US" altLang="zh-CN" dirty="0"/>
              <a:t>2021-03-30</a:t>
            </a:r>
            <a:r>
              <a:rPr lang="zh-CN" altLang="en-US" dirty="0"/>
              <a:t>：</a:t>
            </a:r>
            <a:r>
              <a:rPr lang="en-US" altLang="zh-CN" dirty="0"/>
              <a:t>A</a:t>
            </a:r>
            <a:r>
              <a:rPr lang="zh-CN" altLang="en-US" dirty="0"/>
              <a:t>股上涨</a:t>
            </a:r>
            <a:r>
              <a:rPr lang="en-US" altLang="zh-CN" dirty="0"/>
              <a:t>2.26%</a:t>
            </a:r>
            <a:r>
              <a:rPr lang="zh-CN" altLang="en-US" dirty="0"/>
              <a:t>，港股下跌</a:t>
            </a:r>
            <a:r>
              <a:rPr lang="en-US" altLang="zh-CN" dirty="0"/>
              <a:t>0.38%</a:t>
            </a:r>
          </a:p>
          <a:p>
            <a:r>
              <a:rPr lang="en-US" altLang="zh-CN" dirty="0"/>
              <a:t>2021-03-31</a:t>
            </a:r>
            <a:r>
              <a:rPr lang="zh-CN" altLang="en-US" dirty="0"/>
              <a:t>：</a:t>
            </a:r>
            <a:r>
              <a:rPr lang="en-US" altLang="zh-CN" dirty="0"/>
              <a:t>A</a:t>
            </a:r>
            <a:r>
              <a:rPr lang="zh-CN" altLang="en-US" dirty="0"/>
              <a:t>股下跌</a:t>
            </a:r>
            <a:r>
              <a:rPr lang="en-US" altLang="zh-CN" dirty="0"/>
              <a:t>1.42%</a:t>
            </a:r>
            <a:r>
              <a:rPr lang="zh-CN" altLang="en-US" dirty="0"/>
              <a:t>，港股上涨</a:t>
            </a:r>
            <a:r>
              <a:rPr lang="en-US" altLang="zh-CN" dirty="0"/>
              <a:t>0.50%</a:t>
            </a:r>
          </a:p>
        </p:txBody>
      </p:sp>
    </p:spTree>
    <p:extLst>
      <p:ext uri="{BB962C8B-B14F-4D97-AF65-F5344CB8AC3E}">
        <p14:creationId xmlns:p14="http://schemas.microsoft.com/office/powerpoint/2010/main" val="1886691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lang="zh-CN" altLang="en-US" dirty="0"/>
              <a:t>中国神华（</a:t>
            </a:r>
            <a:r>
              <a:rPr lang="en-US" altLang="zh-CN" dirty="0"/>
              <a:t>601088.SH 1088.HK</a:t>
            </a:r>
            <a:r>
              <a:rPr lang="zh-CN" altLang="en-US" dirty="0"/>
              <a:t>）</a:t>
            </a:r>
          </a:p>
        </p:txBody>
      </p:sp>
      <p:sp>
        <p:nvSpPr>
          <p:cNvPr id="2" name="内容占位符 1"/>
          <p:cNvSpPr>
            <a:spLocks noGrp="1"/>
          </p:cNvSpPr>
          <p:nvPr>
            <p:ph idx="1"/>
          </p:nvPr>
        </p:nvSpPr>
        <p:spPr/>
        <p:txBody>
          <a:bodyPr>
            <a:normAutofit/>
          </a:bodyPr>
          <a:lstStyle/>
          <a:p>
            <a:r>
              <a:rPr lang="en-US" altLang="zh-CN" dirty="0"/>
              <a:t>2022.3.25</a:t>
            </a:r>
            <a:r>
              <a:rPr lang="zh-CN" altLang="en-US" dirty="0"/>
              <a:t>中国神华</a:t>
            </a:r>
            <a:r>
              <a:rPr lang="en-US" altLang="zh-CN" dirty="0"/>
              <a:t>A</a:t>
            </a:r>
            <a:r>
              <a:rPr lang="zh-CN" altLang="en-US" dirty="0"/>
              <a:t>股微跌</a:t>
            </a:r>
            <a:r>
              <a:rPr lang="en-US" altLang="zh-CN" dirty="0"/>
              <a:t>0.07%</a:t>
            </a:r>
            <a:r>
              <a:rPr lang="zh-CN" altLang="en-US" dirty="0"/>
              <a:t>，收于</a:t>
            </a:r>
            <a:r>
              <a:rPr lang="en-US" altLang="zh-CN" dirty="0"/>
              <a:t>27.18</a:t>
            </a:r>
            <a:r>
              <a:rPr lang="zh-CN" altLang="en-US" dirty="0"/>
              <a:t>；港股下跌</a:t>
            </a:r>
            <a:r>
              <a:rPr lang="en-US" altLang="zh-CN" dirty="0"/>
              <a:t>1.33%</a:t>
            </a:r>
            <a:r>
              <a:rPr lang="zh-CN" altLang="en-US" dirty="0"/>
              <a:t>，收于</a:t>
            </a:r>
            <a:r>
              <a:rPr lang="en-US" altLang="zh-CN" dirty="0"/>
              <a:t>22.3</a:t>
            </a:r>
            <a:r>
              <a:rPr lang="zh-CN" altLang="en-US" dirty="0"/>
              <a:t>港币（按当日汇率折人民币</a:t>
            </a:r>
            <a:r>
              <a:rPr lang="en-US" altLang="zh-CN" dirty="0"/>
              <a:t>18.17</a:t>
            </a:r>
            <a:r>
              <a:rPr lang="zh-CN" altLang="en-US" dirty="0"/>
              <a:t>元）</a:t>
            </a:r>
            <a:endParaRPr lang="en-US" altLang="zh-CN" dirty="0"/>
          </a:p>
          <a:p>
            <a:r>
              <a:rPr lang="en-US" altLang="zh-CN" dirty="0"/>
              <a:t>2022-03-25</a:t>
            </a:r>
            <a:r>
              <a:rPr lang="zh-CN" altLang="en-US" dirty="0"/>
              <a:t>晚间公告利润分配方案，每股派发现金红利人民币</a:t>
            </a:r>
            <a:r>
              <a:rPr lang="en-US" altLang="zh-CN" dirty="0"/>
              <a:t>2.54</a:t>
            </a:r>
            <a:r>
              <a:rPr lang="zh-CN" altLang="en-US" dirty="0"/>
              <a:t>元，按照</a:t>
            </a:r>
            <a:r>
              <a:rPr lang="en-US" altLang="zh-CN" dirty="0"/>
              <a:t>3</a:t>
            </a:r>
            <a:r>
              <a:rPr lang="zh-CN" altLang="en-US" dirty="0"/>
              <a:t>月</a:t>
            </a:r>
            <a:r>
              <a:rPr lang="en-US" altLang="zh-CN" dirty="0"/>
              <a:t>25 </a:t>
            </a:r>
            <a:r>
              <a:rPr lang="zh-CN" altLang="en-US" dirty="0"/>
              <a:t>日</a:t>
            </a:r>
            <a:r>
              <a:rPr lang="en-US" altLang="zh-CN" dirty="0"/>
              <a:t>A</a:t>
            </a:r>
            <a:r>
              <a:rPr lang="zh-CN" altLang="en-US" dirty="0"/>
              <a:t>股收盘价</a:t>
            </a:r>
            <a:r>
              <a:rPr lang="en-US" altLang="zh-CN" dirty="0"/>
              <a:t>27.18</a:t>
            </a:r>
            <a:r>
              <a:rPr lang="zh-CN" altLang="en-US" dirty="0"/>
              <a:t>计算，股息收益率</a:t>
            </a:r>
            <a:r>
              <a:rPr lang="en-US" altLang="zh-CN" dirty="0"/>
              <a:t>9.35%</a:t>
            </a:r>
            <a:r>
              <a:rPr lang="zh-CN" altLang="en-US" dirty="0"/>
              <a:t>！按港股折人民币</a:t>
            </a:r>
            <a:r>
              <a:rPr lang="en-US" altLang="zh-CN" dirty="0"/>
              <a:t>18.17</a:t>
            </a:r>
            <a:r>
              <a:rPr lang="zh-CN" altLang="en-US" dirty="0"/>
              <a:t>元计算，股息收益率</a:t>
            </a:r>
            <a:r>
              <a:rPr lang="en-US" altLang="zh-CN" dirty="0"/>
              <a:t>13.98%</a:t>
            </a:r>
            <a:r>
              <a:rPr lang="zh-CN" altLang="en-US" dirty="0"/>
              <a:t>！</a:t>
            </a:r>
            <a:endParaRPr lang="en-US" altLang="zh-CN" dirty="0"/>
          </a:p>
          <a:p>
            <a:r>
              <a:rPr lang="en-US" altLang="zh-CN" dirty="0"/>
              <a:t>2021-03-28</a:t>
            </a:r>
            <a:r>
              <a:rPr lang="zh-CN" altLang="en-US" dirty="0"/>
              <a:t>：</a:t>
            </a:r>
            <a:r>
              <a:rPr lang="en-US" altLang="zh-CN" dirty="0"/>
              <a:t>A</a:t>
            </a:r>
            <a:r>
              <a:rPr lang="zh-CN" altLang="en-US" dirty="0"/>
              <a:t>股上涨</a:t>
            </a:r>
            <a:r>
              <a:rPr lang="en-US" altLang="zh-CN" dirty="0"/>
              <a:t>7.51 % </a:t>
            </a:r>
            <a:r>
              <a:rPr lang="zh-CN" altLang="en-US" dirty="0"/>
              <a:t>，港股上涨</a:t>
            </a:r>
            <a:r>
              <a:rPr lang="en-US" altLang="zh-CN" dirty="0"/>
              <a:t>9.42%</a:t>
            </a:r>
          </a:p>
          <a:p>
            <a:r>
              <a:rPr lang="en-US" altLang="zh-CN" dirty="0"/>
              <a:t>2021-03-29</a:t>
            </a:r>
            <a:r>
              <a:rPr lang="zh-CN" altLang="en-US" dirty="0"/>
              <a:t>：</a:t>
            </a:r>
            <a:r>
              <a:rPr lang="en-US" altLang="zh-CN" dirty="0"/>
              <a:t>A</a:t>
            </a:r>
            <a:r>
              <a:rPr lang="zh-CN" altLang="en-US" dirty="0"/>
              <a:t>股上涨</a:t>
            </a:r>
            <a:r>
              <a:rPr lang="en-US" altLang="zh-CN" dirty="0"/>
              <a:t>2.94%</a:t>
            </a:r>
            <a:r>
              <a:rPr lang="zh-CN" altLang="en-US" dirty="0"/>
              <a:t>，港股上涨</a:t>
            </a:r>
            <a:r>
              <a:rPr lang="en-US" altLang="zh-CN" dirty="0"/>
              <a:t>4.71%</a:t>
            </a:r>
          </a:p>
        </p:txBody>
      </p:sp>
    </p:spTree>
    <p:extLst>
      <p:ext uri="{BB962C8B-B14F-4D97-AF65-F5344CB8AC3E}">
        <p14:creationId xmlns:p14="http://schemas.microsoft.com/office/powerpoint/2010/main" val="4236474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lgn="ctr"/>
            <a:r>
              <a:rPr lang="zh-CN" altLang="en-US" dirty="0"/>
              <a:t>煤中茅台</a:t>
            </a:r>
            <a:r>
              <a:rPr lang="en-US" altLang="zh-CN" dirty="0"/>
              <a:t>——</a:t>
            </a:r>
            <a:r>
              <a:rPr lang="zh-CN" altLang="en-US" dirty="0"/>
              <a:t>中国神华股价表现</a:t>
            </a:r>
          </a:p>
        </p:txBody>
      </p:sp>
      <p:sp>
        <p:nvSpPr>
          <p:cNvPr id="9" name="文本占位符 8"/>
          <p:cNvSpPr>
            <a:spLocks noGrp="1"/>
          </p:cNvSpPr>
          <p:nvPr>
            <p:ph type="body" idx="1"/>
          </p:nvPr>
        </p:nvSpPr>
        <p:spPr/>
        <p:txBody>
          <a:bodyPr/>
          <a:lstStyle/>
          <a:p>
            <a:pPr algn="ctr"/>
            <a:r>
              <a:rPr lang="en-US" altLang="zh-CN" dirty="0"/>
              <a:t>601088.SH</a:t>
            </a:r>
            <a:endParaRPr lang="zh-CN" altLang="en-US" dirty="0"/>
          </a:p>
        </p:txBody>
      </p:sp>
      <p:pic>
        <p:nvPicPr>
          <p:cNvPr id="7" name="内容占位符 6"/>
          <p:cNvPicPr>
            <a:picLocks noGrp="1" noChangeAspect="1"/>
          </p:cNvPicPr>
          <p:nvPr>
            <p:ph sz="half" idx="2"/>
          </p:nvPr>
        </p:nvPicPr>
        <p:blipFill>
          <a:blip r:embed="rId2"/>
          <a:stretch>
            <a:fillRect/>
          </a:stretch>
        </p:blipFill>
        <p:spPr>
          <a:xfrm>
            <a:off x="6372226" y="2694996"/>
            <a:ext cx="5157787" cy="2692538"/>
          </a:xfrm>
          <a:prstGeom prst="rect">
            <a:avLst/>
          </a:prstGeom>
        </p:spPr>
      </p:pic>
      <p:sp>
        <p:nvSpPr>
          <p:cNvPr id="10" name="文本占位符 9"/>
          <p:cNvSpPr>
            <a:spLocks noGrp="1"/>
          </p:cNvSpPr>
          <p:nvPr>
            <p:ph type="body" sz="quarter" idx="3"/>
          </p:nvPr>
        </p:nvSpPr>
        <p:spPr/>
        <p:txBody>
          <a:bodyPr/>
          <a:lstStyle/>
          <a:p>
            <a:pPr algn="ctr"/>
            <a:r>
              <a:rPr lang="en-US" altLang="zh-CN" dirty="0"/>
              <a:t>01088.HK</a:t>
            </a:r>
            <a:endParaRPr lang="zh-CN" altLang="en-US" dirty="0"/>
          </a:p>
        </p:txBody>
      </p:sp>
      <p:pic>
        <p:nvPicPr>
          <p:cNvPr id="12" name="图片 11"/>
          <p:cNvPicPr>
            <a:picLocks noChangeAspect="1"/>
          </p:cNvPicPr>
          <p:nvPr/>
        </p:nvPicPr>
        <p:blipFill>
          <a:blip r:embed="rId3"/>
          <a:stretch>
            <a:fillRect/>
          </a:stretch>
        </p:blipFill>
        <p:spPr>
          <a:xfrm>
            <a:off x="520410" y="2694996"/>
            <a:ext cx="5651790" cy="2692538"/>
          </a:xfrm>
          <a:prstGeom prst="rect">
            <a:avLst/>
          </a:prstGeom>
        </p:spPr>
      </p:pic>
    </p:spTree>
    <p:extLst>
      <p:ext uri="{BB962C8B-B14F-4D97-AF65-F5344CB8AC3E}">
        <p14:creationId xmlns:p14="http://schemas.microsoft.com/office/powerpoint/2010/main" val="2030205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3</a:t>
            </a:r>
            <a:r>
              <a:rPr lang="zh-CN" altLang="en-US" dirty="0"/>
              <a:t>月</a:t>
            </a:r>
            <a:r>
              <a:rPr lang="en-US" altLang="zh-CN" dirty="0"/>
              <a:t>&amp;4</a:t>
            </a:r>
            <a:r>
              <a:rPr lang="zh-CN" altLang="en-US" dirty="0"/>
              <a:t>月是业绩行情</a:t>
            </a:r>
          </a:p>
        </p:txBody>
      </p:sp>
      <p:sp>
        <p:nvSpPr>
          <p:cNvPr id="3" name="内容占位符 2"/>
          <p:cNvSpPr>
            <a:spLocks noGrp="1"/>
          </p:cNvSpPr>
          <p:nvPr>
            <p:ph idx="1"/>
          </p:nvPr>
        </p:nvSpPr>
        <p:spPr/>
        <p:txBody>
          <a:bodyPr/>
          <a:lstStyle/>
          <a:p>
            <a:r>
              <a:rPr lang="zh-CN" altLang="en-US" dirty="0"/>
              <a:t>如果公司经营业绩超过市场预期，则股价一般会上涨，如果大幅度超过市场预期，则会大涨；如果公司经营业绩低于市场预期，则股价会</a:t>
            </a:r>
            <a:r>
              <a:rPr lang="zh-CN" altLang="en-US" dirty="0" smtClean="0"/>
              <a:t>下跌</a:t>
            </a:r>
            <a:endParaRPr lang="en-US" altLang="zh-CN" dirty="0"/>
          </a:p>
          <a:p>
            <a:endParaRPr lang="en-US" altLang="zh-CN" dirty="0"/>
          </a:p>
          <a:p>
            <a:r>
              <a:rPr lang="en-US" altLang="zh-CN" dirty="0"/>
              <a:t>4</a:t>
            </a:r>
            <a:r>
              <a:rPr lang="zh-CN" altLang="en-US" dirty="0"/>
              <a:t>月份再叠加</a:t>
            </a:r>
            <a:r>
              <a:rPr lang="en-US" altLang="zh-CN" dirty="0" smtClean="0"/>
              <a:t>2023</a:t>
            </a:r>
            <a:r>
              <a:rPr lang="zh-CN" altLang="en-US" dirty="0" smtClean="0"/>
              <a:t>年</a:t>
            </a:r>
            <a:r>
              <a:rPr lang="zh-CN" altLang="en-US" dirty="0"/>
              <a:t>一季报</a:t>
            </a:r>
            <a:endParaRPr lang="en-US" altLang="zh-CN" dirty="0"/>
          </a:p>
          <a:p>
            <a:endParaRPr lang="en-US" altLang="zh-CN" dirty="0"/>
          </a:p>
          <a:p>
            <a:r>
              <a:rPr lang="zh-CN" altLang="en-US" dirty="0"/>
              <a:t>问题的关键是在正式公告之前找到业绩超过市场预期或者低于市场预期的股票。能够办到吗？</a:t>
            </a:r>
          </a:p>
        </p:txBody>
      </p:sp>
    </p:spTree>
    <p:extLst>
      <p:ext uri="{BB962C8B-B14F-4D97-AF65-F5344CB8AC3E}">
        <p14:creationId xmlns:p14="http://schemas.microsoft.com/office/powerpoint/2010/main" val="1821101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28773"/>
            <a:ext cx="10515600" cy="729465"/>
          </a:xfrm>
        </p:spPr>
        <p:txBody>
          <a:bodyPr>
            <a:normAutofit/>
          </a:bodyPr>
          <a:lstStyle/>
          <a:p>
            <a:pPr algn="ctr"/>
            <a:r>
              <a:rPr lang="zh-CN" altLang="en-US" dirty="0"/>
              <a:t>波音</a:t>
            </a:r>
          </a:p>
        </p:txBody>
      </p:sp>
      <p:pic>
        <p:nvPicPr>
          <p:cNvPr id="4" name="图片 3"/>
          <p:cNvPicPr>
            <a:picLocks noChangeAspect="1"/>
          </p:cNvPicPr>
          <p:nvPr/>
        </p:nvPicPr>
        <p:blipFill>
          <a:blip r:embed="rId2"/>
          <a:stretch>
            <a:fillRect/>
          </a:stretch>
        </p:blipFill>
        <p:spPr>
          <a:xfrm>
            <a:off x="200025" y="1044452"/>
            <a:ext cx="11639550" cy="5394448"/>
          </a:xfrm>
          <a:prstGeom prst="rect">
            <a:avLst/>
          </a:prstGeom>
        </p:spPr>
      </p:pic>
    </p:spTree>
    <p:extLst>
      <p:ext uri="{BB962C8B-B14F-4D97-AF65-F5344CB8AC3E}">
        <p14:creationId xmlns:p14="http://schemas.microsoft.com/office/powerpoint/2010/main" val="2137643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89FDAFD-0F3B-4D1A-A312-FEAD23A5286B}"/>
              </a:ext>
            </a:extLst>
          </p:cNvPr>
          <p:cNvSpPr>
            <a:spLocks noGrp="1"/>
          </p:cNvSpPr>
          <p:nvPr>
            <p:ph type="title"/>
          </p:nvPr>
        </p:nvSpPr>
        <p:spPr/>
        <p:txBody>
          <a:bodyPr/>
          <a:lstStyle/>
          <a:p>
            <a:pPr algn="ctr"/>
            <a:r>
              <a:rPr lang="zh-CN" altLang="en-US" dirty="0"/>
              <a:t>波音股价与美国</a:t>
            </a:r>
            <a:r>
              <a:rPr lang="en-US" altLang="zh-CN" dirty="0"/>
              <a:t>SP500</a:t>
            </a:r>
            <a:r>
              <a:rPr lang="zh-CN" altLang="en-US" dirty="0"/>
              <a:t>走势对比</a:t>
            </a:r>
          </a:p>
        </p:txBody>
      </p:sp>
      <p:pic>
        <p:nvPicPr>
          <p:cNvPr id="4" name="图片 3"/>
          <p:cNvPicPr>
            <a:picLocks noChangeAspect="1"/>
          </p:cNvPicPr>
          <p:nvPr/>
        </p:nvPicPr>
        <p:blipFill>
          <a:blip r:embed="rId2"/>
          <a:stretch>
            <a:fillRect/>
          </a:stretch>
        </p:blipFill>
        <p:spPr>
          <a:xfrm>
            <a:off x="647700" y="1690687"/>
            <a:ext cx="10706100" cy="3652837"/>
          </a:xfrm>
          <a:prstGeom prst="rect">
            <a:avLst/>
          </a:prstGeom>
        </p:spPr>
      </p:pic>
    </p:spTree>
    <p:extLst>
      <p:ext uri="{BB962C8B-B14F-4D97-AF65-F5344CB8AC3E}">
        <p14:creationId xmlns:p14="http://schemas.microsoft.com/office/powerpoint/2010/main" val="3989043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358C60F-0D4C-4DCC-87DF-E1B1B999620E}"/>
              </a:ext>
            </a:extLst>
          </p:cNvPr>
          <p:cNvSpPr>
            <a:spLocks noGrp="1"/>
          </p:cNvSpPr>
          <p:nvPr>
            <p:ph type="title"/>
          </p:nvPr>
        </p:nvSpPr>
        <p:spPr>
          <a:xfrm>
            <a:off x="838200" y="236307"/>
            <a:ext cx="10515600" cy="965770"/>
          </a:xfrm>
        </p:spPr>
        <p:txBody>
          <a:bodyPr/>
          <a:lstStyle/>
          <a:p>
            <a:pPr algn="ctr"/>
            <a:r>
              <a:rPr lang="zh-CN" altLang="en-US" dirty="0"/>
              <a:t>波音公司关键财务指标（单位：亿美元）</a:t>
            </a:r>
          </a:p>
        </p:txBody>
      </p:sp>
      <p:graphicFrame>
        <p:nvGraphicFramePr>
          <p:cNvPr id="3" name="表格 2">
            <a:extLst>
              <a:ext uri="{FF2B5EF4-FFF2-40B4-BE49-F238E27FC236}">
                <a16:creationId xmlns:a16="http://schemas.microsoft.com/office/drawing/2014/main" xmlns="" id="{2E441D32-29D9-4569-ADDF-FF211B7A4D22}"/>
              </a:ext>
            </a:extLst>
          </p:cNvPr>
          <p:cNvGraphicFramePr>
            <a:graphicFrameLocks noGrp="1"/>
          </p:cNvGraphicFramePr>
          <p:nvPr>
            <p:extLst>
              <p:ext uri="{D42A27DB-BD31-4B8C-83A1-F6EECF244321}">
                <p14:modId xmlns:p14="http://schemas.microsoft.com/office/powerpoint/2010/main" val="1532000406"/>
              </p:ext>
            </p:extLst>
          </p:nvPr>
        </p:nvGraphicFramePr>
        <p:xfrm>
          <a:off x="1130157" y="1530849"/>
          <a:ext cx="9996755" cy="4962023"/>
        </p:xfrm>
        <a:graphic>
          <a:graphicData uri="http://schemas.openxmlformats.org/drawingml/2006/table">
            <a:tbl>
              <a:tblPr>
                <a:tableStyleId>{5C22544A-7EE6-4342-B048-85BDC9FD1C3A}</a:tableStyleId>
              </a:tblPr>
              <a:tblGrid>
                <a:gridCol w="1454074">
                  <a:extLst>
                    <a:ext uri="{9D8B030D-6E8A-4147-A177-3AD203B41FA5}">
                      <a16:colId xmlns:a16="http://schemas.microsoft.com/office/drawing/2014/main" xmlns="" val="3525274060"/>
                    </a:ext>
                  </a:extLst>
                </a:gridCol>
                <a:gridCol w="1878178">
                  <a:extLst>
                    <a:ext uri="{9D8B030D-6E8A-4147-A177-3AD203B41FA5}">
                      <a16:colId xmlns:a16="http://schemas.microsoft.com/office/drawing/2014/main" xmlns="" val="4143490847"/>
                    </a:ext>
                  </a:extLst>
                </a:gridCol>
                <a:gridCol w="1454074">
                  <a:extLst>
                    <a:ext uri="{9D8B030D-6E8A-4147-A177-3AD203B41FA5}">
                      <a16:colId xmlns:a16="http://schemas.microsoft.com/office/drawing/2014/main" xmlns="" val="441333645"/>
                    </a:ext>
                  </a:extLst>
                </a:gridCol>
                <a:gridCol w="2332576">
                  <a:extLst>
                    <a:ext uri="{9D8B030D-6E8A-4147-A177-3AD203B41FA5}">
                      <a16:colId xmlns:a16="http://schemas.microsoft.com/office/drawing/2014/main" xmlns="" val="978072161"/>
                    </a:ext>
                  </a:extLst>
                </a:gridCol>
                <a:gridCol w="2877853">
                  <a:extLst>
                    <a:ext uri="{9D8B030D-6E8A-4147-A177-3AD203B41FA5}">
                      <a16:colId xmlns:a16="http://schemas.microsoft.com/office/drawing/2014/main" xmlns="" val="3832544176"/>
                    </a:ext>
                  </a:extLst>
                </a:gridCol>
              </a:tblGrid>
              <a:tr h="451093">
                <a:tc>
                  <a:txBody>
                    <a:bodyPr/>
                    <a:lstStyle/>
                    <a:p>
                      <a:pPr algn="ctr" fontAlgn="b"/>
                      <a:r>
                        <a:rPr lang="zh-CN" altLang="en-US" sz="2000" u="none" strike="noStrike" dirty="0">
                          <a:effectLst/>
                        </a:rPr>
                        <a:t>年度</a:t>
                      </a:r>
                      <a:endParaRPr lang="zh-CN" altLang="en-US" sz="2000" b="0" i="0" u="none" strike="noStrike" dirty="0">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zh-CN" altLang="en-US" sz="2000" u="none" strike="noStrike" dirty="0">
                          <a:effectLst/>
                        </a:rPr>
                        <a:t>营业总收入</a:t>
                      </a:r>
                      <a:endParaRPr lang="zh-CN" altLang="en-US" sz="2000" b="0" i="0" u="none" strike="noStrike" dirty="0">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zh-CN" altLang="en-US" sz="2000" u="none" strike="noStrike" dirty="0">
                          <a:effectLst/>
                        </a:rPr>
                        <a:t>研发支出</a:t>
                      </a:r>
                      <a:endParaRPr lang="zh-CN" altLang="en-US" sz="2000" b="0" i="0" u="none" strike="noStrike" dirty="0">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zh-CN" altLang="en-US" sz="2000" u="none" strike="noStrike" dirty="0">
                          <a:effectLst/>
                        </a:rPr>
                        <a:t>扣非归母净利润</a:t>
                      </a:r>
                      <a:endParaRPr lang="zh-CN" altLang="en-US" sz="2000" b="0" i="0" u="none" strike="noStrike" dirty="0">
                        <a:effectLst/>
                        <a:latin typeface="微软雅黑" panose="020B0503020204020204" pitchFamily="34" charset="-122"/>
                        <a:ea typeface="微软雅黑" panose="020B0503020204020204" pitchFamily="34" charset="-122"/>
                      </a:endParaRPr>
                    </a:p>
                  </a:txBody>
                  <a:tcPr marL="6350" marR="6350" marT="6350" marB="0" anchor="b"/>
                </a:tc>
                <a:tc>
                  <a:txBody>
                    <a:bodyPr/>
                    <a:lstStyle/>
                    <a:p>
                      <a:pPr algn="r" fontAlgn="b"/>
                      <a:r>
                        <a:rPr lang="zh-CN" altLang="en-US" sz="2000" u="none" strike="noStrike" dirty="0">
                          <a:effectLst/>
                        </a:rPr>
                        <a:t> 经营活动现金流量</a:t>
                      </a:r>
                      <a:endParaRPr lang="zh-CN" altLang="en-US" sz="2000" b="1" i="0" u="none" strike="noStrike" dirty="0">
                        <a:effectLst/>
                        <a:latin typeface="微软雅黑" panose="020B0503020204020204" pitchFamily="34" charset="-122"/>
                        <a:ea typeface="微软雅黑" panose="020B0503020204020204" pitchFamily="34" charset="-122"/>
                      </a:endParaRPr>
                    </a:p>
                  </a:txBody>
                  <a:tcPr marL="6350" marR="6350" marT="6350" marB="0" anchor="b"/>
                </a:tc>
                <a:extLst>
                  <a:ext uri="{0D108BD9-81ED-4DB2-BD59-A6C34878D82A}">
                    <a16:rowId xmlns:a16="http://schemas.microsoft.com/office/drawing/2014/main" xmlns="" val="2815646036"/>
                  </a:ext>
                </a:extLst>
              </a:tr>
              <a:tr h="451093">
                <a:tc>
                  <a:txBody>
                    <a:bodyPr/>
                    <a:lstStyle/>
                    <a:p>
                      <a:pPr algn="ctr" fontAlgn="b"/>
                      <a:r>
                        <a:rPr lang="en-US" altLang="zh-CN" sz="2000" u="none" strike="noStrike" dirty="0" smtClean="0">
                          <a:effectLst/>
                        </a:rPr>
                        <a:t>2023</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dirty="0" smtClean="0">
                          <a:effectLst/>
                        </a:rPr>
                        <a:t>778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u="none" strike="noStrike" dirty="0" smtClean="0">
                          <a:effectLst/>
                        </a:rPr>
                        <a:t>34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b="1" u="none" strike="noStrike" dirty="0" smtClean="0">
                          <a:solidFill>
                            <a:srgbClr val="FF0000"/>
                          </a:solidFill>
                          <a:effectLst/>
                        </a:rPr>
                        <a:t>-22 </a:t>
                      </a:r>
                      <a:endParaRPr lang="en-US" altLang="zh-CN" sz="2000" b="1" i="0" u="none" strike="noStrike" dirty="0">
                        <a:solidFill>
                          <a:srgbClr val="FF0000"/>
                        </a:solidFill>
                        <a:effectLst/>
                        <a:latin typeface="Calibri" panose="020F0502020204030204" pitchFamily="34" charset="0"/>
                      </a:endParaRPr>
                    </a:p>
                  </a:txBody>
                  <a:tcPr marL="6350" marR="6350" marT="6350" marB="0" anchor="b"/>
                </a:tc>
                <a:tc>
                  <a:txBody>
                    <a:bodyPr/>
                    <a:lstStyle/>
                    <a:p>
                      <a:pPr algn="r" fontAlgn="b"/>
                      <a:r>
                        <a:rPr lang="en-US" altLang="zh-CN" sz="2000" u="none" strike="noStrike" kern="1200" dirty="0" smtClean="0">
                          <a:solidFill>
                            <a:schemeClr val="dk1"/>
                          </a:solidFill>
                          <a:effectLst/>
                          <a:latin typeface="+mn-lt"/>
                          <a:ea typeface="+mn-ea"/>
                          <a:cs typeface="+mn-cs"/>
                        </a:rPr>
                        <a:t>60 </a:t>
                      </a:r>
                      <a:endParaRPr lang="en-US" altLang="zh-CN" sz="20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xmlns="" val="2866503625"/>
                  </a:ext>
                </a:extLst>
              </a:tr>
              <a:tr h="451093">
                <a:tc>
                  <a:txBody>
                    <a:bodyPr/>
                    <a:lstStyle/>
                    <a:p>
                      <a:pPr algn="ctr" fontAlgn="b"/>
                      <a:r>
                        <a:rPr lang="en-US" altLang="zh-CN" sz="2000" u="none" strike="noStrike" dirty="0" smtClean="0">
                          <a:effectLst/>
                        </a:rPr>
                        <a:t>2022</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dirty="0" smtClean="0">
                          <a:effectLst/>
                        </a:rPr>
                        <a:t>666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u="none" strike="noStrike" dirty="0" smtClean="0">
                          <a:effectLst/>
                        </a:rPr>
                        <a:t>29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b="1" u="none" strike="noStrike" dirty="0" smtClean="0">
                          <a:solidFill>
                            <a:srgbClr val="FF0000"/>
                          </a:solidFill>
                          <a:effectLst/>
                        </a:rPr>
                        <a:t>-49 </a:t>
                      </a:r>
                      <a:endParaRPr lang="en-US" altLang="zh-CN" sz="2000" b="1" i="0" u="none" strike="noStrike" dirty="0">
                        <a:solidFill>
                          <a:srgbClr val="FF0000"/>
                        </a:solidFill>
                        <a:effectLst/>
                        <a:latin typeface="Calibri" panose="020F0502020204030204" pitchFamily="34" charset="0"/>
                      </a:endParaRPr>
                    </a:p>
                  </a:txBody>
                  <a:tcPr marL="6350" marR="6350" marT="6350" marB="0" anchor="b"/>
                </a:tc>
                <a:tc>
                  <a:txBody>
                    <a:bodyPr/>
                    <a:lstStyle/>
                    <a:p>
                      <a:pPr algn="r" fontAlgn="b"/>
                      <a:r>
                        <a:rPr lang="en-US" altLang="zh-CN" sz="2000" u="none" strike="noStrike" kern="1200" dirty="0" smtClean="0">
                          <a:solidFill>
                            <a:schemeClr val="dk1"/>
                          </a:solidFill>
                          <a:effectLst/>
                          <a:latin typeface="+mn-lt"/>
                          <a:ea typeface="+mn-ea"/>
                          <a:cs typeface="+mn-cs"/>
                        </a:rPr>
                        <a:t>35 </a:t>
                      </a:r>
                      <a:endParaRPr lang="en-US" altLang="zh-CN" sz="20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xmlns="" val="3106216142"/>
                  </a:ext>
                </a:extLst>
              </a:tr>
              <a:tr h="451093">
                <a:tc>
                  <a:txBody>
                    <a:bodyPr/>
                    <a:lstStyle/>
                    <a:p>
                      <a:pPr algn="ctr" fontAlgn="b"/>
                      <a:r>
                        <a:rPr lang="en-US" altLang="zh-CN" sz="2000" u="none" strike="noStrike" dirty="0">
                          <a:effectLst/>
                        </a:rPr>
                        <a:t>2021</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dirty="0">
                          <a:effectLst/>
                        </a:rPr>
                        <a:t>623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22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b="1" u="none" strike="noStrike" dirty="0">
                          <a:solidFill>
                            <a:srgbClr val="FF0000"/>
                          </a:solidFill>
                          <a:effectLst/>
                        </a:rPr>
                        <a:t>-42 </a:t>
                      </a:r>
                      <a:endParaRPr lang="en-US" altLang="zh-CN" sz="2000" b="1" i="0" u="none" strike="noStrike" dirty="0">
                        <a:solidFill>
                          <a:srgbClr val="FF0000"/>
                        </a:solidFill>
                        <a:effectLst/>
                        <a:latin typeface="Calibri" panose="020F0502020204030204" pitchFamily="34" charset="0"/>
                      </a:endParaRPr>
                    </a:p>
                  </a:txBody>
                  <a:tcPr marL="6350" marR="6350" marT="6350" marB="0" anchor="b"/>
                </a:tc>
                <a:tc>
                  <a:txBody>
                    <a:bodyPr/>
                    <a:lstStyle/>
                    <a:p>
                      <a:pPr algn="r" fontAlgn="b"/>
                      <a:r>
                        <a:rPr lang="en-US" altLang="zh-CN" sz="2000" b="1" u="none" strike="noStrike" dirty="0">
                          <a:solidFill>
                            <a:srgbClr val="FF0000"/>
                          </a:solidFill>
                          <a:effectLst/>
                        </a:rPr>
                        <a:t>-34 </a:t>
                      </a:r>
                      <a:endParaRPr lang="en-US" altLang="zh-CN" sz="2000" b="1"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1862537345"/>
                  </a:ext>
                </a:extLst>
              </a:tr>
              <a:tr h="451093">
                <a:tc>
                  <a:txBody>
                    <a:bodyPr/>
                    <a:lstStyle/>
                    <a:p>
                      <a:pPr algn="ctr" fontAlgn="b"/>
                      <a:r>
                        <a:rPr lang="en-US" altLang="zh-CN" sz="2000" u="none" strike="noStrike" dirty="0">
                          <a:effectLst/>
                        </a:rPr>
                        <a:t>2020</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dirty="0">
                          <a:effectLst/>
                        </a:rPr>
                        <a:t>582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25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b="1" u="none" strike="noStrike" dirty="0">
                          <a:solidFill>
                            <a:srgbClr val="FF0000"/>
                          </a:solidFill>
                          <a:effectLst/>
                        </a:rPr>
                        <a:t>-119 </a:t>
                      </a:r>
                      <a:endParaRPr lang="en-US" altLang="zh-CN" sz="2000" b="1" i="0" u="none" strike="noStrike" dirty="0">
                        <a:solidFill>
                          <a:srgbClr val="FF0000"/>
                        </a:solidFill>
                        <a:effectLst/>
                        <a:latin typeface="Calibri" panose="020F0502020204030204" pitchFamily="34" charset="0"/>
                      </a:endParaRPr>
                    </a:p>
                  </a:txBody>
                  <a:tcPr marL="6350" marR="6350" marT="6350" marB="0" anchor="b"/>
                </a:tc>
                <a:tc>
                  <a:txBody>
                    <a:bodyPr/>
                    <a:lstStyle/>
                    <a:p>
                      <a:pPr algn="r" fontAlgn="b"/>
                      <a:r>
                        <a:rPr lang="en-US" altLang="zh-CN" sz="2000" b="1" u="none" strike="noStrike">
                          <a:solidFill>
                            <a:srgbClr val="FF0000"/>
                          </a:solidFill>
                          <a:effectLst/>
                        </a:rPr>
                        <a:t>-184 </a:t>
                      </a:r>
                      <a:endParaRPr lang="en-US" altLang="zh-CN" sz="2000" b="1" i="0" u="none" strike="noStrike">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1670779974"/>
                  </a:ext>
                </a:extLst>
              </a:tr>
              <a:tr h="451093">
                <a:tc>
                  <a:txBody>
                    <a:bodyPr/>
                    <a:lstStyle/>
                    <a:p>
                      <a:pPr algn="ctr" fontAlgn="b"/>
                      <a:r>
                        <a:rPr lang="en-US" altLang="zh-CN" sz="2000" u="none" strike="noStrike" dirty="0">
                          <a:effectLst/>
                        </a:rPr>
                        <a:t>2019</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a:effectLst/>
                        </a:rPr>
                        <a:t>766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32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b="1" u="none" strike="noStrike" dirty="0">
                          <a:solidFill>
                            <a:srgbClr val="FF0000"/>
                          </a:solidFill>
                          <a:effectLst/>
                        </a:rPr>
                        <a:t>-6 </a:t>
                      </a:r>
                      <a:endParaRPr lang="en-US" altLang="zh-CN" sz="2000" b="1" i="0" u="none" strike="noStrike" dirty="0">
                        <a:solidFill>
                          <a:srgbClr val="FF0000"/>
                        </a:solidFill>
                        <a:effectLst/>
                        <a:latin typeface="Calibri" panose="020F0502020204030204" pitchFamily="34" charset="0"/>
                      </a:endParaRPr>
                    </a:p>
                  </a:txBody>
                  <a:tcPr marL="6350" marR="6350" marT="6350" marB="0" anchor="b"/>
                </a:tc>
                <a:tc>
                  <a:txBody>
                    <a:bodyPr/>
                    <a:lstStyle/>
                    <a:p>
                      <a:pPr algn="r" fontAlgn="b"/>
                      <a:r>
                        <a:rPr lang="en-US" altLang="zh-CN" sz="2000" b="1" u="none" strike="noStrike" dirty="0">
                          <a:solidFill>
                            <a:srgbClr val="FF0000"/>
                          </a:solidFill>
                          <a:effectLst/>
                        </a:rPr>
                        <a:t>-24 </a:t>
                      </a:r>
                      <a:endParaRPr lang="en-US" altLang="zh-CN" sz="2000" b="1"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xmlns="" val="3994284106"/>
                  </a:ext>
                </a:extLst>
              </a:tr>
              <a:tr h="451093">
                <a:tc>
                  <a:txBody>
                    <a:bodyPr/>
                    <a:lstStyle/>
                    <a:p>
                      <a:pPr algn="ctr" fontAlgn="b"/>
                      <a:r>
                        <a:rPr lang="en-US" altLang="zh-CN" sz="2000" u="none" strike="noStrike" dirty="0">
                          <a:effectLst/>
                        </a:rPr>
                        <a:t>2018</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a:effectLst/>
                        </a:rPr>
                        <a:t>1,011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33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105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153 </a:t>
                      </a:r>
                      <a:endParaRPr lang="en-US" altLang="zh-CN" sz="2000" b="0" i="0" u="none" strike="noStrike" dirty="0">
                        <a:effectLst/>
                        <a:latin typeface="Calibri" panose="020F0502020204030204" pitchFamily="34" charset="0"/>
                      </a:endParaRPr>
                    </a:p>
                  </a:txBody>
                  <a:tcPr marL="6350" marR="6350" marT="6350" marB="0" anchor="b"/>
                </a:tc>
                <a:extLst>
                  <a:ext uri="{0D108BD9-81ED-4DB2-BD59-A6C34878D82A}">
                    <a16:rowId xmlns:a16="http://schemas.microsoft.com/office/drawing/2014/main" xmlns="" val="1351605126"/>
                  </a:ext>
                </a:extLst>
              </a:tr>
              <a:tr h="451093">
                <a:tc>
                  <a:txBody>
                    <a:bodyPr/>
                    <a:lstStyle/>
                    <a:p>
                      <a:pPr algn="ctr" fontAlgn="b"/>
                      <a:r>
                        <a:rPr lang="en-US" altLang="zh-CN" sz="2000" u="none" strike="noStrike" dirty="0">
                          <a:effectLst/>
                        </a:rPr>
                        <a:t>2017</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a:effectLst/>
                        </a:rPr>
                        <a:t>934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32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82 </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133 </a:t>
                      </a:r>
                      <a:endParaRPr lang="en-US" altLang="zh-CN" sz="2000" b="0" i="0" u="none" strike="noStrike" dirty="0">
                        <a:effectLst/>
                        <a:latin typeface="Calibri" panose="020F0502020204030204" pitchFamily="34" charset="0"/>
                      </a:endParaRPr>
                    </a:p>
                  </a:txBody>
                  <a:tcPr marL="6350" marR="6350" marT="6350" marB="0" anchor="b"/>
                </a:tc>
                <a:extLst>
                  <a:ext uri="{0D108BD9-81ED-4DB2-BD59-A6C34878D82A}">
                    <a16:rowId xmlns:a16="http://schemas.microsoft.com/office/drawing/2014/main" xmlns="" val="2365299871"/>
                  </a:ext>
                </a:extLst>
              </a:tr>
              <a:tr h="451093">
                <a:tc>
                  <a:txBody>
                    <a:bodyPr/>
                    <a:lstStyle/>
                    <a:p>
                      <a:pPr algn="ctr" fontAlgn="b"/>
                      <a:r>
                        <a:rPr lang="en-US" altLang="zh-CN" sz="2000" u="none" strike="noStrike" dirty="0">
                          <a:effectLst/>
                        </a:rPr>
                        <a:t>2016</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a:effectLst/>
                        </a:rPr>
                        <a:t>946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46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49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105 </a:t>
                      </a:r>
                      <a:endParaRPr lang="en-US" altLang="zh-CN" sz="2000" b="0" i="0" u="none" strike="noStrike" dirty="0">
                        <a:effectLst/>
                        <a:latin typeface="Calibri" panose="020F0502020204030204" pitchFamily="34" charset="0"/>
                      </a:endParaRPr>
                    </a:p>
                  </a:txBody>
                  <a:tcPr marL="6350" marR="6350" marT="6350" marB="0" anchor="b"/>
                </a:tc>
                <a:extLst>
                  <a:ext uri="{0D108BD9-81ED-4DB2-BD59-A6C34878D82A}">
                    <a16:rowId xmlns:a16="http://schemas.microsoft.com/office/drawing/2014/main" xmlns="" val="243754469"/>
                  </a:ext>
                </a:extLst>
              </a:tr>
              <a:tr h="451093">
                <a:tc>
                  <a:txBody>
                    <a:bodyPr/>
                    <a:lstStyle/>
                    <a:p>
                      <a:pPr algn="ctr" fontAlgn="b"/>
                      <a:r>
                        <a:rPr lang="en-US" altLang="zh-CN" sz="2000" u="none" strike="noStrike" dirty="0">
                          <a:effectLst/>
                        </a:rPr>
                        <a:t>2015</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a:effectLst/>
                        </a:rPr>
                        <a:t>961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33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52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94 </a:t>
                      </a:r>
                      <a:endParaRPr lang="en-US" altLang="zh-CN" sz="2000" b="0" i="0" u="none" strike="noStrike" dirty="0">
                        <a:effectLst/>
                        <a:latin typeface="Calibri" panose="020F0502020204030204" pitchFamily="34" charset="0"/>
                      </a:endParaRPr>
                    </a:p>
                  </a:txBody>
                  <a:tcPr marL="6350" marR="6350" marT="6350" marB="0" anchor="b"/>
                </a:tc>
                <a:extLst>
                  <a:ext uri="{0D108BD9-81ED-4DB2-BD59-A6C34878D82A}">
                    <a16:rowId xmlns:a16="http://schemas.microsoft.com/office/drawing/2014/main" xmlns="" val="1500296228"/>
                  </a:ext>
                </a:extLst>
              </a:tr>
              <a:tr h="451093">
                <a:tc>
                  <a:txBody>
                    <a:bodyPr/>
                    <a:lstStyle/>
                    <a:p>
                      <a:pPr algn="ctr" fontAlgn="b"/>
                      <a:r>
                        <a:rPr lang="en-US" altLang="zh-CN" sz="2000" u="none" strike="noStrike" dirty="0">
                          <a:effectLst/>
                        </a:rPr>
                        <a:t>2014</a:t>
                      </a:r>
                      <a:endParaRPr lang="en-US" altLang="zh-CN" sz="2000" b="0" i="0" u="none" strike="noStrike" dirty="0">
                        <a:effectLst/>
                        <a:latin typeface="Arial" panose="020B0604020202020204" pitchFamily="34" charset="0"/>
                      </a:endParaRPr>
                    </a:p>
                  </a:txBody>
                  <a:tcPr marL="6350" marR="6350" marT="6350" marB="0" anchor="b"/>
                </a:tc>
                <a:tc>
                  <a:txBody>
                    <a:bodyPr/>
                    <a:lstStyle/>
                    <a:p>
                      <a:pPr algn="r" fontAlgn="b"/>
                      <a:r>
                        <a:rPr lang="en-US" altLang="zh-CN" sz="2000" u="none" strike="noStrike">
                          <a:effectLst/>
                        </a:rPr>
                        <a:t>908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30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a:effectLst/>
                        </a:rPr>
                        <a:t>54 </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u="none" strike="noStrike" dirty="0">
                          <a:effectLst/>
                        </a:rPr>
                        <a:t>89 </a:t>
                      </a:r>
                      <a:endParaRPr lang="en-US" altLang="zh-CN" sz="2000" b="0" i="0" u="none" strike="noStrike" dirty="0">
                        <a:effectLst/>
                        <a:latin typeface="Calibri" panose="020F0502020204030204" pitchFamily="34" charset="0"/>
                      </a:endParaRPr>
                    </a:p>
                  </a:txBody>
                  <a:tcPr marL="6350" marR="6350" marT="6350" marB="0" anchor="b"/>
                </a:tc>
                <a:extLst>
                  <a:ext uri="{0D108BD9-81ED-4DB2-BD59-A6C34878D82A}">
                    <a16:rowId xmlns:a16="http://schemas.microsoft.com/office/drawing/2014/main" xmlns="" val="469737714"/>
                  </a:ext>
                </a:extLst>
              </a:tr>
            </a:tbl>
          </a:graphicData>
        </a:graphic>
      </p:graphicFrame>
    </p:spTree>
    <p:extLst>
      <p:ext uri="{BB962C8B-B14F-4D97-AF65-F5344CB8AC3E}">
        <p14:creationId xmlns:p14="http://schemas.microsoft.com/office/powerpoint/2010/main" val="1239106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0FE94C6-184D-421A-94B7-B2A17B6D0DB2}"/>
              </a:ext>
            </a:extLst>
          </p:cNvPr>
          <p:cNvSpPr>
            <a:spLocks noGrp="1"/>
          </p:cNvSpPr>
          <p:nvPr>
            <p:ph type="title"/>
          </p:nvPr>
        </p:nvSpPr>
        <p:spPr/>
        <p:txBody>
          <a:bodyPr/>
          <a:lstStyle/>
          <a:p>
            <a:pPr algn="ctr"/>
            <a:r>
              <a:rPr lang="zh-CN" altLang="en-US" dirty="0"/>
              <a:t>专栏</a:t>
            </a:r>
            <a:r>
              <a:rPr lang="en-US" altLang="zh-CN" dirty="0"/>
              <a:t>7.1 </a:t>
            </a:r>
            <a:r>
              <a:rPr lang="zh-CN" altLang="en-US" dirty="0"/>
              <a:t>因新闻而产生的瞬时交易</a:t>
            </a:r>
          </a:p>
        </p:txBody>
      </p:sp>
      <p:sp>
        <p:nvSpPr>
          <p:cNvPr id="3" name="内容占位符 2">
            <a:extLst>
              <a:ext uri="{FF2B5EF4-FFF2-40B4-BE49-F238E27FC236}">
                <a16:creationId xmlns:a16="http://schemas.microsoft.com/office/drawing/2014/main" xmlns="" id="{27E3937F-23CA-4086-8436-E48878E3BA11}"/>
              </a:ext>
            </a:extLst>
          </p:cNvPr>
          <p:cNvSpPr>
            <a:spLocks noGrp="1"/>
          </p:cNvSpPr>
          <p:nvPr>
            <p:ph idx="1"/>
          </p:nvPr>
        </p:nvSpPr>
        <p:spPr/>
        <p:txBody>
          <a:bodyPr/>
          <a:lstStyle/>
          <a:p>
            <a:r>
              <a:rPr lang="en-US" altLang="zh-CN" dirty="0"/>
              <a:t>P229</a:t>
            </a:r>
          </a:p>
          <a:p>
            <a:endParaRPr lang="en-US" altLang="zh-CN" dirty="0"/>
          </a:p>
          <a:p>
            <a:r>
              <a:rPr lang="zh-CN" altLang="en-US" dirty="0"/>
              <a:t>技术上如何实现</a:t>
            </a:r>
            <a:r>
              <a:rPr lang="zh-CN" altLang="en-US" dirty="0" smtClean="0"/>
              <a:t>？</a:t>
            </a:r>
            <a:endParaRPr lang="en-US" altLang="zh-CN" dirty="0" smtClean="0"/>
          </a:p>
          <a:p>
            <a:pPr lvl="1"/>
            <a:r>
              <a:rPr lang="zh-CN" altLang="en-US" dirty="0" smtClean="0"/>
              <a:t>链接</a:t>
            </a:r>
            <a:endParaRPr lang="en-US" altLang="zh-CN" dirty="0" smtClean="0"/>
          </a:p>
          <a:p>
            <a:pPr lvl="2"/>
            <a:r>
              <a:rPr lang="en-US" altLang="zh-CN" dirty="0" smtClean="0"/>
              <a:t>A</a:t>
            </a:r>
            <a:r>
              <a:rPr lang="zh-CN" altLang="en-US" dirty="0" smtClean="0"/>
              <a:t>股实践：图神经网络与新闻共现矩阵策略</a:t>
            </a:r>
            <a:endParaRPr lang="en-US" altLang="zh-CN" dirty="0"/>
          </a:p>
          <a:p>
            <a:endParaRPr lang="en-US" altLang="zh-CN" dirty="0"/>
          </a:p>
          <a:p>
            <a:r>
              <a:rPr lang="zh-CN" altLang="en-US" dirty="0"/>
              <a:t>属于量化交易的一种</a:t>
            </a:r>
          </a:p>
        </p:txBody>
      </p:sp>
    </p:spTree>
    <p:extLst>
      <p:ext uri="{BB962C8B-B14F-4D97-AF65-F5344CB8AC3E}">
        <p14:creationId xmlns:p14="http://schemas.microsoft.com/office/powerpoint/2010/main" val="1123389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2CBF036E-90F6-42E5-96E2-A85B1B6935CB}" type="slidenum">
              <a:rPr lang="zh-CN" altLang="en-US"/>
              <a:pPr/>
              <a:t>44</a:t>
            </a:fld>
            <a:endParaRPr lang="en-US" altLang="zh-CN"/>
          </a:p>
        </p:txBody>
      </p:sp>
      <p:sp>
        <p:nvSpPr>
          <p:cNvPr id="112642" name="Rectangle 2"/>
          <p:cNvSpPr>
            <a:spLocks noGrp="1" noChangeArrowheads="1"/>
          </p:cNvSpPr>
          <p:nvPr>
            <p:ph type="title"/>
          </p:nvPr>
        </p:nvSpPr>
        <p:spPr/>
        <p:txBody>
          <a:bodyPr/>
          <a:lstStyle/>
          <a:p>
            <a:r>
              <a:rPr lang="en-US" altLang="zh-CN" dirty="0"/>
              <a:t>7.11 </a:t>
            </a:r>
            <a:r>
              <a:rPr lang="zh-CN" altLang="en-US" dirty="0"/>
              <a:t>有效市场假说（</a:t>
            </a:r>
            <a:r>
              <a:rPr lang="en-US" altLang="zh-CN" dirty="0"/>
              <a:t>EMH</a:t>
            </a:r>
            <a:r>
              <a:rPr lang="zh-CN" altLang="en-US" dirty="0"/>
              <a:t>）</a:t>
            </a:r>
          </a:p>
        </p:txBody>
      </p:sp>
      <p:sp>
        <p:nvSpPr>
          <p:cNvPr id="112643" name="Rectangle 3"/>
          <p:cNvSpPr>
            <a:spLocks noGrp="1" noChangeArrowheads="1"/>
          </p:cNvSpPr>
          <p:nvPr>
            <p:ph type="body" idx="1"/>
          </p:nvPr>
        </p:nvSpPr>
        <p:spPr>
          <a:xfrm>
            <a:off x="1260909" y="2017713"/>
            <a:ext cx="8867341" cy="4114800"/>
          </a:xfrm>
        </p:spPr>
        <p:txBody>
          <a:bodyPr/>
          <a:lstStyle/>
          <a:p>
            <a:r>
              <a:rPr lang="en-US" altLang="zh-CN" dirty="0"/>
              <a:t>EMH</a:t>
            </a:r>
            <a:r>
              <a:rPr lang="zh-CN" altLang="en-US" dirty="0"/>
              <a:t>：指所公布信息中的那些影响该资产价值的基本因素已完全反映在当前的价格中。</a:t>
            </a:r>
          </a:p>
          <a:p>
            <a:r>
              <a:rPr lang="zh-CN" altLang="en-US" dirty="0"/>
              <a:t>股票市场价格反映的是所有分析家观点的加权平均</a:t>
            </a:r>
          </a:p>
          <a:p>
            <a:r>
              <a:rPr lang="zh-CN" altLang="en-US" dirty="0"/>
              <a:t>那些控制金额高于平均值，拥有的信息优于平均值的分析家的观点权重大</a:t>
            </a:r>
          </a:p>
        </p:txBody>
      </p:sp>
    </p:spTree>
    <p:extLst>
      <p:ext uri="{BB962C8B-B14F-4D97-AF65-F5344CB8AC3E}">
        <p14:creationId xmlns:p14="http://schemas.microsoft.com/office/powerpoint/2010/main" val="35414851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E011F1D-708C-4BC9-9F88-AD37FE7E93AC}" type="slidenum">
              <a:rPr lang="en-US" altLang="zh-CN"/>
              <a:pPr/>
              <a:t>45</a:t>
            </a:fld>
            <a:endParaRPr lang="en-US" altLang="zh-CN"/>
          </a:p>
        </p:txBody>
      </p:sp>
      <p:sp>
        <p:nvSpPr>
          <p:cNvPr id="78850" name="Rectangle 2"/>
          <p:cNvSpPr>
            <a:spLocks noGrp="1" noChangeArrowheads="1"/>
          </p:cNvSpPr>
          <p:nvPr>
            <p:ph type="title"/>
          </p:nvPr>
        </p:nvSpPr>
        <p:spPr>
          <a:xfrm>
            <a:off x="838200" y="365125"/>
            <a:ext cx="10515600" cy="960439"/>
          </a:xfrm>
        </p:spPr>
        <p:txBody>
          <a:bodyPr/>
          <a:lstStyle/>
          <a:p>
            <a:pPr algn="ctr"/>
            <a:r>
              <a:rPr lang="zh-CN" altLang="en-US" dirty="0"/>
              <a:t>有效市场的内涵及其表现</a:t>
            </a:r>
          </a:p>
        </p:txBody>
      </p:sp>
      <p:sp>
        <p:nvSpPr>
          <p:cNvPr id="78851" name="Rectangle 3"/>
          <p:cNvSpPr>
            <a:spLocks noGrp="1" noChangeArrowheads="1"/>
          </p:cNvSpPr>
          <p:nvPr>
            <p:ph type="body" idx="1"/>
          </p:nvPr>
        </p:nvSpPr>
        <p:spPr>
          <a:xfrm>
            <a:off x="596765" y="1638176"/>
            <a:ext cx="10154653" cy="4069605"/>
          </a:xfrm>
        </p:spPr>
        <p:txBody>
          <a:bodyPr/>
          <a:lstStyle/>
          <a:p>
            <a:r>
              <a:rPr lang="en-US" altLang="zh-CN" dirty="0" err="1"/>
              <a:t>Fama</a:t>
            </a:r>
            <a:r>
              <a:rPr lang="en-US" altLang="zh-CN" dirty="0"/>
              <a:t>(1970)</a:t>
            </a:r>
            <a:r>
              <a:rPr lang="zh-CN" altLang="en-US" dirty="0"/>
              <a:t>：“价格</a:t>
            </a:r>
            <a:r>
              <a:rPr lang="zh-CN" altLang="en-US" dirty="0" smtClean="0"/>
              <a:t>总是</a:t>
            </a:r>
            <a:r>
              <a:rPr lang="en-US" altLang="zh-CN" dirty="0" smtClean="0"/>
              <a:t>’</a:t>
            </a:r>
            <a:r>
              <a:rPr lang="zh-CN" altLang="en-US" dirty="0" smtClean="0"/>
              <a:t>完全</a:t>
            </a:r>
            <a:r>
              <a:rPr lang="zh-CN" altLang="en-US" dirty="0"/>
              <a:t>反映</a:t>
            </a:r>
            <a:r>
              <a:rPr lang="en-US" altLang="zh-CN" dirty="0"/>
              <a:t>(fully reflect)’</a:t>
            </a:r>
            <a:r>
              <a:rPr lang="zh-CN" altLang="en-US" dirty="0"/>
              <a:t>了所有可得信息</a:t>
            </a:r>
            <a:r>
              <a:rPr lang="en-US" altLang="zh-CN" dirty="0"/>
              <a:t>(all available information)</a:t>
            </a:r>
            <a:r>
              <a:rPr lang="zh-CN" altLang="en-US" dirty="0"/>
              <a:t>的市场被称为是‘有效的’。” </a:t>
            </a:r>
          </a:p>
          <a:p>
            <a:pPr lvl="1"/>
            <a:r>
              <a:rPr lang="zh-CN" altLang="en-US" b="1" dirty="0"/>
              <a:t>弱有效市场：证券价格反应了价格和交易量信息，技术分析不能获利</a:t>
            </a:r>
            <a:endParaRPr lang="en-US" altLang="zh-CN" b="1" dirty="0"/>
          </a:p>
          <a:p>
            <a:pPr lvl="1"/>
            <a:r>
              <a:rPr lang="zh-CN" altLang="en-US" b="1" dirty="0"/>
              <a:t>半强有效市场</a:t>
            </a:r>
            <a:r>
              <a:rPr lang="zh-CN" altLang="en-US" dirty="0"/>
              <a:t>：</a:t>
            </a:r>
            <a:r>
              <a:rPr lang="zh-CN" altLang="en-US" b="1" dirty="0"/>
              <a:t>证券价格</a:t>
            </a:r>
            <a:r>
              <a:rPr lang="zh-CN" altLang="en-US" dirty="0"/>
              <a:t>反应了所有公开信息</a:t>
            </a:r>
          </a:p>
          <a:p>
            <a:pPr lvl="1"/>
            <a:r>
              <a:rPr lang="zh-CN" altLang="en-US" b="1" dirty="0"/>
              <a:t>强有效市场</a:t>
            </a:r>
            <a:r>
              <a:rPr lang="zh-CN" altLang="en-US" dirty="0"/>
              <a:t> ：</a:t>
            </a:r>
            <a:r>
              <a:rPr lang="zh-CN" altLang="en-US" b="1" dirty="0"/>
              <a:t>证券价格反应了所有公开和内幕信息</a:t>
            </a:r>
            <a:r>
              <a:rPr lang="en-US" altLang="zh-CN" b="1" dirty="0"/>
              <a:t>—&gt;</a:t>
            </a:r>
            <a:r>
              <a:rPr lang="zh-CN" altLang="en-US" b="1" dirty="0"/>
              <a:t>全球不存在！</a:t>
            </a:r>
            <a:endParaRPr lang="zh-CN" altLang="en-US" dirty="0"/>
          </a:p>
          <a:p>
            <a:r>
              <a:rPr lang="en-US" altLang="zh-CN" dirty="0"/>
              <a:t>Jensen(1978)</a:t>
            </a:r>
            <a:r>
              <a:rPr lang="zh-CN" altLang="en-US" dirty="0"/>
              <a:t>：“价格反映信息的程度正好使得获取信息的受益不超过边际成本” </a:t>
            </a:r>
          </a:p>
          <a:p>
            <a:pPr lvl="1"/>
            <a:r>
              <a:rPr lang="zh-CN" altLang="en-US" b="1" dirty="0"/>
              <a:t>“</a:t>
            </a:r>
            <a:r>
              <a:rPr lang="en-US" altLang="zh-CN" b="1" dirty="0"/>
              <a:t>there is no other proposition in economics which has more solid empirical evidence supporting it than the Efficient Market Hypothesis”</a:t>
            </a:r>
          </a:p>
        </p:txBody>
      </p:sp>
    </p:spTree>
    <p:extLst>
      <p:ext uri="{BB962C8B-B14F-4D97-AF65-F5344CB8AC3E}">
        <p14:creationId xmlns:p14="http://schemas.microsoft.com/office/powerpoint/2010/main" val="34275219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7"/>
          <p:cNvSpPr>
            <a:spLocks noGrp="1"/>
          </p:cNvSpPr>
          <p:nvPr>
            <p:ph type="sldNum" sz="quarter" idx="12"/>
          </p:nvPr>
        </p:nvSpPr>
        <p:spPr/>
        <p:txBody>
          <a:bodyPr/>
          <a:lstStyle/>
          <a:p>
            <a:fld id="{C263A19E-C1B5-4113-9133-61FB40EA8A1E}" type="slidenum">
              <a:rPr lang="en-US" altLang="zh-CN"/>
              <a:pPr/>
              <a:t>46</a:t>
            </a:fld>
            <a:endParaRPr lang="en-US" altLang="zh-CN"/>
          </a:p>
        </p:txBody>
      </p:sp>
      <p:sp>
        <p:nvSpPr>
          <p:cNvPr id="79874" name="Rectangle 2"/>
          <p:cNvSpPr>
            <a:spLocks noGrp="1" noChangeArrowheads="1"/>
          </p:cNvSpPr>
          <p:nvPr>
            <p:ph type="title"/>
          </p:nvPr>
        </p:nvSpPr>
        <p:spPr>
          <a:xfrm>
            <a:off x="693163" y="408064"/>
            <a:ext cx="10363200" cy="762000"/>
          </a:xfrm>
        </p:spPr>
        <p:txBody>
          <a:bodyPr/>
          <a:lstStyle/>
          <a:p>
            <a:pPr algn="ctr"/>
            <a:r>
              <a:rPr lang="zh-CN" altLang="en-US" dirty="0"/>
              <a:t>有效市场与随机游走</a:t>
            </a:r>
          </a:p>
        </p:txBody>
      </p:sp>
      <p:sp>
        <p:nvSpPr>
          <p:cNvPr id="79875" name="Rectangle 3"/>
          <p:cNvSpPr>
            <a:spLocks noGrp="1" noChangeArrowheads="1"/>
          </p:cNvSpPr>
          <p:nvPr>
            <p:ph type="body" sz="half" idx="1"/>
          </p:nvPr>
        </p:nvSpPr>
        <p:spPr>
          <a:xfrm>
            <a:off x="1580683" y="1408188"/>
            <a:ext cx="9208454" cy="4803624"/>
          </a:xfrm>
        </p:spPr>
        <p:txBody>
          <a:bodyPr/>
          <a:lstStyle/>
          <a:p>
            <a:pPr lvl="1"/>
            <a:r>
              <a:rPr lang="zh-CN" altLang="en-US" b="1" dirty="0">
                <a:latin typeface="宋体" panose="02010600030101010101" pitchFamily="2" charset="-122"/>
              </a:rPr>
              <a:t>一个年轻的法国数学家</a:t>
            </a:r>
            <a:r>
              <a:rPr lang="en-US" altLang="zh-CN" b="1" dirty="0"/>
              <a:t>, Louis </a:t>
            </a:r>
            <a:r>
              <a:rPr lang="en-US" altLang="zh-CN" b="1" dirty="0" err="1"/>
              <a:t>Bachelier</a:t>
            </a:r>
            <a:r>
              <a:rPr lang="en-US" altLang="zh-CN" b="1" dirty="0"/>
              <a:t>, </a:t>
            </a:r>
            <a:r>
              <a:rPr lang="zh-CN" altLang="en-US" b="1" dirty="0"/>
              <a:t>的</a:t>
            </a:r>
            <a:r>
              <a:rPr lang="zh-CN" altLang="en-US" b="1" dirty="0">
                <a:latin typeface="宋体" panose="02010600030101010101" pitchFamily="2" charset="-122"/>
              </a:rPr>
              <a:t>博士论文</a:t>
            </a:r>
            <a:r>
              <a:rPr lang="en-US" altLang="zh-CN" b="1" dirty="0"/>
              <a:t>: “</a:t>
            </a:r>
            <a:r>
              <a:rPr lang="zh-CN" altLang="en-US" b="1" dirty="0">
                <a:latin typeface="宋体" panose="02010600030101010101" pitchFamily="2" charset="-122"/>
              </a:rPr>
              <a:t>投机的理论</a:t>
            </a:r>
            <a:r>
              <a:rPr lang="zh-CN" altLang="en-US" b="1" dirty="0"/>
              <a:t>”</a:t>
            </a:r>
            <a:r>
              <a:rPr lang="en-US" altLang="zh-CN" b="1" dirty="0"/>
              <a:t>, 1900</a:t>
            </a:r>
          </a:p>
          <a:p>
            <a:pPr lvl="1"/>
            <a:r>
              <a:rPr lang="zh-CN" altLang="en-US" b="1" dirty="0"/>
              <a:t>过去、现在、甚至“折现”后的将来事件，都会反映到市场价格中，但他却发现这些事件却与价格的变化没有显示出明显的关系</a:t>
            </a:r>
            <a:r>
              <a:rPr lang="zh-CN" altLang="en-US" dirty="0"/>
              <a:t> 。</a:t>
            </a:r>
          </a:p>
          <a:p>
            <a:pPr lvl="1"/>
            <a:r>
              <a:rPr lang="zh-CN" altLang="en-US" b="1" dirty="0"/>
              <a:t>发现时间序列几乎是随机游走，价格变化之间的序列相关性相互独立。 </a:t>
            </a:r>
          </a:p>
          <a:p>
            <a:pPr lvl="1"/>
            <a:endParaRPr lang="zh-CN" altLang="en-US" b="1" dirty="0"/>
          </a:p>
          <a:p>
            <a:pPr lvl="1"/>
            <a:endParaRPr lang="zh-CN" altLang="en-US" b="1" dirty="0"/>
          </a:p>
          <a:p>
            <a:pPr lvl="1"/>
            <a:r>
              <a:rPr lang="zh-CN" altLang="en-US" b="1" dirty="0">
                <a:latin typeface="宋体" panose="02010600030101010101" pitchFamily="2" charset="-122"/>
              </a:rPr>
              <a:t>在他的那个时代，他并不成功，不为人知；直到</a:t>
            </a:r>
            <a:r>
              <a:rPr lang="en-US" altLang="zh-CN" b="1" dirty="0"/>
              <a:t>1954</a:t>
            </a:r>
            <a:r>
              <a:rPr lang="zh-CN" altLang="en-US" b="1" dirty="0">
                <a:latin typeface="宋体" panose="02010600030101010101" pitchFamily="2" charset="-122"/>
              </a:rPr>
              <a:t>才被</a:t>
            </a:r>
            <a:r>
              <a:rPr lang="en-US" altLang="zh-CN" b="1" dirty="0"/>
              <a:t>Savage</a:t>
            </a:r>
            <a:r>
              <a:rPr lang="zh-CN" altLang="en-US" b="1" dirty="0">
                <a:latin typeface="宋体" panose="02010600030101010101" pitchFamily="2" charset="-122"/>
              </a:rPr>
              <a:t>发现；</a:t>
            </a:r>
            <a:r>
              <a:rPr lang="en-US" altLang="zh-CN" b="1" dirty="0"/>
              <a:t>Paul Samuelson </a:t>
            </a:r>
            <a:r>
              <a:rPr lang="zh-CN" altLang="en-US" b="1" dirty="0">
                <a:latin typeface="宋体" panose="02010600030101010101" pitchFamily="2" charset="-122"/>
              </a:rPr>
              <a:t>早期关于投机的研究受</a:t>
            </a:r>
            <a:r>
              <a:rPr lang="en-US" altLang="zh-CN" b="1" dirty="0" err="1"/>
              <a:t>Bachelier</a:t>
            </a:r>
            <a:r>
              <a:rPr lang="en-US" altLang="zh-CN" b="1" dirty="0"/>
              <a:t> </a:t>
            </a:r>
            <a:r>
              <a:rPr lang="zh-CN" altLang="en-US" b="1" dirty="0">
                <a:latin typeface="宋体" panose="02010600030101010101" pitchFamily="2" charset="-122"/>
              </a:rPr>
              <a:t>的影响很大。</a:t>
            </a:r>
          </a:p>
        </p:txBody>
      </p:sp>
      <p:sp>
        <p:nvSpPr>
          <p:cNvPr id="79885" name="Rectangle 13"/>
          <p:cNvSpPr>
            <a:spLocks noChangeArrowheads="1"/>
          </p:cNvSpPr>
          <p:nvPr/>
        </p:nvSpPr>
        <p:spPr bwMode="auto">
          <a:xfrm>
            <a:off x="1524001" y="3125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9884" name="Object 12"/>
          <p:cNvGraphicFramePr>
            <a:graphicFrameLocks noChangeAspect="1"/>
          </p:cNvGraphicFramePr>
          <p:nvPr>
            <p:extLst>
              <p:ext uri="{D42A27DB-BD31-4B8C-83A1-F6EECF244321}">
                <p14:modId xmlns:p14="http://schemas.microsoft.com/office/powerpoint/2010/main" val="1760416403"/>
              </p:ext>
            </p:extLst>
          </p:nvPr>
        </p:nvGraphicFramePr>
        <p:xfrm>
          <a:off x="2588478" y="4086520"/>
          <a:ext cx="2376487" cy="423863"/>
        </p:xfrm>
        <a:graphic>
          <a:graphicData uri="http://schemas.openxmlformats.org/presentationml/2006/ole">
            <mc:AlternateContent xmlns:mc="http://schemas.openxmlformats.org/markup-compatibility/2006">
              <mc:Choice xmlns:v="urn:schemas-microsoft-com:vml" Requires="v">
                <p:oleObj spid="_x0000_s1142" name="Equation" r:id="rId3" imgW="1333500" imgH="241300" progId="Equation.DSMT4">
                  <p:embed/>
                </p:oleObj>
              </mc:Choice>
              <mc:Fallback>
                <p:oleObj name="Equation" r:id="rId3" imgW="1333500" imgH="2413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8478" y="4086520"/>
                        <a:ext cx="2376487" cy="423863"/>
                      </a:xfrm>
                      <a:prstGeom prst="rect">
                        <a:avLst/>
                      </a:prstGeom>
                      <a:solidFill>
                        <a:srgbClr val="FFFFFF"/>
                      </a:solidFill>
                    </p:spPr>
                  </p:pic>
                </p:oleObj>
              </mc:Fallback>
            </mc:AlternateContent>
          </a:graphicData>
        </a:graphic>
      </p:graphicFrame>
      <p:sp>
        <p:nvSpPr>
          <p:cNvPr id="79887" name="Rectangle 15"/>
          <p:cNvSpPr>
            <a:spLocks noChangeArrowheads="1"/>
          </p:cNvSpPr>
          <p:nvPr/>
        </p:nvSpPr>
        <p:spPr bwMode="auto">
          <a:xfrm>
            <a:off x="1524001" y="3125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9886" name="Object 14"/>
          <p:cNvGraphicFramePr>
            <a:graphicFrameLocks noChangeAspect="1"/>
          </p:cNvGraphicFramePr>
          <p:nvPr>
            <p:extLst>
              <p:ext uri="{D42A27DB-BD31-4B8C-83A1-F6EECF244321}">
                <p14:modId xmlns:p14="http://schemas.microsoft.com/office/powerpoint/2010/main" val="747442942"/>
              </p:ext>
            </p:extLst>
          </p:nvPr>
        </p:nvGraphicFramePr>
        <p:xfrm>
          <a:off x="5874763" y="4086520"/>
          <a:ext cx="2160588" cy="344488"/>
        </p:xfrm>
        <a:graphic>
          <a:graphicData uri="http://schemas.openxmlformats.org/presentationml/2006/ole">
            <mc:AlternateContent xmlns:mc="http://schemas.openxmlformats.org/markup-compatibility/2006">
              <mc:Choice xmlns:v="urn:schemas-microsoft-com:vml" Requires="v">
                <p:oleObj spid="_x0000_s1143" name="Equation" r:id="rId5" imgW="1497950" imgH="241195" progId="Equation.DSMT4">
                  <p:embed/>
                </p:oleObj>
              </mc:Choice>
              <mc:Fallback>
                <p:oleObj name="Equation" r:id="rId5" imgW="1497950" imgH="241195"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4763" y="4086520"/>
                        <a:ext cx="2160588" cy="344488"/>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30104139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市场一定很有效吗？</a:t>
            </a:r>
          </a:p>
        </p:txBody>
      </p:sp>
      <p:sp>
        <p:nvSpPr>
          <p:cNvPr id="7" name="内容占位符 6"/>
          <p:cNvSpPr>
            <a:spLocks noGrp="1"/>
          </p:cNvSpPr>
          <p:nvPr>
            <p:ph idx="1"/>
          </p:nvPr>
        </p:nvSpPr>
        <p:spPr/>
        <p:txBody>
          <a:bodyPr/>
          <a:lstStyle/>
          <a:p>
            <a:r>
              <a:rPr lang="zh-CN" altLang="en-US" dirty="0"/>
              <a:t>“啤”在家中坐，锅从天上来</a:t>
            </a:r>
          </a:p>
        </p:txBody>
      </p:sp>
    </p:spTree>
    <p:extLst>
      <p:ext uri="{BB962C8B-B14F-4D97-AF65-F5344CB8AC3E}">
        <p14:creationId xmlns:p14="http://schemas.microsoft.com/office/powerpoint/2010/main" val="16683128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680734" y="2011046"/>
            <a:ext cx="3079282" cy="645528"/>
          </a:xfrm>
        </p:spPr>
        <p:txBody>
          <a:bodyPr>
            <a:normAutofit fontScale="90000"/>
          </a:bodyPr>
          <a:lstStyle/>
          <a:p>
            <a:r>
              <a:rPr lang="en-US" altLang="zh-CN" dirty="0"/>
              <a:t>Corona Virus</a:t>
            </a:r>
            <a:endParaRPr lang="zh-CN" altLang="en-US" dirty="0"/>
          </a:p>
        </p:txBody>
      </p:sp>
      <p:pic>
        <p:nvPicPr>
          <p:cNvPr id="7" name="内容占位符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93595" y="2222024"/>
            <a:ext cx="3293252" cy="3293252"/>
          </a:xfrm>
        </p:spPr>
      </p:pic>
      <p:pic>
        <p:nvPicPr>
          <p:cNvPr id="8" name="内容占位符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77633" y="2536495"/>
            <a:ext cx="5001587" cy="2815152"/>
          </a:xfrm>
        </p:spPr>
      </p:pic>
    </p:spTree>
    <p:extLst>
      <p:ext uri="{BB962C8B-B14F-4D97-AF65-F5344CB8AC3E}">
        <p14:creationId xmlns:p14="http://schemas.microsoft.com/office/powerpoint/2010/main" val="288562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科罗娜啤酒与新冠病毒</a:t>
            </a:r>
          </a:p>
        </p:txBody>
      </p:sp>
      <p:sp>
        <p:nvSpPr>
          <p:cNvPr id="3" name="内容占位符 2"/>
          <p:cNvSpPr>
            <a:spLocks noGrp="1"/>
          </p:cNvSpPr>
          <p:nvPr>
            <p:ph idx="1"/>
          </p:nvPr>
        </p:nvSpPr>
        <p:spPr/>
        <p:txBody>
          <a:bodyPr>
            <a:normAutofit fontScale="77500" lnSpcReduction="20000"/>
          </a:bodyPr>
          <a:lstStyle/>
          <a:p>
            <a:r>
              <a:rPr lang="en-US" altLang="zh-CN" dirty="0"/>
              <a:t>CORONA EXTRA </a:t>
            </a:r>
            <a:r>
              <a:rPr lang="zh-CN" altLang="en-US" dirty="0"/>
              <a:t>是墨西哥莫德罗啤酒公司（母公司是百威英博）的拳头产品，因其独特的透明瓶包装以及饮用时添加白柠檬片的特别风味，是世界上销量第一的墨西哥啤酒，同时也是在华销量第一的进口啤酒，也深受美国青年的青睐。</a:t>
            </a:r>
            <a:endParaRPr lang="en-US" altLang="zh-CN" dirty="0"/>
          </a:p>
          <a:p>
            <a:r>
              <a:rPr lang="zh-CN" altLang="en-US" dirty="0"/>
              <a:t>科罗娜啤酒英文名为“</a:t>
            </a:r>
            <a:r>
              <a:rPr lang="en-US" altLang="zh-CN" dirty="0"/>
              <a:t>Corona”</a:t>
            </a:r>
            <a:r>
              <a:rPr lang="zh-CN" altLang="en-US" dirty="0"/>
              <a:t>，寓意“皇冠”，科罗娜一直在广告中强调：“味道如名字一般动人”。</a:t>
            </a:r>
          </a:p>
          <a:p>
            <a:r>
              <a:rPr lang="zh-CN" altLang="en-US" dirty="0"/>
              <a:t>但最近让科罗娜大受打击的正是这个让它骄傲的名字。</a:t>
            </a:r>
          </a:p>
          <a:p>
            <a:pPr lvl="1"/>
            <a:r>
              <a:rPr lang="zh-CN" altLang="en-US" dirty="0"/>
              <a:t>因为科罗娜的英文名</a:t>
            </a:r>
            <a:r>
              <a:rPr lang="en-US" altLang="zh-CN" dirty="0"/>
              <a:t>Corona</a:t>
            </a:r>
            <a:r>
              <a:rPr lang="zh-CN" altLang="en-US" dirty="0"/>
              <a:t>恰好和新冠病毒的英文名</a:t>
            </a:r>
            <a:r>
              <a:rPr lang="en-US" altLang="zh-CN" dirty="0"/>
              <a:t>Corona Virus</a:t>
            </a:r>
            <a:r>
              <a:rPr lang="zh-CN" altLang="en-US" dirty="0"/>
              <a:t>同名。</a:t>
            </a:r>
          </a:p>
          <a:p>
            <a:pPr lvl="1"/>
            <a:r>
              <a:rPr lang="zh-CN" altLang="en-US" dirty="0"/>
              <a:t>在肺炎疫情在全球蔓延的当下，这种巧合和负面联想，导致科罗娜从时尚青年的标配，一夜之间成了人人避之不及的“新冠病毒”。</a:t>
            </a:r>
            <a:endParaRPr lang="en-US" altLang="zh-CN" dirty="0"/>
          </a:p>
          <a:p>
            <a:r>
              <a:rPr lang="zh-CN" altLang="en-US" dirty="0"/>
              <a:t>作为一个</a:t>
            </a:r>
            <a:r>
              <a:rPr lang="en-US" altLang="zh-CN" dirty="0"/>
              <a:t>1925</a:t>
            </a:r>
            <a:r>
              <a:rPr lang="zh-CN" altLang="en-US" dirty="0"/>
              <a:t>年创建的百年老品牌，科罗娜是百威英博旗下的全球畅销品牌。它用</a:t>
            </a:r>
            <a:r>
              <a:rPr lang="en-US" altLang="zh-CN" dirty="0"/>
              <a:t>95</a:t>
            </a:r>
            <a:r>
              <a:rPr lang="zh-CN" altLang="en-US" dirty="0"/>
              <a:t>年赢了对手，却在短短</a:t>
            </a:r>
            <a:r>
              <a:rPr lang="en-US" altLang="zh-CN" dirty="0"/>
              <a:t>2</a:t>
            </a:r>
            <a:r>
              <a:rPr lang="zh-CN" altLang="en-US" dirty="0"/>
              <a:t>个月内败给了新冠病毒。这</a:t>
            </a:r>
            <a:r>
              <a:rPr lang="en-US" altLang="zh-CN" dirty="0"/>
              <a:t>2</a:t>
            </a:r>
            <a:r>
              <a:rPr lang="zh-CN" altLang="en-US" dirty="0"/>
              <a:t>个月里，科罗娜的亏损高达</a:t>
            </a:r>
            <a:r>
              <a:rPr lang="en-US" altLang="zh-CN" dirty="0"/>
              <a:t>2</a:t>
            </a:r>
            <a:r>
              <a:rPr lang="zh-CN" altLang="en-US" dirty="0"/>
              <a:t>亿</a:t>
            </a:r>
            <a:r>
              <a:rPr lang="en-US" altLang="zh-CN" dirty="0"/>
              <a:t>2100</a:t>
            </a:r>
            <a:r>
              <a:rPr lang="zh-CN" altLang="en-US" dirty="0"/>
              <a:t>万英镑（约</a:t>
            </a:r>
            <a:r>
              <a:rPr lang="en-US" altLang="zh-CN" dirty="0"/>
              <a:t>19.6</a:t>
            </a:r>
            <a:r>
              <a:rPr lang="zh-CN" altLang="en-US" dirty="0"/>
              <a:t>亿人民币）。尽管理性上多数人都知道，科罗娜啤酒和病毒，毫无关联。但在人的潜意识里，却很容易将二者划上等号，因此采取非理性的行为。在这心理学上叫做“关联谬误”，是指把本不相关的事，赋予某种荒唐的关联。这是一种非理性的表现，却在我们的生活中屡见不鲜。</a:t>
            </a:r>
          </a:p>
        </p:txBody>
      </p:sp>
    </p:spTree>
    <p:extLst>
      <p:ext uri="{BB962C8B-B14F-4D97-AF65-F5344CB8AC3E}">
        <p14:creationId xmlns:p14="http://schemas.microsoft.com/office/powerpoint/2010/main" val="14095939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美国参议员 </a:t>
            </a:r>
            <a:r>
              <a:rPr lang="en-US" altLang="zh-CN" dirty="0"/>
              <a:t>&amp; </a:t>
            </a:r>
            <a:r>
              <a:rPr lang="zh-CN" altLang="en-US" dirty="0"/>
              <a:t>情报委员会主任卖股票</a:t>
            </a:r>
          </a:p>
        </p:txBody>
      </p:sp>
      <p:sp>
        <p:nvSpPr>
          <p:cNvPr id="3" name="内容占位符 2"/>
          <p:cNvSpPr>
            <a:spLocks noGrp="1"/>
          </p:cNvSpPr>
          <p:nvPr>
            <p:ph idx="1"/>
          </p:nvPr>
        </p:nvSpPr>
        <p:spPr/>
        <p:txBody>
          <a:bodyPr>
            <a:normAutofit fontScale="85000" lnSpcReduction="20000"/>
          </a:bodyPr>
          <a:lstStyle/>
          <a:p>
            <a:r>
              <a:rPr lang="en-US" altLang="zh-CN" dirty="0"/>
              <a:t>https://www.propublica.org/article/senator-dumped-up-to-1-6-million-of-stock-after-reassuring-public-about-coronavirus-preparedness</a:t>
            </a:r>
          </a:p>
          <a:p>
            <a:endParaRPr lang="en-US" altLang="zh-CN" dirty="0"/>
          </a:p>
          <a:p>
            <a:r>
              <a:rPr lang="en-US" altLang="zh-CN" dirty="0"/>
              <a:t>Soon after he offered public assurances that the government was ready to battle the coronavirus, the powerful chairman of the Senate Intelligence Committee, </a:t>
            </a:r>
            <a:r>
              <a:rPr lang="en-US" altLang="zh-CN" dirty="0">
                <a:hlinkClick r:id="rId2"/>
              </a:rPr>
              <a:t>Richard Burr</a:t>
            </a:r>
            <a:r>
              <a:rPr lang="en-US" altLang="zh-CN" dirty="0"/>
              <a:t>, sold off a significant percentage of his stocks, unloading between $628,000 and $1.72 million of his holdings on Feb. 13 in </a:t>
            </a:r>
            <a:r>
              <a:rPr lang="en-US" altLang="zh-CN" dirty="0">
                <a:hlinkClick r:id="rId3"/>
              </a:rPr>
              <a:t>33 separate transactions</a:t>
            </a:r>
            <a:r>
              <a:rPr lang="en-US" altLang="zh-CN" dirty="0"/>
              <a:t>.</a:t>
            </a:r>
          </a:p>
          <a:p>
            <a:r>
              <a:rPr lang="en-US" altLang="zh-CN" dirty="0"/>
              <a:t>As the head of the intelligence committee, Burr, a North Carolina Republican, has access to the government’s most highly classified information about threats to America’s security. His committee was receiving daily coronavirus briefings around this time, according to </a:t>
            </a:r>
            <a:r>
              <a:rPr lang="en-US" altLang="zh-CN" dirty="0">
                <a:hlinkClick r:id="rId4"/>
              </a:rPr>
              <a:t>a Reuters story</a:t>
            </a:r>
            <a:r>
              <a:rPr lang="en-US" altLang="zh-CN" dirty="0"/>
              <a:t>.</a:t>
            </a:r>
          </a:p>
          <a:p>
            <a:r>
              <a:rPr lang="en-US" altLang="zh-CN" dirty="0"/>
              <a:t>A week after Burr’s sales, the stock market began a sharp decline and has lost about 30% since.</a:t>
            </a:r>
          </a:p>
        </p:txBody>
      </p:sp>
    </p:spTree>
    <p:extLst>
      <p:ext uri="{BB962C8B-B14F-4D97-AF65-F5344CB8AC3E}">
        <p14:creationId xmlns:p14="http://schemas.microsoft.com/office/powerpoint/2010/main" val="40473383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市场有效性是一个连续变量</a:t>
            </a:r>
          </a:p>
        </p:txBody>
      </p:sp>
      <p:sp>
        <p:nvSpPr>
          <p:cNvPr id="3" name="内容占位符 2"/>
          <p:cNvSpPr>
            <a:spLocks noGrp="1"/>
          </p:cNvSpPr>
          <p:nvPr>
            <p:ph idx="1"/>
          </p:nvPr>
        </p:nvSpPr>
        <p:spPr/>
        <p:txBody>
          <a:bodyPr/>
          <a:lstStyle/>
          <a:p>
            <a:r>
              <a:rPr lang="zh-CN" altLang="en-US" dirty="0"/>
              <a:t>三分法只是一个近似的、简单划分</a:t>
            </a:r>
            <a:endParaRPr lang="en-US" altLang="zh-CN" dirty="0"/>
          </a:p>
          <a:p>
            <a:pPr lvl="1"/>
            <a:endParaRPr lang="en-US" altLang="zh-CN" dirty="0"/>
          </a:p>
          <a:p>
            <a:endParaRPr lang="en-US" altLang="zh-CN" dirty="0"/>
          </a:p>
          <a:p>
            <a:r>
              <a:rPr lang="zh-CN" altLang="en-US" dirty="0"/>
              <a:t>可以使用交易成本来测度市场的有效程度</a:t>
            </a:r>
          </a:p>
        </p:txBody>
      </p:sp>
    </p:spTree>
    <p:extLst>
      <p:ext uri="{BB962C8B-B14F-4D97-AF65-F5344CB8AC3E}">
        <p14:creationId xmlns:p14="http://schemas.microsoft.com/office/powerpoint/2010/main" val="5660531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股市的有效性程度与积极投资策略</a:t>
            </a:r>
          </a:p>
        </p:txBody>
      </p:sp>
      <p:sp>
        <p:nvSpPr>
          <p:cNvPr id="3" name="内容占位符 2"/>
          <p:cNvSpPr>
            <a:spLocks noGrp="1"/>
          </p:cNvSpPr>
          <p:nvPr>
            <p:ph idx="1"/>
          </p:nvPr>
        </p:nvSpPr>
        <p:spPr/>
        <p:txBody>
          <a:bodyPr/>
          <a:lstStyle/>
          <a:p>
            <a:r>
              <a:rPr lang="zh-CN" altLang="en-US" dirty="0"/>
              <a:t>如果股市有效性相对低，则积极投资策略有可能获得超额收益</a:t>
            </a:r>
            <a:endParaRPr lang="en-US" altLang="zh-CN" dirty="0"/>
          </a:p>
          <a:p>
            <a:pPr lvl="1"/>
            <a:r>
              <a:rPr lang="zh-CN" altLang="en-US" dirty="0"/>
              <a:t>中国股市情形，战胜沪深</a:t>
            </a:r>
            <a:r>
              <a:rPr lang="en-US" altLang="zh-CN" dirty="0"/>
              <a:t>300</a:t>
            </a:r>
            <a:r>
              <a:rPr lang="zh-CN" altLang="en-US" dirty="0"/>
              <a:t>指数的公募基金和私募基金相对较多</a:t>
            </a:r>
            <a:endParaRPr lang="en-US" altLang="zh-CN" dirty="0"/>
          </a:p>
          <a:p>
            <a:endParaRPr lang="en-US" altLang="zh-CN" dirty="0"/>
          </a:p>
          <a:p>
            <a:r>
              <a:rPr lang="zh-CN" altLang="en-US" dirty="0"/>
              <a:t>如果股市有效性相对高，则积极投资策略难以获得超额收益</a:t>
            </a:r>
            <a:endParaRPr lang="en-US" altLang="zh-CN" dirty="0"/>
          </a:p>
          <a:p>
            <a:pPr lvl="1"/>
            <a:r>
              <a:rPr lang="zh-CN" altLang="en-US" dirty="0"/>
              <a:t>美国股市情形，战胜标普</a:t>
            </a:r>
            <a:r>
              <a:rPr lang="en-US" altLang="zh-CN" dirty="0"/>
              <a:t>500</a:t>
            </a:r>
            <a:r>
              <a:rPr lang="zh-CN" altLang="en-US" dirty="0"/>
              <a:t>指数的公募基金和私募基金相对</a:t>
            </a:r>
            <a:r>
              <a:rPr lang="zh-CN" altLang="en-US" dirty="0" smtClean="0"/>
              <a:t>较少</a:t>
            </a:r>
            <a:endParaRPr lang="en-US" altLang="zh-CN" dirty="0"/>
          </a:p>
        </p:txBody>
      </p:sp>
    </p:spTree>
    <p:extLst>
      <p:ext uri="{BB962C8B-B14F-4D97-AF65-F5344CB8AC3E}">
        <p14:creationId xmlns:p14="http://schemas.microsoft.com/office/powerpoint/2010/main" val="31775179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巴菲特论市场有效性（</a:t>
            </a:r>
            <a:r>
              <a:rPr lang="en-US" altLang="zh-CN" dirty="0" smtClean="0"/>
              <a:t>2023</a:t>
            </a:r>
            <a:r>
              <a:rPr lang="zh-CN" altLang="en-US" dirty="0" smtClean="0"/>
              <a:t>年致股东的信）</a:t>
            </a:r>
            <a:endParaRPr lang="zh-CN" altLang="en-US" dirty="0"/>
          </a:p>
        </p:txBody>
      </p:sp>
      <p:sp>
        <p:nvSpPr>
          <p:cNvPr id="3" name="内容占位符 2"/>
          <p:cNvSpPr>
            <a:spLocks noGrp="1"/>
          </p:cNvSpPr>
          <p:nvPr>
            <p:ph idx="1"/>
          </p:nvPr>
        </p:nvSpPr>
        <p:spPr/>
        <p:txBody>
          <a:bodyPr/>
          <a:lstStyle/>
          <a:p>
            <a:r>
              <a:rPr lang="zh-CN" altLang="en-US" dirty="0" smtClean="0"/>
              <a:t>重要的</a:t>
            </a:r>
            <a:r>
              <a:rPr lang="zh-CN" altLang="en-US" dirty="0"/>
              <a:t>是要明白，股票会不时地以愚蠢的价格交易，可能是高也可能是低。“有效市场”只存在于教科书中</a:t>
            </a:r>
            <a:r>
              <a:rPr lang="zh-CN" altLang="en-US" dirty="0" smtClean="0"/>
              <a:t>。</a:t>
            </a:r>
            <a:endParaRPr lang="en-US" altLang="zh-CN" dirty="0" smtClean="0"/>
          </a:p>
          <a:p>
            <a:endParaRPr lang="en-US" altLang="zh-CN" dirty="0"/>
          </a:p>
          <a:p>
            <a:r>
              <a:rPr lang="en-US" altLang="zh-CN" dirty="0"/>
              <a:t>It’s crucial to understand that stocks often trade at truly foolish prices, both high and low. “Efficient” markets exist only in textbooks. </a:t>
            </a:r>
            <a:endParaRPr lang="zh-CN" altLang="en-US" dirty="0"/>
          </a:p>
        </p:txBody>
      </p:sp>
    </p:spTree>
    <p:extLst>
      <p:ext uri="{BB962C8B-B14F-4D97-AF65-F5344CB8AC3E}">
        <p14:creationId xmlns:p14="http://schemas.microsoft.com/office/powerpoint/2010/main" val="6155785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高阶矩与市场有效性</a:t>
            </a:r>
            <a:endParaRPr lang="zh-CN" altLang="en-US" dirty="0"/>
          </a:p>
        </p:txBody>
      </p:sp>
      <p:sp>
        <p:nvSpPr>
          <p:cNvPr id="3" name="内容占位符 2"/>
          <p:cNvSpPr>
            <a:spLocks noGrp="1"/>
          </p:cNvSpPr>
          <p:nvPr>
            <p:ph idx="1"/>
          </p:nvPr>
        </p:nvSpPr>
        <p:spPr>
          <a:xfrm>
            <a:off x="838200" y="1825625"/>
            <a:ext cx="2628900" cy="1698625"/>
          </a:xfrm>
        </p:spPr>
        <p:txBody>
          <a:bodyPr/>
          <a:lstStyle/>
          <a:p>
            <a:r>
              <a:rPr lang="zh-CN" altLang="en-US" dirty="0" smtClean="0"/>
              <a:t>方差：二阶矩</a:t>
            </a:r>
            <a:endParaRPr lang="en-US" altLang="zh-CN" dirty="0" smtClean="0"/>
          </a:p>
          <a:p>
            <a:r>
              <a:rPr lang="zh-CN" altLang="en-US" dirty="0" smtClean="0"/>
              <a:t>偏度：三阶矩</a:t>
            </a:r>
            <a:endParaRPr lang="en-US" altLang="zh-CN" dirty="0" smtClean="0"/>
          </a:p>
          <a:p>
            <a:r>
              <a:rPr lang="zh-CN" altLang="en-US" dirty="0" smtClean="0"/>
              <a:t>峰度：四阶矩</a:t>
            </a:r>
            <a:endParaRPr lang="zh-CN" altLang="en-US" dirty="0"/>
          </a:p>
        </p:txBody>
      </p:sp>
      <p:pic>
        <p:nvPicPr>
          <p:cNvPr id="4" name="图片 3"/>
          <p:cNvPicPr>
            <a:picLocks noChangeAspect="1"/>
          </p:cNvPicPr>
          <p:nvPr/>
        </p:nvPicPr>
        <p:blipFill>
          <a:blip r:embed="rId2"/>
          <a:stretch>
            <a:fillRect/>
          </a:stretch>
        </p:blipFill>
        <p:spPr>
          <a:xfrm>
            <a:off x="3930581" y="1825625"/>
            <a:ext cx="2692538" cy="2330570"/>
          </a:xfrm>
          <a:prstGeom prst="rect">
            <a:avLst/>
          </a:prstGeom>
        </p:spPr>
      </p:pic>
      <p:pic>
        <p:nvPicPr>
          <p:cNvPr id="5" name="图片 4"/>
          <p:cNvPicPr>
            <a:picLocks noChangeAspect="1"/>
          </p:cNvPicPr>
          <p:nvPr/>
        </p:nvPicPr>
        <p:blipFill>
          <a:blip r:embed="rId3"/>
          <a:stretch>
            <a:fillRect/>
          </a:stretch>
        </p:blipFill>
        <p:spPr>
          <a:xfrm>
            <a:off x="7581823" y="1898654"/>
            <a:ext cx="2971953" cy="2184512"/>
          </a:xfrm>
          <a:prstGeom prst="rect">
            <a:avLst/>
          </a:prstGeom>
        </p:spPr>
      </p:pic>
      <p:sp>
        <p:nvSpPr>
          <p:cNvPr id="6" name="内容占位符 2"/>
          <p:cNvSpPr txBox="1">
            <a:spLocks/>
          </p:cNvSpPr>
          <p:nvPr/>
        </p:nvSpPr>
        <p:spPr>
          <a:xfrm>
            <a:off x="1095374" y="4368801"/>
            <a:ext cx="8734426" cy="12319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市场可能并没有充分反应偏度和峰度信息</a:t>
            </a:r>
            <a:endParaRPr lang="en-US" altLang="zh-CN" dirty="0" smtClean="0"/>
          </a:p>
          <a:p>
            <a:r>
              <a:rPr lang="zh-CN" altLang="en-US" dirty="0" smtClean="0"/>
              <a:t>基于偏度和峰度信息构造投资策略可能获得超额收益</a:t>
            </a:r>
            <a:endParaRPr lang="zh-CN" altLang="en-US" dirty="0"/>
          </a:p>
        </p:txBody>
      </p:sp>
    </p:spTree>
    <p:extLst>
      <p:ext uri="{BB962C8B-B14F-4D97-AF65-F5344CB8AC3E}">
        <p14:creationId xmlns:p14="http://schemas.microsoft.com/office/powerpoint/2010/main" val="4107535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AI</a:t>
            </a:r>
            <a:r>
              <a:rPr lang="zh-CN" altLang="en-US" dirty="0" smtClean="0"/>
              <a:t>炒股能否获得超额收益？</a:t>
            </a:r>
            <a:endParaRPr lang="zh-CN" altLang="en-US" dirty="0"/>
          </a:p>
        </p:txBody>
      </p:sp>
      <p:sp>
        <p:nvSpPr>
          <p:cNvPr id="3" name="内容占位符 2"/>
          <p:cNvSpPr>
            <a:spLocks noGrp="1"/>
          </p:cNvSpPr>
          <p:nvPr>
            <p:ph idx="1"/>
          </p:nvPr>
        </p:nvSpPr>
        <p:spPr/>
        <p:txBody>
          <a:bodyPr/>
          <a:lstStyle/>
          <a:p>
            <a:r>
              <a:rPr lang="en-US" altLang="zh-CN" dirty="0"/>
              <a:t>AI</a:t>
            </a:r>
            <a:r>
              <a:rPr lang="zh-CN" altLang="en-US" dirty="0" smtClean="0"/>
              <a:t>炒股</a:t>
            </a:r>
            <a:endParaRPr lang="en-US" altLang="zh-CN" dirty="0"/>
          </a:p>
          <a:p>
            <a:pPr lvl="1"/>
            <a:r>
              <a:rPr lang="en-US" altLang="zh-CN" dirty="0"/>
              <a:t>Charting by </a:t>
            </a:r>
            <a:r>
              <a:rPr lang="en-US" altLang="zh-CN" dirty="0" smtClean="0"/>
              <a:t>machines</a:t>
            </a:r>
          </a:p>
          <a:p>
            <a:pPr lvl="1"/>
            <a:endParaRPr lang="en-US" altLang="zh-CN" dirty="0"/>
          </a:p>
          <a:p>
            <a:endParaRPr lang="zh-CN" altLang="en-US" dirty="0"/>
          </a:p>
        </p:txBody>
      </p:sp>
    </p:spTree>
    <p:extLst>
      <p:ext uri="{BB962C8B-B14F-4D97-AF65-F5344CB8AC3E}">
        <p14:creationId xmlns:p14="http://schemas.microsoft.com/office/powerpoint/2010/main" val="26228471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524205" y="2152618"/>
            <a:ext cx="4505369" cy="3203819"/>
          </a:xfrm>
          <a:prstGeom prst="rect">
            <a:avLst/>
          </a:prstGeom>
        </p:spPr>
      </p:pic>
      <p:sp>
        <p:nvSpPr>
          <p:cNvPr id="5" name="标题 4"/>
          <p:cNvSpPr>
            <a:spLocks noGrp="1"/>
          </p:cNvSpPr>
          <p:nvPr>
            <p:ph type="title"/>
          </p:nvPr>
        </p:nvSpPr>
        <p:spPr/>
        <p:txBody>
          <a:bodyPr/>
          <a:lstStyle/>
          <a:p>
            <a:pPr algn="ctr"/>
            <a:r>
              <a:rPr lang="en-US" altLang="zh-CN" dirty="0" smtClean="0"/>
              <a:t>AI</a:t>
            </a:r>
            <a:r>
              <a:rPr lang="zh-CN" altLang="en-US" dirty="0" smtClean="0"/>
              <a:t>、机器学习与深度学习</a:t>
            </a:r>
            <a:endParaRPr lang="zh-CN" altLang="en-US" dirty="0"/>
          </a:p>
        </p:txBody>
      </p:sp>
    </p:spTree>
    <p:extLst>
      <p:ext uri="{BB962C8B-B14F-4D97-AF65-F5344CB8AC3E}">
        <p14:creationId xmlns:p14="http://schemas.microsoft.com/office/powerpoint/2010/main" val="37009985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何谓深度学习？</a:t>
            </a:r>
            <a:endParaRPr lang="zh-CN" altLang="en-US" dirty="0"/>
          </a:p>
        </p:txBody>
      </p:sp>
      <p:sp>
        <p:nvSpPr>
          <p:cNvPr id="3" name="内容占位符 2"/>
          <p:cNvSpPr>
            <a:spLocks noGrp="1"/>
          </p:cNvSpPr>
          <p:nvPr>
            <p:ph idx="1"/>
          </p:nvPr>
        </p:nvSpPr>
        <p:spPr/>
        <p:txBody>
          <a:bodyPr>
            <a:normAutofit/>
          </a:bodyPr>
          <a:lstStyle/>
          <a:p>
            <a:r>
              <a:rPr lang="zh-CN" altLang="en-US" dirty="0"/>
              <a:t>深度学习是机器学习的一个分支领域：它是从数据中学习表示的一种新方法，强调从连续的层（</a:t>
            </a:r>
            <a:r>
              <a:rPr lang="en-US" altLang="zh-CN" dirty="0"/>
              <a:t>layer</a:t>
            </a:r>
            <a:r>
              <a:rPr lang="zh-CN" altLang="en-US" dirty="0"/>
              <a:t>）中进行学习，这些层对应于越来越有意义的表示</a:t>
            </a:r>
            <a:r>
              <a:rPr lang="zh-CN" altLang="en-US" dirty="0" smtClean="0"/>
              <a:t>。</a:t>
            </a:r>
            <a:endParaRPr lang="en-US" altLang="zh-CN" dirty="0" smtClean="0"/>
          </a:p>
          <a:p>
            <a:r>
              <a:rPr lang="zh-CN" altLang="en-US" dirty="0" smtClean="0"/>
              <a:t>“深度学习”</a:t>
            </a:r>
            <a:r>
              <a:rPr lang="zh-CN" altLang="en-US" dirty="0"/>
              <a:t>中的“深度”指的并不是利用这种方法所获取的更深层次的理解，而是指一系列连续的表示层。数据模型中包含多少层，这被称为模型的深度（</a:t>
            </a:r>
            <a:r>
              <a:rPr lang="en-US" altLang="zh-CN" dirty="0"/>
              <a:t>depth</a:t>
            </a:r>
            <a:r>
              <a:rPr lang="zh-CN" altLang="en-US" dirty="0"/>
              <a:t>）</a:t>
            </a:r>
            <a:r>
              <a:rPr lang="zh-CN" altLang="en-US" dirty="0" smtClean="0"/>
              <a:t>。</a:t>
            </a:r>
            <a:endParaRPr lang="en-US" altLang="zh-CN" dirty="0" smtClean="0"/>
          </a:p>
          <a:p>
            <a:r>
              <a:rPr lang="zh-CN" altLang="en-US" dirty="0" smtClean="0"/>
              <a:t>现代</a:t>
            </a:r>
            <a:r>
              <a:rPr lang="zh-CN" altLang="en-US" dirty="0"/>
              <a:t>深度学习通常包含数十个甚至上百个连续的表示层，这些表示层全都是从训练数据中自动学习的</a:t>
            </a:r>
            <a:r>
              <a:rPr lang="zh-CN" altLang="en-US" dirty="0" smtClean="0"/>
              <a:t>。</a:t>
            </a:r>
            <a:endParaRPr lang="en-US" altLang="zh-CN" dirty="0" smtClean="0"/>
          </a:p>
          <a:p>
            <a:r>
              <a:rPr lang="zh-CN" altLang="en-US" dirty="0" smtClean="0"/>
              <a:t>与</a:t>
            </a:r>
            <a:r>
              <a:rPr lang="zh-CN" altLang="en-US" dirty="0"/>
              <a:t>此相反，其他机器学习方法的重点往往是仅仅学习一两层的数据表示，因此有时也被称为浅层学习（</a:t>
            </a:r>
            <a:r>
              <a:rPr lang="en-US" altLang="zh-CN" dirty="0"/>
              <a:t>shallow learning</a:t>
            </a:r>
            <a:r>
              <a:rPr lang="zh-CN" altLang="en-US" dirty="0"/>
              <a:t>）。</a:t>
            </a:r>
          </a:p>
        </p:txBody>
      </p:sp>
    </p:spTree>
    <p:extLst>
      <p:ext uri="{BB962C8B-B14F-4D97-AF65-F5344CB8AC3E}">
        <p14:creationId xmlns:p14="http://schemas.microsoft.com/office/powerpoint/2010/main" val="3768639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853339" y="1143001"/>
            <a:ext cx="7243035" cy="3902640"/>
          </a:xfrm>
          <a:prstGeom prst="rect">
            <a:avLst/>
          </a:prstGeom>
        </p:spPr>
      </p:pic>
    </p:spTree>
    <p:extLst>
      <p:ext uri="{BB962C8B-B14F-4D97-AF65-F5344CB8AC3E}">
        <p14:creationId xmlns:p14="http://schemas.microsoft.com/office/powerpoint/2010/main" val="36274666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深度学习为什么可以用于股票市场预测？</a:t>
            </a:r>
            <a:endParaRPr lang="zh-CN" altLang="en-US" dirty="0"/>
          </a:p>
        </p:txBody>
      </p:sp>
      <p:sp>
        <p:nvSpPr>
          <p:cNvPr id="3" name="内容占位符 2"/>
          <p:cNvSpPr>
            <a:spLocks noGrp="1"/>
          </p:cNvSpPr>
          <p:nvPr>
            <p:ph idx="1"/>
          </p:nvPr>
        </p:nvSpPr>
        <p:spPr/>
        <p:txBody>
          <a:bodyPr/>
          <a:lstStyle/>
          <a:p>
            <a:r>
              <a:rPr lang="zh-CN" altLang="en-US" dirty="0"/>
              <a:t>股票市场预测由于其非线性、高度波动性和复杂性，一直是个复杂的问题</a:t>
            </a:r>
            <a:r>
              <a:rPr lang="zh-CN" altLang="en-US" dirty="0" smtClean="0"/>
              <a:t>。</a:t>
            </a:r>
            <a:endParaRPr lang="en-US" altLang="zh-CN" dirty="0"/>
          </a:p>
          <a:p>
            <a:r>
              <a:rPr lang="zh-CN" altLang="en-US" dirty="0" smtClean="0"/>
              <a:t>简单的数量分析难以取得效果，因为股票价格已经反应了这些简单的价量信息。</a:t>
            </a:r>
            <a:endParaRPr lang="en-US" altLang="zh-CN" dirty="0" smtClean="0"/>
          </a:p>
          <a:p>
            <a:r>
              <a:rPr lang="zh-CN" altLang="en-US" dirty="0" smtClean="0"/>
              <a:t>但深度学习很适合处理这些复杂的问题。</a:t>
            </a:r>
            <a:endParaRPr lang="zh-CN" altLang="en-US" dirty="0"/>
          </a:p>
        </p:txBody>
      </p:sp>
    </p:spTree>
    <p:extLst>
      <p:ext uri="{BB962C8B-B14F-4D97-AF65-F5344CB8AC3E}">
        <p14:creationId xmlns:p14="http://schemas.microsoft.com/office/powerpoint/2010/main" val="29809265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训练集、验证集与测试集</a:t>
            </a:r>
            <a:endParaRPr lang="zh-CN" altLang="en-US" dirty="0"/>
          </a:p>
        </p:txBody>
      </p:sp>
      <p:pic>
        <p:nvPicPr>
          <p:cNvPr id="4" name="图片 3"/>
          <p:cNvPicPr>
            <a:picLocks noChangeAspect="1"/>
          </p:cNvPicPr>
          <p:nvPr/>
        </p:nvPicPr>
        <p:blipFill>
          <a:blip r:embed="rId2"/>
          <a:stretch>
            <a:fillRect/>
          </a:stretch>
        </p:blipFill>
        <p:spPr>
          <a:xfrm>
            <a:off x="1781175" y="2314620"/>
            <a:ext cx="8002857" cy="2066880"/>
          </a:xfrm>
          <a:prstGeom prst="rect">
            <a:avLst/>
          </a:prstGeom>
        </p:spPr>
      </p:pic>
    </p:spTree>
    <p:extLst>
      <p:ext uri="{BB962C8B-B14F-4D97-AF65-F5344CB8AC3E}">
        <p14:creationId xmlns:p14="http://schemas.microsoft.com/office/powerpoint/2010/main" val="23557617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Charting by </a:t>
            </a:r>
            <a:r>
              <a:rPr lang="en-US" altLang="zh-CN" dirty="0" smtClean="0"/>
              <a:t>machines</a:t>
            </a:r>
            <a:endParaRPr lang="zh-CN" altLang="en-US" dirty="0"/>
          </a:p>
        </p:txBody>
      </p:sp>
      <p:sp>
        <p:nvSpPr>
          <p:cNvPr id="3" name="内容占位符 2"/>
          <p:cNvSpPr>
            <a:spLocks noGrp="1"/>
          </p:cNvSpPr>
          <p:nvPr>
            <p:ph idx="1"/>
          </p:nvPr>
        </p:nvSpPr>
        <p:spPr>
          <a:xfrm>
            <a:off x="838200" y="1416050"/>
            <a:ext cx="10515600" cy="2517775"/>
          </a:xfrm>
        </p:spPr>
        <p:txBody>
          <a:bodyPr/>
          <a:lstStyle/>
          <a:p>
            <a:r>
              <a:rPr lang="zh-CN" altLang="en-US" dirty="0" smtClean="0"/>
              <a:t>训练集和验证集：</a:t>
            </a:r>
            <a:r>
              <a:rPr lang="en-US" altLang="zh-CN" dirty="0" smtClean="0"/>
              <a:t>1927.01-1963.06</a:t>
            </a:r>
          </a:p>
          <a:p>
            <a:pPr lvl="1"/>
            <a:r>
              <a:rPr lang="en-US" altLang="zh-CN" dirty="0" smtClean="0"/>
              <a:t> 70%</a:t>
            </a:r>
            <a:r>
              <a:rPr lang="zh-CN" altLang="en-US" dirty="0" smtClean="0"/>
              <a:t>的数据用于训练，剩下</a:t>
            </a:r>
            <a:r>
              <a:rPr lang="en-US" altLang="zh-CN" dirty="0" smtClean="0"/>
              <a:t>30%</a:t>
            </a:r>
            <a:r>
              <a:rPr lang="zh-CN" altLang="en-US" dirty="0" smtClean="0"/>
              <a:t>用于验证</a:t>
            </a:r>
            <a:endParaRPr lang="en-US" altLang="zh-CN" dirty="0" smtClean="0"/>
          </a:p>
          <a:p>
            <a:r>
              <a:rPr lang="zh-CN" altLang="en-US" dirty="0" smtClean="0"/>
              <a:t>测试集：</a:t>
            </a:r>
            <a:r>
              <a:rPr lang="en-US" altLang="zh-CN" dirty="0" smtClean="0"/>
              <a:t>1963.07-2022.12 </a:t>
            </a:r>
          </a:p>
          <a:p>
            <a:endParaRPr lang="en-US" altLang="zh-CN" dirty="0"/>
          </a:p>
          <a:p>
            <a:r>
              <a:rPr lang="zh-CN" altLang="en-US" dirty="0" smtClean="0"/>
              <a:t>方法：使用历史价格数据，预测股票未来涨跌</a:t>
            </a:r>
            <a:endParaRPr lang="en-US" altLang="zh-CN" dirty="0" smtClean="0"/>
          </a:p>
          <a:p>
            <a:endParaRPr lang="zh-CN" altLang="en-US" dirty="0"/>
          </a:p>
        </p:txBody>
      </p:sp>
      <p:pic>
        <p:nvPicPr>
          <p:cNvPr id="4" name="图片 3"/>
          <p:cNvPicPr>
            <a:picLocks noChangeAspect="1"/>
          </p:cNvPicPr>
          <p:nvPr/>
        </p:nvPicPr>
        <p:blipFill>
          <a:blip r:embed="rId2"/>
          <a:stretch>
            <a:fillRect/>
          </a:stretch>
        </p:blipFill>
        <p:spPr>
          <a:xfrm>
            <a:off x="1422293" y="4086225"/>
            <a:ext cx="8217007" cy="1257300"/>
          </a:xfrm>
          <a:prstGeom prst="rect">
            <a:avLst/>
          </a:prstGeom>
        </p:spPr>
      </p:pic>
    </p:spTree>
    <p:extLst>
      <p:ext uri="{BB962C8B-B14F-4D97-AF65-F5344CB8AC3E}">
        <p14:creationId xmlns:p14="http://schemas.microsoft.com/office/powerpoint/2010/main" val="3230013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2654300"/>
          </a:xfrm>
        </p:spPr>
        <p:txBody>
          <a:bodyPr>
            <a:normAutofit fontScale="90000"/>
          </a:bodyPr>
          <a:lstStyle/>
          <a:p>
            <a:pPr algn="ctr"/>
            <a:r>
              <a:rPr lang="zh-CN" altLang="en-US" dirty="0" smtClean="0"/>
              <a:t>效果</a:t>
            </a:r>
            <a:r>
              <a:rPr lang="en-US" altLang="zh-CN" dirty="0" smtClean="0"/>
              <a:t/>
            </a:r>
            <a:br>
              <a:rPr lang="en-US" altLang="zh-CN" dirty="0" smtClean="0"/>
            </a:br>
            <a:r>
              <a:rPr lang="zh-CN" altLang="en-US" sz="3900" dirty="0" smtClean="0"/>
              <a:t>构造</a:t>
            </a:r>
            <a:r>
              <a:rPr lang="en-US" altLang="zh-CN" sz="3900" dirty="0" smtClean="0"/>
              <a:t>10</a:t>
            </a:r>
            <a:r>
              <a:rPr lang="zh-CN" altLang="en-US" sz="3900" dirty="0" smtClean="0"/>
              <a:t>个投资组合，</a:t>
            </a:r>
            <a:r>
              <a:rPr lang="en-US" altLang="zh-CN" sz="3900" dirty="0" smtClean="0"/>
              <a:t/>
            </a:r>
            <a:br>
              <a:rPr lang="en-US" altLang="zh-CN" sz="3900" dirty="0" smtClean="0"/>
            </a:br>
            <a:r>
              <a:rPr lang="zh-CN" altLang="en-US" sz="3900" dirty="0" smtClean="0"/>
              <a:t>最差组合平均月收益率</a:t>
            </a:r>
            <a:r>
              <a:rPr lang="en-US" altLang="zh-CN" sz="3900" dirty="0" smtClean="0"/>
              <a:t>-0.14%</a:t>
            </a:r>
            <a:r>
              <a:rPr lang="zh-CN" altLang="en-US" sz="3900" dirty="0" smtClean="0"/>
              <a:t>，</a:t>
            </a:r>
            <a:r>
              <a:rPr lang="en-US" altLang="zh-CN" sz="3900" dirty="0" smtClean="0"/>
              <a:t/>
            </a:r>
            <a:br>
              <a:rPr lang="en-US" altLang="zh-CN" sz="3900" dirty="0" smtClean="0"/>
            </a:br>
            <a:r>
              <a:rPr lang="zh-CN" altLang="en-US" sz="3900" dirty="0" smtClean="0"/>
              <a:t>最好组合平均月收益率</a:t>
            </a:r>
            <a:r>
              <a:rPr lang="en-US" altLang="zh-CN" sz="3900" dirty="0" smtClean="0"/>
              <a:t>0.93%</a:t>
            </a:r>
            <a:r>
              <a:rPr lang="zh-CN" altLang="en-US" sz="3900" dirty="0" smtClean="0"/>
              <a:t>，</a:t>
            </a:r>
            <a:r>
              <a:rPr lang="en-US" altLang="zh-CN" sz="3900" dirty="0" smtClean="0"/>
              <a:t/>
            </a:r>
            <a:br>
              <a:rPr lang="en-US" altLang="zh-CN" sz="3900" dirty="0" smtClean="0"/>
            </a:br>
            <a:r>
              <a:rPr lang="zh-CN" altLang="en-US" sz="3900" dirty="0" smtClean="0"/>
              <a:t>对应多空组合月平均收益率</a:t>
            </a:r>
            <a:r>
              <a:rPr lang="en-US" altLang="zh-CN" sz="3900" dirty="0" smtClean="0"/>
              <a:t>1.08%</a:t>
            </a:r>
            <a:r>
              <a:rPr lang="zh-CN" altLang="en-US" sz="3900" dirty="0" smtClean="0"/>
              <a:t>！</a:t>
            </a:r>
            <a:endParaRPr lang="zh-CN" altLang="en-US" sz="3900" dirty="0"/>
          </a:p>
        </p:txBody>
      </p:sp>
      <p:pic>
        <p:nvPicPr>
          <p:cNvPr id="4" name="内容占位符 3"/>
          <p:cNvPicPr>
            <a:picLocks noGrp="1" noChangeAspect="1"/>
          </p:cNvPicPr>
          <p:nvPr>
            <p:ph idx="1"/>
          </p:nvPr>
        </p:nvPicPr>
        <p:blipFill>
          <a:blip r:embed="rId2"/>
          <a:stretch>
            <a:fillRect/>
          </a:stretch>
        </p:blipFill>
        <p:spPr>
          <a:xfrm>
            <a:off x="650468" y="3371849"/>
            <a:ext cx="11084332" cy="2428875"/>
          </a:xfrm>
          <a:prstGeom prst="rect">
            <a:avLst/>
          </a:prstGeom>
        </p:spPr>
      </p:pic>
    </p:spTree>
    <p:extLst>
      <p:ext uri="{BB962C8B-B14F-4D97-AF65-F5344CB8AC3E}">
        <p14:creationId xmlns:p14="http://schemas.microsoft.com/office/powerpoint/2010/main" val="32147457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基金投资问题（如何养基？）</a:t>
            </a:r>
          </a:p>
        </p:txBody>
      </p:sp>
      <p:sp>
        <p:nvSpPr>
          <p:cNvPr id="3" name="内容占位符 2"/>
          <p:cNvSpPr>
            <a:spLocks noGrp="1"/>
          </p:cNvSpPr>
          <p:nvPr>
            <p:ph idx="1"/>
          </p:nvPr>
        </p:nvSpPr>
        <p:spPr/>
        <p:txBody>
          <a:bodyPr/>
          <a:lstStyle/>
          <a:p>
            <a:r>
              <a:rPr lang="zh-CN" altLang="en-US" dirty="0"/>
              <a:t>要选基吗？</a:t>
            </a:r>
            <a:endParaRPr lang="en-US" altLang="zh-CN" dirty="0"/>
          </a:p>
          <a:p>
            <a:pPr lvl="1"/>
            <a:r>
              <a:rPr lang="zh-CN" altLang="en-US" dirty="0"/>
              <a:t>主动型基金需要选择</a:t>
            </a:r>
            <a:endParaRPr lang="en-US" altLang="zh-CN" dirty="0"/>
          </a:p>
          <a:p>
            <a:pPr lvl="1"/>
            <a:r>
              <a:rPr lang="zh-CN" altLang="en-US" dirty="0"/>
              <a:t>被动性指数</a:t>
            </a:r>
            <a:r>
              <a:rPr lang="en-US" altLang="zh-CN" dirty="0"/>
              <a:t>ETF</a:t>
            </a:r>
            <a:r>
              <a:rPr lang="zh-CN" altLang="en-US" dirty="0"/>
              <a:t>不需要</a:t>
            </a:r>
            <a:endParaRPr lang="en-US" altLang="zh-CN" dirty="0"/>
          </a:p>
          <a:p>
            <a:endParaRPr lang="en-US" altLang="zh-CN" dirty="0"/>
          </a:p>
          <a:p>
            <a:r>
              <a:rPr lang="zh-CN" altLang="en-US" dirty="0"/>
              <a:t>要择时吗？</a:t>
            </a:r>
            <a:endParaRPr lang="en-US" altLang="zh-CN" dirty="0"/>
          </a:p>
          <a:p>
            <a:pPr lvl="1"/>
            <a:r>
              <a:rPr lang="zh-CN" altLang="en-US" dirty="0"/>
              <a:t>绝大部分个人投资者和相当比例的基金经理没有择时能力</a:t>
            </a:r>
            <a:endParaRPr lang="en-US" altLang="zh-CN" dirty="0"/>
          </a:p>
          <a:p>
            <a:pPr lvl="1"/>
            <a:endParaRPr lang="zh-CN" altLang="en-US" dirty="0"/>
          </a:p>
        </p:txBody>
      </p:sp>
    </p:spTree>
    <p:extLst>
      <p:ext uri="{BB962C8B-B14F-4D97-AF65-F5344CB8AC3E}">
        <p14:creationId xmlns:p14="http://schemas.microsoft.com/office/powerpoint/2010/main" val="3044066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如何选基？</a:t>
            </a:r>
          </a:p>
        </p:txBody>
      </p:sp>
      <p:sp>
        <p:nvSpPr>
          <p:cNvPr id="3" name="内容占位符 2"/>
          <p:cNvSpPr>
            <a:spLocks noGrp="1"/>
          </p:cNvSpPr>
          <p:nvPr>
            <p:ph idx="1"/>
          </p:nvPr>
        </p:nvSpPr>
        <p:spPr/>
        <p:txBody>
          <a:bodyPr/>
          <a:lstStyle/>
          <a:p>
            <a:r>
              <a:rPr lang="zh-CN" altLang="en-US" dirty="0"/>
              <a:t>庙重要还是和尚重要？</a:t>
            </a:r>
            <a:endParaRPr lang="en-US" altLang="zh-CN" dirty="0"/>
          </a:p>
          <a:p>
            <a:endParaRPr lang="en-US" altLang="zh-CN" dirty="0"/>
          </a:p>
          <a:p>
            <a:r>
              <a:rPr lang="zh-CN" altLang="en-US" dirty="0"/>
              <a:t>风重要还是猪重要</a:t>
            </a:r>
            <a:r>
              <a:rPr lang="zh-CN" altLang="en-US" dirty="0" smtClean="0"/>
              <a:t>？</a:t>
            </a:r>
            <a:endParaRPr lang="en-US" altLang="zh-CN" dirty="0"/>
          </a:p>
        </p:txBody>
      </p:sp>
    </p:spTree>
    <p:extLst>
      <p:ext uri="{BB962C8B-B14F-4D97-AF65-F5344CB8AC3E}">
        <p14:creationId xmlns:p14="http://schemas.microsoft.com/office/powerpoint/2010/main" val="36168224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1158</TotalTime>
  <Words>4163</Words>
  <Application>Microsoft Office PowerPoint</Application>
  <PresentationFormat>宽屏</PresentationFormat>
  <Paragraphs>369</Paragraphs>
  <Slides>64</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64</vt:i4>
      </vt:variant>
    </vt:vector>
  </HeadingPairs>
  <TitlesOfParts>
    <vt:vector size="73" baseType="lpstr">
      <vt:lpstr>华光隶变_CNKI</vt:lpstr>
      <vt:lpstr>宋体</vt:lpstr>
      <vt:lpstr>微软雅黑</vt:lpstr>
      <vt:lpstr>Arial</vt:lpstr>
      <vt:lpstr>Calibri</vt:lpstr>
      <vt:lpstr>Calibri Light</vt:lpstr>
      <vt:lpstr>Wingdings</vt:lpstr>
      <vt:lpstr>Office 主题</vt:lpstr>
      <vt:lpstr>Equation</vt:lpstr>
      <vt:lpstr>第4次课 第7章 市场估值原理</vt:lpstr>
      <vt:lpstr>九安医疗(002432.SZ)</vt:lpstr>
      <vt:lpstr>2021年业绩快报: 20年2.5亿、21年8.3亿 2022-4-12发布</vt:lpstr>
      <vt:lpstr>2022年第一季度业绩快报 2022-4-12 一季度赚了140-160亿！每股收益30-35元！ 2022-4-14中午收盘时总市值431亿！</vt:lpstr>
      <vt:lpstr>2022年第一季度业绩变动原因说明</vt:lpstr>
      <vt:lpstr>问题 九安医疗2022年一季度业绩预告赚140-160亿，但在2022-4-12才发布业绩预告，为什么股价很早就大涨了？</vt:lpstr>
      <vt:lpstr>2025-3-13收盘价41.57，总市值196.6亿 2022-4-14中午收盘时总市值431亿</vt:lpstr>
      <vt:lpstr>内容</vt:lpstr>
      <vt:lpstr>7.1 资产价值与资产价格的关系</vt:lpstr>
      <vt:lpstr>资产价值与价格</vt:lpstr>
      <vt:lpstr>7.2 价值最大化和金融决策</vt:lpstr>
      <vt:lpstr>PowerPoint 演示文稿</vt:lpstr>
      <vt:lpstr>PowerPoint 演示文稿</vt:lpstr>
      <vt:lpstr>7.3 一价定律与套利</vt:lpstr>
      <vt:lpstr>长期资本管理公司的故事</vt:lpstr>
      <vt:lpstr>LTCM——华尔街的梦之队</vt:lpstr>
      <vt:lpstr>长期资本管理公司（LTCM）合伙人</vt:lpstr>
      <vt:lpstr>LTCM合伙人：Robert C. Merton—教材作者</vt:lpstr>
      <vt:lpstr>宴宾客</vt:lpstr>
      <vt:lpstr>起高楼</vt:lpstr>
      <vt:lpstr>楼塌了</vt:lpstr>
      <vt:lpstr>无风险套利定价原则</vt:lpstr>
      <vt:lpstr>7.4 套利与金融资产的价格</vt:lpstr>
      <vt:lpstr>分级基金的套利（极度简化，实务中更为复杂）</vt:lpstr>
      <vt:lpstr>可转换债券套利（极度简化，实务中更为复杂）</vt:lpstr>
      <vt:lpstr>7.5 利率与一价定律</vt:lpstr>
      <vt:lpstr>7.6 汇率与三角套利</vt:lpstr>
      <vt:lpstr>汇率推算</vt:lpstr>
      <vt:lpstr>套利容易赚钱吗？</vt:lpstr>
      <vt:lpstr>7.7 运用参照物进行价值评估</vt:lpstr>
      <vt:lpstr>延伸</vt:lpstr>
      <vt:lpstr>7.8 价值评估模型</vt:lpstr>
      <vt:lpstr>7.9 价值的会计标准</vt:lpstr>
      <vt:lpstr>估值水平的行业差异</vt:lpstr>
      <vt:lpstr>7.10 信息怎样反映在股票价格中？</vt:lpstr>
      <vt:lpstr>中国神华（601088.SH 1088.HK）</vt:lpstr>
      <vt:lpstr>中国神华（601088.SH 1088.HK）</vt:lpstr>
      <vt:lpstr>煤中茅台——中国神华股价表现</vt:lpstr>
      <vt:lpstr>3月&amp;4月是业绩行情</vt:lpstr>
      <vt:lpstr>波音</vt:lpstr>
      <vt:lpstr>波音股价与美国SP500走势对比</vt:lpstr>
      <vt:lpstr>波音公司关键财务指标（单位：亿美元）</vt:lpstr>
      <vt:lpstr>专栏7.1 因新闻而产生的瞬时交易</vt:lpstr>
      <vt:lpstr>7.11 有效市场假说（EMH）</vt:lpstr>
      <vt:lpstr>有效市场的内涵及其表现</vt:lpstr>
      <vt:lpstr>有效市场与随机游走</vt:lpstr>
      <vt:lpstr>市场一定很有效吗？</vt:lpstr>
      <vt:lpstr>Corona Virus</vt:lpstr>
      <vt:lpstr>科罗娜啤酒与新冠病毒</vt:lpstr>
      <vt:lpstr>美国参议员 &amp; 情报委员会主任卖股票</vt:lpstr>
      <vt:lpstr>市场有效性是一个连续变量</vt:lpstr>
      <vt:lpstr>股市的有效性程度与积极投资策略</vt:lpstr>
      <vt:lpstr>巴菲特论市场有效性（2023年致股东的信）</vt:lpstr>
      <vt:lpstr>高阶矩与市场有效性</vt:lpstr>
      <vt:lpstr>AI炒股能否获得超额收益？</vt:lpstr>
      <vt:lpstr>AI、机器学习与深度学习</vt:lpstr>
      <vt:lpstr>何谓深度学习？</vt:lpstr>
      <vt:lpstr>PowerPoint 演示文稿</vt:lpstr>
      <vt:lpstr>深度学习为什么可以用于股票市场预测？</vt:lpstr>
      <vt:lpstr>训练集、验证集与测试集</vt:lpstr>
      <vt:lpstr>Charting by machines</vt:lpstr>
      <vt:lpstr>效果 构造10个投资组合， 最差组合平均月收益率-0.14%， 最好组合平均月收益率0.93%， 对应多空组合月平均收益率1.08%！</vt:lpstr>
      <vt:lpstr>基金投资问题（如何养基？）</vt:lpstr>
      <vt:lpstr>如何选基？</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市场估值原理</dc:title>
  <dc:creator>2069912353@qq.com</dc:creator>
  <cp:lastModifiedBy>Microsoft 帐户</cp:lastModifiedBy>
  <cp:revision>73</cp:revision>
  <dcterms:created xsi:type="dcterms:W3CDTF">2020-03-19T15:29:06Z</dcterms:created>
  <dcterms:modified xsi:type="dcterms:W3CDTF">2026-03-19T10:45:05Z</dcterms:modified>
</cp:coreProperties>
</file>