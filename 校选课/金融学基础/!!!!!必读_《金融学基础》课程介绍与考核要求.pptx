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91" r:id="rId3"/>
    <p:sldId id="283" r:id="rId4"/>
    <p:sldId id="288" r:id="rId5"/>
    <p:sldId id="272" r:id="rId6"/>
    <p:sldId id="290" r:id="rId7"/>
    <p:sldId id="292" r:id="rId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4" d="100"/>
          <a:sy n="64" d="100"/>
        </p:scale>
        <p:origin x="68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8DDB3-DA74-4A10-AB1B-C2BCA75B1B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075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15889-24E8-4AF2-8487-09BFFA2212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460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62950-A4FA-410B-BCAE-A763E259F9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460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BE000-DAE7-44F4-9056-1CA3FC7117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935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488BC-EDC5-4155-8978-458342EE11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408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7CA15A-F8BD-47A0-ACA9-B02C6B50F2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413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2C302-B1E4-4174-A704-60A30AD3A3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352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6BF8A-31A0-4946-A06C-031603F337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6652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244820-0CDD-4DBF-999F-B5E2268330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293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71DD4-2C81-46BB-AD3C-CF71FCAB9D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70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55DBF-044E-4CA1-A8CE-1FCEA3B159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879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80EA09E-6F18-4D54-ABE9-F1DD7BD253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93816@qq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3568" y="1700808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CN" dirty="0"/>
              <a:t>《</a:t>
            </a:r>
            <a:r>
              <a:rPr lang="zh-CN" altLang="en-US" dirty="0"/>
              <a:t>金融学基础</a:t>
            </a:r>
            <a:r>
              <a:rPr lang="en-US" altLang="zh-CN" dirty="0"/>
              <a:t>》</a:t>
            </a:r>
            <a:r>
              <a:rPr lang="zh-CN" altLang="en-US" dirty="0"/>
              <a:t>课程介绍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3352800"/>
            <a:ext cx="6400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课程联系方式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/>
              </a:rPr>
              <a:t>课程邮箱：</a:t>
            </a:r>
            <a:endParaRPr lang="en-US" altLang="zh-CN" dirty="0">
              <a:hlinkClick r:id="rId2"/>
            </a:endParaRPr>
          </a:p>
          <a:p>
            <a:pPr lvl="2"/>
            <a:r>
              <a:rPr lang="en-US" altLang="zh-CN" dirty="0">
                <a:hlinkClick r:id="rId2"/>
              </a:rPr>
              <a:t>2970441256@qq.com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课程群</a:t>
            </a:r>
            <a:endParaRPr lang="en-US" altLang="zh-CN" dirty="0"/>
          </a:p>
          <a:p>
            <a:pPr lvl="2"/>
            <a:r>
              <a:rPr lang="zh-CN" altLang="en-US" dirty="0"/>
              <a:t>群号码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10768228</a:t>
            </a:r>
            <a:r>
              <a:rPr lang="en-US" altLang="zh-CN" dirty="0" smtClean="0"/>
              <a:t>07</a:t>
            </a:r>
            <a:endParaRPr lang="en-US" altLang="zh-CN" b="1" dirty="0" smtClean="0"/>
          </a:p>
          <a:p>
            <a:pPr lvl="2"/>
            <a:r>
              <a:rPr lang="zh-CN" altLang="en-US" dirty="0" smtClean="0"/>
              <a:t>群</a:t>
            </a:r>
            <a:r>
              <a:rPr lang="zh-CN" altLang="en-US" dirty="0"/>
              <a:t>名称</a:t>
            </a:r>
            <a:r>
              <a:rPr lang="zh-CN" altLang="en-US" dirty="0" smtClean="0"/>
              <a:t>：</a:t>
            </a:r>
            <a:r>
              <a:rPr lang="zh-CN" altLang="en-US" dirty="0"/>
              <a:t>金融学基础</a:t>
            </a:r>
            <a:r>
              <a:rPr lang="en-US" altLang="zh-CN" dirty="0" smtClean="0"/>
              <a:t>_</a:t>
            </a:r>
            <a:r>
              <a:rPr lang="en-US" altLang="zh-CN" dirty="0" smtClean="0"/>
              <a:t>SM_FIN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4222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教材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[</a:t>
            </a:r>
            <a:r>
              <a:rPr lang="zh-CN" altLang="zh-CN" sz="2000" dirty="0"/>
              <a:t>美</a:t>
            </a:r>
            <a:r>
              <a:rPr lang="en-US" altLang="zh-CN" sz="2000" dirty="0"/>
              <a:t>]</a:t>
            </a:r>
            <a:r>
              <a:rPr lang="zh-CN" altLang="zh-CN" sz="2000" dirty="0"/>
              <a:t>兹维·博迪（</a:t>
            </a:r>
            <a:r>
              <a:rPr lang="en-US" altLang="zh-CN" sz="2000" dirty="0" err="1"/>
              <a:t>Zvi</a:t>
            </a:r>
            <a:r>
              <a:rPr lang="en-US" altLang="zh-CN" sz="2000" dirty="0"/>
              <a:t> </a:t>
            </a:r>
            <a:r>
              <a:rPr lang="en-US" altLang="zh-CN" sz="2000" dirty="0" err="1"/>
              <a:t>Bodie</a:t>
            </a:r>
            <a:r>
              <a:rPr lang="zh-CN" altLang="zh-CN" sz="2000" dirty="0"/>
              <a:t>），</a:t>
            </a:r>
            <a:r>
              <a:rPr lang="en-US" altLang="zh-CN" sz="2000" dirty="0"/>
              <a:t>[</a:t>
            </a:r>
            <a:r>
              <a:rPr lang="zh-CN" altLang="zh-CN" sz="2000" dirty="0"/>
              <a:t>美</a:t>
            </a:r>
            <a:r>
              <a:rPr lang="en-US" altLang="zh-CN" sz="2000" dirty="0"/>
              <a:t>]</a:t>
            </a:r>
            <a:r>
              <a:rPr lang="zh-CN" altLang="zh-CN" sz="2000" dirty="0"/>
              <a:t>罗伯特·</a:t>
            </a:r>
            <a:r>
              <a:rPr lang="en-US" altLang="zh-CN" sz="2000" dirty="0"/>
              <a:t>C</a:t>
            </a:r>
            <a:r>
              <a:rPr lang="zh-CN" altLang="zh-CN" sz="2000" dirty="0"/>
              <a:t>·默顿（</a:t>
            </a:r>
            <a:r>
              <a:rPr lang="en-US" altLang="zh-CN" sz="2000" dirty="0"/>
              <a:t>Robert C. Merton</a:t>
            </a:r>
            <a:r>
              <a:rPr lang="zh-CN" altLang="zh-CN" sz="2000" dirty="0"/>
              <a:t>），</a:t>
            </a:r>
            <a:r>
              <a:rPr lang="en-US" altLang="zh-CN" sz="2000" dirty="0"/>
              <a:t>[</a:t>
            </a:r>
            <a:r>
              <a:rPr lang="zh-CN" altLang="zh-CN" sz="2000" dirty="0"/>
              <a:t>美</a:t>
            </a:r>
            <a:r>
              <a:rPr lang="en-US" altLang="zh-CN" sz="2000" dirty="0"/>
              <a:t>]</a:t>
            </a:r>
            <a:r>
              <a:rPr lang="zh-CN" altLang="zh-CN" sz="2000" dirty="0"/>
              <a:t>载维·</a:t>
            </a:r>
            <a:r>
              <a:rPr lang="en-US" altLang="zh-CN" sz="2000" dirty="0"/>
              <a:t>L</a:t>
            </a:r>
            <a:r>
              <a:rPr lang="zh-CN" altLang="zh-CN" sz="2000" dirty="0"/>
              <a:t>·克利顿（</a:t>
            </a:r>
            <a:r>
              <a:rPr lang="en-US" altLang="zh-CN" sz="2000" dirty="0"/>
              <a:t>David L. </a:t>
            </a:r>
            <a:r>
              <a:rPr lang="en-US" altLang="zh-CN" sz="2000" dirty="0" err="1"/>
              <a:t>Cleeton</a:t>
            </a:r>
            <a:r>
              <a:rPr lang="zh-CN" altLang="zh-CN" sz="2000" dirty="0"/>
              <a:t>）著</a:t>
            </a:r>
            <a:r>
              <a:rPr lang="en-US" altLang="zh-CN" sz="2000" dirty="0"/>
              <a:t> | | </a:t>
            </a:r>
            <a:r>
              <a:rPr lang="zh-CN" altLang="zh-CN" sz="2000" dirty="0"/>
              <a:t>曹辉，曹音译，金融学（第二版），北京：中国人民大学出版社，</a:t>
            </a:r>
            <a:r>
              <a:rPr lang="en-US" altLang="zh-CN" sz="2000" dirty="0"/>
              <a:t>2009</a:t>
            </a:r>
            <a:r>
              <a:rPr lang="zh-CN" altLang="zh-CN" sz="2000" dirty="0"/>
              <a:t>年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1" eaLnBrk="1" hangingPunct="1"/>
            <a:r>
              <a:rPr lang="zh-CN" altLang="en-US" sz="1600" dirty="0" smtClean="0"/>
              <a:t>请注意：该版本是完全版，包括课后习题，总页数超过</a:t>
            </a:r>
            <a:r>
              <a:rPr lang="en-US" altLang="zh-CN" sz="1600" dirty="0" smtClean="0"/>
              <a:t>500</a:t>
            </a:r>
            <a:r>
              <a:rPr lang="zh-CN" altLang="en-US" sz="1600" dirty="0" smtClean="0"/>
              <a:t>页</a:t>
            </a:r>
            <a:endParaRPr lang="en-US" altLang="zh-CN" sz="1600" dirty="0" smtClean="0"/>
          </a:p>
          <a:p>
            <a:pPr lvl="1" eaLnBrk="1" hangingPunct="1"/>
            <a:r>
              <a:rPr lang="zh-CN" altLang="en-US" sz="1600" dirty="0" smtClean="0"/>
              <a:t>市面上也有不含课后习题的简化版</a:t>
            </a:r>
            <a:endParaRPr lang="en-US" altLang="zh-CN" sz="1600" dirty="0" smtClean="0"/>
          </a:p>
          <a:p>
            <a:pPr lvl="1" eaLnBrk="1" hangingPunct="1"/>
            <a:r>
              <a:rPr lang="zh-CN" altLang="en-US" sz="1600" dirty="0" smtClean="0"/>
              <a:t>请使用该完全版本，不要使用简化版</a:t>
            </a:r>
            <a:endParaRPr lang="en-US" altLang="zh-CN" sz="1600" dirty="0"/>
          </a:p>
          <a:p>
            <a:pPr eaLnBrk="1" hangingPunct="1"/>
            <a:endParaRPr lang="en-US" altLang="zh-CN" sz="3600" dirty="0" smtClean="0"/>
          </a:p>
          <a:p>
            <a:pPr eaLnBrk="1" hangingPunct="1"/>
            <a:r>
              <a:rPr lang="zh-CN" altLang="en-US" sz="3600" dirty="0" smtClean="0"/>
              <a:t>最好购买纸</a:t>
            </a:r>
            <a:r>
              <a:rPr lang="zh-CN" altLang="en-US" sz="3600" dirty="0"/>
              <a:t>质</a:t>
            </a:r>
            <a:r>
              <a:rPr lang="zh-CN" altLang="en-US" sz="3600" dirty="0" smtClean="0"/>
              <a:t>版教材</a:t>
            </a:r>
            <a:endParaRPr lang="en-US" altLang="zh-CN" sz="3600" dirty="0" smtClean="0"/>
          </a:p>
          <a:p>
            <a:pPr lvl="1" eaLnBrk="1" hangingPunct="1"/>
            <a:r>
              <a:rPr lang="zh-CN" altLang="en-US" dirty="0" smtClean="0"/>
              <a:t>期末开卷考：只能携带纸质版教材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可以到京东、淘宝等处购买二手教材</a:t>
            </a:r>
            <a:endParaRPr lang="en-US" altLang="zh-CN" dirty="0"/>
          </a:p>
          <a:p>
            <a:pPr eaLnBrk="1" hangingPunct="1"/>
            <a:endParaRPr lang="en-US" altLang="zh-CN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参考教材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600" dirty="0"/>
              <a:t>黄达</a:t>
            </a:r>
            <a:r>
              <a:rPr lang="en-US" altLang="zh-CN" sz="2600" dirty="0"/>
              <a:t> &amp; </a:t>
            </a:r>
            <a:r>
              <a:rPr lang="zh-CN" altLang="en-US" sz="2600" dirty="0"/>
              <a:t>张杰</a:t>
            </a:r>
            <a:r>
              <a:rPr lang="en-US" altLang="zh-CN" sz="2600" dirty="0"/>
              <a:t>, </a:t>
            </a:r>
            <a:r>
              <a:rPr lang="en-US" altLang="zh-CN" sz="2600" dirty="0" smtClean="0"/>
              <a:t>2020.  </a:t>
            </a:r>
            <a:r>
              <a:rPr lang="zh-CN" altLang="en-US" sz="2600" dirty="0" smtClean="0"/>
              <a:t>金融学</a:t>
            </a:r>
            <a:r>
              <a:rPr lang="en-US" altLang="zh-CN" sz="2600" dirty="0" smtClean="0"/>
              <a:t>. </a:t>
            </a:r>
            <a:r>
              <a:rPr lang="zh-CN" altLang="en-US" sz="2600" dirty="0" smtClean="0"/>
              <a:t>北京</a:t>
            </a:r>
            <a:r>
              <a:rPr lang="zh-CN" altLang="en-US" sz="2600" dirty="0"/>
              <a:t>：中国人民大学出版社</a:t>
            </a:r>
            <a:r>
              <a:rPr lang="en-US" altLang="zh-CN" sz="2600" dirty="0"/>
              <a:t>, </a:t>
            </a:r>
            <a:r>
              <a:rPr lang="zh-CN" altLang="en-US" sz="2600" dirty="0" smtClean="0"/>
              <a:t>第</a:t>
            </a:r>
            <a:r>
              <a:rPr lang="en-US" altLang="zh-CN" sz="2600" dirty="0" smtClean="0"/>
              <a:t>5</a:t>
            </a:r>
            <a:r>
              <a:rPr lang="zh-CN" altLang="en-US" sz="2600" dirty="0" smtClean="0"/>
              <a:t>版</a:t>
            </a:r>
            <a:r>
              <a:rPr lang="en-US" altLang="zh-CN" sz="2600" dirty="0" smtClean="0"/>
              <a:t>.</a:t>
            </a:r>
          </a:p>
          <a:p>
            <a:pPr eaLnBrk="1" hangingPunct="1"/>
            <a:endParaRPr lang="en-US" altLang="zh-CN" sz="2600" dirty="0"/>
          </a:p>
          <a:p>
            <a:pPr eaLnBrk="1" hangingPunct="1"/>
            <a:r>
              <a:rPr lang="zh-CN" altLang="en-US" sz="2800" dirty="0"/>
              <a:t>弗雷德里克</a:t>
            </a:r>
            <a:r>
              <a:rPr lang="en-US" altLang="zh-CN" sz="2800" dirty="0"/>
              <a:t>·S·</a:t>
            </a:r>
            <a:r>
              <a:rPr lang="zh-CN" altLang="en-US" sz="2800" dirty="0"/>
              <a:t>米什金著</a:t>
            </a:r>
            <a:r>
              <a:rPr lang="en-US" altLang="zh-CN" sz="2800" dirty="0"/>
              <a:t>, </a:t>
            </a:r>
            <a:r>
              <a:rPr lang="zh-CN" altLang="en-US" sz="2800" dirty="0"/>
              <a:t>郑艳文 </a:t>
            </a:r>
            <a:r>
              <a:rPr lang="en-US" altLang="zh-CN" sz="2800" dirty="0"/>
              <a:t>&amp; </a:t>
            </a:r>
            <a:r>
              <a:rPr lang="zh-CN" altLang="en-US" sz="2800" dirty="0"/>
              <a:t>荆国勇译</a:t>
            </a:r>
            <a:r>
              <a:rPr lang="en-US" altLang="zh-CN" sz="2800" dirty="0"/>
              <a:t>, 2016. </a:t>
            </a:r>
            <a:r>
              <a:rPr lang="zh-CN" altLang="en-US" sz="2800" dirty="0"/>
              <a:t>北京：中国人民大学出版社</a:t>
            </a:r>
            <a:r>
              <a:rPr lang="en-US" altLang="zh-CN" sz="2800" dirty="0"/>
              <a:t>, </a:t>
            </a:r>
            <a:r>
              <a:rPr lang="zh-CN" altLang="en-US" sz="2800" dirty="0"/>
              <a:t>第</a:t>
            </a:r>
            <a:r>
              <a:rPr lang="en-US" altLang="zh-CN" sz="2800" dirty="0"/>
              <a:t>11</a:t>
            </a:r>
            <a:r>
              <a:rPr lang="zh-CN" altLang="en-US" sz="2800" dirty="0"/>
              <a:t>版</a:t>
            </a:r>
            <a:r>
              <a:rPr lang="en-US" altLang="zh-CN" sz="2800" dirty="0" smtClean="0"/>
              <a:t>.</a:t>
            </a:r>
          </a:p>
          <a:p>
            <a:pPr lvl="1" eaLnBrk="1" hangingPunct="1"/>
            <a:r>
              <a:rPr lang="zh-CN" altLang="en-US" sz="2400" dirty="0" smtClean="0"/>
              <a:t>或：最新的英文版第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版（</a:t>
            </a:r>
            <a:r>
              <a:rPr lang="en-US" altLang="zh-CN" sz="2400" dirty="0" smtClean="0"/>
              <a:t>2019</a:t>
            </a:r>
            <a:r>
              <a:rPr lang="zh-CN" altLang="en-US" sz="2400" dirty="0" smtClean="0"/>
              <a:t>年）</a:t>
            </a:r>
            <a:endParaRPr lang="en-US" altLang="zh-CN" sz="2400" dirty="0"/>
          </a:p>
          <a:p>
            <a:pPr eaLnBrk="1" hangingPunct="1"/>
            <a:endParaRPr lang="en-US" altLang="zh-CN" sz="2600" dirty="0"/>
          </a:p>
          <a:p>
            <a:pPr eaLnBrk="1" hangingPunct="1"/>
            <a:r>
              <a:rPr lang="zh-CN" altLang="en-US" dirty="0" smtClean="0">
                <a:solidFill>
                  <a:srgbClr val="FF0000"/>
                </a:solidFill>
              </a:rPr>
              <a:t>参考</a:t>
            </a:r>
            <a:r>
              <a:rPr lang="zh-CN" altLang="en-US" dirty="0">
                <a:solidFill>
                  <a:srgbClr val="FF0000"/>
                </a:solidFill>
              </a:rPr>
              <a:t>教材涉及到大量宏观金融学的内容，大部分同学可以忽略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考核方式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4964112"/>
          </a:xfrm>
        </p:spPr>
        <p:txBody>
          <a:bodyPr/>
          <a:lstStyle/>
          <a:p>
            <a:pPr eaLnBrk="1" hangingPunct="1"/>
            <a:r>
              <a:rPr lang="zh-CN" altLang="en-US" sz="2000" dirty="0"/>
              <a:t>课堂参与 </a:t>
            </a:r>
            <a:r>
              <a:rPr lang="en-US" altLang="zh-CN" sz="2000" dirty="0"/>
              <a:t>(10</a:t>
            </a:r>
            <a:r>
              <a:rPr lang="zh-CN" altLang="en-US" sz="2000" dirty="0"/>
              <a:t>％</a:t>
            </a:r>
            <a:r>
              <a:rPr lang="en-US" altLang="zh-CN" sz="2000" dirty="0"/>
              <a:t>)</a:t>
            </a:r>
          </a:p>
          <a:p>
            <a:pPr eaLnBrk="1" hangingPunct="1"/>
            <a:r>
              <a:rPr lang="zh-CN" altLang="en-US" sz="2000" dirty="0"/>
              <a:t>分组完成的案例作业或小论文</a:t>
            </a:r>
            <a:r>
              <a:rPr lang="en-US" altLang="zh-CN" sz="2000" dirty="0"/>
              <a:t>(40</a:t>
            </a:r>
            <a:r>
              <a:rPr lang="en-US" altLang="zh-CN" sz="2000" dirty="0" smtClean="0"/>
              <a:t>%)</a:t>
            </a:r>
          </a:p>
          <a:p>
            <a:pPr lvl="1" eaLnBrk="1" hangingPunct="1"/>
            <a:r>
              <a:rPr lang="zh-CN" altLang="en-US" sz="1600" dirty="0" smtClean="0"/>
              <a:t>小组成员最低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人，上限视选课总人数待定</a:t>
            </a:r>
            <a:endParaRPr lang="en-US" altLang="zh-CN" sz="1600" dirty="0"/>
          </a:p>
          <a:p>
            <a:pPr eaLnBrk="1" hangingPunct="1"/>
            <a:r>
              <a:rPr lang="zh-CN" altLang="en-US" sz="2000" dirty="0"/>
              <a:t>期末开卷考</a:t>
            </a:r>
            <a:r>
              <a:rPr lang="en-US" altLang="zh-CN" sz="2000" dirty="0"/>
              <a:t>(50</a:t>
            </a:r>
            <a:r>
              <a:rPr lang="zh-CN" altLang="en-US" sz="2000" dirty="0"/>
              <a:t>％</a:t>
            </a:r>
            <a:r>
              <a:rPr lang="en-US" altLang="zh-CN" sz="2000" dirty="0"/>
              <a:t>)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eaLnBrk="1" hangingPunct="1"/>
            <a:endParaRPr lang="en-US" altLang="zh-CN" sz="2000" dirty="0"/>
          </a:p>
          <a:p>
            <a:pPr eaLnBrk="1" hangingPunct="1"/>
            <a:r>
              <a:rPr lang="zh-CN" altLang="en-US" sz="2000" dirty="0"/>
              <a:t>说明</a:t>
            </a:r>
            <a:endParaRPr lang="en-US" altLang="zh-CN" sz="2000" dirty="0"/>
          </a:p>
          <a:p>
            <a:pPr lvl="1" eaLnBrk="1" hangingPunct="1"/>
            <a:r>
              <a:rPr lang="zh-CN" altLang="en-US" sz="2000" dirty="0"/>
              <a:t>考试为开卷考</a:t>
            </a:r>
            <a:endParaRPr lang="en-US" altLang="zh-CN" sz="2000" dirty="0"/>
          </a:p>
          <a:p>
            <a:pPr lvl="2" eaLnBrk="1" hangingPunct="1"/>
            <a:r>
              <a:rPr lang="zh-CN" altLang="en-US" sz="1600" dirty="0"/>
              <a:t>单选题</a:t>
            </a:r>
            <a:r>
              <a:rPr lang="en-US" altLang="zh-CN" sz="1600" dirty="0"/>
              <a:t>60%</a:t>
            </a:r>
            <a:r>
              <a:rPr lang="zh-CN" altLang="en-US" sz="1600" dirty="0"/>
              <a:t>，判断题</a:t>
            </a:r>
            <a:r>
              <a:rPr lang="en-US" altLang="zh-CN" sz="1600" dirty="0"/>
              <a:t>20%</a:t>
            </a:r>
            <a:r>
              <a:rPr lang="zh-CN" altLang="en-US" sz="1600" dirty="0"/>
              <a:t>，计算题</a:t>
            </a:r>
            <a:r>
              <a:rPr lang="en-US" altLang="zh-CN" sz="1600" dirty="0"/>
              <a:t>20%</a:t>
            </a:r>
          </a:p>
          <a:p>
            <a:pPr lvl="1" eaLnBrk="1" hangingPunct="1"/>
            <a:r>
              <a:rPr lang="zh-CN" altLang="en-US" sz="2000" dirty="0" smtClean="0"/>
              <a:t>考题主要来源</a:t>
            </a:r>
            <a:endParaRPr lang="en-US" altLang="zh-CN" sz="2000" dirty="0"/>
          </a:p>
          <a:p>
            <a:pPr lvl="2" eaLnBrk="1" hangingPunct="1"/>
            <a:r>
              <a:rPr lang="zh-CN" altLang="en-US" sz="1600" dirty="0" smtClean="0"/>
              <a:t>常识性金融知识</a:t>
            </a:r>
            <a:endParaRPr lang="en-US" altLang="zh-CN" sz="1600" dirty="0" smtClean="0"/>
          </a:p>
          <a:p>
            <a:pPr lvl="2" eaLnBrk="1" hangingPunct="1"/>
            <a:r>
              <a:rPr lang="zh-CN" altLang="en-US" sz="1600" dirty="0" smtClean="0"/>
              <a:t>正文</a:t>
            </a:r>
            <a:r>
              <a:rPr lang="zh-CN" altLang="en-US" sz="1600" dirty="0"/>
              <a:t>里面的快速检测：教材每章末尾提供了答案</a:t>
            </a:r>
            <a:endParaRPr lang="en-US" altLang="zh-CN" sz="1600" dirty="0"/>
          </a:p>
          <a:p>
            <a:pPr lvl="2" eaLnBrk="1" hangingPunct="1"/>
            <a:r>
              <a:rPr lang="zh-CN" altLang="en-US" sz="1600" dirty="0"/>
              <a:t>每章后面的问题与疑难，答案见“博迪</a:t>
            </a:r>
            <a:r>
              <a:rPr lang="en-US" altLang="zh-CN" sz="1600" dirty="0"/>
              <a:t>《</a:t>
            </a:r>
            <a:r>
              <a:rPr lang="zh-CN" altLang="en-US" sz="1600" dirty="0"/>
              <a:t>金融学</a:t>
            </a:r>
            <a:r>
              <a:rPr lang="en-US" altLang="zh-CN" sz="1600" dirty="0"/>
              <a:t>》</a:t>
            </a:r>
            <a:r>
              <a:rPr lang="zh-CN" altLang="en-US" sz="1600" dirty="0"/>
              <a:t>第</a:t>
            </a:r>
            <a:r>
              <a:rPr lang="en-US" altLang="zh-CN" sz="1600" dirty="0"/>
              <a:t>2</a:t>
            </a:r>
            <a:r>
              <a:rPr lang="zh-CN" altLang="en-US" sz="1600" dirty="0"/>
              <a:t>版笔记和课后习题详解</a:t>
            </a:r>
            <a:r>
              <a:rPr lang="zh-CN" altLang="en-US" sz="1600" dirty="0" smtClean="0"/>
              <a:t>”</a:t>
            </a:r>
            <a:endParaRPr lang="en-US" altLang="zh-CN" sz="1600" dirty="0" smtClean="0"/>
          </a:p>
          <a:p>
            <a:pPr lvl="1" eaLnBrk="1" hangingPunct="1"/>
            <a:r>
              <a:rPr lang="zh-CN" altLang="en-US" sz="2000" b="1" dirty="0" smtClean="0">
                <a:solidFill>
                  <a:srgbClr val="FF0000"/>
                </a:solidFill>
              </a:rPr>
              <a:t>考试时间：</a:t>
            </a:r>
            <a:r>
              <a:rPr lang="zh-CN" altLang="en-US" sz="2000" b="1" dirty="0" smtClean="0">
                <a:solidFill>
                  <a:srgbClr val="0070C0"/>
                </a:solidFill>
              </a:rPr>
              <a:t>最后一次课随堂</a:t>
            </a:r>
            <a:r>
              <a:rPr lang="zh-CN" altLang="en-US" sz="2000" b="1" dirty="0" smtClean="0">
                <a:solidFill>
                  <a:srgbClr val="0070C0"/>
                </a:solidFill>
              </a:rPr>
              <a:t>考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上课内容！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10660"/>
              </p:ext>
            </p:extLst>
          </p:nvPr>
        </p:nvGraphicFramePr>
        <p:xfrm>
          <a:off x="683568" y="1052736"/>
          <a:ext cx="7632848" cy="48516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3908"/>
                <a:gridCol w="3858940"/>
              </a:tblGrid>
              <a:tr h="390169">
                <a:tc>
                  <a:txBody>
                    <a:bodyPr/>
                    <a:lstStyle/>
                    <a:p>
                      <a:pPr indent="152400" algn="ctr"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章（或节）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主要内容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01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第一章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金融学概论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901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第二章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金融市场与金融机构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第三章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财务报表分析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第四章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跨期配置资源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第五章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居民户的储蓄和投资决策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第六章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投资项目分析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第七章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市场估值原理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第八章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固定收益证券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第九章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股票估值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第十章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风险管理的原理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第十一章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对冲、投保和分散化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第十二章</a:t>
                      </a:r>
                      <a:endParaRPr lang="zh-CN" sz="13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投资组合选择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第十三章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资本市场均衡</a:t>
                      </a:r>
                      <a:endParaRPr lang="zh-CN" sz="13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464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300" b="1" kern="100" dirty="0" smtClean="0">
                          <a:solidFill>
                            <a:srgbClr val="FF0000"/>
                          </a:solidFill>
                          <a:effectLst/>
                        </a:rPr>
                        <a:t>最后一次课</a:t>
                      </a:r>
                      <a:endParaRPr lang="zh-CN" altLang="zh-CN" sz="13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300" b="1" kern="100" dirty="0" smtClean="0">
                          <a:solidFill>
                            <a:srgbClr val="FF0000"/>
                          </a:solidFill>
                          <a:effectLst/>
                        </a:rPr>
                        <a:t>期末随堂考</a:t>
                      </a:r>
                      <a:endParaRPr lang="zh-CN" altLang="zh-CN" sz="13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学习本课程希望达到的目标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最低目标</a:t>
            </a:r>
            <a:endParaRPr lang="en-US" altLang="zh-CN" sz="2000" dirty="0"/>
          </a:p>
          <a:p>
            <a:pPr lvl="1"/>
            <a:r>
              <a:rPr lang="zh-CN" altLang="en-US" sz="2000" dirty="0"/>
              <a:t>掌握微观金融学的基础知识</a:t>
            </a:r>
            <a:endParaRPr lang="en-US" altLang="zh-CN" sz="2000" dirty="0"/>
          </a:p>
          <a:p>
            <a:pPr lvl="1"/>
            <a:r>
              <a:rPr lang="zh-CN" altLang="en-US" sz="2000" dirty="0"/>
              <a:t>考试顺利通过，拿到学分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较高目标，学以致用</a:t>
            </a:r>
            <a:endParaRPr lang="en-US" altLang="zh-CN" sz="2000" dirty="0"/>
          </a:p>
          <a:p>
            <a:pPr lvl="1"/>
            <a:r>
              <a:rPr lang="zh-CN" altLang="en-US" sz="2000" dirty="0"/>
              <a:t>掌握一点</a:t>
            </a:r>
            <a:r>
              <a:rPr lang="zh-CN" altLang="en-US" sz="2000" b="1" dirty="0">
                <a:solidFill>
                  <a:srgbClr val="0070C0"/>
                </a:solidFill>
              </a:rPr>
              <a:t>个人</a:t>
            </a:r>
            <a:r>
              <a:rPr lang="zh-CN" altLang="en-US" sz="2000" dirty="0"/>
              <a:t>理财与投资的基本知识</a:t>
            </a:r>
            <a:endParaRPr lang="en-US" altLang="zh-CN" sz="2000" dirty="0"/>
          </a:p>
          <a:p>
            <a:pPr lvl="1"/>
            <a:r>
              <a:rPr lang="zh-CN" altLang="en-US" sz="2000" dirty="0"/>
              <a:t>掌握一点</a:t>
            </a:r>
            <a:r>
              <a:rPr lang="zh-CN" altLang="en-US" sz="2000" b="1" dirty="0">
                <a:solidFill>
                  <a:srgbClr val="0070C0"/>
                </a:solidFill>
              </a:rPr>
              <a:t>家庭</a:t>
            </a:r>
            <a:r>
              <a:rPr lang="zh-CN" altLang="en-US" sz="2000" dirty="0"/>
              <a:t>理财与投资的基本知识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zh-CN" altLang="en-US" sz="2000" dirty="0"/>
              <a:t>很高的目标</a:t>
            </a:r>
            <a:endParaRPr lang="en-US" altLang="zh-CN" sz="2000" dirty="0"/>
          </a:p>
          <a:p>
            <a:pPr lvl="1"/>
            <a:r>
              <a:rPr lang="zh-CN" altLang="en-US" sz="2000" dirty="0"/>
              <a:t>为顺利保研或考研</a:t>
            </a:r>
            <a:r>
              <a:rPr lang="zh-CN" altLang="en-US" sz="2000" dirty="0" smtClean="0"/>
              <a:t>到金融</a:t>
            </a:r>
            <a:r>
              <a:rPr lang="zh-CN" altLang="en-US" sz="2000" dirty="0"/>
              <a:t>专业打下良好</a:t>
            </a:r>
            <a:r>
              <a:rPr lang="zh-CN" altLang="en-US" sz="2000" dirty="0" smtClean="0"/>
              <a:t>基础</a:t>
            </a:r>
            <a:endParaRPr lang="en-US" altLang="zh-CN" sz="2000" dirty="0"/>
          </a:p>
          <a:p>
            <a:pPr lvl="1"/>
            <a:r>
              <a:rPr lang="zh-CN" altLang="en-US" sz="2000" dirty="0"/>
              <a:t>为将来从事金融高端职位（资管</a:t>
            </a:r>
            <a:r>
              <a:rPr lang="en-US" altLang="zh-CN" sz="2000" dirty="0"/>
              <a:t>&amp;</a:t>
            </a:r>
            <a:r>
              <a:rPr lang="zh-CN" altLang="en-US" sz="2000" dirty="0"/>
              <a:t>投行</a:t>
            </a:r>
            <a:r>
              <a:rPr lang="en-US" altLang="zh-CN" sz="2000" dirty="0"/>
              <a:t>&amp;</a:t>
            </a:r>
            <a:r>
              <a:rPr lang="zh-CN" altLang="en-US" sz="2000" dirty="0"/>
              <a:t>监管等）打下良好基础</a:t>
            </a:r>
          </a:p>
        </p:txBody>
      </p:sp>
    </p:spTree>
    <p:extLst>
      <p:ext uri="{BB962C8B-B14F-4D97-AF65-F5344CB8AC3E}">
        <p14:creationId xmlns:p14="http://schemas.microsoft.com/office/powerpoint/2010/main" val="344725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842</TotalTime>
  <Words>513</Words>
  <Application>Microsoft Office PowerPoint</Application>
  <PresentationFormat>全屏显示(4:3)</PresentationFormat>
  <Paragraphs>81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宋体</vt:lpstr>
      <vt:lpstr>Arial</vt:lpstr>
      <vt:lpstr>Calibri</vt:lpstr>
      <vt:lpstr>Times New Roman</vt:lpstr>
      <vt:lpstr>Office 主题</vt:lpstr>
      <vt:lpstr>《金融学基础》课程介绍</vt:lpstr>
      <vt:lpstr>课程联系方式</vt:lpstr>
      <vt:lpstr>教材</vt:lpstr>
      <vt:lpstr>参考教材</vt:lpstr>
      <vt:lpstr>考核方式</vt:lpstr>
      <vt:lpstr>上课内容！</vt:lpstr>
      <vt:lpstr>学习本课程希望达到的目标</vt:lpstr>
    </vt:vector>
  </TitlesOfParts>
  <Company>SM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课程介绍</dc:title>
  <dc:creator>ZHAOJW</dc:creator>
  <cp:lastModifiedBy>Microsoft 帐户</cp:lastModifiedBy>
  <cp:revision>156</cp:revision>
  <dcterms:created xsi:type="dcterms:W3CDTF">2005-09-11T04:34:58Z</dcterms:created>
  <dcterms:modified xsi:type="dcterms:W3CDTF">2026-03-01T15:07:27Z</dcterms:modified>
</cp:coreProperties>
</file>