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xls" ContentType="application/vnd.ms-excel"/>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7" r:id="rId2"/>
    <p:sldId id="372" r:id="rId3"/>
    <p:sldId id="375" r:id="rId4"/>
    <p:sldId id="376" r:id="rId5"/>
    <p:sldId id="377" r:id="rId6"/>
    <p:sldId id="381" r:id="rId7"/>
    <p:sldId id="382" r:id="rId8"/>
    <p:sldId id="383" r:id="rId9"/>
    <p:sldId id="384" r:id="rId10"/>
    <p:sldId id="385" r:id="rId11"/>
    <p:sldId id="338" r:id="rId12"/>
    <p:sldId id="363" r:id="rId13"/>
    <p:sldId id="364" r:id="rId14"/>
    <p:sldId id="365" r:id="rId15"/>
    <p:sldId id="366" r:id="rId16"/>
    <p:sldId id="367" r:id="rId17"/>
    <p:sldId id="339" r:id="rId18"/>
    <p:sldId id="368" r:id="rId19"/>
    <p:sldId id="369" r:id="rId20"/>
    <p:sldId id="370" r:id="rId21"/>
    <p:sldId id="371" r:id="rId22"/>
    <p:sldId id="344" r:id="rId23"/>
    <p:sldId id="258" r:id="rId24"/>
    <p:sldId id="259" r:id="rId25"/>
    <p:sldId id="260" r:id="rId26"/>
    <p:sldId id="261" r:id="rId27"/>
    <p:sldId id="301" r:id="rId28"/>
    <p:sldId id="262" r:id="rId29"/>
    <p:sldId id="331" r:id="rId30"/>
    <p:sldId id="332" r:id="rId31"/>
    <p:sldId id="302" r:id="rId32"/>
    <p:sldId id="264" r:id="rId33"/>
    <p:sldId id="265" r:id="rId34"/>
    <p:sldId id="333" r:id="rId35"/>
    <p:sldId id="334" r:id="rId36"/>
    <p:sldId id="266" r:id="rId37"/>
    <p:sldId id="267" r:id="rId38"/>
    <p:sldId id="335" r:id="rId39"/>
    <p:sldId id="336" r:id="rId40"/>
    <p:sldId id="268" r:id="rId41"/>
    <p:sldId id="326" r:id="rId42"/>
    <p:sldId id="305" r:id="rId43"/>
    <p:sldId id="303" r:id="rId44"/>
    <p:sldId id="270" r:id="rId45"/>
    <p:sldId id="337" r:id="rId46"/>
    <p:sldId id="306" r:id="rId47"/>
    <p:sldId id="307" r:id="rId48"/>
    <p:sldId id="271" r:id="rId49"/>
    <p:sldId id="272" r:id="rId50"/>
    <p:sldId id="378" r:id="rId51"/>
    <p:sldId id="379" r:id="rId52"/>
    <p:sldId id="380" r:id="rId53"/>
    <p:sldId id="308" r:id="rId54"/>
    <p:sldId id="309" r:id="rId55"/>
    <p:sldId id="273" r:id="rId56"/>
    <p:sldId id="274" r:id="rId57"/>
    <p:sldId id="275" r:id="rId58"/>
    <p:sldId id="276" r:id="rId59"/>
    <p:sldId id="277" r:id="rId60"/>
    <p:sldId id="278" r:id="rId61"/>
    <p:sldId id="279" r:id="rId62"/>
    <p:sldId id="310" r:id="rId63"/>
    <p:sldId id="362" r:id="rId64"/>
    <p:sldId id="280" r:id="rId65"/>
    <p:sldId id="312" r:id="rId66"/>
    <p:sldId id="313" r:id="rId67"/>
    <p:sldId id="311" r:id="rId68"/>
    <p:sldId id="281" r:id="rId69"/>
    <p:sldId id="282" r:id="rId70"/>
    <p:sldId id="283" r:id="rId71"/>
    <p:sldId id="315" r:id="rId72"/>
    <p:sldId id="316" r:id="rId73"/>
    <p:sldId id="317" r:id="rId74"/>
    <p:sldId id="318" r:id="rId75"/>
    <p:sldId id="319" r:id="rId76"/>
    <p:sldId id="320" r:id="rId77"/>
    <p:sldId id="323" r:id="rId78"/>
    <p:sldId id="322" r:id="rId79"/>
    <p:sldId id="324" r:id="rId80"/>
    <p:sldId id="287" r:id="rId81"/>
    <p:sldId id="288" r:id="rId82"/>
    <p:sldId id="289" r:id="rId83"/>
    <p:sldId id="290" r:id="rId84"/>
    <p:sldId id="291" r:id="rId85"/>
    <p:sldId id="292" r:id="rId86"/>
    <p:sldId id="350" r:id="rId87"/>
    <p:sldId id="351" r:id="rId88"/>
    <p:sldId id="352" r:id="rId8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13B5-3A85-4AAC-A39E-0C78FB462A0B}" type="datetimeFigureOut">
              <a:rPr lang="zh-CN" altLang="en-US" smtClean="0"/>
              <a:t>2026/5/19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A27A8D-8DEE-40DA-81E7-6E3E940F6E9D}" type="slidenum">
              <a:rPr lang="zh-CN" altLang="en-US" smtClean="0"/>
              <a:t>‹#›</a:t>
            </a:fld>
            <a:endParaRPr lang="zh-CN" altLang="en-US"/>
          </a:p>
        </p:txBody>
      </p:sp>
    </p:spTree>
    <p:extLst>
      <p:ext uri="{BB962C8B-B14F-4D97-AF65-F5344CB8AC3E}">
        <p14:creationId xmlns:p14="http://schemas.microsoft.com/office/powerpoint/2010/main" val="3507258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23F7EB-024B-4416-9699-E9EA766E5DC3}" type="slidenum">
              <a:rPr lang="zh-CN" altLang="en-US"/>
              <a:pPr/>
              <a:t>1</a:t>
            </a:fld>
            <a:endParaRPr lang="en-US" altLang="zh-CN"/>
          </a:p>
        </p:txBody>
      </p:sp>
      <p:sp>
        <p:nvSpPr>
          <p:cNvPr id="6146" name="Rectangle 2"/>
          <p:cNvSpPr>
            <a:spLocks noGrp="1" noRot="1" noChangeAspect="1" noChangeArrowheads="1" noTextEdit="1"/>
          </p:cNvSpPr>
          <p:nvPr>
            <p:ph type="sldImg"/>
          </p:nvPr>
        </p:nvSpPr>
        <p:spPr>
          <a:ln cap="flat"/>
        </p:spPr>
      </p:sp>
      <p:sp>
        <p:nvSpPr>
          <p:cNvPr id="6147"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79060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1AF396-4EF1-462C-9E2F-A6885646FA18}" type="slidenum">
              <a:rPr lang="zh-CN" altLang="en-US"/>
              <a:pPr/>
              <a:t>24</a:t>
            </a:fld>
            <a:endParaRPr lang="en-US" altLang="zh-CN"/>
          </a:p>
        </p:txBody>
      </p:sp>
      <p:sp>
        <p:nvSpPr>
          <p:cNvPr id="10242" name="Rectangle 2"/>
          <p:cNvSpPr>
            <a:spLocks noGrp="1" noRot="1" noChangeAspect="1" noChangeArrowheads="1" noTextEdit="1"/>
          </p:cNvSpPr>
          <p:nvPr>
            <p:ph type="sldImg"/>
          </p:nvPr>
        </p:nvSpPr>
        <p:spPr>
          <a:ln cap="flat"/>
        </p:spPr>
      </p:sp>
      <p:sp>
        <p:nvSpPr>
          <p:cNvPr id="10243"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005479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0212EE-A67E-4691-B2BB-97277622069E}" type="slidenum">
              <a:rPr lang="zh-CN" altLang="en-US"/>
              <a:pPr/>
              <a:t>25</a:t>
            </a:fld>
            <a:endParaRPr lang="en-US" altLang="zh-CN"/>
          </a:p>
        </p:txBody>
      </p:sp>
      <p:sp>
        <p:nvSpPr>
          <p:cNvPr id="72706" name="Rectangle 2"/>
          <p:cNvSpPr>
            <a:spLocks noGrp="1" noRot="1" noChangeAspect="1" noChangeArrowheads="1" noTextEdit="1"/>
          </p:cNvSpPr>
          <p:nvPr>
            <p:ph type="sldImg"/>
          </p:nvPr>
        </p:nvSpPr>
        <p:spPr>
          <a:ln cap="flat"/>
        </p:spPr>
      </p:sp>
      <p:sp>
        <p:nvSpPr>
          <p:cNvPr id="72707"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814306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370170-9D3F-43C7-ACEB-D39FADA0F381}" type="slidenum">
              <a:rPr lang="zh-CN" altLang="en-US"/>
              <a:pPr/>
              <a:t>26</a:t>
            </a:fld>
            <a:endParaRPr lang="en-US" altLang="zh-CN"/>
          </a:p>
        </p:txBody>
      </p:sp>
      <p:sp>
        <p:nvSpPr>
          <p:cNvPr id="70658" name="Rectangle 2"/>
          <p:cNvSpPr>
            <a:spLocks noGrp="1" noRot="1" noChangeAspect="1" noChangeArrowheads="1" noTextEdit="1"/>
          </p:cNvSpPr>
          <p:nvPr>
            <p:ph type="sldImg"/>
          </p:nvPr>
        </p:nvSpPr>
        <p:spPr>
          <a:ln cap="flat"/>
        </p:spPr>
      </p:sp>
      <p:sp>
        <p:nvSpPr>
          <p:cNvPr id="70659"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8392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657A3B-8A86-43D8-A355-74F23E151C57}" type="slidenum">
              <a:rPr lang="zh-CN" altLang="en-US"/>
              <a:pPr/>
              <a:t>28</a:t>
            </a:fld>
            <a:endParaRPr lang="en-US" altLang="zh-CN"/>
          </a:p>
        </p:txBody>
      </p:sp>
      <p:sp>
        <p:nvSpPr>
          <p:cNvPr id="12290" name="Rectangle 2"/>
          <p:cNvSpPr>
            <a:spLocks noGrp="1" noRot="1" noChangeAspect="1" noChangeArrowheads="1" noTextEdit="1"/>
          </p:cNvSpPr>
          <p:nvPr>
            <p:ph type="sldImg"/>
          </p:nvPr>
        </p:nvSpPr>
        <p:spPr>
          <a:ln cap="flat"/>
        </p:spPr>
      </p:sp>
      <p:sp>
        <p:nvSpPr>
          <p:cNvPr id="12291"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28274015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219F4B-DA81-4D9A-98B2-A0D597E0B288}" type="slidenum">
              <a:rPr lang="zh-CN" altLang="en-US"/>
              <a:pPr/>
              <a:t>32</a:t>
            </a:fld>
            <a:endParaRPr lang="en-US" altLang="zh-CN"/>
          </a:p>
        </p:txBody>
      </p:sp>
      <p:sp>
        <p:nvSpPr>
          <p:cNvPr id="16386" name="Rectangle 2"/>
          <p:cNvSpPr>
            <a:spLocks noGrp="1" noRot="1" noChangeAspect="1" noChangeArrowheads="1" noTextEdit="1"/>
          </p:cNvSpPr>
          <p:nvPr>
            <p:ph type="sldImg"/>
          </p:nvPr>
        </p:nvSpPr>
        <p:spPr>
          <a:ln cap="flat"/>
        </p:spPr>
      </p:sp>
      <p:sp>
        <p:nvSpPr>
          <p:cNvPr id="16387"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3317166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38F2A5-7F57-4201-B53E-92FF8AD66511}" type="slidenum">
              <a:rPr lang="zh-CN" altLang="en-US"/>
              <a:pPr/>
              <a:t>33</a:t>
            </a:fld>
            <a:endParaRPr lang="en-US" altLang="zh-CN"/>
          </a:p>
        </p:txBody>
      </p:sp>
      <p:sp>
        <p:nvSpPr>
          <p:cNvPr id="18434" name="Rectangle 2"/>
          <p:cNvSpPr>
            <a:spLocks noGrp="1" noRot="1" noChangeAspect="1" noChangeArrowheads="1" noTextEdit="1"/>
          </p:cNvSpPr>
          <p:nvPr>
            <p:ph type="sldImg"/>
          </p:nvPr>
        </p:nvSpPr>
        <p:spPr>
          <a:ln cap="flat"/>
        </p:spPr>
      </p:sp>
      <p:sp>
        <p:nvSpPr>
          <p:cNvPr id="18435"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464868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81EA4E-76A5-4D5F-B5D3-332749820AC7}" type="slidenum">
              <a:rPr lang="zh-CN" altLang="en-US"/>
              <a:pPr/>
              <a:t>36</a:t>
            </a:fld>
            <a:endParaRPr lang="en-US" altLang="zh-CN"/>
          </a:p>
        </p:txBody>
      </p:sp>
      <p:sp>
        <p:nvSpPr>
          <p:cNvPr id="20482" name="Rectangle 2"/>
          <p:cNvSpPr>
            <a:spLocks noGrp="1" noRot="1" noChangeAspect="1" noChangeArrowheads="1" noTextEdit="1"/>
          </p:cNvSpPr>
          <p:nvPr>
            <p:ph type="sldImg"/>
          </p:nvPr>
        </p:nvSpPr>
        <p:spPr>
          <a:ln cap="flat"/>
        </p:spPr>
      </p:sp>
      <p:sp>
        <p:nvSpPr>
          <p:cNvPr id="20483"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3540072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A166EC-A5E9-4A8A-A746-CCE465079339}" type="slidenum">
              <a:rPr lang="zh-CN" altLang="en-US"/>
              <a:pPr/>
              <a:t>37</a:t>
            </a:fld>
            <a:endParaRPr lang="en-US" altLang="zh-CN"/>
          </a:p>
        </p:txBody>
      </p:sp>
      <p:sp>
        <p:nvSpPr>
          <p:cNvPr id="22530" name="Rectangle 2"/>
          <p:cNvSpPr>
            <a:spLocks noGrp="1" noRot="1" noChangeAspect="1" noChangeArrowheads="1" noTextEdit="1"/>
          </p:cNvSpPr>
          <p:nvPr>
            <p:ph type="sldImg"/>
          </p:nvPr>
        </p:nvSpPr>
        <p:spPr>
          <a:ln cap="flat"/>
        </p:spPr>
      </p:sp>
      <p:sp>
        <p:nvSpPr>
          <p:cNvPr id="22531"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2175950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654F51-F0F4-40A7-B1ED-CFC358296F2A}" type="slidenum">
              <a:rPr lang="zh-CN" altLang="en-US"/>
              <a:pPr/>
              <a:t>40</a:t>
            </a:fld>
            <a:endParaRPr lang="en-US" altLang="zh-CN"/>
          </a:p>
        </p:txBody>
      </p:sp>
      <p:sp>
        <p:nvSpPr>
          <p:cNvPr id="24578" name="Rectangle 2"/>
          <p:cNvSpPr>
            <a:spLocks noGrp="1" noRot="1" noChangeAspect="1" noChangeArrowheads="1" noTextEdit="1"/>
          </p:cNvSpPr>
          <p:nvPr>
            <p:ph type="sldImg"/>
          </p:nvPr>
        </p:nvSpPr>
        <p:spPr>
          <a:ln cap="flat"/>
        </p:spPr>
      </p:sp>
      <p:sp>
        <p:nvSpPr>
          <p:cNvPr id="24579"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634487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9D1BC6-6C6C-4CAD-B6F1-615F01BC4CE4}" type="slidenum">
              <a:rPr lang="en-US" altLang="zh-CN"/>
              <a:pPr/>
              <a:t>47</a:t>
            </a:fld>
            <a:endParaRPr lang="en-US" altLang="zh-CN"/>
          </a:p>
        </p:txBody>
      </p:sp>
      <p:sp>
        <p:nvSpPr>
          <p:cNvPr id="40962" name="Rectangle 2"/>
          <p:cNvSpPr>
            <a:spLocks noGrp="1" noRot="1" noChangeAspect="1" noChangeArrowheads="1" noTextEdit="1"/>
          </p:cNvSpPr>
          <p:nvPr>
            <p:ph type="sldImg"/>
          </p:nvPr>
        </p:nvSpPr>
        <p:spPr>
          <a:ln cap="flat"/>
        </p:spPr>
      </p:sp>
      <p:sp>
        <p:nvSpPr>
          <p:cNvPr id="40963" name="Rectangle 3"/>
          <p:cNvSpPr>
            <a:spLocks noGrp="1" noChangeArrowheads="1"/>
          </p:cNvSpPr>
          <p:nvPr>
            <p:ph type="body" idx="1"/>
          </p:nvPr>
        </p:nvSpPr>
        <p:spPr>
          <a:ln/>
        </p:spPr>
        <p:txBody>
          <a:bodyPr/>
          <a:lstStyle/>
          <a:p>
            <a:endParaRPr lang="zh-CN" altLang="zh-CN"/>
          </a:p>
        </p:txBody>
      </p:sp>
    </p:spTree>
    <p:extLst>
      <p:ext uri="{BB962C8B-B14F-4D97-AF65-F5344CB8AC3E}">
        <p14:creationId xmlns:p14="http://schemas.microsoft.com/office/powerpoint/2010/main" val="117039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722D54-274C-4658-9CEA-676C805EE025}" type="slidenum">
              <a:rPr lang="zh-CN" altLang="en-US"/>
              <a:pPr/>
              <a:t>48</a:t>
            </a:fld>
            <a:endParaRPr lang="en-US" altLang="zh-CN"/>
          </a:p>
        </p:txBody>
      </p:sp>
      <p:sp>
        <p:nvSpPr>
          <p:cNvPr id="43010" name="Rectangle 2"/>
          <p:cNvSpPr>
            <a:spLocks noGrp="1" noRot="1" noChangeAspect="1" noChangeArrowheads="1" noTextEdit="1"/>
          </p:cNvSpPr>
          <p:nvPr>
            <p:ph type="sldImg"/>
          </p:nvPr>
        </p:nvSpPr>
        <p:spPr>
          <a:ln cap="flat"/>
        </p:spPr>
      </p:sp>
      <p:sp>
        <p:nvSpPr>
          <p:cNvPr id="43011"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2685105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A225BC-424C-4147-BC22-39DD835B62C8}" type="slidenum">
              <a:rPr lang="zh-CN" altLang="en-US"/>
              <a:pPr/>
              <a:t>49</a:t>
            </a:fld>
            <a:endParaRPr lang="en-US" altLang="zh-CN"/>
          </a:p>
        </p:txBody>
      </p:sp>
      <p:sp>
        <p:nvSpPr>
          <p:cNvPr id="45058" name="Rectangle 2"/>
          <p:cNvSpPr>
            <a:spLocks noGrp="1" noRot="1" noChangeAspect="1" noChangeArrowheads="1" noTextEdit="1"/>
          </p:cNvSpPr>
          <p:nvPr>
            <p:ph type="sldImg"/>
          </p:nvPr>
        </p:nvSpPr>
        <p:spPr>
          <a:ln cap="flat"/>
        </p:spPr>
      </p:sp>
      <p:sp>
        <p:nvSpPr>
          <p:cNvPr id="45059"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015045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03428B-41E4-42FB-80B1-5001C845E9A5}" type="slidenum">
              <a:rPr lang="zh-CN" altLang="en-US"/>
              <a:pPr/>
              <a:t>55</a:t>
            </a:fld>
            <a:endParaRPr lang="en-US" altLang="zh-CN"/>
          </a:p>
        </p:txBody>
      </p:sp>
      <p:sp>
        <p:nvSpPr>
          <p:cNvPr id="49154" name="Rectangle 2"/>
          <p:cNvSpPr>
            <a:spLocks noGrp="1" noRot="1" noChangeAspect="1" noChangeArrowheads="1" noTextEdit="1"/>
          </p:cNvSpPr>
          <p:nvPr>
            <p:ph type="sldImg"/>
          </p:nvPr>
        </p:nvSpPr>
        <p:spPr>
          <a:ln cap="flat"/>
        </p:spPr>
      </p:sp>
      <p:sp>
        <p:nvSpPr>
          <p:cNvPr id="49155"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2028832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239AE7-6A3F-4387-AC57-464D227B596B}" type="slidenum">
              <a:rPr lang="zh-CN" altLang="en-US"/>
              <a:pPr/>
              <a:t>56</a:t>
            </a:fld>
            <a:endParaRPr lang="en-US" altLang="zh-CN"/>
          </a:p>
        </p:txBody>
      </p:sp>
      <p:sp>
        <p:nvSpPr>
          <p:cNvPr id="51202" name="Rectangle 2"/>
          <p:cNvSpPr>
            <a:spLocks noGrp="1" noRot="1" noChangeAspect="1" noChangeArrowheads="1" noTextEdit="1"/>
          </p:cNvSpPr>
          <p:nvPr>
            <p:ph type="sldImg"/>
          </p:nvPr>
        </p:nvSpPr>
        <p:spPr>
          <a:ln cap="flat"/>
        </p:spPr>
      </p:sp>
      <p:sp>
        <p:nvSpPr>
          <p:cNvPr id="51203"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3349251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5B2B45-AAF6-42D5-9C59-AAD500B8DEA3}" type="slidenum">
              <a:rPr lang="zh-CN" altLang="en-US"/>
              <a:pPr/>
              <a:t>57</a:t>
            </a:fld>
            <a:endParaRPr lang="en-US" altLang="zh-CN"/>
          </a:p>
        </p:txBody>
      </p:sp>
      <p:sp>
        <p:nvSpPr>
          <p:cNvPr id="53250" name="Rectangle 2"/>
          <p:cNvSpPr>
            <a:spLocks noGrp="1" noRot="1" noChangeAspect="1" noChangeArrowheads="1" noTextEdit="1"/>
          </p:cNvSpPr>
          <p:nvPr>
            <p:ph type="sldImg"/>
          </p:nvPr>
        </p:nvSpPr>
        <p:spPr>
          <a:ln cap="flat"/>
        </p:spPr>
      </p:sp>
      <p:sp>
        <p:nvSpPr>
          <p:cNvPr id="53251"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24834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6432B7-9038-48F8-A40A-D9869245ADBD}" type="slidenum">
              <a:rPr lang="zh-CN" altLang="en-US"/>
              <a:pPr/>
              <a:t>58</a:t>
            </a:fld>
            <a:endParaRPr lang="en-US" altLang="zh-CN"/>
          </a:p>
        </p:txBody>
      </p:sp>
      <p:sp>
        <p:nvSpPr>
          <p:cNvPr id="55298" name="Rectangle 2"/>
          <p:cNvSpPr>
            <a:spLocks noGrp="1" noRot="1" noChangeAspect="1" noChangeArrowheads="1" noTextEdit="1"/>
          </p:cNvSpPr>
          <p:nvPr>
            <p:ph type="sldImg"/>
          </p:nvPr>
        </p:nvSpPr>
        <p:spPr>
          <a:ln cap="flat"/>
        </p:spPr>
      </p:sp>
      <p:sp>
        <p:nvSpPr>
          <p:cNvPr id="55299"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8132748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E08C02-679D-45CC-81AA-EDF1BF33E2C5}" type="slidenum">
              <a:rPr lang="zh-CN" altLang="en-US"/>
              <a:pPr/>
              <a:t>59</a:t>
            </a:fld>
            <a:endParaRPr lang="en-US" altLang="zh-CN"/>
          </a:p>
        </p:txBody>
      </p:sp>
      <p:sp>
        <p:nvSpPr>
          <p:cNvPr id="57346" name="Rectangle 2"/>
          <p:cNvSpPr>
            <a:spLocks noGrp="1" noRot="1" noChangeAspect="1" noChangeArrowheads="1" noTextEdit="1"/>
          </p:cNvSpPr>
          <p:nvPr>
            <p:ph type="sldImg"/>
          </p:nvPr>
        </p:nvSpPr>
        <p:spPr>
          <a:ln cap="flat"/>
        </p:spPr>
      </p:sp>
      <p:sp>
        <p:nvSpPr>
          <p:cNvPr id="57347"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1887275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1701F4-DEFD-478B-A1BE-D4D1A25C6F77}" type="slidenum">
              <a:rPr lang="zh-CN" altLang="en-US"/>
              <a:pPr/>
              <a:t>60</a:t>
            </a:fld>
            <a:endParaRPr lang="en-US" altLang="zh-CN"/>
          </a:p>
        </p:txBody>
      </p:sp>
      <p:sp>
        <p:nvSpPr>
          <p:cNvPr id="59394" name="Rectangle 2"/>
          <p:cNvSpPr>
            <a:spLocks noGrp="1" noRot="1" noChangeAspect="1" noChangeArrowheads="1" noTextEdit="1"/>
          </p:cNvSpPr>
          <p:nvPr>
            <p:ph type="sldImg"/>
          </p:nvPr>
        </p:nvSpPr>
        <p:spPr>
          <a:ln cap="flat"/>
        </p:spPr>
      </p:sp>
      <p:sp>
        <p:nvSpPr>
          <p:cNvPr id="59395"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380936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B8B9BD-D2BD-4804-A2FB-05A1C19323C9}" type="slidenum">
              <a:rPr lang="zh-CN" altLang="en-US"/>
              <a:pPr/>
              <a:t>61</a:t>
            </a:fld>
            <a:endParaRPr lang="en-US" altLang="zh-CN"/>
          </a:p>
        </p:txBody>
      </p:sp>
      <p:sp>
        <p:nvSpPr>
          <p:cNvPr id="61442" name="Rectangle 2"/>
          <p:cNvSpPr>
            <a:spLocks noGrp="1" noRot="1" noChangeAspect="1" noChangeArrowheads="1" noTextEdit="1"/>
          </p:cNvSpPr>
          <p:nvPr>
            <p:ph type="sldImg"/>
          </p:nvPr>
        </p:nvSpPr>
        <p:spPr>
          <a:ln cap="flat"/>
        </p:spPr>
      </p:sp>
      <p:sp>
        <p:nvSpPr>
          <p:cNvPr id="61443"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2629527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CF7E7D-EB9E-4DF7-AB69-46B10829C159}" type="slidenum">
              <a:rPr lang="zh-CN" altLang="en-US"/>
              <a:pPr/>
              <a:t>80</a:t>
            </a:fld>
            <a:endParaRPr lang="en-US" altLang="zh-CN"/>
          </a:p>
        </p:txBody>
      </p:sp>
      <p:sp>
        <p:nvSpPr>
          <p:cNvPr id="144386" name="Rectangle 2"/>
          <p:cNvSpPr>
            <a:spLocks noGrp="1" noRot="1" noChangeAspect="1" noChangeArrowheads="1" noTextEdit="1"/>
          </p:cNvSpPr>
          <p:nvPr>
            <p:ph type="sldImg"/>
          </p:nvPr>
        </p:nvSpPr>
        <p:spPr>
          <a:ln cap="flat"/>
        </p:spPr>
      </p:sp>
      <p:sp>
        <p:nvSpPr>
          <p:cNvPr id="144387" name="Rectangle 3"/>
          <p:cNvSpPr>
            <a:spLocks noGrp="1" noChangeArrowheads="1"/>
          </p:cNvSpPr>
          <p:nvPr>
            <p:ph type="body" idx="1"/>
          </p:nvPr>
        </p:nvSpPr>
        <p:spPr>
          <a:ln/>
        </p:spPr>
        <p:txBody>
          <a:bodyPr/>
          <a:lstStyle/>
          <a:p>
            <a:endParaRPr lang="zh-CN" altLang="en-US"/>
          </a:p>
        </p:txBody>
      </p:sp>
    </p:spTree>
    <p:extLst>
      <p:ext uri="{BB962C8B-B14F-4D97-AF65-F5344CB8AC3E}">
        <p14:creationId xmlns:p14="http://schemas.microsoft.com/office/powerpoint/2010/main" val="3222526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4220515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420620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2670271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1256962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940301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3832337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74447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801873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265581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1294784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AF0E606-2664-4BEF-B38F-0039A4216474}" type="datetimeFigureOut">
              <a:rPr lang="zh-CN" altLang="en-US" smtClean="0"/>
              <a:t>2026/5/19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1129336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5" y="214314"/>
            <a:ext cx="10390716" cy="146208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76917" y="2017713"/>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860117" y="2017713"/>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1549400" y="6243638"/>
            <a:ext cx="2540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4876800" y="6243638"/>
            <a:ext cx="38608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389533" y="6243638"/>
            <a:ext cx="2540000" cy="457200"/>
          </a:xfrm>
        </p:spPr>
        <p:txBody>
          <a:bodyPr/>
          <a:lstStyle>
            <a:lvl1pPr>
              <a:defRPr/>
            </a:lvl1pPr>
          </a:lstStyle>
          <a:p>
            <a:fld id="{B8BCC0A6-0DC7-47CD-A80B-1A51066EBEF2}" type="slidenum">
              <a:rPr lang="zh-CN" altLang="en-US"/>
              <a:pPr/>
              <a:t>‹#›</a:t>
            </a:fld>
            <a:endParaRPr lang="en-US" altLang="zh-CN"/>
          </a:p>
        </p:txBody>
      </p:sp>
    </p:spTree>
    <p:extLst>
      <p:ext uri="{BB962C8B-B14F-4D97-AF65-F5344CB8AC3E}">
        <p14:creationId xmlns:p14="http://schemas.microsoft.com/office/powerpoint/2010/main" val="113530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F0E606-2664-4BEF-B38F-0039A4216474}" type="datetimeFigureOut">
              <a:rPr lang="zh-CN" altLang="en-US" smtClean="0"/>
              <a:t>2026/5/19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3A337-0D1D-49CC-8C6F-6903561B2D46}" type="slidenum">
              <a:rPr lang="zh-CN" altLang="en-US" smtClean="0"/>
              <a:t>‹#›</a:t>
            </a:fld>
            <a:endParaRPr lang="zh-CN" altLang="en-US"/>
          </a:p>
        </p:txBody>
      </p:sp>
    </p:spTree>
    <p:extLst>
      <p:ext uri="{BB962C8B-B14F-4D97-AF65-F5344CB8AC3E}">
        <p14:creationId xmlns:p14="http://schemas.microsoft.com/office/powerpoint/2010/main" val="655904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9.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1.wmf"/><Relationship Id="rId4"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2.wmf"/><Relationship Id="rId4"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4.wmf"/><Relationship Id="rId4" Type="http://schemas.openxmlformats.org/officeDocument/2006/relationships/oleObject" Target="../embeddings/oleObject3.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5.wmf"/><Relationship Id="rId4"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6.wmf"/><Relationship Id="rId4" Type="http://schemas.openxmlformats.org/officeDocument/2006/relationships/oleObject" Target="../embeddings/oleObject5.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7.wmf"/><Relationship Id="rId4" Type="http://schemas.openxmlformats.org/officeDocument/2006/relationships/oleObject" Target="../embeddings/oleObject6.bin"/></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8.wmf"/><Relationship Id="rId4" Type="http://schemas.openxmlformats.org/officeDocument/2006/relationships/oleObject" Target="../embeddings/oleObject7.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9.wmf"/><Relationship Id="rId4" Type="http://schemas.openxmlformats.org/officeDocument/2006/relationships/oleObject" Target="../embeddings/oleObject8.bin"/></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31.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32.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Microsoft_Excel_97-2003____1.xls"/><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33.e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12.vml"/><Relationship Id="rId4" Type="http://schemas.openxmlformats.org/officeDocument/2006/relationships/image" Target="../media/image39.wm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6"/>
          <p:cNvSpPr>
            <a:spLocks noGrp="1" noChangeArrowheads="1"/>
          </p:cNvSpPr>
          <p:nvPr>
            <p:ph type="sldNum" sz="quarter" idx="4294967295"/>
          </p:nvPr>
        </p:nvSpPr>
        <p:spPr>
          <a:xfrm>
            <a:off x="8382000" y="6248400"/>
            <a:ext cx="1905000" cy="457200"/>
          </a:xfrm>
          <a:prstGeom prst="rect">
            <a:avLst/>
          </a:prstGeom>
        </p:spPr>
        <p:txBody>
          <a:bodyPr/>
          <a:lstStyle/>
          <a:p>
            <a:fld id="{45F165B5-B72B-4C1F-BBBF-5207086F5B6F}" type="slidenum">
              <a:rPr lang="zh-CN" altLang="en-US"/>
              <a:pPr/>
              <a:t>1</a:t>
            </a:fld>
            <a:endParaRPr lang="en-US" altLang="zh-CN"/>
          </a:p>
        </p:txBody>
      </p:sp>
      <p:sp>
        <p:nvSpPr>
          <p:cNvPr id="5122" name="Rectangle 2"/>
          <p:cNvSpPr>
            <a:spLocks noGrp="1" noChangeArrowheads="1"/>
          </p:cNvSpPr>
          <p:nvPr>
            <p:ph type="ctrTitle"/>
          </p:nvPr>
        </p:nvSpPr>
        <p:spPr>
          <a:xfrm>
            <a:off x="2286000" y="1143000"/>
            <a:ext cx="7924800" cy="1600200"/>
          </a:xfrm>
          <a:noFill/>
          <a:ln/>
        </p:spPr>
        <p:txBody>
          <a:bodyPr vert="horz" lIns="92075" tIns="46038" rIns="92075" bIns="46038" rtlCol="0" anchor="ctr">
            <a:normAutofit/>
          </a:bodyPr>
          <a:lstStyle/>
          <a:p>
            <a:r>
              <a:rPr lang="zh-CN" altLang="en-US" sz="5100" dirty="0" smtClean="0"/>
              <a:t>第</a:t>
            </a:r>
            <a:r>
              <a:rPr lang="en-US" altLang="zh-CN" sz="5100" dirty="0" smtClean="0"/>
              <a:t>13</a:t>
            </a:r>
            <a:r>
              <a:rPr lang="zh-CN" altLang="en-US" sz="5100" dirty="0" smtClean="0"/>
              <a:t>次课</a:t>
            </a:r>
            <a:r>
              <a:rPr lang="en-US" altLang="zh-CN" sz="5100" dirty="0" smtClean="0"/>
              <a:t/>
            </a:r>
            <a:br>
              <a:rPr lang="en-US" altLang="zh-CN" sz="5100" dirty="0" smtClean="0"/>
            </a:br>
            <a:r>
              <a:rPr lang="zh-CN" altLang="en-US" sz="5100" dirty="0" smtClean="0"/>
              <a:t>第３</a:t>
            </a:r>
            <a:r>
              <a:rPr lang="zh-CN" altLang="en-US" sz="5100" dirty="0"/>
              <a:t>章 </a:t>
            </a:r>
            <a:r>
              <a:rPr lang="zh-CN" altLang="en-US" sz="5100" dirty="0" smtClean="0"/>
              <a:t>财务报表分析</a:t>
            </a:r>
            <a:endParaRPr lang="en-US" altLang="zh-CN" sz="5100" dirty="0"/>
          </a:p>
        </p:txBody>
      </p:sp>
      <p:sp>
        <p:nvSpPr>
          <p:cNvPr id="5123" name="Rectangle 3"/>
          <p:cNvSpPr>
            <a:spLocks noChangeArrowheads="1"/>
          </p:cNvSpPr>
          <p:nvPr/>
        </p:nvSpPr>
        <p:spPr bwMode="auto">
          <a:xfrm>
            <a:off x="1981200" y="6545264"/>
            <a:ext cx="6400800"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altLang="zh-CN" sz="1400">
                <a:solidFill>
                  <a:srgbClr val="FFFFFF"/>
                </a:solidFill>
              </a:rPr>
              <a:t>Copyright © Prentice Hall Inc. 2000.  Author: Nick Bagley,  bdellaSoft, Inc.</a:t>
            </a:r>
          </a:p>
        </p:txBody>
      </p:sp>
    </p:spTree>
    <p:extLst>
      <p:ext uri="{BB962C8B-B14F-4D97-AF65-F5344CB8AC3E}">
        <p14:creationId xmlns:p14="http://schemas.microsoft.com/office/powerpoint/2010/main" val="25791446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财务报表分析要注意的问题</a:t>
            </a:r>
            <a:endParaRPr lang="zh-CN" altLang="en-US" dirty="0"/>
          </a:p>
        </p:txBody>
      </p:sp>
      <p:sp>
        <p:nvSpPr>
          <p:cNvPr id="3" name="内容占位符 2"/>
          <p:cNvSpPr>
            <a:spLocks noGrp="1"/>
          </p:cNvSpPr>
          <p:nvPr>
            <p:ph idx="1"/>
          </p:nvPr>
        </p:nvSpPr>
        <p:spPr/>
        <p:txBody>
          <a:bodyPr/>
          <a:lstStyle/>
          <a:p>
            <a:r>
              <a:rPr lang="zh-CN" altLang="en-US" dirty="0" smtClean="0"/>
              <a:t>第一，不能仅仅关注几张报表，更应该关注行业基本面、公司基本面</a:t>
            </a:r>
            <a:endParaRPr lang="en-US" altLang="zh-CN" dirty="0" smtClean="0"/>
          </a:p>
          <a:p>
            <a:endParaRPr lang="en-US" altLang="zh-CN" dirty="0"/>
          </a:p>
          <a:p>
            <a:r>
              <a:rPr lang="zh-CN" altLang="en-US" dirty="0" smtClean="0"/>
              <a:t>第</a:t>
            </a:r>
            <a:r>
              <a:rPr lang="zh-CN" altLang="en-US" dirty="0"/>
              <a:t>二</a:t>
            </a:r>
            <a:r>
              <a:rPr lang="zh-CN" altLang="en-US" dirty="0" smtClean="0"/>
              <a:t>，</a:t>
            </a:r>
            <a:r>
              <a:rPr lang="zh-CN" altLang="en-US" dirty="0"/>
              <a:t>公司对外发布的财务报表本身就具有局限性</a:t>
            </a:r>
            <a:endParaRPr lang="en-US" altLang="zh-CN" dirty="0"/>
          </a:p>
          <a:p>
            <a:pPr lvl="1"/>
            <a:r>
              <a:rPr lang="zh-CN" altLang="en-US" dirty="0"/>
              <a:t>以历史成本计量属性为主，历史成本与市场价值可能相关性低</a:t>
            </a:r>
            <a:endParaRPr lang="en-US" altLang="zh-CN" dirty="0"/>
          </a:p>
          <a:p>
            <a:endParaRPr lang="en-US" altLang="zh-CN" dirty="0"/>
          </a:p>
          <a:p>
            <a:r>
              <a:rPr lang="zh-CN" altLang="en-US" dirty="0" smtClean="0"/>
              <a:t>第三，</a:t>
            </a:r>
            <a:r>
              <a:rPr lang="zh-CN" altLang="en-US" dirty="0"/>
              <a:t>财务报表数据可能被操纵，甚至可能彻底造假</a:t>
            </a:r>
            <a:endParaRPr lang="en-US" altLang="zh-CN" dirty="0"/>
          </a:p>
          <a:p>
            <a:pPr lvl="1"/>
            <a:r>
              <a:rPr lang="zh-CN" altLang="en-US" dirty="0"/>
              <a:t>美国：安然、世通、两房</a:t>
            </a:r>
            <a:endParaRPr lang="en-US" altLang="zh-CN" dirty="0"/>
          </a:p>
          <a:p>
            <a:pPr lvl="1"/>
            <a:r>
              <a:rPr lang="zh-CN" altLang="en-US" dirty="0"/>
              <a:t>中国：獐子岛、蓝田股份、瑞幸咖啡</a:t>
            </a:r>
          </a:p>
          <a:p>
            <a:endParaRPr lang="zh-CN" altLang="en-US" dirty="0"/>
          </a:p>
        </p:txBody>
      </p:sp>
    </p:spTree>
    <p:extLst>
      <p:ext uri="{BB962C8B-B14F-4D97-AF65-F5344CB8AC3E}">
        <p14:creationId xmlns:p14="http://schemas.microsoft.com/office/powerpoint/2010/main" val="26207563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38200" y="365125"/>
            <a:ext cx="10515600" cy="1752433"/>
          </a:xfrm>
        </p:spPr>
        <p:txBody>
          <a:bodyPr>
            <a:normAutofit/>
          </a:bodyPr>
          <a:lstStyle/>
          <a:p>
            <a:r>
              <a:rPr lang="zh-CN" altLang="en-US" sz="2500" b="1" dirty="0" smtClean="0">
                <a:solidFill>
                  <a:srgbClr val="FF0000"/>
                </a:solidFill>
              </a:rPr>
              <a:t>康得新财务造假</a:t>
            </a:r>
            <a:r>
              <a:rPr lang="zh-CN" altLang="en-US" sz="2000" dirty="0" smtClean="0"/>
              <a:t>：</a:t>
            </a:r>
            <a:r>
              <a:rPr lang="en-US" altLang="zh-CN" sz="2000" dirty="0" smtClean="0"/>
              <a:t>2015</a:t>
            </a:r>
            <a:r>
              <a:rPr lang="zh-CN" altLang="en-US" sz="2000" dirty="0"/>
              <a:t>年</a:t>
            </a:r>
            <a:r>
              <a:rPr lang="en-US" altLang="zh-CN" sz="2000" dirty="0"/>
              <a:t>1</a:t>
            </a:r>
            <a:r>
              <a:rPr lang="zh-CN" altLang="en-US" sz="2000" dirty="0"/>
              <a:t>月至</a:t>
            </a:r>
            <a:r>
              <a:rPr lang="en-US" altLang="zh-CN" sz="2000" dirty="0"/>
              <a:t>2018</a:t>
            </a:r>
            <a:r>
              <a:rPr lang="zh-CN" altLang="en-US" sz="2000" dirty="0"/>
              <a:t>年</a:t>
            </a:r>
            <a:r>
              <a:rPr lang="en-US" altLang="zh-CN" sz="2000" dirty="0"/>
              <a:t>12</a:t>
            </a:r>
            <a:r>
              <a:rPr lang="zh-CN" altLang="en-US" sz="2000" dirty="0"/>
              <a:t>月，康得新通过</a:t>
            </a:r>
            <a:r>
              <a:rPr lang="zh-CN" altLang="en-US" sz="2000" b="1" dirty="0"/>
              <a:t>虚构销售业务方式虚增营业收入</a:t>
            </a:r>
            <a:r>
              <a:rPr lang="zh-CN" altLang="en-US" sz="2000" dirty="0"/>
              <a:t>，并通过</a:t>
            </a:r>
            <a:r>
              <a:rPr lang="zh-CN" altLang="en-US" sz="2000" b="1" dirty="0"/>
              <a:t>虚构采购</a:t>
            </a:r>
            <a:r>
              <a:rPr lang="zh-CN" altLang="en-US" sz="2000" dirty="0"/>
              <a:t>、</a:t>
            </a:r>
            <a:r>
              <a:rPr lang="zh-CN" altLang="en-US" sz="2000" b="1" dirty="0"/>
              <a:t>生产</a:t>
            </a:r>
            <a:r>
              <a:rPr lang="zh-CN" altLang="en-US" sz="2000" dirty="0"/>
              <a:t>、</a:t>
            </a:r>
            <a:r>
              <a:rPr lang="zh-CN" altLang="en-US" sz="2000" b="1" dirty="0"/>
              <a:t>研发费用</a:t>
            </a:r>
            <a:r>
              <a:rPr lang="zh-CN" altLang="en-US" sz="2000" dirty="0"/>
              <a:t>、</a:t>
            </a:r>
            <a:r>
              <a:rPr lang="zh-CN" altLang="en-US" sz="2000" b="1" dirty="0"/>
              <a:t>产品运输费用</a:t>
            </a:r>
            <a:r>
              <a:rPr lang="zh-CN" altLang="en-US" sz="2000" dirty="0"/>
              <a:t>方式虚增营业成本、研发费用和销售费用。通过上述方式，康得新</a:t>
            </a:r>
            <a:r>
              <a:rPr lang="en-US" altLang="zh-CN" sz="2000" dirty="0"/>
              <a:t>2015</a:t>
            </a:r>
            <a:r>
              <a:rPr lang="zh-CN" altLang="en-US" sz="2000" dirty="0"/>
              <a:t>年至</a:t>
            </a:r>
            <a:r>
              <a:rPr lang="en-US" altLang="zh-CN" sz="2000" dirty="0"/>
              <a:t>2018</a:t>
            </a:r>
            <a:r>
              <a:rPr lang="zh-CN" altLang="en-US" sz="2000" dirty="0"/>
              <a:t>年分别虚增利润总额</a:t>
            </a:r>
            <a:r>
              <a:rPr lang="en-US" altLang="zh-CN" sz="2000" dirty="0"/>
              <a:t>23.81</a:t>
            </a:r>
            <a:r>
              <a:rPr lang="zh-CN" altLang="en-US" sz="2000" dirty="0"/>
              <a:t>亿元、</a:t>
            </a:r>
            <a:r>
              <a:rPr lang="en-US" altLang="zh-CN" sz="2000" dirty="0"/>
              <a:t>30.89</a:t>
            </a:r>
            <a:r>
              <a:rPr lang="zh-CN" altLang="en-US" sz="2000" dirty="0"/>
              <a:t>亿元、</a:t>
            </a:r>
            <a:r>
              <a:rPr lang="en-US" altLang="zh-CN" sz="2000" dirty="0"/>
              <a:t>39.74</a:t>
            </a:r>
            <a:r>
              <a:rPr lang="zh-CN" altLang="en-US" sz="2000" dirty="0"/>
              <a:t>亿元和</a:t>
            </a:r>
            <a:r>
              <a:rPr lang="en-US" altLang="zh-CN" sz="2000" dirty="0"/>
              <a:t>24.77</a:t>
            </a:r>
            <a:r>
              <a:rPr lang="zh-CN" altLang="en-US" sz="2000" dirty="0"/>
              <a:t>亿元，在这四年里累计虚增利润总额</a:t>
            </a:r>
            <a:r>
              <a:rPr lang="en-US" altLang="zh-CN" sz="2000" dirty="0"/>
              <a:t>119.21</a:t>
            </a:r>
            <a:r>
              <a:rPr lang="zh-CN" altLang="en-US" sz="2000" dirty="0"/>
              <a:t>亿元。</a:t>
            </a:r>
          </a:p>
        </p:txBody>
      </p:sp>
      <p:pic>
        <p:nvPicPr>
          <p:cNvPr id="5" name="图片 4"/>
          <p:cNvPicPr>
            <a:picLocks noChangeAspect="1"/>
          </p:cNvPicPr>
          <p:nvPr/>
        </p:nvPicPr>
        <p:blipFill>
          <a:blip r:embed="rId2"/>
          <a:stretch>
            <a:fillRect/>
          </a:stretch>
        </p:blipFill>
        <p:spPr>
          <a:xfrm>
            <a:off x="616018" y="2338939"/>
            <a:ext cx="10915048" cy="4215865"/>
          </a:xfrm>
          <a:prstGeom prst="rect">
            <a:avLst/>
          </a:prstGeom>
        </p:spPr>
      </p:pic>
    </p:spTree>
    <p:extLst>
      <p:ext uri="{BB962C8B-B14F-4D97-AF65-F5344CB8AC3E}">
        <p14:creationId xmlns:p14="http://schemas.microsoft.com/office/powerpoint/2010/main" val="13439365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936041" y="693018"/>
            <a:ext cx="3932237" cy="815741"/>
          </a:xfrm>
        </p:spPr>
        <p:txBody>
          <a:bodyPr/>
          <a:lstStyle/>
          <a:p>
            <a:r>
              <a:rPr lang="zh-CN" altLang="en-US" dirty="0" smtClean="0"/>
              <a:t>乐视网十年财务造假</a:t>
            </a:r>
            <a:endParaRPr lang="zh-CN" altLang="en-US" dirty="0"/>
          </a:p>
        </p:txBody>
      </p:sp>
      <p:sp>
        <p:nvSpPr>
          <p:cNvPr id="6" name="文本占位符 5"/>
          <p:cNvSpPr>
            <a:spLocks noGrp="1"/>
          </p:cNvSpPr>
          <p:nvPr>
            <p:ph type="body" sz="half" idx="2"/>
          </p:nvPr>
        </p:nvSpPr>
        <p:spPr>
          <a:xfrm>
            <a:off x="839788" y="2057400"/>
            <a:ext cx="4473357" cy="3255745"/>
          </a:xfrm>
        </p:spPr>
        <p:txBody>
          <a:bodyPr/>
          <a:lstStyle/>
          <a:p>
            <a:r>
              <a:rPr lang="zh-CN" altLang="en-US" dirty="0"/>
              <a:t>经查明</a:t>
            </a:r>
            <a:r>
              <a:rPr lang="zh-CN" altLang="en-US" dirty="0" smtClean="0"/>
              <a:t>，</a:t>
            </a:r>
            <a:r>
              <a:rPr lang="en-US" altLang="zh-CN" dirty="0" smtClean="0"/>
              <a:t>2007-2016</a:t>
            </a:r>
            <a:r>
              <a:rPr lang="zh-CN" altLang="en-US" dirty="0" smtClean="0"/>
              <a:t>年间，乐</a:t>
            </a:r>
            <a:r>
              <a:rPr lang="zh-CN" altLang="en-US" dirty="0"/>
              <a:t>视网、贾跃亭等存在以下违法</a:t>
            </a:r>
            <a:r>
              <a:rPr lang="zh-CN" altLang="en-US" dirty="0" smtClean="0"/>
              <a:t>事实：</a:t>
            </a:r>
            <a:endParaRPr lang="en-US" altLang="zh-CN" dirty="0" smtClean="0"/>
          </a:p>
          <a:p>
            <a:r>
              <a:rPr lang="zh-CN" altLang="en-US" dirty="0" smtClean="0"/>
              <a:t>一</a:t>
            </a:r>
            <a:r>
              <a:rPr lang="zh-CN" altLang="en-US" dirty="0"/>
              <a:t>是乐视网财务造假和虚假记载</a:t>
            </a:r>
            <a:r>
              <a:rPr lang="zh-CN" altLang="en-US" dirty="0" smtClean="0"/>
              <a:t>。</a:t>
            </a:r>
            <a:endParaRPr lang="en-US" altLang="zh-CN" dirty="0" smtClean="0"/>
          </a:p>
          <a:p>
            <a:r>
              <a:rPr lang="zh-CN" altLang="en-US" dirty="0" smtClean="0"/>
              <a:t>二</a:t>
            </a:r>
            <a:r>
              <a:rPr lang="zh-CN" altLang="en-US" dirty="0"/>
              <a:t>是乐视网未按规定披露关联交易</a:t>
            </a:r>
            <a:r>
              <a:rPr lang="zh-CN" altLang="en-US" dirty="0" smtClean="0"/>
              <a:t>。</a:t>
            </a:r>
            <a:endParaRPr lang="en-US" altLang="zh-CN" dirty="0" smtClean="0"/>
          </a:p>
          <a:p>
            <a:r>
              <a:rPr lang="zh-CN" altLang="en-US" dirty="0" smtClean="0"/>
              <a:t>三</a:t>
            </a:r>
            <a:r>
              <a:rPr lang="zh-CN" altLang="en-US" dirty="0"/>
              <a:t>是乐视网未披露为乐视控股等公司提供担保事项</a:t>
            </a:r>
            <a:r>
              <a:rPr lang="zh-CN" altLang="en-US" dirty="0" smtClean="0"/>
              <a:t>。</a:t>
            </a:r>
            <a:endParaRPr lang="en-US" altLang="zh-CN" dirty="0" smtClean="0"/>
          </a:p>
          <a:p>
            <a:r>
              <a:rPr lang="zh-CN" altLang="en-US" dirty="0" smtClean="0"/>
              <a:t>四</a:t>
            </a:r>
            <a:r>
              <a:rPr lang="zh-CN" altLang="en-US" dirty="0"/>
              <a:t>是乐视网未如实披露贾某芳、贾跃亭向上市公司履行借款承诺的情况</a:t>
            </a:r>
            <a:r>
              <a:rPr lang="zh-CN" altLang="en-US" dirty="0" smtClean="0"/>
              <a:t>。</a:t>
            </a:r>
            <a:endParaRPr lang="en-US" altLang="zh-CN" dirty="0" smtClean="0"/>
          </a:p>
          <a:p>
            <a:r>
              <a:rPr lang="zh-CN" altLang="en-US" dirty="0" smtClean="0"/>
              <a:t>五</a:t>
            </a:r>
            <a:r>
              <a:rPr lang="zh-CN" altLang="en-US" dirty="0"/>
              <a:t>是乐视网</a:t>
            </a:r>
            <a:r>
              <a:rPr lang="en-US" altLang="zh-CN" dirty="0"/>
              <a:t>2016</a:t>
            </a:r>
            <a:r>
              <a:rPr lang="zh-CN" altLang="en-US" dirty="0"/>
              <a:t>年非公开发行股票行为构成欺诈发行。</a:t>
            </a:r>
          </a:p>
        </p:txBody>
      </p:sp>
      <p:pic>
        <p:nvPicPr>
          <p:cNvPr id="9" name="图片 8"/>
          <p:cNvPicPr>
            <a:picLocks noChangeAspect="1"/>
          </p:cNvPicPr>
          <p:nvPr/>
        </p:nvPicPr>
        <p:blipFill>
          <a:blip r:embed="rId2"/>
          <a:stretch>
            <a:fillRect/>
          </a:stretch>
        </p:blipFill>
        <p:spPr>
          <a:xfrm>
            <a:off x="6006165" y="857883"/>
            <a:ext cx="5388768" cy="5215657"/>
          </a:xfrm>
          <a:prstGeom prst="rect">
            <a:avLst/>
          </a:prstGeom>
        </p:spPr>
      </p:pic>
    </p:spTree>
    <p:extLst>
      <p:ext uri="{BB962C8B-B14F-4D97-AF65-F5344CB8AC3E}">
        <p14:creationId xmlns:p14="http://schemas.microsoft.com/office/powerpoint/2010/main" val="40100271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00506" y="577517"/>
            <a:ext cx="10863182" cy="5496024"/>
          </a:xfrm>
          <a:prstGeom prst="rect">
            <a:avLst/>
          </a:prstGeom>
        </p:spPr>
      </p:pic>
    </p:spTree>
    <p:extLst>
      <p:ext uri="{BB962C8B-B14F-4D97-AF65-F5344CB8AC3E}">
        <p14:creationId xmlns:p14="http://schemas.microsoft.com/office/powerpoint/2010/main" val="23157031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浑水公司如何识别瑞幸咖啡财务欺诈？</a:t>
            </a:r>
            <a:endParaRPr lang="zh-CN" altLang="en-US" dirty="0"/>
          </a:p>
        </p:txBody>
      </p:sp>
      <p:sp>
        <p:nvSpPr>
          <p:cNvPr id="3" name="内容占位符 2"/>
          <p:cNvSpPr>
            <a:spLocks noGrp="1"/>
          </p:cNvSpPr>
          <p:nvPr>
            <p:ph idx="1"/>
          </p:nvPr>
        </p:nvSpPr>
        <p:spPr/>
        <p:txBody>
          <a:bodyPr/>
          <a:lstStyle/>
          <a:p>
            <a:r>
              <a:rPr lang="zh-CN" altLang="en-US" dirty="0" smtClean="0"/>
              <a:t>雇佣大量人工去瑞幸咖啡门店调研、录制视频等</a:t>
            </a:r>
            <a:endParaRPr lang="zh-CN" altLang="en-US" dirty="0"/>
          </a:p>
        </p:txBody>
      </p:sp>
    </p:spTree>
    <p:extLst>
      <p:ext uri="{BB962C8B-B14F-4D97-AF65-F5344CB8AC3E}">
        <p14:creationId xmlns:p14="http://schemas.microsoft.com/office/powerpoint/2010/main" val="200775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0192" y="95617"/>
            <a:ext cx="10515600" cy="866909"/>
          </a:xfrm>
        </p:spPr>
        <p:txBody>
          <a:bodyPr/>
          <a:lstStyle/>
          <a:p>
            <a:pPr algn="ctr"/>
            <a:r>
              <a:rPr lang="zh-CN" altLang="en-US" dirty="0" smtClean="0"/>
              <a:t>欺诈的证据</a:t>
            </a:r>
            <a:endParaRPr lang="zh-CN" altLang="en-US" dirty="0"/>
          </a:p>
        </p:txBody>
      </p:sp>
      <p:pic>
        <p:nvPicPr>
          <p:cNvPr id="4" name="图片 3"/>
          <p:cNvPicPr>
            <a:picLocks noChangeAspect="1"/>
          </p:cNvPicPr>
          <p:nvPr/>
        </p:nvPicPr>
        <p:blipFill>
          <a:blip r:embed="rId2"/>
          <a:stretch>
            <a:fillRect/>
          </a:stretch>
        </p:blipFill>
        <p:spPr>
          <a:xfrm>
            <a:off x="186577" y="1039529"/>
            <a:ext cx="11671748" cy="5592277"/>
          </a:xfrm>
          <a:prstGeom prst="rect">
            <a:avLst/>
          </a:prstGeom>
        </p:spPr>
      </p:pic>
    </p:spTree>
    <p:extLst>
      <p:ext uri="{BB962C8B-B14F-4D97-AF65-F5344CB8AC3E}">
        <p14:creationId xmlns:p14="http://schemas.microsoft.com/office/powerpoint/2010/main" val="3113744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05410"/>
          </a:xfrm>
        </p:spPr>
        <p:txBody>
          <a:bodyPr/>
          <a:lstStyle/>
          <a:p>
            <a:pPr algn="ctr"/>
            <a:r>
              <a:rPr lang="zh-CN" altLang="en-US" dirty="0" smtClean="0"/>
              <a:t>欺诈的信号</a:t>
            </a:r>
            <a:endParaRPr lang="zh-CN" altLang="en-US" dirty="0"/>
          </a:p>
        </p:txBody>
      </p:sp>
      <p:pic>
        <p:nvPicPr>
          <p:cNvPr id="3" name="图片 2"/>
          <p:cNvPicPr>
            <a:picLocks noChangeAspect="1"/>
          </p:cNvPicPr>
          <p:nvPr/>
        </p:nvPicPr>
        <p:blipFill>
          <a:blip r:embed="rId2"/>
          <a:stretch>
            <a:fillRect/>
          </a:stretch>
        </p:blipFill>
        <p:spPr>
          <a:xfrm>
            <a:off x="962526" y="1270535"/>
            <a:ext cx="10193154" cy="3445843"/>
          </a:xfrm>
          <a:prstGeom prst="rect">
            <a:avLst/>
          </a:prstGeom>
        </p:spPr>
      </p:pic>
      <p:pic>
        <p:nvPicPr>
          <p:cNvPr id="4" name="图片 3"/>
          <p:cNvPicPr>
            <a:picLocks noChangeAspect="1"/>
          </p:cNvPicPr>
          <p:nvPr/>
        </p:nvPicPr>
        <p:blipFill>
          <a:blip r:embed="rId3"/>
          <a:stretch>
            <a:fillRect/>
          </a:stretch>
        </p:blipFill>
        <p:spPr>
          <a:xfrm>
            <a:off x="1029903" y="4892829"/>
            <a:ext cx="10193154" cy="1710101"/>
          </a:xfrm>
          <a:prstGeom prst="rect">
            <a:avLst/>
          </a:prstGeom>
        </p:spPr>
      </p:pic>
    </p:spTree>
    <p:extLst>
      <p:ext uri="{BB962C8B-B14F-4D97-AF65-F5344CB8AC3E}">
        <p14:creationId xmlns:p14="http://schemas.microsoft.com/office/powerpoint/2010/main" val="2847555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069039"/>
          </a:xfrm>
        </p:spPr>
        <p:txBody>
          <a:bodyPr>
            <a:normAutofit/>
          </a:bodyPr>
          <a:lstStyle/>
          <a:p>
            <a:pPr algn="ctr"/>
            <a:r>
              <a:rPr lang="zh-CN" altLang="en-US" sz="4000" dirty="0" smtClean="0"/>
              <a:t>欺诈的内在原因：商业模式存在根本性缺陷</a:t>
            </a:r>
            <a:endParaRPr lang="zh-CN" altLang="en-US" sz="4000" dirty="0"/>
          </a:p>
        </p:txBody>
      </p:sp>
      <p:pic>
        <p:nvPicPr>
          <p:cNvPr id="3" name="图片 2"/>
          <p:cNvPicPr>
            <a:picLocks noChangeAspect="1"/>
          </p:cNvPicPr>
          <p:nvPr/>
        </p:nvPicPr>
        <p:blipFill>
          <a:blip r:embed="rId2"/>
          <a:stretch>
            <a:fillRect/>
          </a:stretch>
        </p:blipFill>
        <p:spPr>
          <a:xfrm>
            <a:off x="558265" y="1434164"/>
            <a:ext cx="11011301" cy="5168767"/>
          </a:xfrm>
          <a:prstGeom prst="rect">
            <a:avLst/>
          </a:prstGeom>
        </p:spPr>
      </p:pic>
    </p:spTree>
    <p:extLst>
      <p:ext uri="{BB962C8B-B14F-4D97-AF65-F5344CB8AC3E}">
        <p14:creationId xmlns:p14="http://schemas.microsoft.com/office/powerpoint/2010/main" val="247639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思考：浑水公司真的都对吗？</a:t>
            </a:r>
            <a:endParaRPr lang="zh-CN" altLang="en-US" dirty="0"/>
          </a:p>
        </p:txBody>
      </p:sp>
      <p:sp>
        <p:nvSpPr>
          <p:cNvPr id="3" name="内容占位符 2"/>
          <p:cNvSpPr>
            <a:spLocks noGrp="1"/>
          </p:cNvSpPr>
          <p:nvPr>
            <p:ph idx="1"/>
          </p:nvPr>
        </p:nvSpPr>
        <p:spPr/>
        <p:txBody>
          <a:bodyPr/>
          <a:lstStyle/>
          <a:p>
            <a:r>
              <a:rPr lang="zh-CN" altLang="en-US" dirty="0" smtClean="0"/>
              <a:t>浑水公司</a:t>
            </a:r>
            <a:r>
              <a:rPr lang="en-US" altLang="zh-CN" dirty="0" smtClean="0"/>
              <a:t>2020.1.31</a:t>
            </a:r>
            <a:r>
              <a:rPr lang="zh-CN" altLang="en-US" dirty="0" smtClean="0"/>
              <a:t>发布做空报告</a:t>
            </a:r>
            <a:endParaRPr lang="en-US" altLang="zh-CN" dirty="0" smtClean="0"/>
          </a:p>
          <a:p>
            <a:endParaRPr lang="en-US" altLang="zh-CN" dirty="0"/>
          </a:p>
          <a:p>
            <a:r>
              <a:rPr lang="zh-CN" altLang="en-US" dirty="0" smtClean="0"/>
              <a:t>但瑞幸咖啡至今仍在正常经营，且门店数量在持续增加</a:t>
            </a:r>
            <a:endParaRPr lang="en-US" altLang="zh-CN" dirty="0" smtClean="0"/>
          </a:p>
          <a:p>
            <a:pPr lvl="1"/>
            <a:r>
              <a:rPr lang="zh-CN" altLang="en-US" smtClean="0"/>
              <a:t>既然星巴克能够在中国存活下去，那么价廉物美的瑞幸咖啡为什么不能？</a:t>
            </a:r>
            <a:endParaRPr lang="en-US" altLang="zh-CN" smtClean="0"/>
          </a:p>
          <a:p>
            <a:pPr lvl="1"/>
            <a:r>
              <a:rPr lang="zh-CN" altLang="en-US" dirty="0" smtClean="0"/>
              <a:t>目前中国大陆咖啡消费远小于茶叶，是否意味着咖啡消费前景广阔</a:t>
            </a:r>
            <a:endParaRPr lang="en-US" altLang="zh-CN" dirty="0" smtClean="0"/>
          </a:p>
          <a:p>
            <a:pPr lvl="2"/>
            <a:r>
              <a:rPr lang="zh-CN" altLang="en-US" dirty="0" smtClean="0"/>
              <a:t>优质茶叶价格很贵，远高于大众消费的咖啡价格</a:t>
            </a:r>
            <a:endParaRPr lang="en-US" altLang="zh-CN" dirty="0" smtClean="0"/>
          </a:p>
          <a:p>
            <a:pPr lvl="2"/>
            <a:r>
              <a:rPr lang="zh-CN" altLang="en-US" dirty="0" smtClean="0"/>
              <a:t>只要价格合理（如一杯咖啡价格不高于</a:t>
            </a:r>
            <a:r>
              <a:rPr lang="en-US" altLang="zh-CN" dirty="0" smtClean="0"/>
              <a:t>20</a:t>
            </a:r>
            <a:r>
              <a:rPr lang="zh-CN" altLang="en-US" dirty="0" smtClean="0"/>
              <a:t>元），中年人和年轻人容易接受咖啡消费</a:t>
            </a:r>
            <a:endParaRPr lang="en-US" altLang="zh-CN" dirty="0" smtClean="0"/>
          </a:p>
          <a:p>
            <a:pPr lvl="2"/>
            <a:r>
              <a:rPr lang="zh-CN" altLang="en-US" dirty="0" smtClean="0"/>
              <a:t>中国经济正常增长，有咖啡消费能力的人口数量也会相应增长</a:t>
            </a:r>
            <a:endParaRPr lang="en-US" altLang="zh-CN" dirty="0" smtClean="0"/>
          </a:p>
          <a:p>
            <a:pPr lvl="1"/>
            <a:r>
              <a:rPr lang="zh-CN" altLang="en-US" dirty="0" smtClean="0"/>
              <a:t>财务上的暂时亏损是否意味着公司没有前途</a:t>
            </a:r>
            <a:endParaRPr lang="en-US" altLang="zh-CN" dirty="0" smtClean="0"/>
          </a:p>
          <a:p>
            <a:pPr lvl="1"/>
            <a:endParaRPr lang="zh-CN" altLang="en-US" dirty="0"/>
          </a:p>
        </p:txBody>
      </p:sp>
    </p:spTree>
    <p:extLst>
      <p:ext uri="{BB962C8B-B14F-4D97-AF65-F5344CB8AC3E}">
        <p14:creationId xmlns:p14="http://schemas.microsoft.com/office/powerpoint/2010/main" val="362327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在我国进行长期投资的两个关键点</a:t>
            </a:r>
            <a:endParaRPr lang="zh-CN" altLang="en-US" dirty="0"/>
          </a:p>
        </p:txBody>
      </p:sp>
      <p:sp>
        <p:nvSpPr>
          <p:cNvPr id="3" name="内容占位符 2"/>
          <p:cNvSpPr>
            <a:spLocks noGrp="1"/>
          </p:cNvSpPr>
          <p:nvPr>
            <p:ph idx="1"/>
          </p:nvPr>
        </p:nvSpPr>
        <p:spPr/>
        <p:txBody>
          <a:bodyPr/>
          <a:lstStyle/>
          <a:p>
            <a:r>
              <a:rPr lang="zh-CN" altLang="en-US" dirty="0" smtClean="0"/>
              <a:t>政治上正确</a:t>
            </a:r>
            <a:endParaRPr lang="en-US" altLang="zh-CN" dirty="0" smtClean="0"/>
          </a:p>
          <a:p>
            <a:pPr lvl="1"/>
            <a:r>
              <a:rPr lang="zh-CN" altLang="en-US" dirty="0" smtClean="0"/>
              <a:t>与国家政策保持一致</a:t>
            </a:r>
            <a:endParaRPr lang="en-US" altLang="zh-CN" dirty="0" smtClean="0"/>
          </a:p>
          <a:p>
            <a:pPr lvl="2"/>
            <a:r>
              <a:rPr lang="zh-CN" altLang="en-US" dirty="0" smtClean="0"/>
              <a:t>长江电力的水电站生产的是绿色能源</a:t>
            </a:r>
            <a:endParaRPr lang="en-US" altLang="zh-CN" dirty="0"/>
          </a:p>
          <a:p>
            <a:endParaRPr lang="en-US" altLang="zh-CN" dirty="0" smtClean="0"/>
          </a:p>
          <a:p>
            <a:r>
              <a:rPr lang="zh-CN" altLang="en-US" dirty="0" smtClean="0"/>
              <a:t>经济上正确</a:t>
            </a:r>
            <a:endParaRPr lang="en-US" altLang="zh-CN" dirty="0" smtClean="0"/>
          </a:p>
          <a:p>
            <a:pPr lvl="1"/>
            <a:r>
              <a:rPr lang="zh-CN" altLang="en-US" dirty="0" smtClean="0"/>
              <a:t>能够长期稳定地赚钱，真金白银地赚钱</a:t>
            </a:r>
            <a:endParaRPr lang="en-US" altLang="zh-CN" dirty="0" smtClean="0"/>
          </a:p>
          <a:p>
            <a:pPr lvl="2"/>
            <a:r>
              <a:rPr lang="zh-CN" altLang="en-US" dirty="0" smtClean="0"/>
              <a:t>长江电力的水电站能够持续稳定发电</a:t>
            </a:r>
            <a:r>
              <a:rPr lang="en-US" altLang="zh-CN" dirty="0" smtClean="0"/>
              <a:t>100</a:t>
            </a:r>
            <a:r>
              <a:rPr lang="zh-CN" altLang="en-US" dirty="0" smtClean="0"/>
              <a:t>年以上</a:t>
            </a:r>
            <a:endParaRPr lang="zh-CN" altLang="en-US" dirty="0"/>
          </a:p>
        </p:txBody>
      </p:sp>
      <p:pic>
        <p:nvPicPr>
          <p:cNvPr id="5" name="图片 4"/>
          <p:cNvPicPr>
            <a:picLocks noChangeAspect="1"/>
          </p:cNvPicPr>
          <p:nvPr/>
        </p:nvPicPr>
        <p:blipFill>
          <a:blip r:embed="rId2"/>
          <a:stretch>
            <a:fillRect/>
          </a:stretch>
        </p:blipFill>
        <p:spPr>
          <a:xfrm>
            <a:off x="7745174" y="1825625"/>
            <a:ext cx="3446701" cy="2533901"/>
          </a:xfrm>
          <a:prstGeom prst="rect">
            <a:avLst/>
          </a:prstGeom>
        </p:spPr>
      </p:pic>
    </p:spTree>
    <p:extLst>
      <p:ext uri="{BB962C8B-B14F-4D97-AF65-F5344CB8AC3E}">
        <p14:creationId xmlns:p14="http://schemas.microsoft.com/office/powerpoint/2010/main" val="20357707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smtClean="0"/>
              <a:t>长江：我国的父亲河</a:t>
            </a:r>
            <a:endParaRPr lang="zh-CN" altLang="en-US" dirty="0"/>
          </a:p>
        </p:txBody>
      </p:sp>
      <p:pic>
        <p:nvPicPr>
          <p:cNvPr id="5" name="图片 4"/>
          <p:cNvPicPr>
            <a:picLocks noChangeAspect="1"/>
          </p:cNvPicPr>
          <p:nvPr/>
        </p:nvPicPr>
        <p:blipFill>
          <a:blip r:embed="rId2"/>
          <a:stretch>
            <a:fillRect/>
          </a:stretch>
        </p:blipFill>
        <p:spPr>
          <a:xfrm>
            <a:off x="2105025" y="1552575"/>
            <a:ext cx="9020175" cy="5010150"/>
          </a:xfrm>
          <a:prstGeom prst="rect">
            <a:avLst/>
          </a:prstGeom>
        </p:spPr>
      </p:pic>
    </p:spTree>
    <p:extLst>
      <p:ext uri="{BB962C8B-B14F-4D97-AF65-F5344CB8AC3E}">
        <p14:creationId xmlns:p14="http://schemas.microsoft.com/office/powerpoint/2010/main" val="1247787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net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56134" y="327259"/>
            <a:ext cx="11049802" cy="5996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113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675431"/>
          </a:xfrm>
        </p:spPr>
        <p:txBody>
          <a:bodyPr>
            <a:normAutofit fontScale="90000"/>
          </a:bodyPr>
          <a:lstStyle/>
          <a:p>
            <a:pPr algn="ctr"/>
            <a:r>
              <a:rPr lang="zh-CN" altLang="en-US" dirty="0" smtClean="0"/>
              <a:t>长江电力的核心资产</a:t>
            </a:r>
            <a:r>
              <a:rPr lang="en-US" altLang="zh-CN" dirty="0" smtClean="0"/>
              <a:t/>
            </a:r>
            <a:br>
              <a:rPr lang="en-US" altLang="zh-CN" dirty="0" smtClean="0"/>
            </a:br>
            <a:r>
              <a:rPr lang="en-US" altLang="zh-CN" dirty="0" smtClean="0"/>
              <a:t>—</a:t>
            </a:r>
            <a:r>
              <a:rPr lang="zh-CN" altLang="en-US" dirty="0" smtClean="0"/>
              <a:t>六个巨型水电站</a:t>
            </a:r>
            <a:r>
              <a:rPr lang="en-US" altLang="zh-CN" dirty="0" smtClean="0"/>
              <a:t/>
            </a:r>
            <a:br>
              <a:rPr lang="en-US" altLang="zh-CN" dirty="0" smtClean="0"/>
            </a:br>
            <a:r>
              <a:rPr lang="zh-CN" altLang="en-US" dirty="0" smtClean="0"/>
              <a:t>（</a:t>
            </a:r>
            <a:r>
              <a:rPr lang="en-US" altLang="zh-CN" dirty="0" smtClean="0"/>
              <a:t>2023.1.11</a:t>
            </a:r>
            <a:r>
              <a:rPr lang="zh-CN" altLang="en-US" dirty="0" smtClean="0"/>
              <a:t>乌东德、白鹤滩注入）</a:t>
            </a:r>
            <a:endParaRPr lang="zh-CN" altLang="en-US" dirty="0"/>
          </a:p>
        </p:txBody>
      </p:sp>
      <p:pic>
        <p:nvPicPr>
          <p:cNvPr id="4" name="内容占位符 3"/>
          <p:cNvPicPr>
            <a:picLocks noGrp="1" noChangeAspect="1"/>
          </p:cNvPicPr>
          <p:nvPr>
            <p:ph idx="1"/>
          </p:nvPr>
        </p:nvPicPr>
        <p:blipFill>
          <a:blip r:embed="rId2"/>
          <a:stretch>
            <a:fillRect/>
          </a:stretch>
        </p:blipFill>
        <p:spPr>
          <a:xfrm>
            <a:off x="587141" y="2377440"/>
            <a:ext cx="10766659" cy="4206240"/>
          </a:xfrm>
          <a:prstGeom prst="rect">
            <a:avLst/>
          </a:prstGeom>
        </p:spPr>
      </p:pic>
    </p:spTree>
    <p:extLst>
      <p:ext uri="{BB962C8B-B14F-4D97-AF65-F5344CB8AC3E}">
        <p14:creationId xmlns:p14="http://schemas.microsoft.com/office/powerpoint/2010/main" val="21942123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405289" y="2166000"/>
            <a:ext cx="9634887" cy="3974917"/>
          </a:xfrm>
          <a:prstGeom prst="rect">
            <a:avLst/>
          </a:prstGeom>
        </p:spPr>
      </p:pic>
      <p:sp>
        <p:nvSpPr>
          <p:cNvPr id="3" name="标题 2"/>
          <p:cNvSpPr>
            <a:spLocks noGrp="1"/>
          </p:cNvSpPr>
          <p:nvPr>
            <p:ph type="title"/>
          </p:nvPr>
        </p:nvSpPr>
        <p:spPr/>
        <p:txBody>
          <a:bodyPr/>
          <a:lstStyle/>
          <a:p>
            <a:pPr algn="ctr"/>
            <a:r>
              <a:rPr lang="zh-CN" altLang="en-US" dirty="0" smtClean="0"/>
              <a:t>公司六大电站分布示意图</a:t>
            </a:r>
            <a:endParaRPr lang="zh-CN" altLang="en-US" dirty="0"/>
          </a:p>
        </p:txBody>
      </p:sp>
    </p:spTree>
    <p:extLst>
      <p:ext uri="{BB962C8B-B14F-4D97-AF65-F5344CB8AC3E}">
        <p14:creationId xmlns:p14="http://schemas.microsoft.com/office/powerpoint/2010/main" val="8016610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六座电站发电情况</a:t>
            </a:r>
            <a:r>
              <a:rPr lang="en-US" altLang="zh-CN" dirty="0" smtClean="0"/>
              <a:t/>
            </a:r>
            <a:br>
              <a:rPr lang="en-US" altLang="zh-CN" dirty="0" smtClean="0"/>
            </a:br>
            <a:r>
              <a:rPr lang="en-US" altLang="zh-CN" dirty="0" smtClean="0"/>
              <a:t>2018-2025</a:t>
            </a:r>
            <a:r>
              <a:rPr lang="zh-CN" altLang="en-US" dirty="0" smtClean="0"/>
              <a:t>（亿千万时）</a:t>
            </a: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1033515636"/>
              </p:ext>
            </p:extLst>
          </p:nvPr>
        </p:nvGraphicFramePr>
        <p:xfrm>
          <a:off x="481265" y="2050182"/>
          <a:ext cx="10872537" cy="3647973"/>
        </p:xfrm>
        <a:graphic>
          <a:graphicData uri="http://schemas.openxmlformats.org/drawingml/2006/table">
            <a:tbl>
              <a:tblPr/>
              <a:tblGrid>
                <a:gridCol w="1428961"/>
                <a:gridCol w="1180447"/>
                <a:gridCol w="1180447"/>
                <a:gridCol w="1180447"/>
                <a:gridCol w="1180447"/>
                <a:gridCol w="1180447"/>
                <a:gridCol w="1180447"/>
                <a:gridCol w="1180447"/>
                <a:gridCol w="1180447"/>
              </a:tblGrid>
              <a:tr h="466041">
                <a:tc>
                  <a:txBody>
                    <a:bodyPr/>
                    <a:lstStyle/>
                    <a:p>
                      <a:pPr algn="l" fontAlgn="ctr"/>
                      <a:r>
                        <a:rPr lang="zh-CN" altLang="en-US" sz="2000" b="0" i="0" u="none" strike="noStrike" dirty="0">
                          <a:solidFill>
                            <a:srgbClr val="000000"/>
                          </a:solidFill>
                          <a:effectLst/>
                          <a:latin typeface="宋体" panose="02010600030101010101" pitchFamily="2" charset="-122"/>
                          <a:ea typeface="宋体" panose="02010600030101010101" pitchFamily="2" charset="-122"/>
                        </a:rPr>
                        <a:t>电站名称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2018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2019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2020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2021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2022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2000" b="0" i="0" u="none" strike="noStrike" dirty="0" smtClean="0">
                          <a:solidFill>
                            <a:srgbClr val="000000"/>
                          </a:solidFill>
                          <a:effectLst/>
                          <a:latin typeface="宋体" panose="02010600030101010101" pitchFamily="2" charset="-122"/>
                          <a:ea typeface="宋体" panose="02010600030101010101" pitchFamily="2" charset="-122"/>
                        </a:rPr>
                        <a:t>2023</a:t>
                      </a:r>
                      <a:endParaRPr 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2000" b="0" i="0" u="none" strike="noStrike" dirty="0" smtClean="0">
                          <a:solidFill>
                            <a:srgbClr val="000000"/>
                          </a:solidFill>
                          <a:effectLst/>
                          <a:latin typeface="宋体" panose="02010600030101010101" pitchFamily="2" charset="-122"/>
                          <a:ea typeface="宋体" panose="02010600030101010101" pitchFamily="2" charset="-122"/>
                        </a:rPr>
                        <a:t>2024</a:t>
                      </a:r>
                      <a:endParaRPr 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sz="2000" b="0" i="0" u="none" strike="noStrike" dirty="0" smtClean="0">
                          <a:solidFill>
                            <a:srgbClr val="000000"/>
                          </a:solidFill>
                          <a:effectLst/>
                          <a:latin typeface="宋体" panose="02010600030101010101" pitchFamily="2" charset="-122"/>
                          <a:ea typeface="宋体" panose="02010600030101010101" pitchFamily="2" charset="-122"/>
                        </a:rPr>
                        <a:t>2025</a:t>
                      </a:r>
                      <a:endParaRPr 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9970">
                <a:tc>
                  <a:txBody>
                    <a:bodyPr/>
                    <a:lstStyle/>
                    <a:p>
                      <a:pPr algn="l" fontAlgn="ctr"/>
                      <a:r>
                        <a:rPr lang="zh-CN" altLang="en-US" sz="2000" b="0" i="0" u="none" strike="noStrike" dirty="0">
                          <a:solidFill>
                            <a:srgbClr val="000000"/>
                          </a:solidFill>
                          <a:effectLst/>
                          <a:latin typeface="宋体" panose="02010600030101010101" pitchFamily="2" charset="-122"/>
                          <a:ea typeface="宋体" panose="02010600030101010101" pitchFamily="2" charset="-122"/>
                        </a:rPr>
                        <a:t>三峡电站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1,016.15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968.77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1,118.02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1,036.49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787.90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dirty="0" smtClean="0"/>
                        <a:t>802.71</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a:solidFill>
                            <a:schemeClr val="tx1"/>
                          </a:solidFill>
                          <a:latin typeface="+mn-lt"/>
                          <a:ea typeface="+mn-ea"/>
                          <a:cs typeface="+mn-cs"/>
                        </a:rPr>
                        <a:t>829.11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957.15</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9970">
                <a:tc>
                  <a:txBody>
                    <a:bodyPr/>
                    <a:lstStyle/>
                    <a:p>
                      <a:pPr algn="l" fontAlgn="ctr"/>
                      <a:r>
                        <a:rPr lang="zh-CN" altLang="en-US" sz="2000" b="0" i="0" u="none" strike="noStrike" dirty="0">
                          <a:solidFill>
                            <a:srgbClr val="000000"/>
                          </a:solidFill>
                          <a:effectLst/>
                          <a:latin typeface="宋体" panose="02010600030101010101" pitchFamily="2" charset="-122"/>
                          <a:ea typeface="宋体" panose="02010600030101010101" pitchFamily="2" charset="-122"/>
                        </a:rPr>
                        <a:t>葛洲坝电站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183.18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190.85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185.67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192.56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174.34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dirty="0" smtClean="0"/>
                        <a:t>176.88</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a:solidFill>
                            <a:schemeClr val="tx1"/>
                          </a:solidFill>
                          <a:latin typeface="+mn-lt"/>
                          <a:ea typeface="+mn-ea"/>
                          <a:cs typeface="+mn-cs"/>
                        </a:rPr>
                        <a:t>174.03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193.81</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9970">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溪洛渡电站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624.69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607.79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634.13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553.55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578.04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dirty="0" smtClean="0"/>
                        <a:t>549.34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a:solidFill>
                            <a:schemeClr val="tx1"/>
                          </a:solidFill>
                          <a:latin typeface="+mn-lt"/>
                          <a:ea typeface="+mn-ea"/>
                          <a:cs typeface="+mn-cs"/>
                        </a:rPr>
                        <a:t>621.01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613.56</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9970">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向家坝电站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330.80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337.22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331.48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300.63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315.53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dirty="0" smtClean="0"/>
                        <a:t>311.32</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a:solidFill>
                            <a:schemeClr val="tx1"/>
                          </a:solidFill>
                          <a:latin typeface="+mn-lt"/>
                          <a:ea typeface="+mn-ea"/>
                          <a:cs typeface="+mn-cs"/>
                        </a:rPr>
                        <a:t>334.11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337.21</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9970">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乌东德电站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dirty="0">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2000" dirty="0" smtClean="0"/>
                        <a:t>349.14</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a:solidFill>
                            <a:schemeClr val="tx1"/>
                          </a:solidFill>
                          <a:latin typeface="+mn-lt"/>
                          <a:ea typeface="+mn-ea"/>
                          <a:cs typeface="+mn-cs"/>
                        </a:rPr>
                        <a:t>396.47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369.18</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66041">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白鹤滩电站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dirty="0">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dirty="0">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dirty="0" smtClean="0"/>
                        <a:t>573.24</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a:solidFill>
                            <a:schemeClr val="tx1"/>
                          </a:solidFill>
                          <a:latin typeface="+mn-lt"/>
                          <a:ea typeface="+mn-ea"/>
                          <a:cs typeface="+mn-cs"/>
                        </a:rPr>
                        <a:t>604.32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601.04</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6041">
                <a:tc>
                  <a:txBody>
                    <a:bodyPr/>
                    <a:lstStyle/>
                    <a:p>
                      <a:pPr algn="l" fontAlgn="ctr"/>
                      <a:r>
                        <a:rPr lang="zh-CN" altLang="en-US" sz="2000" b="0" i="0" u="none" strike="noStrike">
                          <a:solidFill>
                            <a:srgbClr val="000000"/>
                          </a:solidFill>
                          <a:effectLst/>
                          <a:latin typeface="宋体" panose="02010600030101010101" pitchFamily="2" charset="-122"/>
                          <a:ea typeface="宋体" panose="02010600030101010101" pitchFamily="2" charset="-122"/>
                        </a:rPr>
                        <a:t>合 计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2,154.82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a:solidFill>
                            <a:srgbClr val="000000"/>
                          </a:solidFill>
                          <a:effectLst/>
                          <a:latin typeface="宋体" panose="02010600030101010101" pitchFamily="2" charset="-122"/>
                          <a:ea typeface="宋体" panose="02010600030101010101" pitchFamily="2" charset="-122"/>
                        </a:rPr>
                        <a:t>2,104.63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2,269.30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2,083.22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b="0" i="0" u="none" strike="noStrike" dirty="0">
                          <a:solidFill>
                            <a:srgbClr val="000000"/>
                          </a:solidFill>
                          <a:effectLst/>
                          <a:latin typeface="宋体" panose="02010600030101010101" pitchFamily="2" charset="-122"/>
                          <a:ea typeface="宋体" panose="02010600030101010101" pitchFamily="2" charset="-122"/>
                        </a:rPr>
                        <a:t>1,855.81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ctr"/>
                      <a:r>
                        <a:rPr lang="en-US" altLang="zh-CN" sz="2000" dirty="0" smtClean="0"/>
                        <a:t>2,762.63</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2,959.04</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r" defTabSz="914400" rtl="0" eaLnBrk="1" fontAlgn="ctr" latinLnBrk="0" hangingPunct="1"/>
                      <a:r>
                        <a:rPr lang="en-US" altLang="zh-CN" sz="2000" kern="1200" dirty="0" smtClean="0">
                          <a:solidFill>
                            <a:schemeClr val="tx1"/>
                          </a:solidFill>
                          <a:latin typeface="+mn-lt"/>
                          <a:ea typeface="+mn-ea"/>
                          <a:cs typeface="+mn-cs"/>
                        </a:rPr>
                        <a:t>3071.94</a:t>
                      </a:r>
                      <a:endParaRPr lang="en-US" altLang="zh-CN" sz="2000" kern="1200" dirty="0">
                        <a:solidFill>
                          <a:schemeClr val="tx1"/>
                        </a:solidFill>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544587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92175"/>
          </a:xfrm>
        </p:spPr>
        <p:txBody>
          <a:bodyPr>
            <a:normAutofit/>
          </a:bodyPr>
          <a:lstStyle/>
          <a:p>
            <a:pPr algn="ctr"/>
            <a:r>
              <a:rPr lang="zh-CN" altLang="en-US" sz="3500" dirty="0" smtClean="0"/>
              <a:t>低风险较高收益率：长江电力（</a:t>
            </a:r>
            <a:r>
              <a:rPr lang="en-US" altLang="zh-CN" sz="3500" dirty="0" smtClean="0"/>
              <a:t>600900.SH</a:t>
            </a:r>
            <a:r>
              <a:rPr lang="zh-CN" altLang="en-US" sz="3500" dirty="0" smtClean="0"/>
              <a:t>）</a:t>
            </a:r>
            <a:endParaRPr lang="zh-CN" altLang="en-US" sz="3500" dirty="0"/>
          </a:p>
        </p:txBody>
      </p:sp>
      <p:sp>
        <p:nvSpPr>
          <p:cNvPr id="3" name="内容占位符 2"/>
          <p:cNvSpPr>
            <a:spLocks noGrp="1"/>
          </p:cNvSpPr>
          <p:nvPr>
            <p:ph idx="1"/>
          </p:nvPr>
        </p:nvSpPr>
        <p:spPr>
          <a:xfrm>
            <a:off x="838200" y="1495426"/>
            <a:ext cx="10515600" cy="5057774"/>
          </a:xfrm>
        </p:spPr>
        <p:txBody>
          <a:bodyPr>
            <a:normAutofit fontScale="92500" lnSpcReduction="10000"/>
          </a:bodyPr>
          <a:lstStyle/>
          <a:p>
            <a:r>
              <a:rPr lang="en-US" altLang="zh-CN" dirty="0" smtClean="0"/>
              <a:t>2002-11-04</a:t>
            </a:r>
            <a:r>
              <a:rPr lang="zh-CN" altLang="en-US" dirty="0" smtClean="0"/>
              <a:t>公司成立，</a:t>
            </a:r>
            <a:r>
              <a:rPr lang="en-US" altLang="zh-CN" dirty="0" smtClean="0"/>
              <a:t>2003-11-18</a:t>
            </a:r>
            <a:r>
              <a:rPr lang="zh-CN" altLang="en-US" dirty="0" smtClean="0"/>
              <a:t>在上交所首次公开上市，发行价</a:t>
            </a:r>
            <a:r>
              <a:rPr lang="en-US" altLang="zh-CN" dirty="0" smtClean="0"/>
              <a:t>4.30</a:t>
            </a:r>
            <a:r>
              <a:rPr lang="zh-CN" altLang="en-US" dirty="0" smtClean="0"/>
              <a:t>元，上市当日收盘价</a:t>
            </a:r>
            <a:r>
              <a:rPr lang="en-US" altLang="zh-CN" dirty="0" smtClean="0"/>
              <a:t>6.18</a:t>
            </a:r>
            <a:r>
              <a:rPr lang="zh-CN" altLang="en-US" dirty="0" smtClean="0"/>
              <a:t>元，假如以收盘价买入（完全可行）</a:t>
            </a:r>
            <a:r>
              <a:rPr lang="en-US" altLang="zh-CN" dirty="0" smtClean="0"/>
              <a:t>1</a:t>
            </a:r>
            <a:r>
              <a:rPr lang="zh-CN" altLang="en-US" dirty="0" smtClean="0"/>
              <a:t>万股，成本</a:t>
            </a:r>
            <a:r>
              <a:rPr lang="en-US" altLang="zh-CN" dirty="0" smtClean="0"/>
              <a:t>6.18</a:t>
            </a:r>
            <a:r>
              <a:rPr lang="zh-CN" altLang="en-US" dirty="0" smtClean="0"/>
              <a:t>万元</a:t>
            </a:r>
            <a:endParaRPr lang="en-US" altLang="zh-CN" dirty="0" smtClean="0"/>
          </a:p>
          <a:p>
            <a:r>
              <a:rPr lang="zh-CN" altLang="en-US" dirty="0" smtClean="0"/>
              <a:t>截止到</a:t>
            </a:r>
            <a:r>
              <a:rPr lang="en-US" altLang="zh-CN" dirty="0" smtClean="0"/>
              <a:t>2025-04-16</a:t>
            </a:r>
            <a:r>
              <a:rPr lang="zh-CN" altLang="en-US" dirty="0" smtClean="0"/>
              <a:t>，经过多次送转股，这</a:t>
            </a:r>
            <a:r>
              <a:rPr lang="en-US" altLang="zh-CN" dirty="0" smtClean="0"/>
              <a:t>1</a:t>
            </a:r>
            <a:r>
              <a:rPr lang="zh-CN" altLang="en-US" dirty="0" smtClean="0"/>
              <a:t>万股变成了</a:t>
            </a:r>
            <a:r>
              <a:rPr lang="en-US" altLang="zh-CN" dirty="0" smtClean="0"/>
              <a:t>15,632</a:t>
            </a:r>
            <a:r>
              <a:rPr lang="zh-CN" altLang="en-US" dirty="0" smtClean="0"/>
              <a:t>股</a:t>
            </a:r>
            <a:endParaRPr lang="en-US" altLang="zh-CN" dirty="0" smtClean="0"/>
          </a:p>
          <a:p>
            <a:r>
              <a:rPr lang="zh-CN" altLang="en-US" dirty="0" smtClean="0"/>
              <a:t>现金分红</a:t>
            </a:r>
            <a:endParaRPr lang="en-US" altLang="zh-CN" dirty="0" smtClean="0"/>
          </a:p>
          <a:p>
            <a:pPr lvl="1"/>
            <a:r>
              <a:rPr lang="zh-CN" altLang="en-US" dirty="0" smtClean="0"/>
              <a:t>自上市至</a:t>
            </a:r>
            <a:r>
              <a:rPr lang="en-US" altLang="zh-CN" dirty="0" smtClean="0"/>
              <a:t>2025-04-16 </a:t>
            </a:r>
            <a:r>
              <a:rPr lang="zh-CN" altLang="en-US" dirty="0" smtClean="0"/>
              <a:t>，长江电力每年均发放现金股利，初始买入</a:t>
            </a:r>
            <a:r>
              <a:rPr lang="en-US" altLang="zh-CN" dirty="0" smtClean="0"/>
              <a:t>1</a:t>
            </a:r>
            <a:r>
              <a:rPr lang="zh-CN" altLang="en-US" dirty="0" smtClean="0"/>
              <a:t>万股之后如果一直持有，则不考虑分红的利息，现金股利累计达到 </a:t>
            </a:r>
            <a:r>
              <a:rPr lang="en-US" altLang="zh-CN" dirty="0" smtClean="0"/>
              <a:t>146,435.69</a:t>
            </a:r>
            <a:r>
              <a:rPr lang="zh-CN" altLang="en-US" dirty="0" smtClean="0"/>
              <a:t>元！</a:t>
            </a:r>
            <a:endParaRPr lang="en-US" altLang="zh-CN" dirty="0" smtClean="0"/>
          </a:p>
          <a:p>
            <a:r>
              <a:rPr lang="zh-CN" altLang="en-US" dirty="0" smtClean="0"/>
              <a:t>股价上涨</a:t>
            </a:r>
            <a:endParaRPr lang="en-US" altLang="zh-CN" dirty="0" smtClean="0"/>
          </a:p>
          <a:p>
            <a:pPr lvl="1"/>
            <a:r>
              <a:rPr lang="en-US" altLang="zh-CN" dirty="0" smtClean="0"/>
              <a:t>2025-04-16</a:t>
            </a:r>
            <a:r>
              <a:rPr lang="zh-CN" altLang="en-US" dirty="0" smtClean="0"/>
              <a:t>收盘价</a:t>
            </a:r>
            <a:r>
              <a:rPr lang="en-US" altLang="zh-CN" dirty="0" smtClean="0"/>
              <a:t>29.40</a:t>
            </a:r>
            <a:r>
              <a:rPr lang="zh-CN" altLang="en-US" dirty="0" smtClean="0"/>
              <a:t>元，初始</a:t>
            </a:r>
            <a:r>
              <a:rPr lang="en-US" altLang="zh-CN" dirty="0" smtClean="0"/>
              <a:t>1</a:t>
            </a:r>
            <a:r>
              <a:rPr lang="zh-CN" altLang="en-US" dirty="0" smtClean="0"/>
              <a:t>万股现在变成了</a:t>
            </a:r>
            <a:r>
              <a:rPr lang="en-US" altLang="zh-CN" dirty="0"/>
              <a:t>15,632</a:t>
            </a:r>
            <a:r>
              <a:rPr lang="zh-CN" altLang="en-US" dirty="0" smtClean="0"/>
              <a:t>股，则市值为</a:t>
            </a:r>
            <a:r>
              <a:rPr lang="en-US" altLang="zh-CN" dirty="0" smtClean="0"/>
              <a:t>459,566.10</a:t>
            </a:r>
            <a:r>
              <a:rPr lang="zh-CN" altLang="en-US" dirty="0" smtClean="0"/>
              <a:t>元！</a:t>
            </a:r>
            <a:endParaRPr lang="en-US" altLang="zh-CN" dirty="0" smtClean="0"/>
          </a:p>
          <a:p>
            <a:r>
              <a:rPr lang="zh-CN" altLang="en-US" dirty="0" smtClean="0"/>
              <a:t>不考虑分红的利息，则综合年化收益率（股息收益率</a:t>
            </a:r>
            <a:r>
              <a:rPr lang="en-US" altLang="zh-CN" dirty="0" smtClean="0"/>
              <a:t>+</a:t>
            </a:r>
            <a:r>
              <a:rPr lang="zh-CN" altLang="en-US" dirty="0" smtClean="0"/>
              <a:t>资本利得收益率）约为</a:t>
            </a:r>
            <a:r>
              <a:rPr lang="en-US" altLang="zh-CN" dirty="0" smtClean="0"/>
              <a:t>11.25%</a:t>
            </a:r>
            <a:r>
              <a:rPr lang="zh-CN" altLang="en-US" dirty="0" smtClean="0"/>
              <a:t>。如果现金分红到账之后又买入长江电力股票，则收益率更高。</a:t>
            </a:r>
            <a:endParaRPr lang="en-US" altLang="zh-CN" dirty="0" smtClean="0"/>
          </a:p>
          <a:p>
            <a:endParaRPr lang="zh-CN" altLang="en-US" dirty="0"/>
          </a:p>
        </p:txBody>
      </p:sp>
    </p:spTree>
    <p:extLst>
      <p:ext uri="{BB962C8B-B14F-4D97-AF65-F5344CB8AC3E}">
        <p14:creationId xmlns:p14="http://schemas.microsoft.com/office/powerpoint/2010/main" val="41613049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a:t>长江电力（</a:t>
            </a:r>
            <a:r>
              <a:rPr lang="en-US" altLang="zh-CN" dirty="0"/>
              <a:t>600900.SH</a:t>
            </a:r>
            <a:r>
              <a:rPr lang="zh-CN" altLang="en-US" dirty="0" smtClean="0"/>
              <a:t>）季度</a:t>
            </a:r>
            <a:r>
              <a:rPr lang="en-US" altLang="zh-CN" dirty="0" smtClean="0"/>
              <a:t>K</a:t>
            </a:r>
            <a:r>
              <a:rPr lang="zh-CN" altLang="en-US" dirty="0" smtClean="0"/>
              <a:t>线图</a:t>
            </a:r>
            <a:endParaRPr lang="zh-CN" altLang="en-US" dirty="0"/>
          </a:p>
        </p:txBody>
      </p:sp>
      <p:pic>
        <p:nvPicPr>
          <p:cNvPr id="2" name="图片 1"/>
          <p:cNvPicPr>
            <a:picLocks noChangeAspect="1"/>
          </p:cNvPicPr>
          <p:nvPr/>
        </p:nvPicPr>
        <p:blipFill>
          <a:blip r:embed="rId2"/>
          <a:stretch>
            <a:fillRect/>
          </a:stretch>
        </p:blipFill>
        <p:spPr>
          <a:xfrm>
            <a:off x="1162051" y="1814512"/>
            <a:ext cx="10086974" cy="4143375"/>
          </a:xfrm>
          <a:prstGeom prst="rect">
            <a:avLst/>
          </a:prstGeom>
        </p:spPr>
      </p:pic>
    </p:spTree>
    <p:extLst>
      <p:ext uri="{BB962C8B-B14F-4D97-AF65-F5344CB8AC3E}">
        <p14:creationId xmlns:p14="http://schemas.microsoft.com/office/powerpoint/2010/main" val="5410518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长江电力（</a:t>
            </a:r>
            <a:r>
              <a:rPr lang="en-US" altLang="zh-CN" dirty="0"/>
              <a:t>600900.SH</a:t>
            </a:r>
            <a:r>
              <a:rPr lang="zh-CN" altLang="en-US" dirty="0" smtClean="0"/>
              <a:t>）现金分红情况</a:t>
            </a:r>
            <a:r>
              <a:rPr lang="en-US" altLang="zh-CN" dirty="0" smtClean="0"/>
              <a:t/>
            </a:r>
            <a:br>
              <a:rPr lang="en-US" altLang="zh-CN" dirty="0" smtClean="0"/>
            </a:br>
            <a:r>
              <a:rPr lang="en-US" altLang="zh-CN" dirty="0" smtClean="0"/>
              <a:t>2024</a:t>
            </a:r>
            <a:r>
              <a:rPr lang="zh-CN" altLang="en-US" dirty="0" smtClean="0"/>
              <a:t>年报分红到账要到</a:t>
            </a:r>
            <a:r>
              <a:rPr lang="en-US" altLang="zh-CN" dirty="0" smtClean="0"/>
              <a:t>2025</a:t>
            </a:r>
            <a:r>
              <a:rPr lang="zh-CN" altLang="en-US" dirty="0" smtClean="0"/>
              <a:t>年</a:t>
            </a:r>
            <a:r>
              <a:rPr lang="en-US" altLang="zh-CN" dirty="0" smtClean="0"/>
              <a:t>7</a:t>
            </a:r>
            <a:r>
              <a:rPr lang="zh-CN" altLang="en-US" dirty="0" smtClean="0"/>
              <a:t>月份</a:t>
            </a:r>
            <a:endParaRPr lang="zh-CN" altLang="en-US" dirty="0"/>
          </a:p>
        </p:txBody>
      </p:sp>
      <p:pic>
        <p:nvPicPr>
          <p:cNvPr id="4" name="图片 3"/>
          <p:cNvPicPr>
            <a:picLocks noChangeAspect="1"/>
          </p:cNvPicPr>
          <p:nvPr/>
        </p:nvPicPr>
        <p:blipFill>
          <a:blip r:embed="rId2"/>
          <a:stretch>
            <a:fillRect/>
          </a:stretch>
        </p:blipFill>
        <p:spPr>
          <a:xfrm>
            <a:off x="371475" y="2251670"/>
            <a:ext cx="11610976" cy="3520479"/>
          </a:xfrm>
          <a:prstGeom prst="rect">
            <a:avLst/>
          </a:prstGeom>
        </p:spPr>
      </p:pic>
    </p:spTree>
    <p:extLst>
      <p:ext uri="{BB962C8B-B14F-4D97-AF65-F5344CB8AC3E}">
        <p14:creationId xmlns:p14="http://schemas.microsoft.com/office/powerpoint/2010/main" val="3701706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长江电力折旧政策的影响（单位：亿元）</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3011729907"/>
              </p:ext>
            </p:extLst>
          </p:nvPr>
        </p:nvGraphicFramePr>
        <p:xfrm>
          <a:off x="1314450" y="1690685"/>
          <a:ext cx="9058274" cy="4979289"/>
        </p:xfrm>
        <a:graphic>
          <a:graphicData uri="http://schemas.openxmlformats.org/drawingml/2006/table">
            <a:tbl>
              <a:tblPr>
                <a:tableStyleId>{5C22544A-7EE6-4342-B048-85BDC9FD1C3A}</a:tableStyleId>
              </a:tblPr>
              <a:tblGrid>
                <a:gridCol w="1709729"/>
                <a:gridCol w="1134339"/>
                <a:gridCol w="937357"/>
                <a:gridCol w="1479278"/>
                <a:gridCol w="197277"/>
                <a:gridCol w="1134339"/>
                <a:gridCol w="875281"/>
                <a:gridCol w="1590674"/>
              </a:tblGrid>
              <a:tr h="313706">
                <a:tc rowSpan="2">
                  <a:txBody>
                    <a:bodyPr/>
                    <a:lstStyle/>
                    <a:p>
                      <a:pPr algn="ctr" fontAlgn="b"/>
                      <a:r>
                        <a:rPr lang="zh-CN" altLang="en-US" sz="2000" u="none" strike="noStrike" dirty="0">
                          <a:effectLst/>
                        </a:rPr>
                        <a:t>年度</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gridSpan="3">
                  <a:txBody>
                    <a:bodyPr/>
                    <a:lstStyle/>
                    <a:p>
                      <a:pPr algn="ctr" fontAlgn="b"/>
                      <a:r>
                        <a:rPr lang="zh-CN" altLang="en-US" sz="2500" u="none" strike="noStrike" dirty="0">
                          <a:effectLst/>
                        </a:rPr>
                        <a:t>贵州茅台</a:t>
                      </a:r>
                      <a:endParaRPr lang="zh-CN" altLang="en-US" sz="2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hMerge="1">
                  <a:txBody>
                    <a:bodyPr/>
                    <a:lstStyle/>
                    <a:p>
                      <a:endParaRPr lang="zh-CN" altLang="en-US"/>
                    </a:p>
                  </a:txBody>
                  <a:tcPr/>
                </a:tc>
                <a:tc hMerge="1">
                  <a:txBody>
                    <a:bodyPr/>
                    <a:lstStyle/>
                    <a:p>
                      <a:endParaRPr lang="zh-CN" altLang="en-US"/>
                    </a:p>
                  </a:txBody>
                  <a:tcPr/>
                </a:tc>
                <a:tc>
                  <a:txBody>
                    <a:bodyPr/>
                    <a:lstStyle/>
                    <a:p>
                      <a:pPr algn="ctr" fontAlgn="b"/>
                      <a:r>
                        <a:rPr lang="zh-CN" altLang="en-US" sz="2500" u="none" strike="noStrike" dirty="0">
                          <a:effectLst/>
                        </a:rPr>
                        <a:t>　</a:t>
                      </a:r>
                      <a:endParaRPr lang="zh-CN" altLang="en-US" sz="2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gridSpan="3">
                  <a:txBody>
                    <a:bodyPr/>
                    <a:lstStyle/>
                    <a:p>
                      <a:pPr algn="ctr" fontAlgn="b"/>
                      <a:r>
                        <a:rPr lang="zh-CN" altLang="en-US" sz="2500" u="none" strike="noStrike" dirty="0">
                          <a:effectLst/>
                        </a:rPr>
                        <a:t>长江电力</a:t>
                      </a:r>
                      <a:endParaRPr lang="zh-CN" altLang="en-US" sz="2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hMerge="1">
                  <a:txBody>
                    <a:bodyPr/>
                    <a:lstStyle/>
                    <a:p>
                      <a:endParaRPr lang="zh-CN" altLang="en-US"/>
                    </a:p>
                  </a:txBody>
                  <a:tcPr/>
                </a:tc>
                <a:tc hMerge="1">
                  <a:txBody>
                    <a:bodyPr/>
                    <a:lstStyle/>
                    <a:p>
                      <a:endParaRPr lang="zh-CN" altLang="en-US"/>
                    </a:p>
                  </a:txBody>
                  <a:tcPr/>
                </a:tc>
              </a:tr>
              <a:tr h="544433">
                <a:tc vMerge="1">
                  <a:txBody>
                    <a:bodyPr/>
                    <a:lstStyle/>
                    <a:p>
                      <a:endParaRPr lang="zh-CN" altLang="en-US"/>
                    </a:p>
                  </a:txBody>
                  <a:tcPr/>
                </a:tc>
                <a:tc>
                  <a:txBody>
                    <a:bodyPr/>
                    <a:lstStyle/>
                    <a:p>
                      <a:pPr algn="r" fontAlgn="b"/>
                      <a:r>
                        <a:rPr lang="zh-CN" altLang="en-US" sz="2000" u="none" strike="noStrike" dirty="0">
                          <a:effectLst/>
                        </a:rPr>
                        <a:t>净利润</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折旧</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经营现金流</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　</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净利润</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折旧</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经营现金流</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303587">
                <a:tc>
                  <a:txBody>
                    <a:bodyPr/>
                    <a:lstStyle/>
                    <a:p>
                      <a:pPr algn="ctr" fontAlgn="b"/>
                      <a:r>
                        <a:rPr lang="en-US" altLang="zh-CN" sz="2000" u="none" strike="noStrike" dirty="0">
                          <a:effectLst/>
                        </a:rPr>
                        <a:t>2023</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b="1" u="none" strike="noStrike" kern="1200" dirty="0">
                          <a:solidFill>
                            <a:srgbClr val="FF0000"/>
                          </a:solidFill>
                          <a:effectLst/>
                          <a:latin typeface="+mn-lt"/>
                          <a:ea typeface="+mn-ea"/>
                          <a:cs typeface="+mn-cs"/>
                        </a:rPr>
                        <a:t>775</a:t>
                      </a:r>
                      <a:r>
                        <a:rPr lang="en-US" altLang="zh-CN" sz="2000" u="none" strike="noStrike" dirty="0">
                          <a:effectLst/>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b="1" u="none" strike="noStrike" kern="1200" dirty="0">
                          <a:solidFill>
                            <a:srgbClr val="0070C0"/>
                          </a:solidFill>
                          <a:effectLst/>
                          <a:latin typeface="+mn-lt"/>
                          <a:ea typeface="+mn-ea"/>
                          <a:cs typeface="+mn-cs"/>
                        </a:rPr>
                        <a:t>666</a:t>
                      </a:r>
                      <a:r>
                        <a:rPr lang="en-US" altLang="zh-CN" sz="2000" u="none" strike="noStrike" dirty="0">
                          <a:effectLst/>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zh-CN" altLang="en-US" sz="2000" u="none" strike="noStrike" dirty="0">
                          <a:effectLst/>
                        </a:rPr>
                        <a:t>　</a:t>
                      </a:r>
                      <a:r>
                        <a:rPr lang="en-US" altLang="zh-CN" sz="2000" b="1" u="none" strike="noStrike" dirty="0" smtClean="0">
                          <a:solidFill>
                            <a:srgbClr val="FF0000"/>
                          </a:solidFill>
                          <a:effectLst/>
                        </a:rPr>
                        <a:t>280</a:t>
                      </a:r>
                      <a:endParaRPr lang="zh-CN" altLang="en-US"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zh-CN" altLang="en-US" sz="2000" u="none" strike="noStrike" dirty="0">
                          <a:effectLst/>
                        </a:rPr>
                        <a:t>　</a:t>
                      </a:r>
                      <a:r>
                        <a:rPr lang="en-US" altLang="zh-CN" sz="2000" u="none" strike="noStrike" dirty="0" smtClean="0">
                          <a:effectLst/>
                        </a:rPr>
                        <a:t>190</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zh-CN" altLang="en-US" sz="2000" u="none" strike="noStrike" dirty="0">
                          <a:effectLst/>
                        </a:rPr>
                        <a:t>　</a:t>
                      </a:r>
                      <a:r>
                        <a:rPr lang="en-US" altLang="zh-CN" sz="2000" b="1" u="none" strike="noStrike" dirty="0" smtClean="0">
                          <a:solidFill>
                            <a:srgbClr val="0070C0"/>
                          </a:solidFill>
                          <a:effectLst/>
                        </a:rPr>
                        <a:t>647</a:t>
                      </a:r>
                      <a:endParaRPr lang="zh-CN" altLang="en-US" sz="20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2022</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654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14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367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216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109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309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2021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557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640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dirty="0">
                          <a:effectLst/>
                        </a:rPr>
                        <a:t>　</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265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113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357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a:effectLst/>
                        </a:rPr>
                        <a:t>2020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495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12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517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265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116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410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2019</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440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12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452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216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120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365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2018</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378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11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414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226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122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397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2017</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290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222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223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123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397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2016</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179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8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375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209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123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390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2015</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165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8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174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115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62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177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163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126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118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62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213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2013</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160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5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127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91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63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181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03587">
                <a:tc>
                  <a:txBody>
                    <a:bodyPr/>
                    <a:lstStyle/>
                    <a:p>
                      <a:pPr algn="ctr" fontAlgn="b"/>
                      <a:r>
                        <a:rPr lang="en-US" altLang="zh-CN" sz="2000" u="none" strike="noStrike" dirty="0">
                          <a:effectLst/>
                        </a:rPr>
                        <a:t>2012</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140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4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119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104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61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215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13706">
                <a:tc>
                  <a:txBody>
                    <a:bodyPr/>
                    <a:lstStyle/>
                    <a:p>
                      <a:pPr algn="ctr" fontAlgn="b"/>
                      <a:r>
                        <a:rPr lang="en-US" altLang="zh-CN" sz="2000" u="none" strike="noStrike" dirty="0">
                          <a:effectLst/>
                        </a:rPr>
                        <a:t>2011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93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3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101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l" fontAlgn="b"/>
                      <a:r>
                        <a:rPr lang="zh-CN" altLang="en-US" sz="2000" u="none" strike="noStrike">
                          <a:effectLst/>
                        </a:rPr>
                        <a:t>　</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77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a:effectLst/>
                        </a:rPr>
                        <a:t>59 </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r" fontAlgn="b"/>
                      <a:r>
                        <a:rPr lang="en-US" altLang="zh-CN" sz="2000" u="none" strike="noStrike" dirty="0">
                          <a:effectLst/>
                        </a:rPr>
                        <a:t>155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bl>
          </a:graphicData>
        </a:graphic>
      </p:graphicFrame>
    </p:spTree>
    <p:extLst>
      <p:ext uri="{BB962C8B-B14F-4D97-AF65-F5344CB8AC3E}">
        <p14:creationId xmlns:p14="http://schemas.microsoft.com/office/powerpoint/2010/main" val="3846858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39800"/>
          </a:xfrm>
        </p:spPr>
        <p:txBody>
          <a:bodyPr/>
          <a:lstStyle/>
          <a:p>
            <a:pPr algn="ctr"/>
            <a:r>
              <a:rPr lang="zh-CN" altLang="en-US" dirty="0" smtClean="0"/>
              <a:t>解释</a:t>
            </a:r>
            <a:endParaRPr lang="zh-CN" altLang="en-US" dirty="0"/>
          </a:p>
        </p:txBody>
      </p:sp>
      <p:sp>
        <p:nvSpPr>
          <p:cNvPr id="3" name="内容占位符 2"/>
          <p:cNvSpPr>
            <a:spLocks noGrp="1"/>
          </p:cNvSpPr>
          <p:nvPr>
            <p:ph idx="1"/>
          </p:nvPr>
        </p:nvSpPr>
        <p:spPr>
          <a:xfrm>
            <a:off x="838200" y="1304926"/>
            <a:ext cx="10515600" cy="4872037"/>
          </a:xfrm>
        </p:spPr>
        <p:txBody>
          <a:bodyPr>
            <a:normAutofit lnSpcReduction="10000"/>
          </a:bodyPr>
          <a:lstStyle/>
          <a:p>
            <a:r>
              <a:rPr lang="zh-CN" altLang="en-US" sz="2000" dirty="0" smtClean="0"/>
              <a:t>长江电力相对于贵州茅台而言，属于重资产行业，长江电力的主要资产是六座巨型水电站</a:t>
            </a:r>
            <a:endParaRPr lang="en-US" altLang="zh-CN" sz="2000" dirty="0" smtClean="0"/>
          </a:p>
          <a:p>
            <a:pPr lvl="1"/>
            <a:r>
              <a:rPr lang="zh-CN" altLang="en-US" sz="2000" dirty="0" smtClean="0"/>
              <a:t>大坝</a:t>
            </a:r>
            <a:endParaRPr lang="en-US" altLang="zh-CN" sz="2000" dirty="0" smtClean="0"/>
          </a:p>
          <a:p>
            <a:pPr lvl="1"/>
            <a:r>
              <a:rPr lang="zh-CN" altLang="en-US" sz="2000" dirty="0"/>
              <a:t>发电机组</a:t>
            </a:r>
            <a:endParaRPr lang="en-US" altLang="zh-CN" sz="2000" dirty="0"/>
          </a:p>
          <a:p>
            <a:endParaRPr lang="en-US" altLang="zh-CN" sz="2000" dirty="0" smtClean="0"/>
          </a:p>
          <a:p>
            <a:r>
              <a:rPr lang="zh-CN" altLang="en-US" sz="2000" dirty="0"/>
              <a:t>长江</a:t>
            </a:r>
            <a:r>
              <a:rPr lang="zh-CN" altLang="en-US" sz="2000" dirty="0" smtClean="0"/>
              <a:t>电力核心资产的经济使用寿命与会计折旧年限</a:t>
            </a:r>
            <a:endParaRPr lang="en-US" altLang="zh-CN" sz="2000" dirty="0" smtClean="0"/>
          </a:p>
          <a:p>
            <a:pPr lvl="1"/>
            <a:r>
              <a:rPr lang="zh-CN" altLang="en-US" sz="2000" dirty="0" smtClean="0"/>
              <a:t>大坝经济使用年限在</a:t>
            </a:r>
            <a:r>
              <a:rPr lang="en-US" altLang="zh-CN" sz="2000" dirty="0" smtClean="0"/>
              <a:t>100</a:t>
            </a:r>
            <a:r>
              <a:rPr lang="zh-CN" altLang="en-US" sz="2000" dirty="0" smtClean="0"/>
              <a:t>年以上，会计折旧年限为</a:t>
            </a:r>
            <a:r>
              <a:rPr lang="en-US" altLang="zh-CN" sz="2000" dirty="0" smtClean="0"/>
              <a:t>40-50</a:t>
            </a:r>
            <a:r>
              <a:rPr lang="zh-CN" altLang="en-US" sz="2000" dirty="0" smtClean="0"/>
              <a:t>年（六座大坝有所不同）</a:t>
            </a:r>
            <a:endParaRPr lang="en-US" altLang="zh-CN" sz="2000" dirty="0" smtClean="0"/>
          </a:p>
          <a:p>
            <a:pPr lvl="1"/>
            <a:r>
              <a:rPr lang="zh-CN" altLang="en-US" sz="2000" dirty="0" smtClean="0"/>
              <a:t>发电机组折旧年限</a:t>
            </a:r>
            <a:r>
              <a:rPr lang="en-US" altLang="zh-CN" sz="2000" dirty="0" smtClean="0"/>
              <a:t>18</a:t>
            </a:r>
            <a:r>
              <a:rPr lang="zh-CN" altLang="en-US" sz="2000" dirty="0" smtClean="0"/>
              <a:t>年，经济使用年限一般为</a:t>
            </a:r>
            <a:r>
              <a:rPr lang="en-US" altLang="zh-CN" sz="2000" dirty="0" smtClean="0"/>
              <a:t>40-50</a:t>
            </a:r>
            <a:r>
              <a:rPr lang="zh-CN" altLang="en-US" sz="2000" dirty="0" smtClean="0"/>
              <a:t>年</a:t>
            </a:r>
            <a:endParaRPr lang="en-US" altLang="zh-CN" sz="2000" dirty="0" smtClean="0"/>
          </a:p>
          <a:p>
            <a:pPr lvl="1"/>
            <a:endParaRPr lang="en-US" altLang="zh-CN" sz="2000" dirty="0"/>
          </a:p>
          <a:p>
            <a:r>
              <a:rPr lang="zh-CN" altLang="en-US" dirty="0" smtClean="0"/>
              <a:t>影响</a:t>
            </a:r>
            <a:endParaRPr lang="en-US" altLang="zh-CN" dirty="0" smtClean="0"/>
          </a:p>
          <a:p>
            <a:pPr lvl="1"/>
            <a:r>
              <a:rPr lang="en-US" altLang="zh-CN" dirty="0"/>
              <a:t>2070</a:t>
            </a:r>
            <a:r>
              <a:rPr lang="zh-CN" altLang="en-US" dirty="0"/>
              <a:t>年</a:t>
            </a:r>
            <a:r>
              <a:rPr lang="zh-CN" altLang="en-US" dirty="0" smtClean="0"/>
              <a:t>之后，六座大坝已经基本折旧完毕，长江电力的折旧费用（还有银行借款和债券的利息费用）已经非常小</a:t>
            </a:r>
            <a:endParaRPr lang="en-US" altLang="zh-CN" dirty="0" smtClean="0"/>
          </a:p>
          <a:p>
            <a:pPr lvl="1"/>
            <a:r>
              <a:rPr lang="zh-CN" altLang="en-US" dirty="0" smtClean="0"/>
              <a:t>但发电能力并没有下降，随着电价的上升，卖电收入会大幅度上升</a:t>
            </a:r>
            <a:endParaRPr lang="en-US" altLang="zh-CN" dirty="0" smtClean="0"/>
          </a:p>
          <a:p>
            <a:pPr lvl="1"/>
            <a:r>
              <a:rPr lang="zh-CN" altLang="en-US" dirty="0" smtClean="0"/>
              <a:t>因而净利润会大幅度上升</a:t>
            </a:r>
            <a:endParaRPr lang="zh-CN" altLang="en-US" dirty="0"/>
          </a:p>
        </p:txBody>
      </p:sp>
    </p:spTree>
    <p:extLst>
      <p:ext uri="{BB962C8B-B14F-4D97-AF65-F5344CB8AC3E}">
        <p14:creationId xmlns:p14="http://schemas.microsoft.com/office/powerpoint/2010/main" val="32359181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zh-CN" altLang="en-US" dirty="0" smtClean="0"/>
              <a:t>特别要注意的</a:t>
            </a:r>
            <a:endParaRPr lang="zh-CN" altLang="en-US" dirty="0"/>
          </a:p>
        </p:txBody>
      </p:sp>
      <p:sp>
        <p:nvSpPr>
          <p:cNvPr id="4" name="内容占位符 3"/>
          <p:cNvSpPr>
            <a:spLocks noGrp="1"/>
          </p:cNvSpPr>
          <p:nvPr>
            <p:ph idx="1"/>
          </p:nvPr>
        </p:nvSpPr>
        <p:spPr/>
        <p:txBody>
          <a:bodyPr>
            <a:normAutofit lnSpcReduction="10000"/>
          </a:bodyPr>
          <a:lstStyle/>
          <a:p>
            <a:r>
              <a:rPr lang="zh-CN" altLang="en-US" dirty="0" smtClean="0"/>
              <a:t>财务数据仅仅代表过去</a:t>
            </a:r>
            <a:endParaRPr lang="en-US" altLang="zh-CN" dirty="0" smtClean="0"/>
          </a:p>
          <a:p>
            <a:endParaRPr lang="en-US" altLang="zh-CN" dirty="0"/>
          </a:p>
          <a:p>
            <a:r>
              <a:rPr lang="zh-CN" altLang="en-US" dirty="0" smtClean="0"/>
              <a:t>贵州茅台和片仔癀未来业绩如何？</a:t>
            </a:r>
            <a:endParaRPr lang="en-US" altLang="zh-CN" dirty="0" smtClean="0"/>
          </a:p>
          <a:p>
            <a:pPr lvl="1"/>
            <a:r>
              <a:rPr lang="zh-CN" altLang="en-US" dirty="0" smtClean="0"/>
              <a:t>白酒未来消费如何？贵州茅台的品牌溢价是否能够持续？</a:t>
            </a:r>
            <a:endParaRPr lang="en-US" altLang="zh-CN" dirty="0" smtClean="0"/>
          </a:p>
          <a:p>
            <a:pPr lvl="1"/>
            <a:r>
              <a:rPr lang="zh-CN" altLang="en-US" dirty="0"/>
              <a:t>片仔</a:t>
            </a:r>
            <a:r>
              <a:rPr lang="zh-CN" altLang="en-US" dirty="0" smtClean="0"/>
              <a:t>癀的产品价格过去几年大幅度上涨，目前单价已经很高，未来是否能够持续？</a:t>
            </a:r>
            <a:endParaRPr lang="en-US" altLang="zh-CN" dirty="0" smtClean="0"/>
          </a:p>
          <a:p>
            <a:pPr lvl="1"/>
            <a:endParaRPr lang="en-US" altLang="zh-CN" dirty="0"/>
          </a:p>
          <a:p>
            <a:r>
              <a:rPr lang="zh-CN" altLang="en-US" dirty="0" smtClean="0"/>
              <a:t>中国石油的业绩受石油开采量和油价影响</a:t>
            </a:r>
            <a:endParaRPr lang="en-US" altLang="zh-CN" dirty="0" smtClean="0"/>
          </a:p>
          <a:p>
            <a:endParaRPr lang="en-US" altLang="zh-CN" dirty="0"/>
          </a:p>
          <a:p>
            <a:r>
              <a:rPr lang="zh-CN" altLang="en-US" sz="4000" dirty="0" smtClean="0">
                <a:latin typeface="华文隶书" panose="02010800040101010101" pitchFamily="2" charset="-122"/>
                <a:ea typeface="华文隶书" panose="02010800040101010101" pitchFamily="2" charset="-122"/>
              </a:rPr>
              <a:t>唯</a:t>
            </a:r>
            <a:r>
              <a:rPr lang="zh-CN" altLang="en-US" sz="4000" dirty="0">
                <a:latin typeface="华文隶书" panose="02010800040101010101" pitchFamily="2" charset="-122"/>
                <a:ea typeface="华文隶书" panose="02010800040101010101" pitchFamily="2" charset="-122"/>
              </a:rPr>
              <a:t>见</a:t>
            </a:r>
            <a:r>
              <a:rPr lang="zh-CN" altLang="en-US" sz="4000" dirty="0" smtClean="0">
                <a:latin typeface="华文隶书" panose="02010800040101010101" pitchFamily="2" charset="-122"/>
                <a:ea typeface="华文隶书" panose="02010800040101010101" pitchFamily="2" charset="-122"/>
              </a:rPr>
              <a:t>长江天际流</a:t>
            </a:r>
            <a:r>
              <a:rPr lang="zh-CN" altLang="en-US" dirty="0" smtClean="0"/>
              <a:t>！</a:t>
            </a:r>
            <a:endParaRPr lang="zh-CN" altLang="en-US" dirty="0"/>
          </a:p>
        </p:txBody>
      </p:sp>
      <p:pic>
        <p:nvPicPr>
          <p:cNvPr id="2" name="图片 1"/>
          <p:cNvPicPr>
            <a:picLocks noChangeAspect="1"/>
          </p:cNvPicPr>
          <p:nvPr/>
        </p:nvPicPr>
        <p:blipFill>
          <a:blip r:embed="rId2"/>
          <a:stretch>
            <a:fillRect/>
          </a:stretch>
        </p:blipFill>
        <p:spPr>
          <a:xfrm>
            <a:off x="7772400" y="4067888"/>
            <a:ext cx="4152900" cy="2542462"/>
          </a:xfrm>
          <a:prstGeom prst="rect">
            <a:avLst/>
          </a:prstGeom>
        </p:spPr>
      </p:pic>
    </p:spTree>
    <p:extLst>
      <p:ext uri="{BB962C8B-B14F-4D97-AF65-F5344CB8AC3E}">
        <p14:creationId xmlns:p14="http://schemas.microsoft.com/office/powerpoint/2010/main" val="16173535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p:cNvSpPr>
            <a:spLocks noGrp="1"/>
          </p:cNvSpPr>
          <p:nvPr>
            <p:ph type="sldNum" sz="quarter" idx="12"/>
          </p:nvPr>
        </p:nvSpPr>
        <p:spPr/>
        <p:txBody>
          <a:bodyPr/>
          <a:lstStyle/>
          <a:p>
            <a:fld id="{A40D166B-86E6-41AE-A767-CF2648E1CA85}" type="slidenum">
              <a:rPr lang="zh-CN" altLang="en-US"/>
              <a:pPr/>
              <a:t>23</a:t>
            </a:fld>
            <a:endParaRPr lang="en-US" altLang="zh-CN"/>
          </a:p>
        </p:txBody>
      </p:sp>
      <p:sp>
        <p:nvSpPr>
          <p:cNvPr id="68610" name="Rectangle 2"/>
          <p:cNvSpPr>
            <a:spLocks noGrp="1" noChangeArrowheads="1"/>
          </p:cNvSpPr>
          <p:nvPr>
            <p:ph type="title"/>
          </p:nvPr>
        </p:nvSpPr>
        <p:spPr/>
        <p:txBody>
          <a:bodyPr/>
          <a:lstStyle/>
          <a:p>
            <a:pPr algn="ctr"/>
            <a:r>
              <a:rPr lang="zh-CN" altLang="en-US" dirty="0" smtClean="0"/>
              <a:t>内容</a:t>
            </a:r>
            <a:endParaRPr lang="en-US" altLang="zh-CN" dirty="0"/>
          </a:p>
        </p:txBody>
      </p:sp>
      <p:sp>
        <p:nvSpPr>
          <p:cNvPr id="68611" name="Rectangle 3"/>
          <p:cNvSpPr>
            <a:spLocks noGrp="1" noChangeArrowheads="1"/>
          </p:cNvSpPr>
          <p:nvPr>
            <p:ph type="body" sz="half" idx="1"/>
          </p:nvPr>
        </p:nvSpPr>
        <p:spPr>
          <a:xfrm>
            <a:off x="1087655" y="1916113"/>
            <a:ext cx="5046445" cy="3960812"/>
          </a:xfrm>
        </p:spPr>
        <p:txBody>
          <a:bodyPr/>
          <a:lstStyle/>
          <a:p>
            <a:pPr>
              <a:lnSpc>
                <a:spcPct val="90000"/>
              </a:lnSpc>
            </a:pPr>
            <a:r>
              <a:rPr lang="zh-CN" altLang="en-US" sz="2600" dirty="0"/>
              <a:t>3.1 财务报表</a:t>
            </a:r>
            <a:r>
              <a:rPr lang="zh-CN" altLang="en-US" sz="2600" dirty="0" smtClean="0"/>
              <a:t>的功能</a:t>
            </a:r>
            <a:endParaRPr lang="en-US" altLang="zh-CN" sz="2600" dirty="0"/>
          </a:p>
          <a:p>
            <a:pPr>
              <a:lnSpc>
                <a:spcPct val="90000"/>
              </a:lnSpc>
            </a:pPr>
            <a:r>
              <a:rPr lang="en-US" altLang="zh-CN" sz="2600" dirty="0"/>
              <a:t>3.2 </a:t>
            </a:r>
            <a:r>
              <a:rPr lang="zh-CN" altLang="en-US" sz="2600" dirty="0" smtClean="0"/>
              <a:t>会计报表回顾</a:t>
            </a:r>
            <a:endParaRPr lang="en-US" altLang="zh-CN" sz="2600" dirty="0" smtClean="0"/>
          </a:p>
          <a:p>
            <a:pPr>
              <a:lnSpc>
                <a:spcPct val="90000"/>
              </a:lnSpc>
            </a:pPr>
            <a:r>
              <a:rPr lang="en-US" altLang="zh-CN" sz="2600" dirty="0" smtClean="0"/>
              <a:t>3.3 </a:t>
            </a:r>
            <a:r>
              <a:rPr lang="zh-CN" altLang="en-US" sz="2600" dirty="0"/>
              <a:t>市场价值与帐面价值</a:t>
            </a:r>
          </a:p>
          <a:p>
            <a:pPr>
              <a:lnSpc>
                <a:spcPct val="90000"/>
              </a:lnSpc>
            </a:pPr>
            <a:r>
              <a:rPr lang="en-US" altLang="zh-CN" sz="2600" dirty="0"/>
              <a:t>3.4 </a:t>
            </a:r>
            <a:r>
              <a:rPr lang="zh-CN" altLang="en-US" sz="2600" dirty="0"/>
              <a:t>收入的会计度量和经济度量</a:t>
            </a:r>
          </a:p>
          <a:p>
            <a:pPr>
              <a:lnSpc>
                <a:spcPct val="90000"/>
              </a:lnSpc>
            </a:pPr>
            <a:r>
              <a:rPr lang="en-US" altLang="zh-CN" sz="2600" dirty="0"/>
              <a:t>3.5 </a:t>
            </a:r>
            <a:r>
              <a:rPr lang="zh-CN" altLang="en-US" sz="2600" dirty="0"/>
              <a:t>股东收益与</a:t>
            </a:r>
            <a:r>
              <a:rPr lang="en-US" altLang="zh-CN" sz="2600" dirty="0"/>
              <a:t>ROE</a:t>
            </a:r>
            <a:endParaRPr lang="en-US" altLang="zh-CN" dirty="0"/>
          </a:p>
        </p:txBody>
      </p:sp>
      <p:sp>
        <p:nvSpPr>
          <p:cNvPr id="68612" name="Rectangle 4"/>
          <p:cNvSpPr>
            <a:spLocks noGrp="1" noChangeArrowheads="1"/>
          </p:cNvSpPr>
          <p:nvPr>
            <p:ph type="body" sz="half" idx="2"/>
          </p:nvPr>
        </p:nvSpPr>
        <p:spPr>
          <a:xfrm>
            <a:off x="6311899" y="1844676"/>
            <a:ext cx="4150761" cy="4105275"/>
          </a:xfrm>
        </p:spPr>
        <p:txBody>
          <a:bodyPr/>
          <a:lstStyle/>
          <a:p>
            <a:pPr>
              <a:lnSpc>
                <a:spcPct val="90000"/>
              </a:lnSpc>
            </a:pPr>
            <a:r>
              <a:rPr lang="zh-CN" altLang="en-US" sz="2600" dirty="0"/>
              <a:t>3.6 财务比率分析</a:t>
            </a:r>
          </a:p>
          <a:p>
            <a:pPr>
              <a:lnSpc>
                <a:spcPct val="90000"/>
              </a:lnSpc>
            </a:pPr>
            <a:r>
              <a:rPr lang="en-US" altLang="zh-CN" sz="2600" dirty="0"/>
              <a:t>3.7 </a:t>
            </a:r>
            <a:r>
              <a:rPr lang="zh-CN" altLang="en-US" sz="2600" dirty="0" smtClean="0"/>
              <a:t>财务规划过程</a:t>
            </a:r>
            <a:endParaRPr lang="zh-CN" altLang="en-US" sz="2600" dirty="0"/>
          </a:p>
          <a:p>
            <a:pPr>
              <a:lnSpc>
                <a:spcPct val="90000"/>
              </a:lnSpc>
            </a:pPr>
            <a:r>
              <a:rPr lang="en-US" altLang="zh-CN" sz="2600" dirty="0"/>
              <a:t>3.8 </a:t>
            </a:r>
            <a:r>
              <a:rPr lang="zh-CN" altLang="en-US" sz="2600" dirty="0" smtClean="0"/>
              <a:t>财务规划建模</a:t>
            </a:r>
            <a:endParaRPr lang="en-US" altLang="zh-CN" sz="2600" dirty="0"/>
          </a:p>
          <a:p>
            <a:pPr>
              <a:lnSpc>
                <a:spcPct val="90000"/>
              </a:lnSpc>
            </a:pPr>
            <a:r>
              <a:rPr lang="en-US" altLang="zh-CN" sz="2600" dirty="0"/>
              <a:t>3.9 </a:t>
            </a:r>
            <a:r>
              <a:rPr lang="zh-CN" altLang="en-US" sz="2600" dirty="0"/>
              <a:t>增长</a:t>
            </a:r>
            <a:r>
              <a:rPr lang="zh-CN" altLang="en-US" sz="2600" dirty="0" smtClean="0"/>
              <a:t>与外源融资需求</a:t>
            </a:r>
            <a:endParaRPr lang="zh-CN" altLang="en-US" sz="2600" dirty="0"/>
          </a:p>
          <a:p>
            <a:pPr>
              <a:lnSpc>
                <a:spcPct val="90000"/>
              </a:lnSpc>
            </a:pPr>
            <a:r>
              <a:rPr lang="en-US" altLang="zh-CN" sz="2600" dirty="0"/>
              <a:t>3.10 </a:t>
            </a:r>
            <a:r>
              <a:rPr lang="zh-CN" altLang="en-US" sz="2600" dirty="0" smtClean="0"/>
              <a:t>营运资本</a:t>
            </a:r>
            <a:r>
              <a:rPr lang="zh-CN" altLang="en-US" sz="2600" dirty="0"/>
              <a:t>管理</a:t>
            </a:r>
            <a:endParaRPr lang="en-US" altLang="zh-CN" sz="2600" dirty="0"/>
          </a:p>
          <a:p>
            <a:pPr>
              <a:lnSpc>
                <a:spcPct val="90000"/>
              </a:lnSpc>
            </a:pPr>
            <a:r>
              <a:rPr lang="en-US" altLang="zh-CN" sz="2600" dirty="0"/>
              <a:t>3.11 </a:t>
            </a:r>
            <a:r>
              <a:rPr lang="zh-CN" altLang="en-US" sz="2600" dirty="0" smtClean="0"/>
              <a:t>流动性与现金</a:t>
            </a:r>
            <a:r>
              <a:rPr lang="zh-CN" altLang="en-US" sz="2600" dirty="0"/>
              <a:t>管理</a:t>
            </a:r>
            <a:endParaRPr lang="en-US" altLang="zh-CN" sz="2600" dirty="0"/>
          </a:p>
        </p:txBody>
      </p:sp>
    </p:spTree>
    <p:extLst>
      <p:ext uri="{BB962C8B-B14F-4D97-AF65-F5344CB8AC3E}">
        <p14:creationId xmlns:p14="http://schemas.microsoft.com/office/powerpoint/2010/main" val="7303013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E1C973A-C723-4512-BEBE-62DDAD09A7B2}" type="slidenum">
              <a:rPr lang="zh-CN" altLang="en-US"/>
              <a:pPr/>
              <a:t>24</a:t>
            </a:fld>
            <a:endParaRPr lang="en-US" altLang="zh-CN"/>
          </a:p>
        </p:txBody>
      </p:sp>
      <p:sp>
        <p:nvSpPr>
          <p:cNvPr id="9218"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dirty="0"/>
              <a:t>3.1　财务报表的功能</a:t>
            </a:r>
            <a:endParaRPr lang="en-US" altLang="zh-CN" dirty="0"/>
          </a:p>
        </p:txBody>
      </p:sp>
      <p:sp>
        <p:nvSpPr>
          <p:cNvPr id="9219" name="Rectangle 3"/>
          <p:cNvSpPr>
            <a:spLocks noGrp="1" noChangeArrowheads="1"/>
          </p:cNvSpPr>
          <p:nvPr>
            <p:ph type="body" idx="1"/>
          </p:nvPr>
        </p:nvSpPr>
        <p:spPr>
          <a:xfrm>
            <a:off x="2362200" y="1676400"/>
            <a:ext cx="7620000" cy="4876800"/>
          </a:xfrm>
          <a:noFill/>
          <a:ln/>
        </p:spPr>
        <p:txBody>
          <a:bodyPr vert="horz" lIns="92075" tIns="46038" rIns="92075" bIns="46038" rtlCol="0">
            <a:normAutofit/>
          </a:bodyPr>
          <a:lstStyle/>
          <a:p>
            <a:r>
              <a:rPr lang="zh-CN" altLang="en-US" dirty="0"/>
              <a:t>财务报表:</a:t>
            </a:r>
            <a:endParaRPr lang="zh-CN" altLang="en-US" sz="2600" dirty="0"/>
          </a:p>
          <a:p>
            <a:pPr lvl="1"/>
            <a:r>
              <a:rPr lang="zh-CN" altLang="en-US" sz="2200" dirty="0"/>
              <a:t>为股东和债权人提供企业现状和历史业绩的信息</a:t>
            </a:r>
            <a:endParaRPr lang="en-US" altLang="zh-CN" sz="2200" dirty="0"/>
          </a:p>
          <a:p>
            <a:pPr lvl="1"/>
            <a:r>
              <a:rPr lang="zh-CN" altLang="en-US" sz="2200" dirty="0"/>
              <a:t>为股东和债权人设定企业业绩目标和约束企业行为提供便利方法</a:t>
            </a:r>
            <a:endParaRPr lang="en-US" altLang="zh-CN" sz="2200" dirty="0"/>
          </a:p>
          <a:p>
            <a:pPr lvl="1"/>
            <a:r>
              <a:rPr lang="zh-CN" altLang="en-US" sz="2200" dirty="0"/>
              <a:t>提供财务计划的便利模板</a:t>
            </a:r>
            <a:endParaRPr lang="en-US" altLang="zh-CN" sz="2200" dirty="0"/>
          </a:p>
        </p:txBody>
      </p:sp>
    </p:spTree>
    <p:extLst>
      <p:ext uri="{BB962C8B-B14F-4D97-AF65-F5344CB8AC3E}">
        <p14:creationId xmlns:p14="http://schemas.microsoft.com/office/powerpoint/2010/main" val="13203229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26"/>
          <p:cNvSpPr>
            <a:spLocks noGrp="1" noChangeArrowheads="1"/>
          </p:cNvSpPr>
          <p:nvPr>
            <p:ph type="title"/>
          </p:nvPr>
        </p:nvSpPr>
        <p:spPr>
          <a:noFill/>
          <a:ln/>
        </p:spPr>
        <p:txBody>
          <a:bodyPr vert="horz" lIns="92075" tIns="46038" rIns="92075" bIns="46038" rtlCol="0" anchor="ctr">
            <a:normAutofit/>
          </a:bodyPr>
          <a:lstStyle/>
          <a:p>
            <a:pPr algn="ctr"/>
            <a:r>
              <a:rPr lang="zh-CN" altLang="en-US" dirty="0"/>
              <a:t>3.2 财务</a:t>
            </a:r>
            <a:r>
              <a:rPr lang="zh-CN" altLang="en-US" dirty="0" smtClean="0"/>
              <a:t>报表回顾</a:t>
            </a:r>
            <a:endParaRPr lang="zh-CN" altLang="en-US" dirty="0"/>
          </a:p>
        </p:txBody>
      </p:sp>
      <p:sp>
        <p:nvSpPr>
          <p:cNvPr id="2" name="内容占位符 1"/>
          <p:cNvSpPr>
            <a:spLocks noGrp="1"/>
          </p:cNvSpPr>
          <p:nvPr>
            <p:ph idx="1"/>
          </p:nvPr>
        </p:nvSpPr>
        <p:spPr/>
        <p:txBody>
          <a:bodyPr/>
          <a:lstStyle/>
          <a:p>
            <a:r>
              <a:rPr lang="zh-CN" altLang="en-US" dirty="0" smtClean="0"/>
              <a:t>资产负债表</a:t>
            </a:r>
            <a:r>
              <a:rPr lang="en-US" altLang="zh-CN" dirty="0" smtClean="0"/>
              <a:t>(</a:t>
            </a:r>
            <a:r>
              <a:rPr lang="en-US" altLang="zh-CN" dirty="0"/>
              <a:t>Balance </a:t>
            </a:r>
            <a:r>
              <a:rPr lang="en-US" altLang="zh-CN" dirty="0" smtClean="0"/>
              <a:t>Sheets)</a:t>
            </a:r>
          </a:p>
          <a:p>
            <a:endParaRPr lang="en-US" altLang="zh-CN" dirty="0"/>
          </a:p>
          <a:p>
            <a:r>
              <a:rPr lang="zh-CN" altLang="en-US" dirty="0" smtClean="0"/>
              <a:t>利润表</a:t>
            </a:r>
            <a:r>
              <a:rPr lang="en-US" altLang="zh-CN" dirty="0" smtClean="0"/>
              <a:t>(</a:t>
            </a:r>
            <a:r>
              <a:rPr lang="en-US" altLang="zh-CN" dirty="0"/>
              <a:t>Income </a:t>
            </a:r>
            <a:r>
              <a:rPr lang="en-US" altLang="zh-CN" dirty="0" smtClean="0"/>
              <a:t>Statements)</a:t>
            </a:r>
          </a:p>
          <a:p>
            <a:endParaRPr lang="en-US" altLang="zh-CN" dirty="0"/>
          </a:p>
          <a:p>
            <a:r>
              <a:rPr lang="zh-CN" altLang="en-US" dirty="0" smtClean="0"/>
              <a:t>现金流量表</a:t>
            </a:r>
            <a:r>
              <a:rPr lang="en-US" altLang="zh-CN" dirty="0" smtClean="0"/>
              <a:t>(</a:t>
            </a:r>
            <a:r>
              <a:rPr lang="en-US" altLang="zh-CN" dirty="0"/>
              <a:t>Cash-Flow </a:t>
            </a:r>
            <a:r>
              <a:rPr lang="en-US" altLang="zh-CN" dirty="0" smtClean="0"/>
              <a:t>Statements)</a:t>
            </a:r>
            <a:endParaRPr lang="en-US" altLang="zh-CN" dirty="0"/>
          </a:p>
        </p:txBody>
      </p:sp>
      <p:sp>
        <p:nvSpPr>
          <p:cNvPr id="4" name="灯片编号占位符 5"/>
          <p:cNvSpPr>
            <a:spLocks noGrp="1"/>
          </p:cNvSpPr>
          <p:nvPr>
            <p:ph type="sldNum" sz="quarter" idx="12"/>
          </p:nvPr>
        </p:nvSpPr>
        <p:spPr/>
        <p:txBody>
          <a:bodyPr/>
          <a:lstStyle/>
          <a:p>
            <a:fld id="{698C66A5-8225-4180-9902-62F847966520}" type="slidenum">
              <a:rPr lang="zh-CN" altLang="en-US"/>
              <a:pPr/>
              <a:t>25</a:t>
            </a:fld>
            <a:endParaRPr lang="en-US" altLang="zh-CN"/>
          </a:p>
        </p:txBody>
      </p:sp>
    </p:spTree>
    <p:extLst>
      <p:ext uri="{BB962C8B-B14F-4D97-AF65-F5344CB8AC3E}">
        <p14:creationId xmlns:p14="http://schemas.microsoft.com/office/powerpoint/2010/main" val="4748613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3BE70805-C76E-4271-B992-A0E5FA1DB3A1}" type="slidenum">
              <a:rPr lang="zh-CN" altLang="en-US"/>
              <a:pPr/>
              <a:t>26</a:t>
            </a:fld>
            <a:endParaRPr lang="en-US" altLang="zh-CN"/>
          </a:p>
        </p:txBody>
      </p:sp>
      <p:sp>
        <p:nvSpPr>
          <p:cNvPr id="69634" name="Rectangle 2"/>
          <p:cNvSpPr>
            <a:spLocks noGrp="1" noChangeArrowheads="1"/>
          </p:cNvSpPr>
          <p:nvPr>
            <p:ph type="title"/>
          </p:nvPr>
        </p:nvSpPr>
        <p:spPr>
          <a:noFill/>
          <a:ln/>
        </p:spPr>
        <p:txBody>
          <a:bodyPr vert="horz" lIns="92075" tIns="46038" rIns="92075" bIns="46038" rtlCol="0" anchor="ctr">
            <a:normAutofit/>
          </a:bodyPr>
          <a:lstStyle/>
          <a:p>
            <a:pPr algn="ctr"/>
            <a:r>
              <a:rPr lang="en-US" altLang="zh-CN" dirty="0" smtClean="0"/>
              <a:t>3.2.1 </a:t>
            </a:r>
            <a:r>
              <a:rPr lang="zh-CN" altLang="en-US" dirty="0" smtClean="0"/>
              <a:t>资产负债表</a:t>
            </a:r>
            <a:endParaRPr lang="zh-CN" altLang="en-US" dirty="0"/>
          </a:p>
        </p:txBody>
      </p:sp>
      <p:sp>
        <p:nvSpPr>
          <p:cNvPr id="69635" name="Rectangle 3"/>
          <p:cNvSpPr>
            <a:spLocks noGrp="1" noChangeArrowheads="1"/>
          </p:cNvSpPr>
          <p:nvPr>
            <p:ph type="body" idx="1"/>
          </p:nvPr>
        </p:nvSpPr>
        <p:spPr>
          <a:xfrm>
            <a:off x="838200" y="1716205"/>
            <a:ext cx="10442608" cy="4233512"/>
          </a:xfrm>
          <a:noFill/>
          <a:ln/>
        </p:spPr>
        <p:txBody>
          <a:bodyPr vert="horz" lIns="92075" tIns="46038" rIns="92075" bIns="46038" rtlCol="0">
            <a:normAutofit/>
          </a:bodyPr>
          <a:lstStyle/>
          <a:p>
            <a:r>
              <a:rPr lang="zh-CN" altLang="en-US" sz="3000" dirty="0"/>
              <a:t>某一时点（年末）上企业资产、负债和股东权益的总括性信息</a:t>
            </a:r>
            <a:endParaRPr lang="en-US" altLang="zh-CN" sz="3000" i="1" dirty="0"/>
          </a:p>
          <a:p>
            <a:r>
              <a:rPr lang="zh-CN" altLang="en-US" sz="3000" dirty="0"/>
              <a:t>基于历史价值获得的数据</a:t>
            </a:r>
          </a:p>
          <a:p>
            <a:r>
              <a:rPr lang="zh-CN" altLang="en-US" sz="3000" dirty="0"/>
              <a:t>在美国资产负债表的编制要根据</a:t>
            </a:r>
            <a:r>
              <a:rPr lang="en-US" altLang="zh-CN" sz="3000" dirty="0"/>
              <a:t>GAAP</a:t>
            </a:r>
            <a:r>
              <a:rPr lang="zh-CN" altLang="en-US" sz="3000" dirty="0"/>
              <a:t>的规定, </a:t>
            </a:r>
            <a:r>
              <a:rPr lang="en-US" altLang="zh-CN" sz="3000" u="sng" dirty="0"/>
              <a:t>G</a:t>
            </a:r>
            <a:r>
              <a:rPr lang="en-US" altLang="zh-CN" sz="3000" dirty="0"/>
              <a:t>enerally </a:t>
            </a:r>
            <a:r>
              <a:rPr lang="en-US" altLang="zh-CN" sz="3000" u="sng" dirty="0"/>
              <a:t>A</a:t>
            </a:r>
            <a:r>
              <a:rPr lang="en-US" altLang="zh-CN" sz="3000" dirty="0"/>
              <a:t>ccepted </a:t>
            </a:r>
            <a:r>
              <a:rPr lang="en-US" altLang="zh-CN" sz="3000" u="sng" dirty="0"/>
              <a:t>A</a:t>
            </a:r>
            <a:r>
              <a:rPr lang="en-US" altLang="zh-CN" sz="3000" dirty="0"/>
              <a:t>ccounting </a:t>
            </a:r>
            <a:r>
              <a:rPr lang="en-US" altLang="zh-CN" sz="3000" u="sng" dirty="0"/>
              <a:t>P</a:t>
            </a:r>
            <a:r>
              <a:rPr lang="en-US" altLang="zh-CN" sz="3000" dirty="0"/>
              <a:t>rinciples</a:t>
            </a:r>
          </a:p>
          <a:p>
            <a:pPr lvl="1"/>
            <a:r>
              <a:rPr lang="en-US" altLang="zh-CN" sz="2600" dirty="0"/>
              <a:t>GAAP modified occasionally by the Financial Accounting Standards Board</a:t>
            </a:r>
          </a:p>
          <a:p>
            <a:r>
              <a:rPr lang="zh-CN" altLang="en-US" sz="3000" dirty="0"/>
              <a:t>在美国上市的公司要遵守</a:t>
            </a:r>
            <a:r>
              <a:rPr lang="en-US" altLang="zh-CN" sz="3000" u="sng" dirty="0"/>
              <a:t>S</a:t>
            </a:r>
            <a:r>
              <a:rPr lang="en-US" altLang="zh-CN" sz="3000" dirty="0"/>
              <a:t>ecurities and </a:t>
            </a:r>
            <a:r>
              <a:rPr lang="en-US" altLang="zh-CN" sz="3000" u="sng" dirty="0"/>
              <a:t>E</a:t>
            </a:r>
            <a:r>
              <a:rPr lang="en-US" altLang="zh-CN" sz="3000" dirty="0"/>
              <a:t>xchange </a:t>
            </a:r>
            <a:r>
              <a:rPr lang="en-US" altLang="zh-CN" sz="3000" u="sng" dirty="0"/>
              <a:t>C</a:t>
            </a:r>
            <a:r>
              <a:rPr lang="en-US" altLang="zh-CN" sz="3000" dirty="0"/>
              <a:t>ommission (SEC) </a:t>
            </a:r>
            <a:r>
              <a:rPr lang="zh-CN" altLang="en-US" sz="3000" dirty="0"/>
              <a:t>的规则</a:t>
            </a:r>
          </a:p>
        </p:txBody>
      </p:sp>
    </p:spTree>
    <p:extLst>
      <p:ext uri="{BB962C8B-B14F-4D97-AF65-F5344CB8AC3E}">
        <p14:creationId xmlns:p14="http://schemas.microsoft.com/office/powerpoint/2010/main" val="23143392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各国会计准则的差异与趋同</a:t>
            </a:r>
            <a:endParaRPr lang="zh-CN" altLang="en-US" dirty="0"/>
          </a:p>
        </p:txBody>
      </p:sp>
      <p:sp>
        <p:nvSpPr>
          <p:cNvPr id="3" name="内容占位符 2"/>
          <p:cNvSpPr>
            <a:spLocks noGrp="1"/>
          </p:cNvSpPr>
          <p:nvPr>
            <p:ph idx="1"/>
          </p:nvPr>
        </p:nvSpPr>
        <p:spPr/>
        <p:txBody>
          <a:bodyPr/>
          <a:lstStyle/>
          <a:p>
            <a:r>
              <a:rPr lang="zh-CN" altLang="en-US" dirty="0" smtClean="0"/>
              <a:t>以英国为代表的国际会计准则</a:t>
            </a:r>
            <a:endParaRPr lang="en-US" altLang="zh-CN" dirty="0" smtClean="0"/>
          </a:p>
          <a:p>
            <a:pPr lvl="1"/>
            <a:r>
              <a:rPr lang="zh-CN" altLang="en-US" dirty="0" smtClean="0"/>
              <a:t>中国采用的是国际会计准则，但在一些方面有所不同</a:t>
            </a:r>
            <a:endParaRPr lang="en-US" altLang="zh-CN" dirty="0" smtClean="0"/>
          </a:p>
          <a:p>
            <a:endParaRPr lang="en-US" altLang="zh-CN" dirty="0"/>
          </a:p>
          <a:p>
            <a:r>
              <a:rPr lang="zh-CN" altLang="en-US" dirty="0" smtClean="0"/>
              <a:t>美国会计准则</a:t>
            </a:r>
            <a:r>
              <a:rPr lang="en-US" altLang="zh-CN" dirty="0" smtClean="0"/>
              <a:t>GAAP</a:t>
            </a:r>
          </a:p>
          <a:p>
            <a:endParaRPr lang="en-US" altLang="zh-CN" dirty="0"/>
          </a:p>
          <a:p>
            <a:r>
              <a:rPr lang="zh-CN" altLang="en-US" dirty="0" smtClean="0"/>
              <a:t>全球一体化与各国会计准则趋同</a:t>
            </a:r>
            <a:endParaRPr lang="en-US" altLang="zh-CN" dirty="0" smtClean="0"/>
          </a:p>
          <a:p>
            <a:pPr lvl="1"/>
            <a:r>
              <a:rPr lang="zh-CN" altLang="en-US" dirty="0" smtClean="0"/>
              <a:t>经济一体化与资本市场关联度增加会导致各国会计准则的趋同</a:t>
            </a:r>
            <a:endParaRPr lang="en-US" altLang="zh-CN" dirty="0" smtClean="0"/>
          </a:p>
          <a:p>
            <a:pPr lvl="1"/>
            <a:r>
              <a:rPr lang="zh-CN" altLang="en-US" dirty="0" smtClean="0"/>
              <a:t>近年来以美国为首的逆全球化趋势的影响</a:t>
            </a:r>
            <a:endParaRPr lang="zh-CN" altLang="en-US" dirty="0"/>
          </a:p>
        </p:txBody>
      </p:sp>
    </p:spTree>
    <p:extLst>
      <p:ext uri="{BB962C8B-B14F-4D97-AF65-F5344CB8AC3E}">
        <p14:creationId xmlns:p14="http://schemas.microsoft.com/office/powerpoint/2010/main" val="41105857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A535F87A-9887-4E21-8483-A90EF4C5C9A2}" type="slidenum">
              <a:rPr lang="zh-CN" altLang="en-US"/>
              <a:pPr/>
              <a:t>28</a:t>
            </a:fld>
            <a:endParaRPr lang="en-US" altLang="zh-CN"/>
          </a:p>
        </p:txBody>
      </p:sp>
      <p:sp>
        <p:nvSpPr>
          <p:cNvPr id="11266"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dirty="0"/>
              <a:t>资产负债表</a:t>
            </a:r>
          </a:p>
        </p:txBody>
      </p:sp>
      <p:sp>
        <p:nvSpPr>
          <p:cNvPr id="11267" name="Rectangle 3"/>
          <p:cNvSpPr>
            <a:spLocks noGrp="1" noChangeArrowheads="1"/>
          </p:cNvSpPr>
          <p:nvPr>
            <p:ph type="body" idx="1"/>
          </p:nvPr>
        </p:nvSpPr>
        <p:spPr>
          <a:xfrm>
            <a:off x="3874168" y="1889919"/>
            <a:ext cx="4443663" cy="4267200"/>
          </a:xfrm>
          <a:noFill/>
          <a:ln/>
        </p:spPr>
        <p:txBody>
          <a:bodyPr vert="horz" lIns="92075" tIns="46038" rIns="92075" bIns="46038" rtlCol="0">
            <a:normAutofit/>
          </a:bodyPr>
          <a:lstStyle/>
          <a:p>
            <a:r>
              <a:rPr lang="zh-CN" altLang="en-US" dirty="0"/>
              <a:t>主要部分:</a:t>
            </a:r>
          </a:p>
          <a:p>
            <a:pPr lvl="1"/>
            <a:r>
              <a:rPr lang="zh-CN" altLang="en-US" dirty="0"/>
              <a:t>资产</a:t>
            </a:r>
          </a:p>
          <a:p>
            <a:pPr lvl="2">
              <a:lnSpc>
                <a:spcPct val="95000"/>
              </a:lnSpc>
              <a:spcBef>
                <a:spcPct val="35000"/>
              </a:spcBef>
            </a:pPr>
            <a:r>
              <a:rPr lang="zh-CN" altLang="en-US" dirty="0"/>
              <a:t>流动资产 (少于一年)</a:t>
            </a:r>
          </a:p>
          <a:p>
            <a:pPr lvl="2">
              <a:lnSpc>
                <a:spcPct val="95000"/>
              </a:lnSpc>
              <a:spcBef>
                <a:spcPct val="35000"/>
              </a:spcBef>
            </a:pPr>
            <a:r>
              <a:rPr lang="zh-CN" altLang="en-US" dirty="0"/>
              <a:t>长期资产 (长于一年）</a:t>
            </a:r>
          </a:p>
          <a:p>
            <a:pPr lvl="3"/>
            <a:r>
              <a:rPr lang="zh-CN" altLang="en-US" dirty="0"/>
              <a:t>折旧</a:t>
            </a:r>
          </a:p>
          <a:p>
            <a:pPr lvl="1"/>
            <a:r>
              <a:rPr lang="zh-CN" altLang="en-US" dirty="0"/>
              <a:t>负债和股东权益</a:t>
            </a:r>
            <a:endParaRPr lang="en-US" altLang="zh-CN" dirty="0"/>
          </a:p>
          <a:p>
            <a:pPr lvl="2">
              <a:lnSpc>
                <a:spcPct val="95000"/>
              </a:lnSpc>
              <a:spcBef>
                <a:spcPct val="35000"/>
              </a:spcBef>
            </a:pPr>
            <a:r>
              <a:rPr lang="zh-CN" altLang="en-US" dirty="0"/>
              <a:t>负债</a:t>
            </a:r>
          </a:p>
          <a:p>
            <a:pPr lvl="3"/>
            <a:r>
              <a:rPr lang="zh-CN" altLang="en-US" dirty="0"/>
              <a:t>流动负债</a:t>
            </a:r>
          </a:p>
          <a:p>
            <a:pPr lvl="3"/>
            <a:r>
              <a:rPr lang="zh-CN" altLang="en-US" dirty="0"/>
              <a:t>长期债券</a:t>
            </a:r>
          </a:p>
          <a:p>
            <a:pPr lvl="2">
              <a:lnSpc>
                <a:spcPct val="95000"/>
              </a:lnSpc>
              <a:spcBef>
                <a:spcPct val="35000"/>
              </a:spcBef>
            </a:pPr>
            <a:r>
              <a:rPr lang="zh-CN" altLang="en-US" dirty="0" smtClean="0"/>
              <a:t>股本与留存收益</a:t>
            </a:r>
            <a:endParaRPr lang="zh-CN" altLang="en-US" dirty="0"/>
          </a:p>
        </p:txBody>
      </p:sp>
    </p:spTree>
    <p:extLst>
      <p:ext uri="{BB962C8B-B14F-4D97-AF65-F5344CB8AC3E}">
        <p14:creationId xmlns:p14="http://schemas.microsoft.com/office/powerpoint/2010/main" val="20159617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smtClean="0"/>
              <a:t>贵州茅台资产负债简表</a:t>
            </a:r>
            <a:r>
              <a:rPr lang="en-US" altLang="zh-CN" dirty="0" smtClean="0"/>
              <a:t/>
            </a:r>
            <a:br>
              <a:rPr lang="en-US" altLang="zh-CN" dirty="0" smtClean="0"/>
            </a:br>
            <a:r>
              <a:rPr lang="zh-CN" altLang="en-US" sz="3300" dirty="0" smtClean="0"/>
              <a:t>（流动资产远高于负债合计、没有实质性长期负债）</a:t>
            </a:r>
            <a:endParaRPr lang="zh-CN" altLang="en-US" sz="3300" dirty="0"/>
          </a:p>
        </p:txBody>
      </p:sp>
      <p:graphicFrame>
        <p:nvGraphicFramePr>
          <p:cNvPr id="3" name="表格 2"/>
          <p:cNvGraphicFramePr>
            <a:graphicFrameLocks noGrp="1"/>
          </p:cNvGraphicFramePr>
          <p:nvPr>
            <p:extLst/>
          </p:nvPr>
        </p:nvGraphicFramePr>
        <p:xfrm>
          <a:off x="462014" y="1790296"/>
          <a:ext cx="11136428" cy="3984864"/>
        </p:xfrm>
        <a:graphic>
          <a:graphicData uri="http://schemas.openxmlformats.org/drawingml/2006/table">
            <a:tbl>
              <a:tblPr>
                <a:tableStyleId>{5C22544A-7EE6-4342-B048-85BDC9FD1C3A}</a:tableStyleId>
              </a:tblPr>
              <a:tblGrid>
                <a:gridCol w="2914205"/>
                <a:gridCol w="2237694"/>
                <a:gridCol w="2081575"/>
                <a:gridCol w="2133615"/>
                <a:gridCol w="1769339"/>
              </a:tblGrid>
              <a:tr h="414424">
                <a:tc>
                  <a:txBody>
                    <a:bodyPr/>
                    <a:lstStyle/>
                    <a:p>
                      <a:pPr algn="l" rtl="0" fontAlgn="ctr"/>
                      <a:r>
                        <a:rPr lang="zh-CN" altLang="en-US" sz="2200" u="none" strike="noStrike" dirty="0">
                          <a:effectLst/>
                        </a:rPr>
                        <a:t>项目 </a:t>
                      </a:r>
                      <a:endParaRPr lang="zh-CN" altLang="en-US"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rtl="0" fontAlgn="t"/>
                      <a:r>
                        <a:rPr lang="en-US" altLang="zh-CN" sz="2200" u="none" strike="noStrike">
                          <a:effectLst/>
                        </a:rPr>
                        <a:t>2020</a:t>
                      </a:r>
                      <a:r>
                        <a:rPr lang="zh-CN" altLang="en-US" sz="2200" u="none" strike="noStrike">
                          <a:effectLst/>
                        </a:rPr>
                        <a:t>年（亿元）</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t"/>
                      <a:r>
                        <a:rPr lang="en-US" altLang="zh-CN" sz="2200" u="none" strike="noStrike">
                          <a:effectLst/>
                        </a:rPr>
                        <a:t>2019</a:t>
                      </a:r>
                      <a:r>
                        <a:rPr lang="zh-CN" altLang="en-US" sz="2200" u="none" strike="noStrike">
                          <a:effectLst/>
                        </a:rPr>
                        <a:t>年（亿元）</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t"/>
                      <a:r>
                        <a:rPr lang="en-US" altLang="zh-CN" sz="2200" u="none" strike="noStrike">
                          <a:effectLst/>
                        </a:rPr>
                        <a:t>2018</a:t>
                      </a:r>
                      <a:r>
                        <a:rPr lang="zh-CN" altLang="en-US" sz="2200" u="none" strike="noStrike">
                          <a:effectLst/>
                        </a:rPr>
                        <a:t>年（亿元）</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t"/>
                      <a:r>
                        <a:rPr lang="en-US" altLang="zh-CN" sz="2200" u="none" strike="noStrike">
                          <a:effectLst/>
                        </a:rPr>
                        <a:t>2017</a:t>
                      </a:r>
                      <a:r>
                        <a:rPr lang="zh-CN" altLang="en-US" sz="2200" u="none" strike="noStrike">
                          <a:effectLst/>
                        </a:rPr>
                        <a:t>年（亿元）</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446305">
                <a:tc>
                  <a:txBody>
                    <a:bodyPr/>
                    <a:lstStyle/>
                    <a:p>
                      <a:pPr algn="l" rtl="0" fontAlgn="ctr"/>
                      <a:r>
                        <a:rPr lang="zh-CN" altLang="en-US" sz="2200" u="none" strike="noStrike" dirty="0">
                          <a:solidFill>
                            <a:srgbClr val="0070C0"/>
                          </a:solidFill>
                          <a:effectLst/>
                        </a:rPr>
                        <a:t>流动资产合计 </a:t>
                      </a:r>
                      <a:endParaRPr lang="zh-CN" altLang="en-US" sz="22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1,856.52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1,590.24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1,378.62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a:effectLst/>
                        </a:rPr>
                        <a:t>1,122.50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u="none" strike="noStrike" dirty="0">
                          <a:solidFill>
                            <a:srgbClr val="0070C0"/>
                          </a:solidFill>
                          <a:effectLst/>
                        </a:rPr>
                        <a:t>非流动资产合计 </a:t>
                      </a:r>
                      <a:endParaRPr lang="zh-CN" altLang="en-US" sz="22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277.44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240.18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219.85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a:effectLst/>
                        </a:rPr>
                        <a:t>223.60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b="1" u="none" strike="noStrike" dirty="0">
                          <a:solidFill>
                            <a:srgbClr val="0070C0"/>
                          </a:solidFill>
                          <a:effectLst/>
                        </a:rPr>
                        <a:t>资产总计 </a:t>
                      </a:r>
                      <a:endParaRPr lang="zh-CN" altLang="en-US" sz="22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2,133.96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1,830.42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1,598.47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a:effectLst/>
                        </a:rPr>
                        <a:t>1,346.10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u="none" strike="noStrike" dirty="0">
                          <a:solidFill>
                            <a:srgbClr val="FF0000"/>
                          </a:solidFill>
                          <a:effectLst/>
                        </a:rPr>
                        <a:t>流动负债合计 </a:t>
                      </a:r>
                      <a:endParaRPr lang="zh-CN" altLang="en-US" sz="22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456.74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410.93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424.38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a:effectLst/>
                        </a:rPr>
                        <a:t>385.70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u="none" strike="noStrike" dirty="0">
                          <a:solidFill>
                            <a:srgbClr val="FF0000"/>
                          </a:solidFill>
                          <a:effectLst/>
                        </a:rPr>
                        <a:t>非流动负债合计 </a:t>
                      </a:r>
                      <a:endParaRPr lang="zh-CN" altLang="en-US" sz="22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a:effectLst/>
                        </a:rPr>
                        <a:t>0.01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0.73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smtClean="0">
                          <a:effectLst/>
                        </a:rPr>
                        <a:t>0.00</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a:effectLst/>
                        </a:rPr>
                        <a:t>0.20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b="1" u="none" strike="noStrike" dirty="0">
                          <a:solidFill>
                            <a:srgbClr val="FF0000"/>
                          </a:solidFill>
                          <a:effectLst/>
                        </a:rPr>
                        <a:t>负债合计 </a:t>
                      </a:r>
                      <a:endParaRPr lang="zh-CN" altLang="en-US" sz="22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a:effectLst/>
                        </a:rPr>
                        <a:t>456.75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411.66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424.38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a:effectLst/>
                        </a:rPr>
                        <a:t>385.90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u="none" strike="noStrike">
                          <a:effectLst/>
                        </a:rPr>
                        <a:t>所有者权益合计 </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1,677.21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1,418.76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1,174.08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dirty="0">
                          <a:effectLst/>
                        </a:rPr>
                        <a:t>960.20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446305">
                <a:tc>
                  <a:txBody>
                    <a:bodyPr/>
                    <a:lstStyle/>
                    <a:p>
                      <a:pPr algn="l" rtl="0" fontAlgn="ctr"/>
                      <a:r>
                        <a:rPr lang="zh-CN" altLang="en-US" sz="2200" u="none" strike="noStrike">
                          <a:effectLst/>
                        </a:rPr>
                        <a:t>负债和所有者权益总计 </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2,133.96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1,830.42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1,598.47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ctr"/>
                      <a:r>
                        <a:rPr lang="en-US" altLang="zh-CN" sz="2200" u="none" strike="noStrike" dirty="0">
                          <a:effectLst/>
                        </a:rPr>
                        <a:t>1,346.10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bl>
          </a:graphicData>
        </a:graphic>
      </p:graphicFrame>
    </p:spTree>
    <p:extLst>
      <p:ext uri="{BB962C8B-B14F-4D97-AF65-F5344CB8AC3E}">
        <p14:creationId xmlns:p14="http://schemas.microsoft.com/office/powerpoint/2010/main" val="17507611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pPr algn="ctr"/>
            <a:r>
              <a:rPr lang="zh-CN" altLang="en-US" dirty="0" smtClean="0"/>
              <a:t>中国石油资产负债表简表</a:t>
            </a:r>
            <a:r>
              <a:rPr lang="en-US" altLang="zh-CN" dirty="0" smtClean="0"/>
              <a:t/>
            </a:r>
            <a:br>
              <a:rPr lang="en-US" altLang="zh-CN" dirty="0" smtClean="0"/>
            </a:br>
            <a:r>
              <a:rPr lang="zh-CN" altLang="en-US" sz="3300" dirty="0" smtClean="0"/>
              <a:t>（流动资产低于流动负债、非流动性负债相对较高）</a:t>
            </a:r>
            <a:endParaRPr lang="zh-CN" altLang="en-US" sz="3300" dirty="0"/>
          </a:p>
        </p:txBody>
      </p:sp>
      <p:graphicFrame>
        <p:nvGraphicFramePr>
          <p:cNvPr id="2" name="表格 1"/>
          <p:cNvGraphicFramePr>
            <a:graphicFrameLocks noGrp="1"/>
          </p:cNvGraphicFramePr>
          <p:nvPr>
            <p:extLst>
              <p:ext uri="{D42A27DB-BD31-4B8C-83A1-F6EECF244321}">
                <p14:modId xmlns:p14="http://schemas.microsoft.com/office/powerpoint/2010/main" val="3094788038"/>
              </p:ext>
            </p:extLst>
          </p:nvPr>
        </p:nvGraphicFramePr>
        <p:xfrm>
          <a:off x="288758" y="1819173"/>
          <a:ext cx="11444437" cy="4494999"/>
        </p:xfrm>
        <a:graphic>
          <a:graphicData uri="http://schemas.openxmlformats.org/drawingml/2006/table">
            <a:tbl>
              <a:tblPr>
                <a:tableStyleId>{21E4AEA4-8DFA-4A89-87EB-49C32662AFE0}</a:tableStyleId>
              </a:tblPr>
              <a:tblGrid>
                <a:gridCol w="2994806"/>
                <a:gridCol w="2299584"/>
                <a:gridCol w="2139147"/>
                <a:gridCol w="2192625"/>
                <a:gridCol w="1818275"/>
              </a:tblGrid>
              <a:tr h="467479">
                <a:tc>
                  <a:txBody>
                    <a:bodyPr/>
                    <a:lstStyle/>
                    <a:p>
                      <a:pPr algn="l" rtl="0" fontAlgn="ctr"/>
                      <a:r>
                        <a:rPr lang="zh-CN" altLang="en-US" sz="2200" u="none" strike="noStrike" dirty="0">
                          <a:effectLst/>
                        </a:rPr>
                        <a:t>项目 </a:t>
                      </a:r>
                      <a:endParaRPr lang="zh-CN" altLang="en-US"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rtl="0" fontAlgn="t"/>
                      <a:r>
                        <a:rPr lang="en-US" altLang="zh-CN" sz="2200" u="none" strike="noStrike" dirty="0">
                          <a:effectLst/>
                        </a:rPr>
                        <a:t>2020</a:t>
                      </a:r>
                      <a:r>
                        <a:rPr lang="zh-CN" altLang="en-US" sz="2200" u="none" strike="noStrike" dirty="0">
                          <a:effectLst/>
                        </a:rPr>
                        <a:t>年（亿元）</a:t>
                      </a:r>
                      <a:endParaRPr lang="zh-CN" altLang="en-US"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t"/>
                      <a:r>
                        <a:rPr lang="en-US" altLang="zh-CN" sz="2200" u="none" strike="noStrike" dirty="0">
                          <a:effectLst/>
                        </a:rPr>
                        <a:t>2019</a:t>
                      </a:r>
                      <a:r>
                        <a:rPr lang="zh-CN" altLang="en-US" sz="2200" u="none" strike="noStrike" dirty="0">
                          <a:effectLst/>
                        </a:rPr>
                        <a:t>年（亿元）</a:t>
                      </a:r>
                      <a:endParaRPr lang="zh-CN" altLang="en-US"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t"/>
                      <a:r>
                        <a:rPr lang="en-US" altLang="zh-CN" sz="2200" u="none" strike="noStrike" dirty="0">
                          <a:effectLst/>
                        </a:rPr>
                        <a:t>2018</a:t>
                      </a:r>
                      <a:r>
                        <a:rPr lang="zh-CN" altLang="en-US" sz="2200" u="none" strike="noStrike" dirty="0">
                          <a:effectLst/>
                        </a:rPr>
                        <a:t>年（亿元）</a:t>
                      </a:r>
                      <a:endParaRPr lang="zh-CN" altLang="en-US"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rtl="0" fontAlgn="t"/>
                      <a:r>
                        <a:rPr lang="en-US" altLang="zh-CN" sz="2200" u="none" strike="noStrike" dirty="0">
                          <a:effectLst/>
                        </a:rPr>
                        <a:t>2017</a:t>
                      </a:r>
                      <a:r>
                        <a:rPr lang="zh-CN" altLang="en-US" sz="2200" u="none" strike="noStrike" dirty="0">
                          <a:effectLst/>
                        </a:rPr>
                        <a:t>年（亿元）</a:t>
                      </a:r>
                      <a:endParaRPr lang="zh-CN" altLang="en-US"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dirty="0">
                          <a:effectLst/>
                        </a:rPr>
                        <a:t>流动资产合计 </a:t>
                      </a:r>
                      <a:endParaRPr lang="zh-CN" altLang="en-US" sz="22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4,867.67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4,669.13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4,331.28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4,251.62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dirty="0">
                          <a:effectLst/>
                        </a:rPr>
                        <a:t>非流动资产合计 </a:t>
                      </a:r>
                      <a:endParaRPr lang="zh-CN" altLang="en-US" sz="22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20,016.33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22,662.77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19,994.30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19,797.48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dirty="0">
                          <a:effectLst/>
                        </a:rPr>
                        <a:t>资产总计 </a:t>
                      </a:r>
                      <a:endParaRPr lang="zh-CN" altLang="en-US" sz="22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24,884.00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27,331.90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24,325.58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24,049.10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dirty="0">
                          <a:effectLst/>
                        </a:rPr>
                        <a:t>流动负债合计 </a:t>
                      </a:r>
                      <a:endParaRPr lang="zh-CN" altLang="en-US" sz="22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6,054.18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6,614.19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5,863.86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5,766.67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dirty="0">
                          <a:effectLst/>
                        </a:rPr>
                        <a:t>非流动负债合计 </a:t>
                      </a:r>
                      <a:endParaRPr lang="zh-CN" altLang="en-US" sz="22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5,160.97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6,271.93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4,352.29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4,466.33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dirty="0">
                          <a:effectLst/>
                        </a:rPr>
                        <a:t>负债合计 </a:t>
                      </a:r>
                      <a:endParaRPr lang="zh-CN" altLang="en-US" sz="22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a:effectLst/>
                        </a:rPr>
                        <a:t>11,215.15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12,886.12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10,216.15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10,233.00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a:effectLst/>
                        </a:rPr>
                        <a:t>所有者权益合计 </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dirty="0">
                          <a:effectLst/>
                        </a:rPr>
                        <a:t>13,668.85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14,445.78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14,109.43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13,816.10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503440">
                <a:tc>
                  <a:txBody>
                    <a:bodyPr/>
                    <a:lstStyle/>
                    <a:p>
                      <a:pPr algn="l" rtl="0" fontAlgn="ctr"/>
                      <a:r>
                        <a:rPr lang="zh-CN" altLang="en-US" sz="2200" u="none" strike="noStrike">
                          <a:effectLst/>
                        </a:rPr>
                        <a:t>负债和所有者权益总计 </a:t>
                      </a:r>
                      <a:endParaRPr lang="zh-CN" altLang="en-US"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2200" u="none" strike="noStrike">
                          <a:effectLst/>
                        </a:rPr>
                        <a:t>24,884.00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a:effectLst/>
                        </a:rPr>
                        <a:t>27,331.90 </a:t>
                      </a:r>
                      <a:endParaRPr lang="en-US" altLang="zh-CN" sz="22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24,325.58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2200" u="none" strike="noStrike" dirty="0">
                          <a:effectLst/>
                        </a:rPr>
                        <a:t>24,049.10 </a:t>
                      </a:r>
                      <a:endParaRPr lang="en-US" altLang="zh-CN" sz="22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bl>
          </a:graphicData>
        </a:graphic>
      </p:graphicFrame>
    </p:spTree>
    <p:extLst>
      <p:ext uri="{BB962C8B-B14F-4D97-AF65-F5344CB8AC3E}">
        <p14:creationId xmlns:p14="http://schemas.microsoft.com/office/powerpoint/2010/main" val="29833912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780674" y="182527"/>
            <a:ext cx="7363325" cy="4158466"/>
          </a:xfrm>
          <a:prstGeom prst="rect">
            <a:avLst/>
          </a:prstGeom>
        </p:spPr>
      </p:pic>
      <p:pic>
        <p:nvPicPr>
          <p:cNvPr id="4" name="图片 3"/>
          <p:cNvPicPr>
            <a:picLocks noChangeAspect="1"/>
          </p:cNvPicPr>
          <p:nvPr/>
        </p:nvPicPr>
        <p:blipFill>
          <a:blip r:embed="rId3"/>
          <a:stretch>
            <a:fillRect/>
          </a:stretch>
        </p:blipFill>
        <p:spPr>
          <a:xfrm>
            <a:off x="1780674" y="4340993"/>
            <a:ext cx="7218946" cy="2204186"/>
          </a:xfrm>
          <a:prstGeom prst="rect">
            <a:avLst/>
          </a:prstGeom>
        </p:spPr>
      </p:pic>
    </p:spTree>
    <p:extLst>
      <p:ext uri="{BB962C8B-B14F-4D97-AF65-F5344CB8AC3E}">
        <p14:creationId xmlns:p14="http://schemas.microsoft.com/office/powerpoint/2010/main" val="30776609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7FFCBFCA-E686-4F8C-A0FC-521572D04ACB}" type="slidenum">
              <a:rPr lang="zh-CN" altLang="en-US"/>
              <a:pPr/>
              <a:t>32</a:t>
            </a:fld>
            <a:endParaRPr lang="en-US" altLang="zh-CN"/>
          </a:p>
        </p:txBody>
      </p:sp>
      <p:sp>
        <p:nvSpPr>
          <p:cNvPr id="15362" name="Rectangle 2"/>
          <p:cNvSpPr>
            <a:spLocks noGrp="1" noChangeArrowheads="1"/>
          </p:cNvSpPr>
          <p:nvPr>
            <p:ph type="title"/>
          </p:nvPr>
        </p:nvSpPr>
        <p:spPr>
          <a:noFill/>
          <a:ln/>
        </p:spPr>
        <p:txBody>
          <a:bodyPr vert="horz" lIns="92075" tIns="46038" rIns="92075" bIns="46038" rtlCol="0" anchor="ctr">
            <a:normAutofit/>
          </a:bodyPr>
          <a:lstStyle/>
          <a:p>
            <a:pPr algn="ctr"/>
            <a:r>
              <a:rPr lang="en-US" altLang="zh-CN" dirty="0" smtClean="0"/>
              <a:t>3.2.2</a:t>
            </a:r>
            <a:r>
              <a:rPr lang="zh-CN" altLang="en-US" dirty="0" smtClean="0"/>
              <a:t>损益</a:t>
            </a:r>
            <a:r>
              <a:rPr lang="zh-CN" altLang="en-US" dirty="0"/>
              <a:t>表</a:t>
            </a:r>
          </a:p>
        </p:txBody>
      </p:sp>
      <p:sp>
        <p:nvSpPr>
          <p:cNvPr id="15363" name="Rectangle 3"/>
          <p:cNvSpPr>
            <a:spLocks noGrp="1" noChangeArrowheads="1"/>
          </p:cNvSpPr>
          <p:nvPr>
            <p:ph type="body" idx="1"/>
          </p:nvPr>
        </p:nvSpPr>
        <p:spPr>
          <a:xfrm>
            <a:off x="2324100" y="2110339"/>
            <a:ext cx="7543800" cy="4059455"/>
          </a:xfrm>
          <a:noFill/>
          <a:ln/>
        </p:spPr>
        <p:txBody>
          <a:bodyPr vert="horz" lIns="92075" tIns="46038" rIns="92075" bIns="46038" rtlCol="0">
            <a:normAutofit/>
          </a:bodyPr>
          <a:lstStyle/>
          <a:p>
            <a:r>
              <a:rPr lang="zh-CN" altLang="en-US" dirty="0"/>
              <a:t>公司在一定时期（一年）盈利的综合信息</a:t>
            </a:r>
          </a:p>
          <a:p>
            <a:r>
              <a:rPr lang="zh-CN" altLang="en-US" dirty="0"/>
              <a:t>主要部分:</a:t>
            </a:r>
          </a:p>
          <a:p>
            <a:pPr lvl="1"/>
            <a:r>
              <a:rPr lang="zh-CN" altLang="en-US" dirty="0"/>
              <a:t>销售收入与销售成本</a:t>
            </a:r>
            <a:endParaRPr lang="en-US" altLang="zh-CN" dirty="0"/>
          </a:p>
          <a:p>
            <a:pPr lvl="4"/>
            <a:r>
              <a:rPr lang="zh-CN" altLang="en-US" dirty="0"/>
              <a:t>毛利</a:t>
            </a:r>
            <a:endParaRPr lang="en-US" altLang="zh-CN" dirty="0"/>
          </a:p>
          <a:p>
            <a:pPr lvl="1"/>
            <a:r>
              <a:rPr lang="zh-CN" altLang="en-US" dirty="0"/>
              <a:t>综合管理、销售和管理支出</a:t>
            </a:r>
            <a:r>
              <a:rPr lang="en-US" altLang="zh-CN" dirty="0"/>
              <a:t> (GS&amp;A) </a:t>
            </a:r>
          </a:p>
          <a:p>
            <a:pPr lvl="4"/>
            <a:r>
              <a:rPr lang="zh-CN" altLang="en-US" dirty="0"/>
              <a:t>营业收入</a:t>
            </a:r>
          </a:p>
          <a:p>
            <a:pPr lvl="1"/>
            <a:r>
              <a:rPr lang="zh-CN" altLang="en-US" dirty="0"/>
              <a:t>利息支出 </a:t>
            </a:r>
          </a:p>
          <a:p>
            <a:pPr lvl="4"/>
            <a:r>
              <a:rPr lang="zh-CN" altLang="en-US" dirty="0"/>
              <a:t>税前收入</a:t>
            </a:r>
          </a:p>
          <a:p>
            <a:pPr lvl="1"/>
            <a:r>
              <a:rPr lang="zh-CN" altLang="en-US" dirty="0"/>
              <a:t>公司税收支出 </a:t>
            </a:r>
          </a:p>
          <a:p>
            <a:pPr lvl="4"/>
            <a:r>
              <a:rPr lang="zh-CN" altLang="en-US" dirty="0"/>
              <a:t>净收益</a:t>
            </a:r>
          </a:p>
        </p:txBody>
      </p:sp>
    </p:spTree>
    <p:extLst>
      <p:ext uri="{BB962C8B-B14F-4D97-AF65-F5344CB8AC3E}">
        <p14:creationId xmlns:p14="http://schemas.microsoft.com/office/powerpoint/2010/main" val="15968452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82162C1-2351-41AA-8659-33022BA312C7}" type="slidenum">
              <a:rPr lang="zh-CN" altLang="en-US"/>
              <a:pPr/>
              <a:t>33</a:t>
            </a:fld>
            <a:endParaRPr lang="en-US" altLang="zh-CN"/>
          </a:p>
        </p:txBody>
      </p:sp>
      <p:sp>
        <p:nvSpPr>
          <p:cNvPr id="17410"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dirty="0"/>
              <a:t>损益表</a:t>
            </a:r>
          </a:p>
        </p:txBody>
      </p:sp>
      <p:sp>
        <p:nvSpPr>
          <p:cNvPr id="17411" name="Rectangle 3"/>
          <p:cNvSpPr>
            <a:spLocks noGrp="1" noChangeArrowheads="1"/>
          </p:cNvSpPr>
          <p:nvPr>
            <p:ph type="body" idx="1"/>
          </p:nvPr>
        </p:nvSpPr>
        <p:spPr>
          <a:xfrm>
            <a:off x="2438400" y="1905000"/>
            <a:ext cx="7543800" cy="4419600"/>
          </a:xfrm>
          <a:noFill/>
          <a:ln/>
        </p:spPr>
        <p:txBody>
          <a:bodyPr vert="horz" lIns="92075" tIns="46038" rIns="92075" bIns="46038" rtlCol="0">
            <a:normAutofit/>
          </a:bodyPr>
          <a:lstStyle/>
          <a:p>
            <a:r>
              <a:rPr lang="zh-CN" altLang="en-US"/>
              <a:t>重要提醒:</a:t>
            </a:r>
          </a:p>
          <a:p>
            <a:pPr lvl="1"/>
            <a:r>
              <a:rPr lang="zh-CN" altLang="en-US"/>
              <a:t>留存收益在资产负债表中反映在股东权益，而不是现金余额中</a:t>
            </a:r>
            <a:endParaRPr lang="en-US" altLang="zh-CN"/>
          </a:p>
          <a:p>
            <a:pPr lvl="1"/>
            <a:r>
              <a:rPr lang="zh-CN" altLang="en-US"/>
              <a:t>会计报表反映历史价值，而不是市场价值</a:t>
            </a:r>
            <a:r>
              <a:rPr lang="en-US" altLang="zh-CN"/>
              <a:t>.  </a:t>
            </a:r>
          </a:p>
          <a:p>
            <a:pPr lvl="2">
              <a:lnSpc>
                <a:spcPct val="95000"/>
              </a:lnSpc>
              <a:spcBef>
                <a:spcPct val="35000"/>
              </a:spcBef>
            </a:pPr>
            <a:r>
              <a:rPr lang="zh-CN" altLang="en-US"/>
              <a:t>帐面上股东价值与股票市场价值可能会存在很大的区别</a:t>
            </a:r>
            <a:r>
              <a:rPr lang="en-US" altLang="zh-CN"/>
              <a:t>.  </a:t>
            </a:r>
          </a:p>
          <a:p>
            <a:pPr lvl="3"/>
            <a:r>
              <a:rPr lang="zh-CN" altLang="en-US"/>
              <a:t>如公司不动产价值可能会发生很大变化，但是不会反映在公司会计报表中</a:t>
            </a:r>
            <a:endParaRPr lang="en-US" altLang="zh-CN"/>
          </a:p>
        </p:txBody>
      </p:sp>
    </p:spTree>
    <p:extLst>
      <p:ext uri="{BB962C8B-B14F-4D97-AF65-F5344CB8AC3E}">
        <p14:creationId xmlns:p14="http://schemas.microsoft.com/office/powerpoint/2010/main" val="8676609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9699" y="114869"/>
            <a:ext cx="10515600" cy="684029"/>
          </a:xfrm>
        </p:spPr>
        <p:txBody>
          <a:bodyPr>
            <a:normAutofit fontScale="90000"/>
          </a:bodyPr>
          <a:lstStyle/>
          <a:p>
            <a:pPr algn="ctr"/>
            <a:r>
              <a:rPr lang="zh-CN" altLang="en-US" sz="3300" dirty="0" smtClean="0"/>
              <a:t>贵州茅台利润表简表</a:t>
            </a:r>
            <a:r>
              <a:rPr lang="zh-CN" altLang="en-US" dirty="0" smtClean="0"/>
              <a:t>（酱香科技、</a:t>
            </a:r>
            <a:r>
              <a:rPr lang="en-US" altLang="zh-CN" dirty="0" smtClean="0"/>
              <a:t>easy money!</a:t>
            </a:r>
            <a:r>
              <a:rPr lang="zh-CN" altLang="en-US" dirty="0" smtClean="0"/>
              <a:t>）</a:t>
            </a:r>
            <a:endParaRPr lang="zh-CN" altLang="en-US" dirty="0"/>
          </a:p>
        </p:txBody>
      </p:sp>
      <p:graphicFrame>
        <p:nvGraphicFramePr>
          <p:cNvPr id="3" name="表格 2"/>
          <p:cNvGraphicFramePr>
            <a:graphicFrameLocks noGrp="1"/>
          </p:cNvGraphicFramePr>
          <p:nvPr>
            <p:extLst/>
          </p:nvPr>
        </p:nvGraphicFramePr>
        <p:xfrm>
          <a:off x="1270535" y="895150"/>
          <a:ext cx="9779266" cy="5870534"/>
        </p:xfrm>
        <a:graphic>
          <a:graphicData uri="http://schemas.openxmlformats.org/drawingml/2006/table">
            <a:tbl>
              <a:tblPr>
                <a:tableStyleId>{5C22544A-7EE6-4342-B048-85BDC9FD1C3A}</a:tableStyleId>
              </a:tblPr>
              <a:tblGrid>
                <a:gridCol w="3234087"/>
                <a:gridCol w="2204186"/>
                <a:gridCol w="2290812"/>
                <a:gridCol w="2050181"/>
              </a:tblGrid>
              <a:tr h="229851">
                <a:tc>
                  <a:txBody>
                    <a:bodyPr/>
                    <a:lstStyle/>
                    <a:p>
                      <a:pPr algn="l" fontAlgn="ctr"/>
                      <a:r>
                        <a:rPr lang="zh-CN" altLang="en-US" sz="1500" u="none" strike="noStrike" dirty="0">
                          <a:effectLst/>
                        </a:rPr>
                        <a:t>　</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smtClean="0">
                          <a:effectLst/>
                        </a:rPr>
                        <a:t>2020</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2019</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2018</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229851">
                <a:tc>
                  <a:txBody>
                    <a:bodyPr/>
                    <a:lstStyle/>
                    <a:p>
                      <a:pPr algn="l" fontAlgn="ctr"/>
                      <a:r>
                        <a:rPr lang="zh-CN" altLang="en-US" sz="1500" b="1" u="none" strike="noStrike" dirty="0">
                          <a:solidFill>
                            <a:srgbClr val="0070C0"/>
                          </a:solidFill>
                          <a:effectLst/>
                        </a:rPr>
                        <a:t>营业总收入</a:t>
                      </a:r>
                      <a:endParaRPr lang="zh-CN" altLang="en-US" sz="1500" b="1" i="0" u="none" strike="noStrike" dirty="0">
                        <a:solidFill>
                          <a:srgbClr val="0070C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b="1" u="none" strike="noStrike" dirty="0">
                          <a:solidFill>
                            <a:srgbClr val="0070C0"/>
                          </a:solidFill>
                          <a:effectLst/>
                        </a:rPr>
                        <a:t>979.93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0070C0"/>
                          </a:solidFill>
                          <a:effectLst/>
                        </a:rPr>
                        <a:t>888.54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0070C0"/>
                          </a:solidFill>
                          <a:effectLst/>
                        </a:rPr>
                        <a:t>771.99 </a:t>
                      </a:r>
                      <a:endParaRPr lang="en-US" altLang="zh-CN" sz="1500" b="1" i="0" u="none" strike="noStrike" dirty="0">
                        <a:solidFill>
                          <a:srgbClr val="0070C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营业收入</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949.15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854.30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736.39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其他类金融业务收入</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30.78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34.25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35.61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b="1" u="none" strike="noStrike" dirty="0">
                          <a:solidFill>
                            <a:srgbClr val="FF0000"/>
                          </a:solidFill>
                          <a:effectLst/>
                        </a:rPr>
                        <a:t>营业总成本</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b="1" u="none" strike="noStrike" dirty="0">
                          <a:solidFill>
                            <a:srgbClr val="FF0000"/>
                          </a:solidFill>
                          <a:effectLst/>
                        </a:rPr>
                        <a:t>313.05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FF0000"/>
                          </a:solidFill>
                          <a:effectLst/>
                        </a:rPr>
                        <a:t>298.12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FF0000"/>
                          </a:solidFill>
                          <a:effectLst/>
                        </a:rPr>
                        <a:t>258.66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dirty="0">
                          <a:effectLst/>
                        </a:rPr>
                        <a:t>　　营业成本</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a:effectLst/>
                        </a:rPr>
                        <a:t>81.54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74.30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65.23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税金及附加</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a:effectLst/>
                        </a:rPr>
                        <a:t>138.87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127.33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112.89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dirty="0">
                          <a:effectLst/>
                        </a:rPr>
                        <a:t>　　销售费用</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25.48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32.79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25.72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管理费用</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67.90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61.68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53.26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研发费用</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0.50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0.49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0.22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财务费用</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a:effectLst/>
                        </a:rPr>
                        <a:t>-2.35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0.07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-0.04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其他业务成本</a:t>
                      </a:r>
                      <a:r>
                        <a:rPr lang="en-US" altLang="zh-CN" sz="1500" u="none" strike="noStrike">
                          <a:effectLst/>
                        </a:rPr>
                        <a:t>(</a:t>
                      </a:r>
                      <a:r>
                        <a:rPr lang="zh-CN" altLang="en-US" sz="1500" u="none" strike="noStrike">
                          <a:effectLst/>
                        </a:rPr>
                        <a:t>金融类</a:t>
                      </a:r>
                      <a:r>
                        <a:rPr lang="en-US" altLang="zh-CN" sz="1500" u="none" strike="noStrike">
                          <a:effectLst/>
                        </a:rPr>
                        <a:t>)</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a:effectLst/>
                        </a:rPr>
                        <a:t>1.11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1.46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1.36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加：其他收益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a:effectLst/>
                        </a:rPr>
                        <a:t>0.13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0.19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0.10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公允价值变动净收益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0.05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-0.14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资产减值损失</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smtClean="0">
                          <a:effectLst/>
                        </a:rPr>
                        <a:t>0.00</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zh-CN" altLang="en-US" sz="1500" u="none" strike="noStrike" dirty="0">
                          <a:effectLst/>
                        </a:rPr>
                        <a:t>　</a:t>
                      </a:r>
                      <a:r>
                        <a:rPr lang="en-US" altLang="zh-CN" sz="1500" u="none" strike="noStrike" dirty="0" smtClean="0">
                          <a:effectLst/>
                        </a:rPr>
                        <a:t>0.00</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0.01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信用减值损失</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dirty="0">
                          <a:effectLst/>
                        </a:rPr>
                        <a:t>-0.71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-0.05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b="1" u="none" strike="noStrike" dirty="0">
                          <a:solidFill>
                            <a:srgbClr val="FF0000"/>
                          </a:solidFill>
                          <a:effectLst/>
                        </a:rPr>
                        <a:t>营业利润</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b="1" u="none" strike="noStrike" dirty="0">
                          <a:solidFill>
                            <a:srgbClr val="FF0000"/>
                          </a:solidFill>
                          <a:effectLst/>
                        </a:rPr>
                        <a:t>666.35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FF0000"/>
                          </a:solidFill>
                          <a:effectLst/>
                        </a:rPr>
                        <a:t>590.41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FF0000"/>
                          </a:solidFill>
                          <a:effectLst/>
                        </a:rPr>
                        <a:t>513.43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加：营业外收入</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0.11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0.09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0.12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减：营业外支出</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4.49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2.68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5.27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利润总额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661.97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587.83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508.28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减：所得税</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166.74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148.13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129.98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净利润</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495.23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439.70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378.30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持续经营净利润</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495.23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439.70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378.30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u="none" strike="noStrike">
                          <a:effectLst/>
                        </a:rPr>
                        <a:t>　　减：少数股东损益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u="none" strike="noStrike">
                          <a:effectLst/>
                        </a:rPr>
                        <a:t>28.26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a:effectLst/>
                        </a:rPr>
                        <a:t>27.64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u="none" strike="noStrike" dirty="0">
                          <a:effectLst/>
                        </a:rPr>
                        <a:t>26.26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216" marR="6216" marT="6216" marB="0"/>
                </a:tc>
              </a:tr>
              <a:tr h="229851">
                <a:tc>
                  <a:txBody>
                    <a:bodyPr/>
                    <a:lstStyle/>
                    <a:p>
                      <a:pPr algn="l" fontAlgn="ctr"/>
                      <a:r>
                        <a:rPr lang="zh-CN" altLang="en-US" sz="1500" b="1" u="none" strike="noStrike" dirty="0">
                          <a:solidFill>
                            <a:srgbClr val="FF0000"/>
                          </a:solidFill>
                          <a:effectLst/>
                        </a:rPr>
                        <a:t>　　归属于母公司所有者的净利润</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nchor="ctr"/>
                </a:tc>
                <a:tc>
                  <a:txBody>
                    <a:bodyPr/>
                    <a:lstStyle/>
                    <a:p>
                      <a:pPr algn="r" fontAlgn="t"/>
                      <a:r>
                        <a:rPr lang="en-US" altLang="zh-CN" sz="1500" b="1" u="none" strike="noStrike" dirty="0">
                          <a:solidFill>
                            <a:srgbClr val="FF0000"/>
                          </a:solidFill>
                          <a:effectLst/>
                        </a:rPr>
                        <a:t>466.97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FF0000"/>
                          </a:solidFill>
                          <a:effectLst/>
                        </a:rPr>
                        <a:t>412.06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c>
                  <a:txBody>
                    <a:bodyPr/>
                    <a:lstStyle/>
                    <a:p>
                      <a:pPr algn="r" fontAlgn="t"/>
                      <a:r>
                        <a:rPr lang="en-US" altLang="zh-CN" sz="1500" b="1" u="none" strike="noStrike" dirty="0">
                          <a:solidFill>
                            <a:srgbClr val="FF0000"/>
                          </a:solidFill>
                          <a:effectLst/>
                        </a:rPr>
                        <a:t>352.04 </a:t>
                      </a:r>
                      <a:endParaRPr lang="en-US" altLang="zh-CN" sz="1500" b="1" i="0" u="none" strike="noStrike" dirty="0">
                        <a:solidFill>
                          <a:srgbClr val="FF0000"/>
                        </a:solidFill>
                        <a:effectLst/>
                        <a:latin typeface="宋体" panose="02010600030101010101" pitchFamily="2" charset="-122"/>
                        <a:ea typeface="宋体" panose="02010600030101010101" pitchFamily="2" charset="-122"/>
                      </a:endParaRPr>
                    </a:p>
                  </a:txBody>
                  <a:tcPr marL="6216" marR="6216" marT="6216" marB="0"/>
                </a:tc>
              </a:tr>
            </a:tbl>
          </a:graphicData>
        </a:graphic>
      </p:graphicFrame>
    </p:spTree>
    <p:extLst>
      <p:ext uri="{BB962C8B-B14F-4D97-AF65-F5344CB8AC3E}">
        <p14:creationId xmlns:p14="http://schemas.microsoft.com/office/powerpoint/2010/main" val="32065587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8575" y="172620"/>
            <a:ext cx="10515600" cy="789907"/>
          </a:xfrm>
        </p:spPr>
        <p:txBody>
          <a:bodyPr/>
          <a:lstStyle/>
          <a:p>
            <a:pPr algn="ctr"/>
            <a:r>
              <a:rPr lang="zh-CN" altLang="en-US" dirty="0"/>
              <a:t>中国</a:t>
            </a:r>
            <a:r>
              <a:rPr lang="zh-CN" altLang="en-US" dirty="0" smtClean="0"/>
              <a:t>石油利润表简表</a:t>
            </a:r>
            <a:endParaRPr lang="zh-CN" altLang="en-US" dirty="0"/>
          </a:p>
        </p:txBody>
      </p:sp>
      <p:graphicFrame>
        <p:nvGraphicFramePr>
          <p:cNvPr id="4" name="表格 3"/>
          <p:cNvGraphicFramePr>
            <a:graphicFrameLocks noGrp="1"/>
          </p:cNvGraphicFramePr>
          <p:nvPr>
            <p:extLst/>
          </p:nvPr>
        </p:nvGraphicFramePr>
        <p:xfrm>
          <a:off x="1001028" y="1058777"/>
          <a:ext cx="9875520" cy="5638800"/>
        </p:xfrm>
        <a:graphic>
          <a:graphicData uri="http://schemas.openxmlformats.org/drawingml/2006/table">
            <a:tbl>
              <a:tblPr>
                <a:tableStyleId>{5C22544A-7EE6-4342-B048-85BDC9FD1C3A}</a:tableStyleId>
              </a:tblPr>
              <a:tblGrid>
                <a:gridCol w="3968885"/>
                <a:gridCol w="1891058"/>
                <a:gridCol w="1961096"/>
                <a:gridCol w="2054481"/>
              </a:tblGrid>
              <a:tr h="228199">
                <a:tc>
                  <a:txBody>
                    <a:bodyPr/>
                    <a:lstStyle/>
                    <a:p>
                      <a:pPr algn="l" fontAlgn="t"/>
                      <a:r>
                        <a:rPr lang="zh-CN" altLang="en-US" sz="1500" u="none" strike="noStrike" dirty="0">
                          <a:effectLst/>
                        </a:rPr>
                        <a:t>　</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2020</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2019</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2018</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228199">
                <a:tc>
                  <a:txBody>
                    <a:bodyPr/>
                    <a:lstStyle/>
                    <a:p>
                      <a:pPr algn="l" fontAlgn="ctr"/>
                      <a:r>
                        <a:rPr lang="zh-CN" altLang="en-US" sz="1500" b="1" u="none" strike="noStrike" dirty="0">
                          <a:solidFill>
                            <a:srgbClr val="0070C0"/>
                          </a:solidFill>
                          <a:effectLst/>
                        </a:rPr>
                        <a:t>营业总收入</a:t>
                      </a:r>
                      <a:endParaRPr lang="zh-CN" altLang="en-US" sz="1500" b="1" i="0" u="none" strike="noStrike" dirty="0">
                        <a:solidFill>
                          <a:srgbClr val="0070C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1" i="0" u="none" strike="noStrike" dirty="0">
                          <a:solidFill>
                            <a:srgbClr val="0070C0"/>
                          </a:solidFill>
                          <a:effectLst/>
                          <a:latin typeface="宋体" panose="02010600030101010101" pitchFamily="2" charset="-122"/>
                          <a:ea typeface="宋体" panose="02010600030101010101" pitchFamily="2" charset="-122"/>
                        </a:rPr>
                        <a:t>19,338.36 </a:t>
                      </a:r>
                    </a:p>
                  </a:txBody>
                  <a:tcPr marL="6350" marR="6350" marT="6350" marB="0"/>
                </a:tc>
                <a:tc>
                  <a:txBody>
                    <a:bodyPr/>
                    <a:lstStyle/>
                    <a:p>
                      <a:pPr algn="r" fontAlgn="t"/>
                      <a:r>
                        <a:rPr lang="en-US" altLang="zh-CN" sz="1500" b="1" i="0" u="none" strike="noStrike" dirty="0">
                          <a:solidFill>
                            <a:srgbClr val="0070C0"/>
                          </a:solidFill>
                          <a:effectLst/>
                          <a:latin typeface="宋体" panose="02010600030101010101" pitchFamily="2" charset="-122"/>
                          <a:ea typeface="宋体" panose="02010600030101010101" pitchFamily="2" charset="-122"/>
                        </a:rPr>
                        <a:t>25,168.10 </a:t>
                      </a:r>
                    </a:p>
                  </a:txBody>
                  <a:tcPr marL="6350" marR="6350" marT="6350" marB="0"/>
                </a:tc>
                <a:tc>
                  <a:txBody>
                    <a:bodyPr/>
                    <a:lstStyle/>
                    <a:p>
                      <a:pPr algn="r" fontAlgn="t"/>
                      <a:r>
                        <a:rPr lang="en-US" altLang="zh-CN" sz="1500" b="1" i="0" u="none" strike="noStrike" dirty="0">
                          <a:solidFill>
                            <a:srgbClr val="0070C0"/>
                          </a:solidFill>
                          <a:effectLst/>
                          <a:latin typeface="宋体" panose="02010600030101010101" pitchFamily="2" charset="-122"/>
                          <a:ea typeface="宋体" panose="02010600030101010101" pitchFamily="2" charset="-122"/>
                        </a:rPr>
                        <a:t>23,535.88 </a:t>
                      </a:r>
                    </a:p>
                  </a:txBody>
                  <a:tcPr marL="6350" marR="6350" marT="6350" marB="0"/>
                </a:tc>
              </a:tr>
              <a:tr h="228199">
                <a:tc>
                  <a:txBody>
                    <a:bodyPr/>
                    <a:lstStyle/>
                    <a:p>
                      <a:pPr algn="l" fontAlgn="ctr"/>
                      <a:r>
                        <a:rPr lang="zh-CN" altLang="en-US" sz="1500" u="none" strike="noStrike" dirty="0">
                          <a:effectLst/>
                        </a:rPr>
                        <a:t>　　营业收入</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19,338.36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25,168.10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23,535.88 </a:t>
                      </a:r>
                    </a:p>
                  </a:txBody>
                  <a:tcPr marL="6350" marR="6350" marT="6350" marB="0"/>
                </a:tc>
              </a:tr>
              <a:tr h="228199">
                <a:tc>
                  <a:txBody>
                    <a:bodyPr/>
                    <a:lstStyle/>
                    <a:p>
                      <a:pPr algn="l" fontAlgn="ctr"/>
                      <a:r>
                        <a:rPr lang="zh-CN" altLang="en-US" sz="1500" b="1" u="none" strike="noStrike" dirty="0">
                          <a:solidFill>
                            <a:srgbClr val="FF0000"/>
                          </a:solidFill>
                          <a:effectLst/>
                        </a:rPr>
                        <a:t>营业总成本</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19,083.49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24,086.55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22,422.60 </a:t>
                      </a:r>
                    </a:p>
                  </a:txBody>
                  <a:tcPr marL="6350" marR="6350" marT="6350" marB="0"/>
                </a:tc>
              </a:tr>
              <a:tr h="228199">
                <a:tc>
                  <a:txBody>
                    <a:bodyPr/>
                    <a:lstStyle/>
                    <a:p>
                      <a:pPr algn="l" fontAlgn="ctr"/>
                      <a:r>
                        <a:rPr lang="zh-CN" altLang="en-US" sz="1500" u="none" strike="noStrike">
                          <a:effectLst/>
                        </a:rPr>
                        <a:t>　　营业成本</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15,466.04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20,024.03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18,243.82 </a:t>
                      </a:r>
                    </a:p>
                  </a:txBody>
                  <a:tcPr marL="6350" marR="6350" marT="6350" marB="0"/>
                </a:tc>
              </a:tr>
              <a:tr h="228199">
                <a:tc>
                  <a:txBody>
                    <a:bodyPr/>
                    <a:lstStyle/>
                    <a:p>
                      <a:pPr algn="l" fontAlgn="ctr"/>
                      <a:r>
                        <a:rPr lang="zh-CN" altLang="en-US" sz="1500" u="none" strike="noStrike" dirty="0">
                          <a:effectLst/>
                        </a:rPr>
                        <a:t>　　税金及附加</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1,949.04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2,269.05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2,158.81 </a:t>
                      </a:r>
                    </a:p>
                  </a:txBody>
                  <a:tcPr marL="6350" marR="6350" marT="6350" marB="0"/>
                </a:tc>
              </a:tr>
              <a:tr h="228199">
                <a:tc>
                  <a:txBody>
                    <a:bodyPr/>
                    <a:lstStyle/>
                    <a:p>
                      <a:pPr algn="l" fontAlgn="ctr"/>
                      <a:r>
                        <a:rPr lang="zh-CN" altLang="en-US" sz="1500" u="none" strike="noStrike" dirty="0">
                          <a:effectLst/>
                        </a:rPr>
                        <a:t>　　销售费用</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714.76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741.08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688.82 </a:t>
                      </a:r>
                    </a:p>
                  </a:txBody>
                  <a:tcPr marL="6350" marR="6350" marT="6350" marB="0"/>
                </a:tc>
              </a:tr>
              <a:tr h="228199">
                <a:tc>
                  <a:txBody>
                    <a:bodyPr/>
                    <a:lstStyle/>
                    <a:p>
                      <a:pPr algn="l" fontAlgn="ctr"/>
                      <a:r>
                        <a:rPr lang="zh-CN" altLang="en-US" sz="1500" u="none" strike="noStrike" dirty="0">
                          <a:effectLst/>
                        </a:rPr>
                        <a:t>　　管理费用</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553.15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617.57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677.14 </a:t>
                      </a:r>
                    </a:p>
                  </a:txBody>
                  <a:tcPr marL="6350" marR="6350" marT="6350" marB="0"/>
                </a:tc>
              </a:tr>
              <a:tr h="228199">
                <a:tc>
                  <a:txBody>
                    <a:bodyPr/>
                    <a:lstStyle/>
                    <a:p>
                      <a:pPr algn="l" fontAlgn="ctr"/>
                      <a:r>
                        <a:rPr lang="zh-CN" altLang="en-US" sz="1500" u="none" strike="noStrike" dirty="0">
                          <a:effectLst/>
                        </a:rPr>
                        <a:t>　　研发费用</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157.46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156.66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128.26 </a:t>
                      </a:r>
                    </a:p>
                  </a:txBody>
                  <a:tcPr marL="6350" marR="6350" marT="6350" marB="0"/>
                </a:tc>
              </a:tr>
              <a:tr h="228199">
                <a:tc>
                  <a:txBody>
                    <a:bodyPr/>
                    <a:lstStyle/>
                    <a:p>
                      <a:pPr algn="l" fontAlgn="ctr"/>
                      <a:r>
                        <a:rPr lang="zh-CN" altLang="en-US" sz="1500" u="none" strike="noStrike">
                          <a:effectLst/>
                        </a:rPr>
                        <a:t>　　财务费用</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243.04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278.16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184.80 </a:t>
                      </a:r>
                    </a:p>
                  </a:txBody>
                  <a:tcPr marL="6350" marR="6350" marT="6350" marB="0"/>
                </a:tc>
              </a:tr>
              <a:tr h="228199">
                <a:tc>
                  <a:txBody>
                    <a:bodyPr/>
                    <a:lstStyle/>
                    <a:p>
                      <a:pPr algn="l" fontAlgn="ctr"/>
                      <a:r>
                        <a:rPr lang="zh-CN" altLang="en-US" sz="1500" u="none" strike="noStrike">
                          <a:effectLst/>
                        </a:rPr>
                        <a:t>　　加：其他收益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98.89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112.67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108.55 </a:t>
                      </a:r>
                    </a:p>
                  </a:txBody>
                  <a:tcPr marL="6350" marR="6350" marT="6350" marB="0"/>
                </a:tc>
              </a:tr>
              <a:tr h="228199">
                <a:tc>
                  <a:txBody>
                    <a:bodyPr/>
                    <a:lstStyle/>
                    <a:p>
                      <a:pPr algn="l" fontAlgn="ctr"/>
                      <a:r>
                        <a:rPr lang="zh-CN" altLang="en-US" sz="1500" u="none" strike="noStrike">
                          <a:effectLst/>
                        </a:rPr>
                        <a:t>　　投资净收益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518.45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88.67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119.56 </a:t>
                      </a:r>
                    </a:p>
                  </a:txBody>
                  <a:tcPr marL="6350" marR="6350" marT="6350" marB="0"/>
                </a:tc>
              </a:tr>
              <a:tr h="228199">
                <a:tc>
                  <a:txBody>
                    <a:bodyPr/>
                    <a:lstStyle/>
                    <a:p>
                      <a:pPr algn="l" fontAlgn="ctr"/>
                      <a:r>
                        <a:rPr lang="zh-CN" altLang="en-US" sz="1500" u="none" strike="noStrike">
                          <a:effectLst/>
                        </a:rPr>
                        <a:t>　　资产减值损失</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-235.20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-147.12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345.89 </a:t>
                      </a:r>
                    </a:p>
                  </a:txBody>
                  <a:tcPr marL="6350" marR="6350" marT="6350" marB="0"/>
                </a:tc>
              </a:tr>
              <a:tr h="228199">
                <a:tc>
                  <a:txBody>
                    <a:bodyPr/>
                    <a:lstStyle/>
                    <a:p>
                      <a:pPr algn="l" fontAlgn="ctr"/>
                      <a:r>
                        <a:rPr lang="zh-CN" altLang="en-US" sz="1500" u="none" strike="noStrike">
                          <a:effectLst/>
                        </a:rPr>
                        <a:t>　　信用减值损失</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-3.41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13.78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-4.94 </a:t>
                      </a:r>
                    </a:p>
                  </a:txBody>
                  <a:tcPr marL="6350" marR="6350" marT="6350" marB="0"/>
                </a:tc>
              </a:tr>
              <a:tr h="228199">
                <a:tc>
                  <a:txBody>
                    <a:bodyPr/>
                    <a:lstStyle/>
                    <a:p>
                      <a:pPr algn="l" fontAlgn="ctr"/>
                      <a:r>
                        <a:rPr lang="zh-CN" altLang="en-US" sz="1500" u="none" strike="noStrike">
                          <a:effectLst/>
                        </a:rPr>
                        <a:t>　　资产处置收益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14.23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5.65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6.73 </a:t>
                      </a:r>
                    </a:p>
                  </a:txBody>
                  <a:tcPr marL="6350" marR="6350" marT="6350" marB="0"/>
                </a:tc>
              </a:tr>
              <a:tr h="228199">
                <a:tc>
                  <a:txBody>
                    <a:bodyPr/>
                    <a:lstStyle/>
                    <a:p>
                      <a:pPr algn="l" fontAlgn="ctr"/>
                      <a:r>
                        <a:rPr lang="zh-CN" altLang="en-US" sz="1500" b="1" u="none" strike="noStrike" dirty="0">
                          <a:solidFill>
                            <a:srgbClr val="FF0000"/>
                          </a:solidFill>
                          <a:effectLst/>
                        </a:rPr>
                        <a:t>营业利润</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647.83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1,155.20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1,348.12 </a:t>
                      </a:r>
                    </a:p>
                  </a:txBody>
                  <a:tcPr marL="6350" marR="6350" marT="6350" marB="0"/>
                </a:tc>
              </a:tr>
              <a:tr h="228199">
                <a:tc>
                  <a:txBody>
                    <a:bodyPr/>
                    <a:lstStyle/>
                    <a:p>
                      <a:pPr algn="l" fontAlgn="ctr"/>
                      <a:r>
                        <a:rPr lang="zh-CN" altLang="en-US" sz="1500" u="none" strike="noStrike">
                          <a:effectLst/>
                        </a:rPr>
                        <a:t>　　加：营业外收入</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41.09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49.71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32.13 </a:t>
                      </a:r>
                    </a:p>
                  </a:txBody>
                  <a:tcPr marL="6350" marR="6350" marT="6350" marB="0"/>
                </a:tc>
              </a:tr>
              <a:tr h="228199">
                <a:tc>
                  <a:txBody>
                    <a:bodyPr/>
                    <a:lstStyle/>
                    <a:p>
                      <a:pPr algn="l" fontAlgn="ctr"/>
                      <a:r>
                        <a:rPr lang="zh-CN" altLang="en-US" sz="1500" u="none" strike="noStrike">
                          <a:effectLst/>
                        </a:rPr>
                        <a:t>　　减：营业外支出</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128.23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172.78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228.25 </a:t>
                      </a:r>
                    </a:p>
                  </a:txBody>
                  <a:tcPr marL="6350" marR="6350" marT="6350" marB="0"/>
                </a:tc>
              </a:tr>
              <a:tr h="228199">
                <a:tc>
                  <a:txBody>
                    <a:bodyPr/>
                    <a:lstStyle/>
                    <a:p>
                      <a:pPr algn="l" fontAlgn="ctr"/>
                      <a:r>
                        <a:rPr lang="zh-CN" altLang="en-US" sz="1500" u="none" strike="noStrike">
                          <a:effectLst/>
                        </a:rPr>
                        <a:t>利润总额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560.69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1,032.13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1,152.00 </a:t>
                      </a:r>
                    </a:p>
                  </a:txBody>
                  <a:tcPr marL="6350" marR="6350" marT="6350" marB="0"/>
                </a:tc>
              </a:tr>
              <a:tr h="228199">
                <a:tc>
                  <a:txBody>
                    <a:bodyPr/>
                    <a:lstStyle/>
                    <a:p>
                      <a:pPr algn="l" fontAlgn="ctr"/>
                      <a:r>
                        <a:rPr lang="zh-CN" altLang="en-US" sz="1500" u="none" strike="noStrike">
                          <a:effectLst/>
                        </a:rPr>
                        <a:t>　　减：所得税</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225.88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362.03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427.90 </a:t>
                      </a:r>
                    </a:p>
                  </a:txBody>
                  <a:tcPr marL="6350" marR="6350" marT="6350" marB="0"/>
                </a:tc>
              </a:tr>
              <a:tr h="228199">
                <a:tc>
                  <a:txBody>
                    <a:bodyPr/>
                    <a:lstStyle/>
                    <a:p>
                      <a:pPr algn="l" fontAlgn="ctr"/>
                      <a:r>
                        <a:rPr lang="zh-CN" altLang="en-US" sz="1500" u="none" strike="noStrike">
                          <a:effectLst/>
                        </a:rPr>
                        <a:t>净利润</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334.81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670.10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724.10 </a:t>
                      </a:r>
                    </a:p>
                  </a:txBody>
                  <a:tcPr marL="6350" marR="6350" marT="6350" marB="0"/>
                </a:tc>
              </a:tr>
              <a:tr h="228199">
                <a:tc>
                  <a:txBody>
                    <a:bodyPr/>
                    <a:lstStyle/>
                    <a:p>
                      <a:pPr algn="l" fontAlgn="ctr"/>
                      <a:r>
                        <a:rPr lang="zh-CN" altLang="en-US" sz="1500" u="none" strike="noStrike">
                          <a:effectLst/>
                        </a:rPr>
                        <a:t>　　持续经营净利润</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334.81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670.10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724.10 </a:t>
                      </a:r>
                    </a:p>
                  </a:txBody>
                  <a:tcPr marL="6350" marR="6350" marT="6350" marB="0"/>
                </a:tc>
              </a:tr>
              <a:tr h="228199">
                <a:tc>
                  <a:txBody>
                    <a:bodyPr/>
                    <a:lstStyle/>
                    <a:p>
                      <a:pPr algn="l" fontAlgn="ctr"/>
                      <a:r>
                        <a:rPr lang="zh-CN" altLang="en-US" sz="1500" u="none" strike="noStrike">
                          <a:effectLst/>
                        </a:rPr>
                        <a:t>　　减：少数股东损益</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144.79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213.33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198.25 </a:t>
                      </a:r>
                    </a:p>
                  </a:txBody>
                  <a:tcPr marL="6350" marR="6350" marT="6350" marB="0"/>
                </a:tc>
              </a:tr>
              <a:tr h="228199">
                <a:tc>
                  <a:txBody>
                    <a:bodyPr/>
                    <a:lstStyle/>
                    <a:p>
                      <a:pPr algn="l" fontAlgn="ctr"/>
                      <a:r>
                        <a:rPr lang="zh-CN" altLang="en-US" sz="1500" b="1" u="none" strike="noStrike" dirty="0">
                          <a:solidFill>
                            <a:srgbClr val="FF0000"/>
                          </a:solidFill>
                          <a:effectLst/>
                        </a:rPr>
                        <a:t>　　归属于母公司所有者的净利润</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190.02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456.77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525.85 </a:t>
                      </a:r>
                    </a:p>
                  </a:txBody>
                  <a:tcPr marL="6350" marR="6350" marT="6350" marB="0"/>
                </a:tc>
              </a:tr>
            </a:tbl>
          </a:graphicData>
        </a:graphic>
      </p:graphicFrame>
    </p:spTree>
    <p:extLst>
      <p:ext uri="{BB962C8B-B14F-4D97-AF65-F5344CB8AC3E}">
        <p14:creationId xmlns:p14="http://schemas.microsoft.com/office/powerpoint/2010/main" val="12252712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73E4981-8D38-4FA9-9C05-D8C632352C3A}" type="slidenum">
              <a:rPr lang="zh-CN" altLang="en-US"/>
              <a:pPr/>
              <a:t>36</a:t>
            </a:fld>
            <a:endParaRPr lang="en-US" altLang="zh-CN"/>
          </a:p>
        </p:txBody>
      </p:sp>
      <p:pic>
        <p:nvPicPr>
          <p:cNvPr id="2" name="图片 1"/>
          <p:cNvPicPr>
            <a:picLocks noChangeAspect="1"/>
          </p:cNvPicPr>
          <p:nvPr/>
        </p:nvPicPr>
        <p:blipFill>
          <a:blip r:embed="rId3"/>
          <a:stretch>
            <a:fillRect/>
          </a:stretch>
        </p:blipFill>
        <p:spPr>
          <a:xfrm>
            <a:off x="2050180" y="876351"/>
            <a:ext cx="7007192" cy="1979609"/>
          </a:xfrm>
          <a:prstGeom prst="rect">
            <a:avLst/>
          </a:prstGeom>
        </p:spPr>
      </p:pic>
      <p:pic>
        <p:nvPicPr>
          <p:cNvPr id="3" name="图片 2"/>
          <p:cNvPicPr>
            <a:picLocks noChangeAspect="1"/>
          </p:cNvPicPr>
          <p:nvPr/>
        </p:nvPicPr>
        <p:blipFill>
          <a:blip r:embed="rId4"/>
          <a:stretch>
            <a:fillRect/>
          </a:stretch>
        </p:blipFill>
        <p:spPr>
          <a:xfrm>
            <a:off x="1963552" y="2855960"/>
            <a:ext cx="5717407" cy="3500390"/>
          </a:xfrm>
          <a:prstGeom prst="rect">
            <a:avLst/>
          </a:prstGeom>
        </p:spPr>
      </p:pic>
    </p:spTree>
    <p:extLst>
      <p:ext uri="{BB962C8B-B14F-4D97-AF65-F5344CB8AC3E}">
        <p14:creationId xmlns:p14="http://schemas.microsoft.com/office/powerpoint/2010/main" val="423706178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01436D8-0EE1-4F2F-B303-6BEFF1D094F5}" type="slidenum">
              <a:rPr lang="zh-CN" altLang="en-US"/>
              <a:pPr/>
              <a:t>37</a:t>
            </a:fld>
            <a:endParaRPr lang="en-US" altLang="zh-CN"/>
          </a:p>
        </p:txBody>
      </p:sp>
      <p:sp>
        <p:nvSpPr>
          <p:cNvPr id="21506" name="Rectangle 2"/>
          <p:cNvSpPr>
            <a:spLocks noGrp="1" noChangeArrowheads="1"/>
          </p:cNvSpPr>
          <p:nvPr>
            <p:ph type="title"/>
          </p:nvPr>
        </p:nvSpPr>
        <p:spPr>
          <a:noFill/>
          <a:ln/>
        </p:spPr>
        <p:txBody>
          <a:bodyPr vert="horz" lIns="92075" tIns="46038" rIns="92075" bIns="46038" rtlCol="0" anchor="ctr">
            <a:normAutofit/>
          </a:bodyPr>
          <a:lstStyle/>
          <a:p>
            <a:pPr algn="ctr"/>
            <a:r>
              <a:rPr lang="en-US" altLang="zh-CN" dirty="0" smtClean="0"/>
              <a:t>3.2.3</a:t>
            </a:r>
            <a:r>
              <a:rPr lang="zh-CN" altLang="en-US" dirty="0" smtClean="0"/>
              <a:t>现金</a:t>
            </a:r>
            <a:r>
              <a:rPr lang="zh-CN" altLang="en-US" dirty="0"/>
              <a:t>流量表</a:t>
            </a:r>
          </a:p>
        </p:txBody>
      </p:sp>
      <p:sp>
        <p:nvSpPr>
          <p:cNvPr id="21507" name="Rectangle 3"/>
          <p:cNvSpPr>
            <a:spLocks noGrp="1" noChangeArrowheads="1"/>
          </p:cNvSpPr>
          <p:nvPr>
            <p:ph type="body" idx="1"/>
          </p:nvPr>
        </p:nvSpPr>
        <p:spPr>
          <a:xfrm>
            <a:off x="770021" y="1989138"/>
            <a:ext cx="9885145" cy="2476984"/>
          </a:xfrm>
          <a:noFill/>
          <a:ln/>
        </p:spPr>
        <p:txBody>
          <a:bodyPr vert="horz" lIns="92075" tIns="46038" rIns="92075" bIns="46038" rtlCol="0">
            <a:normAutofit/>
          </a:bodyPr>
          <a:lstStyle/>
          <a:p>
            <a:r>
              <a:rPr lang="zh-CN" altLang="en-US" dirty="0"/>
              <a:t>提供一定时期内（一年）现金流流入和流出企业的信息</a:t>
            </a:r>
            <a:endParaRPr lang="en-US" altLang="zh-CN" dirty="0"/>
          </a:p>
          <a:p>
            <a:pPr lvl="1"/>
            <a:r>
              <a:rPr lang="zh-CN" altLang="en-US" dirty="0"/>
              <a:t>关注企业在一段时期内现金头寸的变化</a:t>
            </a:r>
            <a:endParaRPr lang="en-US" altLang="zh-CN" dirty="0"/>
          </a:p>
          <a:p>
            <a:pPr lvl="2">
              <a:lnSpc>
                <a:spcPct val="95000"/>
              </a:lnSpc>
              <a:spcBef>
                <a:spcPct val="35000"/>
              </a:spcBef>
            </a:pPr>
            <a:r>
              <a:rPr lang="zh-CN" altLang="en-US" dirty="0"/>
              <a:t>一个赢利性的企业可能会出现现金短缺</a:t>
            </a:r>
            <a:endParaRPr lang="en-US" altLang="zh-CN" dirty="0"/>
          </a:p>
          <a:p>
            <a:pPr lvl="1"/>
            <a:r>
              <a:rPr lang="zh-CN" altLang="en-US" dirty="0"/>
              <a:t>回避了损益表中对收入与费用的确认。损益表以权责发生制为基础，而现金</a:t>
            </a:r>
            <a:r>
              <a:rPr lang="zh-CN" altLang="en-US" dirty="0" smtClean="0"/>
              <a:t>流量表不受</a:t>
            </a:r>
            <a:r>
              <a:rPr lang="zh-CN" altLang="en-US" dirty="0"/>
              <a:t>权责发生制的影响。</a:t>
            </a:r>
            <a:endParaRPr lang="en-US" altLang="zh-CN" dirty="0"/>
          </a:p>
        </p:txBody>
      </p:sp>
    </p:spTree>
    <p:extLst>
      <p:ext uri="{BB962C8B-B14F-4D97-AF65-F5344CB8AC3E}">
        <p14:creationId xmlns:p14="http://schemas.microsoft.com/office/powerpoint/2010/main" val="228592199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smtClean="0"/>
              <a:t>贵州茅台现金流量表简表</a:t>
            </a:r>
            <a:endParaRPr lang="zh-CN" altLang="en-US" dirty="0"/>
          </a:p>
        </p:txBody>
      </p:sp>
      <p:graphicFrame>
        <p:nvGraphicFramePr>
          <p:cNvPr id="2" name="表格 1"/>
          <p:cNvGraphicFramePr>
            <a:graphicFrameLocks noGrp="1"/>
          </p:cNvGraphicFramePr>
          <p:nvPr>
            <p:extLst/>
          </p:nvPr>
        </p:nvGraphicFramePr>
        <p:xfrm>
          <a:off x="838198" y="1690688"/>
          <a:ext cx="10798744" cy="4864112"/>
        </p:xfrm>
        <a:graphic>
          <a:graphicData uri="http://schemas.openxmlformats.org/drawingml/2006/table">
            <a:tbl>
              <a:tblPr>
                <a:tableStyleId>{5C22544A-7EE6-4342-B048-85BDC9FD1C3A}</a:tableStyleId>
              </a:tblPr>
              <a:tblGrid>
                <a:gridCol w="4712609"/>
                <a:gridCol w="2297102"/>
                <a:gridCol w="1989242"/>
                <a:gridCol w="1799791"/>
              </a:tblGrid>
              <a:tr h="304007">
                <a:tc>
                  <a:txBody>
                    <a:bodyPr/>
                    <a:lstStyle/>
                    <a:p>
                      <a:pPr algn="l" fontAlgn="ctr"/>
                      <a:r>
                        <a:rPr lang="zh-CN" altLang="en-US" sz="1500" u="none" strike="noStrike" dirty="0">
                          <a:effectLst/>
                        </a:rPr>
                        <a:t>　</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dirty="0" smtClean="0">
                          <a:effectLst/>
                        </a:rPr>
                        <a:t>2020</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2019</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2018</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经营活动产生的现金流量：</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经营活动现金流入小计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dirty="0">
                          <a:effectLst/>
                        </a:rPr>
                        <a:t>1,135.11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994.44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893.46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经营活动现金流出小计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dirty="0">
                          <a:effectLst/>
                        </a:rPr>
                        <a:t>618.42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542.34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479.60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dirty="0">
                          <a:effectLst/>
                        </a:rPr>
                        <a:t>　　</a:t>
                      </a:r>
                      <a:r>
                        <a:rPr lang="zh-CN" altLang="en-US" sz="1500" b="1" u="none" strike="noStrike" dirty="0">
                          <a:solidFill>
                            <a:srgbClr val="FF0000"/>
                          </a:solidFill>
                          <a:effectLst/>
                        </a:rPr>
                        <a:t>经营活动产生的现金流量净额</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dirty="0">
                          <a:solidFill>
                            <a:srgbClr val="FF0000"/>
                          </a:solidFill>
                          <a:effectLst/>
                        </a:rPr>
                        <a:t>516.69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solidFill>
                            <a:srgbClr val="FF0000"/>
                          </a:solidFill>
                          <a:effectLst/>
                        </a:rPr>
                        <a:t>452.11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solidFill>
                            <a:srgbClr val="FF0000"/>
                          </a:solidFill>
                          <a:effectLst/>
                        </a:rPr>
                        <a:t>413.85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投资活动产生的现金流量：</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t"/>
                      <a:r>
                        <a:rPr lang="zh-CN" altLang="en-US" sz="1500" u="none" strike="noStrike" dirty="0">
                          <a:effectLst/>
                        </a:rPr>
                        <a:t>　</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投资活动现金流入小计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a:effectLst/>
                        </a:rPr>
                        <a:t>3.22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0.07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0.11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投资活动现金流出小计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dirty="0">
                          <a:effectLst/>
                        </a:rPr>
                        <a:t>21.27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31.73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16.40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dirty="0">
                          <a:effectLst/>
                        </a:rPr>
                        <a:t>　　</a:t>
                      </a:r>
                      <a:r>
                        <a:rPr lang="zh-CN" altLang="en-US" sz="1500" b="1" u="none" strike="noStrike" kern="1200" dirty="0">
                          <a:solidFill>
                            <a:srgbClr val="FF0000"/>
                          </a:solidFill>
                          <a:effectLst/>
                          <a:latin typeface="+mn-lt"/>
                          <a:ea typeface="+mn-ea"/>
                          <a:cs typeface="+mn-cs"/>
                        </a:rPr>
                        <a:t>投资活动产生的现金流量净额</a:t>
                      </a:r>
                    </a:p>
                  </a:txBody>
                  <a:tcPr marL="6350" marR="6350" marT="6350" marB="0" anchor="ctr"/>
                </a:tc>
                <a:tc>
                  <a:txBody>
                    <a:bodyPr/>
                    <a:lstStyle/>
                    <a:p>
                      <a:pPr algn="r" fontAlgn="t"/>
                      <a:r>
                        <a:rPr lang="en-US" altLang="zh-CN" sz="1500" u="none" strike="noStrike" dirty="0">
                          <a:solidFill>
                            <a:srgbClr val="FF0000"/>
                          </a:solidFill>
                          <a:effectLst/>
                        </a:rPr>
                        <a:t>-18.05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solidFill>
                            <a:srgbClr val="FF0000"/>
                          </a:solidFill>
                          <a:effectLst/>
                        </a:rPr>
                        <a:t>-31.66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solidFill>
                            <a:srgbClr val="FF0000"/>
                          </a:solidFill>
                          <a:effectLst/>
                        </a:rPr>
                        <a:t>-16.29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筹资活动产生的现金流量：</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t"/>
                      <a:r>
                        <a:rPr lang="zh-CN" altLang="en-US" sz="1500" u="none" strike="noStrike" dirty="0">
                          <a:effectLst/>
                        </a:rPr>
                        <a:t>　</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l" fontAlgn="t"/>
                      <a:r>
                        <a:rPr lang="zh-CN" altLang="en-US" sz="1500" u="none" strike="noStrike">
                          <a:effectLst/>
                        </a:rPr>
                        <a:t>　</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筹资活动现金流入小计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zh-CN" altLang="en-US" sz="1500" u="none" strike="noStrike" dirty="0">
                          <a:effectLst/>
                        </a:rPr>
                        <a:t>　</a:t>
                      </a:r>
                      <a:r>
                        <a:rPr lang="en-US" altLang="zh-CN" sz="1500" u="none" strike="noStrike" dirty="0" smtClean="0">
                          <a:effectLst/>
                        </a:rPr>
                        <a:t>0.00</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effectLst/>
                        </a:rPr>
                        <a:t>8.33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zh-CN" altLang="en-US" sz="1500" u="none" strike="noStrike" dirty="0">
                          <a:effectLst/>
                        </a:rPr>
                        <a:t>　</a:t>
                      </a:r>
                      <a:r>
                        <a:rPr lang="en-US" altLang="zh-CN" sz="1500" u="none" strike="noStrike" dirty="0" smtClean="0">
                          <a:effectLst/>
                        </a:rPr>
                        <a:t>0.00</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筹资活动现金流出小计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a:effectLst/>
                        </a:rPr>
                        <a:t>241.28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effectLst/>
                        </a:rPr>
                        <a:t>201.17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164.41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dirty="0">
                          <a:effectLst/>
                        </a:rPr>
                        <a:t>　　</a:t>
                      </a:r>
                      <a:r>
                        <a:rPr lang="zh-CN" altLang="en-US" sz="1500" b="1" u="none" strike="noStrike" kern="1200" dirty="0">
                          <a:solidFill>
                            <a:srgbClr val="FF0000"/>
                          </a:solidFill>
                          <a:effectLst/>
                          <a:latin typeface="+mn-lt"/>
                          <a:ea typeface="+mn-ea"/>
                          <a:cs typeface="+mn-cs"/>
                        </a:rPr>
                        <a:t>筹资活动产生的现金流量净额</a:t>
                      </a:r>
                    </a:p>
                  </a:txBody>
                  <a:tcPr marL="6350" marR="6350" marT="6350" marB="0" anchor="ctr"/>
                </a:tc>
                <a:tc>
                  <a:txBody>
                    <a:bodyPr/>
                    <a:lstStyle/>
                    <a:p>
                      <a:pPr algn="r" fontAlgn="t"/>
                      <a:r>
                        <a:rPr lang="en-US" altLang="zh-CN" sz="1500" u="none" strike="noStrike" dirty="0">
                          <a:solidFill>
                            <a:srgbClr val="FF0000"/>
                          </a:solidFill>
                          <a:effectLst/>
                        </a:rPr>
                        <a:t>-241.28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solidFill>
                            <a:srgbClr val="FF0000"/>
                          </a:solidFill>
                          <a:effectLst/>
                        </a:rPr>
                        <a:t>-192.84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solidFill>
                            <a:srgbClr val="FF0000"/>
                          </a:solidFill>
                          <a:effectLst/>
                        </a:rPr>
                        <a:t>-164.41 </a:t>
                      </a:r>
                      <a:endParaRPr lang="en-US" altLang="zh-CN" sz="15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现金及现金等价物净增加额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a:effectLst/>
                        </a:rPr>
                        <a:t>257.37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effectLst/>
                        </a:rPr>
                        <a:t>227.61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233.15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期初现金及现金等价物余额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a:effectLst/>
                        </a:rPr>
                        <a:t>1,210.04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effectLst/>
                        </a:rPr>
                        <a:t>982.43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a:effectLst/>
                        </a:rPr>
                        <a:t>749.28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　　期末现金及现金等价物余额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a:effectLst/>
                        </a:rPr>
                        <a:t>1,467.41 </a:t>
                      </a:r>
                      <a:endParaRPr lang="en-US" altLang="zh-CN"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effectLst/>
                        </a:rPr>
                        <a:t>1,210.04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a:effectLst/>
                        </a:rPr>
                        <a:t>982.43 </a:t>
                      </a:r>
                      <a:endParaRPr lang="en-US" altLang="zh-CN"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bl>
          </a:graphicData>
        </a:graphic>
      </p:graphicFrame>
    </p:spTree>
    <p:extLst>
      <p:ext uri="{BB962C8B-B14F-4D97-AF65-F5344CB8AC3E}">
        <p14:creationId xmlns:p14="http://schemas.microsoft.com/office/powerpoint/2010/main" val="23601418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中国石油现金流量表简表</a:t>
            </a:r>
            <a:endParaRPr lang="zh-CN" altLang="en-US" dirty="0"/>
          </a:p>
        </p:txBody>
      </p:sp>
      <p:graphicFrame>
        <p:nvGraphicFramePr>
          <p:cNvPr id="4" name="表格 3"/>
          <p:cNvGraphicFramePr>
            <a:graphicFrameLocks noGrp="1"/>
          </p:cNvGraphicFramePr>
          <p:nvPr>
            <p:extLst/>
          </p:nvPr>
        </p:nvGraphicFramePr>
        <p:xfrm>
          <a:off x="696628" y="1536684"/>
          <a:ext cx="10798744" cy="4864112"/>
        </p:xfrm>
        <a:graphic>
          <a:graphicData uri="http://schemas.openxmlformats.org/drawingml/2006/table">
            <a:tbl>
              <a:tblPr>
                <a:tableStyleId>{5C22544A-7EE6-4342-B048-85BDC9FD1C3A}</a:tableStyleId>
              </a:tblPr>
              <a:tblGrid>
                <a:gridCol w="4712609"/>
                <a:gridCol w="2297102"/>
                <a:gridCol w="1989242"/>
                <a:gridCol w="1799791"/>
              </a:tblGrid>
              <a:tr h="304007">
                <a:tc>
                  <a:txBody>
                    <a:bodyPr/>
                    <a:lstStyle/>
                    <a:p>
                      <a:pPr algn="l" fontAlgn="ctr"/>
                      <a:r>
                        <a:rPr lang="zh-CN" altLang="en-US" sz="1500" u="none" strike="noStrike" dirty="0">
                          <a:effectLst/>
                        </a:rPr>
                        <a:t>　</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u="none" strike="noStrike" dirty="0" smtClean="0">
                          <a:effectLst/>
                        </a:rPr>
                        <a:t>2020</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2019</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500" u="none" strike="noStrike" dirty="0" smtClean="0">
                          <a:effectLst/>
                        </a:rPr>
                        <a:t>2018</a:t>
                      </a:r>
                      <a:r>
                        <a:rPr lang="zh-CN" altLang="en-US" sz="1500" u="none" strike="noStrike" dirty="0" smtClean="0">
                          <a:effectLst/>
                        </a:rPr>
                        <a:t>年</a:t>
                      </a:r>
                      <a:r>
                        <a:rPr lang="zh-CN" altLang="en-US" sz="1500" u="none" strike="noStrike" dirty="0">
                          <a:effectLst/>
                        </a:rPr>
                        <a:t>（亿元）</a:t>
                      </a: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304007">
                <a:tc>
                  <a:txBody>
                    <a:bodyPr/>
                    <a:lstStyle/>
                    <a:p>
                      <a:pPr algn="l" fontAlgn="ctr"/>
                      <a:r>
                        <a:rPr lang="zh-CN" altLang="en-US" sz="1500" u="none" strike="noStrike">
                          <a:effectLst/>
                        </a:rPr>
                        <a:t>经营活动产生的现金流量：</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r>
              <a:tr h="304007">
                <a:tc>
                  <a:txBody>
                    <a:bodyPr/>
                    <a:lstStyle/>
                    <a:p>
                      <a:pPr algn="l" fontAlgn="ctr"/>
                      <a:r>
                        <a:rPr lang="zh-CN" altLang="en-US" sz="1500" u="none" strike="noStrike">
                          <a:effectLst/>
                        </a:rPr>
                        <a:t>　　经营活动现金流入小计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22,090.71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28,807.03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27,320.98 </a:t>
                      </a:r>
                    </a:p>
                  </a:txBody>
                  <a:tcPr marL="6350" marR="6350" marT="6350" marB="0"/>
                </a:tc>
              </a:tr>
              <a:tr h="304007">
                <a:tc>
                  <a:txBody>
                    <a:bodyPr/>
                    <a:lstStyle/>
                    <a:p>
                      <a:pPr algn="l" fontAlgn="ctr"/>
                      <a:r>
                        <a:rPr lang="zh-CN" altLang="en-US" sz="1500" u="none" strike="noStrike">
                          <a:effectLst/>
                        </a:rPr>
                        <a:t>　　经营活动现金流出小计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18,904.96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25,210.93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23,805.33 </a:t>
                      </a:r>
                    </a:p>
                  </a:txBody>
                  <a:tcPr marL="6350" marR="6350" marT="6350" marB="0"/>
                </a:tc>
              </a:tr>
              <a:tr h="304007">
                <a:tc>
                  <a:txBody>
                    <a:bodyPr/>
                    <a:lstStyle/>
                    <a:p>
                      <a:pPr algn="l" fontAlgn="ctr"/>
                      <a:r>
                        <a:rPr lang="zh-CN" altLang="en-US" sz="1500" u="none" strike="noStrike" dirty="0">
                          <a:effectLst/>
                        </a:rPr>
                        <a:t>　　</a:t>
                      </a:r>
                      <a:r>
                        <a:rPr lang="zh-CN" altLang="en-US" sz="1500" b="1" u="none" strike="noStrike" dirty="0">
                          <a:solidFill>
                            <a:srgbClr val="FF0000"/>
                          </a:solidFill>
                          <a:effectLst/>
                        </a:rPr>
                        <a:t>经营活动产生的现金流量净额</a:t>
                      </a:r>
                      <a:endParaRPr lang="zh-CN" altLang="en-US" sz="15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3,185.75 </a:t>
                      </a:r>
                    </a:p>
                  </a:txBody>
                  <a:tcPr marL="6350" marR="6350" marT="6350" marB="0"/>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3,596.10 </a:t>
                      </a:r>
                    </a:p>
                  </a:txBody>
                  <a:tcPr marL="6350" marR="6350" marT="6350" marB="0"/>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3,515.65 </a:t>
                      </a:r>
                    </a:p>
                  </a:txBody>
                  <a:tcPr marL="6350" marR="6350" marT="6350" marB="0"/>
                </a:tc>
              </a:tr>
              <a:tr h="304007">
                <a:tc>
                  <a:txBody>
                    <a:bodyPr/>
                    <a:lstStyle/>
                    <a:p>
                      <a:pPr algn="l" fontAlgn="ctr"/>
                      <a:r>
                        <a:rPr lang="zh-CN" altLang="en-US" sz="1500" u="none" strike="noStrike">
                          <a:effectLst/>
                        </a:rPr>
                        <a:t>投资活动产生的现金流量：</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r>
              <a:tr h="304007">
                <a:tc>
                  <a:txBody>
                    <a:bodyPr/>
                    <a:lstStyle/>
                    <a:p>
                      <a:pPr algn="l" fontAlgn="ctr"/>
                      <a:r>
                        <a:rPr lang="zh-CN" altLang="en-US" sz="1500" u="none" strike="noStrike">
                          <a:effectLst/>
                        </a:rPr>
                        <a:t>　　投资活动现金流入小计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949.79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249.99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261.81 </a:t>
                      </a:r>
                    </a:p>
                  </a:txBody>
                  <a:tcPr marL="6350" marR="6350" marT="6350" marB="0"/>
                </a:tc>
              </a:tr>
              <a:tr h="304007">
                <a:tc>
                  <a:txBody>
                    <a:bodyPr/>
                    <a:lstStyle/>
                    <a:p>
                      <a:pPr algn="l" fontAlgn="ctr"/>
                      <a:r>
                        <a:rPr lang="zh-CN" altLang="en-US" sz="1500" u="none" strike="noStrike">
                          <a:effectLst/>
                        </a:rPr>
                        <a:t>　　投资活动现金流出小计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2,769.65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3,579.47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2,939.13 </a:t>
                      </a:r>
                    </a:p>
                  </a:txBody>
                  <a:tcPr marL="6350" marR="6350" marT="6350" marB="0"/>
                </a:tc>
              </a:tr>
              <a:tr h="304007">
                <a:tc>
                  <a:txBody>
                    <a:bodyPr/>
                    <a:lstStyle/>
                    <a:p>
                      <a:pPr algn="l" fontAlgn="ctr"/>
                      <a:r>
                        <a:rPr lang="zh-CN" altLang="en-US" sz="1500" u="none" strike="noStrike" dirty="0">
                          <a:effectLst/>
                        </a:rPr>
                        <a:t>　　</a:t>
                      </a:r>
                      <a:r>
                        <a:rPr lang="zh-CN" altLang="en-US" sz="1500" b="1" u="none" strike="noStrike" kern="1200" dirty="0">
                          <a:solidFill>
                            <a:srgbClr val="FF0000"/>
                          </a:solidFill>
                          <a:effectLst/>
                          <a:latin typeface="+mn-lt"/>
                          <a:ea typeface="+mn-ea"/>
                          <a:cs typeface="+mn-cs"/>
                        </a:rPr>
                        <a:t>投资活动产生的现金流量净额</a:t>
                      </a:r>
                    </a:p>
                  </a:txBody>
                  <a:tcPr marL="6350" marR="6350" marT="6350" marB="0" anchor="ctr"/>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-1,819.86 </a:t>
                      </a:r>
                    </a:p>
                  </a:txBody>
                  <a:tcPr marL="6350" marR="6350" marT="6350" marB="0"/>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-3,329.48 </a:t>
                      </a:r>
                    </a:p>
                  </a:txBody>
                  <a:tcPr marL="6350" marR="6350" marT="6350" marB="0"/>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-2,677.32 </a:t>
                      </a:r>
                    </a:p>
                  </a:txBody>
                  <a:tcPr marL="6350" marR="6350" marT="6350" marB="0"/>
                </a:tc>
              </a:tr>
              <a:tr h="304007">
                <a:tc>
                  <a:txBody>
                    <a:bodyPr/>
                    <a:lstStyle/>
                    <a:p>
                      <a:pPr algn="l" fontAlgn="ctr"/>
                      <a:r>
                        <a:rPr lang="zh-CN" altLang="en-US" sz="1500" u="none" strike="noStrike">
                          <a:effectLst/>
                        </a:rPr>
                        <a:t>筹资活动产生的现金流量：</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l" fontAlgn="t"/>
                      <a:r>
                        <a:rPr lang="zh-CN" altLang="en-US" sz="1500" b="0" i="0" u="none" strike="noStrike">
                          <a:solidFill>
                            <a:srgbClr val="000000"/>
                          </a:solidFill>
                          <a:effectLst/>
                          <a:latin typeface="宋体" panose="02010600030101010101" pitchFamily="2" charset="-122"/>
                          <a:ea typeface="宋体" panose="02010600030101010101" pitchFamily="2" charset="-122"/>
                        </a:rPr>
                        <a:t>　</a:t>
                      </a:r>
                    </a:p>
                  </a:txBody>
                  <a:tcPr marL="6350" marR="6350" marT="6350" marB="0"/>
                </a:tc>
              </a:tr>
              <a:tr h="304007">
                <a:tc>
                  <a:txBody>
                    <a:bodyPr/>
                    <a:lstStyle/>
                    <a:p>
                      <a:pPr algn="l" fontAlgn="ctr"/>
                      <a:r>
                        <a:rPr lang="zh-CN" altLang="en-US" sz="1500" u="none" strike="noStrike">
                          <a:effectLst/>
                        </a:rPr>
                        <a:t>　　筹资活动现金流入小计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9,901.05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8,390.98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6,924.00 </a:t>
                      </a:r>
                    </a:p>
                  </a:txBody>
                  <a:tcPr marL="6350" marR="6350" marT="6350" marB="0"/>
                </a:tc>
              </a:tr>
              <a:tr h="304007">
                <a:tc>
                  <a:txBody>
                    <a:bodyPr/>
                    <a:lstStyle/>
                    <a:p>
                      <a:pPr algn="l" fontAlgn="ctr"/>
                      <a:r>
                        <a:rPr lang="zh-CN" altLang="en-US" sz="1500" u="none" strike="noStrike">
                          <a:effectLst/>
                        </a:rPr>
                        <a:t>　　筹资活动现金流出小计</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10,895.05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8,663.74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8,159.15 </a:t>
                      </a:r>
                    </a:p>
                  </a:txBody>
                  <a:tcPr marL="6350" marR="6350" marT="6350" marB="0"/>
                </a:tc>
              </a:tr>
              <a:tr h="304007">
                <a:tc>
                  <a:txBody>
                    <a:bodyPr/>
                    <a:lstStyle/>
                    <a:p>
                      <a:pPr algn="l" fontAlgn="ctr"/>
                      <a:r>
                        <a:rPr lang="zh-CN" altLang="en-US" sz="1500" u="none" strike="noStrike" dirty="0">
                          <a:effectLst/>
                        </a:rPr>
                        <a:t>　　</a:t>
                      </a:r>
                      <a:r>
                        <a:rPr lang="zh-CN" altLang="en-US" sz="1500" b="1" u="none" strike="noStrike" kern="1200" dirty="0">
                          <a:solidFill>
                            <a:srgbClr val="FF0000"/>
                          </a:solidFill>
                          <a:effectLst/>
                          <a:latin typeface="+mn-lt"/>
                          <a:ea typeface="+mn-ea"/>
                          <a:cs typeface="+mn-cs"/>
                        </a:rPr>
                        <a:t>筹资活动产生的现金流量净额</a:t>
                      </a:r>
                    </a:p>
                  </a:txBody>
                  <a:tcPr marL="6350" marR="6350" marT="6350" marB="0" anchor="ctr"/>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-994.00 </a:t>
                      </a:r>
                    </a:p>
                  </a:txBody>
                  <a:tcPr marL="6350" marR="6350" marT="6350" marB="0"/>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-272.76 </a:t>
                      </a:r>
                    </a:p>
                  </a:txBody>
                  <a:tcPr marL="6350" marR="6350" marT="6350" marB="0"/>
                </a:tc>
                <a:tc>
                  <a:txBody>
                    <a:bodyPr/>
                    <a:lstStyle/>
                    <a:p>
                      <a:pPr algn="r" fontAlgn="t"/>
                      <a:r>
                        <a:rPr lang="en-US" altLang="zh-CN" sz="1500" b="0" i="0" u="none" strike="noStrike" dirty="0">
                          <a:solidFill>
                            <a:srgbClr val="FF0000"/>
                          </a:solidFill>
                          <a:effectLst/>
                          <a:latin typeface="宋体" panose="02010600030101010101" pitchFamily="2" charset="-122"/>
                          <a:ea typeface="宋体" panose="02010600030101010101" pitchFamily="2" charset="-122"/>
                        </a:rPr>
                        <a:t>-1,235.15 </a:t>
                      </a:r>
                    </a:p>
                  </a:txBody>
                  <a:tcPr marL="6350" marR="6350" marT="6350" marB="0"/>
                </a:tc>
              </a:tr>
              <a:tr h="304007">
                <a:tc>
                  <a:txBody>
                    <a:bodyPr/>
                    <a:lstStyle/>
                    <a:p>
                      <a:pPr algn="l" fontAlgn="ctr"/>
                      <a:r>
                        <a:rPr lang="zh-CN" altLang="en-US" sz="1500" u="none" strike="noStrike">
                          <a:effectLst/>
                        </a:rPr>
                        <a:t>现金及现金等价物净增加额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322.22 </a:t>
                      </a:r>
                    </a:p>
                  </a:txBody>
                  <a:tcPr marL="6350" marR="6350" marT="6350" marB="0"/>
                </a:tc>
                <a:tc>
                  <a:txBody>
                    <a:bodyPr/>
                    <a:lstStyle/>
                    <a:p>
                      <a:pPr algn="r" fontAlgn="t"/>
                      <a:r>
                        <a:rPr lang="en-US" altLang="zh-CN" sz="1500" b="0" i="0" u="none" strike="noStrike" kern="1200" dirty="0">
                          <a:solidFill>
                            <a:srgbClr val="000000"/>
                          </a:solidFill>
                          <a:effectLst/>
                          <a:latin typeface="宋体" panose="02010600030101010101" pitchFamily="2" charset="-122"/>
                          <a:ea typeface="宋体" panose="02010600030101010101" pitchFamily="2" charset="-122"/>
                          <a:cs typeface="+mn-cs"/>
                        </a:rPr>
                        <a:t>4.55</a:t>
                      </a:r>
                      <a:r>
                        <a:rPr lang="en-US" altLang="zh-CN" sz="1500" b="1" i="0" u="none" strike="noStrike" dirty="0">
                          <a:solidFill>
                            <a:srgbClr val="FF0000"/>
                          </a:solidFill>
                          <a:effectLst/>
                          <a:latin typeface="宋体" panose="02010600030101010101" pitchFamily="2" charset="-122"/>
                          <a:ea typeface="宋体" panose="02010600030101010101" pitchFamily="2" charset="-122"/>
                        </a:rPr>
                        <a:t> </a:t>
                      </a:r>
                    </a:p>
                  </a:txBody>
                  <a:tcPr marL="6350" marR="6350" marT="6350" marB="0"/>
                </a:tc>
                <a:tc>
                  <a:txBody>
                    <a:bodyPr/>
                    <a:lstStyle/>
                    <a:p>
                      <a:pPr algn="r" fontAlgn="t"/>
                      <a:r>
                        <a:rPr lang="en-US" altLang="zh-CN" sz="1500" b="1" i="0" u="none" strike="noStrike" dirty="0">
                          <a:solidFill>
                            <a:srgbClr val="FF0000"/>
                          </a:solidFill>
                          <a:effectLst/>
                          <a:latin typeface="宋体" panose="02010600030101010101" pitchFamily="2" charset="-122"/>
                          <a:ea typeface="宋体" panose="02010600030101010101" pitchFamily="2" charset="-122"/>
                        </a:rPr>
                        <a:t>-371.79 </a:t>
                      </a:r>
                    </a:p>
                  </a:txBody>
                  <a:tcPr marL="6350" marR="6350" marT="6350" marB="0"/>
                </a:tc>
              </a:tr>
              <a:tr h="304007">
                <a:tc>
                  <a:txBody>
                    <a:bodyPr/>
                    <a:lstStyle/>
                    <a:p>
                      <a:pPr algn="l" fontAlgn="ctr"/>
                      <a:r>
                        <a:rPr lang="zh-CN" altLang="en-US" sz="1500" u="none" strike="noStrike">
                          <a:effectLst/>
                        </a:rPr>
                        <a:t>　　期初现金及现金等价物余额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864.09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859.54 </a:t>
                      </a:r>
                    </a:p>
                  </a:txBody>
                  <a:tcPr marL="6350" marR="6350" marT="6350" marB="0"/>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1,227.77 </a:t>
                      </a:r>
                    </a:p>
                  </a:txBody>
                  <a:tcPr marL="6350" marR="6350" marT="6350" marB="0"/>
                </a:tc>
              </a:tr>
              <a:tr h="304007">
                <a:tc>
                  <a:txBody>
                    <a:bodyPr/>
                    <a:lstStyle/>
                    <a:p>
                      <a:pPr algn="l" fontAlgn="ctr"/>
                      <a:r>
                        <a:rPr lang="zh-CN" altLang="en-US" sz="1500" u="none" strike="noStrike">
                          <a:effectLst/>
                        </a:rPr>
                        <a:t>　　期末现金及现金等价物余额</a:t>
                      </a: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500" b="0" i="0" u="none" strike="noStrike">
                          <a:solidFill>
                            <a:srgbClr val="000000"/>
                          </a:solidFill>
                          <a:effectLst/>
                          <a:latin typeface="宋体" panose="02010600030101010101" pitchFamily="2" charset="-122"/>
                          <a:ea typeface="宋体" panose="02010600030101010101" pitchFamily="2" charset="-122"/>
                        </a:rPr>
                        <a:t>1,186.31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864.09 </a:t>
                      </a:r>
                    </a:p>
                  </a:txBody>
                  <a:tcPr marL="6350" marR="6350" marT="6350" marB="0"/>
                </a:tc>
                <a:tc>
                  <a:txBody>
                    <a:bodyPr/>
                    <a:lstStyle/>
                    <a:p>
                      <a:pPr algn="r" fontAlgn="t"/>
                      <a:r>
                        <a:rPr lang="en-US" altLang="zh-CN" sz="1500" b="0" i="0" u="none" strike="noStrike" dirty="0">
                          <a:solidFill>
                            <a:srgbClr val="000000"/>
                          </a:solidFill>
                          <a:effectLst/>
                          <a:latin typeface="宋体" panose="02010600030101010101" pitchFamily="2" charset="-122"/>
                          <a:ea typeface="宋体" panose="02010600030101010101" pitchFamily="2" charset="-122"/>
                        </a:rPr>
                        <a:t>855.98 </a:t>
                      </a:r>
                    </a:p>
                  </a:txBody>
                  <a:tcPr marL="6350" marR="6350" marT="6350" marB="0"/>
                </a:tc>
              </a:tr>
            </a:tbl>
          </a:graphicData>
        </a:graphic>
      </p:graphicFrame>
    </p:spTree>
    <p:extLst>
      <p:ext uri="{BB962C8B-B14F-4D97-AF65-F5344CB8AC3E}">
        <p14:creationId xmlns:p14="http://schemas.microsoft.com/office/powerpoint/2010/main" val="7288035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5DE09A7-C438-4512-BB34-CE7579863463}" type="slidenum">
              <a:rPr lang="zh-CN" altLang="en-US"/>
              <a:pPr/>
              <a:t>40</a:t>
            </a:fld>
            <a:endParaRPr lang="en-US" altLang="zh-CN"/>
          </a:p>
        </p:txBody>
      </p:sp>
      <p:pic>
        <p:nvPicPr>
          <p:cNvPr id="2" name="图片 1"/>
          <p:cNvPicPr>
            <a:picLocks noChangeAspect="1"/>
          </p:cNvPicPr>
          <p:nvPr/>
        </p:nvPicPr>
        <p:blipFill>
          <a:blip r:embed="rId3"/>
          <a:stretch>
            <a:fillRect/>
          </a:stretch>
        </p:blipFill>
        <p:spPr>
          <a:xfrm>
            <a:off x="1884289" y="856648"/>
            <a:ext cx="8478579" cy="5178392"/>
          </a:xfrm>
          <a:prstGeom prst="rect">
            <a:avLst/>
          </a:prstGeom>
        </p:spPr>
      </p:pic>
    </p:spTree>
    <p:extLst>
      <p:ext uri="{BB962C8B-B14F-4D97-AF65-F5344CB8AC3E}">
        <p14:creationId xmlns:p14="http://schemas.microsoft.com/office/powerpoint/2010/main" val="39415927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现金流量表的编制方法</a:t>
            </a:r>
            <a:endParaRPr lang="zh-CN" altLang="en-US" dirty="0"/>
          </a:p>
        </p:txBody>
      </p:sp>
      <p:sp>
        <p:nvSpPr>
          <p:cNvPr id="3" name="内容占位符 2"/>
          <p:cNvSpPr>
            <a:spLocks noGrp="1"/>
          </p:cNvSpPr>
          <p:nvPr>
            <p:ph idx="1"/>
          </p:nvPr>
        </p:nvSpPr>
        <p:spPr/>
        <p:txBody>
          <a:bodyPr/>
          <a:lstStyle/>
          <a:p>
            <a:r>
              <a:rPr lang="zh-CN" altLang="en-US" dirty="0" smtClean="0"/>
              <a:t>直接法</a:t>
            </a:r>
            <a:endParaRPr lang="en-US" altLang="zh-CN" dirty="0" smtClean="0"/>
          </a:p>
          <a:p>
            <a:endParaRPr lang="en-US" altLang="zh-CN" dirty="0"/>
          </a:p>
          <a:p>
            <a:r>
              <a:rPr lang="zh-CN" altLang="en-US" dirty="0" smtClean="0"/>
              <a:t>间接法</a:t>
            </a:r>
            <a:endParaRPr lang="zh-CN" altLang="en-US" dirty="0"/>
          </a:p>
        </p:txBody>
      </p:sp>
    </p:spTree>
    <p:extLst>
      <p:ext uri="{BB962C8B-B14F-4D97-AF65-F5344CB8AC3E}">
        <p14:creationId xmlns:p14="http://schemas.microsoft.com/office/powerpoint/2010/main" val="35728546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011288"/>
          </a:xfrm>
        </p:spPr>
        <p:txBody>
          <a:bodyPr/>
          <a:lstStyle/>
          <a:p>
            <a:pPr algn="ctr"/>
            <a:r>
              <a:rPr lang="en-US" altLang="zh-CN" dirty="0"/>
              <a:t>3.2.4</a:t>
            </a:r>
            <a:r>
              <a:rPr lang="zh-CN" altLang="en-US" dirty="0"/>
              <a:t>财务报表注释</a:t>
            </a:r>
          </a:p>
        </p:txBody>
      </p:sp>
      <p:sp>
        <p:nvSpPr>
          <p:cNvPr id="3" name="内容占位符 2"/>
          <p:cNvSpPr>
            <a:spLocks noGrp="1"/>
          </p:cNvSpPr>
          <p:nvPr>
            <p:ph idx="1"/>
          </p:nvPr>
        </p:nvSpPr>
        <p:spPr>
          <a:xfrm>
            <a:off x="838200" y="1588168"/>
            <a:ext cx="10515600" cy="4588795"/>
          </a:xfrm>
        </p:spPr>
        <p:txBody>
          <a:bodyPr>
            <a:noAutofit/>
          </a:bodyPr>
          <a:lstStyle/>
          <a:p>
            <a:r>
              <a:rPr lang="zh-CN" altLang="en-US" sz="2000" dirty="0" smtClean="0"/>
              <a:t>解释使用的会计方法和会计政策</a:t>
            </a:r>
            <a:endParaRPr lang="en-US" altLang="zh-CN" sz="2000" dirty="0" smtClean="0"/>
          </a:p>
          <a:p>
            <a:endParaRPr lang="en-US" altLang="zh-CN" sz="2000" dirty="0"/>
          </a:p>
          <a:p>
            <a:r>
              <a:rPr lang="zh-CN" altLang="en-US" sz="2000" dirty="0" smtClean="0"/>
              <a:t>各资产项目与各负债项目的细节</a:t>
            </a:r>
            <a:endParaRPr lang="en-US" altLang="zh-CN" sz="2000" dirty="0" smtClean="0"/>
          </a:p>
          <a:p>
            <a:endParaRPr lang="en-US" altLang="zh-CN" sz="2000" dirty="0" smtClean="0"/>
          </a:p>
          <a:p>
            <a:r>
              <a:rPr lang="zh-CN" altLang="en-US" sz="2000" dirty="0" smtClean="0"/>
              <a:t>各收入项目和费用项目的细节</a:t>
            </a:r>
            <a:endParaRPr lang="en-US" altLang="zh-CN" sz="2000" dirty="0" smtClean="0"/>
          </a:p>
          <a:p>
            <a:endParaRPr lang="en-US" altLang="zh-CN" sz="2000" dirty="0"/>
          </a:p>
          <a:p>
            <a:r>
              <a:rPr lang="zh-CN" altLang="en-US" sz="2000" dirty="0" smtClean="0"/>
              <a:t>股本的详细信息</a:t>
            </a:r>
            <a:endParaRPr lang="en-US" altLang="zh-CN" sz="2000" dirty="0" smtClean="0"/>
          </a:p>
          <a:p>
            <a:endParaRPr lang="en-US" altLang="zh-CN" sz="2000" dirty="0"/>
          </a:p>
          <a:p>
            <a:r>
              <a:rPr lang="zh-CN" altLang="en-US" sz="2000" dirty="0" smtClean="0"/>
              <a:t>经营变化信息</a:t>
            </a:r>
            <a:endParaRPr lang="en-US" altLang="zh-CN" sz="2000" dirty="0" smtClean="0"/>
          </a:p>
          <a:p>
            <a:endParaRPr lang="en-US" altLang="zh-CN" sz="2000" dirty="0" smtClean="0"/>
          </a:p>
          <a:p>
            <a:r>
              <a:rPr lang="zh-CN" altLang="en-US" sz="2000" dirty="0" smtClean="0"/>
              <a:t>表外项目的信息</a:t>
            </a:r>
            <a:endParaRPr lang="zh-CN" altLang="en-US" sz="2000" dirty="0"/>
          </a:p>
        </p:txBody>
      </p:sp>
    </p:spTree>
    <p:extLst>
      <p:ext uri="{BB962C8B-B14F-4D97-AF65-F5344CB8AC3E}">
        <p14:creationId xmlns:p14="http://schemas.microsoft.com/office/powerpoint/2010/main" val="288446683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endParaRPr lang="zh-CN" altLang="en-US" dirty="0"/>
          </a:p>
        </p:txBody>
      </p:sp>
      <p:sp>
        <p:nvSpPr>
          <p:cNvPr id="3" name="内容占位符 2"/>
          <p:cNvSpPr>
            <a:spLocks noGrp="1"/>
          </p:cNvSpPr>
          <p:nvPr>
            <p:ph idx="1"/>
          </p:nvPr>
        </p:nvSpPr>
        <p:spPr/>
        <p:txBody>
          <a:bodyPr/>
          <a:lstStyle/>
          <a:p>
            <a:r>
              <a:rPr lang="zh-CN" altLang="en-US" dirty="0" smtClean="0"/>
              <a:t>财务报表附注的内容非常丰富，短则几十页篇幅，长则上百页篇幅，如</a:t>
            </a:r>
            <a:r>
              <a:rPr lang="zh-CN" altLang="en-US" dirty="0"/>
              <a:t>长期股权</a:t>
            </a:r>
            <a:r>
              <a:rPr lang="zh-CN" altLang="en-US" dirty="0" smtClean="0"/>
              <a:t>投资</a:t>
            </a:r>
            <a:endParaRPr lang="en-US" altLang="zh-CN" dirty="0" smtClean="0"/>
          </a:p>
          <a:p>
            <a:pPr lvl="1"/>
            <a:r>
              <a:rPr lang="zh-CN" altLang="en-US" dirty="0"/>
              <a:t>长期股权投资表，收录上市公司长期股权投资表的详细数据，包括期初、期末等</a:t>
            </a:r>
            <a:r>
              <a:rPr lang="zh-CN" altLang="en-US" dirty="0" smtClean="0"/>
              <a:t>。</a:t>
            </a:r>
            <a:endParaRPr lang="en-US" altLang="zh-CN" dirty="0" smtClean="0"/>
          </a:p>
          <a:p>
            <a:pPr lvl="1"/>
            <a:r>
              <a:rPr lang="zh-CN" altLang="en-US" dirty="0" smtClean="0"/>
              <a:t>长期</a:t>
            </a:r>
            <a:r>
              <a:rPr lang="zh-CN" altLang="en-US" dirty="0"/>
              <a:t>股权投资附表</a:t>
            </a:r>
            <a:r>
              <a:rPr lang="en-US" altLang="zh-CN" dirty="0"/>
              <a:t>-</a:t>
            </a:r>
            <a:r>
              <a:rPr lang="zh-CN" altLang="en-US" dirty="0"/>
              <a:t>被投资单位信息</a:t>
            </a:r>
            <a:r>
              <a:rPr lang="zh-CN" altLang="en-US" dirty="0" smtClean="0"/>
              <a:t>明细，收录</a:t>
            </a:r>
            <a:r>
              <a:rPr lang="zh-CN" altLang="en-US" dirty="0"/>
              <a:t>上市公司各投资单位的详细数据，包括资产、负债收入等数据。	</a:t>
            </a:r>
          </a:p>
          <a:p>
            <a:pPr lvl="2"/>
            <a:endParaRPr lang="en-US" altLang="zh-CN" dirty="0" smtClean="0"/>
          </a:p>
          <a:p>
            <a:r>
              <a:rPr lang="zh-CN" altLang="en-US" dirty="0" smtClean="0"/>
              <a:t>对于投资者而言，附注的信息有时比正表信息更有价值</a:t>
            </a:r>
            <a:endParaRPr lang="en-US" altLang="zh-CN" dirty="0" smtClean="0"/>
          </a:p>
          <a:p>
            <a:pPr lvl="1"/>
            <a:r>
              <a:rPr lang="zh-CN" altLang="en-US" dirty="0" smtClean="0"/>
              <a:t>中国上市公司定期（月度或季度）披露生产经营数据，如长江电力的发电量数据、牧原股份的生猪养殖数据等</a:t>
            </a:r>
            <a:endParaRPr lang="zh-CN" altLang="en-US" dirty="0"/>
          </a:p>
        </p:txBody>
      </p:sp>
    </p:spTree>
    <p:extLst>
      <p:ext uri="{BB962C8B-B14F-4D97-AF65-F5344CB8AC3E}">
        <p14:creationId xmlns:p14="http://schemas.microsoft.com/office/powerpoint/2010/main" val="418784780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F2F0527-8DB6-472B-8E8C-7FC1847BBFF5}" type="slidenum">
              <a:rPr lang="zh-CN" altLang="en-US"/>
              <a:pPr/>
              <a:t>44</a:t>
            </a:fld>
            <a:endParaRPr lang="en-US" altLang="zh-CN"/>
          </a:p>
        </p:txBody>
      </p:sp>
      <p:sp>
        <p:nvSpPr>
          <p:cNvPr id="177154" name="Rectangle 2"/>
          <p:cNvSpPr>
            <a:spLocks noGrp="1" noChangeArrowheads="1"/>
          </p:cNvSpPr>
          <p:nvPr>
            <p:ph type="title"/>
          </p:nvPr>
        </p:nvSpPr>
        <p:spPr>
          <a:xfrm>
            <a:off x="2438400" y="333375"/>
            <a:ext cx="7315200" cy="1150938"/>
          </a:xfrm>
        </p:spPr>
        <p:txBody>
          <a:bodyPr/>
          <a:lstStyle/>
          <a:p>
            <a:r>
              <a:rPr lang="en-US" altLang="zh-CN" dirty="0"/>
              <a:t>3.3</a:t>
            </a:r>
            <a:r>
              <a:rPr lang="zh-CN" altLang="en-US" dirty="0"/>
              <a:t>　市场价格与帐面价值</a:t>
            </a:r>
          </a:p>
        </p:txBody>
      </p:sp>
      <p:sp>
        <p:nvSpPr>
          <p:cNvPr id="177155" name="Rectangle 3"/>
          <p:cNvSpPr>
            <a:spLocks noGrp="1" noChangeArrowheads="1"/>
          </p:cNvSpPr>
          <p:nvPr>
            <p:ph type="body" idx="1"/>
          </p:nvPr>
        </p:nvSpPr>
        <p:spPr>
          <a:xfrm>
            <a:off x="2438400" y="1844676"/>
            <a:ext cx="7761288" cy="4608513"/>
          </a:xfrm>
        </p:spPr>
        <p:txBody>
          <a:bodyPr/>
          <a:lstStyle/>
          <a:p>
            <a:pPr>
              <a:lnSpc>
                <a:spcPct val="90000"/>
              </a:lnSpc>
            </a:pPr>
            <a:r>
              <a:rPr lang="zh-CN" altLang="en-US" dirty="0"/>
              <a:t>公司股票的市场价格不等于其帐面价值</a:t>
            </a:r>
          </a:p>
          <a:p>
            <a:pPr lvl="1">
              <a:lnSpc>
                <a:spcPct val="90000"/>
              </a:lnSpc>
            </a:pPr>
            <a:r>
              <a:rPr lang="zh-CN" altLang="en-US" dirty="0"/>
              <a:t>帐面价值没有包含公司所有的资产与负债</a:t>
            </a:r>
          </a:p>
          <a:p>
            <a:pPr lvl="2">
              <a:lnSpc>
                <a:spcPct val="90000"/>
              </a:lnSpc>
            </a:pPr>
            <a:r>
              <a:rPr lang="zh-CN" altLang="en-US" dirty="0"/>
              <a:t>良好的声誉</a:t>
            </a:r>
          </a:p>
          <a:p>
            <a:pPr lvl="2">
              <a:lnSpc>
                <a:spcPct val="90000"/>
              </a:lnSpc>
            </a:pPr>
            <a:r>
              <a:rPr lang="zh-CN" altLang="en-US" dirty="0"/>
              <a:t>企业研发投入或培训员工建立的知识基础</a:t>
            </a:r>
          </a:p>
          <a:p>
            <a:pPr lvl="2">
              <a:lnSpc>
                <a:spcPct val="90000"/>
              </a:lnSpc>
            </a:pPr>
            <a:r>
              <a:rPr lang="zh-CN" altLang="en-US" dirty="0"/>
              <a:t>企业卷入法律诉讼（或有负债）</a:t>
            </a:r>
          </a:p>
          <a:p>
            <a:pPr lvl="1">
              <a:lnSpc>
                <a:spcPct val="90000"/>
              </a:lnSpc>
            </a:pPr>
            <a:r>
              <a:rPr lang="zh-CN" altLang="en-US" dirty="0"/>
              <a:t>公司正式的资产负债表中的资产与负债（绝大部分）是按</a:t>
            </a:r>
            <a:r>
              <a:rPr lang="zh-CN" altLang="en-US" b="1" i="1" dirty="0"/>
              <a:t>历史成本</a:t>
            </a:r>
            <a:r>
              <a:rPr lang="zh-CN" altLang="en-US" dirty="0"/>
              <a:t>扣除折旧计价，而不是按目前的市场价格</a:t>
            </a:r>
            <a:r>
              <a:rPr lang="zh-CN" altLang="en-US" dirty="0" smtClean="0"/>
              <a:t>计价</a:t>
            </a:r>
            <a:endParaRPr lang="zh-CN" altLang="en-US" dirty="0"/>
          </a:p>
        </p:txBody>
      </p:sp>
    </p:spTree>
    <p:extLst>
      <p:ext uri="{BB962C8B-B14F-4D97-AF65-F5344CB8AC3E}">
        <p14:creationId xmlns:p14="http://schemas.microsoft.com/office/powerpoint/2010/main" val="33860802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lang="zh-CN" altLang="en-US" dirty="0" smtClean="0"/>
              <a:t>中国石油与贵州茅台比较</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793793360"/>
              </p:ext>
            </p:extLst>
          </p:nvPr>
        </p:nvGraphicFramePr>
        <p:xfrm>
          <a:off x="625643" y="2021306"/>
          <a:ext cx="10404909" cy="3272588"/>
        </p:xfrm>
        <a:graphic>
          <a:graphicData uri="http://schemas.openxmlformats.org/drawingml/2006/table">
            <a:tbl>
              <a:tblPr>
                <a:tableStyleId>{5C22544A-7EE6-4342-B048-85BDC9FD1C3A}</a:tableStyleId>
              </a:tblPr>
              <a:tblGrid>
                <a:gridCol w="2666197"/>
                <a:gridCol w="4245457"/>
                <a:gridCol w="1771579"/>
                <a:gridCol w="1721676"/>
              </a:tblGrid>
              <a:tr h="818147">
                <a:tc>
                  <a:txBody>
                    <a:bodyPr/>
                    <a:lstStyle/>
                    <a:p>
                      <a:pPr algn="l" fontAlgn="ctr"/>
                      <a:r>
                        <a:rPr lang="zh-CN" altLang="en-US" sz="2000" u="none" strike="noStrike" dirty="0">
                          <a:effectLst/>
                        </a:rPr>
                        <a:t>项目</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ctr"/>
                      <a:r>
                        <a:rPr lang="zh-CN" altLang="en-US" sz="2000" u="none" strike="noStrike">
                          <a:effectLst/>
                        </a:rPr>
                        <a:t>测算方法</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2000" u="none" strike="noStrike" dirty="0">
                          <a:effectLst/>
                        </a:rPr>
                        <a:t>贵州茅台</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2000" u="none" strike="noStrike" dirty="0">
                          <a:effectLst/>
                        </a:rPr>
                        <a:t>中国石油</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818147">
                <a:tc>
                  <a:txBody>
                    <a:bodyPr/>
                    <a:lstStyle/>
                    <a:p>
                      <a:pPr algn="l" fontAlgn="ctr"/>
                      <a:r>
                        <a:rPr lang="zh-CN" altLang="en-US" sz="2000" u="none" strike="noStrike" dirty="0" smtClean="0">
                          <a:effectLst/>
                        </a:rPr>
                        <a:t>每股净资产（元）</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ctr"/>
                      <a:r>
                        <a:rPr lang="en-US" altLang="zh-CN" sz="2000" u="none" strike="noStrike" dirty="0" smtClean="0">
                          <a:effectLst/>
                        </a:rPr>
                        <a:t>2026</a:t>
                      </a:r>
                      <a:r>
                        <a:rPr lang="zh-CN" altLang="en-US" sz="2000" u="none" strike="noStrike" dirty="0" smtClean="0">
                          <a:effectLst/>
                        </a:rPr>
                        <a:t>一季报披露</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b="0" i="0" u="none" strike="noStrike" dirty="0" smtClean="0">
                          <a:solidFill>
                            <a:srgbClr val="000000"/>
                          </a:solidFill>
                          <a:effectLst/>
                          <a:latin typeface="Calibri" panose="020F0502020204030204" pitchFamily="34" charset="0"/>
                          <a:ea typeface="宋体" panose="02010600030101010101" pitchFamily="2" charset="-122"/>
                        </a:rPr>
                        <a:t>216.32 </a:t>
                      </a:r>
                      <a:endParaRPr lang="en-US" altLang="zh-CN" sz="2000" b="0" i="0" u="none" strike="noStrike" dirty="0">
                        <a:solidFill>
                          <a:srgbClr val="000000"/>
                        </a:solidFill>
                        <a:effectLst/>
                        <a:latin typeface="Calibri" panose="020F0502020204030204" pitchFamily="34" charset="0"/>
                        <a:ea typeface="宋体" panose="02010600030101010101" pitchFamily="2" charset="-122"/>
                      </a:endParaRPr>
                    </a:p>
                  </a:txBody>
                  <a:tcPr marL="6350" marR="6350" marT="6350" marB="0" anchor="ctr"/>
                </a:tc>
                <a:tc>
                  <a:txBody>
                    <a:bodyPr/>
                    <a:lstStyle/>
                    <a:p>
                      <a:pPr algn="r" fontAlgn="ctr"/>
                      <a:r>
                        <a:rPr lang="en-US" altLang="zh-CN" sz="2000" b="0" i="0" u="none" strike="noStrike" dirty="0" smtClean="0">
                          <a:solidFill>
                            <a:srgbClr val="000000"/>
                          </a:solidFill>
                          <a:effectLst/>
                          <a:latin typeface="Calibri" panose="020F0502020204030204" pitchFamily="34" charset="0"/>
                          <a:ea typeface="宋体" panose="02010600030101010101" pitchFamily="2" charset="-122"/>
                        </a:rPr>
                        <a:t>8.88 </a:t>
                      </a:r>
                      <a:endParaRPr lang="en-US" altLang="zh-CN" sz="2000" b="0" i="0" u="none" strike="noStrike" dirty="0">
                        <a:solidFill>
                          <a:srgbClr val="000000"/>
                        </a:solidFill>
                        <a:effectLst/>
                        <a:latin typeface="Calibri" panose="020F0502020204030204" pitchFamily="34" charset="0"/>
                        <a:ea typeface="宋体" panose="02010600030101010101" pitchFamily="2" charset="-122"/>
                      </a:endParaRPr>
                    </a:p>
                  </a:txBody>
                  <a:tcPr marL="6350" marR="6350" marT="6350" marB="0" anchor="ctr"/>
                </a:tc>
              </a:tr>
              <a:tr h="818147">
                <a:tc>
                  <a:txBody>
                    <a:bodyPr/>
                    <a:lstStyle/>
                    <a:p>
                      <a:pPr algn="l" fontAlgn="ctr"/>
                      <a:r>
                        <a:rPr lang="zh-CN" altLang="en-US" sz="2000" u="none" strike="noStrike" dirty="0" smtClean="0">
                          <a:effectLst/>
                        </a:rPr>
                        <a:t>股价（元）</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ctr"/>
                      <a:r>
                        <a:rPr lang="en-US" altLang="zh-CN" sz="2000" u="none" strike="noStrike" dirty="0" smtClean="0">
                          <a:effectLst/>
                        </a:rPr>
                        <a:t>2026-05-19</a:t>
                      </a:r>
                      <a:r>
                        <a:rPr lang="zh-CN" altLang="en-US" sz="2000" u="none" strike="noStrike" dirty="0" smtClean="0">
                          <a:effectLst/>
                        </a:rPr>
                        <a:t>收盘价</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b="0" i="0" u="none" strike="noStrike" kern="1200" dirty="0" smtClean="0">
                          <a:solidFill>
                            <a:srgbClr val="000000"/>
                          </a:solidFill>
                          <a:effectLst/>
                          <a:latin typeface="Calibri" panose="020F0502020204030204" pitchFamily="34" charset="0"/>
                          <a:ea typeface="宋体" panose="02010600030101010101" pitchFamily="2" charset="-122"/>
                          <a:cs typeface="+mn-cs"/>
                        </a:rPr>
                        <a:t>1324.30 </a:t>
                      </a:r>
                      <a:endParaRPr lang="en-US" altLang="zh-CN" sz="2000" b="0" i="0" u="none" strike="noStrike" kern="1200" dirty="0">
                        <a:solidFill>
                          <a:srgbClr val="000000"/>
                        </a:solidFill>
                        <a:effectLst/>
                        <a:latin typeface="Calibri" panose="020F0502020204030204" pitchFamily="34" charset="0"/>
                        <a:ea typeface="宋体" panose="02010600030101010101" pitchFamily="2" charset="-122"/>
                        <a:cs typeface="+mn-cs"/>
                      </a:endParaRPr>
                    </a:p>
                  </a:txBody>
                  <a:tcPr marL="6350" marR="6350" marT="6350" marB="0" anchor="ctr"/>
                </a:tc>
                <a:tc>
                  <a:txBody>
                    <a:bodyPr/>
                    <a:lstStyle/>
                    <a:p>
                      <a:pPr algn="r" fontAlgn="ctr"/>
                      <a:r>
                        <a:rPr lang="en-US" altLang="zh-CN" sz="2000" b="0" i="0" u="none" strike="noStrike" kern="1200" dirty="0" smtClean="0">
                          <a:solidFill>
                            <a:srgbClr val="000000"/>
                          </a:solidFill>
                          <a:effectLst/>
                          <a:latin typeface="Calibri" panose="020F0502020204030204" pitchFamily="34" charset="0"/>
                          <a:ea typeface="宋体" panose="02010600030101010101" pitchFamily="2" charset="-122"/>
                          <a:cs typeface="+mn-cs"/>
                        </a:rPr>
                        <a:t>11.56 </a:t>
                      </a:r>
                      <a:endParaRPr lang="en-US" altLang="zh-CN" sz="2000" b="0" i="0" u="none" strike="noStrike" kern="1200" dirty="0">
                        <a:solidFill>
                          <a:srgbClr val="000000"/>
                        </a:solidFill>
                        <a:effectLst/>
                        <a:latin typeface="Calibri" panose="020F0502020204030204" pitchFamily="34" charset="0"/>
                        <a:ea typeface="宋体" panose="02010600030101010101" pitchFamily="2" charset="-122"/>
                        <a:cs typeface="+mn-cs"/>
                      </a:endParaRPr>
                    </a:p>
                  </a:txBody>
                  <a:tcPr marL="6350" marR="6350" marT="6350" marB="0" anchor="ctr"/>
                </a:tc>
              </a:tr>
              <a:tr h="818147">
                <a:tc>
                  <a:txBody>
                    <a:bodyPr/>
                    <a:lstStyle/>
                    <a:p>
                      <a:pPr algn="l" fontAlgn="ctr"/>
                      <a:r>
                        <a:rPr lang="en-US" sz="2000" u="none" strike="noStrike">
                          <a:effectLst/>
                        </a:rPr>
                        <a:t>PB</a:t>
                      </a:r>
                      <a:r>
                        <a:rPr lang="zh-CN" altLang="en-US" sz="2000" u="none" strike="noStrike">
                          <a:effectLst/>
                        </a:rPr>
                        <a:t>比率</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ctr"/>
                      <a:r>
                        <a:rPr lang="zh-CN" altLang="en-US" sz="2000" u="none" strike="noStrike">
                          <a:effectLst/>
                        </a:rPr>
                        <a:t>市值</a:t>
                      </a:r>
                      <a:r>
                        <a:rPr lang="en-US" altLang="zh-CN" sz="2000" u="none" strike="noStrike">
                          <a:effectLst/>
                        </a:rPr>
                        <a:t>/</a:t>
                      </a:r>
                      <a:r>
                        <a:rPr lang="zh-CN" altLang="en-US" sz="2000" u="none" strike="noStrike">
                          <a:effectLst/>
                        </a:rPr>
                        <a:t>账面值</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b="1" i="0" u="none" strike="noStrike" dirty="0" smtClean="0">
                          <a:solidFill>
                            <a:srgbClr val="FF0000"/>
                          </a:solidFill>
                          <a:effectLst/>
                          <a:latin typeface="宋体" panose="02010600030101010101" pitchFamily="2" charset="-122"/>
                          <a:ea typeface="宋体" panose="02010600030101010101" pitchFamily="2" charset="-122"/>
                        </a:rPr>
                        <a:t>6.12</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en-US" altLang="zh-CN" sz="2000" b="1" i="0" u="none" strike="noStrike" dirty="0" smtClean="0">
                          <a:solidFill>
                            <a:srgbClr val="0070C0"/>
                          </a:solidFill>
                          <a:effectLst/>
                          <a:latin typeface="宋体" panose="02010600030101010101" pitchFamily="2" charset="-122"/>
                          <a:ea typeface="宋体" panose="02010600030101010101" pitchFamily="2" charset="-122"/>
                        </a:rPr>
                        <a:t>1.30</a:t>
                      </a:r>
                      <a:r>
                        <a:rPr lang="en-US" altLang="zh-CN" sz="2000" b="0" i="0" u="none" strike="noStrike" dirty="0" smtClean="0">
                          <a:solidFill>
                            <a:srgbClr val="000000"/>
                          </a:solidFill>
                          <a:effectLst/>
                          <a:latin typeface="宋体" panose="02010600030101010101" pitchFamily="2" charset="-122"/>
                          <a:ea typeface="宋体" panose="02010600030101010101" pitchFamily="2" charset="-122"/>
                        </a:rPr>
                        <a:t> </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bl>
          </a:graphicData>
        </a:graphic>
      </p:graphicFrame>
    </p:spTree>
    <p:extLst>
      <p:ext uri="{BB962C8B-B14F-4D97-AF65-F5344CB8AC3E}">
        <p14:creationId xmlns:p14="http://schemas.microsoft.com/office/powerpoint/2010/main" val="383263850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3.4 </a:t>
            </a:r>
            <a:r>
              <a:rPr lang="zh-CN" altLang="en-US" dirty="0" smtClean="0"/>
              <a:t>收入的会计标准与经济标准</a:t>
            </a:r>
            <a:endParaRPr lang="zh-CN" altLang="en-US" dirty="0"/>
          </a:p>
        </p:txBody>
      </p:sp>
      <p:sp>
        <p:nvSpPr>
          <p:cNvPr id="3" name="内容占位符 2"/>
          <p:cNvSpPr>
            <a:spLocks noGrp="1"/>
          </p:cNvSpPr>
          <p:nvPr>
            <p:ph idx="1"/>
          </p:nvPr>
        </p:nvSpPr>
        <p:spPr/>
        <p:txBody>
          <a:bodyPr/>
          <a:lstStyle/>
          <a:p>
            <a:r>
              <a:rPr lang="en-US" altLang="zh-CN" dirty="0"/>
              <a:t>Economist’s Measure of Net Income</a:t>
            </a:r>
          </a:p>
          <a:p>
            <a:pPr lvl="1"/>
            <a:r>
              <a:rPr lang="en-US" altLang="zh-CN" dirty="0"/>
              <a:t>Net cash flow to shareholders </a:t>
            </a:r>
            <a:r>
              <a:rPr lang="en-US" altLang="zh-CN" i="1" dirty="0"/>
              <a:t>plus</a:t>
            </a:r>
            <a:r>
              <a:rPr lang="en-US" altLang="zh-CN" dirty="0"/>
              <a:t> change in market value of existing shareholders </a:t>
            </a:r>
            <a:r>
              <a:rPr lang="en-US" altLang="zh-CN" dirty="0" smtClean="0"/>
              <a:t>equity</a:t>
            </a:r>
            <a:r>
              <a:rPr lang="zh-CN" altLang="en-US" dirty="0" smtClean="0"/>
              <a:t>：股利 </a:t>
            </a:r>
            <a:r>
              <a:rPr lang="en-US" altLang="zh-CN" dirty="0" smtClean="0"/>
              <a:t>+ </a:t>
            </a:r>
            <a:r>
              <a:rPr lang="zh-CN" altLang="en-US" dirty="0" smtClean="0"/>
              <a:t>资本利得</a:t>
            </a:r>
            <a:endParaRPr lang="en-US" altLang="zh-CN" dirty="0"/>
          </a:p>
          <a:p>
            <a:r>
              <a:rPr lang="en-US" altLang="zh-CN" dirty="0"/>
              <a:t>Accountant's Measure of Net Income</a:t>
            </a:r>
          </a:p>
          <a:p>
            <a:pPr lvl="1">
              <a:buFontTx/>
              <a:buNone/>
            </a:pPr>
            <a:r>
              <a:rPr lang="en-US" altLang="zh-CN" dirty="0"/>
              <a:t>Revenue </a:t>
            </a:r>
            <a:r>
              <a:rPr lang="en-US" altLang="zh-CN" i="1" dirty="0"/>
              <a:t>Less</a:t>
            </a:r>
            <a:r>
              <a:rPr lang="en-US" altLang="zh-CN" dirty="0"/>
              <a:t> Expenses </a:t>
            </a:r>
            <a:r>
              <a:rPr lang="en-US" altLang="zh-CN" i="1" dirty="0"/>
              <a:t>Less</a:t>
            </a:r>
            <a:r>
              <a:rPr lang="en-US" altLang="zh-CN" dirty="0"/>
              <a:t> Taxes</a:t>
            </a:r>
          </a:p>
          <a:p>
            <a:pPr lvl="1"/>
            <a:r>
              <a:rPr lang="en-US" altLang="zh-CN" dirty="0"/>
              <a:t>The above two measures would be equal if accountants marked </a:t>
            </a:r>
            <a:r>
              <a:rPr lang="en-US" altLang="zh-CN" i="1" dirty="0"/>
              <a:t>all</a:t>
            </a:r>
            <a:r>
              <a:rPr lang="en-US" altLang="zh-CN" dirty="0"/>
              <a:t> relevant assets and liabilities to market (they don’t</a:t>
            </a:r>
            <a:r>
              <a:rPr lang="en-US" altLang="zh-CN" dirty="0" smtClean="0"/>
              <a:t>!)</a:t>
            </a:r>
            <a:endParaRPr lang="en-US" altLang="zh-CN" dirty="0"/>
          </a:p>
        </p:txBody>
      </p:sp>
    </p:spTree>
    <p:extLst>
      <p:ext uri="{BB962C8B-B14F-4D97-AF65-F5344CB8AC3E}">
        <p14:creationId xmlns:p14="http://schemas.microsoft.com/office/powerpoint/2010/main" val="10985333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84E0545-49CA-44B9-AD6D-95E0DFDB6D3C}" type="slidenum">
              <a:rPr lang="en-US" altLang="zh-CN"/>
              <a:pPr/>
              <a:t>47</a:t>
            </a:fld>
            <a:endParaRPr lang="en-US" altLang="zh-CN"/>
          </a:p>
        </p:txBody>
      </p:sp>
      <p:sp>
        <p:nvSpPr>
          <p:cNvPr id="39938" name="Rectangle 2"/>
          <p:cNvSpPr>
            <a:spLocks noGrp="1" noChangeArrowheads="1"/>
          </p:cNvSpPr>
          <p:nvPr>
            <p:ph type="title"/>
          </p:nvPr>
        </p:nvSpPr>
        <p:spPr>
          <a:noFill/>
          <a:ln/>
        </p:spPr>
        <p:txBody>
          <a:bodyPr>
            <a:normAutofit/>
          </a:bodyPr>
          <a:lstStyle/>
          <a:p>
            <a:pPr algn="ctr"/>
            <a:r>
              <a:rPr lang="en-US" altLang="zh-CN" sz="3500" dirty="0">
                <a:effectLst/>
                <a:ea typeface="宋体" panose="02010600030101010101" pitchFamily="2" charset="-122"/>
              </a:rPr>
              <a:t>Accounting v. Economic Measures of Income: Example</a:t>
            </a:r>
          </a:p>
        </p:txBody>
      </p:sp>
      <p:sp>
        <p:nvSpPr>
          <p:cNvPr id="39939" name="Rectangle 3"/>
          <p:cNvSpPr>
            <a:spLocks noGrp="1" noChangeArrowheads="1"/>
          </p:cNvSpPr>
          <p:nvPr>
            <p:ph type="body" idx="1"/>
          </p:nvPr>
        </p:nvSpPr>
        <p:spPr>
          <a:xfrm>
            <a:off x="1126154" y="2598821"/>
            <a:ext cx="9760017" cy="2685448"/>
          </a:xfrm>
          <a:noFill/>
          <a:ln/>
        </p:spPr>
        <p:txBody>
          <a:bodyPr/>
          <a:lstStyle/>
          <a:p>
            <a:r>
              <a:rPr lang="en-US" altLang="zh-CN" sz="2400" dirty="0">
                <a:ea typeface="宋体" panose="02010600030101010101" pitchFamily="2" charset="-122"/>
              </a:rPr>
              <a:t>GPC’s accounting net income was </a:t>
            </a:r>
            <a:r>
              <a:rPr lang="en-US" altLang="zh-CN" sz="2400" i="1" dirty="0">
                <a:ea typeface="宋体" panose="02010600030101010101" pitchFamily="2" charset="-122"/>
              </a:rPr>
              <a:t>plus</a:t>
            </a:r>
            <a:r>
              <a:rPr lang="en-US" altLang="zh-CN" sz="2400" dirty="0">
                <a:ea typeface="宋体" panose="02010600030101010101" pitchFamily="2" charset="-122"/>
              </a:rPr>
              <a:t> $23,400,000 in </a:t>
            </a:r>
            <a:r>
              <a:rPr lang="en-US" altLang="zh-CN" sz="2400" dirty="0" smtClean="0">
                <a:ea typeface="宋体" panose="02010600030101010101" pitchFamily="2" charset="-122"/>
              </a:rPr>
              <a:t>2001 </a:t>
            </a:r>
            <a:r>
              <a:rPr lang="zh-CN" altLang="en-US" sz="2400" dirty="0" smtClean="0">
                <a:ea typeface="宋体" panose="02010600030101010101" pitchFamily="2" charset="-122"/>
              </a:rPr>
              <a:t>会计利润</a:t>
            </a:r>
            <a:endParaRPr lang="en-US" altLang="zh-CN" sz="2400" dirty="0">
              <a:ea typeface="宋体" panose="02010600030101010101" pitchFamily="2" charset="-122"/>
            </a:endParaRPr>
          </a:p>
          <a:p>
            <a:r>
              <a:rPr lang="en-US" altLang="zh-CN" sz="2400" dirty="0">
                <a:ea typeface="宋体" panose="02010600030101010101" pitchFamily="2" charset="-122"/>
              </a:rPr>
              <a:t>Assume the total market value of the stock fell from $200,000,000 to $187,000,000 from year 2xx0 to 2xx1.  We saw earlier that the cash dividend to shareholders was $10,000,000. The economic income in year 2xx1 was </a:t>
            </a:r>
            <a:r>
              <a:rPr lang="en-US" altLang="zh-CN" sz="2400" i="1" dirty="0">
                <a:ea typeface="宋体" panose="02010600030101010101" pitchFamily="2" charset="-122"/>
              </a:rPr>
              <a:t>minus</a:t>
            </a:r>
            <a:r>
              <a:rPr lang="en-US" altLang="zh-CN" sz="2400" dirty="0">
                <a:ea typeface="宋体" panose="02010600030101010101" pitchFamily="2" charset="-122"/>
              </a:rPr>
              <a:t> </a:t>
            </a:r>
            <a:r>
              <a:rPr lang="en-US" altLang="zh-CN" sz="2400" dirty="0">
                <a:solidFill>
                  <a:srgbClr val="FF0000"/>
                </a:solidFill>
                <a:ea typeface="宋体" panose="02010600030101010101" pitchFamily="2" charset="-122"/>
              </a:rPr>
              <a:t>$</a:t>
            </a:r>
            <a:r>
              <a:rPr lang="en-US" altLang="zh-CN" sz="2400" dirty="0" smtClean="0">
                <a:solidFill>
                  <a:srgbClr val="FF0000"/>
                </a:solidFill>
                <a:ea typeface="宋体" panose="02010600030101010101" pitchFamily="2" charset="-122"/>
              </a:rPr>
              <a:t>2,800,000 </a:t>
            </a:r>
            <a:r>
              <a:rPr lang="zh-CN" altLang="en-US" sz="2400" dirty="0" smtClean="0">
                <a:solidFill>
                  <a:srgbClr val="FF0000"/>
                </a:solidFill>
                <a:ea typeface="宋体" panose="02010600030101010101" pitchFamily="2" charset="-122"/>
              </a:rPr>
              <a:t>经济利润</a:t>
            </a:r>
            <a:endParaRPr lang="en-US" altLang="zh-CN" dirty="0">
              <a:effectLst/>
              <a:ea typeface="宋体" panose="02010600030101010101" pitchFamily="2" charset="-122"/>
            </a:endParaRPr>
          </a:p>
          <a:p>
            <a:r>
              <a:rPr lang="en-US" altLang="zh-CN" sz="2400" dirty="0">
                <a:ea typeface="宋体" panose="02010600030101010101" pitchFamily="2" charset="-122"/>
              </a:rPr>
              <a:t>The Accounting and Economic measures of Income may differ substantially</a:t>
            </a:r>
          </a:p>
        </p:txBody>
      </p:sp>
    </p:spTree>
    <p:extLst>
      <p:ext uri="{BB962C8B-B14F-4D97-AF65-F5344CB8AC3E}">
        <p14:creationId xmlns:p14="http://schemas.microsoft.com/office/powerpoint/2010/main" val="26508264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72129936-6ABA-440A-9E54-70EEB47B8D98}" type="slidenum">
              <a:rPr lang="zh-CN" altLang="en-US"/>
              <a:pPr/>
              <a:t>48</a:t>
            </a:fld>
            <a:endParaRPr lang="en-US" altLang="zh-CN"/>
          </a:p>
        </p:txBody>
      </p:sp>
      <p:sp>
        <p:nvSpPr>
          <p:cNvPr id="41986" name="Rectangle 2"/>
          <p:cNvSpPr>
            <a:spLocks noGrp="1" noChangeArrowheads="1"/>
          </p:cNvSpPr>
          <p:nvPr>
            <p:ph type="title"/>
          </p:nvPr>
        </p:nvSpPr>
        <p:spPr>
          <a:noFill/>
          <a:ln/>
        </p:spPr>
        <p:txBody>
          <a:bodyPr vert="horz" lIns="92075" tIns="46038" rIns="92075" bIns="46038" rtlCol="0" anchor="ctr">
            <a:normAutofit/>
          </a:bodyPr>
          <a:lstStyle/>
          <a:p>
            <a:r>
              <a:rPr lang="zh-CN" altLang="en-US" dirty="0"/>
              <a:t>3</a:t>
            </a:r>
            <a:r>
              <a:rPr lang="zh-CN" altLang="en-US" dirty="0" smtClean="0"/>
              <a:t>.</a:t>
            </a:r>
            <a:r>
              <a:rPr lang="en-US" altLang="zh-CN" dirty="0" smtClean="0"/>
              <a:t>5</a:t>
            </a:r>
            <a:r>
              <a:rPr lang="zh-CN" altLang="en-US" dirty="0" smtClean="0"/>
              <a:t> </a:t>
            </a:r>
            <a:r>
              <a:rPr lang="zh-CN" altLang="en-US" dirty="0"/>
              <a:t>股东总收益率和股权收益率（</a:t>
            </a:r>
            <a:r>
              <a:rPr lang="en-US" altLang="zh-CN" dirty="0"/>
              <a:t>ROE）</a:t>
            </a:r>
          </a:p>
        </p:txBody>
      </p:sp>
      <p:sp>
        <p:nvSpPr>
          <p:cNvPr id="41987" name="Rectangle 3"/>
          <p:cNvSpPr>
            <a:spLocks noGrp="1" noChangeArrowheads="1"/>
          </p:cNvSpPr>
          <p:nvPr>
            <p:ph type="body" idx="1"/>
          </p:nvPr>
        </p:nvSpPr>
        <p:spPr>
          <a:xfrm>
            <a:off x="2438400" y="1905000"/>
            <a:ext cx="7543800" cy="1524000"/>
          </a:xfrm>
          <a:noFill/>
          <a:ln/>
        </p:spPr>
        <p:txBody>
          <a:bodyPr vert="horz" lIns="92075" tIns="46038" rIns="92075" bIns="46038" rtlCol="0">
            <a:normAutofit/>
          </a:bodyPr>
          <a:lstStyle/>
          <a:p>
            <a:r>
              <a:rPr lang="zh-CN" altLang="en-US"/>
              <a:t>股东投资的总收益率：持有期收益率</a:t>
            </a:r>
            <a:endParaRPr lang="en-US" altLang="zh-CN"/>
          </a:p>
        </p:txBody>
      </p:sp>
      <p:graphicFrame>
        <p:nvGraphicFramePr>
          <p:cNvPr id="41988" name="Object 4"/>
          <p:cNvGraphicFramePr>
            <a:graphicFrameLocks/>
          </p:cNvGraphicFramePr>
          <p:nvPr/>
        </p:nvGraphicFramePr>
        <p:xfrm>
          <a:off x="3432176" y="2986089"/>
          <a:ext cx="6245225" cy="2255837"/>
        </p:xfrm>
        <a:graphic>
          <a:graphicData uri="http://schemas.openxmlformats.org/presentationml/2006/ole">
            <mc:AlternateContent xmlns:mc="http://schemas.openxmlformats.org/markup-compatibility/2006">
              <mc:Choice xmlns:v="urn:schemas-microsoft-com:vml" Requires="v">
                <p:oleObj spid="_x0000_s1101" name="Equation" r:id="rId4" imgW="2857320" imgH="1091880" progId="Equation.DSMT4">
                  <p:embed/>
                </p:oleObj>
              </mc:Choice>
              <mc:Fallback>
                <p:oleObj name="Equation" r:id="rId4" imgW="2857320" imgH="109188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2176" y="2986089"/>
                        <a:ext cx="6245225"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989" name="Rectangle 5"/>
          <p:cNvSpPr>
            <a:spLocks noChangeArrowheads="1"/>
          </p:cNvSpPr>
          <p:nvPr/>
        </p:nvSpPr>
        <p:spPr bwMode="auto">
          <a:xfrm>
            <a:off x="2438400" y="5638800"/>
            <a:ext cx="7543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60000"/>
              </a:spcBef>
              <a:buClr>
                <a:schemeClr val="tx1"/>
              </a:buClr>
            </a:pPr>
            <a:endParaRPr lang="en-US" altLang="zh-CN" sz="3000">
              <a:latin typeface="Tahoma" panose="020B0604030504040204" pitchFamily="34" charset="0"/>
            </a:endParaRPr>
          </a:p>
        </p:txBody>
      </p:sp>
    </p:spTree>
    <p:extLst>
      <p:ext uri="{BB962C8B-B14F-4D97-AF65-F5344CB8AC3E}">
        <p14:creationId xmlns:p14="http://schemas.microsoft.com/office/powerpoint/2010/main" val="21878420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8992D90-F33D-4E0D-B587-C85539DA6891}" type="slidenum">
              <a:rPr lang="zh-CN" altLang="en-US"/>
              <a:pPr/>
              <a:t>49</a:t>
            </a:fld>
            <a:endParaRPr lang="en-US" altLang="zh-CN"/>
          </a:p>
        </p:txBody>
      </p:sp>
      <p:sp>
        <p:nvSpPr>
          <p:cNvPr id="44034"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dirty="0" smtClean="0"/>
              <a:t>净资产收益率</a:t>
            </a:r>
            <a:r>
              <a:rPr lang="en-US" altLang="zh-CN" dirty="0" smtClean="0"/>
              <a:t>ROE</a:t>
            </a:r>
            <a:endParaRPr lang="en-US" altLang="zh-CN" dirty="0"/>
          </a:p>
        </p:txBody>
      </p:sp>
      <p:sp>
        <p:nvSpPr>
          <p:cNvPr id="44035" name="Rectangle 3"/>
          <p:cNvSpPr>
            <a:spLocks noGrp="1" noChangeArrowheads="1"/>
          </p:cNvSpPr>
          <p:nvPr>
            <p:ph type="body" idx="1"/>
          </p:nvPr>
        </p:nvSpPr>
        <p:spPr>
          <a:xfrm>
            <a:off x="2290813" y="2017713"/>
            <a:ext cx="8188275" cy="706236"/>
          </a:xfrm>
          <a:noFill/>
          <a:ln/>
        </p:spPr>
        <p:txBody>
          <a:bodyPr vert="horz" lIns="92075" tIns="46038" rIns="92075" bIns="46038" rtlCol="0">
            <a:normAutofit/>
          </a:bodyPr>
          <a:lstStyle/>
          <a:p>
            <a:r>
              <a:rPr lang="zh-CN" altLang="en-US" dirty="0"/>
              <a:t>传统上，公司业绩用净资产收益率（</a:t>
            </a:r>
            <a:r>
              <a:rPr lang="en-US" altLang="zh-CN" dirty="0"/>
              <a:t>ROE）</a:t>
            </a:r>
            <a:r>
              <a:rPr lang="zh-CN" altLang="en-US" dirty="0"/>
              <a:t>来衡量</a:t>
            </a:r>
            <a:endParaRPr lang="en-US" altLang="zh-CN" dirty="0"/>
          </a:p>
        </p:txBody>
      </p:sp>
      <p:graphicFrame>
        <p:nvGraphicFramePr>
          <p:cNvPr id="44036" name="Object 4"/>
          <p:cNvGraphicFramePr>
            <a:graphicFrameLocks/>
          </p:cNvGraphicFramePr>
          <p:nvPr/>
        </p:nvGraphicFramePr>
        <p:xfrm>
          <a:off x="3143250" y="3500438"/>
          <a:ext cx="5329238" cy="2089150"/>
        </p:xfrm>
        <a:graphic>
          <a:graphicData uri="http://schemas.openxmlformats.org/presentationml/2006/ole">
            <mc:AlternateContent xmlns:mc="http://schemas.openxmlformats.org/markup-compatibility/2006">
              <mc:Choice xmlns:v="urn:schemas-microsoft-com:vml" Requires="v">
                <p:oleObj spid="_x0000_s2125" name="Equation" r:id="rId4" imgW="1638000" imgH="863280" progId="Equation.DSMT4">
                  <p:embed/>
                </p:oleObj>
              </mc:Choice>
              <mc:Fallback>
                <p:oleObj name="Equation" r:id="rId4" imgW="1638000" imgH="863280" progId="Equation.DSMT4">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0" y="3500438"/>
                        <a:ext cx="5329238"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9086619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ctr"/>
            <a:r>
              <a:rPr lang="zh-CN" altLang="en-US" dirty="0" smtClean="0"/>
              <a:t>贵州茅台的盈利能力</a:t>
            </a:r>
            <a:endParaRPr lang="zh-CN" altLang="en-US" dirty="0"/>
          </a:p>
        </p:txBody>
      </p:sp>
      <p:graphicFrame>
        <p:nvGraphicFramePr>
          <p:cNvPr id="4" name="表格 3"/>
          <p:cNvGraphicFramePr>
            <a:graphicFrameLocks noGrp="1"/>
          </p:cNvGraphicFramePr>
          <p:nvPr>
            <p:extLst/>
          </p:nvPr>
        </p:nvGraphicFramePr>
        <p:xfrm>
          <a:off x="1376413" y="1771042"/>
          <a:ext cx="9721515" cy="4803012"/>
        </p:xfrm>
        <a:graphic>
          <a:graphicData uri="http://schemas.openxmlformats.org/drawingml/2006/table">
            <a:tbl>
              <a:tblPr>
                <a:tableStyleId>{5C22544A-7EE6-4342-B048-85BDC9FD1C3A}</a:tableStyleId>
              </a:tblPr>
              <a:tblGrid>
                <a:gridCol w="1270278"/>
                <a:gridCol w="2955340"/>
                <a:gridCol w="2903492"/>
                <a:gridCol w="2592405"/>
              </a:tblGrid>
              <a:tr h="400251">
                <a:tc>
                  <a:txBody>
                    <a:bodyPr/>
                    <a:lstStyle/>
                    <a:p>
                      <a:pPr algn="r" fontAlgn="ctr"/>
                      <a:r>
                        <a:rPr lang="zh-CN" altLang="en-US" sz="2000" u="none" strike="noStrike" dirty="0">
                          <a:effectLst/>
                        </a:rPr>
                        <a:t>年度</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2000" u="none" strike="noStrike">
                          <a:effectLst/>
                        </a:rPr>
                        <a:t>净资产收益率</a:t>
                      </a:r>
                      <a:r>
                        <a:rPr lang="en-US" altLang="zh-CN" sz="2000" u="none" strike="noStrike">
                          <a:effectLst/>
                        </a:rPr>
                        <a:t>(%)</a:t>
                      </a:r>
                      <a:endParaRPr lang="en-US" altLang="zh-CN" sz="2000" b="0" i="0" u="none" strike="noStrike">
                        <a:effectLst/>
                        <a:latin typeface="Calibri" panose="020F0502020204030204" pitchFamily="34" charset="0"/>
                      </a:endParaRPr>
                    </a:p>
                  </a:txBody>
                  <a:tcPr marL="6350" marR="6350" marT="6350" marB="0" anchor="ctr"/>
                </a:tc>
                <a:tc>
                  <a:txBody>
                    <a:bodyPr/>
                    <a:lstStyle/>
                    <a:p>
                      <a:pPr algn="r" fontAlgn="ctr"/>
                      <a:r>
                        <a:rPr lang="zh-CN" altLang="en-US" sz="2000" u="none" strike="noStrike">
                          <a:effectLst/>
                        </a:rPr>
                        <a:t>销售净利率</a:t>
                      </a:r>
                      <a:r>
                        <a:rPr lang="en-US" altLang="zh-CN" sz="2000" u="none" strike="noStrike">
                          <a:effectLst/>
                        </a:rPr>
                        <a:t>(%)</a:t>
                      </a:r>
                      <a:endParaRPr lang="en-US" altLang="zh-CN" sz="2000" b="0" i="0" u="none" strike="noStrike">
                        <a:effectLst/>
                        <a:latin typeface="Calibri" panose="020F0502020204030204" pitchFamily="34" charset="0"/>
                      </a:endParaRPr>
                    </a:p>
                  </a:txBody>
                  <a:tcPr marL="6350" marR="6350" marT="6350" marB="0" anchor="ctr"/>
                </a:tc>
                <a:tc>
                  <a:txBody>
                    <a:bodyPr/>
                    <a:lstStyle/>
                    <a:p>
                      <a:pPr algn="r" fontAlgn="ctr"/>
                      <a:r>
                        <a:rPr lang="zh-CN" altLang="en-US" sz="2000" u="none" strike="noStrike">
                          <a:effectLst/>
                        </a:rPr>
                        <a:t>销售毛利率</a:t>
                      </a:r>
                      <a:r>
                        <a:rPr lang="en-US" altLang="zh-CN" sz="2000" u="none" strike="noStrike">
                          <a:effectLst/>
                        </a:rPr>
                        <a:t>(%)</a:t>
                      </a:r>
                      <a:endParaRPr lang="en-US" altLang="zh-CN" sz="2000" b="0" i="0" u="none" strike="noStrike">
                        <a:effectLst/>
                        <a:latin typeface="Calibri" panose="020F0502020204030204" pitchFamily="34" charset="0"/>
                      </a:endParaRPr>
                    </a:p>
                  </a:txBody>
                  <a:tcPr marL="6350" marR="6350" marT="6350" marB="0" anchor="ctr"/>
                </a:tc>
              </a:tr>
              <a:tr h="400251">
                <a:tc>
                  <a:txBody>
                    <a:bodyPr/>
                    <a:lstStyle/>
                    <a:p>
                      <a:pPr algn="r" fontAlgn="b"/>
                      <a:r>
                        <a:rPr lang="en-US" altLang="zh-CN" sz="2000" u="none" strike="noStrike" dirty="0" smtClean="0">
                          <a:effectLst/>
                        </a:rPr>
                        <a:t>2023</a:t>
                      </a:r>
                      <a:endParaRPr lang="en-US" altLang="zh-CN" sz="2000" b="0" i="0" u="none" strike="noStrike" dirty="0">
                        <a:effectLst/>
                        <a:latin typeface="Calibri" panose="020F0502020204030204" pitchFamily="34" charset="0"/>
                      </a:endParaRPr>
                    </a:p>
                  </a:txBody>
                  <a:tcPr marL="6350" marR="6350" marT="6350" marB="0" anchor="b"/>
                </a:tc>
                <a:tc>
                  <a:txBody>
                    <a:bodyPr/>
                    <a:lstStyle/>
                    <a:p>
                      <a:pPr marL="0" algn="r" defTabSz="914400" rtl="0" eaLnBrk="1" fontAlgn="b" latinLnBrk="0" hangingPunct="1"/>
                      <a:r>
                        <a:rPr lang="en-US" altLang="zh-CN" sz="2000" b="0" i="0" u="none" strike="noStrike" kern="1200" dirty="0">
                          <a:solidFill>
                            <a:schemeClr val="dk1"/>
                          </a:solidFill>
                          <a:effectLst/>
                          <a:latin typeface="宋体" panose="02010600030101010101" pitchFamily="2" charset="-122"/>
                          <a:ea typeface="宋体" panose="02010600030101010101" pitchFamily="2" charset="-122"/>
                          <a:cs typeface="+mn-cs"/>
                        </a:rPr>
                        <a:t>34.19</a:t>
                      </a:r>
                    </a:p>
                  </a:txBody>
                  <a:tcPr marL="6350" marR="6350" marT="6350" marB="0" anchor="b"/>
                </a:tc>
                <a:tc>
                  <a:txBody>
                    <a:bodyPr/>
                    <a:lstStyle/>
                    <a:p>
                      <a:pPr marL="0" algn="r" defTabSz="914400" rtl="0" eaLnBrk="1" fontAlgn="b" latinLnBrk="0" hangingPunct="1"/>
                      <a:r>
                        <a:rPr lang="en-US" altLang="zh-CN" sz="2000" b="0" i="0" u="none" strike="noStrike" kern="1200" dirty="0">
                          <a:solidFill>
                            <a:schemeClr val="dk1"/>
                          </a:solidFill>
                          <a:effectLst/>
                          <a:latin typeface="宋体" panose="02010600030101010101" pitchFamily="2" charset="-122"/>
                          <a:ea typeface="宋体" panose="02010600030101010101" pitchFamily="2" charset="-122"/>
                          <a:cs typeface="+mn-cs"/>
                        </a:rPr>
                        <a:t>52.49</a:t>
                      </a:r>
                    </a:p>
                  </a:txBody>
                  <a:tcPr marL="6350" marR="6350" marT="6350" marB="0" anchor="b"/>
                </a:tc>
                <a:tc>
                  <a:txBody>
                    <a:bodyPr/>
                    <a:lstStyle/>
                    <a:p>
                      <a:pPr marL="0" algn="r" defTabSz="914400" rtl="0" eaLnBrk="1" fontAlgn="b" latinLnBrk="0" hangingPunct="1"/>
                      <a:r>
                        <a:rPr lang="en-US" altLang="zh-CN" sz="2000" b="0" i="0" u="none" strike="noStrike" kern="1200">
                          <a:solidFill>
                            <a:schemeClr val="dk1"/>
                          </a:solidFill>
                          <a:effectLst/>
                          <a:latin typeface="宋体" panose="02010600030101010101" pitchFamily="2" charset="-122"/>
                          <a:ea typeface="宋体" panose="02010600030101010101" pitchFamily="2" charset="-122"/>
                          <a:cs typeface="+mn-cs"/>
                        </a:rPr>
                        <a:t>91.96</a:t>
                      </a:r>
                    </a:p>
                  </a:txBody>
                  <a:tcPr marL="6350" marR="6350" marT="6350" marB="0" anchor="b"/>
                </a:tc>
              </a:tr>
              <a:tr h="400251">
                <a:tc>
                  <a:txBody>
                    <a:bodyPr/>
                    <a:lstStyle/>
                    <a:p>
                      <a:pPr algn="r" fontAlgn="b"/>
                      <a:r>
                        <a:rPr lang="en-US" altLang="zh-CN" sz="2000" u="none" strike="noStrike" dirty="0" smtClean="0">
                          <a:effectLst/>
                        </a:rPr>
                        <a:t>2022</a:t>
                      </a:r>
                      <a:endParaRPr lang="en-US" altLang="zh-CN" sz="2000" b="0" i="0" u="none" strike="noStrike" dirty="0">
                        <a:effectLst/>
                        <a:latin typeface="Calibri" panose="020F0502020204030204" pitchFamily="34" charset="0"/>
                      </a:endParaRPr>
                    </a:p>
                  </a:txBody>
                  <a:tcPr marL="6350" marR="6350" marT="6350" marB="0" anchor="b"/>
                </a:tc>
                <a:tc>
                  <a:txBody>
                    <a:bodyPr/>
                    <a:lstStyle/>
                    <a:p>
                      <a:pPr marL="0" algn="r" defTabSz="914400" rtl="0" eaLnBrk="1" fontAlgn="b" latinLnBrk="0" hangingPunct="1"/>
                      <a:r>
                        <a:rPr lang="en-US" altLang="zh-CN" sz="2000" b="0" i="0" u="none" strike="noStrike" kern="1200">
                          <a:solidFill>
                            <a:schemeClr val="dk1"/>
                          </a:solidFill>
                          <a:effectLst/>
                          <a:latin typeface="宋体" panose="02010600030101010101" pitchFamily="2" charset="-122"/>
                          <a:ea typeface="宋体" panose="02010600030101010101" pitchFamily="2" charset="-122"/>
                          <a:cs typeface="+mn-cs"/>
                        </a:rPr>
                        <a:t>30.26</a:t>
                      </a:r>
                    </a:p>
                  </a:txBody>
                  <a:tcPr marL="6350" marR="6350" marT="6350" marB="0" anchor="b"/>
                </a:tc>
                <a:tc>
                  <a:txBody>
                    <a:bodyPr/>
                    <a:lstStyle/>
                    <a:p>
                      <a:pPr marL="0" algn="r" defTabSz="914400" rtl="0" eaLnBrk="1" fontAlgn="b" latinLnBrk="0" hangingPunct="1"/>
                      <a:r>
                        <a:rPr lang="en-US" altLang="zh-CN" sz="2000" b="0" i="0" u="none" strike="noStrike" kern="1200" dirty="0">
                          <a:solidFill>
                            <a:schemeClr val="dk1"/>
                          </a:solidFill>
                          <a:effectLst/>
                          <a:latin typeface="宋体" panose="02010600030101010101" pitchFamily="2" charset="-122"/>
                          <a:ea typeface="宋体" panose="02010600030101010101" pitchFamily="2" charset="-122"/>
                          <a:cs typeface="+mn-cs"/>
                        </a:rPr>
                        <a:t>52.68</a:t>
                      </a:r>
                    </a:p>
                  </a:txBody>
                  <a:tcPr marL="6350" marR="6350" marT="6350" marB="0" anchor="b"/>
                </a:tc>
                <a:tc>
                  <a:txBody>
                    <a:bodyPr/>
                    <a:lstStyle/>
                    <a:p>
                      <a:pPr marL="0" algn="r" defTabSz="914400" rtl="0" eaLnBrk="1" fontAlgn="b" latinLnBrk="0" hangingPunct="1"/>
                      <a:r>
                        <a:rPr lang="en-US" altLang="zh-CN" sz="2000" b="0" i="0" u="none" strike="noStrike" kern="1200" dirty="0">
                          <a:solidFill>
                            <a:schemeClr val="dk1"/>
                          </a:solidFill>
                          <a:effectLst/>
                          <a:latin typeface="宋体" panose="02010600030101010101" pitchFamily="2" charset="-122"/>
                          <a:ea typeface="宋体" panose="02010600030101010101" pitchFamily="2" charset="-122"/>
                          <a:cs typeface="+mn-cs"/>
                        </a:rPr>
                        <a:t>91.87</a:t>
                      </a:r>
                    </a:p>
                  </a:txBody>
                  <a:tcPr marL="6350" marR="6350" marT="6350" marB="0" anchor="b"/>
                </a:tc>
              </a:tr>
              <a:tr h="400251">
                <a:tc>
                  <a:txBody>
                    <a:bodyPr/>
                    <a:lstStyle/>
                    <a:p>
                      <a:pPr algn="r" fontAlgn="b"/>
                      <a:r>
                        <a:rPr lang="en-US" altLang="zh-CN" sz="2000" u="none" strike="noStrike" dirty="0" smtClean="0">
                          <a:effectLst/>
                        </a:rPr>
                        <a:t>2021</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29.90</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52.47</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91.54</a:t>
                      </a:r>
                    </a:p>
                  </a:txBody>
                  <a:tcPr marL="6350" marR="6350" marT="6350" marB="0" anchor="b"/>
                </a:tc>
              </a:tr>
              <a:tr h="400251">
                <a:tc>
                  <a:txBody>
                    <a:bodyPr/>
                    <a:lstStyle/>
                    <a:p>
                      <a:pPr algn="r" fontAlgn="b"/>
                      <a:r>
                        <a:rPr lang="en-US" altLang="zh-CN" sz="2000" u="none" strike="noStrike" dirty="0">
                          <a:effectLst/>
                        </a:rPr>
                        <a:t>2020</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31.41</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52.18</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91.41</a:t>
                      </a:r>
                    </a:p>
                  </a:txBody>
                  <a:tcPr marL="6350" marR="6350" marT="6350" marB="0" anchor="b"/>
                </a:tc>
              </a:tr>
              <a:tr h="400251">
                <a:tc>
                  <a:txBody>
                    <a:bodyPr/>
                    <a:lstStyle/>
                    <a:p>
                      <a:pPr algn="r" fontAlgn="b"/>
                      <a:r>
                        <a:rPr lang="en-US" altLang="zh-CN" sz="2000" u="none" strike="noStrike" dirty="0">
                          <a:effectLst/>
                        </a:rPr>
                        <a:t>2019</a:t>
                      </a:r>
                      <a:endParaRPr lang="en-US" altLang="zh-CN" sz="2000" b="0" i="0" u="none" strike="noStrike" dirty="0">
                        <a:effectLst/>
                        <a:latin typeface="Calibri" panose="020F0502020204030204" pitchFamily="34" charset="0"/>
                      </a:endParaRP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33.09</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51.47</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91.30</a:t>
                      </a:r>
                    </a:p>
                  </a:txBody>
                  <a:tcPr marL="6350" marR="6350" marT="6350" marB="0" anchor="b"/>
                </a:tc>
              </a:tr>
              <a:tr h="400251">
                <a:tc>
                  <a:txBody>
                    <a:bodyPr/>
                    <a:lstStyle/>
                    <a:p>
                      <a:pPr algn="r" fontAlgn="b"/>
                      <a:r>
                        <a:rPr lang="en-US" altLang="zh-CN" sz="2000" u="none" strike="noStrike">
                          <a:effectLst/>
                        </a:rPr>
                        <a:t>2018</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34.46</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51.37</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91.14</a:t>
                      </a:r>
                    </a:p>
                  </a:txBody>
                  <a:tcPr marL="6350" marR="6350" marT="6350" marB="0" anchor="b"/>
                </a:tc>
              </a:tr>
              <a:tr h="400251">
                <a:tc>
                  <a:txBody>
                    <a:bodyPr/>
                    <a:lstStyle/>
                    <a:p>
                      <a:pPr algn="r" fontAlgn="b"/>
                      <a:r>
                        <a:rPr lang="en-US" altLang="zh-CN" sz="2000" u="none" strike="noStrike">
                          <a:effectLst/>
                        </a:rPr>
                        <a:t>2017</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32.95</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49.82</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89.80</a:t>
                      </a:r>
                    </a:p>
                  </a:txBody>
                  <a:tcPr marL="6350" marR="6350" marT="6350" marB="0" anchor="b"/>
                </a:tc>
              </a:tr>
              <a:tr h="400251">
                <a:tc>
                  <a:txBody>
                    <a:bodyPr/>
                    <a:lstStyle/>
                    <a:p>
                      <a:pPr algn="r" fontAlgn="b"/>
                      <a:r>
                        <a:rPr lang="en-US" altLang="zh-CN" sz="2000" u="none" strike="noStrike">
                          <a:effectLst/>
                        </a:rPr>
                        <a:t>2016</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24.44</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46.14</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91.23</a:t>
                      </a:r>
                    </a:p>
                  </a:txBody>
                  <a:tcPr marL="6350" marR="6350" marT="6350" marB="0" anchor="b"/>
                </a:tc>
              </a:tr>
              <a:tr h="400251">
                <a:tc>
                  <a:txBody>
                    <a:bodyPr/>
                    <a:lstStyle/>
                    <a:p>
                      <a:pPr algn="r" fontAlgn="b"/>
                      <a:r>
                        <a:rPr lang="en-US" altLang="zh-CN" sz="2000" u="none" strike="noStrike">
                          <a:effectLst/>
                        </a:rPr>
                        <a:t>2015</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26.23</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50.38</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92.23</a:t>
                      </a:r>
                    </a:p>
                  </a:txBody>
                  <a:tcPr marL="6350" marR="6350" marT="6350" marB="0" anchor="b"/>
                </a:tc>
              </a:tr>
              <a:tr h="400251">
                <a:tc>
                  <a:txBody>
                    <a:bodyPr/>
                    <a:lstStyle/>
                    <a:p>
                      <a:pPr algn="r" fontAlgn="b"/>
                      <a:r>
                        <a:rPr lang="en-US" altLang="zh-CN" sz="2000" u="none" strike="noStrike">
                          <a:effectLst/>
                        </a:rPr>
                        <a:t>2014</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31.96</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51.53</a:t>
                      </a: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92.59</a:t>
                      </a:r>
                    </a:p>
                  </a:txBody>
                  <a:tcPr marL="6350" marR="6350" marT="6350" marB="0" anchor="b"/>
                </a:tc>
              </a:tr>
              <a:tr h="400251">
                <a:tc>
                  <a:txBody>
                    <a:bodyPr/>
                    <a:lstStyle/>
                    <a:p>
                      <a:pPr algn="r" fontAlgn="b"/>
                      <a:r>
                        <a:rPr lang="en-US" altLang="zh-CN" sz="2000" u="none" strike="noStrike">
                          <a:effectLst/>
                        </a:rPr>
                        <a:t>2013</a:t>
                      </a:r>
                      <a:endParaRPr lang="en-US" altLang="zh-CN" sz="2000" b="0" i="0" u="none" strike="noStrike">
                        <a:effectLst/>
                        <a:latin typeface="Calibri" panose="020F0502020204030204" pitchFamily="34" charset="0"/>
                      </a:endParaRPr>
                    </a:p>
                  </a:txBody>
                  <a:tcPr marL="6350" marR="6350" marT="6350" marB="0" anchor="b"/>
                </a:tc>
                <a:tc>
                  <a:txBody>
                    <a:bodyPr/>
                    <a:lstStyle/>
                    <a:p>
                      <a:pPr algn="r" fontAlgn="b"/>
                      <a:r>
                        <a:rPr lang="en-US" altLang="zh-CN" sz="2000" b="0" i="0" u="none" strike="noStrike">
                          <a:effectLst/>
                          <a:latin typeface="宋体" panose="02010600030101010101" pitchFamily="2" charset="-122"/>
                          <a:ea typeface="宋体" panose="02010600030101010101" pitchFamily="2" charset="-122"/>
                        </a:rPr>
                        <a:t>39.43</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51.63</a:t>
                      </a:r>
                    </a:p>
                  </a:txBody>
                  <a:tcPr marL="6350" marR="6350" marT="6350" marB="0" anchor="b"/>
                </a:tc>
                <a:tc>
                  <a:txBody>
                    <a:bodyPr/>
                    <a:lstStyle/>
                    <a:p>
                      <a:pPr algn="r" fontAlgn="b"/>
                      <a:r>
                        <a:rPr lang="en-US" altLang="zh-CN" sz="2000" b="0" i="0" u="none" strike="noStrike" dirty="0">
                          <a:effectLst/>
                          <a:latin typeface="宋体" panose="02010600030101010101" pitchFamily="2" charset="-122"/>
                          <a:ea typeface="宋体" panose="02010600030101010101" pitchFamily="2" charset="-122"/>
                        </a:rPr>
                        <a:t>92.90</a:t>
                      </a:r>
                    </a:p>
                  </a:txBody>
                  <a:tcPr marL="6350" marR="6350" marT="6350" marB="0" anchor="b"/>
                </a:tc>
              </a:tr>
            </a:tbl>
          </a:graphicData>
        </a:graphic>
      </p:graphicFrame>
    </p:spTree>
    <p:extLst>
      <p:ext uri="{BB962C8B-B14F-4D97-AF65-F5344CB8AC3E}">
        <p14:creationId xmlns:p14="http://schemas.microsoft.com/office/powerpoint/2010/main" val="34128527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8574" y="143744"/>
            <a:ext cx="10515600" cy="915035"/>
          </a:xfrm>
        </p:spPr>
        <p:txBody>
          <a:bodyPr>
            <a:normAutofit/>
          </a:bodyPr>
          <a:lstStyle/>
          <a:p>
            <a:pPr algn="ctr"/>
            <a:r>
              <a:rPr lang="zh-CN" altLang="en-US" sz="3000" dirty="0" smtClean="0"/>
              <a:t>贵州茅台、片仔癀、长江电力、中国石油</a:t>
            </a:r>
            <a:r>
              <a:rPr lang="en-US" altLang="zh-CN" sz="3000" dirty="0" smtClean="0"/>
              <a:t>ROE</a:t>
            </a:r>
            <a:r>
              <a:rPr lang="zh-CN" altLang="en-US" sz="3000" dirty="0" smtClean="0"/>
              <a:t>比较（</a:t>
            </a:r>
            <a:r>
              <a:rPr lang="en-US" altLang="zh-CN" sz="3000" dirty="0" smtClean="0"/>
              <a:t>%</a:t>
            </a:r>
            <a:r>
              <a:rPr lang="zh-CN" altLang="en-US" sz="3000" dirty="0" smtClean="0"/>
              <a:t>）</a:t>
            </a:r>
            <a:r>
              <a:rPr lang="en-US" altLang="zh-CN" sz="3000" dirty="0" smtClean="0"/>
              <a:t/>
            </a:r>
            <a:br>
              <a:rPr lang="en-US" altLang="zh-CN" sz="3000" dirty="0" smtClean="0"/>
            </a:br>
            <a:r>
              <a:rPr lang="en-US" altLang="zh-CN" sz="3000" dirty="0" smtClean="0"/>
              <a:t>ROE=</a:t>
            </a:r>
            <a:r>
              <a:rPr lang="zh-CN" altLang="en-US" sz="3000" dirty="0" smtClean="0"/>
              <a:t>扣除非经常损益的净利润</a:t>
            </a:r>
            <a:r>
              <a:rPr lang="en-US" altLang="zh-CN" sz="3000" dirty="0" smtClean="0"/>
              <a:t>/</a:t>
            </a:r>
            <a:r>
              <a:rPr lang="zh-CN" altLang="en-US" sz="3000" dirty="0" smtClean="0"/>
              <a:t>期初期末平均净资产</a:t>
            </a:r>
            <a:endParaRPr lang="zh-CN" altLang="en-US" sz="3000" dirty="0"/>
          </a:p>
        </p:txBody>
      </p:sp>
      <p:graphicFrame>
        <p:nvGraphicFramePr>
          <p:cNvPr id="3" name="表格 2"/>
          <p:cNvGraphicFramePr>
            <a:graphicFrameLocks noGrp="1"/>
          </p:cNvGraphicFramePr>
          <p:nvPr>
            <p:extLst>
              <p:ext uri="{D42A27DB-BD31-4B8C-83A1-F6EECF244321}">
                <p14:modId xmlns:p14="http://schemas.microsoft.com/office/powerpoint/2010/main" val="228532954"/>
              </p:ext>
            </p:extLst>
          </p:nvPr>
        </p:nvGraphicFramePr>
        <p:xfrm>
          <a:off x="2352676" y="1200154"/>
          <a:ext cx="7191373" cy="5372095"/>
        </p:xfrm>
        <a:graphic>
          <a:graphicData uri="http://schemas.openxmlformats.org/drawingml/2006/table">
            <a:tbl>
              <a:tblPr>
                <a:tableStyleId>{5C22544A-7EE6-4342-B048-85BDC9FD1C3A}</a:tableStyleId>
              </a:tblPr>
              <a:tblGrid>
                <a:gridCol w="1438275"/>
                <a:gridCol w="1521252"/>
                <a:gridCol w="1189342"/>
                <a:gridCol w="1521252"/>
                <a:gridCol w="1521252"/>
              </a:tblGrid>
              <a:tr h="368440">
                <a:tc>
                  <a:txBody>
                    <a:bodyPr/>
                    <a:lstStyle/>
                    <a:p>
                      <a:pPr algn="ctr" fontAlgn="b"/>
                      <a:r>
                        <a:rPr lang="zh-CN" altLang="en-US" sz="2000" u="none" strike="noStrike" dirty="0">
                          <a:effectLst/>
                        </a:rPr>
                        <a:t>年度</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zh-CN" altLang="en-US" sz="2000" u="none" strike="noStrike" dirty="0">
                          <a:effectLst/>
                        </a:rPr>
                        <a:t>贵州茅台</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zh-CN" altLang="en-US" sz="2000" u="none" strike="noStrike">
                          <a:effectLst/>
                        </a:rPr>
                        <a:t>片仔癀</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zh-CN" altLang="en-US" sz="2000" u="none" strike="noStrike">
                          <a:effectLst/>
                        </a:rPr>
                        <a:t>长江电力</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zh-CN" altLang="en-US" sz="2000" u="none" strike="noStrike">
                          <a:effectLst/>
                        </a:rPr>
                        <a:t>中国石油</a:t>
                      </a:r>
                      <a:endParaRPr lang="zh-CN" altLang="en-US"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2023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23</a:t>
                      </a:r>
                      <a:r>
                        <a:rPr lang="zh-CN" altLang="en-US" sz="2000" u="none" strike="noStrike" dirty="0">
                          <a:effectLst/>
                        </a:rPr>
                        <a:t>　</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14</a:t>
                      </a:r>
                      <a:r>
                        <a:rPr lang="zh-CN" altLang="en-US" sz="2000" u="none" strike="noStrike" dirty="0">
                          <a:effectLst/>
                        </a:rPr>
                        <a:t>　</a:t>
                      </a:r>
                      <a:endParaRPr lang="zh-CN" altLang="en-US"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11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2022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30</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24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smtClean="0">
                          <a:effectLst/>
                        </a:rPr>
                        <a:t>11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2021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27</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14</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8</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17</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-1</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2019</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4</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2018</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16</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5</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2017</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17</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2</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2016</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16</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18</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0</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26</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b="1" u="none" strike="noStrike" dirty="0">
                          <a:solidFill>
                            <a:srgbClr val="FF0000"/>
                          </a:solidFill>
                          <a:effectLst/>
                        </a:rPr>
                        <a:t>2</a:t>
                      </a:r>
                      <a:endParaRPr lang="en-US" altLang="zh-CN"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2014</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14</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10</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40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11</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2012</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45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25</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14</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12</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56555">
                <a:tc>
                  <a:txBody>
                    <a:bodyPr/>
                    <a:lstStyle/>
                    <a:p>
                      <a:pPr algn="ctr" fontAlgn="b"/>
                      <a:r>
                        <a:rPr lang="en-US" altLang="zh-CN" sz="2000" u="none" strike="noStrike">
                          <a:effectLst/>
                        </a:rPr>
                        <a:t>2011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40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23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14</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r h="368440">
                <a:tc>
                  <a:txBody>
                    <a:bodyPr/>
                    <a:lstStyle/>
                    <a:p>
                      <a:pPr algn="ctr" fontAlgn="b"/>
                      <a:r>
                        <a:rPr lang="en-US" altLang="zh-CN" sz="2000" u="none" strike="noStrike">
                          <a:effectLst/>
                        </a:rPr>
                        <a:t>2010</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31</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19</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a:effectLst/>
                        </a:rPr>
                        <a:t>13</a:t>
                      </a:r>
                      <a:endParaRPr lang="en-US" altLang="zh-CN" sz="20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b"/>
                </a:tc>
                <a:tc>
                  <a:txBody>
                    <a:bodyPr/>
                    <a:lstStyle/>
                    <a:p>
                      <a:pPr algn="ctr" fontAlgn="b"/>
                      <a:r>
                        <a:rPr lang="en-US" altLang="zh-CN" sz="2000" u="none" strike="noStrike" dirty="0">
                          <a:effectLst/>
                        </a:rPr>
                        <a:t>16</a:t>
                      </a:r>
                      <a:endParaRPr lang="en-US" altLang="zh-CN" sz="2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tc>
              </a:tr>
            </a:tbl>
          </a:graphicData>
        </a:graphic>
      </p:graphicFrame>
    </p:spTree>
    <p:extLst>
      <p:ext uri="{BB962C8B-B14F-4D97-AF65-F5344CB8AC3E}">
        <p14:creationId xmlns:p14="http://schemas.microsoft.com/office/powerpoint/2010/main" val="180378250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7826" y="105242"/>
            <a:ext cx="10515600" cy="780281"/>
          </a:xfrm>
        </p:spPr>
        <p:txBody>
          <a:bodyPr>
            <a:normAutofit/>
          </a:bodyPr>
          <a:lstStyle/>
          <a:p>
            <a:pPr algn="ctr"/>
            <a:r>
              <a:rPr lang="zh-CN" altLang="en-US" sz="3000" dirty="0" smtClean="0"/>
              <a:t>扣非归属母公司股东净利润及其年增速</a:t>
            </a:r>
            <a:endParaRPr lang="zh-CN" altLang="en-US" sz="3000" dirty="0"/>
          </a:p>
        </p:txBody>
      </p:sp>
      <p:graphicFrame>
        <p:nvGraphicFramePr>
          <p:cNvPr id="4" name="表格 3"/>
          <p:cNvGraphicFramePr>
            <a:graphicFrameLocks noGrp="1"/>
          </p:cNvGraphicFramePr>
          <p:nvPr>
            <p:extLst/>
          </p:nvPr>
        </p:nvGraphicFramePr>
        <p:xfrm>
          <a:off x="327258" y="848886"/>
          <a:ext cx="11357810" cy="5485239"/>
        </p:xfrm>
        <a:graphic>
          <a:graphicData uri="http://schemas.openxmlformats.org/drawingml/2006/table">
            <a:tbl>
              <a:tblPr>
                <a:tableStyleId>{5C22544A-7EE6-4342-B048-85BDC9FD1C3A}</a:tableStyleId>
              </a:tblPr>
              <a:tblGrid>
                <a:gridCol w="1434165"/>
                <a:gridCol w="1857954"/>
                <a:gridCol w="1316847"/>
                <a:gridCol w="1954696"/>
                <a:gridCol w="1316847"/>
                <a:gridCol w="2160454"/>
                <a:gridCol w="1316847"/>
              </a:tblGrid>
              <a:tr h="348798">
                <a:tc rowSpan="2">
                  <a:txBody>
                    <a:bodyPr/>
                    <a:lstStyle/>
                    <a:p>
                      <a:pPr algn="ctr" fontAlgn="ctr"/>
                      <a:r>
                        <a:rPr lang="zh-CN" altLang="en-US" sz="1800" u="none" strike="noStrike" dirty="0">
                          <a:effectLst/>
                        </a:rPr>
                        <a:t>年度</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gridSpan="2">
                  <a:txBody>
                    <a:bodyPr/>
                    <a:lstStyle/>
                    <a:p>
                      <a:pPr algn="ctr" fontAlgn="ctr"/>
                      <a:r>
                        <a:rPr lang="zh-CN" altLang="en-US" sz="1800" u="none" strike="noStrike" dirty="0">
                          <a:effectLst/>
                        </a:rPr>
                        <a:t>贵州茅台</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hMerge="1">
                  <a:txBody>
                    <a:bodyPr/>
                    <a:lstStyle/>
                    <a:p>
                      <a:endParaRPr lang="zh-CN" altLang="en-US"/>
                    </a:p>
                  </a:txBody>
                  <a:tcPr/>
                </a:tc>
                <a:tc gridSpan="2">
                  <a:txBody>
                    <a:bodyPr/>
                    <a:lstStyle/>
                    <a:p>
                      <a:pPr algn="ctr" fontAlgn="ctr"/>
                      <a:r>
                        <a:rPr lang="zh-CN" altLang="en-US" sz="1800" b="0" i="0" u="none" strike="noStrike" dirty="0" smtClean="0">
                          <a:solidFill>
                            <a:schemeClr val="dk1"/>
                          </a:solidFill>
                          <a:effectLst/>
                          <a:latin typeface="+mn-lt"/>
                          <a:ea typeface="+mn-ea"/>
                        </a:rPr>
                        <a:t>长江电力</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hMerge="1">
                  <a:txBody>
                    <a:bodyPr/>
                    <a:lstStyle/>
                    <a:p>
                      <a:endParaRPr lang="zh-CN" altLang="en-US"/>
                    </a:p>
                  </a:txBody>
                  <a:tcPr/>
                </a:tc>
                <a:tc gridSpan="2">
                  <a:txBody>
                    <a:bodyPr/>
                    <a:lstStyle/>
                    <a:p>
                      <a:pPr algn="ctr" fontAlgn="ctr"/>
                      <a:r>
                        <a:rPr lang="zh-CN" altLang="en-US" sz="1800" u="none" strike="noStrike" dirty="0">
                          <a:effectLst/>
                        </a:rPr>
                        <a:t>中国石油</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hMerge="1">
                  <a:txBody>
                    <a:bodyPr/>
                    <a:lstStyle/>
                    <a:p>
                      <a:endParaRPr lang="zh-CN" altLang="en-US"/>
                    </a:p>
                  </a:txBody>
                  <a:tcPr/>
                </a:tc>
              </a:tr>
              <a:tr h="670195">
                <a:tc vMerge="1">
                  <a:txBody>
                    <a:bodyPr/>
                    <a:lstStyle/>
                    <a:p>
                      <a:endParaRPr lang="zh-CN" altLang="en-US"/>
                    </a:p>
                  </a:txBody>
                  <a:tcPr/>
                </a:tc>
                <a:tc>
                  <a:txBody>
                    <a:bodyPr/>
                    <a:lstStyle/>
                    <a:p>
                      <a:pPr algn="r" fontAlgn="ctr"/>
                      <a:r>
                        <a:rPr lang="zh-CN" altLang="en-US" sz="1800" u="none" strike="noStrike" dirty="0">
                          <a:effectLst/>
                        </a:rPr>
                        <a:t>净利润（亿）</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1800" u="none" strike="noStrike" dirty="0">
                          <a:effectLst/>
                        </a:rPr>
                        <a:t>增速</a:t>
                      </a:r>
                      <a:r>
                        <a:rPr lang="en-US" altLang="zh-CN" sz="1800" u="none" strike="noStrike" dirty="0">
                          <a:effectLst/>
                        </a:rPr>
                        <a:t>(%)</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1800" u="none" strike="noStrike" dirty="0">
                          <a:effectLst/>
                        </a:rPr>
                        <a:t>净利润（亿）</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1800" u="none" strike="noStrike" dirty="0">
                          <a:effectLst/>
                        </a:rPr>
                        <a:t>增速</a:t>
                      </a:r>
                      <a:r>
                        <a:rPr lang="en-US" altLang="zh-CN" sz="1800" u="none" strike="noStrike" dirty="0">
                          <a:effectLst/>
                        </a:rPr>
                        <a:t>(%)</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1800" u="none" strike="noStrike" dirty="0">
                          <a:effectLst/>
                        </a:rPr>
                        <a:t>净利润（亿）</a:t>
                      </a:r>
                      <a:endParaRPr lang="zh-CN" altLang="en-US"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ctr"/>
                      <a:r>
                        <a:rPr lang="zh-CN" altLang="en-US" sz="1800" u="none" strike="noStrike" dirty="0">
                          <a:effectLst/>
                        </a:rPr>
                        <a:t>增速</a:t>
                      </a:r>
                      <a:r>
                        <a:rPr lang="en-US" altLang="zh-CN" sz="1800" u="none" strike="noStrike" dirty="0">
                          <a:effectLst/>
                        </a:rPr>
                        <a:t>(%)</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r>
              <a:tr h="348798">
                <a:tc>
                  <a:txBody>
                    <a:bodyPr/>
                    <a:lstStyle/>
                    <a:p>
                      <a:pPr algn="ctr" fontAlgn="ctr"/>
                      <a:r>
                        <a:rPr lang="en-US" altLang="zh-CN" sz="1800" u="none" strike="noStrike" dirty="0" smtClean="0">
                          <a:effectLst/>
                        </a:rPr>
                        <a:t>2023</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800" u="none" strike="noStrike" kern="1200" dirty="0">
                          <a:solidFill>
                            <a:schemeClr val="dk1"/>
                          </a:solidFill>
                          <a:effectLst/>
                          <a:latin typeface="+mn-lt"/>
                          <a:ea typeface="+mn-ea"/>
                          <a:cs typeface="+mn-cs"/>
                        </a:rPr>
                        <a:t>748 </a:t>
                      </a:r>
                    </a:p>
                  </a:txBody>
                  <a:tcPr marL="6350" marR="6350" marT="6350" marB="0" anchor="b"/>
                </a:tc>
                <a:tc>
                  <a:txBody>
                    <a:bodyPr/>
                    <a:lstStyle/>
                    <a:p>
                      <a:pPr algn="r" fontAlgn="b"/>
                      <a:r>
                        <a:rPr lang="en-US" altLang="zh-CN" sz="1800" u="none" strike="noStrike" kern="1200" dirty="0">
                          <a:solidFill>
                            <a:schemeClr val="dk1"/>
                          </a:solidFill>
                          <a:effectLst/>
                          <a:latin typeface="+mn-lt"/>
                          <a:ea typeface="+mn-ea"/>
                          <a:cs typeface="+mn-cs"/>
                        </a:rPr>
                        <a:t>19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276 </a:t>
                      </a:r>
                    </a:p>
                  </a:txBody>
                  <a:tcPr marL="6350" marR="6350" marT="6350" marB="0" anchor="b"/>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29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1,871 </a:t>
                      </a:r>
                    </a:p>
                  </a:txBody>
                  <a:tcPr marL="6350" marR="6350" marT="6350" marB="0" anchor="b"/>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10 </a:t>
                      </a:r>
                    </a:p>
                  </a:txBody>
                  <a:tcPr marL="6350" marR="6350" marT="6350" marB="0" anchor="b"/>
                </a:tc>
              </a:tr>
              <a:tr h="348798">
                <a:tc>
                  <a:txBody>
                    <a:bodyPr/>
                    <a:lstStyle/>
                    <a:p>
                      <a:pPr algn="ctr" fontAlgn="ctr"/>
                      <a:r>
                        <a:rPr lang="en-US" altLang="zh-CN" sz="1800" u="none" strike="noStrike" dirty="0" smtClean="0">
                          <a:effectLst/>
                        </a:rPr>
                        <a:t>2022</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800" u="none" strike="noStrike" kern="1200">
                          <a:solidFill>
                            <a:schemeClr val="dk1"/>
                          </a:solidFill>
                          <a:effectLst/>
                          <a:latin typeface="+mn-lt"/>
                          <a:ea typeface="+mn-ea"/>
                          <a:cs typeface="+mn-cs"/>
                        </a:rPr>
                        <a:t>628 </a:t>
                      </a:r>
                    </a:p>
                  </a:txBody>
                  <a:tcPr marL="6350" marR="6350" marT="6350" marB="0" anchor="b"/>
                </a:tc>
                <a:tc>
                  <a:txBody>
                    <a:bodyPr/>
                    <a:lstStyle/>
                    <a:p>
                      <a:pPr algn="r" fontAlgn="b"/>
                      <a:r>
                        <a:rPr lang="en-US" altLang="zh-CN" sz="1800" u="none" strike="noStrike" kern="1200" dirty="0">
                          <a:solidFill>
                            <a:schemeClr val="dk1"/>
                          </a:solidFill>
                          <a:effectLst/>
                          <a:latin typeface="+mn-lt"/>
                          <a:ea typeface="+mn-ea"/>
                          <a:cs typeface="+mn-cs"/>
                        </a:rPr>
                        <a:t>19 </a:t>
                      </a:r>
                    </a:p>
                  </a:txBody>
                  <a:tcPr marL="6350" marR="6350" marT="6350" marB="0" anchor="b"/>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214 </a:t>
                      </a:r>
                    </a:p>
                  </a:txBody>
                  <a:tcPr marL="6350" marR="6350" marT="6350" marB="0" anchor="b"/>
                </a:tc>
                <a:tc>
                  <a:txBody>
                    <a:bodyPr/>
                    <a:lstStyle/>
                    <a:p>
                      <a:pPr marL="0" algn="r" defTabSz="914400" rtl="0" eaLnBrk="1" fontAlgn="t" latinLnBrk="0" hangingPunct="1"/>
                      <a:r>
                        <a:rPr lang="en-US" altLang="zh-CN" sz="1800" b="1" u="none" strike="noStrike" kern="1200" dirty="0">
                          <a:solidFill>
                            <a:srgbClr val="FF0000"/>
                          </a:solidFill>
                          <a:effectLst/>
                          <a:latin typeface="+mn-lt"/>
                          <a:ea typeface="+mn-ea"/>
                          <a:cs typeface="+mn-cs"/>
                        </a:rPr>
                        <a:t>-11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1,709 </a:t>
                      </a:r>
                    </a:p>
                  </a:txBody>
                  <a:tcPr marL="6350" marR="6350" marT="6350" marB="0" anchor="b"/>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72 </a:t>
                      </a:r>
                    </a:p>
                  </a:txBody>
                  <a:tcPr marL="6350" marR="6350" marT="6350" marB="0" anchor="b"/>
                </a:tc>
              </a:tr>
              <a:tr h="348798">
                <a:tc>
                  <a:txBody>
                    <a:bodyPr/>
                    <a:lstStyle/>
                    <a:p>
                      <a:pPr algn="ctr" fontAlgn="ctr"/>
                      <a:r>
                        <a:rPr lang="en-US" altLang="zh-CN" sz="1800" u="none" strike="noStrike" dirty="0" smtClean="0">
                          <a:effectLst/>
                        </a:rPr>
                        <a:t>2021</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dirty="0" smtClean="0">
                          <a:effectLst/>
                        </a:rPr>
                        <a:t>526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smtClean="0">
                          <a:effectLst/>
                        </a:rPr>
                        <a:t>12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241 </a:t>
                      </a:r>
                    </a:p>
                  </a:txBody>
                  <a:tcPr marL="6350" marR="6350" marT="6350" marB="0" anchor="b"/>
                </a:tc>
                <a:tc>
                  <a:txBody>
                    <a:bodyPr/>
                    <a:lstStyle/>
                    <a:p>
                      <a:pPr marL="0" algn="r" defTabSz="914400" rtl="0" eaLnBrk="1" fontAlgn="t" latinLnBrk="0" hangingPunct="1"/>
                      <a:r>
                        <a:rPr lang="en-US" altLang="zh-CN" sz="1800" b="1" u="none" strike="noStrike" kern="1200" dirty="0">
                          <a:solidFill>
                            <a:srgbClr val="FF0000"/>
                          </a:solidFill>
                          <a:effectLst/>
                          <a:latin typeface="+mn-lt"/>
                          <a:ea typeface="+mn-ea"/>
                          <a:cs typeface="+mn-cs"/>
                        </a:rPr>
                        <a:t>-8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995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111,522 </a:t>
                      </a:r>
                    </a:p>
                  </a:txBody>
                  <a:tcPr marL="6350" marR="6350" marT="6350" marB="0" anchor="b"/>
                </a:tc>
              </a:tr>
              <a:tr h="348798">
                <a:tc>
                  <a:txBody>
                    <a:bodyPr/>
                    <a:lstStyle/>
                    <a:p>
                      <a:pPr algn="ctr" fontAlgn="ctr"/>
                      <a:r>
                        <a:rPr lang="en-US" altLang="zh-CN" sz="1800" u="none" strike="noStrike" dirty="0">
                          <a:effectLst/>
                        </a:rPr>
                        <a:t>2020</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a:effectLst/>
                        </a:rPr>
                        <a:t>470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14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262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24 </a:t>
                      </a:r>
                    </a:p>
                  </a:txBody>
                  <a:tcPr marL="6350" marR="6350" marT="6350" marB="0" anchor="b"/>
                </a:tc>
                <a:tc>
                  <a:txBody>
                    <a:bodyPr/>
                    <a:lstStyle/>
                    <a:p>
                      <a:pPr algn="r" fontAlgn="t"/>
                      <a:r>
                        <a:rPr lang="en-US" altLang="zh-CN" sz="1800" b="1" u="none" strike="noStrike" dirty="0">
                          <a:solidFill>
                            <a:srgbClr val="FF0000"/>
                          </a:solidFill>
                          <a:effectLst/>
                        </a:rPr>
                        <a:t>-120 </a:t>
                      </a:r>
                      <a:endParaRPr lang="en-US" altLang="zh-CN" sz="18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-122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dirty="0">
                          <a:effectLst/>
                        </a:rPr>
                        <a:t>2019</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dirty="0">
                          <a:effectLst/>
                        </a:rPr>
                        <a:t>414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a:effectLst/>
                        </a:rPr>
                        <a:t>16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211 </a:t>
                      </a:r>
                    </a:p>
                  </a:txBody>
                  <a:tcPr marL="6350" marR="6350" marT="6350" marB="0" anchor="b"/>
                </a:tc>
                <a:tc>
                  <a:txBody>
                    <a:bodyPr/>
                    <a:lstStyle/>
                    <a:p>
                      <a:pPr marL="0" algn="r" defTabSz="914400" rtl="0" eaLnBrk="1" fontAlgn="t" latinLnBrk="0" hangingPunct="1"/>
                      <a:r>
                        <a:rPr lang="en-US" altLang="zh-CN" sz="1800" b="1" u="none" strike="noStrike" kern="1200" dirty="0">
                          <a:solidFill>
                            <a:srgbClr val="FF0000"/>
                          </a:solidFill>
                          <a:effectLst/>
                          <a:latin typeface="+mn-lt"/>
                          <a:ea typeface="+mn-ea"/>
                          <a:cs typeface="+mn-cs"/>
                        </a:rPr>
                        <a:t>-4 </a:t>
                      </a:r>
                    </a:p>
                  </a:txBody>
                  <a:tcPr marL="6350" marR="6350" marT="6350" marB="0" anchor="b"/>
                </a:tc>
                <a:tc>
                  <a:txBody>
                    <a:bodyPr/>
                    <a:lstStyle/>
                    <a:p>
                      <a:pPr algn="r" fontAlgn="t"/>
                      <a:r>
                        <a:rPr lang="en-US" altLang="zh-CN" sz="1800" u="none" strike="noStrike" dirty="0">
                          <a:effectLst/>
                        </a:rPr>
                        <a:t>535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-20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dirty="0">
                          <a:effectLst/>
                        </a:rPr>
                        <a:t>2018</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dirty="0">
                          <a:effectLst/>
                        </a:rPr>
                        <a:t>356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31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221 </a:t>
                      </a:r>
                    </a:p>
                  </a:txBody>
                  <a:tcPr marL="6350" marR="6350" marT="6350" marB="0" anchor="b"/>
                </a:tc>
                <a:tc>
                  <a:txBody>
                    <a:bodyPr/>
                    <a:lstStyle/>
                    <a:p>
                      <a:pPr marL="0" algn="r" defTabSz="914400" rtl="0" eaLnBrk="1" fontAlgn="t" latinLnBrk="0" hangingPunct="1"/>
                      <a:r>
                        <a:rPr lang="en-US" altLang="zh-CN" sz="1800" b="1" u="none" strike="noStrike" kern="1200" dirty="0">
                          <a:solidFill>
                            <a:srgbClr val="FF0000"/>
                          </a:solidFill>
                          <a:effectLst/>
                          <a:latin typeface="+mn-lt"/>
                          <a:ea typeface="+mn-ea"/>
                          <a:cs typeface="+mn-cs"/>
                        </a:rPr>
                        <a:t>-1 </a:t>
                      </a:r>
                    </a:p>
                  </a:txBody>
                  <a:tcPr marL="6350" marR="6350" marT="6350" marB="0" anchor="b"/>
                </a:tc>
                <a:tc>
                  <a:txBody>
                    <a:bodyPr/>
                    <a:lstStyle/>
                    <a:p>
                      <a:pPr algn="r" fontAlgn="t"/>
                      <a:r>
                        <a:rPr lang="en-US" altLang="zh-CN" sz="1800" u="none" strike="noStrike" dirty="0">
                          <a:effectLst/>
                        </a:rPr>
                        <a:t>662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147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a:effectLst/>
                        </a:rPr>
                        <a:t>2017</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a:effectLst/>
                        </a:rPr>
                        <a:t>272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61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222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8 </a:t>
                      </a:r>
                    </a:p>
                  </a:txBody>
                  <a:tcPr marL="6350" marR="6350" marT="6350" marB="0" anchor="b"/>
                </a:tc>
                <a:tc>
                  <a:txBody>
                    <a:bodyPr/>
                    <a:lstStyle/>
                    <a:p>
                      <a:pPr algn="r" fontAlgn="t"/>
                      <a:r>
                        <a:rPr lang="en-US" altLang="zh-CN" sz="1800" u="none" strike="noStrike" dirty="0">
                          <a:effectLst/>
                        </a:rPr>
                        <a:t>268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917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dirty="0">
                          <a:effectLst/>
                        </a:rPr>
                        <a:t>2016</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a:effectLst/>
                        </a:rPr>
                        <a:t>170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9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205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89 </a:t>
                      </a:r>
                    </a:p>
                  </a:txBody>
                  <a:tcPr marL="6350" marR="6350" marT="6350" marB="0" anchor="b"/>
                </a:tc>
                <a:tc>
                  <a:txBody>
                    <a:bodyPr/>
                    <a:lstStyle/>
                    <a:p>
                      <a:pPr algn="r" fontAlgn="t"/>
                      <a:r>
                        <a:rPr lang="en-US" altLang="zh-CN" sz="1800" u="none" strike="noStrike" dirty="0">
                          <a:effectLst/>
                        </a:rPr>
                        <a:t>26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-86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a:effectLst/>
                        </a:rPr>
                        <a:t>2015</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zh-CN" altLang="en-US" sz="1800" u="none" strike="noStrike" dirty="0" smtClean="0">
                          <a:effectLst/>
                        </a:rPr>
                        <a:t>（八项规定）</a:t>
                      </a:r>
                      <a:r>
                        <a:rPr lang="en-US" altLang="zh-CN" sz="1800" u="none" strike="noStrike" dirty="0" smtClean="0">
                          <a:effectLst/>
                        </a:rPr>
                        <a:t>156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effectLst/>
                        </a:rPr>
                        <a:t>1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108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-8 </a:t>
                      </a:r>
                    </a:p>
                  </a:txBody>
                  <a:tcPr marL="6350" marR="6350" marT="6350" marB="0" anchor="b"/>
                </a:tc>
                <a:tc>
                  <a:txBody>
                    <a:bodyPr/>
                    <a:lstStyle/>
                    <a:p>
                      <a:pPr algn="r" fontAlgn="t"/>
                      <a:r>
                        <a:rPr lang="en-US" altLang="zh-CN" sz="1800" u="none" strike="noStrike" dirty="0">
                          <a:effectLst/>
                        </a:rPr>
                        <a:t>184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-83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a:effectLst/>
                        </a:rPr>
                        <a:t>2014</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zh-CN" altLang="en-US" sz="1800" u="none" strike="noStrike" dirty="0" smtClean="0">
                          <a:effectLst/>
                        </a:rPr>
                        <a:t>（八项规定）</a:t>
                      </a:r>
                      <a:r>
                        <a:rPr lang="en-US" altLang="zh-CN" sz="1800" u="none" strike="noStrike" dirty="0" smtClean="0">
                          <a:effectLst/>
                        </a:rPr>
                        <a:t>155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a:effectLst/>
                        </a:rPr>
                        <a:t>0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118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33 </a:t>
                      </a:r>
                    </a:p>
                  </a:txBody>
                  <a:tcPr marL="6350" marR="6350" marT="6350" marB="0" anchor="b"/>
                </a:tc>
                <a:tc>
                  <a:txBody>
                    <a:bodyPr/>
                    <a:lstStyle/>
                    <a:p>
                      <a:pPr algn="r" fontAlgn="t"/>
                      <a:r>
                        <a:rPr lang="en-US" altLang="zh-CN" sz="1800" u="none" strike="noStrike" dirty="0">
                          <a:effectLst/>
                        </a:rPr>
                        <a:t>1,101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-6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dirty="0" smtClean="0">
                          <a:effectLst/>
                        </a:rPr>
                        <a:t>2013</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zh-CN" altLang="en-US" sz="1800" u="none" strike="noStrike" dirty="0" smtClean="0">
                          <a:effectLst/>
                        </a:rPr>
                        <a:t>（八项规定）</a:t>
                      </a:r>
                      <a:r>
                        <a:rPr lang="en-US" altLang="zh-CN" sz="1800" u="none" strike="noStrike" dirty="0" smtClean="0">
                          <a:effectLst/>
                        </a:rPr>
                        <a:t>155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a:effectLst/>
                        </a:rPr>
                        <a:t>15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89 </a:t>
                      </a:r>
                    </a:p>
                  </a:txBody>
                  <a:tcPr marL="6350" marR="6350" marT="6350" marB="0" anchor="b"/>
                </a:tc>
                <a:tc>
                  <a:txBody>
                    <a:bodyPr/>
                    <a:lstStyle/>
                    <a:p>
                      <a:pPr marL="0" algn="r" defTabSz="914400" rtl="0" eaLnBrk="1" fontAlgn="t" latinLnBrk="0" hangingPunct="1"/>
                      <a:r>
                        <a:rPr lang="en-US" altLang="zh-CN" sz="1800" b="1" u="none" strike="noStrike" kern="1200" dirty="0">
                          <a:solidFill>
                            <a:srgbClr val="FF0000"/>
                          </a:solidFill>
                          <a:effectLst/>
                          <a:latin typeface="+mn-lt"/>
                          <a:ea typeface="+mn-ea"/>
                          <a:cs typeface="+mn-cs"/>
                        </a:rPr>
                        <a:t>-13 </a:t>
                      </a:r>
                    </a:p>
                  </a:txBody>
                  <a:tcPr marL="6350" marR="6350" marT="6350" marB="0" anchor="b"/>
                </a:tc>
                <a:tc>
                  <a:txBody>
                    <a:bodyPr/>
                    <a:lstStyle/>
                    <a:p>
                      <a:pPr algn="r" fontAlgn="t"/>
                      <a:r>
                        <a:rPr lang="en-US" altLang="zh-CN" sz="1800" u="none" strike="noStrike">
                          <a:effectLst/>
                        </a:rPr>
                        <a:t>1,167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-3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348798">
                <a:tc>
                  <a:txBody>
                    <a:bodyPr/>
                    <a:lstStyle/>
                    <a:p>
                      <a:pPr algn="ctr" fontAlgn="ctr"/>
                      <a:r>
                        <a:rPr lang="en-US" altLang="zh-CN" sz="1800" u="none" strike="noStrike" dirty="0">
                          <a:effectLst/>
                        </a:rPr>
                        <a:t>2012</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a:effectLst/>
                        </a:rPr>
                        <a:t>134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a:effectLst/>
                        </a:rPr>
                        <a:t>53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102 </a:t>
                      </a:r>
                    </a:p>
                  </a:txBody>
                  <a:tcPr marL="6350" marR="6350" marT="6350" marB="0" anchor="b"/>
                </a:tc>
                <a:tc>
                  <a:txBody>
                    <a:bodyPr/>
                    <a:lstStyle/>
                    <a:p>
                      <a:pPr marL="0" algn="r" defTabSz="914400" rtl="0" eaLnBrk="1" fontAlgn="b" latinLnBrk="0" hangingPunct="1"/>
                      <a:r>
                        <a:rPr lang="en-US" altLang="zh-CN" sz="1800" u="none" strike="noStrike" kern="1200" dirty="0">
                          <a:solidFill>
                            <a:schemeClr val="dk1"/>
                          </a:solidFill>
                          <a:effectLst/>
                          <a:latin typeface="+mn-lt"/>
                          <a:ea typeface="+mn-ea"/>
                          <a:cs typeface="+mn-cs"/>
                        </a:rPr>
                        <a:t>39 </a:t>
                      </a:r>
                    </a:p>
                  </a:txBody>
                  <a:tcPr marL="6350" marR="6350" marT="6350" marB="0" anchor="b"/>
                </a:tc>
                <a:tc>
                  <a:txBody>
                    <a:bodyPr/>
                    <a:lstStyle/>
                    <a:p>
                      <a:pPr algn="r" fontAlgn="t"/>
                      <a:r>
                        <a:rPr lang="en-US" altLang="zh-CN" sz="1800" u="none" strike="noStrike" dirty="0">
                          <a:effectLst/>
                        </a:rPr>
                        <a:t>1,197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-13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r h="244024">
                <a:tc>
                  <a:txBody>
                    <a:bodyPr/>
                    <a:lstStyle/>
                    <a:p>
                      <a:pPr algn="ctr" fontAlgn="ctr"/>
                      <a:r>
                        <a:rPr lang="en-US" altLang="zh-CN" sz="1800" u="none" strike="noStrike" dirty="0">
                          <a:effectLst/>
                        </a:rPr>
                        <a:t>2011</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t"/>
                      <a:r>
                        <a:rPr lang="en-US" altLang="zh-CN" sz="1800" u="none" strike="noStrike" dirty="0">
                          <a:effectLst/>
                        </a:rPr>
                        <a:t>88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a:effectLst/>
                        </a:rPr>
                        <a:t>74 </a:t>
                      </a:r>
                      <a:endParaRPr lang="en-US" altLang="zh-CN" sz="1800" b="0" i="0" u="none" strike="noStrike">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marL="0" algn="r" defTabSz="914400" rtl="0" eaLnBrk="1" fontAlgn="b" latinLnBrk="0" hangingPunct="1"/>
                      <a:r>
                        <a:rPr lang="en-US" altLang="zh-CN" sz="1800" u="none" strike="noStrike" kern="1200">
                          <a:solidFill>
                            <a:schemeClr val="dk1"/>
                          </a:solidFill>
                          <a:effectLst/>
                          <a:latin typeface="+mn-lt"/>
                          <a:ea typeface="+mn-ea"/>
                          <a:cs typeface="+mn-cs"/>
                        </a:rPr>
                        <a:t>74 </a:t>
                      </a:r>
                    </a:p>
                  </a:txBody>
                  <a:tcPr marL="6350" marR="6350" marT="6350" marB="0" anchor="b"/>
                </a:tc>
                <a:tc>
                  <a:txBody>
                    <a:bodyPr/>
                    <a:lstStyle/>
                    <a:p>
                      <a:pPr marL="0" algn="r" defTabSz="914400" rtl="0" eaLnBrk="1" fontAlgn="t" latinLnBrk="0" hangingPunct="1"/>
                      <a:r>
                        <a:rPr lang="en-US" altLang="zh-CN" sz="1800" b="1" u="none" strike="noStrike" kern="1200" dirty="0">
                          <a:solidFill>
                            <a:srgbClr val="FF0000"/>
                          </a:solidFill>
                          <a:effectLst/>
                          <a:latin typeface="+mn-lt"/>
                          <a:ea typeface="+mn-ea"/>
                          <a:cs typeface="+mn-cs"/>
                        </a:rPr>
                        <a:t>-12 </a:t>
                      </a:r>
                    </a:p>
                  </a:txBody>
                  <a:tcPr marL="6350" marR="6350" marT="6350" marB="0" anchor="b"/>
                </a:tc>
                <a:tc>
                  <a:txBody>
                    <a:bodyPr/>
                    <a:lstStyle/>
                    <a:p>
                      <a:pPr algn="r" fontAlgn="t"/>
                      <a:r>
                        <a:rPr lang="en-US" altLang="zh-CN" sz="1800" u="none" strike="noStrike" dirty="0">
                          <a:effectLst/>
                        </a:rPr>
                        <a:t>1,379 </a:t>
                      </a:r>
                      <a:endParaRPr lang="en-US" altLang="zh-CN" sz="18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tc>
                <a:tc>
                  <a:txBody>
                    <a:bodyPr/>
                    <a:lstStyle/>
                    <a:p>
                      <a:pPr algn="r" fontAlgn="t"/>
                      <a:r>
                        <a:rPr lang="en-US" altLang="zh-CN" sz="1800" u="none" strike="noStrike" dirty="0">
                          <a:solidFill>
                            <a:srgbClr val="FF0000"/>
                          </a:solidFill>
                          <a:effectLst/>
                        </a:rPr>
                        <a:t>-4 </a:t>
                      </a:r>
                      <a:endParaRPr lang="en-US" altLang="zh-CN" sz="1800" b="0"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tc>
              </a:tr>
            </a:tbl>
          </a:graphicData>
        </a:graphic>
      </p:graphicFrame>
    </p:spTree>
    <p:extLst>
      <p:ext uri="{BB962C8B-B14F-4D97-AF65-F5344CB8AC3E}">
        <p14:creationId xmlns:p14="http://schemas.microsoft.com/office/powerpoint/2010/main" val="341027769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3.5 </a:t>
            </a:r>
            <a:r>
              <a:rPr lang="zh-CN" altLang="en-US" dirty="0" smtClean="0"/>
              <a:t>财务比率分析</a:t>
            </a:r>
            <a:endParaRPr lang="zh-CN" altLang="en-US" dirty="0"/>
          </a:p>
        </p:txBody>
      </p:sp>
      <p:sp>
        <p:nvSpPr>
          <p:cNvPr id="3" name="内容占位符 2"/>
          <p:cNvSpPr>
            <a:spLocks noGrp="1"/>
          </p:cNvSpPr>
          <p:nvPr>
            <p:ph idx="1"/>
          </p:nvPr>
        </p:nvSpPr>
        <p:spPr/>
        <p:txBody>
          <a:bodyPr>
            <a:normAutofit/>
          </a:bodyPr>
          <a:lstStyle/>
          <a:p>
            <a:r>
              <a:rPr lang="zh-CN" altLang="en-US" dirty="0" smtClean="0"/>
              <a:t>盈利能力比率</a:t>
            </a:r>
            <a:endParaRPr lang="en-US" altLang="zh-CN" dirty="0" smtClean="0"/>
          </a:p>
          <a:p>
            <a:r>
              <a:rPr lang="zh-CN" altLang="en-US" dirty="0" smtClean="0"/>
              <a:t>资产周转率</a:t>
            </a:r>
            <a:endParaRPr lang="en-US" altLang="zh-CN" dirty="0" smtClean="0"/>
          </a:p>
          <a:p>
            <a:r>
              <a:rPr lang="zh-CN" altLang="en-US" dirty="0" smtClean="0"/>
              <a:t>财务杠杆比率</a:t>
            </a:r>
            <a:endParaRPr lang="en-US" altLang="zh-CN" dirty="0" smtClean="0"/>
          </a:p>
          <a:p>
            <a:r>
              <a:rPr lang="zh-CN" altLang="en-US" dirty="0" smtClean="0"/>
              <a:t>流动比率</a:t>
            </a:r>
            <a:endParaRPr lang="en-US" altLang="zh-CN" dirty="0" smtClean="0"/>
          </a:p>
          <a:p>
            <a:r>
              <a:rPr lang="zh-CN" altLang="en-US" dirty="0" smtClean="0"/>
              <a:t>市场价值比率</a:t>
            </a:r>
            <a:endParaRPr lang="en-US" altLang="zh-CN" dirty="0" smtClean="0"/>
          </a:p>
          <a:p>
            <a:endParaRPr lang="en-US" altLang="zh-CN" dirty="0"/>
          </a:p>
          <a:p>
            <a:r>
              <a:rPr lang="zh-CN" altLang="en-US" dirty="0" smtClean="0"/>
              <a:t>财务比率分析一定要弄清楚分析者所采用的指标是如何计算的，各个分析者采用的计算指标可能有所不同</a:t>
            </a:r>
            <a:endParaRPr lang="en-US" altLang="zh-CN" dirty="0" smtClean="0"/>
          </a:p>
        </p:txBody>
      </p:sp>
    </p:spTree>
    <p:extLst>
      <p:ext uri="{BB962C8B-B14F-4D97-AF65-F5344CB8AC3E}">
        <p14:creationId xmlns:p14="http://schemas.microsoft.com/office/powerpoint/2010/main" val="339291415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45920" y="198526"/>
            <a:ext cx="8566484" cy="6659474"/>
          </a:xfrm>
          <a:prstGeom prst="rect">
            <a:avLst/>
          </a:prstGeom>
        </p:spPr>
      </p:pic>
    </p:spTree>
    <p:extLst>
      <p:ext uri="{BB962C8B-B14F-4D97-AF65-F5344CB8AC3E}">
        <p14:creationId xmlns:p14="http://schemas.microsoft.com/office/powerpoint/2010/main" val="39667611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6CF6EB46-BE49-4C6F-A414-B2B150A627A0}" type="slidenum">
              <a:rPr lang="zh-CN" altLang="en-US"/>
              <a:pPr/>
              <a:t>55</a:t>
            </a:fld>
            <a:endParaRPr lang="en-US" altLang="zh-CN"/>
          </a:p>
        </p:txBody>
      </p:sp>
      <p:sp>
        <p:nvSpPr>
          <p:cNvPr id="48130"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sz="3400" dirty="0"/>
              <a:t>财务比率分析之一：</a:t>
            </a:r>
            <a:r>
              <a:rPr lang="zh-CN" altLang="en-US" b="1" dirty="0" smtClean="0"/>
              <a:t>盈利能力比率</a:t>
            </a:r>
            <a:endParaRPr lang="zh-CN" altLang="en-US" b="1" dirty="0"/>
          </a:p>
        </p:txBody>
      </p:sp>
      <p:graphicFrame>
        <p:nvGraphicFramePr>
          <p:cNvPr id="48131" name="Object 3"/>
          <p:cNvGraphicFramePr>
            <a:graphicFrameLocks/>
          </p:cNvGraphicFramePr>
          <p:nvPr>
            <p:extLst>
              <p:ext uri="{D42A27DB-BD31-4B8C-83A1-F6EECF244321}">
                <p14:modId xmlns:p14="http://schemas.microsoft.com/office/powerpoint/2010/main" val="157860784"/>
              </p:ext>
            </p:extLst>
          </p:nvPr>
        </p:nvGraphicFramePr>
        <p:xfrm>
          <a:off x="3543300" y="1848051"/>
          <a:ext cx="6380346" cy="3468487"/>
        </p:xfrm>
        <a:graphic>
          <a:graphicData uri="http://schemas.openxmlformats.org/presentationml/2006/ole">
            <mc:AlternateContent xmlns:mc="http://schemas.openxmlformats.org/markup-compatibility/2006">
              <mc:Choice xmlns:v="urn:schemas-microsoft-com:vml" Requires="v">
                <p:oleObj spid="_x0000_s3149" name="Equation" r:id="rId4" imgW="3213000" imgH="2616120" progId="Equation.DSMT4">
                  <p:embed/>
                </p:oleObj>
              </mc:Choice>
              <mc:Fallback>
                <p:oleObj name="Equation" r:id="rId4" imgW="3213000" imgH="2616120" progId="Equation.DSMT4">
                  <p:embed/>
                  <p:pic>
                    <p:nvPicPr>
                      <p:cNvPr id="0" name=""/>
                      <p:cNvPicPr>
                        <a:picLocks noChangeArrowheads="1"/>
                      </p:cNvPicPr>
                      <p:nvPr/>
                    </p:nvPicPr>
                    <p:blipFill>
                      <a:blip r:embed="rId5"/>
                      <a:srcRect/>
                      <a:stretch>
                        <a:fillRect/>
                      </a:stretch>
                    </p:blipFill>
                    <p:spPr bwMode="auto">
                      <a:xfrm>
                        <a:off x="3543300" y="1848051"/>
                        <a:ext cx="6380346" cy="3468487"/>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31019199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433ECF4D-88D5-42B3-90E3-BCC17ADECA77}" type="slidenum">
              <a:rPr lang="zh-CN" altLang="en-US"/>
              <a:pPr/>
              <a:t>56</a:t>
            </a:fld>
            <a:endParaRPr lang="en-US" altLang="zh-CN"/>
          </a:p>
        </p:txBody>
      </p:sp>
      <p:sp>
        <p:nvSpPr>
          <p:cNvPr id="50178"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sz="3400" dirty="0"/>
              <a:t>财务比率分析之二：</a:t>
            </a:r>
            <a:r>
              <a:rPr lang="zh-CN" altLang="en-US" b="1" dirty="0"/>
              <a:t>资产周转率</a:t>
            </a:r>
            <a:endParaRPr lang="en-US" altLang="zh-CN" b="1" dirty="0"/>
          </a:p>
        </p:txBody>
      </p:sp>
      <p:graphicFrame>
        <p:nvGraphicFramePr>
          <p:cNvPr id="50179" name="Object 3"/>
          <p:cNvGraphicFramePr>
            <a:graphicFrameLocks/>
          </p:cNvGraphicFramePr>
          <p:nvPr>
            <p:extLst>
              <p:ext uri="{D42A27DB-BD31-4B8C-83A1-F6EECF244321}">
                <p14:modId xmlns:p14="http://schemas.microsoft.com/office/powerpoint/2010/main" val="781431806"/>
              </p:ext>
            </p:extLst>
          </p:nvPr>
        </p:nvGraphicFramePr>
        <p:xfrm>
          <a:off x="3511549" y="2069432"/>
          <a:ext cx="5901957" cy="4042610"/>
        </p:xfrm>
        <a:graphic>
          <a:graphicData uri="http://schemas.openxmlformats.org/presentationml/2006/ole">
            <mc:AlternateContent xmlns:mc="http://schemas.openxmlformats.org/markup-compatibility/2006">
              <mc:Choice xmlns:v="urn:schemas-microsoft-com:vml" Requires="v">
                <p:oleObj spid="_x0000_s4173" name="Equation" r:id="rId4" imgW="2971800" imgH="2692080" progId="Equation.DSMT4">
                  <p:embed/>
                </p:oleObj>
              </mc:Choice>
              <mc:Fallback>
                <p:oleObj name="Equation" r:id="rId4" imgW="2971800" imgH="2692080" progId="Equation.DSMT4">
                  <p:embed/>
                  <p:pic>
                    <p:nvPicPr>
                      <p:cNvPr id="0" name=""/>
                      <p:cNvPicPr>
                        <a:picLocks noChangeArrowheads="1"/>
                      </p:cNvPicPr>
                      <p:nvPr/>
                    </p:nvPicPr>
                    <p:blipFill>
                      <a:blip r:embed="rId5"/>
                      <a:srcRect/>
                      <a:stretch>
                        <a:fillRect/>
                      </a:stretch>
                    </p:blipFill>
                    <p:spPr bwMode="auto">
                      <a:xfrm>
                        <a:off x="3511549" y="2069432"/>
                        <a:ext cx="5901957" cy="404261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1327833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080333EA-91E6-4306-8CA9-8CF4067105E0}" type="slidenum">
              <a:rPr lang="zh-CN" altLang="en-US"/>
              <a:pPr/>
              <a:t>57</a:t>
            </a:fld>
            <a:endParaRPr lang="en-US" altLang="zh-CN"/>
          </a:p>
        </p:txBody>
      </p:sp>
      <p:sp>
        <p:nvSpPr>
          <p:cNvPr id="52226"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sz="3400" dirty="0"/>
              <a:t>财务比率分析之三：</a:t>
            </a:r>
            <a:r>
              <a:rPr lang="zh-CN" altLang="en-US" b="1" dirty="0"/>
              <a:t>财务杠杆</a:t>
            </a:r>
            <a:endParaRPr lang="en-US" altLang="zh-CN" b="1" dirty="0"/>
          </a:p>
        </p:txBody>
      </p:sp>
      <p:graphicFrame>
        <p:nvGraphicFramePr>
          <p:cNvPr id="52227" name="Object 3"/>
          <p:cNvGraphicFramePr>
            <a:graphicFrameLocks/>
          </p:cNvGraphicFramePr>
          <p:nvPr>
            <p:extLst>
              <p:ext uri="{D42A27DB-BD31-4B8C-83A1-F6EECF244321}">
                <p14:modId xmlns:p14="http://schemas.microsoft.com/office/powerpoint/2010/main" val="2935208392"/>
              </p:ext>
            </p:extLst>
          </p:nvPr>
        </p:nvGraphicFramePr>
        <p:xfrm>
          <a:off x="4061860" y="2127183"/>
          <a:ext cx="5178391" cy="2670041"/>
        </p:xfrm>
        <a:graphic>
          <a:graphicData uri="http://schemas.openxmlformats.org/presentationml/2006/ole">
            <mc:AlternateContent xmlns:mc="http://schemas.openxmlformats.org/markup-compatibility/2006">
              <mc:Choice xmlns:v="urn:schemas-microsoft-com:vml" Requires="v">
                <p:oleObj spid="_x0000_s5197" name="Equation" r:id="rId4" imgW="2260440" imgH="1650960" progId="Equation.DSMT4">
                  <p:embed/>
                </p:oleObj>
              </mc:Choice>
              <mc:Fallback>
                <p:oleObj name="Equation" r:id="rId4" imgW="2260440" imgH="1650960" progId="Equation.DSMT4">
                  <p:embed/>
                  <p:pic>
                    <p:nvPicPr>
                      <p:cNvPr id="0" name=""/>
                      <p:cNvPicPr>
                        <a:picLocks noChangeArrowheads="1"/>
                      </p:cNvPicPr>
                      <p:nvPr/>
                    </p:nvPicPr>
                    <p:blipFill>
                      <a:blip r:embed="rId5"/>
                      <a:srcRect/>
                      <a:stretch>
                        <a:fillRect/>
                      </a:stretch>
                    </p:blipFill>
                    <p:spPr bwMode="auto">
                      <a:xfrm>
                        <a:off x="4061860" y="2127183"/>
                        <a:ext cx="5178391" cy="2670041"/>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13100605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CB19C824-3484-4C46-87FA-953E2A23A509}" type="slidenum">
              <a:rPr lang="zh-CN" altLang="en-US"/>
              <a:pPr/>
              <a:t>58</a:t>
            </a:fld>
            <a:endParaRPr lang="en-US" altLang="zh-CN"/>
          </a:p>
        </p:txBody>
      </p:sp>
      <p:sp>
        <p:nvSpPr>
          <p:cNvPr id="54274"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sz="3400" dirty="0"/>
              <a:t>财务比率分析之四：</a:t>
            </a:r>
            <a:r>
              <a:rPr lang="en-US" altLang="zh-CN" dirty="0"/>
              <a:t> </a:t>
            </a:r>
            <a:r>
              <a:rPr lang="zh-CN" altLang="en-US" dirty="0" smtClean="0"/>
              <a:t>流动比率</a:t>
            </a:r>
            <a:endParaRPr lang="en-US" altLang="zh-CN" dirty="0"/>
          </a:p>
        </p:txBody>
      </p:sp>
      <p:graphicFrame>
        <p:nvGraphicFramePr>
          <p:cNvPr id="54275" name="Object 3"/>
          <p:cNvGraphicFramePr>
            <a:graphicFrameLocks/>
          </p:cNvGraphicFramePr>
          <p:nvPr>
            <p:extLst>
              <p:ext uri="{D42A27DB-BD31-4B8C-83A1-F6EECF244321}">
                <p14:modId xmlns:p14="http://schemas.microsoft.com/office/powerpoint/2010/main" val="916756396"/>
              </p:ext>
            </p:extLst>
          </p:nvPr>
        </p:nvGraphicFramePr>
        <p:xfrm>
          <a:off x="2566988" y="2060576"/>
          <a:ext cx="7416800" cy="4176713"/>
        </p:xfrm>
        <a:graphic>
          <a:graphicData uri="http://schemas.openxmlformats.org/presentationml/2006/ole">
            <mc:AlternateContent xmlns:mc="http://schemas.openxmlformats.org/markup-compatibility/2006">
              <mc:Choice xmlns:v="urn:schemas-microsoft-com:vml" Requires="v">
                <p:oleObj spid="_x0000_s6221" name="Equation" r:id="rId4" imgW="2857320" imgH="1625400" progId="Equation.DSMT4">
                  <p:embed/>
                </p:oleObj>
              </mc:Choice>
              <mc:Fallback>
                <p:oleObj name="Equation" r:id="rId4" imgW="2857320" imgH="1625400" progId="Equation.DSMT4">
                  <p:embed/>
                  <p:pic>
                    <p:nvPicPr>
                      <p:cNvPr id="0" name=""/>
                      <p:cNvPicPr>
                        <a:picLocks noChangeArrowheads="1"/>
                      </p:cNvPicPr>
                      <p:nvPr/>
                    </p:nvPicPr>
                    <p:blipFill>
                      <a:blip r:embed="rId5"/>
                      <a:srcRect/>
                      <a:stretch>
                        <a:fillRect/>
                      </a:stretch>
                    </p:blipFill>
                    <p:spPr bwMode="auto">
                      <a:xfrm>
                        <a:off x="2566988" y="2060576"/>
                        <a:ext cx="7416800" cy="417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28706135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F4103C96-0271-4C6F-8FC6-F127E2CBF5F5}" type="slidenum">
              <a:rPr lang="zh-CN" altLang="en-US"/>
              <a:pPr/>
              <a:t>59</a:t>
            </a:fld>
            <a:endParaRPr lang="en-US" altLang="zh-CN"/>
          </a:p>
        </p:txBody>
      </p:sp>
      <p:sp>
        <p:nvSpPr>
          <p:cNvPr id="56322"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sz="3400" dirty="0"/>
              <a:t>财务比率分析之五：</a:t>
            </a:r>
            <a:r>
              <a:rPr lang="zh-CN" altLang="en-US" b="1" dirty="0"/>
              <a:t>市场价值</a:t>
            </a:r>
          </a:p>
        </p:txBody>
      </p:sp>
      <p:graphicFrame>
        <p:nvGraphicFramePr>
          <p:cNvPr id="56323" name="Object 3"/>
          <p:cNvGraphicFramePr>
            <a:graphicFrameLocks/>
          </p:cNvGraphicFramePr>
          <p:nvPr>
            <p:extLst>
              <p:ext uri="{D42A27DB-BD31-4B8C-83A1-F6EECF244321}">
                <p14:modId xmlns:p14="http://schemas.microsoft.com/office/powerpoint/2010/main" val="2953607323"/>
              </p:ext>
            </p:extLst>
          </p:nvPr>
        </p:nvGraphicFramePr>
        <p:xfrm>
          <a:off x="2194560" y="2396691"/>
          <a:ext cx="6294922" cy="2345172"/>
        </p:xfrm>
        <a:graphic>
          <a:graphicData uri="http://schemas.openxmlformats.org/presentationml/2006/ole">
            <mc:AlternateContent xmlns:mc="http://schemas.openxmlformats.org/markup-compatibility/2006">
              <mc:Choice xmlns:v="urn:schemas-microsoft-com:vml" Requires="v">
                <p:oleObj spid="_x0000_s7246" name="Equation" r:id="rId4" imgW="3009600" imgH="1701720" progId="Equation.DSMT4">
                  <p:embed/>
                </p:oleObj>
              </mc:Choice>
              <mc:Fallback>
                <p:oleObj name="Equation" r:id="rId4" imgW="3009600" imgH="1701720" progId="Equation.DSMT4">
                  <p:embed/>
                  <p:pic>
                    <p:nvPicPr>
                      <p:cNvPr id="0" name=""/>
                      <p:cNvPicPr>
                        <a:picLocks noChangeArrowheads="1"/>
                      </p:cNvPicPr>
                      <p:nvPr/>
                    </p:nvPicPr>
                    <p:blipFill>
                      <a:blip r:embed="rId5"/>
                      <a:srcRect/>
                      <a:stretch>
                        <a:fillRect/>
                      </a:stretch>
                    </p:blipFill>
                    <p:spPr bwMode="auto">
                      <a:xfrm>
                        <a:off x="2194560" y="2396691"/>
                        <a:ext cx="6294922" cy="2345172"/>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87190223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B451FAB-7E04-4B8F-B151-BC7615E2BA23}" type="slidenum">
              <a:rPr lang="zh-CN" altLang="en-US"/>
              <a:pPr/>
              <a:t>60</a:t>
            </a:fld>
            <a:endParaRPr lang="en-US" altLang="zh-CN"/>
          </a:p>
        </p:txBody>
      </p:sp>
      <p:sp>
        <p:nvSpPr>
          <p:cNvPr id="58370" name="Rectangle 2"/>
          <p:cNvSpPr>
            <a:spLocks noGrp="1" noChangeArrowheads="1"/>
          </p:cNvSpPr>
          <p:nvPr>
            <p:ph type="title"/>
          </p:nvPr>
        </p:nvSpPr>
        <p:spPr>
          <a:noFill/>
          <a:ln/>
        </p:spPr>
        <p:txBody>
          <a:bodyPr vert="horz" lIns="92075" tIns="46038" rIns="92075" bIns="46038" rtlCol="0" anchor="ctr">
            <a:normAutofit/>
          </a:bodyPr>
          <a:lstStyle/>
          <a:p>
            <a:pPr algn="ctr"/>
            <a:r>
              <a:rPr lang="zh-CN" altLang="en-US" dirty="0"/>
              <a:t>公司财务比率的比较</a:t>
            </a:r>
          </a:p>
        </p:txBody>
      </p:sp>
      <p:sp>
        <p:nvSpPr>
          <p:cNvPr id="58371" name="Rectangle 3"/>
          <p:cNvSpPr>
            <a:spLocks noGrp="1" noChangeArrowheads="1"/>
          </p:cNvSpPr>
          <p:nvPr>
            <p:ph type="body" idx="1"/>
          </p:nvPr>
        </p:nvSpPr>
        <p:spPr>
          <a:xfrm>
            <a:off x="2514600" y="2021304"/>
            <a:ext cx="7543800" cy="4100363"/>
          </a:xfrm>
          <a:noFill/>
          <a:ln/>
        </p:spPr>
        <p:txBody>
          <a:bodyPr vert="horz" lIns="92075" tIns="46038" rIns="92075" bIns="46038" rtlCol="0">
            <a:normAutofit/>
          </a:bodyPr>
          <a:lstStyle/>
          <a:p>
            <a:r>
              <a:rPr lang="zh-CN" altLang="en-US" sz="3000" dirty="0"/>
              <a:t>比较的视角</a:t>
            </a:r>
          </a:p>
          <a:p>
            <a:pPr lvl="2">
              <a:lnSpc>
                <a:spcPct val="95000"/>
              </a:lnSpc>
              <a:spcBef>
                <a:spcPct val="35000"/>
              </a:spcBef>
            </a:pPr>
            <a:r>
              <a:rPr lang="zh-CN" altLang="en-US" dirty="0"/>
              <a:t>股东</a:t>
            </a:r>
          </a:p>
          <a:p>
            <a:pPr lvl="2">
              <a:lnSpc>
                <a:spcPct val="95000"/>
              </a:lnSpc>
              <a:spcBef>
                <a:spcPct val="35000"/>
              </a:spcBef>
            </a:pPr>
            <a:r>
              <a:rPr lang="zh-CN" altLang="en-US" dirty="0"/>
              <a:t>雇员、经理、工会</a:t>
            </a:r>
            <a:endParaRPr lang="en-US" altLang="zh-CN" dirty="0"/>
          </a:p>
          <a:p>
            <a:pPr lvl="2">
              <a:lnSpc>
                <a:spcPct val="95000"/>
              </a:lnSpc>
              <a:spcBef>
                <a:spcPct val="35000"/>
              </a:spcBef>
            </a:pPr>
            <a:r>
              <a:rPr lang="zh-CN" altLang="en-US" dirty="0"/>
              <a:t>债权人</a:t>
            </a:r>
            <a:endParaRPr lang="en-US" altLang="zh-CN" dirty="0"/>
          </a:p>
          <a:p>
            <a:pPr lvl="2">
              <a:lnSpc>
                <a:spcPct val="95000"/>
              </a:lnSpc>
              <a:spcBef>
                <a:spcPct val="35000"/>
              </a:spcBef>
            </a:pPr>
            <a:r>
              <a:rPr lang="zh-CN" altLang="en-US" dirty="0"/>
              <a:t>潜在并购者、客户、供应商、竞争者、同业协会等, </a:t>
            </a:r>
            <a:endParaRPr lang="en-US" altLang="zh-CN" sz="2800" dirty="0"/>
          </a:p>
          <a:p>
            <a:r>
              <a:rPr lang="zh-CN" altLang="en-US" sz="3000" dirty="0"/>
              <a:t>比较标准</a:t>
            </a:r>
          </a:p>
          <a:p>
            <a:pPr lvl="2">
              <a:lnSpc>
                <a:spcPct val="95000"/>
              </a:lnSpc>
              <a:spcBef>
                <a:spcPct val="35000"/>
              </a:spcBef>
            </a:pPr>
            <a:r>
              <a:rPr lang="zh-CN" altLang="en-US" dirty="0" smtClean="0"/>
              <a:t>同行业其他</a:t>
            </a:r>
            <a:r>
              <a:rPr lang="zh-CN" altLang="en-US" dirty="0"/>
              <a:t>公司的比率</a:t>
            </a:r>
            <a:endParaRPr lang="en-US" altLang="zh-CN" dirty="0"/>
          </a:p>
          <a:p>
            <a:pPr lvl="2">
              <a:lnSpc>
                <a:spcPct val="95000"/>
              </a:lnSpc>
              <a:spcBef>
                <a:spcPct val="35000"/>
              </a:spcBef>
            </a:pPr>
            <a:r>
              <a:rPr lang="zh-CN" altLang="en-US" dirty="0"/>
              <a:t>公司历史比率</a:t>
            </a:r>
            <a:endParaRPr lang="en-US" altLang="zh-CN" dirty="0"/>
          </a:p>
          <a:p>
            <a:pPr lvl="2">
              <a:lnSpc>
                <a:spcPct val="95000"/>
              </a:lnSpc>
              <a:spcBef>
                <a:spcPct val="35000"/>
              </a:spcBef>
            </a:pPr>
            <a:r>
              <a:rPr lang="zh-CN" altLang="en-US" dirty="0"/>
              <a:t>从金融市场获得的数据</a:t>
            </a:r>
            <a:endParaRPr lang="en-US" altLang="zh-CN" dirty="0"/>
          </a:p>
          <a:p>
            <a:endParaRPr lang="en-US" altLang="zh-CN" sz="2700" dirty="0"/>
          </a:p>
        </p:txBody>
      </p:sp>
    </p:spTree>
    <p:extLst>
      <p:ext uri="{BB962C8B-B14F-4D97-AF65-F5344CB8AC3E}">
        <p14:creationId xmlns:p14="http://schemas.microsoft.com/office/powerpoint/2010/main" val="393706426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678A6B2-D55D-4BEC-BA37-520ECC3D182F}" type="slidenum">
              <a:rPr lang="zh-CN" altLang="en-US"/>
              <a:pPr/>
              <a:t>61</a:t>
            </a:fld>
            <a:endParaRPr lang="en-US" altLang="zh-CN"/>
          </a:p>
        </p:txBody>
      </p:sp>
      <p:sp>
        <p:nvSpPr>
          <p:cNvPr id="60418" name="Rectangle 2"/>
          <p:cNvSpPr>
            <a:spLocks noGrp="1" noChangeArrowheads="1"/>
          </p:cNvSpPr>
          <p:nvPr>
            <p:ph type="title"/>
          </p:nvPr>
        </p:nvSpPr>
        <p:spPr>
          <a:noFill/>
          <a:ln/>
        </p:spPr>
        <p:txBody>
          <a:bodyPr vert="horz" lIns="92075" tIns="46038" rIns="92075" bIns="46038" rtlCol="0" anchor="ctr">
            <a:normAutofit/>
          </a:bodyPr>
          <a:lstStyle/>
          <a:p>
            <a:pPr algn="ctr"/>
            <a:r>
              <a:rPr lang="en-US" altLang="zh-CN" dirty="0" smtClean="0"/>
              <a:t>3.6.1 </a:t>
            </a:r>
            <a:r>
              <a:rPr lang="zh-CN" altLang="en-US" dirty="0" smtClean="0"/>
              <a:t>财务</a:t>
            </a:r>
            <a:r>
              <a:rPr lang="zh-CN" altLang="en-US" dirty="0"/>
              <a:t>比率之间的关系</a:t>
            </a:r>
            <a:endParaRPr lang="en-US" altLang="zh-CN" dirty="0"/>
          </a:p>
        </p:txBody>
      </p:sp>
      <p:sp>
        <p:nvSpPr>
          <p:cNvPr id="60419" name="Rectangle 3"/>
          <p:cNvSpPr>
            <a:spLocks noGrp="1" noChangeArrowheads="1"/>
          </p:cNvSpPr>
          <p:nvPr>
            <p:ph type="body" idx="1"/>
          </p:nvPr>
        </p:nvSpPr>
        <p:spPr>
          <a:xfrm>
            <a:off x="2438400" y="1676400"/>
            <a:ext cx="7543800" cy="1050122"/>
          </a:xfrm>
          <a:noFill/>
          <a:ln/>
        </p:spPr>
        <p:txBody>
          <a:bodyPr vert="horz" lIns="92075" tIns="46038" rIns="92075" bIns="46038" rtlCol="0">
            <a:normAutofit/>
          </a:bodyPr>
          <a:lstStyle/>
          <a:p>
            <a:r>
              <a:rPr lang="zh-CN" altLang="en-US"/>
              <a:t>分析各个比率之间关系可以获得公司金融状况的更多信息，如</a:t>
            </a:r>
            <a:r>
              <a:rPr lang="en-US" altLang="zh-CN"/>
              <a:t>:</a:t>
            </a:r>
          </a:p>
          <a:p>
            <a:endParaRPr lang="zh-CN" altLang="en-US"/>
          </a:p>
        </p:txBody>
      </p:sp>
      <p:graphicFrame>
        <p:nvGraphicFramePr>
          <p:cNvPr id="60420" name="Object 4"/>
          <p:cNvGraphicFramePr>
            <a:graphicFrameLocks/>
          </p:cNvGraphicFramePr>
          <p:nvPr>
            <p:extLst>
              <p:ext uri="{D42A27DB-BD31-4B8C-83A1-F6EECF244321}">
                <p14:modId xmlns:p14="http://schemas.microsoft.com/office/powerpoint/2010/main" val="647192624"/>
              </p:ext>
            </p:extLst>
          </p:nvPr>
        </p:nvGraphicFramePr>
        <p:xfrm>
          <a:off x="2849077" y="3301465"/>
          <a:ext cx="6285297" cy="1149885"/>
        </p:xfrm>
        <a:graphic>
          <a:graphicData uri="http://schemas.openxmlformats.org/presentationml/2006/ole">
            <mc:AlternateContent xmlns:mc="http://schemas.openxmlformats.org/markup-compatibility/2006">
              <mc:Choice xmlns:v="urn:schemas-microsoft-com:vml" Requires="v">
                <p:oleObj spid="_x0000_s8269" name="Equation" r:id="rId4" imgW="2527200" imgH="583920" progId="Equation.DSMT4">
                  <p:embed/>
                </p:oleObj>
              </mc:Choice>
              <mc:Fallback>
                <p:oleObj name="Equation" r:id="rId4" imgW="2527200" imgH="583920" progId="Equation.DSMT4">
                  <p:embed/>
                  <p:pic>
                    <p:nvPicPr>
                      <p:cNvPr id="0" name=""/>
                      <p:cNvPicPr>
                        <a:picLocks noChangeArrowheads="1"/>
                      </p:cNvPicPr>
                      <p:nvPr/>
                    </p:nvPicPr>
                    <p:blipFill>
                      <a:blip r:embed="rId5"/>
                      <a:srcRect/>
                      <a:stretch>
                        <a:fillRect/>
                      </a:stretch>
                    </p:blipFill>
                    <p:spPr bwMode="auto">
                      <a:xfrm>
                        <a:off x="2849077" y="3301465"/>
                        <a:ext cx="6285297" cy="1149885"/>
                      </a:xfrm>
                      <a:prstGeom prst="rect">
                        <a:avLst/>
                      </a:prstGeom>
                      <a:noFill/>
                      <a:ln>
                        <a:noFill/>
                      </a:ln>
                      <a:effectLst/>
                      <a:extLst/>
                    </p:spPr>
                  </p:pic>
                </p:oleObj>
              </mc:Fallback>
            </mc:AlternateContent>
          </a:graphicData>
        </a:graphic>
      </p:graphicFrame>
      <p:sp>
        <p:nvSpPr>
          <p:cNvPr id="60421" name="Line 5"/>
          <p:cNvSpPr>
            <a:spLocks noChangeShapeType="1"/>
          </p:cNvSpPr>
          <p:nvPr/>
        </p:nvSpPr>
        <p:spPr bwMode="auto">
          <a:xfrm flipV="1">
            <a:off x="6210300" y="3344595"/>
            <a:ext cx="836612" cy="531812"/>
          </a:xfrm>
          <a:prstGeom prst="line">
            <a:avLst/>
          </a:prstGeom>
          <a:noFill/>
          <a:ln w="12700">
            <a:solidFill>
              <a:srgbClr val="FF00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863476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rot="5400000">
            <a:off x="2683844" y="-2289208"/>
            <a:ext cx="6497055" cy="11460481"/>
          </a:xfrm>
          <a:prstGeom prst="rect">
            <a:avLst/>
          </a:prstGeom>
        </p:spPr>
      </p:pic>
    </p:spTree>
    <p:extLst>
      <p:ext uri="{BB962C8B-B14F-4D97-AF65-F5344CB8AC3E}">
        <p14:creationId xmlns:p14="http://schemas.microsoft.com/office/powerpoint/2010/main" val="393331699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为什么要</a:t>
            </a:r>
            <a:r>
              <a:rPr lang="zh-CN" altLang="en-US" dirty="0"/>
              <a:t>两班</a:t>
            </a:r>
            <a:r>
              <a:rPr lang="zh-CN" altLang="en-US" dirty="0" smtClean="0"/>
              <a:t>倒、每班</a:t>
            </a:r>
            <a:r>
              <a:rPr lang="en-US" altLang="zh-CN" dirty="0" smtClean="0"/>
              <a:t>12</a:t>
            </a:r>
            <a:r>
              <a:rPr lang="zh-CN" altLang="en-US" dirty="0" smtClean="0"/>
              <a:t>个小时？</a:t>
            </a:r>
            <a:endParaRPr lang="zh-CN" altLang="en-US" dirty="0"/>
          </a:p>
        </p:txBody>
      </p:sp>
      <p:sp>
        <p:nvSpPr>
          <p:cNvPr id="3" name="内容占位符 2"/>
          <p:cNvSpPr>
            <a:spLocks noGrp="1"/>
          </p:cNvSpPr>
          <p:nvPr>
            <p:ph idx="1"/>
          </p:nvPr>
        </p:nvSpPr>
        <p:spPr/>
        <p:txBody>
          <a:bodyPr/>
          <a:lstStyle/>
          <a:p>
            <a:r>
              <a:rPr lang="en-US" altLang="zh-CN" dirty="0" smtClean="0"/>
              <a:t>ROE =</a:t>
            </a:r>
            <a:r>
              <a:rPr lang="zh-CN" altLang="en-US" dirty="0"/>
              <a:t>权益乘数</a:t>
            </a:r>
            <a:r>
              <a:rPr lang="en-US" altLang="zh-CN" dirty="0"/>
              <a:t> × ROA =  </a:t>
            </a:r>
            <a:r>
              <a:rPr lang="zh-CN" altLang="en-US" dirty="0" smtClean="0"/>
              <a:t>权益乘数 </a:t>
            </a:r>
            <a:r>
              <a:rPr lang="en-US" altLang="zh-CN" dirty="0" smtClean="0"/>
              <a:t>× </a:t>
            </a:r>
            <a:r>
              <a:rPr lang="zh-CN" altLang="en-US" dirty="0" smtClean="0"/>
              <a:t>销售净利率 </a:t>
            </a:r>
            <a:r>
              <a:rPr lang="en-US" altLang="zh-CN" dirty="0" smtClean="0"/>
              <a:t>× </a:t>
            </a:r>
            <a:r>
              <a:rPr lang="zh-CN" altLang="en-US" dirty="0" smtClean="0"/>
              <a:t>资产周转率</a:t>
            </a:r>
            <a:endParaRPr lang="en-US" altLang="zh-CN" dirty="0" smtClean="0"/>
          </a:p>
          <a:p>
            <a:endParaRPr lang="en-US" altLang="zh-CN" dirty="0"/>
          </a:p>
          <a:p>
            <a:r>
              <a:rPr lang="zh-CN" altLang="en-US" dirty="0" smtClean="0"/>
              <a:t>要想提高</a:t>
            </a:r>
            <a:r>
              <a:rPr lang="en-US" altLang="zh-CN" dirty="0" smtClean="0"/>
              <a:t>ROE</a:t>
            </a:r>
            <a:r>
              <a:rPr lang="zh-CN" altLang="en-US" dirty="0" smtClean="0"/>
              <a:t>，不能提高权益乘数，只能提高</a:t>
            </a:r>
            <a:r>
              <a:rPr lang="en-US" altLang="zh-CN" dirty="0" smtClean="0"/>
              <a:t>ROA</a:t>
            </a:r>
          </a:p>
          <a:p>
            <a:r>
              <a:rPr lang="zh-CN" altLang="en-US" dirty="0"/>
              <a:t>要</a:t>
            </a:r>
            <a:r>
              <a:rPr lang="zh-CN" altLang="en-US" dirty="0" smtClean="0"/>
              <a:t>想提高</a:t>
            </a:r>
            <a:r>
              <a:rPr lang="en-US" altLang="zh-CN" dirty="0" smtClean="0"/>
              <a:t>ROA</a:t>
            </a:r>
            <a:r>
              <a:rPr lang="zh-CN" altLang="en-US" dirty="0" smtClean="0"/>
              <a:t>，不能提高销售净利率，只能提高资产周转率</a:t>
            </a:r>
            <a:endParaRPr lang="en-US" altLang="zh-CN" dirty="0" smtClean="0"/>
          </a:p>
          <a:p>
            <a:r>
              <a:rPr lang="zh-CN" altLang="en-US" dirty="0" smtClean="0"/>
              <a:t>如何提高资产周转率？两班倒！</a:t>
            </a:r>
            <a:endParaRPr lang="en-US" altLang="zh-CN" dirty="0" smtClean="0"/>
          </a:p>
          <a:p>
            <a:endParaRPr lang="zh-CN" altLang="en-US" dirty="0"/>
          </a:p>
        </p:txBody>
      </p:sp>
    </p:spTree>
    <p:extLst>
      <p:ext uri="{BB962C8B-B14F-4D97-AF65-F5344CB8AC3E}">
        <p14:creationId xmlns:p14="http://schemas.microsoft.com/office/powerpoint/2010/main" val="5191756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algn="ctr"/>
            <a:r>
              <a:rPr lang="en-US" altLang="zh-CN" dirty="0" smtClean="0"/>
              <a:t>3.6.2 </a:t>
            </a:r>
            <a:r>
              <a:rPr lang="zh-CN" altLang="en-US" dirty="0" smtClean="0"/>
              <a:t>财务</a:t>
            </a:r>
            <a:r>
              <a:rPr lang="zh-CN" altLang="en-US" dirty="0"/>
              <a:t>杠杆的效应</a:t>
            </a:r>
          </a:p>
        </p:txBody>
      </p:sp>
      <p:sp>
        <p:nvSpPr>
          <p:cNvPr id="76803" name="Rectangle 3"/>
          <p:cNvSpPr>
            <a:spLocks noGrp="1" noChangeArrowheads="1"/>
          </p:cNvSpPr>
          <p:nvPr>
            <p:ph idx="1"/>
          </p:nvPr>
        </p:nvSpPr>
        <p:spPr/>
        <p:txBody>
          <a:bodyPr/>
          <a:lstStyle/>
          <a:p>
            <a:pPr>
              <a:lnSpc>
                <a:spcPct val="90000"/>
              </a:lnSpc>
            </a:pPr>
            <a:r>
              <a:rPr lang="zh-CN" altLang="en-US" dirty="0" smtClean="0"/>
              <a:t>如果投资收益率超过融资利率，则财务杠杆会增加财富；如果投资收益率低于融资利率，就会降低财富</a:t>
            </a:r>
            <a:endParaRPr lang="en-US" altLang="zh-CN" dirty="0" smtClean="0"/>
          </a:p>
          <a:p>
            <a:pPr>
              <a:lnSpc>
                <a:spcPct val="90000"/>
              </a:lnSpc>
            </a:pPr>
            <a:endParaRPr lang="en-US" altLang="zh-CN" dirty="0"/>
          </a:p>
          <a:p>
            <a:pPr>
              <a:lnSpc>
                <a:spcPct val="90000"/>
              </a:lnSpc>
            </a:pPr>
            <a:r>
              <a:rPr lang="zh-CN" altLang="en-US" dirty="0" smtClean="0"/>
              <a:t>在经济繁荣时期，赚钱容易，高财务杠杆公司业绩突飞猛进；在经济衰退时期，亏钱容易，高财务杠杆公司非常容易破产</a:t>
            </a:r>
            <a:endParaRPr lang="en-US" altLang="zh-CN" dirty="0" smtClean="0"/>
          </a:p>
          <a:p>
            <a:pPr lvl="1"/>
            <a:r>
              <a:rPr lang="zh-CN" altLang="en-US" dirty="0" smtClean="0"/>
              <a:t>新冠疫情如果导致全球经济衰退，很多行业会非常困难，此时一定要避开打击最严重的行业以及财务杠杆高的公司</a:t>
            </a:r>
            <a:endParaRPr lang="en-US" altLang="zh-CN" dirty="0" smtClean="0"/>
          </a:p>
          <a:p>
            <a:pPr>
              <a:lnSpc>
                <a:spcPct val="90000"/>
              </a:lnSpc>
            </a:pPr>
            <a:endParaRPr lang="en-US" altLang="zh-CN" dirty="0"/>
          </a:p>
          <a:p>
            <a:pPr>
              <a:lnSpc>
                <a:spcPct val="90000"/>
              </a:lnSpc>
            </a:pPr>
            <a:endParaRPr lang="en-US" altLang="zh-CN" dirty="0"/>
          </a:p>
        </p:txBody>
      </p:sp>
      <p:sp>
        <p:nvSpPr>
          <p:cNvPr id="5" name="灯片编号占位符 5"/>
          <p:cNvSpPr>
            <a:spLocks noGrp="1"/>
          </p:cNvSpPr>
          <p:nvPr>
            <p:ph type="sldNum" sz="quarter" idx="12"/>
          </p:nvPr>
        </p:nvSpPr>
        <p:spPr/>
        <p:txBody>
          <a:bodyPr/>
          <a:lstStyle/>
          <a:p>
            <a:fld id="{37C8939B-6696-4287-A90A-2BE1D3E8B1E7}" type="slidenum">
              <a:rPr lang="zh-CN" altLang="en-US"/>
              <a:pPr/>
              <a:t>64</a:t>
            </a:fld>
            <a:endParaRPr lang="en-US" altLang="zh-CN"/>
          </a:p>
        </p:txBody>
      </p:sp>
    </p:spTree>
    <p:extLst>
      <p:ext uri="{BB962C8B-B14F-4D97-AF65-F5344CB8AC3E}">
        <p14:creationId xmlns:p14="http://schemas.microsoft.com/office/powerpoint/2010/main" val="361376224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简单例子</a:t>
            </a:r>
            <a:r>
              <a:rPr lang="en-US" altLang="zh-CN" dirty="0"/>
              <a:t>——</a:t>
            </a:r>
            <a:r>
              <a:rPr lang="zh-CN" altLang="en-US" dirty="0"/>
              <a:t>融资</a:t>
            </a:r>
            <a:r>
              <a:rPr lang="zh-CN" altLang="en-US" dirty="0" smtClean="0"/>
              <a:t>炒股</a:t>
            </a:r>
            <a:endParaRPr lang="zh-CN" altLang="en-US" dirty="0"/>
          </a:p>
        </p:txBody>
      </p:sp>
      <p:sp>
        <p:nvSpPr>
          <p:cNvPr id="3" name="内容占位符 2"/>
          <p:cNvSpPr>
            <a:spLocks noGrp="1"/>
          </p:cNvSpPr>
          <p:nvPr>
            <p:ph idx="1"/>
          </p:nvPr>
        </p:nvSpPr>
        <p:spPr/>
        <p:txBody>
          <a:bodyPr/>
          <a:lstStyle/>
          <a:p>
            <a:r>
              <a:rPr lang="zh-CN" altLang="en-US" dirty="0" smtClean="0"/>
              <a:t>年初自</a:t>
            </a:r>
            <a:r>
              <a:rPr lang="zh-CN" altLang="en-US" dirty="0"/>
              <a:t>有资金</a:t>
            </a:r>
            <a:r>
              <a:rPr lang="en-US" altLang="zh-CN" dirty="0"/>
              <a:t>100</a:t>
            </a:r>
            <a:r>
              <a:rPr lang="zh-CN" altLang="en-US" dirty="0"/>
              <a:t>万，借钱</a:t>
            </a:r>
            <a:r>
              <a:rPr lang="en-US" altLang="zh-CN" dirty="0"/>
              <a:t>100</a:t>
            </a:r>
            <a:r>
              <a:rPr lang="zh-CN" altLang="en-US" dirty="0"/>
              <a:t>万，借款年利率</a:t>
            </a:r>
            <a:r>
              <a:rPr lang="en-US" altLang="zh-CN" dirty="0"/>
              <a:t>10</a:t>
            </a:r>
            <a:r>
              <a:rPr lang="en-US" altLang="zh-CN" dirty="0" smtClean="0"/>
              <a:t>%</a:t>
            </a:r>
            <a:r>
              <a:rPr lang="zh-CN" altLang="en-US" dirty="0" smtClean="0"/>
              <a:t>，总共</a:t>
            </a:r>
            <a:r>
              <a:rPr lang="en-US" altLang="zh-CN" dirty="0" smtClean="0"/>
              <a:t>200</a:t>
            </a:r>
            <a:r>
              <a:rPr lang="zh-CN" altLang="en-US" dirty="0" smtClean="0"/>
              <a:t>万炒股</a:t>
            </a:r>
            <a:endParaRPr lang="en-US" altLang="zh-CN" dirty="0"/>
          </a:p>
          <a:p>
            <a:pPr lvl="1"/>
            <a:r>
              <a:rPr lang="zh-CN" altLang="en-US" dirty="0" smtClean="0"/>
              <a:t>如果股票投资年收益率</a:t>
            </a:r>
            <a:r>
              <a:rPr lang="en-US" altLang="zh-CN" dirty="0" smtClean="0"/>
              <a:t>20%</a:t>
            </a:r>
            <a:r>
              <a:rPr lang="zh-CN" altLang="en-US" dirty="0" smtClean="0"/>
              <a:t>，年底结算，则炒股赚了</a:t>
            </a:r>
            <a:r>
              <a:rPr lang="en-US" altLang="zh-CN" dirty="0" smtClean="0"/>
              <a:t>40</a:t>
            </a:r>
            <a:r>
              <a:rPr lang="zh-CN" altLang="en-US" dirty="0" smtClean="0"/>
              <a:t>万，年底总共</a:t>
            </a:r>
            <a:r>
              <a:rPr lang="en-US" altLang="zh-CN" dirty="0" smtClean="0"/>
              <a:t>240</a:t>
            </a:r>
            <a:r>
              <a:rPr lang="zh-CN" altLang="en-US" dirty="0" smtClean="0"/>
              <a:t>万，还掉融资本金利息</a:t>
            </a:r>
            <a:r>
              <a:rPr lang="en-US" altLang="zh-CN" dirty="0" smtClean="0"/>
              <a:t>110</a:t>
            </a:r>
            <a:r>
              <a:rPr lang="zh-CN" altLang="en-US" dirty="0" smtClean="0"/>
              <a:t>万，财富</a:t>
            </a:r>
            <a:r>
              <a:rPr lang="en-US" altLang="zh-CN" dirty="0" smtClean="0"/>
              <a:t>130</a:t>
            </a:r>
            <a:r>
              <a:rPr lang="zh-CN" altLang="en-US" dirty="0" smtClean="0"/>
              <a:t>万，增长</a:t>
            </a:r>
            <a:r>
              <a:rPr lang="en-US" altLang="zh-CN" dirty="0" smtClean="0"/>
              <a:t>30%</a:t>
            </a:r>
          </a:p>
          <a:p>
            <a:pPr lvl="1"/>
            <a:r>
              <a:rPr lang="zh-CN" altLang="en-US" dirty="0"/>
              <a:t>如果股票投资年</a:t>
            </a:r>
            <a:r>
              <a:rPr lang="zh-CN" altLang="en-US" dirty="0" smtClean="0"/>
              <a:t>收益率</a:t>
            </a:r>
            <a:r>
              <a:rPr lang="en-US" altLang="zh-CN" dirty="0" smtClean="0"/>
              <a:t>5%</a:t>
            </a:r>
            <a:r>
              <a:rPr lang="zh-CN" altLang="en-US" dirty="0"/>
              <a:t>，年底结算，则炒股赚</a:t>
            </a:r>
            <a:r>
              <a:rPr lang="zh-CN" altLang="en-US" dirty="0" smtClean="0"/>
              <a:t>了</a:t>
            </a:r>
            <a:r>
              <a:rPr lang="en-US" altLang="zh-CN" dirty="0" smtClean="0"/>
              <a:t>10</a:t>
            </a:r>
            <a:r>
              <a:rPr lang="zh-CN" altLang="en-US" dirty="0"/>
              <a:t>万，年底总共</a:t>
            </a:r>
            <a:r>
              <a:rPr lang="en-US" altLang="zh-CN" dirty="0" smtClean="0"/>
              <a:t>210</a:t>
            </a:r>
            <a:r>
              <a:rPr lang="zh-CN" altLang="en-US" dirty="0"/>
              <a:t>万，还掉融资本金利息</a:t>
            </a:r>
            <a:r>
              <a:rPr lang="en-US" altLang="zh-CN" dirty="0"/>
              <a:t>110</a:t>
            </a:r>
            <a:r>
              <a:rPr lang="zh-CN" altLang="en-US" dirty="0"/>
              <a:t>万，财富</a:t>
            </a:r>
            <a:r>
              <a:rPr lang="en-US" altLang="zh-CN" dirty="0" smtClean="0"/>
              <a:t>100</a:t>
            </a:r>
            <a:r>
              <a:rPr lang="zh-CN" altLang="en-US" dirty="0"/>
              <a:t>万，</a:t>
            </a:r>
            <a:r>
              <a:rPr lang="zh-CN" altLang="en-US" dirty="0" smtClean="0"/>
              <a:t>增长</a:t>
            </a:r>
            <a:r>
              <a:rPr lang="en-US" altLang="zh-CN" dirty="0" smtClean="0"/>
              <a:t>0%</a:t>
            </a:r>
            <a:r>
              <a:rPr lang="zh-CN" altLang="en-US" dirty="0" smtClean="0"/>
              <a:t>，不如年初把</a:t>
            </a:r>
            <a:r>
              <a:rPr lang="en-US" altLang="zh-CN" dirty="0" smtClean="0"/>
              <a:t>100</a:t>
            </a:r>
            <a:r>
              <a:rPr lang="zh-CN" altLang="en-US" dirty="0" smtClean="0"/>
              <a:t>万放在余额宝</a:t>
            </a:r>
            <a:endParaRPr lang="en-US" altLang="zh-CN" dirty="0" smtClean="0"/>
          </a:p>
          <a:p>
            <a:pPr lvl="1"/>
            <a:r>
              <a:rPr lang="zh-CN" altLang="en-US" dirty="0"/>
              <a:t>如果股票投资年</a:t>
            </a:r>
            <a:r>
              <a:rPr lang="zh-CN" altLang="en-US" dirty="0" smtClean="0"/>
              <a:t>收益率</a:t>
            </a:r>
            <a:r>
              <a:rPr lang="en-US" altLang="zh-CN" dirty="0" smtClean="0"/>
              <a:t>-50%</a:t>
            </a:r>
            <a:r>
              <a:rPr lang="zh-CN" altLang="en-US" dirty="0"/>
              <a:t>，年底结算，则</a:t>
            </a:r>
            <a:r>
              <a:rPr lang="zh-CN" altLang="en-US" dirty="0" smtClean="0"/>
              <a:t>炒股亏了</a:t>
            </a:r>
            <a:r>
              <a:rPr lang="en-US" altLang="zh-CN" dirty="0" smtClean="0"/>
              <a:t>100</a:t>
            </a:r>
            <a:r>
              <a:rPr lang="zh-CN" altLang="en-US" dirty="0" smtClean="0"/>
              <a:t>万</a:t>
            </a:r>
            <a:r>
              <a:rPr lang="zh-CN" altLang="en-US" dirty="0"/>
              <a:t>，年底</a:t>
            </a:r>
            <a:r>
              <a:rPr lang="zh-CN" altLang="en-US" dirty="0" smtClean="0"/>
              <a:t>总共</a:t>
            </a:r>
            <a:r>
              <a:rPr lang="en-US" altLang="zh-CN" dirty="0" smtClean="0"/>
              <a:t>100</a:t>
            </a:r>
            <a:r>
              <a:rPr lang="zh-CN" altLang="en-US" dirty="0"/>
              <a:t>万，还掉融资本金利息</a:t>
            </a:r>
            <a:r>
              <a:rPr lang="en-US" altLang="zh-CN" dirty="0"/>
              <a:t>110</a:t>
            </a:r>
            <a:r>
              <a:rPr lang="zh-CN" altLang="en-US" dirty="0"/>
              <a:t>万，</a:t>
            </a:r>
            <a:r>
              <a:rPr lang="zh-CN" altLang="en-US" dirty="0" smtClean="0"/>
              <a:t>财富</a:t>
            </a:r>
            <a:r>
              <a:rPr lang="en-US" altLang="zh-CN" dirty="0" smtClean="0"/>
              <a:t>-10</a:t>
            </a:r>
            <a:r>
              <a:rPr lang="zh-CN" altLang="en-US" dirty="0" smtClean="0"/>
              <a:t>万，工地干活还债吧</a:t>
            </a:r>
            <a:endParaRPr lang="en-US" altLang="zh-CN" dirty="0" smtClean="0"/>
          </a:p>
          <a:p>
            <a:pPr lvl="1"/>
            <a:r>
              <a:rPr lang="zh-CN" altLang="en-US" dirty="0"/>
              <a:t>如果股票投资年收益率</a:t>
            </a:r>
            <a:r>
              <a:rPr lang="en-US" altLang="zh-CN" dirty="0" smtClean="0"/>
              <a:t>-100</a:t>
            </a:r>
            <a:r>
              <a:rPr lang="en-US" altLang="zh-CN" dirty="0"/>
              <a:t>%</a:t>
            </a:r>
            <a:r>
              <a:rPr lang="zh-CN" altLang="en-US" dirty="0"/>
              <a:t>，年底结算，则炒股亏</a:t>
            </a:r>
            <a:r>
              <a:rPr lang="zh-CN" altLang="en-US" dirty="0" smtClean="0"/>
              <a:t>了</a:t>
            </a:r>
            <a:r>
              <a:rPr lang="en-US" altLang="zh-CN" dirty="0" smtClean="0"/>
              <a:t>200</a:t>
            </a:r>
            <a:r>
              <a:rPr lang="zh-CN" altLang="en-US" dirty="0"/>
              <a:t>万，年底</a:t>
            </a:r>
            <a:r>
              <a:rPr lang="zh-CN" altLang="en-US" dirty="0" smtClean="0"/>
              <a:t>总共</a:t>
            </a:r>
            <a:r>
              <a:rPr lang="en-US" altLang="zh-CN" dirty="0" smtClean="0"/>
              <a:t>0</a:t>
            </a:r>
            <a:r>
              <a:rPr lang="zh-CN" altLang="en-US" dirty="0" smtClean="0"/>
              <a:t>万，必须归还融资</a:t>
            </a:r>
            <a:r>
              <a:rPr lang="zh-CN" altLang="en-US" dirty="0"/>
              <a:t>本金利息</a:t>
            </a:r>
            <a:r>
              <a:rPr lang="en-US" altLang="zh-CN" dirty="0"/>
              <a:t>110</a:t>
            </a:r>
            <a:r>
              <a:rPr lang="zh-CN" altLang="en-US" dirty="0"/>
              <a:t>万，财富</a:t>
            </a:r>
            <a:r>
              <a:rPr lang="en-US" altLang="zh-CN" dirty="0"/>
              <a:t>-</a:t>
            </a:r>
            <a:r>
              <a:rPr lang="en-US" altLang="zh-CN" dirty="0" smtClean="0"/>
              <a:t>110</a:t>
            </a:r>
            <a:r>
              <a:rPr lang="zh-CN" altLang="en-US" dirty="0"/>
              <a:t>万</a:t>
            </a:r>
            <a:r>
              <a:rPr lang="zh-CN" altLang="en-US" dirty="0" smtClean="0"/>
              <a:t>，跑路吧</a:t>
            </a:r>
            <a:endParaRPr lang="en-US" altLang="zh-CN" dirty="0"/>
          </a:p>
        </p:txBody>
      </p:sp>
    </p:spTree>
    <p:extLst>
      <p:ext uri="{BB962C8B-B14F-4D97-AF65-F5344CB8AC3E}">
        <p14:creationId xmlns:p14="http://schemas.microsoft.com/office/powerpoint/2010/main" val="37341653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简单例子</a:t>
            </a:r>
            <a:r>
              <a:rPr lang="en-US" altLang="zh-CN" dirty="0" smtClean="0"/>
              <a:t>——</a:t>
            </a:r>
            <a:r>
              <a:rPr lang="zh-CN" altLang="en-US" dirty="0" smtClean="0"/>
              <a:t>配资炒股</a:t>
            </a:r>
            <a:endParaRPr lang="zh-CN" altLang="en-US" dirty="0"/>
          </a:p>
        </p:txBody>
      </p:sp>
      <p:sp>
        <p:nvSpPr>
          <p:cNvPr id="3" name="内容占位符 2"/>
          <p:cNvSpPr>
            <a:spLocks noGrp="1"/>
          </p:cNvSpPr>
          <p:nvPr>
            <p:ph idx="1"/>
          </p:nvPr>
        </p:nvSpPr>
        <p:spPr/>
        <p:txBody>
          <a:bodyPr/>
          <a:lstStyle/>
          <a:p>
            <a:r>
              <a:rPr lang="zh-CN" altLang="en-US" dirty="0" smtClean="0"/>
              <a:t>年初自</a:t>
            </a:r>
            <a:r>
              <a:rPr lang="zh-CN" altLang="en-US" dirty="0"/>
              <a:t>有资金</a:t>
            </a:r>
            <a:r>
              <a:rPr lang="en-US" altLang="zh-CN" dirty="0"/>
              <a:t>100</a:t>
            </a:r>
            <a:r>
              <a:rPr lang="zh-CN" altLang="en-US" dirty="0"/>
              <a:t>万</a:t>
            </a:r>
            <a:r>
              <a:rPr lang="zh-CN" altLang="en-US" dirty="0" smtClean="0"/>
              <a:t>，配资</a:t>
            </a:r>
            <a:r>
              <a:rPr lang="en-US" altLang="zh-CN" dirty="0" smtClean="0"/>
              <a:t>1000</a:t>
            </a:r>
            <a:r>
              <a:rPr lang="zh-CN" altLang="en-US" dirty="0" smtClean="0"/>
              <a:t>万（</a:t>
            </a:r>
            <a:r>
              <a:rPr lang="en-US" altLang="zh-CN" dirty="0" smtClean="0"/>
              <a:t>1:10</a:t>
            </a:r>
            <a:r>
              <a:rPr lang="zh-CN" altLang="en-US" dirty="0" smtClean="0"/>
              <a:t>配资），</a:t>
            </a:r>
            <a:r>
              <a:rPr lang="zh-CN" altLang="en-US" dirty="0"/>
              <a:t>借款年利率</a:t>
            </a:r>
            <a:r>
              <a:rPr lang="en-US" altLang="zh-CN" dirty="0"/>
              <a:t>10</a:t>
            </a:r>
            <a:r>
              <a:rPr lang="en-US" altLang="zh-CN" dirty="0" smtClean="0"/>
              <a:t>%</a:t>
            </a:r>
            <a:r>
              <a:rPr lang="zh-CN" altLang="en-US" dirty="0" smtClean="0"/>
              <a:t>，总共</a:t>
            </a:r>
            <a:r>
              <a:rPr lang="en-US" altLang="zh-CN" dirty="0" smtClean="0"/>
              <a:t>1100</a:t>
            </a:r>
            <a:r>
              <a:rPr lang="zh-CN" altLang="en-US" dirty="0" smtClean="0"/>
              <a:t>万炒股</a:t>
            </a:r>
            <a:endParaRPr lang="en-US" altLang="zh-CN" dirty="0"/>
          </a:p>
          <a:p>
            <a:pPr lvl="1"/>
            <a:r>
              <a:rPr lang="zh-CN" altLang="en-US" dirty="0" smtClean="0"/>
              <a:t>如果股票投资年收益率</a:t>
            </a:r>
            <a:r>
              <a:rPr lang="en-US" altLang="zh-CN" dirty="0" smtClean="0"/>
              <a:t>20%</a:t>
            </a:r>
            <a:r>
              <a:rPr lang="zh-CN" altLang="en-US" dirty="0" smtClean="0"/>
              <a:t>，年底结算，则炒股赚了</a:t>
            </a:r>
            <a:r>
              <a:rPr lang="en-US" altLang="zh-CN" dirty="0" smtClean="0"/>
              <a:t>220</a:t>
            </a:r>
            <a:r>
              <a:rPr lang="zh-CN" altLang="en-US" dirty="0" smtClean="0"/>
              <a:t>万，年底总共</a:t>
            </a:r>
            <a:r>
              <a:rPr lang="en-US" altLang="zh-CN" dirty="0" smtClean="0"/>
              <a:t>1320</a:t>
            </a:r>
            <a:r>
              <a:rPr lang="zh-CN" altLang="en-US" dirty="0" smtClean="0"/>
              <a:t>万，还掉配资本金利息</a:t>
            </a:r>
            <a:r>
              <a:rPr lang="en-US" altLang="zh-CN" dirty="0" smtClean="0"/>
              <a:t>1100</a:t>
            </a:r>
            <a:r>
              <a:rPr lang="zh-CN" altLang="en-US" dirty="0" smtClean="0"/>
              <a:t>万，财富</a:t>
            </a:r>
            <a:r>
              <a:rPr lang="en-US" altLang="zh-CN" dirty="0" smtClean="0"/>
              <a:t>220</a:t>
            </a:r>
            <a:r>
              <a:rPr lang="zh-CN" altLang="en-US" dirty="0" smtClean="0"/>
              <a:t>万，增长</a:t>
            </a:r>
            <a:r>
              <a:rPr lang="en-US" altLang="zh-CN" dirty="0" smtClean="0"/>
              <a:t>120%</a:t>
            </a:r>
          </a:p>
          <a:p>
            <a:pPr lvl="1"/>
            <a:r>
              <a:rPr lang="zh-CN" altLang="en-US" dirty="0"/>
              <a:t>如果股票投资年</a:t>
            </a:r>
            <a:r>
              <a:rPr lang="zh-CN" altLang="en-US" dirty="0" smtClean="0"/>
              <a:t>收益率</a:t>
            </a:r>
            <a:r>
              <a:rPr lang="en-US" altLang="zh-CN" dirty="0" smtClean="0"/>
              <a:t>5%</a:t>
            </a:r>
            <a:r>
              <a:rPr lang="zh-CN" altLang="en-US" dirty="0"/>
              <a:t>，年底结算，则炒股赚</a:t>
            </a:r>
            <a:r>
              <a:rPr lang="zh-CN" altLang="en-US" dirty="0" smtClean="0"/>
              <a:t>了</a:t>
            </a:r>
            <a:r>
              <a:rPr lang="en-US" altLang="zh-CN" dirty="0" smtClean="0"/>
              <a:t>55</a:t>
            </a:r>
            <a:r>
              <a:rPr lang="zh-CN" altLang="en-US" dirty="0" smtClean="0"/>
              <a:t>万</a:t>
            </a:r>
            <a:r>
              <a:rPr lang="zh-CN" altLang="en-US" dirty="0"/>
              <a:t>，年底</a:t>
            </a:r>
            <a:r>
              <a:rPr lang="zh-CN" altLang="en-US" dirty="0" smtClean="0"/>
              <a:t>总共</a:t>
            </a:r>
            <a:r>
              <a:rPr lang="en-US" altLang="zh-CN" dirty="0" smtClean="0"/>
              <a:t>1155</a:t>
            </a:r>
            <a:r>
              <a:rPr lang="zh-CN" altLang="en-US" dirty="0" smtClean="0"/>
              <a:t>万</a:t>
            </a:r>
            <a:r>
              <a:rPr lang="zh-CN" altLang="en-US" dirty="0"/>
              <a:t>，还掉融资本金利息</a:t>
            </a:r>
            <a:r>
              <a:rPr lang="en-US" altLang="zh-CN" dirty="0" smtClean="0"/>
              <a:t>1100</a:t>
            </a:r>
            <a:r>
              <a:rPr lang="zh-CN" altLang="en-US" dirty="0"/>
              <a:t>万，</a:t>
            </a:r>
            <a:r>
              <a:rPr lang="zh-CN" altLang="en-US" dirty="0" smtClean="0"/>
              <a:t>财富</a:t>
            </a:r>
            <a:r>
              <a:rPr lang="en-US" altLang="zh-CN" dirty="0" smtClean="0"/>
              <a:t>55</a:t>
            </a:r>
            <a:r>
              <a:rPr lang="zh-CN" altLang="en-US" dirty="0" smtClean="0"/>
              <a:t>万，降低</a:t>
            </a:r>
            <a:r>
              <a:rPr lang="en-US" altLang="zh-CN" dirty="0" smtClean="0"/>
              <a:t>45%</a:t>
            </a:r>
          </a:p>
          <a:p>
            <a:pPr lvl="1"/>
            <a:r>
              <a:rPr lang="zh-CN" altLang="en-US" dirty="0"/>
              <a:t>如果股票投资年</a:t>
            </a:r>
            <a:r>
              <a:rPr lang="zh-CN" altLang="en-US" dirty="0" smtClean="0"/>
              <a:t>收益率</a:t>
            </a:r>
            <a:r>
              <a:rPr lang="en-US" altLang="zh-CN" dirty="0" smtClean="0"/>
              <a:t>-50%</a:t>
            </a:r>
            <a:r>
              <a:rPr lang="zh-CN" altLang="en-US" dirty="0"/>
              <a:t>，年底结算，则</a:t>
            </a:r>
            <a:r>
              <a:rPr lang="zh-CN" altLang="en-US" dirty="0" smtClean="0"/>
              <a:t>炒股亏了</a:t>
            </a:r>
            <a:r>
              <a:rPr lang="en-US" altLang="zh-CN" dirty="0" smtClean="0"/>
              <a:t>550</a:t>
            </a:r>
            <a:r>
              <a:rPr lang="zh-CN" altLang="en-US" dirty="0" smtClean="0"/>
              <a:t>万</a:t>
            </a:r>
            <a:r>
              <a:rPr lang="zh-CN" altLang="en-US" dirty="0"/>
              <a:t>，年底</a:t>
            </a:r>
            <a:r>
              <a:rPr lang="zh-CN" altLang="en-US" dirty="0" smtClean="0"/>
              <a:t>总共</a:t>
            </a:r>
            <a:r>
              <a:rPr lang="en-US" altLang="zh-CN" dirty="0" smtClean="0"/>
              <a:t>550</a:t>
            </a:r>
            <a:r>
              <a:rPr lang="zh-CN" altLang="en-US" dirty="0" smtClean="0"/>
              <a:t>万</a:t>
            </a:r>
            <a:r>
              <a:rPr lang="zh-CN" altLang="en-US" dirty="0"/>
              <a:t>，还掉融资本金利息</a:t>
            </a:r>
            <a:r>
              <a:rPr lang="en-US" altLang="zh-CN" dirty="0" smtClean="0"/>
              <a:t>1100</a:t>
            </a:r>
            <a:r>
              <a:rPr lang="zh-CN" altLang="en-US" dirty="0" smtClean="0"/>
              <a:t>万</a:t>
            </a:r>
            <a:r>
              <a:rPr lang="zh-CN" altLang="en-US" dirty="0"/>
              <a:t>，</a:t>
            </a:r>
            <a:r>
              <a:rPr lang="zh-CN" altLang="en-US" dirty="0" smtClean="0"/>
              <a:t>财富</a:t>
            </a:r>
            <a:r>
              <a:rPr lang="en-US" altLang="zh-CN" dirty="0" smtClean="0"/>
              <a:t>-550</a:t>
            </a:r>
            <a:r>
              <a:rPr lang="zh-CN" altLang="en-US" dirty="0" smtClean="0"/>
              <a:t>万，跳楼吧</a:t>
            </a:r>
            <a:endParaRPr lang="en-US" altLang="zh-CN" dirty="0" smtClean="0"/>
          </a:p>
        </p:txBody>
      </p:sp>
    </p:spTree>
    <p:extLst>
      <p:ext uri="{BB962C8B-B14F-4D97-AF65-F5344CB8AC3E}">
        <p14:creationId xmlns:p14="http://schemas.microsoft.com/office/powerpoint/2010/main" val="300882260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例子</a:t>
            </a:r>
          </a:p>
        </p:txBody>
      </p:sp>
      <p:sp>
        <p:nvSpPr>
          <p:cNvPr id="3" name="内容占位符 2"/>
          <p:cNvSpPr>
            <a:spLocks noGrp="1"/>
          </p:cNvSpPr>
          <p:nvPr>
            <p:ph idx="1"/>
          </p:nvPr>
        </p:nvSpPr>
        <p:spPr>
          <a:xfrm>
            <a:off x="838199" y="1825626"/>
            <a:ext cx="10904621" cy="2313238"/>
          </a:xfrm>
        </p:spPr>
        <p:txBody>
          <a:bodyPr/>
          <a:lstStyle/>
          <a:p>
            <a:pPr lvl="1"/>
            <a:r>
              <a:rPr lang="zh-CN" altLang="en-US" dirty="0"/>
              <a:t>考虑两家公司，其区别只有</a:t>
            </a:r>
            <a:r>
              <a:rPr lang="en-US" altLang="zh-CN" dirty="0" err="1"/>
              <a:t>Nodebt</a:t>
            </a:r>
            <a:r>
              <a:rPr lang="zh-CN" altLang="en-US" dirty="0"/>
              <a:t>公司的资金全部</a:t>
            </a:r>
            <a:r>
              <a:rPr lang="zh-CN" altLang="en-US" dirty="0" smtClean="0"/>
              <a:t>来自于股本</a:t>
            </a:r>
            <a:r>
              <a:rPr lang="en-US" altLang="zh-CN" dirty="0" smtClean="0"/>
              <a:t> </a:t>
            </a:r>
            <a:r>
              <a:rPr lang="en-US" altLang="zh-CN" dirty="0"/>
              <a:t>$1,000,000 ， </a:t>
            </a:r>
            <a:r>
              <a:rPr lang="en-US" altLang="zh-CN" dirty="0" err="1"/>
              <a:t>Halfdebt</a:t>
            </a:r>
            <a:r>
              <a:rPr lang="en-US" altLang="zh-CN" dirty="0"/>
              <a:t> </a:t>
            </a:r>
            <a:r>
              <a:rPr lang="zh-CN" altLang="en-US" dirty="0"/>
              <a:t>公司的资金</a:t>
            </a:r>
            <a:r>
              <a:rPr lang="en-US" altLang="zh-CN" dirty="0"/>
              <a:t> $500,000 </a:t>
            </a:r>
            <a:r>
              <a:rPr lang="zh-CN" altLang="en-US" dirty="0"/>
              <a:t>来自于股本，</a:t>
            </a:r>
            <a:r>
              <a:rPr lang="en-US" altLang="zh-CN" dirty="0"/>
              <a:t> $500,000 </a:t>
            </a:r>
            <a:r>
              <a:rPr lang="zh-CN" altLang="en-US" dirty="0"/>
              <a:t>来自于债务。</a:t>
            </a:r>
            <a:endParaRPr lang="en-US" altLang="zh-CN" dirty="0"/>
          </a:p>
          <a:p>
            <a:pPr lvl="1"/>
            <a:r>
              <a:rPr lang="zh-CN" altLang="en-US" dirty="0"/>
              <a:t>假设两家公司的营业收入（</a:t>
            </a:r>
            <a:r>
              <a:rPr lang="en-US" altLang="zh-CN" dirty="0"/>
              <a:t> </a:t>
            </a:r>
            <a:r>
              <a:rPr lang="zh-CN" altLang="en-US" dirty="0" smtClean="0"/>
              <a:t>息税前利润，</a:t>
            </a:r>
            <a:r>
              <a:rPr lang="en-US" altLang="zh-CN" dirty="0" smtClean="0"/>
              <a:t>EBIT</a:t>
            </a:r>
            <a:r>
              <a:rPr lang="en-US" altLang="zh-CN" dirty="0"/>
              <a:t>）</a:t>
            </a:r>
            <a:r>
              <a:rPr lang="zh-CN" altLang="en-US" dirty="0"/>
              <a:t>同样为</a:t>
            </a:r>
            <a:r>
              <a:rPr lang="en-US" altLang="zh-CN" dirty="0"/>
              <a:t> $120,000 ，</a:t>
            </a:r>
            <a:r>
              <a:rPr lang="zh-CN" altLang="en-US" dirty="0"/>
              <a:t>即资产收益率为</a:t>
            </a:r>
            <a:r>
              <a:rPr lang="en-US" altLang="zh-CN" dirty="0"/>
              <a:t>12%</a:t>
            </a:r>
            <a:r>
              <a:rPr lang="zh-CN" altLang="en-US" dirty="0"/>
              <a:t>。</a:t>
            </a:r>
          </a:p>
          <a:p>
            <a:pPr lvl="1"/>
            <a:r>
              <a:rPr lang="zh-CN" altLang="en-US" dirty="0"/>
              <a:t>公司税率同样为</a:t>
            </a:r>
            <a:r>
              <a:rPr lang="en-US" altLang="zh-CN" dirty="0"/>
              <a:t> 40</a:t>
            </a:r>
            <a:r>
              <a:rPr lang="en-US" altLang="zh-CN" dirty="0" smtClean="0"/>
              <a:t>%。</a:t>
            </a:r>
            <a:endParaRPr lang="en-US" altLang="zh-CN" dirty="0"/>
          </a:p>
        </p:txBody>
      </p:sp>
    </p:spTree>
    <p:extLst>
      <p:ext uri="{BB962C8B-B14F-4D97-AF65-F5344CB8AC3E}">
        <p14:creationId xmlns:p14="http://schemas.microsoft.com/office/powerpoint/2010/main" val="423939786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28A50B03-C677-48A4-92FA-EE2A0B5B3712}" type="slidenum">
              <a:rPr lang="zh-CN" altLang="en-US"/>
              <a:pPr/>
              <a:t>68</a:t>
            </a:fld>
            <a:endParaRPr lang="en-US" altLang="zh-CN"/>
          </a:p>
        </p:txBody>
      </p:sp>
      <p:sp>
        <p:nvSpPr>
          <p:cNvPr id="77826" name="Rectangle 2"/>
          <p:cNvSpPr>
            <a:spLocks noGrp="1" noChangeArrowheads="1"/>
          </p:cNvSpPr>
          <p:nvPr>
            <p:ph type="title"/>
          </p:nvPr>
        </p:nvSpPr>
        <p:spPr/>
        <p:txBody>
          <a:bodyPr/>
          <a:lstStyle/>
          <a:p>
            <a:pPr algn="ctr"/>
            <a:r>
              <a:rPr lang="en-US" altLang="zh-CN" dirty="0"/>
              <a:t>Case: </a:t>
            </a:r>
            <a:r>
              <a:rPr lang="zh-CN" altLang="en-US" dirty="0"/>
              <a:t>借款利率为 10%</a:t>
            </a:r>
          </a:p>
        </p:txBody>
      </p:sp>
      <p:graphicFrame>
        <p:nvGraphicFramePr>
          <p:cNvPr id="77827" name="Object 3"/>
          <p:cNvGraphicFramePr>
            <a:graphicFrameLocks noChangeAspect="1"/>
          </p:cNvGraphicFramePr>
          <p:nvPr/>
        </p:nvGraphicFramePr>
        <p:xfrm>
          <a:off x="2362201" y="1828801"/>
          <a:ext cx="7413625" cy="3552825"/>
        </p:xfrm>
        <a:graphic>
          <a:graphicData uri="http://schemas.openxmlformats.org/presentationml/2006/ole">
            <mc:AlternateContent xmlns:mc="http://schemas.openxmlformats.org/markup-compatibility/2006">
              <mc:Choice xmlns:v="urn:schemas-microsoft-com:vml" Requires="v">
                <p:oleObj spid="_x0000_s9293" name="Worksheet" r:id="rId3" imgW="9001489" imgH="3515260" progId="Excel.Sheet.8">
                  <p:embed/>
                </p:oleObj>
              </mc:Choice>
              <mc:Fallback>
                <p:oleObj name="Worksheet" r:id="rId3" imgW="9001489" imgH="3515260"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1" y="1828801"/>
                        <a:ext cx="7413625" cy="355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1561451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8300D5C6-02CA-48BE-8DB0-A27CF50D523D}" type="slidenum">
              <a:rPr lang="zh-CN" altLang="en-US"/>
              <a:pPr/>
              <a:t>69</a:t>
            </a:fld>
            <a:endParaRPr lang="en-US" altLang="zh-CN"/>
          </a:p>
        </p:txBody>
      </p:sp>
      <p:sp>
        <p:nvSpPr>
          <p:cNvPr id="78850" name="Rectangle 2"/>
          <p:cNvSpPr>
            <a:spLocks noGrp="1" noChangeArrowheads="1"/>
          </p:cNvSpPr>
          <p:nvPr>
            <p:ph type="title"/>
          </p:nvPr>
        </p:nvSpPr>
        <p:spPr/>
        <p:txBody>
          <a:bodyPr/>
          <a:lstStyle/>
          <a:p>
            <a:pPr algn="ctr"/>
            <a:r>
              <a:rPr lang="en-US" altLang="zh-CN" dirty="0"/>
              <a:t>Case: </a:t>
            </a:r>
            <a:r>
              <a:rPr lang="zh-CN" altLang="en-US" dirty="0"/>
              <a:t>借款利率为 15%</a:t>
            </a:r>
          </a:p>
        </p:txBody>
      </p:sp>
      <p:graphicFrame>
        <p:nvGraphicFramePr>
          <p:cNvPr id="78851" name="Object 3"/>
          <p:cNvGraphicFramePr>
            <a:graphicFrameLocks noChangeAspect="1"/>
          </p:cNvGraphicFramePr>
          <p:nvPr/>
        </p:nvGraphicFramePr>
        <p:xfrm>
          <a:off x="2362201" y="1828801"/>
          <a:ext cx="7413625" cy="3552825"/>
        </p:xfrm>
        <a:graphic>
          <a:graphicData uri="http://schemas.openxmlformats.org/presentationml/2006/ole">
            <mc:AlternateContent xmlns:mc="http://schemas.openxmlformats.org/markup-compatibility/2006">
              <mc:Choice xmlns:v="urn:schemas-microsoft-com:vml" Requires="v">
                <p:oleObj spid="_x0000_s10317" name="Worksheet" r:id="rId3" imgW="9001489" imgH="3515260" progId="Excel.Sheet.8">
                  <p:embed/>
                </p:oleObj>
              </mc:Choice>
              <mc:Fallback>
                <p:oleObj name="Worksheet" r:id="rId3" imgW="9001489" imgH="3515260"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1" y="1828801"/>
                        <a:ext cx="7413625" cy="355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0734861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fld id="{B5366198-D651-4645-BB9F-D828D8EFC8DB}" type="slidenum">
              <a:rPr lang="zh-CN" altLang="en-US"/>
              <a:pPr/>
              <a:t>70</a:t>
            </a:fld>
            <a:endParaRPr lang="en-US" altLang="zh-CN"/>
          </a:p>
        </p:txBody>
      </p:sp>
      <p:sp>
        <p:nvSpPr>
          <p:cNvPr id="79874" name="Rectangle 2"/>
          <p:cNvSpPr>
            <a:spLocks noGrp="1" noChangeArrowheads="1"/>
          </p:cNvSpPr>
          <p:nvPr>
            <p:ph type="title"/>
          </p:nvPr>
        </p:nvSpPr>
        <p:spPr/>
        <p:txBody>
          <a:bodyPr>
            <a:normAutofit/>
          </a:bodyPr>
          <a:lstStyle/>
          <a:p>
            <a:pPr algn="ctr"/>
            <a:r>
              <a:rPr lang="en-US" altLang="zh-CN" sz="3500" dirty="0"/>
              <a:t>Case: </a:t>
            </a:r>
            <a:r>
              <a:rPr lang="zh-CN" altLang="en-US" sz="3500" dirty="0"/>
              <a:t>借款利率为 10%:商业周期对</a:t>
            </a:r>
            <a:r>
              <a:rPr lang="en-US" altLang="zh-CN" sz="3500" dirty="0"/>
              <a:t> ROE</a:t>
            </a:r>
            <a:r>
              <a:rPr lang="zh-CN" altLang="en-US" sz="3500" dirty="0"/>
              <a:t>的影响</a:t>
            </a:r>
          </a:p>
        </p:txBody>
      </p:sp>
      <p:graphicFrame>
        <p:nvGraphicFramePr>
          <p:cNvPr id="79875" name="Object 3"/>
          <p:cNvGraphicFramePr>
            <a:graphicFrameLocks noChangeAspect="1"/>
          </p:cNvGraphicFramePr>
          <p:nvPr>
            <p:extLst>
              <p:ext uri="{D42A27DB-BD31-4B8C-83A1-F6EECF244321}">
                <p14:modId xmlns:p14="http://schemas.microsoft.com/office/powerpoint/2010/main" val="1417246034"/>
              </p:ext>
            </p:extLst>
          </p:nvPr>
        </p:nvGraphicFramePr>
        <p:xfrm>
          <a:off x="2895600" y="2819400"/>
          <a:ext cx="6353175" cy="1852613"/>
        </p:xfrm>
        <a:graphic>
          <a:graphicData uri="http://schemas.openxmlformats.org/presentationml/2006/ole">
            <mc:AlternateContent xmlns:mc="http://schemas.openxmlformats.org/markup-compatibility/2006">
              <mc:Choice xmlns:v="urn:schemas-microsoft-com:vml" Requires="v">
                <p:oleObj spid="_x0000_s11341" name="工作表" r:id="rId3" imgW="7746852" imgH="2304919" progId="Excel.Sheet.8">
                  <p:embed/>
                </p:oleObj>
              </mc:Choice>
              <mc:Fallback>
                <p:oleObj name="工作表" r:id="rId3" imgW="7746852" imgH="2304919" progId="Excel.Sheet.8">
                  <p:embed/>
                  <p:pic>
                    <p:nvPicPr>
                      <p:cNvPr id="0" name=""/>
                      <p:cNvPicPr>
                        <a:picLocks noChangeAspect="1" noChangeArrowheads="1"/>
                      </p:cNvPicPr>
                      <p:nvPr/>
                    </p:nvPicPr>
                    <p:blipFill>
                      <a:blip r:embed="rId4"/>
                      <a:srcRect/>
                      <a:stretch>
                        <a:fillRect/>
                      </a:stretch>
                    </p:blipFill>
                    <p:spPr bwMode="auto">
                      <a:xfrm>
                        <a:off x="2895600" y="2819400"/>
                        <a:ext cx="6353175" cy="185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7966106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lang="en-US" altLang="zh-CN" dirty="0" smtClean="0"/>
              <a:t>3.6.3 </a:t>
            </a:r>
            <a:r>
              <a:rPr lang="zh-CN" altLang="en-US" dirty="0" smtClean="0"/>
              <a:t>财务比率分析的局限性</a:t>
            </a:r>
            <a:endParaRPr lang="zh-CN" altLang="en-US" dirty="0"/>
          </a:p>
        </p:txBody>
      </p:sp>
      <p:sp>
        <p:nvSpPr>
          <p:cNvPr id="4" name="内容占位符 3"/>
          <p:cNvSpPr>
            <a:spLocks noGrp="1"/>
          </p:cNvSpPr>
          <p:nvPr>
            <p:ph idx="1"/>
          </p:nvPr>
        </p:nvSpPr>
        <p:spPr/>
        <p:txBody>
          <a:bodyPr/>
          <a:lstStyle/>
          <a:p>
            <a:r>
              <a:rPr lang="zh-CN" altLang="en-US" dirty="0" smtClean="0"/>
              <a:t>比较基准难找</a:t>
            </a:r>
            <a:endParaRPr lang="en-US" altLang="zh-CN" dirty="0" smtClean="0"/>
          </a:p>
          <a:p>
            <a:pPr lvl="1"/>
            <a:r>
              <a:rPr lang="zh-CN" altLang="en-US" dirty="0" smtClean="0"/>
              <a:t>阿里巴巴 </a:t>
            </a:r>
            <a:r>
              <a:rPr lang="en-US" altLang="zh-CN" dirty="0" smtClean="0"/>
              <a:t>PK </a:t>
            </a:r>
            <a:r>
              <a:rPr lang="zh-CN" altLang="en-US" dirty="0" smtClean="0"/>
              <a:t>京东？</a:t>
            </a:r>
            <a:endParaRPr lang="en-US" altLang="zh-CN" dirty="0" smtClean="0"/>
          </a:p>
          <a:p>
            <a:pPr lvl="1"/>
            <a:r>
              <a:rPr lang="zh-CN" altLang="en-US" dirty="0" smtClean="0"/>
              <a:t>阿里巴巴</a:t>
            </a:r>
            <a:r>
              <a:rPr lang="en-US" altLang="zh-CN" dirty="0"/>
              <a:t> </a:t>
            </a:r>
            <a:r>
              <a:rPr lang="en-US" altLang="zh-CN" dirty="0" smtClean="0"/>
              <a:t>PK </a:t>
            </a:r>
            <a:r>
              <a:rPr lang="zh-CN" altLang="en-US" dirty="0" smtClean="0"/>
              <a:t>亚马逊？</a:t>
            </a:r>
            <a:endParaRPr lang="en-US" altLang="zh-CN" dirty="0" smtClean="0"/>
          </a:p>
          <a:p>
            <a:pPr lvl="1"/>
            <a:r>
              <a:rPr lang="zh-CN" altLang="en-US" dirty="0" smtClean="0"/>
              <a:t>阿里巴巴 </a:t>
            </a:r>
            <a:r>
              <a:rPr lang="en-US" altLang="zh-CN" dirty="0" smtClean="0"/>
              <a:t>PK </a:t>
            </a:r>
            <a:r>
              <a:rPr lang="zh-CN" altLang="en-US" dirty="0" smtClean="0"/>
              <a:t>腾讯？</a:t>
            </a:r>
            <a:endParaRPr lang="en-US" altLang="zh-CN" dirty="0" smtClean="0"/>
          </a:p>
          <a:p>
            <a:endParaRPr lang="en-US" altLang="zh-CN" dirty="0"/>
          </a:p>
          <a:p>
            <a:r>
              <a:rPr lang="zh-CN" altLang="en-US" dirty="0" smtClean="0"/>
              <a:t>财务比率主要基于会计数据，会计数据本身有缺陷</a:t>
            </a:r>
            <a:endParaRPr lang="zh-CN" altLang="en-US" dirty="0"/>
          </a:p>
        </p:txBody>
      </p:sp>
    </p:spTree>
    <p:extLst>
      <p:ext uri="{BB962C8B-B14F-4D97-AF65-F5344CB8AC3E}">
        <p14:creationId xmlns:p14="http://schemas.microsoft.com/office/powerpoint/2010/main" val="36757421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3.7 </a:t>
            </a:r>
            <a:r>
              <a:rPr lang="zh-CN" altLang="en-US" dirty="0"/>
              <a:t>财务规划</a:t>
            </a:r>
            <a:r>
              <a:rPr lang="zh-CN" altLang="en-US" dirty="0" smtClean="0"/>
              <a:t>过程</a:t>
            </a:r>
            <a:endParaRPr lang="zh-CN" altLang="en-US" dirty="0"/>
          </a:p>
        </p:txBody>
      </p:sp>
      <p:sp>
        <p:nvSpPr>
          <p:cNvPr id="3" name="内容占位符 2"/>
          <p:cNvSpPr>
            <a:spLocks noGrp="1"/>
          </p:cNvSpPr>
          <p:nvPr>
            <p:ph idx="1"/>
          </p:nvPr>
        </p:nvSpPr>
        <p:spPr/>
        <p:txBody>
          <a:bodyPr>
            <a:normAutofit fontScale="92500"/>
          </a:bodyPr>
          <a:lstStyle/>
          <a:p>
            <a:r>
              <a:rPr lang="en-US" altLang="zh-CN" dirty="0"/>
              <a:t>Financial planning is a </a:t>
            </a:r>
            <a:r>
              <a:rPr lang="en-US" altLang="zh-CN" i="1" dirty="0"/>
              <a:t>dynamic</a:t>
            </a:r>
            <a:r>
              <a:rPr lang="en-US" altLang="zh-CN" dirty="0"/>
              <a:t> process that follows a cycle of making plans, implementing them, and revising them in the light of actual results</a:t>
            </a:r>
          </a:p>
          <a:p>
            <a:r>
              <a:rPr lang="en-US" altLang="zh-CN" dirty="0"/>
              <a:t>Starting point is the strategic plan</a:t>
            </a:r>
          </a:p>
          <a:p>
            <a:pPr lvl="1">
              <a:lnSpc>
                <a:spcPct val="95000"/>
              </a:lnSpc>
              <a:spcBef>
                <a:spcPct val="35000"/>
              </a:spcBef>
            </a:pPr>
            <a:r>
              <a:rPr lang="en-US" altLang="zh-CN" dirty="0"/>
              <a:t>Strategy guides the financial planning process by establishing overall business development guidelines and growth targets</a:t>
            </a:r>
          </a:p>
          <a:p>
            <a:pPr lvl="1">
              <a:lnSpc>
                <a:spcPct val="95000"/>
              </a:lnSpc>
              <a:spcBef>
                <a:spcPct val="35000"/>
              </a:spcBef>
            </a:pPr>
            <a:r>
              <a:rPr lang="en-US" altLang="zh-CN" dirty="0"/>
              <a:t>Which businesses does the firm want to </a:t>
            </a:r>
          </a:p>
          <a:p>
            <a:pPr lvl="2"/>
            <a:r>
              <a:rPr lang="en-US" altLang="zh-CN" dirty="0"/>
              <a:t>enter</a:t>
            </a:r>
          </a:p>
          <a:p>
            <a:pPr lvl="2"/>
            <a:r>
              <a:rPr lang="en-US" altLang="zh-CN" dirty="0"/>
              <a:t>expand</a:t>
            </a:r>
          </a:p>
          <a:p>
            <a:pPr lvl="2"/>
            <a:r>
              <a:rPr lang="en-US" altLang="zh-CN" dirty="0"/>
              <a:t>contract</a:t>
            </a:r>
          </a:p>
          <a:p>
            <a:pPr lvl="2"/>
            <a:r>
              <a:rPr lang="en-US" altLang="zh-CN" dirty="0"/>
              <a:t>exit</a:t>
            </a:r>
          </a:p>
          <a:p>
            <a:pPr lvl="1">
              <a:lnSpc>
                <a:spcPct val="95000"/>
              </a:lnSpc>
              <a:spcBef>
                <a:spcPct val="35000"/>
              </a:spcBef>
            </a:pPr>
            <a:r>
              <a:rPr lang="en-US" altLang="zh-CN" dirty="0"/>
              <a:t>and how quickly?</a:t>
            </a:r>
          </a:p>
          <a:p>
            <a:endParaRPr lang="zh-CN" altLang="en-US" dirty="0"/>
          </a:p>
        </p:txBody>
      </p:sp>
    </p:spTree>
    <p:extLst>
      <p:ext uri="{BB962C8B-B14F-4D97-AF65-F5344CB8AC3E}">
        <p14:creationId xmlns:p14="http://schemas.microsoft.com/office/powerpoint/2010/main" val="251628030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Length of the planning horizon</a:t>
            </a:r>
          </a:p>
          <a:p>
            <a:pPr lvl="1">
              <a:lnSpc>
                <a:spcPct val="95000"/>
              </a:lnSpc>
              <a:spcBef>
                <a:spcPct val="35000"/>
              </a:spcBef>
            </a:pPr>
            <a:r>
              <a:rPr lang="en-US" altLang="zh-CN" dirty="0"/>
              <a:t>The longer the financial plan, the less detailed it should be (in general)</a:t>
            </a:r>
          </a:p>
          <a:p>
            <a:pPr lvl="1">
              <a:lnSpc>
                <a:spcPct val="95000"/>
              </a:lnSpc>
              <a:spcBef>
                <a:spcPct val="35000"/>
              </a:spcBef>
            </a:pPr>
            <a:r>
              <a:rPr lang="en-US" altLang="zh-CN" dirty="0"/>
              <a:t>The revision of a financial plan is generally a function of the length of the planning horizon</a:t>
            </a:r>
          </a:p>
          <a:p>
            <a:pPr lvl="2"/>
            <a:r>
              <a:rPr lang="en-US" altLang="zh-CN" dirty="0"/>
              <a:t>Short-term plans are revised frequently, long-term plans are revised much less frequently</a:t>
            </a:r>
          </a:p>
          <a:p>
            <a:endParaRPr lang="zh-CN" altLang="en-US" dirty="0"/>
          </a:p>
        </p:txBody>
      </p:sp>
    </p:spTree>
    <p:extLst>
      <p:ext uri="{BB962C8B-B14F-4D97-AF65-F5344CB8AC3E}">
        <p14:creationId xmlns:p14="http://schemas.microsoft.com/office/powerpoint/2010/main" val="139134219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The financial planning horizon may be broken down into several steps:</a:t>
            </a:r>
          </a:p>
          <a:p>
            <a:pPr lvl="1">
              <a:lnSpc>
                <a:spcPct val="95000"/>
              </a:lnSpc>
              <a:spcBef>
                <a:spcPct val="35000"/>
              </a:spcBef>
            </a:pPr>
            <a:r>
              <a:rPr lang="en-US" altLang="zh-CN" dirty="0"/>
              <a:t>Management forecasts the key external factors, including level of economic activity, inflation, interest rates, and the competition’s output and prices</a:t>
            </a:r>
          </a:p>
          <a:p>
            <a:pPr lvl="1">
              <a:lnSpc>
                <a:spcPct val="95000"/>
              </a:lnSpc>
              <a:spcBef>
                <a:spcPct val="35000"/>
              </a:spcBef>
            </a:pPr>
            <a:r>
              <a:rPr lang="en-US" altLang="zh-CN" dirty="0"/>
              <a:t>Based on above, they next forecast revenues, expenses, cash flows, and implied need for external </a:t>
            </a:r>
            <a:r>
              <a:rPr lang="en-US" altLang="zh-CN" dirty="0" smtClean="0"/>
              <a:t>financing</a:t>
            </a:r>
          </a:p>
          <a:p>
            <a:pPr lvl="1">
              <a:lnSpc>
                <a:spcPct val="95000"/>
              </a:lnSpc>
              <a:spcBef>
                <a:spcPct val="35000"/>
              </a:spcBef>
            </a:pPr>
            <a:r>
              <a:rPr lang="en-US" altLang="zh-CN" dirty="0"/>
              <a:t>Specific performance targets are generated for the divisions, functions and key individuals  of the firm</a:t>
            </a:r>
          </a:p>
          <a:p>
            <a:pPr lvl="1">
              <a:lnSpc>
                <a:spcPct val="95000"/>
              </a:lnSpc>
              <a:spcBef>
                <a:spcPct val="35000"/>
              </a:spcBef>
            </a:pPr>
            <a:r>
              <a:rPr lang="en-US" altLang="zh-CN" dirty="0"/>
              <a:t>Periodic measurements of performance are made, and compared to the plan in order to correct either the plan or performance</a:t>
            </a:r>
          </a:p>
          <a:p>
            <a:pPr lvl="1">
              <a:lnSpc>
                <a:spcPct val="95000"/>
              </a:lnSpc>
              <a:spcBef>
                <a:spcPct val="35000"/>
              </a:spcBef>
            </a:pPr>
            <a:r>
              <a:rPr lang="en-US" altLang="zh-CN" dirty="0"/>
              <a:t>Periodically, key personnel are counseled, rewarded or punished, and a new iteration is instigated</a:t>
            </a:r>
          </a:p>
          <a:p>
            <a:pPr lvl="1">
              <a:lnSpc>
                <a:spcPct val="95000"/>
              </a:lnSpc>
              <a:spcBef>
                <a:spcPct val="35000"/>
              </a:spcBef>
            </a:pPr>
            <a:endParaRPr lang="en-US" altLang="zh-CN" dirty="0"/>
          </a:p>
          <a:p>
            <a:endParaRPr lang="zh-CN" altLang="en-US" dirty="0"/>
          </a:p>
        </p:txBody>
      </p:sp>
    </p:spTree>
    <p:extLst>
      <p:ext uri="{BB962C8B-B14F-4D97-AF65-F5344CB8AC3E}">
        <p14:creationId xmlns:p14="http://schemas.microsoft.com/office/powerpoint/2010/main" val="372532550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3.8 </a:t>
            </a:r>
            <a:r>
              <a:rPr lang="zh-CN" altLang="en-US" dirty="0" smtClean="0"/>
              <a:t>财务规划建模</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最简单情形，基于下一年的销售收入预测来建模，具体而言，遵循如下步骤</a:t>
            </a:r>
            <a:endParaRPr lang="en-US" altLang="zh-CN" dirty="0" smtClean="0"/>
          </a:p>
          <a:p>
            <a:pPr lvl="1"/>
            <a:r>
              <a:rPr lang="zh-CN" altLang="en-US" dirty="0" smtClean="0"/>
              <a:t>第一步，</a:t>
            </a:r>
            <a:r>
              <a:rPr lang="zh-CN" altLang="en-US" dirty="0"/>
              <a:t>基于过去的财务数据，确定损益表和资产负债表的哪些科目与销售收入保持固定比率关系</a:t>
            </a:r>
          </a:p>
          <a:p>
            <a:pPr lvl="1"/>
            <a:r>
              <a:rPr lang="zh-CN" altLang="en-US" dirty="0"/>
              <a:t>第二</a:t>
            </a:r>
            <a:r>
              <a:rPr lang="zh-CN" altLang="en-US" dirty="0" smtClean="0"/>
              <a:t>步，预测下一年的销售收入</a:t>
            </a:r>
            <a:endParaRPr lang="en-US" altLang="zh-CN" dirty="0" smtClean="0"/>
          </a:p>
          <a:p>
            <a:pPr lvl="1"/>
            <a:r>
              <a:rPr lang="zh-CN" altLang="en-US" dirty="0" smtClean="0"/>
              <a:t>第三步，预测损益表与资产负债表的那些与销售收入保持固定比率的项目的下一年预测值</a:t>
            </a:r>
            <a:endParaRPr lang="en-US" altLang="zh-CN" dirty="0" smtClean="0"/>
          </a:p>
          <a:p>
            <a:pPr lvl="1"/>
            <a:r>
              <a:rPr lang="zh-CN" altLang="en-US" dirty="0" smtClean="0"/>
              <a:t>第四步，填充损益表与资产负债表剩余项目</a:t>
            </a:r>
            <a:endParaRPr lang="en-US" altLang="zh-CN" dirty="0" smtClean="0"/>
          </a:p>
          <a:p>
            <a:pPr lvl="2"/>
            <a:r>
              <a:rPr lang="zh-CN" altLang="en-US" dirty="0" smtClean="0"/>
              <a:t>基于借款合同的利率计算利息费用</a:t>
            </a:r>
            <a:endParaRPr lang="en-US" altLang="zh-CN" dirty="0" smtClean="0"/>
          </a:p>
          <a:p>
            <a:pPr lvl="2"/>
            <a:r>
              <a:rPr lang="zh-CN" altLang="en-US" dirty="0" smtClean="0"/>
              <a:t>基于分红比率（</a:t>
            </a:r>
            <a:r>
              <a:rPr lang="en-US" altLang="zh-CN" dirty="0" smtClean="0"/>
              <a:t>1-</a:t>
            </a:r>
            <a:r>
              <a:rPr lang="zh-CN" altLang="en-US" dirty="0" smtClean="0"/>
              <a:t>留存收益比率）计算红利，从而计算留存收益</a:t>
            </a:r>
            <a:endParaRPr lang="en-US" altLang="zh-CN" dirty="0" smtClean="0"/>
          </a:p>
          <a:p>
            <a:pPr lvl="2"/>
            <a:r>
              <a:rPr lang="zh-CN" altLang="en-US" dirty="0" smtClean="0"/>
              <a:t>期初的股东权益加上本期的留存收益得到本期末的股东权益</a:t>
            </a:r>
            <a:endParaRPr lang="en-US" altLang="zh-CN" dirty="0" smtClean="0"/>
          </a:p>
          <a:p>
            <a:pPr lvl="2"/>
            <a:r>
              <a:rPr lang="zh-CN" altLang="en-US" dirty="0" smtClean="0"/>
              <a:t>计算外部融资需求，得到短期负债余额（假定长期负债不变）</a:t>
            </a:r>
            <a:endParaRPr lang="zh-CN" altLang="en-US" dirty="0"/>
          </a:p>
        </p:txBody>
      </p:sp>
    </p:spTree>
    <p:extLst>
      <p:ext uri="{BB962C8B-B14F-4D97-AF65-F5344CB8AC3E}">
        <p14:creationId xmlns:p14="http://schemas.microsoft.com/office/powerpoint/2010/main" val="407032215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例子</a:t>
            </a:r>
            <a:endParaRPr lang="zh-CN" altLang="en-US" dirty="0"/>
          </a:p>
        </p:txBody>
      </p:sp>
      <p:sp>
        <p:nvSpPr>
          <p:cNvPr id="3" name="内容占位符 2"/>
          <p:cNvSpPr>
            <a:spLocks noGrp="1"/>
          </p:cNvSpPr>
          <p:nvPr>
            <p:ph idx="1"/>
          </p:nvPr>
        </p:nvSpPr>
        <p:spPr/>
        <p:txBody>
          <a:bodyPr>
            <a:normAutofit/>
          </a:bodyPr>
          <a:lstStyle/>
          <a:p>
            <a:r>
              <a:rPr lang="zh-CN" altLang="en-US" sz="2000" dirty="0" smtClean="0"/>
              <a:t>基于过去三年的损益表与资产负债表，找出哪些项目与销售收入成固定比率</a:t>
            </a:r>
            <a:endParaRPr lang="en-US" altLang="zh-CN" sz="2000" dirty="0" smtClean="0"/>
          </a:p>
          <a:p>
            <a:pPr lvl="1"/>
            <a:r>
              <a:rPr lang="zh-CN" altLang="en-US" sz="2000" dirty="0" smtClean="0"/>
              <a:t>如期末总资产等于当期销售收入的</a:t>
            </a:r>
            <a:r>
              <a:rPr lang="en-US" altLang="zh-CN" sz="2000" dirty="0" smtClean="0"/>
              <a:t>3.6</a:t>
            </a:r>
            <a:r>
              <a:rPr lang="zh-CN" altLang="en-US" sz="2000" dirty="0" smtClean="0"/>
              <a:t>倍</a:t>
            </a:r>
            <a:endParaRPr lang="en-US" altLang="zh-CN" sz="2000" dirty="0" smtClean="0"/>
          </a:p>
          <a:p>
            <a:r>
              <a:rPr lang="zh-CN" altLang="en-US" sz="2000" dirty="0" smtClean="0"/>
              <a:t>基于过去三年的数据，通用产品公司销售收入年增长率</a:t>
            </a:r>
            <a:r>
              <a:rPr lang="en-US" altLang="zh-CN" sz="2000" dirty="0" smtClean="0"/>
              <a:t>20%</a:t>
            </a:r>
            <a:r>
              <a:rPr lang="zh-CN" altLang="en-US" sz="2000" dirty="0" smtClean="0"/>
              <a:t>，进而预测下一年的销售收入为</a:t>
            </a:r>
            <a:r>
              <a:rPr lang="en-US" altLang="zh-CN" sz="2000" dirty="0" smtClean="0"/>
              <a:t>34 560</a:t>
            </a:r>
            <a:r>
              <a:rPr lang="zh-CN" altLang="en-US" sz="2000" dirty="0" smtClean="0"/>
              <a:t>万美元</a:t>
            </a:r>
            <a:endParaRPr lang="en-US" altLang="zh-CN" sz="2000" dirty="0" smtClean="0"/>
          </a:p>
          <a:p>
            <a:r>
              <a:rPr lang="zh-CN" altLang="en-US" sz="2000" dirty="0" smtClean="0"/>
              <a:t>对于与销售收入成固定比率的项目，预测下一年的数据</a:t>
            </a:r>
            <a:endParaRPr lang="en-US" altLang="zh-CN" sz="2000" dirty="0" smtClean="0"/>
          </a:p>
          <a:p>
            <a:r>
              <a:rPr lang="zh-CN" altLang="en-US" sz="2000" dirty="0" smtClean="0"/>
              <a:t>其它项目</a:t>
            </a:r>
            <a:endParaRPr lang="en-US" altLang="zh-CN" sz="2000" dirty="0" smtClean="0"/>
          </a:p>
          <a:p>
            <a:pPr lvl="1"/>
            <a:r>
              <a:rPr lang="zh-CN" altLang="en-US" sz="2000" dirty="0" smtClean="0"/>
              <a:t>利息费用：期初短期负债余额</a:t>
            </a:r>
            <a:r>
              <a:rPr lang="en-US" altLang="zh-CN" sz="2000" dirty="0" smtClean="0"/>
              <a:t>*15% + </a:t>
            </a:r>
            <a:r>
              <a:rPr lang="zh-CN" altLang="en-US" sz="2000" dirty="0" smtClean="0"/>
              <a:t>期初长期负债余额 </a:t>
            </a:r>
            <a:r>
              <a:rPr lang="en-US" altLang="zh-CN" sz="2000" dirty="0" smtClean="0"/>
              <a:t>* 8%</a:t>
            </a:r>
          </a:p>
          <a:p>
            <a:pPr lvl="1"/>
            <a:r>
              <a:rPr lang="zh-CN" altLang="en-US" sz="2000" dirty="0" smtClean="0"/>
              <a:t>企业所得税率：</a:t>
            </a:r>
            <a:r>
              <a:rPr lang="en-US" altLang="zh-CN" sz="2000" dirty="0" smtClean="0"/>
              <a:t>40%</a:t>
            </a:r>
          </a:p>
          <a:p>
            <a:pPr lvl="1"/>
            <a:r>
              <a:rPr lang="zh-CN" altLang="en-US" sz="2000" dirty="0" smtClean="0"/>
              <a:t>分红比率：</a:t>
            </a:r>
            <a:r>
              <a:rPr lang="en-US" altLang="zh-CN" sz="2000" dirty="0" smtClean="0"/>
              <a:t>30%</a:t>
            </a:r>
          </a:p>
          <a:p>
            <a:pPr lvl="1"/>
            <a:r>
              <a:rPr lang="zh-CN" altLang="en-US" sz="2000" dirty="0" smtClean="0"/>
              <a:t>外部融资 </a:t>
            </a:r>
            <a:r>
              <a:rPr lang="en-US" altLang="zh-CN" sz="2000" dirty="0" smtClean="0"/>
              <a:t>= </a:t>
            </a:r>
            <a:r>
              <a:rPr lang="zh-CN" altLang="en-US" sz="2000" dirty="0" smtClean="0"/>
              <a:t>资产增加额 </a:t>
            </a:r>
            <a:r>
              <a:rPr lang="en-US" altLang="zh-CN" sz="2000" dirty="0" smtClean="0"/>
              <a:t>– </a:t>
            </a:r>
            <a:r>
              <a:rPr lang="zh-CN" altLang="en-US" sz="2000" dirty="0" smtClean="0"/>
              <a:t>股东权益增加额 </a:t>
            </a:r>
            <a:r>
              <a:rPr lang="en-US" altLang="zh-CN" sz="2000" dirty="0" smtClean="0"/>
              <a:t>– </a:t>
            </a:r>
            <a:r>
              <a:rPr lang="zh-CN" altLang="en-US" sz="2000" dirty="0" smtClean="0"/>
              <a:t>应付账款增加额</a:t>
            </a:r>
            <a:endParaRPr lang="en-US" altLang="zh-CN" sz="2000" dirty="0" smtClean="0"/>
          </a:p>
          <a:p>
            <a:pPr marL="457200" lvl="1" indent="0">
              <a:buNone/>
            </a:pPr>
            <a:r>
              <a:rPr lang="en-US" altLang="zh-CN" sz="2000" dirty="0" smtClean="0"/>
              <a:t>                       = 20 736 – 690 -1 037 =19 009</a:t>
            </a:r>
            <a:r>
              <a:rPr lang="zh-CN" altLang="en-US" sz="2000" dirty="0" smtClean="0"/>
              <a:t>万美元 </a:t>
            </a:r>
            <a:endParaRPr lang="en-US" altLang="zh-CN" sz="2000" dirty="0" smtClean="0"/>
          </a:p>
          <a:p>
            <a:pPr marL="457200" lvl="1" indent="0">
              <a:buNone/>
            </a:pPr>
            <a:r>
              <a:rPr lang="zh-CN" altLang="en-US" sz="2000" dirty="0" smtClean="0"/>
              <a:t>假定外部融资以短期负债方式解决，则短期负债增加 </a:t>
            </a:r>
            <a:r>
              <a:rPr lang="en-US" altLang="zh-CN" sz="2000" dirty="0" smtClean="0"/>
              <a:t>19 009</a:t>
            </a:r>
            <a:r>
              <a:rPr lang="zh-CN" altLang="en-US" sz="2000" dirty="0" smtClean="0"/>
              <a:t>，从</a:t>
            </a:r>
            <a:r>
              <a:rPr lang="en-US" altLang="zh-CN" sz="2000" dirty="0" smtClean="0"/>
              <a:t>50 172</a:t>
            </a:r>
            <a:r>
              <a:rPr lang="zh-CN" altLang="en-US" sz="2000" dirty="0" smtClean="0"/>
              <a:t>增加到</a:t>
            </a:r>
            <a:r>
              <a:rPr lang="en-US" altLang="zh-CN" sz="2000" dirty="0" smtClean="0"/>
              <a:t>69 181</a:t>
            </a:r>
            <a:endParaRPr lang="en-US" altLang="zh-CN" sz="2000" dirty="0"/>
          </a:p>
        </p:txBody>
      </p:sp>
    </p:spTree>
    <p:extLst>
      <p:ext uri="{BB962C8B-B14F-4D97-AF65-F5344CB8AC3E}">
        <p14:creationId xmlns:p14="http://schemas.microsoft.com/office/powerpoint/2010/main" val="44943830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96843" y="799510"/>
            <a:ext cx="4931806" cy="4561762"/>
          </a:xfrm>
          <a:prstGeom prst="rect">
            <a:avLst/>
          </a:prstGeom>
        </p:spPr>
      </p:pic>
      <p:pic>
        <p:nvPicPr>
          <p:cNvPr id="5" name="图片 4"/>
          <p:cNvPicPr>
            <a:picLocks noChangeAspect="1"/>
          </p:cNvPicPr>
          <p:nvPr/>
        </p:nvPicPr>
        <p:blipFill>
          <a:blip r:embed="rId3"/>
          <a:stretch>
            <a:fillRect/>
          </a:stretch>
        </p:blipFill>
        <p:spPr>
          <a:xfrm>
            <a:off x="6025416" y="930535"/>
            <a:ext cx="5563402" cy="4344109"/>
          </a:xfrm>
          <a:prstGeom prst="rect">
            <a:avLst/>
          </a:prstGeom>
        </p:spPr>
      </p:pic>
    </p:spTree>
    <p:extLst>
      <p:ext uri="{BB962C8B-B14F-4D97-AF65-F5344CB8AC3E}">
        <p14:creationId xmlns:p14="http://schemas.microsoft.com/office/powerpoint/2010/main" val="209169668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02130" y="1100145"/>
            <a:ext cx="5604719" cy="4001243"/>
          </a:xfrm>
          <a:prstGeom prst="rect">
            <a:avLst/>
          </a:prstGeom>
        </p:spPr>
      </p:pic>
      <p:pic>
        <p:nvPicPr>
          <p:cNvPr id="5" name="图片 4"/>
          <p:cNvPicPr>
            <a:picLocks noChangeAspect="1"/>
          </p:cNvPicPr>
          <p:nvPr/>
        </p:nvPicPr>
        <p:blipFill>
          <a:blip r:embed="rId3"/>
          <a:stretch>
            <a:fillRect/>
          </a:stretch>
        </p:blipFill>
        <p:spPr>
          <a:xfrm>
            <a:off x="6246863" y="1100146"/>
            <a:ext cx="5736589" cy="4001242"/>
          </a:xfrm>
          <a:prstGeom prst="rect">
            <a:avLst/>
          </a:prstGeom>
        </p:spPr>
      </p:pic>
    </p:spTree>
    <p:extLst>
      <p:ext uri="{BB962C8B-B14F-4D97-AF65-F5344CB8AC3E}">
        <p14:creationId xmlns:p14="http://schemas.microsoft.com/office/powerpoint/2010/main" val="401127562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3.9 </a:t>
            </a:r>
            <a:r>
              <a:rPr lang="zh-CN" altLang="en-US" dirty="0" smtClean="0"/>
              <a:t>增长与外部融资需求</a:t>
            </a:r>
            <a:endParaRPr lang="zh-CN" altLang="en-US" dirty="0"/>
          </a:p>
        </p:txBody>
      </p:sp>
      <p:sp>
        <p:nvSpPr>
          <p:cNvPr id="3" name="内容占位符 2"/>
          <p:cNvSpPr>
            <a:spLocks noGrp="1"/>
          </p:cNvSpPr>
          <p:nvPr>
            <p:ph idx="1"/>
          </p:nvPr>
        </p:nvSpPr>
        <p:spPr/>
        <p:txBody>
          <a:bodyPr/>
          <a:lstStyle/>
          <a:p>
            <a:r>
              <a:rPr lang="zh-CN" altLang="en-US" dirty="0" smtClean="0"/>
              <a:t>前述例子，如果要求下一年销售收入增长</a:t>
            </a:r>
            <a:r>
              <a:rPr lang="en-US" altLang="zh-CN" dirty="0" smtClean="0"/>
              <a:t>20%</a:t>
            </a:r>
            <a:r>
              <a:rPr lang="zh-CN" altLang="en-US" dirty="0" smtClean="0"/>
              <a:t>，就要求从外部筹措 </a:t>
            </a:r>
            <a:r>
              <a:rPr lang="en-US" altLang="zh-CN" dirty="0" smtClean="0"/>
              <a:t>19 009</a:t>
            </a:r>
            <a:r>
              <a:rPr lang="zh-CN" altLang="en-US" dirty="0" smtClean="0"/>
              <a:t>万美元的资金，前述例子是以增加短期负债方式解决（如短期银行借款）</a:t>
            </a:r>
            <a:endParaRPr lang="en-US" altLang="zh-CN" dirty="0" smtClean="0"/>
          </a:p>
          <a:p>
            <a:endParaRPr lang="en-US" altLang="zh-CN" dirty="0"/>
          </a:p>
          <a:p>
            <a:r>
              <a:rPr lang="zh-CN" altLang="en-US" dirty="0" smtClean="0"/>
              <a:t>外部融资方式</a:t>
            </a:r>
            <a:endParaRPr lang="en-US" altLang="zh-CN" dirty="0" smtClean="0"/>
          </a:p>
          <a:p>
            <a:pPr lvl="1"/>
            <a:r>
              <a:rPr lang="zh-CN" altLang="en-US" dirty="0" smtClean="0"/>
              <a:t>权益融资：发行普通股、发行优先股</a:t>
            </a:r>
            <a:endParaRPr lang="en-US" altLang="zh-CN" dirty="0" smtClean="0"/>
          </a:p>
          <a:p>
            <a:pPr lvl="1"/>
            <a:r>
              <a:rPr lang="zh-CN" altLang="en-US" dirty="0" smtClean="0"/>
              <a:t>债务融资：银行借款、公司债券</a:t>
            </a:r>
            <a:endParaRPr lang="zh-CN" altLang="en-US" dirty="0"/>
          </a:p>
        </p:txBody>
      </p:sp>
    </p:spTree>
    <p:extLst>
      <p:ext uri="{BB962C8B-B14F-4D97-AF65-F5344CB8AC3E}">
        <p14:creationId xmlns:p14="http://schemas.microsoft.com/office/powerpoint/2010/main" val="421322090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DC1F686C-1E43-459A-953E-5C867D2C9985}" type="slidenum">
              <a:rPr lang="zh-CN" altLang="en-US"/>
              <a:pPr/>
              <a:t>80</a:t>
            </a:fld>
            <a:endParaRPr lang="en-US" altLang="zh-CN"/>
          </a:p>
        </p:txBody>
      </p:sp>
      <p:pic>
        <p:nvPicPr>
          <p:cNvPr id="143362"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304800"/>
            <a:ext cx="86868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248472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741E8F1-66A7-4E9A-9BA4-684681906940}" type="slidenum">
              <a:rPr lang="zh-CN" altLang="en-US"/>
              <a:pPr/>
              <a:t>81</a:t>
            </a:fld>
            <a:endParaRPr lang="en-US" altLang="zh-CN"/>
          </a:p>
        </p:txBody>
      </p:sp>
      <p:sp>
        <p:nvSpPr>
          <p:cNvPr id="178178" name="Rectangle 2"/>
          <p:cNvSpPr>
            <a:spLocks noGrp="1" noChangeArrowheads="1"/>
          </p:cNvSpPr>
          <p:nvPr>
            <p:ph type="title"/>
          </p:nvPr>
        </p:nvSpPr>
        <p:spPr/>
        <p:txBody>
          <a:bodyPr/>
          <a:lstStyle/>
          <a:p>
            <a:pPr algn="ctr"/>
            <a:r>
              <a:rPr lang="en-US" altLang="zh-CN" dirty="0" smtClean="0"/>
              <a:t>3.9.1 </a:t>
            </a:r>
            <a:r>
              <a:rPr lang="zh-CN" altLang="en-US" dirty="0" smtClean="0"/>
              <a:t>公司</a:t>
            </a:r>
            <a:r>
              <a:rPr lang="zh-CN" altLang="en-US" dirty="0"/>
              <a:t>的可持续增长率</a:t>
            </a:r>
          </a:p>
        </p:txBody>
      </p:sp>
      <p:sp>
        <p:nvSpPr>
          <p:cNvPr id="178179" name="Rectangle 3"/>
          <p:cNvSpPr>
            <a:spLocks noGrp="1" noChangeArrowheads="1"/>
          </p:cNvSpPr>
          <p:nvPr>
            <p:ph type="body" idx="1"/>
          </p:nvPr>
        </p:nvSpPr>
        <p:spPr>
          <a:xfrm>
            <a:off x="2711450" y="1989138"/>
            <a:ext cx="7772400" cy="4114800"/>
          </a:xfrm>
        </p:spPr>
        <p:txBody>
          <a:bodyPr/>
          <a:lstStyle/>
          <a:p>
            <a:r>
              <a:rPr lang="zh-CN" altLang="en-US"/>
              <a:t>公司可持续增长率（外部融资受阻时）</a:t>
            </a:r>
          </a:p>
          <a:p>
            <a:r>
              <a:rPr lang="zh-CN" altLang="en-US"/>
              <a:t>　　＝留存收益率</a:t>
            </a:r>
            <a:r>
              <a:rPr lang="en-US" altLang="zh-CN"/>
              <a:t>×</a:t>
            </a:r>
            <a:r>
              <a:rPr lang="zh-CN" altLang="en-US"/>
              <a:t>净资产收益率</a:t>
            </a:r>
          </a:p>
          <a:p>
            <a:r>
              <a:rPr lang="zh-CN" altLang="en-US" b="1" i="1" u="sng">
                <a:effectLst>
                  <a:outerShdw blurRad="38100" dist="38100" dir="2700000" algn="tl">
                    <a:srgbClr val="C0C0C0"/>
                  </a:outerShdw>
                </a:effectLst>
              </a:rPr>
              <a:t>推导</a:t>
            </a:r>
            <a:r>
              <a:rPr lang="zh-CN" altLang="en-US" b="1" i="1"/>
              <a:t>：</a:t>
            </a:r>
          </a:p>
          <a:p>
            <a:r>
              <a:rPr lang="zh-CN" altLang="en-US"/>
              <a:t>　　</a:t>
            </a:r>
            <a:r>
              <a:rPr lang="zh-CN" altLang="en-US">
                <a:latin typeface="楷体_GB2312" pitchFamily="49" charset="-122"/>
                <a:ea typeface="楷体_GB2312" pitchFamily="49" charset="-122"/>
              </a:rPr>
              <a:t>可持续增长率＝股东权益的增长率</a:t>
            </a:r>
          </a:p>
          <a:p>
            <a:r>
              <a:rPr lang="zh-CN" altLang="en-US">
                <a:latin typeface="楷体_GB2312" pitchFamily="49" charset="-122"/>
                <a:ea typeface="楷体_GB2312" pitchFamily="49" charset="-122"/>
              </a:rPr>
              <a:t>　　股东权益增长率＝留存收益增加额</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年初股东权益数</a:t>
            </a:r>
          </a:p>
          <a:p>
            <a:r>
              <a:rPr lang="zh-CN" altLang="en-US">
                <a:latin typeface="楷体_GB2312" pitchFamily="49" charset="-122"/>
                <a:ea typeface="楷体_GB2312" pitchFamily="49" charset="-122"/>
              </a:rPr>
              <a:t>　　留存收益增加额＝留存收益率＊净收益</a:t>
            </a:r>
          </a:p>
        </p:txBody>
      </p:sp>
    </p:spTree>
    <p:extLst>
      <p:ext uri="{BB962C8B-B14F-4D97-AF65-F5344CB8AC3E}">
        <p14:creationId xmlns:p14="http://schemas.microsoft.com/office/powerpoint/2010/main" val="309171379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6"/>
          <p:cNvSpPr>
            <a:spLocks noGrp="1"/>
          </p:cNvSpPr>
          <p:nvPr>
            <p:ph type="sldNum" sz="quarter" idx="12"/>
          </p:nvPr>
        </p:nvSpPr>
        <p:spPr/>
        <p:txBody>
          <a:bodyPr/>
          <a:lstStyle/>
          <a:p>
            <a:fld id="{CD6F3BBD-13FA-4DB3-A72A-9DE26D2F859B}" type="slidenum">
              <a:rPr lang="zh-CN" altLang="en-US"/>
              <a:pPr/>
              <a:t>82</a:t>
            </a:fld>
            <a:endParaRPr lang="en-US" altLang="zh-CN"/>
          </a:p>
        </p:txBody>
      </p:sp>
      <p:sp>
        <p:nvSpPr>
          <p:cNvPr id="179202" name="Rectangle 2"/>
          <p:cNvSpPr>
            <a:spLocks noGrp="1" noChangeArrowheads="1"/>
          </p:cNvSpPr>
          <p:nvPr>
            <p:ph type="title"/>
          </p:nvPr>
        </p:nvSpPr>
        <p:spPr/>
        <p:txBody>
          <a:bodyPr/>
          <a:lstStyle/>
          <a:p>
            <a:r>
              <a:rPr lang="zh-CN" altLang="en-US"/>
              <a:t>可持续增长增长举例</a:t>
            </a:r>
          </a:p>
        </p:txBody>
      </p:sp>
      <p:sp>
        <p:nvSpPr>
          <p:cNvPr id="179203" name="Rectangle 3"/>
          <p:cNvSpPr>
            <a:spLocks noGrp="1" noChangeArrowheads="1"/>
          </p:cNvSpPr>
          <p:nvPr>
            <p:ph type="body" sz="half" idx="1"/>
          </p:nvPr>
        </p:nvSpPr>
        <p:spPr>
          <a:xfrm>
            <a:off x="2063751" y="2017714"/>
            <a:ext cx="7993063" cy="4651375"/>
          </a:xfrm>
        </p:spPr>
        <p:txBody>
          <a:bodyPr/>
          <a:lstStyle/>
          <a:p>
            <a:r>
              <a:rPr lang="en-US" altLang="zh-CN" sz="2000"/>
              <a:t>RI</a:t>
            </a:r>
            <a:r>
              <a:rPr lang="zh-CN" altLang="en-US" sz="2000"/>
              <a:t>公司资产周转率＝每年</a:t>
            </a:r>
            <a:r>
              <a:rPr lang="en-US" altLang="zh-CN" sz="2000"/>
              <a:t>0.5</a:t>
            </a:r>
            <a:r>
              <a:rPr lang="zh-CN" altLang="en-US" sz="2000"/>
              <a:t>次，债务</a:t>
            </a:r>
            <a:r>
              <a:rPr lang="en-US" altLang="zh-CN" sz="2000"/>
              <a:t>/</a:t>
            </a:r>
            <a:r>
              <a:rPr lang="zh-CN" altLang="en-US" sz="2000"/>
              <a:t>权益比率＝</a:t>
            </a:r>
            <a:r>
              <a:rPr lang="en-US" altLang="zh-CN" sz="2000"/>
              <a:t>1.0</a:t>
            </a:r>
            <a:r>
              <a:rPr lang="zh-CN" altLang="en-US" sz="2000"/>
              <a:t>，股利支出比率＝</a:t>
            </a:r>
            <a:r>
              <a:rPr lang="en-US" altLang="zh-CN" sz="2000"/>
              <a:t>0.4</a:t>
            </a:r>
            <a:r>
              <a:rPr lang="zh-CN" altLang="en-US" sz="2000"/>
              <a:t>，净资产收益率＝每年</a:t>
            </a:r>
            <a:r>
              <a:rPr lang="en-US" altLang="zh-CN" sz="2000"/>
              <a:t>20%</a:t>
            </a:r>
            <a:r>
              <a:rPr lang="zh-CN" altLang="en-US" sz="2000"/>
              <a:t>。</a:t>
            </a:r>
          </a:p>
          <a:p>
            <a:r>
              <a:rPr lang="zh-CN" altLang="en-US" sz="2000"/>
              <a:t>去年销售收入为</a:t>
            </a:r>
            <a:r>
              <a:rPr lang="en-US" altLang="zh-CN" sz="2000"/>
              <a:t>100</a:t>
            </a:r>
            <a:r>
              <a:rPr lang="zh-CN" altLang="en-US" sz="2000"/>
              <a:t>万美元。</a:t>
            </a:r>
          </a:p>
          <a:p>
            <a:r>
              <a:rPr lang="en-US" altLang="zh-CN" sz="2000"/>
              <a:t>Q</a:t>
            </a:r>
            <a:r>
              <a:rPr lang="zh-CN" altLang="en-US" sz="2000"/>
              <a:t>：</a:t>
            </a:r>
            <a:r>
              <a:rPr lang="zh-CN" altLang="en-US" sz="2000">
                <a:ea typeface="楷体_GB2312" pitchFamily="49" charset="-122"/>
              </a:rPr>
              <a:t>总资产？</a:t>
            </a:r>
            <a:r>
              <a:rPr lang="zh-CN" altLang="en-US" sz="2000"/>
              <a:t>（</a:t>
            </a:r>
            <a:r>
              <a:rPr lang="en-US" altLang="zh-CN" sz="2000"/>
              <a:t>200</a:t>
            </a:r>
            <a:r>
              <a:rPr lang="zh-CN" altLang="en-US" sz="2000"/>
              <a:t>万）</a:t>
            </a:r>
            <a:r>
              <a:rPr lang="zh-CN" altLang="en-US" sz="2000">
                <a:ea typeface="楷体_GB2312" pitchFamily="49" charset="-122"/>
              </a:rPr>
              <a:t>债务和股东权益？</a:t>
            </a:r>
            <a:r>
              <a:rPr lang="zh-CN" altLang="en-US" sz="2000"/>
              <a:t>（各</a:t>
            </a:r>
            <a:r>
              <a:rPr lang="en-US" altLang="zh-CN" sz="2000"/>
              <a:t>100</a:t>
            </a:r>
            <a:r>
              <a:rPr lang="zh-CN" altLang="en-US" sz="2000"/>
              <a:t>万）</a:t>
            </a:r>
          </a:p>
          <a:p>
            <a:r>
              <a:rPr lang="zh-CN" altLang="en-US" sz="2000">
                <a:ea typeface="楷体_GB2312" pitchFamily="49" charset="-122"/>
              </a:rPr>
              <a:t>净收益</a:t>
            </a:r>
            <a:r>
              <a:rPr lang="zh-CN" altLang="en-US" sz="2000"/>
              <a:t>？（</a:t>
            </a:r>
            <a:r>
              <a:rPr lang="en-US" altLang="zh-CN" sz="2000"/>
              <a:t>20</a:t>
            </a:r>
            <a:r>
              <a:rPr lang="zh-CN" altLang="en-US" sz="2000"/>
              <a:t>万）</a:t>
            </a:r>
            <a:r>
              <a:rPr lang="zh-CN" altLang="en-US" sz="2000">
                <a:ea typeface="楷体_GB2312" pitchFamily="49" charset="-122"/>
              </a:rPr>
              <a:t>股利</a:t>
            </a:r>
            <a:r>
              <a:rPr lang="zh-CN" altLang="en-US" sz="2000"/>
              <a:t>？（８万）</a:t>
            </a:r>
          </a:p>
          <a:p>
            <a:r>
              <a:rPr lang="en-US" altLang="zh-CN" sz="2000">
                <a:latin typeface="楷体_GB2312" pitchFamily="49" charset="-122"/>
                <a:ea typeface="楷体_GB2312" pitchFamily="49" charset="-122"/>
              </a:rPr>
              <a:t>RI</a:t>
            </a:r>
            <a:r>
              <a:rPr lang="zh-CN" altLang="en-US" sz="2000">
                <a:latin typeface="楷体_GB2312" pitchFamily="49" charset="-122"/>
                <a:ea typeface="楷体_GB2312" pitchFamily="49" charset="-122"/>
              </a:rPr>
              <a:t>公司资产增加多少？</a:t>
            </a:r>
            <a:r>
              <a:rPr lang="en-US" altLang="zh-CN" sz="2000">
                <a:latin typeface="楷体_GB2312" pitchFamily="49" charset="-122"/>
                <a:ea typeface="楷体_GB2312" pitchFamily="49" charset="-122"/>
              </a:rPr>
              <a:t>(24</a:t>
            </a:r>
            <a:r>
              <a:rPr lang="zh-CN" altLang="en-US" sz="2000">
                <a:latin typeface="楷体_GB2312" pitchFamily="49" charset="-122"/>
                <a:ea typeface="楷体_GB2312" pitchFamily="49" charset="-122"/>
              </a:rPr>
              <a:t>万）</a:t>
            </a:r>
          </a:p>
          <a:p>
            <a:r>
              <a:rPr lang="zh-CN" altLang="en-US" sz="2000" b="1">
                <a:solidFill>
                  <a:srgbClr val="FF0000"/>
                </a:solidFill>
                <a:latin typeface="楷体_GB2312" pitchFamily="49" charset="-122"/>
                <a:ea typeface="楷体_GB2312" pitchFamily="49" charset="-122"/>
              </a:rPr>
              <a:t>销售收入增加多少？</a:t>
            </a:r>
            <a:r>
              <a:rPr lang="en-US" altLang="zh-CN" sz="2000" b="1">
                <a:solidFill>
                  <a:srgbClr val="FF0000"/>
                </a:solidFill>
                <a:latin typeface="楷体_GB2312" pitchFamily="49" charset="-122"/>
                <a:ea typeface="楷体_GB2312" pitchFamily="49" charset="-122"/>
              </a:rPr>
              <a:t>(12</a:t>
            </a:r>
            <a:r>
              <a:rPr lang="zh-CN" altLang="en-US" sz="2000" b="1">
                <a:solidFill>
                  <a:srgbClr val="FF0000"/>
                </a:solidFill>
                <a:latin typeface="楷体_GB2312" pitchFamily="49" charset="-122"/>
                <a:ea typeface="楷体_GB2312" pitchFamily="49" charset="-122"/>
              </a:rPr>
              <a:t>万）</a:t>
            </a:r>
          </a:p>
          <a:p>
            <a:r>
              <a:rPr lang="zh-CN" altLang="en-US" sz="2000">
                <a:ea typeface="楷体_GB2312" pitchFamily="49" charset="-122"/>
              </a:rPr>
              <a:t>销售收入的可持续增长率为多少？</a:t>
            </a:r>
          </a:p>
          <a:p>
            <a:endParaRPr lang="zh-CN" altLang="en-US" sz="2000">
              <a:ea typeface="楷体_GB2312" pitchFamily="49" charset="-122"/>
            </a:endParaRPr>
          </a:p>
        </p:txBody>
      </p:sp>
      <p:graphicFrame>
        <p:nvGraphicFramePr>
          <p:cNvPr id="179204" name="Object 4"/>
          <p:cNvGraphicFramePr>
            <a:graphicFrameLocks noGrp="1" noChangeAspect="1"/>
          </p:cNvGraphicFramePr>
          <p:nvPr>
            <p:ph sz="half" idx="2"/>
          </p:nvPr>
        </p:nvGraphicFramePr>
        <p:xfrm>
          <a:off x="3935414" y="4941889"/>
          <a:ext cx="5184775" cy="1755775"/>
        </p:xfrm>
        <a:graphic>
          <a:graphicData uri="http://schemas.openxmlformats.org/presentationml/2006/ole">
            <mc:AlternateContent xmlns:mc="http://schemas.openxmlformats.org/markup-compatibility/2006">
              <mc:Choice xmlns:v="urn:schemas-microsoft-com:vml" Requires="v">
                <p:oleObj spid="_x0000_s13388" name="Equation" r:id="rId3" imgW="2781000" imgH="1091880" progId="Equation.DSMT4">
                  <p:embed/>
                </p:oleObj>
              </mc:Choice>
              <mc:Fallback>
                <p:oleObj name="Equation" r:id="rId3" imgW="2781000" imgH="10918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5414" y="4941889"/>
                        <a:ext cx="5184775" cy="175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652053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灯片编号占位符 5"/>
          <p:cNvSpPr>
            <a:spLocks noGrp="1"/>
          </p:cNvSpPr>
          <p:nvPr>
            <p:ph type="sldNum" sz="quarter" idx="12"/>
          </p:nvPr>
        </p:nvSpPr>
        <p:spPr/>
        <p:txBody>
          <a:bodyPr/>
          <a:lstStyle/>
          <a:p>
            <a:fld id="{59D7EE8C-261D-4229-A4AC-1DD962FC413C}" type="slidenum">
              <a:rPr lang="zh-CN" altLang="en-US"/>
              <a:pPr/>
              <a:t>83</a:t>
            </a:fld>
            <a:endParaRPr lang="en-US" altLang="zh-CN"/>
          </a:p>
        </p:txBody>
      </p:sp>
      <p:sp>
        <p:nvSpPr>
          <p:cNvPr id="180226" name="Rectangle 2"/>
          <p:cNvSpPr>
            <a:spLocks noGrp="1" noChangeArrowheads="1"/>
          </p:cNvSpPr>
          <p:nvPr>
            <p:ph type="title"/>
          </p:nvPr>
        </p:nvSpPr>
        <p:spPr/>
        <p:txBody>
          <a:bodyPr/>
          <a:lstStyle/>
          <a:p>
            <a:pPr algn="ctr"/>
            <a:r>
              <a:rPr lang="en-US" altLang="zh-CN" dirty="0" smtClean="0"/>
              <a:t>3.10 </a:t>
            </a:r>
            <a:r>
              <a:rPr lang="zh-CN" altLang="en-US" dirty="0" smtClean="0"/>
              <a:t>营运资本管理</a:t>
            </a:r>
            <a:endParaRPr lang="zh-CN" altLang="en-US" dirty="0"/>
          </a:p>
        </p:txBody>
      </p:sp>
      <p:sp>
        <p:nvSpPr>
          <p:cNvPr id="180227" name="Rectangle 3"/>
          <p:cNvSpPr>
            <a:spLocks noGrp="1" noChangeArrowheads="1"/>
          </p:cNvSpPr>
          <p:nvPr>
            <p:ph type="body" idx="1"/>
          </p:nvPr>
        </p:nvSpPr>
        <p:spPr/>
        <p:txBody>
          <a:bodyPr/>
          <a:lstStyle/>
          <a:p>
            <a:r>
              <a:rPr lang="zh-CN" altLang="en-US"/>
              <a:t>营运资金：流动资产－流动负债</a:t>
            </a:r>
          </a:p>
          <a:p>
            <a:endParaRPr lang="zh-CN" altLang="en-US"/>
          </a:p>
        </p:txBody>
      </p:sp>
      <p:sp>
        <p:nvSpPr>
          <p:cNvPr id="180228" name="Line 4"/>
          <p:cNvSpPr>
            <a:spLocks noChangeShapeType="1"/>
          </p:cNvSpPr>
          <p:nvPr/>
        </p:nvSpPr>
        <p:spPr bwMode="auto">
          <a:xfrm>
            <a:off x="2063750" y="4005263"/>
            <a:ext cx="8064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29" name="Line 5"/>
          <p:cNvSpPr>
            <a:spLocks noChangeShapeType="1"/>
          </p:cNvSpPr>
          <p:nvPr/>
        </p:nvSpPr>
        <p:spPr bwMode="auto">
          <a:xfrm flipV="1">
            <a:off x="2135188" y="3357563"/>
            <a:ext cx="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30" name="Line 6"/>
          <p:cNvSpPr>
            <a:spLocks noChangeShapeType="1"/>
          </p:cNvSpPr>
          <p:nvPr/>
        </p:nvSpPr>
        <p:spPr bwMode="auto">
          <a:xfrm flipV="1">
            <a:off x="3935413" y="3357563"/>
            <a:ext cx="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31" name="Line 7"/>
          <p:cNvSpPr>
            <a:spLocks noChangeShapeType="1"/>
          </p:cNvSpPr>
          <p:nvPr/>
        </p:nvSpPr>
        <p:spPr bwMode="auto">
          <a:xfrm>
            <a:off x="3935413" y="3933825"/>
            <a:ext cx="0" cy="9350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32" name="Line 8"/>
          <p:cNvSpPr>
            <a:spLocks noChangeShapeType="1"/>
          </p:cNvSpPr>
          <p:nvPr/>
        </p:nvSpPr>
        <p:spPr bwMode="auto">
          <a:xfrm flipV="1">
            <a:off x="6816725" y="3357563"/>
            <a:ext cx="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33" name="Line 9"/>
          <p:cNvSpPr>
            <a:spLocks noChangeShapeType="1"/>
          </p:cNvSpPr>
          <p:nvPr/>
        </p:nvSpPr>
        <p:spPr bwMode="auto">
          <a:xfrm flipV="1">
            <a:off x="9336088" y="3357563"/>
            <a:ext cx="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34" name="Line 10"/>
          <p:cNvSpPr>
            <a:spLocks noChangeShapeType="1"/>
          </p:cNvSpPr>
          <p:nvPr/>
        </p:nvSpPr>
        <p:spPr bwMode="auto">
          <a:xfrm>
            <a:off x="5951538" y="4005263"/>
            <a:ext cx="0" cy="7921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35" name="Text Box 11"/>
          <p:cNvSpPr txBox="1">
            <a:spLocks noChangeArrowheads="1"/>
          </p:cNvSpPr>
          <p:nvPr/>
        </p:nvSpPr>
        <p:spPr bwMode="auto">
          <a:xfrm>
            <a:off x="1992313" y="3068638"/>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订购</a:t>
            </a:r>
          </a:p>
        </p:txBody>
      </p:sp>
      <p:sp>
        <p:nvSpPr>
          <p:cNvPr id="180236" name="Text Box 12"/>
          <p:cNvSpPr txBox="1">
            <a:spLocks noChangeArrowheads="1"/>
          </p:cNvSpPr>
          <p:nvPr/>
        </p:nvSpPr>
        <p:spPr bwMode="auto">
          <a:xfrm>
            <a:off x="3432175" y="2852738"/>
            <a:ext cx="863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到货</a:t>
            </a:r>
          </a:p>
        </p:txBody>
      </p:sp>
      <p:sp>
        <p:nvSpPr>
          <p:cNvPr id="180237" name="Text Box 13"/>
          <p:cNvSpPr txBox="1">
            <a:spLocks noChangeArrowheads="1"/>
          </p:cNvSpPr>
          <p:nvPr/>
        </p:nvSpPr>
        <p:spPr bwMode="auto">
          <a:xfrm>
            <a:off x="6240464" y="2997201"/>
            <a:ext cx="12223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销售成品</a:t>
            </a:r>
          </a:p>
        </p:txBody>
      </p:sp>
      <p:sp>
        <p:nvSpPr>
          <p:cNvPr id="180238" name="Text Box 14"/>
          <p:cNvSpPr txBox="1">
            <a:spLocks noChangeArrowheads="1"/>
          </p:cNvSpPr>
          <p:nvPr/>
        </p:nvSpPr>
        <p:spPr bwMode="auto">
          <a:xfrm>
            <a:off x="8904289" y="2924176"/>
            <a:ext cx="1152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收回现金</a:t>
            </a:r>
          </a:p>
        </p:txBody>
      </p:sp>
      <p:sp>
        <p:nvSpPr>
          <p:cNvPr id="180239" name="Text Box 15"/>
          <p:cNvSpPr txBox="1">
            <a:spLocks noChangeArrowheads="1"/>
          </p:cNvSpPr>
          <p:nvPr/>
        </p:nvSpPr>
        <p:spPr bwMode="auto">
          <a:xfrm>
            <a:off x="9409113" y="4149726"/>
            <a:ext cx="86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时间</a:t>
            </a:r>
          </a:p>
        </p:txBody>
      </p:sp>
      <p:sp>
        <p:nvSpPr>
          <p:cNvPr id="180240" name="Text Box 16"/>
          <p:cNvSpPr txBox="1">
            <a:spLocks noChangeArrowheads="1"/>
          </p:cNvSpPr>
          <p:nvPr/>
        </p:nvSpPr>
        <p:spPr bwMode="auto">
          <a:xfrm>
            <a:off x="3143251" y="4797426"/>
            <a:ext cx="14398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收到发货单</a:t>
            </a:r>
          </a:p>
        </p:txBody>
      </p:sp>
      <p:sp>
        <p:nvSpPr>
          <p:cNvPr id="180241" name="Text Box 17"/>
          <p:cNvSpPr txBox="1">
            <a:spLocks noChangeArrowheads="1"/>
          </p:cNvSpPr>
          <p:nvPr/>
        </p:nvSpPr>
        <p:spPr bwMode="auto">
          <a:xfrm>
            <a:off x="5375276" y="4868863"/>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支付现金</a:t>
            </a:r>
          </a:p>
        </p:txBody>
      </p:sp>
      <p:sp>
        <p:nvSpPr>
          <p:cNvPr id="180242" name="Line 18"/>
          <p:cNvSpPr>
            <a:spLocks noChangeShapeType="1"/>
          </p:cNvSpPr>
          <p:nvPr/>
        </p:nvSpPr>
        <p:spPr bwMode="auto">
          <a:xfrm>
            <a:off x="8616951" y="4365625"/>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43" name="Line 19"/>
          <p:cNvSpPr>
            <a:spLocks noChangeShapeType="1"/>
          </p:cNvSpPr>
          <p:nvPr/>
        </p:nvSpPr>
        <p:spPr bwMode="auto">
          <a:xfrm flipH="1">
            <a:off x="5951539" y="4365625"/>
            <a:ext cx="9366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44" name="Text Box 20"/>
          <p:cNvSpPr txBox="1">
            <a:spLocks noChangeArrowheads="1"/>
          </p:cNvSpPr>
          <p:nvPr/>
        </p:nvSpPr>
        <p:spPr bwMode="auto">
          <a:xfrm>
            <a:off x="6959600" y="4221163"/>
            <a:ext cx="17287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现金周转时间</a:t>
            </a:r>
          </a:p>
        </p:txBody>
      </p:sp>
      <p:sp>
        <p:nvSpPr>
          <p:cNvPr id="180245" name="Text Box 21"/>
          <p:cNvSpPr txBox="1">
            <a:spLocks noChangeArrowheads="1"/>
          </p:cNvSpPr>
          <p:nvPr/>
        </p:nvSpPr>
        <p:spPr bwMode="auto">
          <a:xfrm>
            <a:off x="7319964" y="3500438"/>
            <a:ext cx="15843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应收账款时间</a:t>
            </a:r>
          </a:p>
        </p:txBody>
      </p:sp>
      <p:sp>
        <p:nvSpPr>
          <p:cNvPr id="180246" name="Line 22"/>
          <p:cNvSpPr>
            <a:spLocks noChangeShapeType="1"/>
          </p:cNvSpPr>
          <p:nvPr/>
        </p:nvSpPr>
        <p:spPr bwMode="auto">
          <a:xfrm>
            <a:off x="8832851" y="3716338"/>
            <a:ext cx="5762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47" name="Line 23"/>
          <p:cNvSpPr>
            <a:spLocks noChangeShapeType="1"/>
          </p:cNvSpPr>
          <p:nvPr/>
        </p:nvSpPr>
        <p:spPr bwMode="auto">
          <a:xfrm flipH="1">
            <a:off x="6816726" y="3644900"/>
            <a:ext cx="5746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48" name="Text Box 24"/>
          <p:cNvSpPr txBox="1">
            <a:spLocks noChangeArrowheads="1"/>
          </p:cNvSpPr>
          <p:nvPr/>
        </p:nvSpPr>
        <p:spPr bwMode="auto">
          <a:xfrm>
            <a:off x="4656138" y="342900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存货时间</a:t>
            </a:r>
          </a:p>
        </p:txBody>
      </p:sp>
      <p:sp>
        <p:nvSpPr>
          <p:cNvPr id="180249" name="Line 25"/>
          <p:cNvSpPr>
            <a:spLocks noChangeShapeType="1"/>
          </p:cNvSpPr>
          <p:nvPr/>
        </p:nvSpPr>
        <p:spPr bwMode="auto">
          <a:xfrm>
            <a:off x="5664200" y="3573463"/>
            <a:ext cx="1079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50" name="Line 26"/>
          <p:cNvSpPr>
            <a:spLocks noChangeShapeType="1"/>
          </p:cNvSpPr>
          <p:nvPr/>
        </p:nvSpPr>
        <p:spPr bwMode="auto">
          <a:xfrm flipH="1">
            <a:off x="3935413" y="3644900"/>
            <a:ext cx="7921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0251" name="Text Box 27"/>
          <p:cNvSpPr txBox="1">
            <a:spLocks noChangeArrowheads="1"/>
          </p:cNvSpPr>
          <p:nvPr/>
        </p:nvSpPr>
        <p:spPr bwMode="auto">
          <a:xfrm>
            <a:off x="4151314" y="4292601"/>
            <a:ext cx="1800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latin typeface="Arial" panose="020B0604020202020204" pitchFamily="34" charset="0"/>
              </a:rPr>
              <a:t>应付账款时间</a:t>
            </a:r>
          </a:p>
        </p:txBody>
      </p:sp>
    </p:spTree>
    <p:extLst>
      <p:ext uri="{BB962C8B-B14F-4D97-AF65-F5344CB8AC3E}">
        <p14:creationId xmlns:p14="http://schemas.microsoft.com/office/powerpoint/2010/main" val="169695825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98BBE066-8537-493C-9041-6E0FFAFAF389}" type="slidenum">
              <a:rPr lang="zh-CN" altLang="en-US"/>
              <a:pPr/>
              <a:t>84</a:t>
            </a:fld>
            <a:endParaRPr lang="en-US" altLang="zh-CN"/>
          </a:p>
        </p:txBody>
      </p:sp>
      <p:sp>
        <p:nvSpPr>
          <p:cNvPr id="181250" name="Rectangle 2"/>
          <p:cNvSpPr>
            <a:spLocks noGrp="1" noChangeArrowheads="1"/>
          </p:cNvSpPr>
          <p:nvPr>
            <p:ph type="title"/>
          </p:nvPr>
        </p:nvSpPr>
        <p:spPr/>
        <p:txBody>
          <a:bodyPr/>
          <a:lstStyle/>
          <a:p>
            <a:endParaRPr lang="zh-CN" altLang="en-US"/>
          </a:p>
        </p:txBody>
      </p:sp>
      <p:sp>
        <p:nvSpPr>
          <p:cNvPr id="181251" name="Rectangle 3"/>
          <p:cNvSpPr>
            <a:spLocks noGrp="1" noChangeArrowheads="1"/>
          </p:cNvSpPr>
          <p:nvPr>
            <p:ph type="body" idx="1"/>
          </p:nvPr>
        </p:nvSpPr>
        <p:spPr/>
        <p:txBody>
          <a:bodyPr/>
          <a:lstStyle/>
          <a:p>
            <a:r>
              <a:rPr lang="zh-CN" altLang="en-US"/>
              <a:t>有效管理公司营运资金的主要原则：</a:t>
            </a:r>
          </a:p>
          <a:p>
            <a:pPr lvl="1"/>
            <a:r>
              <a:rPr lang="zh-CN" altLang="en-US"/>
              <a:t>　使投资于应收账款和存货等不营利资产的数量最小化，使客户的预付货款、应付工资、应付账款等</a:t>
            </a:r>
            <a:r>
              <a:rPr lang="zh-CN" altLang="en-US">
                <a:latin typeface="Arial" panose="020B0604020202020204" pitchFamily="34" charset="0"/>
              </a:rPr>
              <a:t>“</a:t>
            </a:r>
            <a:r>
              <a:rPr lang="zh-CN" altLang="en-US"/>
              <a:t>免费</a:t>
            </a:r>
            <a:r>
              <a:rPr lang="zh-CN" altLang="en-US">
                <a:latin typeface="Arial" panose="020B0604020202020204" pitchFamily="34" charset="0"/>
              </a:rPr>
              <a:t>”</a:t>
            </a:r>
            <a:r>
              <a:rPr lang="zh-CN" altLang="en-US"/>
              <a:t>信用最大化。</a:t>
            </a:r>
          </a:p>
        </p:txBody>
      </p:sp>
    </p:spTree>
    <p:extLst>
      <p:ext uri="{BB962C8B-B14F-4D97-AF65-F5344CB8AC3E}">
        <p14:creationId xmlns:p14="http://schemas.microsoft.com/office/powerpoint/2010/main" val="350945495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5F752EB-F5B1-4958-960D-EFADAE880AC6}" type="slidenum">
              <a:rPr lang="zh-CN" altLang="en-US"/>
              <a:pPr/>
              <a:t>85</a:t>
            </a:fld>
            <a:endParaRPr lang="en-US" altLang="zh-CN"/>
          </a:p>
        </p:txBody>
      </p:sp>
      <p:sp>
        <p:nvSpPr>
          <p:cNvPr id="182274" name="Rectangle 2"/>
          <p:cNvSpPr>
            <a:spLocks noGrp="1" noChangeArrowheads="1"/>
          </p:cNvSpPr>
          <p:nvPr>
            <p:ph type="title"/>
          </p:nvPr>
        </p:nvSpPr>
        <p:spPr/>
        <p:txBody>
          <a:bodyPr/>
          <a:lstStyle/>
          <a:p>
            <a:r>
              <a:rPr lang="en-US" altLang="zh-CN" dirty="0" smtClean="0"/>
              <a:t>3.11 </a:t>
            </a:r>
            <a:r>
              <a:rPr lang="zh-CN" altLang="en-US" dirty="0" smtClean="0"/>
              <a:t>流动性</a:t>
            </a:r>
            <a:r>
              <a:rPr lang="zh-CN" altLang="en-US" dirty="0"/>
              <a:t>和现金预算</a:t>
            </a:r>
          </a:p>
        </p:txBody>
      </p:sp>
      <p:sp>
        <p:nvSpPr>
          <p:cNvPr id="182275" name="Rectangle 3"/>
          <p:cNvSpPr>
            <a:spLocks noGrp="1" noChangeArrowheads="1"/>
          </p:cNvSpPr>
          <p:nvPr>
            <p:ph type="body" idx="1"/>
          </p:nvPr>
        </p:nvSpPr>
        <p:spPr/>
        <p:txBody>
          <a:bodyPr/>
          <a:lstStyle/>
          <a:p>
            <a:r>
              <a:rPr lang="zh-CN" altLang="en-US"/>
              <a:t>流动性</a:t>
            </a:r>
          </a:p>
          <a:p>
            <a:r>
              <a:rPr lang="zh-CN" altLang="en-US"/>
              <a:t>现金预算</a:t>
            </a:r>
          </a:p>
        </p:txBody>
      </p:sp>
    </p:spTree>
    <p:extLst>
      <p:ext uri="{BB962C8B-B14F-4D97-AF65-F5344CB8AC3E}">
        <p14:creationId xmlns:p14="http://schemas.microsoft.com/office/powerpoint/2010/main" val="366261954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53536"/>
          </a:xfrm>
        </p:spPr>
        <p:txBody>
          <a:bodyPr>
            <a:normAutofit fontScale="90000"/>
          </a:bodyPr>
          <a:lstStyle/>
          <a:p>
            <a:pPr algn="ctr"/>
            <a:r>
              <a:rPr lang="zh-CN" altLang="en-US" dirty="0"/>
              <a:t>腾讯</a:t>
            </a:r>
            <a:r>
              <a:rPr lang="zh-CN" altLang="en-US" dirty="0" smtClean="0"/>
              <a:t>控股</a:t>
            </a:r>
            <a:r>
              <a:rPr lang="en-US" altLang="zh-CN" dirty="0" smtClean="0"/>
              <a:t>(0700.HK)</a:t>
            </a:r>
            <a:r>
              <a:rPr lang="zh-CN" altLang="en-US" dirty="0" smtClean="0"/>
              <a:t>关键财务数据（单位：亿）</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3420944880"/>
              </p:ext>
            </p:extLst>
          </p:nvPr>
        </p:nvGraphicFramePr>
        <p:xfrm>
          <a:off x="838201" y="1482287"/>
          <a:ext cx="10515598" cy="5101393"/>
        </p:xfrm>
        <a:graphic>
          <a:graphicData uri="http://schemas.openxmlformats.org/drawingml/2006/table">
            <a:tbl>
              <a:tblPr>
                <a:tableStyleId>{5C22544A-7EE6-4342-B048-85BDC9FD1C3A}</a:tableStyleId>
              </a:tblPr>
              <a:tblGrid>
                <a:gridCol w="1067122"/>
                <a:gridCol w="924504"/>
                <a:gridCol w="1058779"/>
                <a:gridCol w="1684949"/>
                <a:gridCol w="3646000"/>
                <a:gridCol w="2134244"/>
              </a:tblGrid>
              <a:tr h="463763">
                <a:tc>
                  <a:txBody>
                    <a:bodyPr/>
                    <a:lstStyle/>
                    <a:p>
                      <a:pPr algn="l" fontAlgn="b"/>
                      <a:r>
                        <a:rPr lang="zh-CN" altLang="en-US" sz="2000" u="none" strike="noStrike" dirty="0">
                          <a:effectLst/>
                        </a:rPr>
                        <a:t>年度</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b"/>
                      <a:r>
                        <a:rPr lang="en-US" sz="2000" u="none" strike="noStrike" dirty="0">
                          <a:effectLst/>
                        </a:rPr>
                        <a:t>EBIT</a:t>
                      </a:r>
                      <a:endParaRPr 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b"/>
                      <a:r>
                        <a:rPr lang="zh-CN" altLang="en-US" sz="2000" u="none" strike="noStrike" dirty="0">
                          <a:effectLst/>
                        </a:rPr>
                        <a:t>净利润</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b"/>
                      <a:r>
                        <a:rPr lang="zh-CN" altLang="en-US" sz="2000" b="1" u="none" strike="noStrike" dirty="0">
                          <a:solidFill>
                            <a:srgbClr val="FF0000"/>
                          </a:solidFill>
                          <a:effectLst/>
                        </a:rPr>
                        <a:t>非经常性损益</a:t>
                      </a:r>
                      <a:endParaRPr lang="zh-CN" altLang="en-US" sz="2000" b="1" i="0" u="none" strike="noStrike" dirty="0">
                        <a:solidFill>
                          <a:srgbClr val="FF0000"/>
                        </a:solidFill>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b"/>
                      <a:r>
                        <a:rPr lang="zh-CN" altLang="en-US" sz="2000" u="none" strike="noStrike" dirty="0">
                          <a:effectLst/>
                        </a:rPr>
                        <a:t>扣非后归属母公司股东的净利润</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l" fontAlgn="b"/>
                      <a:r>
                        <a:rPr lang="zh-CN" altLang="en-US" sz="2000" u="none" strike="noStrike" dirty="0">
                          <a:effectLst/>
                        </a:rPr>
                        <a:t>经营活动现金流量</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dirty="0">
                          <a:effectLst/>
                        </a:rPr>
                        <a:t>2021</a:t>
                      </a:r>
                      <a:endParaRPr lang="en-US" altLang="zh-CN" sz="1500" b="0" i="0" u="none" strike="noStrike" dirty="0">
                        <a:effectLst/>
                        <a:latin typeface="Arial" panose="020B0604020202020204" pitchFamily="34" charset="0"/>
                      </a:endParaRPr>
                    </a:p>
                  </a:txBody>
                  <a:tcPr marL="6350" marR="6350" marT="6350" marB="0" anchor="ctr"/>
                </a:tc>
                <a:tc>
                  <a:txBody>
                    <a:bodyPr/>
                    <a:lstStyle/>
                    <a:p>
                      <a:pPr algn="r" fontAlgn="b"/>
                      <a:r>
                        <a:rPr lang="en-US" altLang="zh-CN" sz="1500" u="none" strike="noStrike" dirty="0">
                          <a:effectLst/>
                        </a:rPr>
                        <a:t>2,485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2,248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1,726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522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1,752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dirty="0">
                          <a:effectLst/>
                        </a:rPr>
                        <a:t>2020</a:t>
                      </a:r>
                      <a:endParaRPr lang="en-US" altLang="zh-CN" sz="1500" b="0" i="0" u="none" strike="noStrike" dirty="0">
                        <a:effectLst/>
                        <a:latin typeface="Arial" panose="020B0604020202020204" pitchFamily="34" charset="0"/>
                      </a:endParaRPr>
                    </a:p>
                  </a:txBody>
                  <a:tcPr marL="6350" marR="6350" marT="6350" marB="0" anchor="ctr"/>
                </a:tc>
                <a:tc>
                  <a:txBody>
                    <a:bodyPr/>
                    <a:lstStyle/>
                    <a:p>
                      <a:pPr algn="r" fontAlgn="b"/>
                      <a:r>
                        <a:rPr lang="en-US" altLang="zh-CN" sz="1500" u="none" strike="noStrike" dirty="0">
                          <a:effectLst/>
                        </a:rPr>
                        <a:t>1,805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1,598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686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912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1,941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2019</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dirty="0">
                          <a:effectLst/>
                        </a:rPr>
                        <a:t>1,108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933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231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702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1,486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2018</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948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787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354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433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1,064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2017</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873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715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210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505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1,061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2016</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512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411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74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337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655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2015</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377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288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41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247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454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2014</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299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238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52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186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327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2013</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197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155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5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150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244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r>
              <a:tr h="463763">
                <a:tc>
                  <a:txBody>
                    <a:bodyPr/>
                    <a:lstStyle/>
                    <a:p>
                      <a:pPr algn="r" fontAlgn="b"/>
                      <a:r>
                        <a:rPr lang="en-US" altLang="zh-CN" sz="1500" u="none" strike="noStrike">
                          <a:effectLst/>
                        </a:rPr>
                        <a:t>2012</a:t>
                      </a:r>
                      <a:endParaRPr lang="en-US" altLang="zh-CN" sz="1500" b="0" i="0" u="none" strike="noStrike">
                        <a:effectLst/>
                        <a:latin typeface="Arial" panose="020B0604020202020204" pitchFamily="34" charset="0"/>
                      </a:endParaRPr>
                    </a:p>
                  </a:txBody>
                  <a:tcPr marL="6350" marR="6350" marT="6350" marB="0" anchor="ctr"/>
                </a:tc>
                <a:tc>
                  <a:txBody>
                    <a:bodyPr/>
                    <a:lstStyle/>
                    <a:p>
                      <a:pPr algn="r" fontAlgn="b"/>
                      <a:r>
                        <a:rPr lang="en-US" altLang="zh-CN" sz="1500" u="none" strike="noStrike">
                          <a:effectLst/>
                        </a:rPr>
                        <a:t>154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127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a:effectLst/>
                        </a:rPr>
                        <a:t>126 </a:t>
                      </a:r>
                      <a:endParaRPr lang="en-US" altLang="zh-CN" sz="15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1500" u="none" strike="noStrike" dirty="0">
                          <a:effectLst/>
                        </a:rPr>
                        <a:t>194 </a:t>
                      </a:r>
                      <a:endParaRPr lang="en-US" altLang="zh-CN" sz="1500" b="0" i="0" u="none" strike="noStrike" dirty="0">
                        <a:effectLst/>
                        <a:latin typeface="宋体" panose="02010600030101010101" pitchFamily="2" charset="-122"/>
                        <a:ea typeface="宋体" panose="02010600030101010101" pitchFamily="2" charset="-122"/>
                      </a:endParaRPr>
                    </a:p>
                  </a:txBody>
                  <a:tcPr marL="6350" marR="6350" marT="6350" marB="0" anchor="ctr"/>
                </a:tc>
              </a:tr>
            </a:tbl>
          </a:graphicData>
        </a:graphic>
      </p:graphicFrame>
    </p:spTree>
    <p:extLst>
      <p:ext uri="{BB962C8B-B14F-4D97-AF65-F5344CB8AC3E}">
        <p14:creationId xmlns:p14="http://schemas.microsoft.com/office/powerpoint/2010/main" val="13467309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腾讯的非经常性损益</a:t>
            </a:r>
            <a:endParaRPr lang="zh-CN" altLang="en-US" dirty="0"/>
          </a:p>
        </p:txBody>
      </p:sp>
      <p:sp>
        <p:nvSpPr>
          <p:cNvPr id="3" name="内容占位符 2"/>
          <p:cNvSpPr>
            <a:spLocks noGrp="1"/>
          </p:cNvSpPr>
          <p:nvPr>
            <p:ph idx="1"/>
          </p:nvPr>
        </p:nvSpPr>
        <p:spPr/>
        <p:txBody>
          <a:bodyPr/>
          <a:lstStyle/>
          <a:p>
            <a:r>
              <a:rPr lang="en-US" altLang="zh-CN" dirty="0" smtClean="0"/>
              <a:t>2021</a:t>
            </a:r>
            <a:r>
              <a:rPr lang="zh-CN" altLang="en-US" dirty="0" smtClean="0"/>
              <a:t>年全年净利润</a:t>
            </a:r>
            <a:r>
              <a:rPr lang="en-US" altLang="zh-CN" dirty="0" smtClean="0"/>
              <a:t>2248</a:t>
            </a:r>
            <a:r>
              <a:rPr lang="zh-CN" altLang="en-US" dirty="0" smtClean="0"/>
              <a:t>亿元</a:t>
            </a:r>
            <a:endParaRPr lang="en-US" altLang="zh-CN" dirty="0" smtClean="0"/>
          </a:p>
          <a:p>
            <a:endParaRPr lang="en-US" altLang="zh-CN" dirty="0"/>
          </a:p>
          <a:p>
            <a:r>
              <a:rPr lang="zh-CN" altLang="en-US" dirty="0" smtClean="0"/>
              <a:t>但非经常性损益高达</a:t>
            </a:r>
            <a:r>
              <a:rPr lang="en-US" altLang="zh-CN" dirty="0" smtClean="0"/>
              <a:t>1726</a:t>
            </a:r>
            <a:r>
              <a:rPr lang="zh-CN" altLang="en-US" dirty="0" smtClean="0"/>
              <a:t>亿元</a:t>
            </a:r>
            <a:endParaRPr lang="en-US" altLang="zh-CN" dirty="0" smtClean="0"/>
          </a:p>
          <a:p>
            <a:pPr lvl="1"/>
            <a:r>
              <a:rPr lang="zh-CN" altLang="en-US" dirty="0" smtClean="0"/>
              <a:t>其中，</a:t>
            </a:r>
            <a:r>
              <a:rPr lang="zh-CN" altLang="en-US" dirty="0"/>
              <a:t>处置京东集团股份获得了非经常性收益人民币</a:t>
            </a:r>
            <a:r>
              <a:rPr lang="en-US" altLang="zh-CN" dirty="0"/>
              <a:t>782</a:t>
            </a:r>
            <a:r>
              <a:rPr lang="zh-CN" altLang="en-US" dirty="0"/>
              <a:t>亿</a:t>
            </a:r>
            <a:r>
              <a:rPr lang="zh-CN" altLang="en-US" dirty="0" smtClean="0"/>
              <a:t>元</a:t>
            </a:r>
            <a:endParaRPr lang="en-US" altLang="zh-CN" dirty="0" smtClean="0"/>
          </a:p>
          <a:p>
            <a:pPr lvl="1"/>
            <a:endParaRPr lang="en-US" altLang="zh-CN" dirty="0"/>
          </a:p>
          <a:p>
            <a:r>
              <a:rPr lang="zh-CN" altLang="en-US" dirty="0"/>
              <a:t>扣非后归属母公司股东的净</a:t>
            </a:r>
            <a:r>
              <a:rPr lang="zh-CN" altLang="en-US" dirty="0" smtClean="0"/>
              <a:t>利润只有</a:t>
            </a:r>
            <a:r>
              <a:rPr lang="en-US" altLang="zh-CN" dirty="0" smtClean="0"/>
              <a:t>522</a:t>
            </a:r>
            <a:r>
              <a:rPr lang="zh-CN" altLang="en-US" dirty="0" smtClean="0"/>
              <a:t>亿元</a:t>
            </a:r>
            <a:endParaRPr lang="zh-CN" altLang="en-US" dirty="0">
              <a:latin typeface="宋体" panose="02010600030101010101" pitchFamily="2" charset="-122"/>
            </a:endParaRPr>
          </a:p>
        </p:txBody>
      </p:sp>
    </p:spTree>
    <p:extLst>
      <p:ext uri="{BB962C8B-B14F-4D97-AF65-F5344CB8AC3E}">
        <p14:creationId xmlns:p14="http://schemas.microsoft.com/office/powerpoint/2010/main" val="208087243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若干财务指标</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361222524"/>
              </p:ext>
            </p:extLst>
          </p:nvPr>
        </p:nvGraphicFramePr>
        <p:xfrm>
          <a:off x="838200" y="1690694"/>
          <a:ext cx="10327104" cy="4864111"/>
        </p:xfrm>
        <a:graphic>
          <a:graphicData uri="http://schemas.openxmlformats.org/drawingml/2006/table">
            <a:tbl>
              <a:tblPr>
                <a:tableStyleId>{5C22544A-7EE6-4342-B048-85BDC9FD1C3A}</a:tableStyleId>
              </a:tblPr>
              <a:tblGrid>
                <a:gridCol w="1169107"/>
                <a:gridCol w="2070292"/>
                <a:gridCol w="2435638"/>
                <a:gridCol w="2727914"/>
                <a:gridCol w="1924153"/>
              </a:tblGrid>
              <a:tr h="413291">
                <a:tc>
                  <a:txBody>
                    <a:bodyPr/>
                    <a:lstStyle/>
                    <a:p>
                      <a:pPr algn="r" fontAlgn="b"/>
                      <a:r>
                        <a:rPr lang="zh-CN" altLang="en-US" sz="2000" u="none" strike="noStrike" dirty="0">
                          <a:effectLst/>
                        </a:rPr>
                        <a:t>年度</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净利润增速（</a:t>
                      </a:r>
                      <a:r>
                        <a:rPr lang="en-US" altLang="zh-CN" sz="2000" u="none" strike="noStrike" dirty="0">
                          <a:effectLst/>
                        </a:rPr>
                        <a:t>%</a:t>
                      </a:r>
                      <a:r>
                        <a:rPr lang="zh-CN" altLang="en-US" sz="2000" u="none" strike="noStrike" dirty="0">
                          <a:effectLst/>
                        </a:rPr>
                        <a:t>）</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扣非净利润增速（</a:t>
                      </a:r>
                      <a:r>
                        <a:rPr lang="en-US" altLang="zh-CN" sz="2000" u="none" strike="noStrike" dirty="0">
                          <a:effectLst/>
                        </a:rPr>
                        <a:t>%</a:t>
                      </a:r>
                      <a:r>
                        <a:rPr lang="zh-CN" altLang="en-US" sz="2000" u="none" strike="noStrike" dirty="0">
                          <a:effectLst/>
                        </a:rPr>
                        <a:t>）</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扣非后</a:t>
                      </a:r>
                      <a:r>
                        <a:rPr lang="en-US" sz="2000" u="none" strike="noStrike" dirty="0">
                          <a:effectLst/>
                        </a:rPr>
                        <a:t>ROE(</a:t>
                      </a:r>
                      <a:r>
                        <a:rPr lang="zh-CN" altLang="en-US" sz="2000" u="none" strike="noStrike" dirty="0">
                          <a:effectLst/>
                        </a:rPr>
                        <a:t>摊薄</a:t>
                      </a:r>
                      <a:r>
                        <a:rPr lang="en-US" altLang="zh-CN" sz="2000" u="none" strike="noStrike" dirty="0">
                          <a:effectLst/>
                        </a:rPr>
                        <a:t>)(%)</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zh-CN" altLang="en-US" sz="2000" u="none" strike="noStrike" dirty="0">
                          <a:effectLst/>
                        </a:rPr>
                        <a:t>销售毛利率</a:t>
                      </a:r>
                      <a:r>
                        <a:rPr lang="en-US" altLang="zh-CN" sz="2000" u="none" strike="noStrike" dirty="0">
                          <a:effectLst/>
                        </a:rPr>
                        <a:t>(%)</a:t>
                      </a:r>
                      <a:endParaRPr lang="zh-CN" altLang="en-US" sz="2000" b="0" i="0" u="none" strike="noStrike" dirty="0">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2021</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dirty="0">
                          <a:effectLst/>
                        </a:rPr>
                        <a:t>41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-43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7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44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2020</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dirty="0">
                          <a:effectLst/>
                        </a:rPr>
                        <a:t>71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30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16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46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2019</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19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62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19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44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2018</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10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-14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15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45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2017</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74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50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23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49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2016</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43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36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23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56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2015</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21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33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25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60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2014</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54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24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27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61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2013</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22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19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30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54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r>
              <a:tr h="445082">
                <a:tc>
                  <a:txBody>
                    <a:bodyPr/>
                    <a:lstStyle/>
                    <a:p>
                      <a:pPr algn="r" fontAlgn="b"/>
                      <a:r>
                        <a:rPr lang="en-US" altLang="zh-CN" sz="2000" u="none" strike="noStrike">
                          <a:effectLst/>
                        </a:rPr>
                        <a:t>2012</a:t>
                      </a:r>
                      <a:endParaRPr lang="en-US" altLang="zh-CN" sz="2000" b="0" i="0" u="none" strike="noStrike">
                        <a:effectLst/>
                        <a:latin typeface="Arial" panose="020B0604020202020204" pitchFamily="34" charset="0"/>
                      </a:endParaRPr>
                    </a:p>
                  </a:txBody>
                  <a:tcPr marL="6350" marR="6350" marT="6350" marB="0" anchor="ctr"/>
                </a:tc>
                <a:tc>
                  <a:txBody>
                    <a:bodyPr/>
                    <a:lstStyle/>
                    <a:p>
                      <a:pPr algn="r" fontAlgn="b"/>
                      <a:r>
                        <a:rPr lang="en-US" altLang="zh-CN" sz="2000" u="none" strike="noStrike">
                          <a:effectLst/>
                        </a:rPr>
                        <a:t>25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32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a:effectLst/>
                        </a:rPr>
                        <a:t>36 </a:t>
                      </a:r>
                      <a:endParaRPr lang="en-US" altLang="zh-CN" sz="2000" b="0" i="0" u="none" strike="noStrike">
                        <a:effectLst/>
                        <a:latin typeface="宋体" panose="02010600030101010101" pitchFamily="2" charset="-122"/>
                        <a:ea typeface="宋体" panose="02010600030101010101" pitchFamily="2" charset="-122"/>
                      </a:endParaRPr>
                    </a:p>
                  </a:txBody>
                  <a:tcPr marL="6350" marR="6350" marT="6350" marB="0" anchor="ctr"/>
                </a:tc>
                <a:tc>
                  <a:txBody>
                    <a:bodyPr/>
                    <a:lstStyle/>
                    <a:p>
                      <a:pPr algn="r" fontAlgn="b"/>
                      <a:r>
                        <a:rPr lang="en-US" altLang="zh-CN" sz="2000" u="none" strike="noStrike" dirty="0">
                          <a:effectLst/>
                        </a:rPr>
                        <a:t>59 </a:t>
                      </a:r>
                      <a:endParaRPr lang="en-US" altLang="zh-CN" sz="2000" b="0" i="0" u="none" strike="noStrike" dirty="0">
                        <a:effectLst/>
                        <a:latin typeface="宋体" panose="02010600030101010101" pitchFamily="2" charset="-122"/>
                        <a:ea typeface="宋体" panose="02010600030101010101" pitchFamily="2" charset="-122"/>
                      </a:endParaRPr>
                    </a:p>
                  </a:txBody>
                  <a:tcPr marL="6350" marR="6350" marT="6350" marB="0" anchor="ctr"/>
                </a:tc>
              </a:tr>
            </a:tbl>
          </a:graphicData>
        </a:graphic>
      </p:graphicFrame>
    </p:spTree>
    <p:extLst>
      <p:ext uri="{BB962C8B-B14F-4D97-AF65-F5344CB8AC3E}">
        <p14:creationId xmlns:p14="http://schemas.microsoft.com/office/powerpoint/2010/main" val="25165617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1539</TotalTime>
  <Words>4681</Words>
  <Application>Microsoft Office PowerPoint</Application>
  <PresentationFormat>宽屏</PresentationFormat>
  <Paragraphs>1370</Paragraphs>
  <Slides>88</Slides>
  <Notes>21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88</vt:i4>
      </vt:variant>
    </vt:vector>
  </HeadingPairs>
  <TitlesOfParts>
    <vt:vector size="99" baseType="lpstr">
      <vt:lpstr>华文隶书</vt:lpstr>
      <vt:lpstr>楷体_GB2312</vt:lpstr>
      <vt:lpstr>宋体</vt:lpstr>
      <vt:lpstr>Arial</vt:lpstr>
      <vt:lpstr>Calibri</vt:lpstr>
      <vt:lpstr>Calibri Light</vt:lpstr>
      <vt:lpstr>Tahoma</vt:lpstr>
      <vt:lpstr>Office 主题</vt:lpstr>
      <vt:lpstr>Equation</vt:lpstr>
      <vt:lpstr>Worksheet</vt:lpstr>
      <vt:lpstr>工作表</vt:lpstr>
      <vt:lpstr>第13次课 第３章 财务报表分析</vt:lpstr>
      <vt:lpstr>财务报表分析要注意的问题</vt:lpstr>
      <vt:lpstr>康得新财务造假：2015年1月至2018年12月，康得新通过虚构销售业务方式虚增营业收入，并通过虚构采购、生产、研发费用、产品运输费用方式虚增营业成本、研发费用和销售费用。通过上述方式，康得新2015年至2018年分别虚增利润总额23.81亿元、30.89亿元、39.74亿元和24.77亿元，在这四年里累计虚增利润总额119.21亿元。</vt:lpstr>
      <vt:lpstr>乐视网十年财务造假</vt:lpstr>
      <vt:lpstr>PowerPoint 演示文稿</vt:lpstr>
      <vt:lpstr>浑水公司如何识别瑞幸咖啡财务欺诈？</vt:lpstr>
      <vt:lpstr>欺诈的证据</vt:lpstr>
      <vt:lpstr>欺诈的信号</vt:lpstr>
      <vt:lpstr>欺诈的内在原因：商业模式存在根本性缺陷</vt:lpstr>
      <vt:lpstr>思考：浑水公司真的都对吗？</vt:lpstr>
      <vt:lpstr>在我国进行长期投资的两个关键点</vt:lpstr>
      <vt:lpstr>长江：我国的父亲河</vt:lpstr>
      <vt:lpstr>PowerPoint 演示文稿</vt:lpstr>
      <vt:lpstr>长江电力的核心资产 —六个巨型水电站 （2023.1.11乌东德、白鹤滩注入）</vt:lpstr>
      <vt:lpstr>公司六大电站分布示意图</vt:lpstr>
      <vt:lpstr>六座电站发电情况 2018-2025（亿千万时）</vt:lpstr>
      <vt:lpstr>低风险较高收益率：长江电力（600900.SH）</vt:lpstr>
      <vt:lpstr>长江电力（600900.SH）季度K线图</vt:lpstr>
      <vt:lpstr>长江电力（600900.SH）现金分红情况 2024年报分红到账要到2025年7月份</vt:lpstr>
      <vt:lpstr>长江电力折旧政策的影响（单位：亿元）</vt:lpstr>
      <vt:lpstr>解释</vt:lpstr>
      <vt:lpstr>特别要注意的</vt:lpstr>
      <vt:lpstr>内容</vt:lpstr>
      <vt:lpstr>3.1　财务报表的功能</vt:lpstr>
      <vt:lpstr>3.2 财务报表回顾</vt:lpstr>
      <vt:lpstr>3.2.1 资产负债表</vt:lpstr>
      <vt:lpstr>各国会计准则的差异与趋同</vt:lpstr>
      <vt:lpstr>资产负债表</vt:lpstr>
      <vt:lpstr>贵州茅台资产负债简表 （流动资产远高于负债合计、没有实质性长期负债）</vt:lpstr>
      <vt:lpstr>中国石油资产负债表简表 （流动资产低于流动负债、非流动性负债相对较高）</vt:lpstr>
      <vt:lpstr>PowerPoint 演示文稿</vt:lpstr>
      <vt:lpstr>3.2.2损益表</vt:lpstr>
      <vt:lpstr>损益表</vt:lpstr>
      <vt:lpstr>贵州茅台利润表简表（酱香科技、easy money!）</vt:lpstr>
      <vt:lpstr>中国石油利润表简表</vt:lpstr>
      <vt:lpstr>PowerPoint 演示文稿</vt:lpstr>
      <vt:lpstr>3.2.3现金流量表</vt:lpstr>
      <vt:lpstr>贵州茅台现金流量表简表</vt:lpstr>
      <vt:lpstr>中国石油现金流量表简表</vt:lpstr>
      <vt:lpstr>PowerPoint 演示文稿</vt:lpstr>
      <vt:lpstr>现金流量表的编制方法</vt:lpstr>
      <vt:lpstr>3.2.4财务报表注释</vt:lpstr>
      <vt:lpstr>PowerPoint 演示文稿</vt:lpstr>
      <vt:lpstr>3.3　市场价格与帐面价值</vt:lpstr>
      <vt:lpstr>中国石油与贵州茅台比较</vt:lpstr>
      <vt:lpstr>3.4 收入的会计标准与经济标准</vt:lpstr>
      <vt:lpstr>Accounting v. Economic Measures of Income: Example</vt:lpstr>
      <vt:lpstr>3.5 股东总收益率和股权收益率（ROE）</vt:lpstr>
      <vt:lpstr>净资产收益率ROE</vt:lpstr>
      <vt:lpstr>贵州茅台的盈利能力</vt:lpstr>
      <vt:lpstr>贵州茅台、片仔癀、长江电力、中国石油ROE比较（%） ROE=扣除非经常损益的净利润/期初期末平均净资产</vt:lpstr>
      <vt:lpstr>扣非归属母公司股东净利润及其年增速</vt:lpstr>
      <vt:lpstr>3.5 财务比率分析</vt:lpstr>
      <vt:lpstr>PowerPoint 演示文稿</vt:lpstr>
      <vt:lpstr>财务比率分析之一：盈利能力比率</vt:lpstr>
      <vt:lpstr>财务比率分析之二：资产周转率</vt:lpstr>
      <vt:lpstr>财务比率分析之三：财务杠杆</vt:lpstr>
      <vt:lpstr>财务比率分析之四： 流动比率</vt:lpstr>
      <vt:lpstr>财务比率分析之五：市场价值</vt:lpstr>
      <vt:lpstr>公司财务比率的比较</vt:lpstr>
      <vt:lpstr>3.6.1 财务比率之间的关系</vt:lpstr>
      <vt:lpstr>PowerPoint 演示文稿</vt:lpstr>
      <vt:lpstr>为什么要两班倒、每班12个小时？</vt:lpstr>
      <vt:lpstr>3.6.2 财务杠杆的效应</vt:lpstr>
      <vt:lpstr>简单例子——融资炒股</vt:lpstr>
      <vt:lpstr>简单例子——配资炒股</vt:lpstr>
      <vt:lpstr>例子</vt:lpstr>
      <vt:lpstr>Case: 借款利率为 10%</vt:lpstr>
      <vt:lpstr>Case: 借款利率为 15%</vt:lpstr>
      <vt:lpstr>Case: 借款利率为 10%:商业周期对 ROE的影响</vt:lpstr>
      <vt:lpstr>3.6.3 财务比率分析的局限性</vt:lpstr>
      <vt:lpstr>3.7 财务规划过程</vt:lpstr>
      <vt:lpstr>PowerPoint 演示文稿</vt:lpstr>
      <vt:lpstr>PowerPoint 演示文稿</vt:lpstr>
      <vt:lpstr>3.8 财务规划建模</vt:lpstr>
      <vt:lpstr>例子</vt:lpstr>
      <vt:lpstr>PowerPoint 演示文稿</vt:lpstr>
      <vt:lpstr>PowerPoint 演示文稿</vt:lpstr>
      <vt:lpstr>3.9 增长与外部融资需求</vt:lpstr>
      <vt:lpstr>PowerPoint 演示文稿</vt:lpstr>
      <vt:lpstr>3.9.1 公司的可持续增长率</vt:lpstr>
      <vt:lpstr>可持续增长增长举例</vt:lpstr>
      <vt:lpstr>3.10 营运资本管理</vt:lpstr>
      <vt:lpstr>PowerPoint 演示文稿</vt:lpstr>
      <vt:lpstr>3.11 流动性和现金预算</vt:lpstr>
      <vt:lpstr>腾讯控股(0700.HK)关键财务数据（单位：亿）</vt:lpstr>
      <vt:lpstr>腾讯的非经常性损益</vt:lpstr>
      <vt:lpstr>若干财务指标</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第３章  　财务报表分析</dc:title>
  <dc:creator>2069912353@qq.com</dc:creator>
  <cp:lastModifiedBy>Microsoft 帐户</cp:lastModifiedBy>
  <cp:revision>96</cp:revision>
  <dcterms:created xsi:type="dcterms:W3CDTF">2020-04-08T11:57:31Z</dcterms:created>
  <dcterms:modified xsi:type="dcterms:W3CDTF">2026-05-19T12:35:10Z</dcterms:modified>
</cp:coreProperties>
</file>