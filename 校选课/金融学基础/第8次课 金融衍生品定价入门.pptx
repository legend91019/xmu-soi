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99" r:id="rId3"/>
    <p:sldId id="265" r:id="rId4"/>
    <p:sldId id="257" r:id="rId5"/>
    <p:sldId id="258" r:id="rId6"/>
    <p:sldId id="259" r:id="rId7"/>
    <p:sldId id="298" r:id="rId8"/>
    <p:sldId id="266" r:id="rId9"/>
    <p:sldId id="267" r:id="rId10"/>
    <p:sldId id="268" r:id="rId11"/>
    <p:sldId id="269" r:id="rId12"/>
    <p:sldId id="272" r:id="rId13"/>
    <p:sldId id="273" r:id="rId14"/>
    <p:sldId id="270" r:id="rId15"/>
    <p:sldId id="271" r:id="rId16"/>
    <p:sldId id="275" r:id="rId17"/>
    <p:sldId id="295" r:id="rId18"/>
    <p:sldId id="296" r:id="rId19"/>
    <p:sldId id="297" r:id="rId20"/>
    <p:sldId id="281" r:id="rId21"/>
    <p:sldId id="282" r:id="rId22"/>
    <p:sldId id="306" r:id="rId23"/>
    <p:sldId id="307" r:id="rId24"/>
    <p:sldId id="308" r:id="rId25"/>
    <p:sldId id="309" r:id="rId26"/>
    <p:sldId id="310" r:id="rId27"/>
    <p:sldId id="311" r:id="rId28"/>
    <p:sldId id="315" r:id="rId29"/>
    <p:sldId id="312" r:id="rId30"/>
    <p:sldId id="276" r:id="rId31"/>
    <p:sldId id="316" r:id="rId32"/>
    <p:sldId id="318" r:id="rId33"/>
    <p:sldId id="261" r:id="rId34"/>
    <p:sldId id="262" r:id="rId35"/>
    <p:sldId id="263" r:id="rId36"/>
    <p:sldId id="264" r:id="rId37"/>
    <p:sldId id="278" r:id="rId38"/>
    <p:sldId id="279" r:id="rId39"/>
    <p:sldId id="280" r:id="rId40"/>
    <p:sldId id="277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313" r:id="rId51"/>
    <p:sldId id="292" r:id="rId52"/>
    <p:sldId id="293" r:id="rId53"/>
    <p:sldId id="294" r:id="rId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3DC89-AA74-4116-B48C-0E816CEC3C2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171F7-9EFF-4C5A-9773-1C0D59ABCE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17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E19B0D-253A-448F-B392-8A0A82C6E3F2}" type="slidenum">
              <a:rPr lang="zh-CN" altLang="en-US"/>
              <a:pPr eaLnBrk="1" hangingPunct="1"/>
              <a:t>52</a:t>
            </a:fld>
            <a:endParaRPr lang="en-US" altLang="zh-CN"/>
          </a:p>
        </p:txBody>
      </p:sp>
      <p:sp>
        <p:nvSpPr>
          <p:cNvPr id="29699" name="Rectangle 5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CBA3DE07-5996-4AC5-A758-5A3263F6C00A}" type="slidenum">
              <a:rPr lang="zh-CN" altLang="en-US" sz="1000" i="1">
                <a:latin typeface="Times New Roman" panose="02020603050405020304" pitchFamily="18" charset="0"/>
              </a:rPr>
              <a:pPr algn="r"/>
              <a:t>52</a:t>
            </a:fld>
            <a:endParaRPr lang="en-US" altLang="zh-CN" sz="1000" i="1">
              <a:latin typeface="Times New Roman" panose="02020603050405020304" pitchFamily="18" charset="0"/>
            </a:endParaRPr>
          </a:p>
        </p:txBody>
      </p:sp>
      <p:sp>
        <p:nvSpPr>
          <p:cNvPr id="297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ln cap="flat"/>
        </p:spPr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</a:pPr>
            <a:endParaRPr lang="zh-CN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44307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ED64C76-F41C-493C-AC61-EEB0881A8451}" type="slidenum">
              <a:rPr lang="zh-CN" altLang="en-US"/>
              <a:pPr eaLnBrk="1" hangingPunct="1"/>
              <a:t>53</a:t>
            </a:fld>
            <a:endParaRPr lang="en-US" altLang="zh-CN"/>
          </a:p>
        </p:txBody>
      </p:sp>
      <p:sp>
        <p:nvSpPr>
          <p:cNvPr id="30723" name="Rectangle 5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42AFE3DE-327C-479F-A443-599A9739A698}" type="slidenum">
              <a:rPr lang="zh-CN" altLang="en-US" sz="1000" i="1">
                <a:latin typeface="Times New Roman" panose="02020603050405020304" pitchFamily="18" charset="0"/>
              </a:rPr>
              <a:pPr algn="r"/>
              <a:t>53</a:t>
            </a:fld>
            <a:endParaRPr lang="en-US" altLang="zh-CN" sz="1000" i="1">
              <a:latin typeface="Times New Roman" panose="02020603050405020304" pitchFamily="18" charset="0"/>
            </a:endParaRPr>
          </a:p>
        </p:txBody>
      </p:sp>
      <p:sp>
        <p:nvSpPr>
          <p:cNvPr id="307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ln cap="flat"/>
        </p:spPr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</a:pPr>
            <a:endParaRPr lang="zh-CN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653135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80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92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95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971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3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13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39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38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10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56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397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23A40183-78C4-459C-9083-D43C9E4A42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394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D91E4-25E3-4B88-8314-ADC1AB9833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85051-EC56-4E3B-8D09-AD6FE2D55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590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7.emf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0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9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0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8</a:t>
            </a:r>
            <a:r>
              <a:rPr lang="zh-CN" altLang="en-US" dirty="0" smtClean="0"/>
              <a:t>次课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金融衍生品定价入门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520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远期价格与预付远期价格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390653"/>
              </p:ext>
            </p:extLst>
          </p:nvPr>
        </p:nvGraphicFramePr>
        <p:xfrm>
          <a:off x="1965960" y="2194561"/>
          <a:ext cx="8723376" cy="3110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Equation" r:id="rId3" imgW="3924000" imgH="1777680" progId="Equation.DSMT4">
                  <p:embed/>
                </p:oleObj>
              </mc:Choice>
              <mc:Fallback>
                <p:oleObj name="Equation" r:id="rId3" imgW="3924000" imgH="1777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960" y="2194561"/>
                        <a:ext cx="8723376" cy="3110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386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  </a:t>
            </a:r>
            <a:r>
              <a:rPr lang="zh-CN" altLang="en-US" dirty="0" smtClean="0"/>
              <a:t>组合复制问题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金融期货的定价</a:t>
            </a:r>
            <a:endParaRPr lang="en-US" altLang="zh-CN" dirty="0" smtClean="0"/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期权平价公式及其证明</a:t>
            </a:r>
            <a:endParaRPr lang="en-US" altLang="zh-CN" dirty="0" smtClean="0"/>
          </a:p>
          <a:p>
            <a:r>
              <a:rPr lang="en-US" altLang="zh-CN" dirty="0" smtClean="0"/>
              <a:t>4. </a:t>
            </a:r>
            <a:r>
              <a:rPr lang="zh-CN" altLang="en-US" dirty="0" smtClean="0"/>
              <a:t>期权的二叉树定价方法</a:t>
            </a:r>
            <a:endParaRPr lang="en-US" altLang="zh-CN" dirty="0" smtClean="0"/>
          </a:p>
          <a:p>
            <a:r>
              <a:rPr lang="en-US" altLang="zh-CN" smtClean="0"/>
              <a:t>5. </a:t>
            </a:r>
            <a:r>
              <a:rPr lang="zh-CN" altLang="en-US" smtClean="0"/>
              <a:t>实物</a:t>
            </a:r>
            <a:r>
              <a:rPr lang="zh-CN" altLang="en-US" dirty="0" smtClean="0"/>
              <a:t>期权简介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683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1. </a:t>
            </a:r>
            <a:r>
              <a:rPr lang="zh-CN" altLang="en-US" dirty="0" smtClean="0"/>
              <a:t>组合复制问题：例子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组合</a:t>
            </a:r>
            <a:r>
              <a:rPr lang="en-US" altLang="zh-CN" dirty="0" smtClean="0"/>
              <a:t>A</a:t>
            </a:r>
            <a:endParaRPr lang="en-US" altLang="zh-CN" dirty="0"/>
          </a:p>
          <a:p>
            <a:pPr lvl="1"/>
            <a:r>
              <a:rPr lang="zh-CN" altLang="en-US" dirty="0" smtClean="0"/>
              <a:t>远期合约多头（交割价</a:t>
            </a:r>
            <a:r>
              <a:rPr lang="en-US" altLang="zh-CN" dirty="0" smtClean="0"/>
              <a:t>1020 </a:t>
            </a:r>
            <a:r>
              <a:rPr lang="zh-CN" altLang="en-US" dirty="0" smtClean="0"/>
              <a:t>） </a:t>
            </a:r>
            <a:endParaRPr lang="en-US" altLang="zh-CN" dirty="0" smtClean="0"/>
          </a:p>
          <a:p>
            <a:pPr lvl="1"/>
            <a:r>
              <a:rPr lang="zh-CN" altLang="en-US" dirty="0"/>
              <a:t>零息</a:t>
            </a:r>
            <a:r>
              <a:rPr lang="zh-CN" altLang="en-US" dirty="0" smtClean="0"/>
              <a:t>债（面值</a:t>
            </a:r>
            <a:r>
              <a:rPr lang="en-US" altLang="zh-CN" dirty="0" smtClean="0"/>
              <a:t>1020</a:t>
            </a:r>
            <a:r>
              <a:rPr lang="zh-CN" altLang="en-US" dirty="0" smtClean="0"/>
              <a:t>，现值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组合</a:t>
            </a:r>
            <a:r>
              <a:rPr lang="en-US" altLang="zh-CN" dirty="0" smtClean="0"/>
              <a:t>B</a:t>
            </a:r>
          </a:p>
          <a:p>
            <a:pPr lvl="1"/>
            <a:r>
              <a:rPr lang="zh-CN" altLang="en-US" dirty="0" smtClean="0"/>
              <a:t>现货资产（远期合约对应的标的资产，为简单起见，假定标的资产不分红）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691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到期时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组合</a:t>
            </a:r>
            <a:r>
              <a:rPr lang="en-US" altLang="zh-CN" dirty="0" smtClean="0"/>
              <a:t>A</a:t>
            </a:r>
          </a:p>
          <a:p>
            <a:pPr lvl="1"/>
            <a:r>
              <a:rPr lang="zh-CN" altLang="en-US" dirty="0" smtClean="0"/>
              <a:t>零息债的价值为</a:t>
            </a:r>
            <a:r>
              <a:rPr lang="en-US" altLang="zh-CN" dirty="0" smtClean="0"/>
              <a:t>1020</a:t>
            </a:r>
            <a:r>
              <a:rPr lang="zh-CN" altLang="en-US" dirty="0" smtClean="0"/>
              <a:t>（零时刻的价值为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远期合约多头支付</a:t>
            </a:r>
            <a:r>
              <a:rPr lang="en-US" altLang="zh-CN" dirty="0" smtClean="0"/>
              <a:t>1020</a:t>
            </a:r>
            <a:r>
              <a:rPr lang="zh-CN" altLang="en-US" dirty="0" smtClean="0"/>
              <a:t>，获得标的资产现货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组合</a:t>
            </a:r>
            <a:r>
              <a:rPr lang="en-US" altLang="zh-CN" dirty="0" smtClean="0"/>
              <a:t>B</a:t>
            </a:r>
          </a:p>
          <a:p>
            <a:pPr lvl="1"/>
            <a:r>
              <a:rPr lang="zh-CN" altLang="en-US" dirty="0" smtClean="0"/>
              <a:t>持有现货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385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由于在到期时，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组合</a:t>
            </a:r>
            <a:r>
              <a:rPr lang="en-US" altLang="zh-CN" dirty="0" smtClean="0">
                <a:ea typeface="宋体" panose="02010600030101010101" pitchFamily="2" charset="-122"/>
              </a:rPr>
              <a:t>A</a:t>
            </a:r>
            <a:r>
              <a:rPr lang="zh-CN" altLang="en-US" dirty="0" smtClean="0">
                <a:ea typeface="宋体" panose="02010600030101010101" pitchFamily="2" charset="-122"/>
              </a:rPr>
              <a:t>与 组合</a:t>
            </a:r>
            <a:r>
              <a:rPr lang="en-US" altLang="zh-CN" dirty="0" smtClean="0">
                <a:ea typeface="宋体" panose="02010600030101010101" pitchFamily="2" charset="-122"/>
              </a:rPr>
              <a:t>B</a:t>
            </a:r>
            <a:r>
              <a:rPr lang="zh-CN" altLang="en-US" dirty="0" smtClean="0">
                <a:ea typeface="宋体" panose="02010600030101010101" pitchFamily="2" charset="-122"/>
              </a:rPr>
              <a:t>有完全相同的现金流，而他们在期间均没有产生现金流，因此，在</a:t>
            </a:r>
            <a:r>
              <a:rPr lang="en-US" altLang="zh-CN" dirty="0" smtClean="0">
                <a:ea typeface="宋体" panose="02010600030101010101" pitchFamily="2" charset="-122"/>
              </a:rPr>
              <a:t>0</a:t>
            </a:r>
            <a:r>
              <a:rPr lang="zh-CN" altLang="en-US" dirty="0" smtClean="0">
                <a:ea typeface="宋体" panose="02010600030101010101" pitchFamily="2" charset="-122"/>
              </a:rPr>
              <a:t>时刻他们必须具有相同的价值。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这样，使用 </a:t>
            </a:r>
            <a:r>
              <a:rPr lang="en-US" altLang="zh-CN" dirty="0" smtClean="0">
                <a:ea typeface="宋体" panose="02010600030101010101" pitchFamily="2" charset="-122"/>
              </a:rPr>
              <a:t>Forward + bond </a:t>
            </a:r>
            <a:r>
              <a:rPr lang="zh-CN" altLang="en-US" dirty="0" smtClean="0">
                <a:ea typeface="宋体" panose="02010600030101010101" pitchFamily="2" charset="-122"/>
              </a:rPr>
              <a:t>就可以完全复制出 </a:t>
            </a:r>
            <a:r>
              <a:rPr lang="en-US" altLang="zh-CN" dirty="0" smtClean="0">
                <a:ea typeface="宋体" panose="02010600030101010101" pitchFamily="2" charset="-122"/>
              </a:rPr>
              <a:t>Underlying asset.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809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商品基金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商品基金并不直接投资于大宗商品现货，而是投资于相应的期货品种，同时持有相应的债券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如 罗杰斯的商品基金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430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宋体" panose="02010600030101010101" pitchFamily="2" charset="-122"/>
              </a:rPr>
              <a:t>证明要点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如果两个组合</a:t>
            </a:r>
            <a:r>
              <a:rPr lang="zh-CN" altLang="en-US" b="1" smtClean="0">
                <a:solidFill>
                  <a:srgbClr val="FF0000"/>
                </a:solidFill>
                <a:ea typeface="宋体" panose="02010600030101010101" pitchFamily="2" charset="-122"/>
              </a:rPr>
              <a:t>到期时</a:t>
            </a:r>
            <a:r>
              <a:rPr lang="zh-CN" altLang="en-US" smtClean="0">
                <a:ea typeface="宋体" panose="02010600030101010101" pitchFamily="2" charset="-122"/>
              </a:rPr>
              <a:t>，</a:t>
            </a:r>
            <a:r>
              <a:rPr lang="zh-CN" altLang="en-US" b="1" smtClean="0">
                <a:solidFill>
                  <a:srgbClr val="FF0000"/>
                </a:solidFill>
                <a:ea typeface="宋体" panose="02010600030101010101" pitchFamily="2" charset="-122"/>
              </a:rPr>
              <a:t>在任何情况下都具有相同的现金流</a:t>
            </a:r>
            <a:r>
              <a:rPr lang="zh-CN" altLang="en-US" smtClean="0">
                <a:ea typeface="宋体" panose="02010600030101010101" pitchFamily="2" charset="-122"/>
              </a:rPr>
              <a:t>，则两个组合在期初必然具有相同的价值。</a:t>
            </a:r>
          </a:p>
        </p:txBody>
      </p:sp>
    </p:spTree>
    <p:extLst>
      <p:ext uri="{BB962C8B-B14F-4D97-AF65-F5344CB8AC3E}">
        <p14:creationId xmlns:p14="http://schemas.microsoft.com/office/powerpoint/2010/main" val="142072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宋体" panose="02010600030101010101" pitchFamily="2" charset="-122"/>
              </a:rPr>
              <a:t>组合复制要点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必须使得两个组合具有完全相同的现金流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zh-CN" altLang="en-US" smtClean="0">
                <a:ea typeface="宋体" panose="02010600030101010101" pitchFamily="2" charset="-122"/>
              </a:rPr>
              <a:t>在</a:t>
            </a:r>
            <a:r>
              <a:rPr lang="en-US" altLang="zh-CN" smtClean="0">
                <a:ea typeface="宋体" panose="02010600030101010101" pitchFamily="2" charset="-122"/>
              </a:rPr>
              <a:t>0</a:t>
            </a:r>
            <a:r>
              <a:rPr lang="zh-CN" altLang="en-US" smtClean="0">
                <a:ea typeface="宋体" panose="02010600030101010101" pitchFamily="2" charset="-122"/>
              </a:rPr>
              <a:t>时刻具有相同的现金流，在到期时具有相同的现金流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zh-CN" altLang="en-US" smtClean="0">
                <a:ea typeface="宋体" panose="02010600030101010101" pitchFamily="2" charset="-122"/>
              </a:rPr>
              <a:t>在任意情况下（而不是期望意义上）具有完全相同的现金流</a:t>
            </a:r>
          </a:p>
        </p:txBody>
      </p:sp>
    </p:spTree>
    <p:extLst>
      <p:ext uri="{BB962C8B-B14F-4D97-AF65-F5344CB8AC3E}">
        <p14:creationId xmlns:p14="http://schemas.microsoft.com/office/powerpoint/2010/main" val="40522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金融期货的定价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金融期货的存储成本可以忽略不计，且金融资产不像大宗商品（如石油、大豆）一样具有实际使用价值，因而金融期货的定价较之商品期货的定价更为简单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为简单起见，假定标的资产为不分红的股票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914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定价假设</a:t>
            </a:r>
            <a:endParaRPr lang="zh-CN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无交易费用</a:t>
            </a:r>
          </a:p>
          <a:p>
            <a:r>
              <a:rPr lang="zh-CN" altLang="en-US"/>
              <a:t>所有交易净利润使用同一税率</a:t>
            </a:r>
          </a:p>
          <a:p>
            <a:r>
              <a:rPr lang="zh-CN" altLang="en-US"/>
              <a:t>市场参与者能以同一无风险利率借入和贷出资金</a:t>
            </a:r>
          </a:p>
          <a:p>
            <a:r>
              <a:rPr lang="zh-CN" altLang="en-US"/>
              <a:t>当套利机会出现时，市场参与者将参与套利活动</a:t>
            </a:r>
          </a:p>
        </p:txBody>
      </p:sp>
    </p:spTree>
    <p:extLst>
      <p:ext uri="{BB962C8B-B14F-4D97-AF65-F5344CB8AC3E}">
        <p14:creationId xmlns:p14="http://schemas.microsoft.com/office/powerpoint/2010/main" val="45019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无套利均衡定价方法：单个资产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如果某个资产在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时刻现金流确定为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，并且该资产在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时刻与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时刻之间没有现金流，则该资产在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时刻必须具有</a:t>
            </a:r>
            <a:r>
              <a:rPr lang="en-US" altLang="zh-CN" dirty="0" smtClean="0"/>
              <a:t>0</a:t>
            </a:r>
            <a:r>
              <a:rPr lang="zh-CN" altLang="en-US" dirty="0" smtClean="0"/>
              <a:t>价值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时刻价值</a:t>
            </a:r>
            <a:r>
              <a:rPr lang="en-US" altLang="zh-CN" dirty="0" smtClean="0"/>
              <a:t>&gt;0</a:t>
            </a:r>
            <a:r>
              <a:rPr lang="zh-CN" altLang="en-US" dirty="0" smtClean="0"/>
              <a:t>，投资者可以做空该资产，在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有正的现金流入，但到期时不需要支付任何东西，这就是免费午餐，这就是财富生成器！但只要在竞争性市场，大量投资者都会做空该资产，特别是在存在大量自动化套利程序的条件下，该资产价格很快就会下跌到</a:t>
            </a:r>
            <a:r>
              <a:rPr lang="en-US" altLang="zh-CN" dirty="0" smtClean="0"/>
              <a:t>0</a:t>
            </a:r>
          </a:p>
          <a:p>
            <a:pPr lvl="1"/>
            <a:r>
              <a:rPr lang="zh-CN" altLang="en-US" dirty="0" smtClean="0"/>
              <a:t>如果在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时刻价值</a:t>
            </a:r>
            <a:r>
              <a:rPr lang="en-US" altLang="zh-CN" dirty="0" smtClean="0"/>
              <a:t>&lt;0</a:t>
            </a:r>
            <a:r>
              <a:rPr lang="zh-CN" altLang="en-US" dirty="0" smtClean="0"/>
              <a:t>，投资者可以做多该资产，在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时刻有正的现金流入（卖家给买家付钱，好比</a:t>
            </a:r>
            <a:r>
              <a:rPr lang="en-US" altLang="zh-CN" dirty="0" smtClean="0"/>
              <a:t>2020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4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21</a:t>
            </a:r>
            <a:r>
              <a:rPr lang="zh-CN" altLang="en-US" dirty="0" smtClean="0"/>
              <a:t>日的负油价），但到期时不需要支付任何东西，这就是免费午餐！但只要在竞争性市场，大量投资者都会做多该资产，特别是在存在大量自动化套利程序的条件下，该资产价格很快就会上涨到</a:t>
            </a:r>
            <a:r>
              <a:rPr lang="en-US" altLang="zh-CN" dirty="0" smtClean="0"/>
              <a:t>0</a:t>
            </a:r>
          </a:p>
          <a:p>
            <a:pPr lvl="1"/>
            <a:r>
              <a:rPr lang="zh-CN" altLang="en-US" dirty="0" smtClean="0"/>
              <a:t>由于套利力量的存在，该资产在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时刻的均衡价格为</a:t>
            </a:r>
            <a:r>
              <a:rPr lang="en-US" altLang="zh-CN" dirty="0" smtClean="0"/>
              <a:t>0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6629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无套利均衡定价方法：相关联的两个资产（或资产组合）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假定资产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和资产</a:t>
            </a:r>
            <a:r>
              <a:rPr lang="en-US" altLang="zh-CN" dirty="0" smtClean="0"/>
              <a:t>B</a:t>
            </a:r>
            <a:r>
              <a:rPr lang="zh-CN" altLang="en-US" dirty="0" smtClean="0"/>
              <a:t>在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时刻具有完全相同的现金流，并且这两个资产在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时刻与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时刻之间没有现金流，则这两个资产在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时刻必须具有相同的价值。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假如在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</a:t>
            </a:r>
            <a:r>
              <a:rPr lang="en-US" altLang="zh-CN" dirty="0" smtClean="0"/>
              <a:t>A&gt;B</a:t>
            </a:r>
            <a:r>
              <a:rPr lang="zh-CN" altLang="en-US" dirty="0" smtClean="0"/>
              <a:t>：则做空</a:t>
            </a:r>
            <a:r>
              <a:rPr lang="en-US" altLang="zh-CN" dirty="0" smtClean="0"/>
              <a:t>A</a:t>
            </a:r>
            <a:r>
              <a:rPr lang="zh-CN" altLang="en-US" dirty="0" smtClean="0"/>
              <a:t>，做多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时刻净现金流入为</a:t>
            </a:r>
            <a:r>
              <a:rPr lang="en-US" altLang="zh-CN" dirty="0" smtClean="0"/>
              <a:t>A – B &gt;0</a:t>
            </a:r>
            <a:r>
              <a:rPr lang="zh-CN" altLang="en-US" dirty="0" smtClean="0"/>
              <a:t>，由于在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时刻两个资产现金流完全相同，因此在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时刻净现金流为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，这同样是免费午餐。大量投资者都会做空</a:t>
            </a:r>
            <a:r>
              <a:rPr lang="en-US" altLang="zh-CN" dirty="0" smtClean="0"/>
              <a:t>A</a:t>
            </a:r>
            <a:r>
              <a:rPr lang="zh-CN" altLang="en-US" dirty="0" smtClean="0"/>
              <a:t>、做多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，导致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的价格下跌、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的价格上涨，很快达到均衡条件 </a:t>
            </a:r>
            <a:r>
              <a:rPr lang="en-US" altLang="zh-CN" dirty="0" smtClean="0"/>
              <a:t>A = B</a:t>
            </a:r>
          </a:p>
          <a:p>
            <a:pPr lvl="1"/>
            <a:r>
              <a:rPr lang="zh-CN" altLang="en-US" dirty="0" smtClean="0"/>
              <a:t>假如在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</a:t>
            </a:r>
            <a:r>
              <a:rPr lang="en-US" altLang="zh-CN" dirty="0" smtClean="0"/>
              <a:t>A&lt;B</a:t>
            </a:r>
            <a:r>
              <a:rPr lang="zh-CN" altLang="en-US" dirty="0" smtClean="0"/>
              <a:t>：则做多</a:t>
            </a:r>
            <a:r>
              <a:rPr lang="en-US" altLang="zh-CN" dirty="0" smtClean="0"/>
              <a:t>A</a:t>
            </a:r>
            <a:r>
              <a:rPr lang="zh-CN" altLang="en-US" dirty="0" smtClean="0"/>
              <a:t>，做空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时刻净现金流入为</a:t>
            </a:r>
            <a:r>
              <a:rPr lang="en-US" altLang="zh-CN" dirty="0" smtClean="0"/>
              <a:t>B – A &gt;0</a:t>
            </a:r>
            <a:r>
              <a:rPr lang="zh-CN" altLang="en-US" dirty="0" smtClean="0"/>
              <a:t>，由于在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时刻两个资产现金流完全相同，因此在</a:t>
            </a:r>
            <a:r>
              <a:rPr lang="en-US" altLang="zh-CN" dirty="0" smtClean="0"/>
              <a:t>T</a:t>
            </a:r>
            <a:r>
              <a:rPr lang="zh-CN" altLang="en-US" dirty="0" smtClean="0"/>
              <a:t>时刻净现金流为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，这同样是免费午餐。大量投资者都会做多</a:t>
            </a:r>
            <a:r>
              <a:rPr lang="en-US" altLang="zh-CN" dirty="0" smtClean="0"/>
              <a:t>A</a:t>
            </a:r>
            <a:r>
              <a:rPr lang="zh-CN" altLang="en-US" dirty="0" smtClean="0"/>
              <a:t>、做空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，导致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的价格上涨、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的价格下跌，很快达到均衡条件 </a:t>
            </a:r>
            <a:r>
              <a:rPr lang="en-US" altLang="zh-CN" dirty="0" smtClean="0"/>
              <a:t>A = B</a:t>
            </a:r>
          </a:p>
          <a:p>
            <a:pPr lvl="1"/>
            <a:r>
              <a:rPr lang="zh-CN" altLang="en-US" dirty="0" smtClean="0"/>
              <a:t>由于套利力量的存在，两个资产在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时刻必须具有相同的价值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5552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61640"/>
            <a:ext cx="8540936" cy="4344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3" y="1294964"/>
            <a:ext cx="11397169" cy="25546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1" y="3959352"/>
            <a:ext cx="896112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3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1285" y="1862084"/>
            <a:ext cx="6402323" cy="516314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766468"/>
              </p:ext>
            </p:extLst>
          </p:nvPr>
        </p:nvGraphicFramePr>
        <p:xfrm>
          <a:off x="2378075" y="161925"/>
          <a:ext cx="4633913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7" name="Equation" r:id="rId4" imgW="3288960" imgH="1193760" progId="Equation.DSMT4">
                  <p:embed/>
                </p:oleObj>
              </mc:Choice>
              <mc:Fallback>
                <p:oleObj name="Equation" r:id="rId4" imgW="3288960" imgH="1193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78075" y="161925"/>
                        <a:ext cx="4633913" cy="1684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556" y="2520949"/>
            <a:ext cx="8384709" cy="1324424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048968"/>
              </p:ext>
            </p:extLst>
          </p:nvPr>
        </p:nvGraphicFramePr>
        <p:xfrm>
          <a:off x="1728216" y="4170804"/>
          <a:ext cx="8229600" cy="1964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Equation" r:id="rId7" imgW="4736880" imgH="1523880" progId="Equation.DSMT4">
                  <p:embed/>
                </p:oleObj>
              </mc:Choice>
              <mc:Fallback>
                <p:oleObj name="Equation" r:id="rId7" imgW="4736880" imgH="1523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8216" y="4170804"/>
                        <a:ext cx="8229600" cy="1964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886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预付远期价格与远期合约价格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859087"/>
              </p:ext>
            </p:extLst>
          </p:nvPr>
        </p:nvGraphicFramePr>
        <p:xfrm>
          <a:off x="1657350" y="2406650"/>
          <a:ext cx="8359775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Equation" r:id="rId3" imgW="3873240" imgH="990360" progId="Equation.DSMT4">
                  <p:embed/>
                </p:oleObj>
              </mc:Choice>
              <mc:Fallback>
                <p:oleObj name="Equation" r:id="rId3" imgW="387324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7350" y="2406650"/>
                        <a:ext cx="8359775" cy="213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275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3000" dirty="0" smtClean="0"/>
              <a:t>股指期货能否预测未来的现货指数？</a:t>
            </a:r>
            <a:r>
              <a:rPr lang="en-US" altLang="zh-CN" sz="3000" dirty="0" smtClean="0"/>
              <a:t/>
            </a:r>
            <a:br>
              <a:rPr lang="en-US" altLang="zh-CN" sz="3000" dirty="0" smtClean="0"/>
            </a:br>
            <a:r>
              <a:rPr lang="zh-CN" altLang="en-US" sz="3000" dirty="0" smtClean="0"/>
              <a:t>或者说，股指期货是否具有价格发现功能？</a:t>
            </a:r>
            <a:endParaRPr lang="zh-CN" altLang="en-US" sz="3000" dirty="0"/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2554224" y="5089906"/>
            <a:ext cx="7427976" cy="1376172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因此远期合约价格低估了未来的现货价格</a:t>
            </a:r>
            <a:r>
              <a:rPr lang="en-US" altLang="zh-CN" dirty="0" smtClean="0">
                <a:ea typeface="宋体" panose="02010600030101010101" pitchFamily="2" charset="-122"/>
              </a:rPr>
              <a:t>!</a:t>
            </a:r>
          </a:p>
          <a:p>
            <a:r>
              <a:rPr lang="zh-CN" altLang="en-US" dirty="0">
                <a:ea typeface="宋体" panose="02010600030101010101" pitchFamily="2" charset="-122"/>
              </a:rPr>
              <a:t>那么，金融期货市场是否具有价格发现功能？</a:t>
            </a:r>
          </a:p>
          <a:p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t>5-</a:t>
            </a:r>
            <a:fld id="{2661457D-1037-4356-9821-07B0F2CA5BAF}" type="slidenum">
              <a:rPr lang="en-US" altLang="zh-CN" sz="1800">
                <a:solidFill>
                  <a:schemeClr val="bg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355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636024"/>
              </p:ext>
            </p:extLst>
          </p:nvPr>
        </p:nvGraphicFramePr>
        <p:xfrm>
          <a:off x="1782763" y="1684338"/>
          <a:ext cx="8628062" cy="286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Equation" r:id="rId3" imgW="3670200" imgH="1473120" progId="Equation.DSMT4">
                  <p:embed/>
                </p:oleObj>
              </mc:Choice>
              <mc:Fallback>
                <p:oleObj name="Equation" r:id="rId3" imgW="3670200" imgH="1473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3" y="1684338"/>
                        <a:ext cx="8628062" cy="286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191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ea typeface="宋体" panose="02010600030101010101" pitchFamily="2" charset="-122"/>
              </a:rPr>
              <a:t>思考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2443164" y="1649414"/>
            <a:ext cx="7920037" cy="1563687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风险溢价有价值吗？或者说，一个投资者是否需要支付成本以获得风险资产的风险溢价？</a:t>
            </a:r>
          </a:p>
        </p:txBody>
      </p:sp>
      <p:graphicFrame>
        <p:nvGraphicFramePr>
          <p:cNvPr id="39942" name="对象 5"/>
          <p:cNvGraphicFramePr>
            <a:graphicFrameLocks noChangeAspect="1"/>
          </p:cNvGraphicFramePr>
          <p:nvPr/>
        </p:nvGraphicFramePr>
        <p:xfrm>
          <a:off x="2443164" y="3587750"/>
          <a:ext cx="7756525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Equation" r:id="rId3" imgW="3213100" imgH="711200" progId="Equation.DSMT4">
                  <p:embed/>
                </p:oleObj>
              </mc:Choice>
              <mc:Fallback>
                <p:oleObj name="Equation" r:id="rId3" imgW="32131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4" y="3587750"/>
                        <a:ext cx="7756525" cy="135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121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风险溢价没有价值！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以前面例子说明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0</a:t>
            </a:r>
            <a:r>
              <a:rPr lang="zh-CN" altLang="en-US" dirty="0" smtClean="0"/>
              <a:t>时刻，该远期合约价格为</a:t>
            </a:r>
            <a:r>
              <a:rPr lang="en-US" altLang="zh-CN" dirty="0" smtClean="0"/>
              <a:t>105</a:t>
            </a:r>
            <a:r>
              <a:rPr lang="zh-CN" altLang="en-US" dirty="0" smtClean="0"/>
              <a:t>元，其标的资产到期时的期望价值为</a:t>
            </a:r>
            <a:r>
              <a:rPr lang="en-US" altLang="zh-CN" dirty="0" smtClean="0"/>
              <a:t>115</a:t>
            </a:r>
            <a:r>
              <a:rPr lang="zh-CN" altLang="en-US" dirty="0" smtClean="0"/>
              <a:t>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投资者只要进入远期合约多头，那么，期末只要支付</a:t>
            </a:r>
            <a:r>
              <a:rPr lang="en-US" altLang="zh-CN" dirty="0" smtClean="0"/>
              <a:t>105</a:t>
            </a:r>
            <a:r>
              <a:rPr lang="zh-CN" altLang="en-US" dirty="0" smtClean="0"/>
              <a:t>元就可以获得期望价值为</a:t>
            </a:r>
            <a:r>
              <a:rPr lang="en-US" altLang="zh-CN" dirty="0" smtClean="0"/>
              <a:t>115</a:t>
            </a:r>
            <a:r>
              <a:rPr lang="zh-CN" altLang="en-US" dirty="0" smtClean="0"/>
              <a:t>元的风险资产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投资者并不需要为风险溢价支付任何代价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535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货币</a:t>
            </a:r>
            <a:r>
              <a:rPr lang="zh-CN" altLang="en-US" dirty="0"/>
              <a:t>的</a:t>
            </a:r>
            <a:r>
              <a:rPr lang="zh-CN" altLang="en-US" dirty="0" smtClean="0"/>
              <a:t>远期合约定价</a:t>
            </a:r>
            <a:endParaRPr lang="zh-CN" alt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先从美元作为本币开始</a:t>
            </a:r>
          </a:p>
          <a:p>
            <a:pPr lvl="1"/>
            <a:r>
              <a:rPr lang="zh-CN" altLang="en-US" dirty="0"/>
              <a:t>外汇报价</a:t>
            </a:r>
            <a:r>
              <a:rPr lang="zh-CN" altLang="en-US" dirty="0" smtClean="0"/>
              <a:t>：</a:t>
            </a:r>
            <a:r>
              <a:rPr lang="en-US" altLang="zh-CN" dirty="0" smtClean="0"/>
              <a:t>x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代表</a:t>
            </a:r>
            <a:r>
              <a:rPr lang="zh-CN" altLang="en-US" dirty="0"/>
              <a:t>以美元表示的一单位外汇的即期价格</a:t>
            </a:r>
          </a:p>
          <a:p>
            <a:pPr lvl="1"/>
            <a:r>
              <a:rPr lang="zh-CN" altLang="en-US" dirty="0"/>
              <a:t>比如</a:t>
            </a:r>
            <a:r>
              <a:rPr lang="zh-CN" altLang="en-US" dirty="0" smtClean="0"/>
              <a:t>，假如目前现汇价格 </a:t>
            </a:r>
            <a:r>
              <a:rPr lang="en-US" altLang="zh-CN" dirty="0" smtClean="0"/>
              <a:t>1</a:t>
            </a:r>
            <a:r>
              <a:rPr lang="zh-CN" altLang="en-US" dirty="0" smtClean="0"/>
              <a:t>美元</a:t>
            </a:r>
            <a:r>
              <a:rPr lang="en-US" altLang="zh-CN" dirty="0" smtClean="0"/>
              <a:t>=100</a:t>
            </a:r>
            <a:r>
              <a:rPr lang="zh-CN" altLang="en-US" dirty="0" smtClean="0"/>
              <a:t>日元，则站在美国人角度，即期汇率为 </a:t>
            </a:r>
            <a:r>
              <a:rPr lang="en-US" altLang="zh-CN" dirty="0" smtClean="0"/>
              <a:t>0.01</a:t>
            </a:r>
            <a:r>
              <a:rPr lang="zh-CN" altLang="en-US" dirty="0" smtClean="0"/>
              <a:t>美元</a:t>
            </a:r>
            <a:endParaRPr lang="en-US" altLang="zh-CN" dirty="0"/>
          </a:p>
          <a:p>
            <a:r>
              <a:rPr lang="zh-CN" altLang="en-US" dirty="0" smtClean="0"/>
              <a:t>设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f</a:t>
            </a:r>
            <a:r>
              <a:rPr lang="zh-CN" altLang="en-US" dirty="0" smtClean="0"/>
              <a:t>为</a:t>
            </a:r>
            <a:r>
              <a:rPr lang="zh-CN" altLang="en-US" dirty="0"/>
              <a:t>外汇的无风险利率，</a:t>
            </a:r>
            <a:r>
              <a:rPr lang="en-US" altLang="zh-CN" dirty="0"/>
              <a:t>r</a:t>
            </a:r>
            <a:r>
              <a:rPr lang="zh-CN" altLang="en-US" dirty="0"/>
              <a:t>为本币的无风险</a:t>
            </a:r>
            <a:r>
              <a:rPr lang="zh-CN" altLang="en-US" dirty="0" smtClean="0"/>
              <a:t>利率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724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271016" y="304800"/>
            <a:ext cx="9116568" cy="6400800"/>
          </a:xfrm>
        </p:spPr>
        <p:txBody>
          <a:bodyPr/>
          <a:lstStyle/>
          <a:p>
            <a:r>
              <a:rPr lang="zh-CN" altLang="en-US" dirty="0"/>
              <a:t>考虑如下投资策略</a:t>
            </a:r>
          </a:p>
          <a:p>
            <a:pPr lvl="1"/>
            <a:r>
              <a:rPr lang="en-US" altLang="zh-CN" dirty="0"/>
              <a:t>1.</a:t>
            </a:r>
            <a:r>
              <a:rPr lang="zh-CN" altLang="en-US" dirty="0"/>
              <a:t>购买           金额的现汇</a:t>
            </a:r>
          </a:p>
          <a:p>
            <a:pPr lvl="1"/>
            <a:r>
              <a:rPr lang="en-US" altLang="zh-CN" dirty="0"/>
              <a:t>2.</a:t>
            </a:r>
            <a:r>
              <a:rPr lang="zh-CN" altLang="en-US" dirty="0"/>
              <a:t>卖空一单位外汇的一个远期合约</a:t>
            </a:r>
          </a:p>
          <a:p>
            <a:pPr lvl="1"/>
            <a:endParaRPr lang="zh-CN" altLang="en-US" dirty="0"/>
          </a:p>
          <a:p>
            <a:r>
              <a:rPr lang="zh-CN" altLang="en-US" dirty="0"/>
              <a:t>到期时</a:t>
            </a:r>
          </a:p>
          <a:p>
            <a:pPr lvl="1"/>
            <a:r>
              <a:rPr lang="zh-CN" altLang="en-US" dirty="0"/>
              <a:t>所持有的外汇为一单位</a:t>
            </a:r>
          </a:p>
          <a:p>
            <a:pPr lvl="1"/>
            <a:r>
              <a:rPr lang="zh-CN" altLang="en-US" dirty="0"/>
              <a:t>按照远期合约，将一单位外汇以</a:t>
            </a:r>
            <a:r>
              <a:rPr lang="en-US" altLang="zh-CN" dirty="0"/>
              <a:t>F</a:t>
            </a:r>
            <a:r>
              <a:rPr lang="zh-CN" altLang="en-US" dirty="0"/>
              <a:t>的价格卖出</a:t>
            </a:r>
          </a:p>
          <a:p>
            <a:pPr lvl="1"/>
            <a:endParaRPr lang="zh-CN" altLang="en-US" dirty="0"/>
          </a:p>
          <a:p>
            <a:r>
              <a:rPr lang="zh-CN" altLang="en-US" dirty="0"/>
              <a:t>现金流</a:t>
            </a:r>
          </a:p>
          <a:p>
            <a:pPr lvl="1"/>
            <a:r>
              <a:rPr lang="zh-CN" altLang="en-US" dirty="0"/>
              <a:t>期初流出</a:t>
            </a:r>
          </a:p>
          <a:p>
            <a:pPr lvl="1"/>
            <a:r>
              <a:rPr lang="zh-CN" altLang="en-US" dirty="0"/>
              <a:t>期末流入</a:t>
            </a:r>
            <a:r>
              <a:rPr lang="en-US" altLang="zh-CN" dirty="0"/>
              <a:t>F</a:t>
            </a:r>
            <a:r>
              <a:rPr lang="zh-CN" altLang="en-US" dirty="0"/>
              <a:t>，其现值为</a:t>
            </a:r>
          </a:p>
          <a:p>
            <a:pPr lvl="1"/>
            <a:endParaRPr lang="zh-CN" altLang="en-US" dirty="0"/>
          </a:p>
          <a:p>
            <a:pPr>
              <a:buFontTx/>
              <a:buNone/>
            </a:pPr>
            <a:endParaRPr lang="en-US" altLang="zh-CN" dirty="0"/>
          </a:p>
        </p:txBody>
      </p:sp>
      <p:graphicFrame>
        <p:nvGraphicFramePr>
          <p:cNvPr id="73731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826738001"/>
              </p:ext>
            </p:extLst>
          </p:nvPr>
        </p:nvGraphicFramePr>
        <p:xfrm>
          <a:off x="2895600" y="722376"/>
          <a:ext cx="609600" cy="450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8" name="Equation" r:id="rId3" imgW="304560" imgH="215640" progId="Equation.DSMT4">
                  <p:embed/>
                </p:oleObj>
              </mc:Choice>
              <mc:Fallback>
                <p:oleObj name="Equation" r:id="rId3" imgW="304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722376"/>
                        <a:ext cx="609600" cy="450978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2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492875923"/>
              </p:ext>
            </p:extLst>
          </p:nvPr>
        </p:nvGraphicFramePr>
        <p:xfrm>
          <a:off x="3306763" y="4111625"/>
          <a:ext cx="7016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9" name="Equation" r:id="rId5" imgW="431640" imgH="253800" progId="Equation.DSMT4">
                  <p:embed/>
                </p:oleObj>
              </mc:Choice>
              <mc:Fallback>
                <p:oleObj name="Equation" r:id="rId5" imgW="4316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4111625"/>
                        <a:ext cx="701675" cy="41275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494229"/>
              </p:ext>
            </p:extLst>
          </p:nvPr>
        </p:nvGraphicFramePr>
        <p:xfrm>
          <a:off x="4953000" y="4524502"/>
          <a:ext cx="6096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0" name="Equation" r:id="rId7" imgW="368280" imgH="203040" progId="Equation.DSMT4">
                  <p:embed/>
                </p:oleObj>
              </mc:Choice>
              <mc:Fallback>
                <p:oleObj name="Equation" r:id="rId7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24502"/>
                        <a:ext cx="609600" cy="33655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429110"/>
              </p:ext>
            </p:extLst>
          </p:nvPr>
        </p:nvGraphicFramePr>
        <p:xfrm>
          <a:off x="3090863" y="5068888"/>
          <a:ext cx="4213225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1" name="Equation" r:id="rId9" imgW="1638000" imgH="533160" progId="Equation.DSMT4">
                  <p:embed/>
                </p:oleObj>
              </mc:Choice>
              <mc:Fallback>
                <p:oleObj name="Equation" r:id="rId9" imgW="16380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5068888"/>
                        <a:ext cx="4213225" cy="1263650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31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欧式看涨期权买方的权利</a:t>
            </a:r>
          </a:p>
        </p:txBody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在未来特点的时间（到期日）；</a:t>
            </a:r>
          </a:p>
          <a:p>
            <a:r>
              <a:rPr lang="zh-CN" altLang="en-US" dirty="0" smtClean="0"/>
              <a:t>以确定的价格（敲定价（</a:t>
            </a:r>
            <a:r>
              <a:rPr lang="en-US" altLang="zh-CN" dirty="0" smtClean="0"/>
              <a:t>strike price)</a:t>
            </a:r>
            <a:r>
              <a:rPr lang="zh-CN" altLang="en-US" dirty="0" smtClean="0"/>
              <a:t>或执行价（</a:t>
            </a:r>
            <a:r>
              <a:rPr lang="en-US" altLang="zh-CN" dirty="0" smtClean="0"/>
              <a:t>exercise price))；</a:t>
            </a:r>
          </a:p>
          <a:p>
            <a:r>
              <a:rPr lang="zh-CN" altLang="en-US" dirty="0" smtClean="0"/>
              <a:t>事先确定的数量（合约规模）；</a:t>
            </a:r>
          </a:p>
          <a:p>
            <a:r>
              <a:rPr lang="zh-CN" altLang="en-US" dirty="0" smtClean="0"/>
              <a:t>来购买标的资产的权利</a:t>
            </a:r>
          </a:p>
          <a:p>
            <a:r>
              <a:rPr lang="zh-CN" altLang="en-US" dirty="0" smtClean="0"/>
              <a:t>为了获得这种权利，需要支付看涨期权金</a:t>
            </a:r>
          </a:p>
        </p:txBody>
      </p:sp>
    </p:spTree>
    <p:extLst>
      <p:ext uri="{BB962C8B-B14F-4D97-AF65-F5344CB8AC3E}">
        <p14:creationId xmlns:p14="http://schemas.microsoft.com/office/powerpoint/2010/main" val="356900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欧式看跌期权买方的权利</a:t>
            </a:r>
          </a:p>
        </p:txBody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在未来特点的时间</a:t>
            </a:r>
          </a:p>
          <a:p>
            <a:r>
              <a:rPr lang="zh-CN" altLang="en-US" smtClean="0"/>
              <a:t>以确定的价格</a:t>
            </a:r>
          </a:p>
          <a:p>
            <a:r>
              <a:rPr lang="zh-CN" altLang="en-US" smtClean="0"/>
              <a:t>事先确定的数量</a:t>
            </a:r>
          </a:p>
          <a:p>
            <a:r>
              <a:rPr lang="zh-CN" altLang="en-US" smtClean="0"/>
              <a:t>出售标的资产</a:t>
            </a:r>
          </a:p>
          <a:p>
            <a:r>
              <a:rPr lang="zh-CN" altLang="en-US" smtClean="0"/>
              <a:t>为了获得这种权利，需要支付看跌期权金</a:t>
            </a:r>
          </a:p>
        </p:txBody>
      </p:sp>
    </p:spTree>
    <p:extLst>
      <p:ext uri="{BB962C8B-B14F-4D97-AF65-F5344CB8AC3E}">
        <p14:creationId xmlns:p14="http://schemas.microsoft.com/office/powerpoint/2010/main" val="360653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期权买方和卖方的关系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买方支付期权金获得权利；卖方获得期权金，必须执行义务</a:t>
            </a:r>
          </a:p>
          <a:p>
            <a:r>
              <a:rPr lang="zh-CN" altLang="en-US" smtClean="0"/>
              <a:t>二者是一种零和博弈</a:t>
            </a:r>
          </a:p>
        </p:txBody>
      </p:sp>
    </p:spTree>
    <p:extLst>
      <p:ext uri="{BB962C8B-B14F-4D97-AF65-F5344CB8AC3E}">
        <p14:creationId xmlns:p14="http://schemas.microsoft.com/office/powerpoint/2010/main" val="162749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/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4000" dirty="0"/>
              <a:t>欧式看涨期权多头的损益分析</a:t>
            </a: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xfrm>
            <a:off x="2346325" y="1846263"/>
            <a:ext cx="7543800" cy="4246562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为简化起见，假定利率为</a:t>
            </a:r>
            <a:r>
              <a:rPr lang="en-US" altLang="zh-CN" dirty="0" smtClean="0"/>
              <a:t>0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看涨期权：期权费</a:t>
            </a:r>
            <a:r>
              <a:rPr lang="en-US" altLang="zh-CN" dirty="0" smtClean="0"/>
              <a:t>3</a:t>
            </a:r>
            <a:r>
              <a:rPr lang="zh-CN" altLang="en-US" dirty="0" smtClean="0"/>
              <a:t>元，期限</a:t>
            </a:r>
            <a:r>
              <a:rPr lang="en-US" altLang="zh-CN" dirty="0" smtClean="0"/>
              <a:t>1</a:t>
            </a:r>
            <a:r>
              <a:rPr lang="zh-CN" altLang="en-US" dirty="0" smtClean="0"/>
              <a:t>年，执行价格</a:t>
            </a:r>
            <a:r>
              <a:rPr lang="en-US" altLang="zh-CN" dirty="0" smtClean="0"/>
              <a:t>80</a:t>
            </a:r>
            <a:r>
              <a:rPr lang="zh-CN" altLang="en-US" dirty="0" smtClean="0"/>
              <a:t>元，多头有权利在</a:t>
            </a:r>
            <a:r>
              <a:rPr lang="en-US" altLang="zh-CN" dirty="0" smtClean="0"/>
              <a:t>1</a:t>
            </a:r>
            <a:r>
              <a:rPr lang="zh-CN" altLang="en-US" dirty="0" smtClean="0"/>
              <a:t>年后以</a:t>
            </a:r>
            <a:r>
              <a:rPr lang="en-US" altLang="zh-CN" dirty="0" smtClean="0"/>
              <a:t>80</a:t>
            </a:r>
            <a:r>
              <a:rPr lang="zh-CN" altLang="en-US" dirty="0" smtClean="0"/>
              <a:t>元买入股票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一年后</a:t>
            </a:r>
            <a:endParaRPr lang="en-US" altLang="zh-CN" dirty="0" smtClean="0"/>
          </a:p>
          <a:p>
            <a:r>
              <a:rPr lang="en-US" altLang="zh-CN" dirty="0" smtClean="0"/>
              <a:t>      </a:t>
            </a:r>
            <a:r>
              <a:rPr lang="zh-CN" altLang="en-US" sz="1800" dirty="0" smtClean="0"/>
              <a:t>股价</a:t>
            </a:r>
            <a:r>
              <a:rPr lang="en-US" altLang="zh-CN" sz="1800" dirty="0"/>
              <a:t>0</a:t>
            </a:r>
            <a:r>
              <a:rPr lang="zh-CN" altLang="en-US" sz="1800" dirty="0"/>
              <a:t>元，放弃行权，亏损</a:t>
            </a:r>
            <a:r>
              <a:rPr lang="en-US" altLang="zh-CN" sz="1800" dirty="0"/>
              <a:t>3</a:t>
            </a:r>
            <a:r>
              <a:rPr lang="zh-CN" altLang="en-US" sz="1800" dirty="0"/>
              <a:t>元期权费，净利润</a:t>
            </a:r>
            <a:r>
              <a:rPr lang="en-US" altLang="zh-CN" sz="1800" dirty="0"/>
              <a:t>=-3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r>
              <a:rPr lang="zh-CN" altLang="en-US" sz="1800" dirty="0"/>
              <a:t>         股价</a:t>
            </a:r>
            <a:r>
              <a:rPr lang="en-US" altLang="zh-CN" sz="1800" dirty="0"/>
              <a:t>75</a:t>
            </a:r>
            <a:r>
              <a:rPr lang="zh-CN" altLang="en-US" sz="1800" dirty="0"/>
              <a:t>元，放弃行权，亏损</a:t>
            </a:r>
            <a:r>
              <a:rPr lang="en-US" altLang="zh-CN" sz="1800" dirty="0"/>
              <a:t>3</a:t>
            </a:r>
            <a:r>
              <a:rPr lang="zh-CN" altLang="en-US" sz="1800" dirty="0"/>
              <a:t>元期权费，净利润</a:t>
            </a:r>
            <a:r>
              <a:rPr lang="en-US" altLang="zh-CN" sz="1800" dirty="0"/>
              <a:t>=-3 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r>
              <a:rPr lang="zh-CN" altLang="en-US" sz="1800" dirty="0"/>
              <a:t>         股价</a:t>
            </a:r>
            <a:r>
              <a:rPr lang="en-US" altLang="zh-CN" sz="1800" dirty="0"/>
              <a:t>83</a:t>
            </a:r>
            <a:r>
              <a:rPr lang="zh-CN" altLang="en-US" sz="1800" dirty="0"/>
              <a:t>元，以</a:t>
            </a:r>
            <a:r>
              <a:rPr lang="en-US" altLang="zh-CN" sz="1800" dirty="0"/>
              <a:t>80</a:t>
            </a:r>
            <a:r>
              <a:rPr lang="zh-CN" altLang="en-US" sz="1800" dirty="0"/>
              <a:t>元买入股票，净利润 </a:t>
            </a:r>
            <a:r>
              <a:rPr lang="en-US" altLang="zh-CN" sz="1800" dirty="0"/>
              <a:t>= 83 – 80 – 3 =0</a:t>
            </a:r>
            <a:r>
              <a:rPr lang="zh-CN" altLang="en-US" sz="1800" dirty="0"/>
              <a:t>；</a:t>
            </a:r>
          </a:p>
          <a:p>
            <a:r>
              <a:rPr lang="zh-CN" altLang="en-US" sz="1800" dirty="0"/>
              <a:t>         股价</a:t>
            </a:r>
            <a:r>
              <a:rPr lang="en-US" altLang="zh-CN" sz="1800" dirty="0"/>
              <a:t>88</a:t>
            </a:r>
            <a:r>
              <a:rPr lang="zh-CN" altLang="en-US" sz="1800" dirty="0"/>
              <a:t>元，以</a:t>
            </a:r>
            <a:r>
              <a:rPr lang="en-US" altLang="zh-CN" sz="1800" dirty="0"/>
              <a:t>80</a:t>
            </a:r>
            <a:r>
              <a:rPr lang="zh-CN" altLang="en-US" sz="1800" dirty="0"/>
              <a:t>元买入股票，净利润 </a:t>
            </a:r>
            <a:r>
              <a:rPr lang="en-US" altLang="zh-CN" sz="1800" dirty="0"/>
              <a:t>= 88 – 80 – 3 =5</a:t>
            </a:r>
            <a:r>
              <a:rPr lang="zh-CN" altLang="en-US" sz="1800" dirty="0"/>
              <a:t>；</a:t>
            </a:r>
          </a:p>
        </p:txBody>
      </p:sp>
      <p:sp>
        <p:nvSpPr>
          <p:cNvPr id="4" name="灯片编号占位符 3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10925D-1236-467B-AE22-B794D8C2C565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23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886201" y="469900"/>
            <a:ext cx="4048125" cy="55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GB" sz="3000" b="1">
                <a:latin typeface="Arial MT Black" charset="-18"/>
              </a:rPr>
              <a:t>买入一份欧式看涨期权</a:t>
            </a:r>
            <a:endParaRPr lang="en-GB" altLang="zh-CN" sz="3000" b="1">
              <a:solidFill>
                <a:srgbClr val="FFFF00"/>
              </a:solidFill>
              <a:latin typeface="Arial MT Black" charset="-18"/>
            </a:endParaRPr>
          </a:p>
        </p:txBody>
      </p:sp>
      <p:sp>
        <p:nvSpPr>
          <p:cNvPr id="32771" name="Line 5"/>
          <p:cNvSpPr>
            <a:spLocks noChangeShapeType="1"/>
          </p:cNvSpPr>
          <p:nvPr/>
        </p:nvSpPr>
        <p:spPr bwMode="auto">
          <a:xfrm>
            <a:off x="4724400" y="4724400"/>
            <a:ext cx="4311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2" name="Line 6"/>
          <p:cNvSpPr>
            <a:spLocks noChangeShapeType="1"/>
          </p:cNvSpPr>
          <p:nvPr/>
        </p:nvSpPr>
        <p:spPr bwMode="auto">
          <a:xfrm flipV="1">
            <a:off x="4006850" y="2895600"/>
            <a:ext cx="0" cy="3124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3" name="Text Box 7"/>
          <p:cNvSpPr txBox="1">
            <a:spLocks noChangeArrowheads="1"/>
          </p:cNvSpPr>
          <p:nvPr/>
        </p:nvSpPr>
        <p:spPr bwMode="auto">
          <a:xfrm>
            <a:off x="8946882" y="4798369"/>
            <a:ext cx="514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 i="1">
                <a:latin typeface="Arial MT Black" charset="-18"/>
              </a:rPr>
              <a:t>S</a:t>
            </a:r>
            <a:r>
              <a:rPr lang="en-GB" altLang="zh-CN" sz="2400" b="1" baseline="-25000">
                <a:latin typeface="Arial MT Black" charset="-18"/>
              </a:rPr>
              <a:t>T</a:t>
            </a:r>
            <a:endParaRPr lang="en-GB" altLang="zh-CN" sz="2400" b="1">
              <a:latin typeface="Arial MT Black" charset="-18"/>
            </a:endParaRPr>
          </a:p>
        </p:txBody>
      </p:sp>
      <p:sp>
        <p:nvSpPr>
          <p:cNvPr id="32774" name="Text Box 8"/>
          <p:cNvSpPr txBox="1">
            <a:spLocks noChangeArrowheads="1"/>
          </p:cNvSpPr>
          <p:nvPr/>
        </p:nvSpPr>
        <p:spPr bwMode="auto">
          <a:xfrm>
            <a:off x="2981326" y="259080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利润</a:t>
            </a:r>
          </a:p>
        </p:txBody>
      </p:sp>
      <p:sp>
        <p:nvSpPr>
          <p:cNvPr id="32775" name="Line 9"/>
          <p:cNvSpPr>
            <a:spLocks noChangeShapeType="1"/>
          </p:cNvSpPr>
          <p:nvPr/>
        </p:nvSpPr>
        <p:spPr bwMode="auto">
          <a:xfrm>
            <a:off x="4006850" y="541020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6" name="Line 10"/>
          <p:cNvSpPr>
            <a:spLocks noChangeShapeType="1"/>
          </p:cNvSpPr>
          <p:nvPr/>
        </p:nvSpPr>
        <p:spPr bwMode="auto">
          <a:xfrm flipV="1">
            <a:off x="6216650" y="3352800"/>
            <a:ext cx="2133600" cy="2057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7" name="Text Box 11"/>
          <p:cNvSpPr txBox="1">
            <a:spLocks noChangeArrowheads="1"/>
          </p:cNvSpPr>
          <p:nvPr/>
        </p:nvSpPr>
        <p:spPr bwMode="auto">
          <a:xfrm>
            <a:off x="2521742" y="1445569"/>
            <a:ext cx="2593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执行价格 </a:t>
            </a:r>
            <a:r>
              <a:rPr lang="en-GB" altLang="zh-CN" sz="2400" b="1" i="1">
                <a:latin typeface="Arial MT Black" charset="-18"/>
              </a:rPr>
              <a:t>K</a:t>
            </a:r>
            <a:r>
              <a:rPr lang="en-GB" altLang="zh-CN" sz="2400" b="1">
                <a:latin typeface="Arial MT Black" charset="-18"/>
              </a:rPr>
              <a:t> = $80</a:t>
            </a:r>
          </a:p>
        </p:txBody>
      </p:sp>
      <p:sp>
        <p:nvSpPr>
          <p:cNvPr id="32778" name="Line 12"/>
          <p:cNvSpPr>
            <a:spLocks noChangeShapeType="1"/>
          </p:cNvSpPr>
          <p:nvPr/>
        </p:nvSpPr>
        <p:spPr bwMode="auto">
          <a:xfrm flipH="1">
            <a:off x="3962400" y="4724400"/>
            <a:ext cx="762000" cy="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9" name="Line 13"/>
          <p:cNvSpPr>
            <a:spLocks noChangeShapeType="1"/>
          </p:cNvSpPr>
          <p:nvPr/>
        </p:nvSpPr>
        <p:spPr bwMode="auto">
          <a:xfrm flipV="1">
            <a:off x="7924800" y="3810000"/>
            <a:ext cx="0" cy="9144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0" name="Line 14"/>
          <p:cNvSpPr>
            <a:spLocks noChangeShapeType="1"/>
          </p:cNvSpPr>
          <p:nvPr/>
        </p:nvSpPr>
        <p:spPr bwMode="auto">
          <a:xfrm flipH="1">
            <a:off x="3962400" y="3810000"/>
            <a:ext cx="39624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1" name="Text Box 15"/>
          <p:cNvSpPr txBox="1">
            <a:spLocks noChangeArrowheads="1"/>
          </p:cNvSpPr>
          <p:nvPr/>
        </p:nvSpPr>
        <p:spPr bwMode="auto">
          <a:xfrm>
            <a:off x="3377870" y="3502969"/>
            <a:ext cx="5277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$5</a:t>
            </a:r>
          </a:p>
        </p:txBody>
      </p:sp>
      <p:sp>
        <p:nvSpPr>
          <p:cNvPr id="32782" name="Text Box 16"/>
          <p:cNvSpPr txBox="1">
            <a:spLocks noChangeArrowheads="1"/>
          </p:cNvSpPr>
          <p:nvPr/>
        </p:nvSpPr>
        <p:spPr bwMode="auto">
          <a:xfrm>
            <a:off x="3275774" y="5179369"/>
            <a:ext cx="6303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-$3</a:t>
            </a:r>
          </a:p>
        </p:txBody>
      </p:sp>
      <p:sp>
        <p:nvSpPr>
          <p:cNvPr id="32783" name="Line 17"/>
          <p:cNvSpPr>
            <a:spLocks noChangeShapeType="1"/>
          </p:cNvSpPr>
          <p:nvPr/>
        </p:nvSpPr>
        <p:spPr bwMode="auto">
          <a:xfrm>
            <a:off x="4191000" y="4724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4" name="Text Box 18"/>
          <p:cNvSpPr txBox="1">
            <a:spLocks noChangeArrowheads="1"/>
          </p:cNvSpPr>
          <p:nvPr/>
        </p:nvSpPr>
        <p:spPr bwMode="auto">
          <a:xfrm>
            <a:off x="4251325" y="4891088"/>
            <a:ext cx="132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>
                <a:latin typeface="Arial MT Black" charset="-18"/>
              </a:rPr>
              <a:t>看涨期权金</a:t>
            </a:r>
            <a:endParaRPr lang="en-GB" altLang="zh-CN">
              <a:latin typeface="Arial MT Black" charset="-18"/>
            </a:endParaRPr>
          </a:p>
        </p:txBody>
      </p:sp>
      <p:sp>
        <p:nvSpPr>
          <p:cNvPr id="32785" name="Text Box 19"/>
          <p:cNvSpPr txBox="1">
            <a:spLocks noChangeArrowheads="1"/>
          </p:cNvSpPr>
          <p:nvPr/>
        </p:nvSpPr>
        <p:spPr bwMode="auto">
          <a:xfrm>
            <a:off x="7559310" y="4798369"/>
            <a:ext cx="6992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$88</a:t>
            </a:r>
          </a:p>
        </p:txBody>
      </p:sp>
      <p:sp>
        <p:nvSpPr>
          <p:cNvPr id="32786" name="Text Box 20"/>
          <p:cNvSpPr txBox="1">
            <a:spLocks noChangeArrowheads="1"/>
          </p:cNvSpPr>
          <p:nvPr/>
        </p:nvSpPr>
        <p:spPr bwMode="auto">
          <a:xfrm>
            <a:off x="6676660" y="4798369"/>
            <a:ext cx="6992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$83</a:t>
            </a:r>
          </a:p>
        </p:txBody>
      </p:sp>
      <p:sp>
        <p:nvSpPr>
          <p:cNvPr id="32787" name="Text Box 21"/>
          <p:cNvSpPr txBox="1">
            <a:spLocks noChangeArrowheads="1"/>
          </p:cNvSpPr>
          <p:nvPr/>
        </p:nvSpPr>
        <p:spPr bwMode="auto">
          <a:xfrm>
            <a:off x="5603918" y="4264969"/>
            <a:ext cx="12715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 i="1">
                <a:latin typeface="Arial MT Black" charset="-18"/>
              </a:rPr>
              <a:t>K</a:t>
            </a:r>
            <a:r>
              <a:rPr lang="en-GB" altLang="zh-CN" sz="2400" b="1">
                <a:latin typeface="Arial MT Black" charset="-18"/>
              </a:rPr>
              <a:t> = $80</a:t>
            </a:r>
          </a:p>
        </p:txBody>
      </p:sp>
      <p:sp>
        <p:nvSpPr>
          <p:cNvPr id="32788" name="Line 22"/>
          <p:cNvSpPr>
            <a:spLocks noChangeShapeType="1"/>
          </p:cNvSpPr>
          <p:nvPr/>
        </p:nvSpPr>
        <p:spPr bwMode="auto">
          <a:xfrm>
            <a:off x="3886200" y="3810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9" name="Line 23"/>
          <p:cNvSpPr>
            <a:spLocks noChangeShapeType="1"/>
          </p:cNvSpPr>
          <p:nvPr/>
        </p:nvSpPr>
        <p:spPr bwMode="auto">
          <a:xfrm>
            <a:off x="3886200" y="54102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90" name="Text Box 24"/>
          <p:cNvSpPr txBox="1">
            <a:spLocks noChangeArrowheads="1"/>
          </p:cNvSpPr>
          <p:nvPr/>
        </p:nvSpPr>
        <p:spPr bwMode="auto">
          <a:xfrm>
            <a:off x="3647781" y="449356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0</a:t>
            </a:r>
          </a:p>
        </p:txBody>
      </p:sp>
      <p:sp>
        <p:nvSpPr>
          <p:cNvPr id="32791" name="Rectangle 25"/>
          <p:cNvSpPr>
            <a:spLocks noChangeArrowheads="1"/>
          </p:cNvSpPr>
          <p:nvPr/>
        </p:nvSpPr>
        <p:spPr bwMode="auto">
          <a:xfrm>
            <a:off x="8077200" y="1600200"/>
            <a:ext cx="1981200" cy="137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2792" name="Line 26"/>
          <p:cNvSpPr>
            <a:spLocks noChangeShapeType="1"/>
          </p:cNvSpPr>
          <p:nvPr/>
        </p:nvSpPr>
        <p:spPr bwMode="auto">
          <a:xfrm>
            <a:off x="8305800" y="2590800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93" name="Line 27"/>
          <p:cNvSpPr>
            <a:spLocks noChangeShapeType="1"/>
          </p:cNvSpPr>
          <p:nvPr/>
        </p:nvSpPr>
        <p:spPr bwMode="auto">
          <a:xfrm flipV="1">
            <a:off x="9296400" y="2057400"/>
            <a:ext cx="533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94" name="Text Box 28"/>
          <p:cNvSpPr txBox="1">
            <a:spLocks noChangeArrowheads="1"/>
          </p:cNvSpPr>
          <p:nvPr/>
        </p:nvSpPr>
        <p:spPr bwMode="auto">
          <a:xfrm>
            <a:off x="8524581" y="2177407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0</a:t>
            </a:r>
          </a:p>
        </p:txBody>
      </p:sp>
      <p:sp>
        <p:nvSpPr>
          <p:cNvPr id="32795" name="Text Box 29"/>
          <p:cNvSpPr txBox="1">
            <a:spLocks noChangeArrowheads="1"/>
          </p:cNvSpPr>
          <p:nvPr/>
        </p:nvSpPr>
        <p:spPr bwMode="auto">
          <a:xfrm>
            <a:off x="9081720" y="1978969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+1</a:t>
            </a:r>
          </a:p>
        </p:txBody>
      </p:sp>
      <p:sp>
        <p:nvSpPr>
          <p:cNvPr id="32796" name="Line 30"/>
          <p:cNvSpPr>
            <a:spLocks noChangeShapeType="1"/>
          </p:cNvSpPr>
          <p:nvPr/>
        </p:nvSpPr>
        <p:spPr bwMode="auto">
          <a:xfrm>
            <a:off x="6934200" y="4724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97" name="Line 31"/>
          <p:cNvSpPr>
            <a:spLocks noChangeShapeType="1"/>
          </p:cNvSpPr>
          <p:nvPr/>
        </p:nvSpPr>
        <p:spPr bwMode="auto">
          <a:xfrm>
            <a:off x="7924800" y="4724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98" name="Line 32"/>
          <p:cNvSpPr>
            <a:spLocks noChangeShapeType="1"/>
          </p:cNvSpPr>
          <p:nvPr/>
        </p:nvSpPr>
        <p:spPr bwMode="auto">
          <a:xfrm>
            <a:off x="6248400" y="4724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99" name="Line 65"/>
          <p:cNvSpPr>
            <a:spLocks noChangeShapeType="1"/>
          </p:cNvSpPr>
          <p:nvPr/>
        </p:nvSpPr>
        <p:spPr bwMode="auto">
          <a:xfrm>
            <a:off x="2438400" y="1371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00" name="Line 66"/>
          <p:cNvSpPr>
            <a:spLocks noChangeShapeType="1"/>
          </p:cNvSpPr>
          <p:nvPr/>
        </p:nvSpPr>
        <p:spPr bwMode="auto">
          <a:xfrm>
            <a:off x="2438400" y="64770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19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/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4000" dirty="0"/>
              <a:t>欧式看跌期权多头的损益分析</a:t>
            </a: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2346325" y="1846263"/>
            <a:ext cx="7543800" cy="4246562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为简化起见，假定利率为</a:t>
            </a:r>
            <a:r>
              <a:rPr lang="en-US" altLang="zh-CN" dirty="0" smtClean="0"/>
              <a:t>0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看跌期权：期权费</a:t>
            </a:r>
            <a:r>
              <a:rPr lang="en-US" altLang="zh-CN" dirty="0" smtClean="0"/>
              <a:t>2</a:t>
            </a:r>
            <a:r>
              <a:rPr lang="zh-CN" altLang="en-US" dirty="0" smtClean="0"/>
              <a:t>元，期限</a:t>
            </a:r>
            <a:r>
              <a:rPr lang="en-US" altLang="zh-CN" dirty="0" smtClean="0"/>
              <a:t>1</a:t>
            </a:r>
            <a:r>
              <a:rPr lang="zh-CN" altLang="en-US" dirty="0" smtClean="0"/>
              <a:t>年，执行价格</a:t>
            </a:r>
            <a:r>
              <a:rPr lang="en-US" altLang="zh-CN" dirty="0" smtClean="0"/>
              <a:t>70</a:t>
            </a:r>
            <a:r>
              <a:rPr lang="zh-CN" altLang="en-US" dirty="0" smtClean="0"/>
              <a:t>元，多头有权利在</a:t>
            </a:r>
            <a:r>
              <a:rPr lang="en-US" altLang="zh-CN" dirty="0" smtClean="0"/>
              <a:t>1</a:t>
            </a:r>
            <a:r>
              <a:rPr lang="zh-CN" altLang="en-US" dirty="0" smtClean="0"/>
              <a:t>年后以</a:t>
            </a:r>
            <a:r>
              <a:rPr lang="en-US" altLang="zh-CN" dirty="0" smtClean="0"/>
              <a:t>70</a:t>
            </a:r>
            <a:r>
              <a:rPr lang="zh-CN" altLang="en-US" dirty="0" smtClean="0"/>
              <a:t>元</a:t>
            </a:r>
            <a:r>
              <a:rPr lang="zh-CN" altLang="en-US" b="1" dirty="0" smtClean="0">
                <a:solidFill>
                  <a:srgbClr val="FF0000"/>
                </a:solidFill>
              </a:rPr>
              <a:t>卖出</a:t>
            </a:r>
            <a:r>
              <a:rPr lang="zh-CN" altLang="en-US" dirty="0" smtClean="0"/>
              <a:t>股票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一年后</a:t>
            </a:r>
            <a:endParaRPr lang="en-US" altLang="zh-CN" dirty="0" smtClean="0"/>
          </a:p>
          <a:p>
            <a:r>
              <a:rPr lang="en-US" altLang="zh-CN" dirty="0" smtClean="0"/>
              <a:t>      </a:t>
            </a:r>
            <a:r>
              <a:rPr lang="zh-CN" altLang="en-US" sz="1800" dirty="0" smtClean="0"/>
              <a:t>股价</a:t>
            </a:r>
            <a:r>
              <a:rPr lang="en-US" altLang="zh-CN" sz="1800" dirty="0"/>
              <a:t>0</a:t>
            </a:r>
            <a:r>
              <a:rPr lang="zh-CN" altLang="en-US" sz="1800" dirty="0"/>
              <a:t>元，以</a:t>
            </a:r>
            <a:r>
              <a:rPr lang="en-US" altLang="zh-CN" sz="1800" dirty="0"/>
              <a:t>70</a:t>
            </a:r>
            <a:r>
              <a:rPr lang="zh-CN" altLang="en-US" sz="1800" dirty="0"/>
              <a:t>元卖出股票， 净利润 </a:t>
            </a:r>
            <a:r>
              <a:rPr lang="en-US" altLang="zh-CN" sz="1800" dirty="0"/>
              <a:t>= 70 – 0 – 2=68 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r>
              <a:rPr lang="zh-CN" altLang="en-US" sz="1800" dirty="0"/>
              <a:t>         股价</a:t>
            </a:r>
            <a:r>
              <a:rPr lang="en-US" altLang="zh-CN" sz="1800" dirty="0"/>
              <a:t>68</a:t>
            </a:r>
            <a:r>
              <a:rPr lang="zh-CN" altLang="en-US" sz="1800" dirty="0"/>
              <a:t>元，以</a:t>
            </a:r>
            <a:r>
              <a:rPr lang="en-US" altLang="zh-CN" sz="1800" dirty="0"/>
              <a:t>70</a:t>
            </a:r>
            <a:r>
              <a:rPr lang="zh-CN" altLang="en-US" sz="1800" dirty="0"/>
              <a:t>元卖出股票， 净利润 </a:t>
            </a:r>
            <a:r>
              <a:rPr lang="en-US" altLang="zh-CN" sz="1800" dirty="0"/>
              <a:t>= 70 – 68 – 2 =0 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r>
              <a:rPr lang="zh-CN" altLang="en-US" sz="1800" dirty="0"/>
              <a:t>         股价</a:t>
            </a:r>
            <a:r>
              <a:rPr lang="en-US" altLang="zh-CN" sz="1800" dirty="0"/>
              <a:t>70</a:t>
            </a:r>
            <a:r>
              <a:rPr lang="zh-CN" altLang="en-US" sz="1800" dirty="0"/>
              <a:t>元，以</a:t>
            </a:r>
            <a:r>
              <a:rPr lang="en-US" altLang="zh-CN" sz="1800" dirty="0"/>
              <a:t>70</a:t>
            </a:r>
            <a:r>
              <a:rPr lang="zh-CN" altLang="en-US" sz="1800" dirty="0"/>
              <a:t>元卖出股票， 净利润 </a:t>
            </a:r>
            <a:r>
              <a:rPr lang="en-US" altLang="zh-CN" sz="1800" dirty="0"/>
              <a:t>= 70 – 70 – 2 = -2</a:t>
            </a:r>
            <a:r>
              <a:rPr lang="zh-CN" altLang="en-US" sz="1800" dirty="0"/>
              <a:t>；</a:t>
            </a:r>
          </a:p>
          <a:p>
            <a:r>
              <a:rPr lang="zh-CN" altLang="en-US" sz="1800" dirty="0"/>
              <a:t>         股价</a:t>
            </a:r>
            <a:r>
              <a:rPr lang="en-US" altLang="zh-CN" sz="1800" dirty="0"/>
              <a:t>88</a:t>
            </a:r>
            <a:r>
              <a:rPr lang="zh-CN" altLang="en-US" sz="1800" dirty="0"/>
              <a:t>元，放弃行权， 亏损</a:t>
            </a:r>
            <a:r>
              <a:rPr lang="en-US" altLang="zh-CN" sz="1800" dirty="0"/>
              <a:t>2</a:t>
            </a:r>
            <a:r>
              <a:rPr lang="zh-CN" altLang="en-US" sz="1800" dirty="0"/>
              <a:t>元期权费，净利润 </a:t>
            </a:r>
            <a:r>
              <a:rPr lang="en-US" altLang="zh-CN" sz="1800" dirty="0"/>
              <a:t>=-2</a:t>
            </a:r>
            <a:r>
              <a:rPr lang="zh-CN" altLang="en-US" sz="1800" dirty="0"/>
              <a:t>；</a:t>
            </a:r>
          </a:p>
        </p:txBody>
      </p:sp>
      <p:sp>
        <p:nvSpPr>
          <p:cNvPr id="4" name="灯片编号占位符 3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EB8923-1CC8-4DC4-BE6B-5CAF7398A230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934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/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4000" dirty="0"/>
              <a:t>欧式看跌期权多头的损益分析</a:t>
            </a: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2346325" y="1846263"/>
            <a:ext cx="7543800" cy="4246562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假定利率为</a:t>
            </a:r>
            <a:r>
              <a:rPr lang="en-US" altLang="zh-CN" dirty="0" smtClean="0"/>
              <a:t>10%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看跌期权：期权费</a:t>
            </a:r>
            <a:r>
              <a:rPr lang="en-US" altLang="zh-CN" dirty="0" smtClean="0"/>
              <a:t>2</a:t>
            </a:r>
            <a:r>
              <a:rPr lang="zh-CN" altLang="en-US" dirty="0" smtClean="0"/>
              <a:t>元，期限</a:t>
            </a:r>
            <a:r>
              <a:rPr lang="en-US" altLang="zh-CN" dirty="0" smtClean="0"/>
              <a:t>1</a:t>
            </a:r>
            <a:r>
              <a:rPr lang="zh-CN" altLang="en-US" dirty="0" smtClean="0"/>
              <a:t>年，执行价格</a:t>
            </a:r>
            <a:r>
              <a:rPr lang="en-US" altLang="zh-CN" dirty="0" smtClean="0"/>
              <a:t>70</a:t>
            </a:r>
            <a:r>
              <a:rPr lang="zh-CN" altLang="en-US" dirty="0" smtClean="0"/>
              <a:t>元，多头有权利在</a:t>
            </a:r>
            <a:r>
              <a:rPr lang="en-US" altLang="zh-CN" dirty="0" smtClean="0"/>
              <a:t>1</a:t>
            </a:r>
            <a:r>
              <a:rPr lang="zh-CN" altLang="en-US" dirty="0" smtClean="0"/>
              <a:t>年后以</a:t>
            </a:r>
            <a:r>
              <a:rPr lang="en-US" altLang="zh-CN" dirty="0" smtClean="0"/>
              <a:t>70</a:t>
            </a:r>
            <a:r>
              <a:rPr lang="zh-CN" altLang="en-US" dirty="0" smtClean="0"/>
              <a:t>元</a:t>
            </a:r>
            <a:r>
              <a:rPr lang="zh-CN" altLang="en-US" b="1" dirty="0" smtClean="0">
                <a:solidFill>
                  <a:srgbClr val="FF0000"/>
                </a:solidFill>
              </a:rPr>
              <a:t>卖出</a:t>
            </a:r>
            <a:r>
              <a:rPr lang="zh-CN" altLang="en-US" dirty="0" smtClean="0"/>
              <a:t>股票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一年后</a:t>
            </a:r>
            <a:endParaRPr lang="en-US" altLang="zh-CN" dirty="0" smtClean="0"/>
          </a:p>
          <a:p>
            <a:r>
              <a:rPr lang="en-US" altLang="zh-CN" dirty="0" smtClean="0"/>
              <a:t>      </a:t>
            </a:r>
            <a:r>
              <a:rPr lang="zh-CN" altLang="en-US" sz="1800" dirty="0" smtClean="0"/>
              <a:t>股价</a:t>
            </a:r>
            <a:r>
              <a:rPr lang="en-US" altLang="zh-CN" sz="1800" dirty="0"/>
              <a:t>0</a:t>
            </a:r>
            <a:r>
              <a:rPr lang="zh-CN" altLang="en-US" sz="1800" dirty="0"/>
              <a:t>元，以</a:t>
            </a:r>
            <a:r>
              <a:rPr lang="en-US" altLang="zh-CN" sz="1800" dirty="0"/>
              <a:t>70</a:t>
            </a:r>
            <a:r>
              <a:rPr lang="zh-CN" altLang="en-US" sz="1800" dirty="0"/>
              <a:t>元卖出股票， 净利润 </a:t>
            </a:r>
            <a:r>
              <a:rPr lang="en-US" altLang="zh-CN" sz="1800" dirty="0"/>
              <a:t>= 70 – 0 – </a:t>
            </a:r>
            <a:r>
              <a:rPr lang="en-US" altLang="zh-CN" sz="1800" dirty="0" smtClean="0"/>
              <a:t>2×1.1=67.8 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r>
              <a:rPr lang="zh-CN" altLang="en-US" sz="1800" dirty="0"/>
              <a:t>         股价</a:t>
            </a:r>
            <a:r>
              <a:rPr lang="en-US" altLang="zh-CN" sz="1800" dirty="0"/>
              <a:t>68</a:t>
            </a:r>
            <a:r>
              <a:rPr lang="zh-CN" altLang="en-US" sz="1800" dirty="0"/>
              <a:t>元，以</a:t>
            </a:r>
            <a:r>
              <a:rPr lang="en-US" altLang="zh-CN" sz="1800" dirty="0"/>
              <a:t>70</a:t>
            </a:r>
            <a:r>
              <a:rPr lang="zh-CN" altLang="en-US" sz="1800" dirty="0"/>
              <a:t>元卖出股票， 净利润 </a:t>
            </a:r>
            <a:r>
              <a:rPr lang="en-US" altLang="zh-CN" sz="1800" dirty="0"/>
              <a:t>= 70 – 68 – 2×1.1 </a:t>
            </a:r>
            <a:r>
              <a:rPr lang="en-US" altLang="zh-CN" sz="1800" dirty="0" smtClean="0"/>
              <a:t>=-0.2</a:t>
            </a:r>
            <a:r>
              <a:rPr lang="zh-CN" altLang="en-US" sz="1800" dirty="0" smtClean="0"/>
              <a:t>；</a:t>
            </a:r>
            <a:endParaRPr lang="en-US" altLang="zh-CN" sz="1800" dirty="0"/>
          </a:p>
          <a:p>
            <a:r>
              <a:rPr lang="zh-CN" altLang="en-US" sz="1800" dirty="0"/>
              <a:t>         股价</a:t>
            </a:r>
            <a:r>
              <a:rPr lang="en-US" altLang="zh-CN" sz="1800" dirty="0"/>
              <a:t>70</a:t>
            </a:r>
            <a:r>
              <a:rPr lang="zh-CN" altLang="en-US" sz="1800" dirty="0"/>
              <a:t>元，以</a:t>
            </a:r>
            <a:r>
              <a:rPr lang="en-US" altLang="zh-CN" sz="1800" dirty="0"/>
              <a:t>70</a:t>
            </a:r>
            <a:r>
              <a:rPr lang="zh-CN" altLang="en-US" sz="1800" dirty="0"/>
              <a:t>元卖出股票， 净利润 </a:t>
            </a:r>
            <a:r>
              <a:rPr lang="en-US" altLang="zh-CN" sz="1800" dirty="0"/>
              <a:t>= 70 – 70 – 2×1.1 = -</a:t>
            </a:r>
            <a:r>
              <a:rPr lang="en-US" altLang="zh-CN" sz="1800" dirty="0" smtClean="0"/>
              <a:t>2.2</a:t>
            </a:r>
            <a:r>
              <a:rPr lang="zh-CN" altLang="en-US" sz="1800" dirty="0" smtClean="0"/>
              <a:t>；</a:t>
            </a:r>
            <a:endParaRPr lang="zh-CN" altLang="en-US" sz="1800" dirty="0"/>
          </a:p>
          <a:p>
            <a:r>
              <a:rPr lang="zh-CN" altLang="en-US" sz="1800" dirty="0"/>
              <a:t>         股价</a:t>
            </a:r>
            <a:r>
              <a:rPr lang="en-US" altLang="zh-CN" sz="1800" dirty="0"/>
              <a:t>88</a:t>
            </a:r>
            <a:r>
              <a:rPr lang="zh-CN" altLang="en-US" sz="1800" dirty="0"/>
              <a:t>元，放弃行权， </a:t>
            </a:r>
            <a:r>
              <a:rPr lang="zh-CN" altLang="en-US" sz="1800" dirty="0" smtClean="0"/>
              <a:t>亏损期权</a:t>
            </a:r>
            <a:r>
              <a:rPr lang="zh-CN" altLang="en-US" sz="1800" dirty="0"/>
              <a:t>费，净利润 </a:t>
            </a:r>
            <a:r>
              <a:rPr lang="en-US" altLang="zh-CN" sz="1800" dirty="0"/>
              <a:t>=-</a:t>
            </a:r>
            <a:r>
              <a:rPr lang="en-US" altLang="zh-CN" sz="1800" dirty="0" smtClean="0"/>
              <a:t>2.2</a:t>
            </a:r>
            <a:r>
              <a:rPr lang="zh-CN" altLang="en-US" sz="1800" dirty="0" smtClean="0"/>
              <a:t>；</a:t>
            </a: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EB8923-1CC8-4DC4-BE6B-5CAF7398A230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681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411538" y="268288"/>
            <a:ext cx="4818062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GB" sz="3600" b="1">
                <a:latin typeface="Arial MT Black" charset="-18"/>
              </a:rPr>
              <a:t>买入一份欧式看跌期权</a:t>
            </a:r>
            <a:endParaRPr lang="en-GB" altLang="zh-CN" sz="3600" b="1">
              <a:solidFill>
                <a:srgbClr val="FFFF00"/>
              </a:solidFill>
              <a:latin typeface="Arial MT Black" charset="-18"/>
            </a:endParaRPr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2727325" y="1446214"/>
            <a:ext cx="21986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latin typeface="Arial MT Black" charset="-18"/>
              </a:rPr>
              <a:t>行权价</a:t>
            </a:r>
            <a:r>
              <a:rPr lang="en-GB" altLang="zh-CN" sz="2400" b="1" i="1">
                <a:latin typeface="Arial MT Black" charset="-18"/>
              </a:rPr>
              <a:t>K</a:t>
            </a:r>
            <a:r>
              <a:rPr lang="en-GB" altLang="zh-CN" sz="2400" b="1">
                <a:latin typeface="Arial MT Black" charset="-18"/>
              </a:rPr>
              <a:t> = $70</a:t>
            </a:r>
          </a:p>
        </p:txBody>
      </p:sp>
      <p:sp>
        <p:nvSpPr>
          <p:cNvPr id="34820" name="Line 6"/>
          <p:cNvSpPr>
            <a:spLocks noChangeShapeType="1"/>
          </p:cNvSpPr>
          <p:nvPr/>
        </p:nvSpPr>
        <p:spPr bwMode="auto">
          <a:xfrm>
            <a:off x="5105400" y="4724400"/>
            <a:ext cx="4311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1" name="Line 7"/>
          <p:cNvSpPr>
            <a:spLocks noChangeShapeType="1"/>
          </p:cNvSpPr>
          <p:nvPr/>
        </p:nvSpPr>
        <p:spPr bwMode="auto">
          <a:xfrm flipV="1">
            <a:off x="4387850" y="2895600"/>
            <a:ext cx="0" cy="3124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2" name="Text Box 8"/>
          <p:cNvSpPr txBox="1">
            <a:spLocks noChangeArrowheads="1"/>
          </p:cNvSpPr>
          <p:nvPr/>
        </p:nvSpPr>
        <p:spPr bwMode="auto">
          <a:xfrm>
            <a:off x="9556482" y="4722169"/>
            <a:ext cx="514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 i="1">
                <a:latin typeface="Arial MT Black" charset="-18"/>
              </a:rPr>
              <a:t>S</a:t>
            </a:r>
            <a:r>
              <a:rPr lang="en-GB" altLang="zh-CN" sz="2400" b="1" baseline="-25000">
                <a:latin typeface="Arial MT Black" charset="-18"/>
              </a:rPr>
              <a:t>T</a:t>
            </a:r>
            <a:endParaRPr lang="en-GB" altLang="zh-CN" sz="2400" b="1">
              <a:latin typeface="Arial MT Black" charset="-18"/>
            </a:endParaRPr>
          </a:p>
        </p:txBody>
      </p:sp>
      <p:sp>
        <p:nvSpPr>
          <p:cNvPr id="34823" name="Text Box 9"/>
          <p:cNvSpPr txBox="1">
            <a:spLocks noChangeArrowheads="1"/>
          </p:cNvSpPr>
          <p:nvPr/>
        </p:nvSpPr>
        <p:spPr bwMode="auto">
          <a:xfrm>
            <a:off x="3269285" y="2588569"/>
            <a:ext cx="9877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>
                <a:latin typeface="Arial MT Black" charset="-18"/>
              </a:rPr>
              <a:t>Profit</a:t>
            </a:r>
          </a:p>
        </p:txBody>
      </p:sp>
      <p:sp>
        <p:nvSpPr>
          <p:cNvPr id="34824" name="Line 10"/>
          <p:cNvSpPr>
            <a:spLocks noChangeShapeType="1"/>
          </p:cNvSpPr>
          <p:nvPr/>
        </p:nvSpPr>
        <p:spPr bwMode="auto">
          <a:xfrm>
            <a:off x="6477000" y="541020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5" name="Line 11"/>
          <p:cNvSpPr>
            <a:spLocks noChangeShapeType="1"/>
          </p:cNvSpPr>
          <p:nvPr/>
        </p:nvSpPr>
        <p:spPr bwMode="auto">
          <a:xfrm flipH="1" flipV="1">
            <a:off x="4343400" y="3352800"/>
            <a:ext cx="2133600" cy="2057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6" name="Line 12"/>
          <p:cNvSpPr>
            <a:spLocks noChangeShapeType="1"/>
          </p:cNvSpPr>
          <p:nvPr/>
        </p:nvSpPr>
        <p:spPr bwMode="auto">
          <a:xfrm flipH="1">
            <a:off x="4343400" y="4724400"/>
            <a:ext cx="762000" cy="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7" name="Line 13"/>
          <p:cNvSpPr>
            <a:spLocks noChangeShapeType="1"/>
          </p:cNvSpPr>
          <p:nvPr/>
        </p:nvSpPr>
        <p:spPr bwMode="auto">
          <a:xfrm flipV="1">
            <a:off x="5105400" y="4038600"/>
            <a:ext cx="0" cy="685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8" name="Line 14"/>
          <p:cNvSpPr>
            <a:spLocks noChangeShapeType="1"/>
          </p:cNvSpPr>
          <p:nvPr/>
        </p:nvSpPr>
        <p:spPr bwMode="auto">
          <a:xfrm flipH="1">
            <a:off x="4343400" y="4038600"/>
            <a:ext cx="6858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9" name="Text Box 15"/>
          <p:cNvSpPr txBox="1">
            <a:spLocks noChangeArrowheads="1"/>
          </p:cNvSpPr>
          <p:nvPr/>
        </p:nvSpPr>
        <p:spPr bwMode="auto">
          <a:xfrm>
            <a:off x="3758870" y="3807769"/>
            <a:ext cx="5277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$3</a:t>
            </a:r>
          </a:p>
        </p:txBody>
      </p:sp>
      <p:sp>
        <p:nvSpPr>
          <p:cNvPr id="34830" name="Text Box 16"/>
          <p:cNvSpPr txBox="1">
            <a:spLocks noChangeArrowheads="1"/>
          </p:cNvSpPr>
          <p:nvPr/>
        </p:nvSpPr>
        <p:spPr bwMode="auto">
          <a:xfrm>
            <a:off x="3637724" y="5179369"/>
            <a:ext cx="6303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-$2</a:t>
            </a:r>
          </a:p>
        </p:txBody>
      </p:sp>
      <p:sp>
        <p:nvSpPr>
          <p:cNvPr id="34831" name="Line 17"/>
          <p:cNvSpPr>
            <a:spLocks noChangeShapeType="1"/>
          </p:cNvSpPr>
          <p:nvPr/>
        </p:nvSpPr>
        <p:spPr bwMode="auto">
          <a:xfrm>
            <a:off x="3581400" y="4724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2" name="Text Box 18"/>
          <p:cNvSpPr txBox="1">
            <a:spLocks noChangeArrowheads="1"/>
          </p:cNvSpPr>
          <p:nvPr/>
        </p:nvSpPr>
        <p:spPr bwMode="auto">
          <a:xfrm>
            <a:off x="2459201" y="4721911"/>
            <a:ext cx="10823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>
                <a:latin typeface="Arial MT Black" charset="-18"/>
              </a:rPr>
              <a:t>Put </a:t>
            </a:r>
          </a:p>
          <a:p>
            <a:pPr algn="ctr"/>
            <a:r>
              <a:rPr lang="en-GB" altLang="zh-CN">
                <a:latin typeface="Arial MT Black" charset="-18"/>
              </a:rPr>
              <a:t>premium</a:t>
            </a:r>
          </a:p>
        </p:txBody>
      </p:sp>
      <p:sp>
        <p:nvSpPr>
          <p:cNvPr id="34833" name="Text Box 19"/>
          <p:cNvSpPr txBox="1">
            <a:spLocks noChangeArrowheads="1"/>
          </p:cNvSpPr>
          <p:nvPr/>
        </p:nvSpPr>
        <p:spPr bwMode="auto">
          <a:xfrm>
            <a:off x="5686060" y="4264969"/>
            <a:ext cx="6992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$68</a:t>
            </a:r>
          </a:p>
        </p:txBody>
      </p:sp>
      <p:sp>
        <p:nvSpPr>
          <p:cNvPr id="34834" name="Text Box 20"/>
          <p:cNvSpPr txBox="1">
            <a:spLocks noChangeArrowheads="1"/>
          </p:cNvSpPr>
          <p:nvPr/>
        </p:nvSpPr>
        <p:spPr bwMode="auto">
          <a:xfrm>
            <a:off x="4739910" y="4798369"/>
            <a:ext cx="6992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$65</a:t>
            </a:r>
          </a:p>
        </p:txBody>
      </p:sp>
      <p:sp>
        <p:nvSpPr>
          <p:cNvPr id="34835" name="Text Box 21"/>
          <p:cNvSpPr txBox="1">
            <a:spLocks noChangeArrowheads="1"/>
          </p:cNvSpPr>
          <p:nvPr/>
        </p:nvSpPr>
        <p:spPr bwMode="auto">
          <a:xfrm>
            <a:off x="6273843" y="4798369"/>
            <a:ext cx="12715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 i="1">
                <a:latin typeface="Arial MT Black" charset="-18"/>
              </a:rPr>
              <a:t>K</a:t>
            </a:r>
            <a:r>
              <a:rPr lang="en-GB" altLang="zh-CN" sz="2400" b="1">
                <a:latin typeface="Arial MT Black" charset="-18"/>
              </a:rPr>
              <a:t> = $70</a:t>
            </a:r>
          </a:p>
        </p:txBody>
      </p:sp>
      <p:sp>
        <p:nvSpPr>
          <p:cNvPr id="34836" name="Line 22"/>
          <p:cNvSpPr>
            <a:spLocks noChangeShapeType="1"/>
          </p:cNvSpPr>
          <p:nvPr/>
        </p:nvSpPr>
        <p:spPr bwMode="auto">
          <a:xfrm>
            <a:off x="4267200" y="54102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7" name="Line 23"/>
          <p:cNvSpPr>
            <a:spLocks noChangeShapeType="1"/>
          </p:cNvSpPr>
          <p:nvPr/>
        </p:nvSpPr>
        <p:spPr bwMode="auto">
          <a:xfrm>
            <a:off x="4267200" y="4038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8" name="Text Box 24"/>
          <p:cNvSpPr txBox="1">
            <a:spLocks noChangeArrowheads="1"/>
          </p:cNvSpPr>
          <p:nvPr/>
        </p:nvSpPr>
        <p:spPr bwMode="auto">
          <a:xfrm>
            <a:off x="4028781" y="449356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0</a:t>
            </a:r>
          </a:p>
        </p:txBody>
      </p:sp>
      <p:sp>
        <p:nvSpPr>
          <p:cNvPr id="34839" name="Rectangle 25"/>
          <p:cNvSpPr>
            <a:spLocks noChangeArrowheads="1"/>
          </p:cNvSpPr>
          <p:nvPr/>
        </p:nvSpPr>
        <p:spPr bwMode="auto">
          <a:xfrm>
            <a:off x="8077200" y="1600200"/>
            <a:ext cx="1981200" cy="137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4840" name="Line 26"/>
          <p:cNvSpPr>
            <a:spLocks noChangeShapeType="1"/>
          </p:cNvSpPr>
          <p:nvPr/>
        </p:nvSpPr>
        <p:spPr bwMode="auto">
          <a:xfrm>
            <a:off x="8763000" y="2514600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1" name="Line 27"/>
          <p:cNvSpPr>
            <a:spLocks noChangeShapeType="1"/>
          </p:cNvSpPr>
          <p:nvPr/>
        </p:nvSpPr>
        <p:spPr bwMode="auto">
          <a:xfrm flipH="1" flipV="1">
            <a:off x="8229600" y="1981200"/>
            <a:ext cx="533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2" name="Text Box 28"/>
          <p:cNvSpPr txBox="1">
            <a:spLocks noChangeArrowheads="1"/>
          </p:cNvSpPr>
          <p:nvPr/>
        </p:nvSpPr>
        <p:spPr bwMode="auto">
          <a:xfrm>
            <a:off x="9178631" y="205516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0</a:t>
            </a:r>
          </a:p>
        </p:txBody>
      </p:sp>
      <p:sp>
        <p:nvSpPr>
          <p:cNvPr id="34843" name="Text Box 29"/>
          <p:cNvSpPr txBox="1">
            <a:spLocks noChangeArrowheads="1"/>
          </p:cNvSpPr>
          <p:nvPr/>
        </p:nvSpPr>
        <p:spPr bwMode="auto">
          <a:xfrm>
            <a:off x="8543135" y="1902769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400" b="1">
                <a:latin typeface="Arial MT Black" charset="-18"/>
              </a:rPr>
              <a:t>-1</a:t>
            </a:r>
          </a:p>
        </p:txBody>
      </p:sp>
      <p:sp>
        <p:nvSpPr>
          <p:cNvPr id="34844" name="Line 30"/>
          <p:cNvSpPr>
            <a:spLocks noChangeShapeType="1"/>
          </p:cNvSpPr>
          <p:nvPr/>
        </p:nvSpPr>
        <p:spPr bwMode="auto">
          <a:xfrm>
            <a:off x="6477000" y="4724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5" name="Line 31"/>
          <p:cNvSpPr>
            <a:spLocks noChangeShapeType="1"/>
          </p:cNvSpPr>
          <p:nvPr/>
        </p:nvSpPr>
        <p:spPr bwMode="auto">
          <a:xfrm>
            <a:off x="5105400" y="47244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6" name="Line 64"/>
          <p:cNvSpPr>
            <a:spLocks noChangeShapeType="1"/>
          </p:cNvSpPr>
          <p:nvPr/>
        </p:nvSpPr>
        <p:spPr bwMode="auto">
          <a:xfrm>
            <a:off x="2438400" y="1371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7" name="Line 65"/>
          <p:cNvSpPr>
            <a:spLocks noChangeShapeType="1"/>
          </p:cNvSpPr>
          <p:nvPr/>
        </p:nvSpPr>
        <p:spPr bwMode="auto">
          <a:xfrm>
            <a:off x="2438400" y="64770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6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3.</a:t>
            </a:r>
            <a:r>
              <a:rPr lang="zh-CN" altLang="en-US" dirty="0" smtClean="0"/>
              <a:t>期权平价公式及其证明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4192" y="3599561"/>
            <a:ext cx="10515600" cy="2764663"/>
          </a:xfrm>
        </p:spPr>
        <p:txBody>
          <a:bodyPr/>
          <a:lstStyle/>
          <a:p>
            <a:r>
              <a:rPr lang="zh-CN" altLang="en-US" dirty="0" smtClean="0"/>
              <a:t>考虑黄金期权，看涨期权</a:t>
            </a:r>
            <a:r>
              <a:rPr lang="en-US" altLang="zh-CN" dirty="0" smtClean="0"/>
              <a:t>C(K=1000)</a:t>
            </a:r>
            <a:r>
              <a:rPr lang="zh-CN" altLang="en-US" dirty="0" smtClean="0"/>
              <a:t>表示多头有权利在期末以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美元每盎司的价格买入一盎司黄金， 看跌期权</a:t>
            </a:r>
            <a:r>
              <a:rPr lang="en-US" altLang="zh-CN" dirty="0" smtClean="0"/>
              <a:t>P(K=1000)</a:t>
            </a:r>
            <a:r>
              <a:rPr lang="zh-CN" altLang="en-US" dirty="0" smtClean="0"/>
              <a:t>表示多头有权利在期末以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美元每盎司的价格卖出一盎司黄金</a:t>
            </a:r>
            <a:endParaRPr lang="en-US" altLang="zh-CN" dirty="0" smtClean="0"/>
          </a:p>
          <a:p>
            <a:r>
              <a:rPr lang="zh-CN" altLang="en-US" dirty="0" smtClean="0"/>
              <a:t>我们考虑如下组合：</a:t>
            </a:r>
            <a:r>
              <a:rPr lang="en-US" altLang="zh-CN" dirty="0" smtClean="0"/>
              <a:t> C(K=1000) </a:t>
            </a:r>
            <a:r>
              <a:rPr lang="en-US" altLang="zh-CN" b="1" dirty="0" smtClean="0">
                <a:solidFill>
                  <a:srgbClr val="FF0000"/>
                </a:solidFill>
              </a:rPr>
              <a:t>—</a:t>
            </a:r>
            <a:r>
              <a:rPr lang="en-US" altLang="zh-CN" dirty="0" smtClean="0"/>
              <a:t> P(K=1000)</a:t>
            </a:r>
            <a:r>
              <a:rPr lang="zh-CN" altLang="en-US" dirty="0" smtClean="0"/>
              <a:t>，即持有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看涨期权多头        </a:t>
            </a:r>
            <a:r>
              <a:rPr lang="en-US" altLang="zh-CN" dirty="0" smtClean="0"/>
              <a:t>C(K=1000)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看跌期权空头   </a:t>
            </a:r>
            <a:r>
              <a:rPr lang="en-US" altLang="zh-CN" b="1" dirty="0" smtClean="0">
                <a:solidFill>
                  <a:srgbClr val="FF0000"/>
                </a:solidFill>
              </a:rPr>
              <a:t>—</a:t>
            </a:r>
            <a:r>
              <a:rPr lang="en-US" altLang="zh-CN" dirty="0" smtClean="0"/>
              <a:t> P(K=1000)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122905"/>
              </p:ext>
            </p:extLst>
          </p:nvPr>
        </p:nvGraphicFramePr>
        <p:xfrm>
          <a:off x="1938528" y="2198592"/>
          <a:ext cx="8485632" cy="782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Equation" r:id="rId3" imgW="3276360" imgH="279360" progId="Equation.DSMT4">
                  <p:embed/>
                </p:oleObj>
              </mc:Choice>
              <mc:Fallback>
                <p:oleObj name="Equation" r:id="rId3" imgW="3276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38528" y="2198592"/>
                        <a:ext cx="8485632" cy="782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315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分解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r>
              <a:rPr lang="zh-CN" altLang="en-US" dirty="0"/>
              <a:t>看涨期权多头        </a:t>
            </a:r>
            <a:r>
              <a:rPr lang="en-US" altLang="zh-CN" dirty="0"/>
              <a:t>C(K=1000)</a:t>
            </a:r>
            <a:r>
              <a:rPr lang="zh-CN" altLang="en-US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假如到期时，</a:t>
            </a:r>
            <a:r>
              <a:rPr lang="en-US" altLang="zh-CN" dirty="0"/>
              <a:t>S&gt;=1000</a:t>
            </a:r>
            <a:r>
              <a:rPr lang="zh-CN" altLang="en-US" dirty="0"/>
              <a:t>，则</a:t>
            </a:r>
            <a:r>
              <a:rPr lang="en-US" altLang="zh-CN" dirty="0"/>
              <a:t>C(1000)</a:t>
            </a:r>
            <a:r>
              <a:rPr lang="zh-CN" altLang="en-US" dirty="0"/>
              <a:t>行权，支付</a:t>
            </a:r>
            <a:r>
              <a:rPr lang="en-US" altLang="zh-CN" dirty="0"/>
              <a:t>$1000</a:t>
            </a:r>
            <a:r>
              <a:rPr lang="zh-CN" altLang="en-US" dirty="0"/>
              <a:t>，获得一盎司黄金</a:t>
            </a:r>
            <a:r>
              <a:rPr lang="en-US" altLang="zh-CN" dirty="0"/>
              <a:t>;  </a:t>
            </a:r>
            <a:endParaRPr lang="en-US" altLang="zh-CN" dirty="0" smtClean="0"/>
          </a:p>
          <a:p>
            <a:r>
              <a:rPr lang="zh-CN" altLang="en-US" dirty="0" smtClean="0"/>
              <a:t>假如</a:t>
            </a:r>
            <a:r>
              <a:rPr lang="zh-CN" altLang="en-US" dirty="0"/>
              <a:t>到期时，</a:t>
            </a:r>
            <a:r>
              <a:rPr lang="en-US" altLang="zh-CN" dirty="0"/>
              <a:t>S&lt;1000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C(K=1000</a:t>
            </a:r>
            <a:r>
              <a:rPr lang="en-US" altLang="zh-CN" dirty="0"/>
              <a:t>)</a:t>
            </a:r>
            <a:r>
              <a:rPr lang="zh-CN" altLang="en-US" dirty="0"/>
              <a:t>的多头弃权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1959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分解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</a:t>
            </a:r>
            <a:r>
              <a:rPr lang="zh-CN" altLang="en-US" dirty="0"/>
              <a:t>看跌</a:t>
            </a:r>
            <a:r>
              <a:rPr lang="zh-CN" altLang="en-US" dirty="0" smtClean="0"/>
              <a:t>期权空头 </a:t>
            </a:r>
            <a:r>
              <a:rPr lang="en-US" altLang="zh-CN" b="1" dirty="0">
                <a:solidFill>
                  <a:srgbClr val="FF0000"/>
                </a:solidFill>
              </a:rPr>
              <a:t>— </a:t>
            </a:r>
            <a:r>
              <a:rPr lang="en-US" altLang="zh-CN" dirty="0" smtClean="0"/>
              <a:t>P(K=1000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请注意：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看跌期权多头有是否行权的选择权；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看跌期权空头没有权利只有义务，只能被动等待对应看跌期权多头的行动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假如到期时，</a:t>
            </a:r>
            <a:r>
              <a:rPr lang="en-US" altLang="zh-CN" dirty="0"/>
              <a:t>S&gt;=</a:t>
            </a:r>
            <a:r>
              <a:rPr lang="en-US" altLang="zh-CN" dirty="0" smtClean="0"/>
              <a:t>1000</a:t>
            </a:r>
          </a:p>
          <a:p>
            <a:pPr lvl="1"/>
            <a:r>
              <a:rPr lang="zh-CN" altLang="en-US" dirty="0" smtClean="0"/>
              <a:t>看跌</a:t>
            </a:r>
            <a:r>
              <a:rPr lang="zh-CN" altLang="en-US" dirty="0"/>
              <a:t>期权多头   </a:t>
            </a:r>
            <a:r>
              <a:rPr lang="en-US" altLang="zh-CN" dirty="0"/>
              <a:t>P(K=1000)</a:t>
            </a:r>
            <a:r>
              <a:rPr lang="zh-CN" altLang="en-US" dirty="0"/>
              <a:t>弃权</a:t>
            </a:r>
            <a:r>
              <a:rPr lang="en-US" altLang="zh-CN" dirty="0"/>
              <a:t>; 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看跌期权空头  </a:t>
            </a:r>
            <a:r>
              <a:rPr lang="en-US" altLang="zh-CN" b="1" dirty="0" smtClean="0">
                <a:solidFill>
                  <a:srgbClr val="FF0000"/>
                </a:solidFill>
              </a:rPr>
              <a:t>— </a:t>
            </a:r>
            <a:r>
              <a:rPr lang="en-US" altLang="zh-CN" dirty="0"/>
              <a:t>P(K=1000</a:t>
            </a:r>
            <a:r>
              <a:rPr lang="en-US" altLang="zh-CN" dirty="0" smtClean="0"/>
              <a:t>)</a:t>
            </a:r>
            <a:r>
              <a:rPr lang="zh-CN" altLang="en-US" dirty="0" smtClean="0"/>
              <a:t>被动</a:t>
            </a:r>
            <a:r>
              <a:rPr lang="zh-CN" altLang="en-US" dirty="0"/>
              <a:t>弃</a:t>
            </a:r>
            <a:r>
              <a:rPr lang="zh-CN" altLang="en-US" dirty="0" smtClean="0"/>
              <a:t>权</a:t>
            </a:r>
            <a:endParaRPr lang="en-US" altLang="zh-CN" dirty="0" smtClean="0"/>
          </a:p>
          <a:p>
            <a:r>
              <a:rPr lang="zh-CN" altLang="en-US" dirty="0" smtClean="0"/>
              <a:t>假如</a:t>
            </a:r>
            <a:r>
              <a:rPr lang="zh-CN" altLang="en-US" dirty="0"/>
              <a:t>到期时，</a:t>
            </a:r>
            <a:r>
              <a:rPr lang="en-US" altLang="zh-CN" dirty="0" smtClean="0"/>
              <a:t>S&lt;1000</a:t>
            </a:r>
          </a:p>
          <a:p>
            <a:pPr lvl="1"/>
            <a:r>
              <a:rPr lang="zh-CN" altLang="en-US" dirty="0" smtClean="0"/>
              <a:t>看跌</a:t>
            </a:r>
            <a:r>
              <a:rPr lang="zh-CN" altLang="en-US" dirty="0"/>
              <a:t>期权多头   </a:t>
            </a:r>
            <a:r>
              <a:rPr lang="en-US" altLang="zh-CN" dirty="0"/>
              <a:t>P(K=1000)</a:t>
            </a:r>
            <a:r>
              <a:rPr lang="zh-CN" altLang="en-US" dirty="0"/>
              <a:t>行权，卖出</a:t>
            </a:r>
            <a:r>
              <a:rPr lang="en-US" altLang="zh-CN" dirty="0"/>
              <a:t>1</a:t>
            </a:r>
            <a:r>
              <a:rPr lang="zh-CN" altLang="en-US" dirty="0"/>
              <a:t>盎司黄金，收到</a:t>
            </a:r>
            <a:r>
              <a:rPr lang="en-US" altLang="zh-CN" dirty="0"/>
              <a:t>$</a:t>
            </a:r>
            <a:r>
              <a:rPr lang="en-US" altLang="zh-CN" dirty="0" smtClean="0"/>
              <a:t>1000</a:t>
            </a:r>
          </a:p>
          <a:p>
            <a:pPr lvl="1"/>
            <a:r>
              <a:rPr lang="zh-CN" altLang="en-US" dirty="0"/>
              <a:t>相应</a:t>
            </a:r>
            <a:r>
              <a:rPr lang="zh-CN" altLang="en-US" dirty="0" smtClean="0"/>
              <a:t>地，</a:t>
            </a:r>
            <a:r>
              <a:rPr lang="zh-CN" altLang="en-US" dirty="0"/>
              <a:t>看跌期权空头  </a:t>
            </a:r>
            <a:r>
              <a:rPr lang="en-US" altLang="zh-CN" b="1" dirty="0">
                <a:solidFill>
                  <a:srgbClr val="FF0000"/>
                </a:solidFill>
              </a:rPr>
              <a:t>— </a:t>
            </a:r>
            <a:r>
              <a:rPr lang="en-US" altLang="zh-CN" dirty="0"/>
              <a:t>P(K=1000</a:t>
            </a:r>
            <a:r>
              <a:rPr lang="en-US" altLang="zh-CN" dirty="0" smtClean="0"/>
              <a:t>)</a:t>
            </a:r>
            <a:r>
              <a:rPr lang="zh-CN" altLang="en-US" dirty="0" smtClean="0"/>
              <a:t>收到</a:t>
            </a:r>
            <a:r>
              <a:rPr lang="en-US" altLang="zh-CN" dirty="0"/>
              <a:t>1</a:t>
            </a:r>
            <a:r>
              <a:rPr lang="zh-CN" altLang="en-US" dirty="0"/>
              <a:t>盎司黄金</a:t>
            </a:r>
            <a:r>
              <a:rPr lang="zh-CN" altLang="en-US" dirty="0" smtClean="0"/>
              <a:t>，支付</a:t>
            </a:r>
            <a:r>
              <a:rPr lang="en-US" altLang="zh-CN" dirty="0" smtClean="0"/>
              <a:t>$</a:t>
            </a:r>
            <a:r>
              <a:rPr lang="en-US" altLang="zh-CN" dirty="0"/>
              <a:t>1000</a:t>
            </a:r>
            <a:endParaRPr lang="zh-CN" altLang="en-US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9650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合并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C(K=1000) – P(K=1000)</a:t>
            </a:r>
          </a:p>
          <a:p>
            <a:pPr lvl="1"/>
            <a:r>
              <a:rPr lang="zh-CN" altLang="en-US" sz="2000" dirty="0"/>
              <a:t>假如到期时，</a:t>
            </a:r>
            <a:r>
              <a:rPr lang="en-US" altLang="zh-CN" sz="2000" dirty="0"/>
              <a:t>S&gt;=1000</a:t>
            </a:r>
            <a:r>
              <a:rPr lang="zh-CN" altLang="en-US" sz="2000" dirty="0"/>
              <a:t>，则</a:t>
            </a:r>
            <a:r>
              <a:rPr lang="en-US" altLang="zh-CN" sz="2000" dirty="0"/>
              <a:t>C(1000)</a:t>
            </a:r>
            <a:r>
              <a:rPr lang="zh-CN" altLang="en-US" sz="2000" dirty="0"/>
              <a:t>行权，</a:t>
            </a:r>
            <a:r>
              <a:rPr lang="zh-CN" altLang="en-US" sz="2000" dirty="0" smtClean="0"/>
              <a:t>支付</a:t>
            </a:r>
            <a:r>
              <a:rPr lang="en-US" altLang="zh-CN" sz="2000" dirty="0" smtClean="0"/>
              <a:t>$1000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获得一盎司黄金</a:t>
            </a:r>
            <a:r>
              <a:rPr lang="en-US" altLang="zh-CN" sz="2000" dirty="0" smtClean="0"/>
              <a:t>;  </a:t>
            </a:r>
            <a:r>
              <a:rPr lang="en-US" altLang="zh-CN" sz="2000" dirty="0"/>
              <a:t>P(K=1000)</a:t>
            </a:r>
            <a:r>
              <a:rPr lang="zh-CN" altLang="en-US" sz="2000" dirty="0" smtClean="0"/>
              <a:t>的多头弃权，因而出售</a:t>
            </a:r>
            <a:r>
              <a:rPr lang="en-US" altLang="zh-CN" sz="2000" dirty="0"/>
              <a:t>P(K=1000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的空头方被动弃权</a:t>
            </a:r>
            <a:endParaRPr lang="en-US" altLang="zh-CN" sz="2000" dirty="0"/>
          </a:p>
          <a:p>
            <a:pPr lvl="1"/>
            <a:r>
              <a:rPr lang="zh-CN" altLang="en-US" sz="2000" dirty="0"/>
              <a:t>假如到期时，</a:t>
            </a:r>
            <a:r>
              <a:rPr lang="en-US" altLang="zh-CN" sz="2000" dirty="0"/>
              <a:t>S&lt;1000</a:t>
            </a:r>
            <a:r>
              <a:rPr lang="zh-CN" altLang="en-US" sz="2000" dirty="0"/>
              <a:t>，则</a:t>
            </a:r>
            <a:r>
              <a:rPr lang="en-US" altLang="zh-CN" sz="2000" dirty="0"/>
              <a:t>P(1000)</a:t>
            </a:r>
            <a:r>
              <a:rPr lang="zh-CN" altLang="en-US" sz="2000" dirty="0"/>
              <a:t>行权，</a:t>
            </a:r>
            <a:r>
              <a:rPr lang="en-US" altLang="zh-CN" sz="2000" dirty="0"/>
              <a:t>P</a:t>
            </a:r>
            <a:r>
              <a:rPr lang="zh-CN" altLang="en-US" sz="2000" dirty="0" smtClean="0"/>
              <a:t>的多头以</a:t>
            </a:r>
            <a:r>
              <a:rPr lang="en-US" altLang="zh-CN" sz="2000" dirty="0" smtClean="0"/>
              <a:t>$ 1000</a:t>
            </a:r>
            <a:r>
              <a:rPr lang="zh-CN" altLang="en-US" sz="2000" dirty="0"/>
              <a:t>的价格</a:t>
            </a:r>
            <a:r>
              <a:rPr lang="zh-CN" altLang="en-US" sz="2000" dirty="0" smtClean="0"/>
              <a:t>把一盎司黄金出售</a:t>
            </a:r>
            <a:r>
              <a:rPr lang="zh-CN" altLang="en-US" sz="2000" dirty="0"/>
              <a:t>给</a:t>
            </a:r>
            <a:r>
              <a:rPr lang="en-US" altLang="zh-CN" sz="2000" dirty="0"/>
              <a:t>P</a:t>
            </a:r>
            <a:r>
              <a:rPr lang="zh-CN" altLang="en-US" sz="2000" dirty="0" smtClean="0"/>
              <a:t>的空头，</a:t>
            </a:r>
            <a:r>
              <a:rPr lang="zh-CN" altLang="en-US" sz="2000" dirty="0"/>
              <a:t>因而</a:t>
            </a:r>
            <a:r>
              <a:rPr lang="en-US" altLang="zh-CN" sz="2000" dirty="0"/>
              <a:t>P</a:t>
            </a:r>
            <a:r>
              <a:rPr lang="zh-CN" altLang="en-US" sz="2000" dirty="0" smtClean="0"/>
              <a:t>的空头支付</a:t>
            </a:r>
            <a:r>
              <a:rPr lang="en-US" altLang="zh-CN" sz="2000" dirty="0" smtClean="0"/>
              <a:t>$ 1000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获得一盎司黄金；</a:t>
            </a:r>
            <a:r>
              <a:rPr lang="en-US" altLang="zh-CN" sz="2000" dirty="0"/>
              <a:t> C(K=1000</a:t>
            </a:r>
            <a:r>
              <a:rPr lang="en-US" altLang="zh-CN" sz="2000" dirty="0" smtClean="0"/>
              <a:t>)</a:t>
            </a:r>
            <a:r>
              <a:rPr lang="zh-CN" altLang="en-US" sz="2000" dirty="0"/>
              <a:t>的多头弃权</a:t>
            </a:r>
            <a:endParaRPr lang="en-US" altLang="zh-CN" sz="2000" dirty="0"/>
          </a:p>
          <a:p>
            <a:r>
              <a:rPr lang="zh-CN" altLang="en-US" sz="2400" dirty="0"/>
              <a:t>因此，到期时无论标的资产价格如何，</a:t>
            </a:r>
            <a:r>
              <a:rPr lang="en-US" altLang="zh-CN" sz="2400" dirty="0"/>
              <a:t>C(1000) – P(1000)</a:t>
            </a:r>
            <a:r>
              <a:rPr lang="zh-CN" altLang="en-US" sz="2400" dirty="0"/>
              <a:t>的最终结果都是 </a:t>
            </a:r>
            <a:r>
              <a:rPr lang="zh-CN" altLang="en-US" sz="2400" dirty="0" smtClean="0"/>
              <a:t>支付</a:t>
            </a:r>
            <a:r>
              <a:rPr lang="en-US" altLang="zh-CN" sz="2400" dirty="0" smtClean="0"/>
              <a:t>$ 1000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获得一盎司黄金</a:t>
            </a:r>
            <a:endParaRPr lang="en-US" altLang="zh-CN" sz="2400" dirty="0" smtClean="0"/>
          </a:p>
          <a:p>
            <a:r>
              <a:rPr lang="zh-CN" altLang="en-US" sz="2400" dirty="0" smtClean="0"/>
              <a:t>这</a:t>
            </a:r>
            <a:r>
              <a:rPr lang="zh-CN" altLang="en-US" sz="2400" dirty="0"/>
              <a:t>非常类似于远期合约多头的情况，到期时支付在</a:t>
            </a:r>
            <a:r>
              <a:rPr lang="en-US" altLang="zh-CN" sz="2400" dirty="0"/>
              <a:t>0</a:t>
            </a:r>
            <a:r>
              <a:rPr lang="zh-CN" altLang="en-US" sz="2400" dirty="0"/>
              <a:t>时刻确定的交割价格，获得资产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99959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多</a:t>
            </a:r>
            <a:r>
              <a:rPr lang="en-US" altLang="zh-CN" smtClean="0">
                <a:ea typeface="宋体" panose="02010600030101010101" pitchFamily="2" charset="-122"/>
              </a:rPr>
              <a:t>call</a:t>
            </a:r>
            <a:r>
              <a:rPr lang="zh-CN" altLang="en-US" smtClean="0">
                <a:ea typeface="宋体" panose="02010600030101010101" pitchFamily="2" charset="-122"/>
              </a:rPr>
              <a:t>和空</a:t>
            </a:r>
            <a:r>
              <a:rPr lang="en-US" altLang="zh-CN" smtClean="0">
                <a:ea typeface="宋体" panose="02010600030101010101" pitchFamily="2" charset="-122"/>
              </a:rPr>
              <a:t>put</a:t>
            </a:r>
            <a:r>
              <a:rPr lang="zh-CN" altLang="en-US" smtClean="0">
                <a:ea typeface="宋体" panose="02010600030101010101" pitchFamily="2" charset="-122"/>
              </a:rPr>
              <a:t>来复制远期合约的效果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假如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年期黄金远期价格为每盎司</a:t>
            </a:r>
            <a:r>
              <a:rPr lang="en-US" altLang="zh-CN" dirty="0">
                <a:ea typeface="宋体" panose="02010600030101010101" pitchFamily="2" charset="-122"/>
              </a:rPr>
              <a:t>1200</a:t>
            </a:r>
            <a:r>
              <a:rPr lang="zh-CN" altLang="en-US" dirty="0">
                <a:ea typeface="宋体" panose="02010600030101010101" pitchFamily="2" charset="-122"/>
              </a:rPr>
              <a:t>刀，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Call 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put</a:t>
            </a:r>
            <a:r>
              <a:rPr lang="zh-CN" altLang="en-US" dirty="0">
                <a:ea typeface="宋体" panose="02010600030101010101" pitchFamily="2" charset="-122"/>
              </a:rPr>
              <a:t>的执行价越低，则获得黄金的成本越低。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ea typeface="宋体" panose="02010600030101010101" pitchFamily="2" charset="-122"/>
              </a:rPr>
              <a:t>假如执行价为</a:t>
            </a:r>
            <a:r>
              <a:rPr lang="en-US" altLang="zh-CN" sz="1800" dirty="0"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ea typeface="宋体" panose="02010600030101010101" pitchFamily="2" charset="-122"/>
              </a:rPr>
              <a:t>刀，则</a:t>
            </a:r>
            <a:r>
              <a:rPr lang="en-US" altLang="zh-CN" sz="1800" dirty="0"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ea typeface="宋体" panose="02010600030101010101" pitchFamily="2" charset="-122"/>
              </a:rPr>
              <a:t>年后只需要花费</a:t>
            </a:r>
            <a:r>
              <a:rPr lang="en-US" altLang="zh-CN" sz="1800" dirty="0"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ea typeface="宋体" panose="02010600030101010101" pitchFamily="2" charset="-122"/>
              </a:rPr>
              <a:t>刀就可以获得</a:t>
            </a:r>
            <a:r>
              <a:rPr lang="en-US" altLang="zh-CN" sz="1800" dirty="0"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ea typeface="宋体" panose="02010600030101010101" pitchFamily="2" charset="-122"/>
              </a:rPr>
              <a:t>盎司黄金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2"/>
            <a:r>
              <a:rPr lang="zh-CN" altLang="en-US" sz="1800" dirty="0">
                <a:ea typeface="宋体" panose="02010600030101010101" pitchFamily="2" charset="-122"/>
              </a:rPr>
              <a:t>显然，这占了便宜。为了获得这种便宜，必须付出成本：即</a:t>
            </a:r>
            <a:r>
              <a:rPr lang="en-US" altLang="zh-CN" sz="1800" dirty="0">
                <a:ea typeface="宋体" panose="02010600030101010101" pitchFamily="2" charset="-122"/>
              </a:rPr>
              <a:t>call</a:t>
            </a:r>
            <a:r>
              <a:rPr lang="zh-CN" altLang="en-US" sz="1800" dirty="0">
                <a:ea typeface="宋体" panose="02010600030101010101" pitchFamily="2" charset="-122"/>
              </a:rPr>
              <a:t>的价格必须远大于</a:t>
            </a:r>
            <a:r>
              <a:rPr lang="en-US" altLang="zh-CN" sz="1800" dirty="0">
                <a:ea typeface="宋体" panose="02010600030101010101" pitchFamily="2" charset="-122"/>
              </a:rPr>
              <a:t>put</a:t>
            </a:r>
            <a:r>
              <a:rPr lang="zh-CN" altLang="en-US" sz="1800" dirty="0">
                <a:ea typeface="宋体" panose="02010600030101010101" pitchFamily="2" charset="-122"/>
              </a:rPr>
              <a:t>的价格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ea typeface="宋体" panose="02010600030101010101" pitchFamily="2" charset="-122"/>
              </a:rPr>
              <a:t>假如执行价为</a:t>
            </a:r>
            <a:r>
              <a:rPr lang="en-US" altLang="zh-CN" sz="1800" dirty="0">
                <a:ea typeface="宋体" panose="02010600030101010101" pitchFamily="2" charset="-122"/>
              </a:rPr>
              <a:t>1000</a:t>
            </a:r>
            <a:r>
              <a:rPr lang="zh-CN" altLang="en-US" sz="1800" dirty="0">
                <a:ea typeface="宋体" panose="02010600030101010101" pitchFamily="2" charset="-122"/>
              </a:rPr>
              <a:t>刀，占的便宜小多了，则</a:t>
            </a:r>
            <a:r>
              <a:rPr lang="en-US" altLang="zh-CN" sz="1800" dirty="0">
                <a:ea typeface="宋体" panose="02010600030101010101" pitchFamily="2" charset="-122"/>
              </a:rPr>
              <a:t>call</a:t>
            </a:r>
            <a:r>
              <a:rPr lang="zh-CN" altLang="en-US" sz="1800" dirty="0">
                <a:ea typeface="宋体" panose="02010600030101010101" pitchFamily="2" charset="-122"/>
              </a:rPr>
              <a:t>与</a:t>
            </a:r>
            <a:r>
              <a:rPr lang="en-US" altLang="zh-CN" sz="1800" dirty="0">
                <a:ea typeface="宋体" panose="02010600030101010101" pitchFamily="2" charset="-122"/>
              </a:rPr>
              <a:t>put</a:t>
            </a:r>
            <a:r>
              <a:rPr lang="zh-CN" altLang="en-US" sz="1800" dirty="0">
                <a:ea typeface="宋体" panose="02010600030101010101" pitchFamily="2" charset="-122"/>
              </a:rPr>
              <a:t>的价差也小多了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ea typeface="宋体" panose="02010600030101010101" pitchFamily="2" charset="-122"/>
              </a:rPr>
              <a:t>假如执行价为</a:t>
            </a:r>
            <a:r>
              <a:rPr lang="en-US" altLang="zh-CN" sz="1800" dirty="0">
                <a:ea typeface="宋体" panose="02010600030101010101" pitchFamily="2" charset="-122"/>
              </a:rPr>
              <a:t>1200</a:t>
            </a:r>
            <a:r>
              <a:rPr lang="zh-CN" altLang="en-US" sz="1800" dirty="0">
                <a:ea typeface="宋体" panose="02010600030101010101" pitchFamily="2" charset="-122"/>
              </a:rPr>
              <a:t>刀，与远期价格相同，那么</a:t>
            </a:r>
            <a:r>
              <a:rPr lang="en-US" altLang="zh-CN" sz="1800" dirty="0">
                <a:ea typeface="宋体" panose="02010600030101010101" pitchFamily="2" charset="-122"/>
              </a:rPr>
              <a:t>call</a:t>
            </a:r>
            <a:r>
              <a:rPr lang="zh-CN" altLang="en-US" sz="1800" dirty="0">
                <a:ea typeface="宋体" panose="02010600030101010101" pitchFamily="2" charset="-122"/>
              </a:rPr>
              <a:t>的价格必须等于</a:t>
            </a:r>
            <a:r>
              <a:rPr lang="en-US" altLang="zh-CN" sz="1800" dirty="0">
                <a:ea typeface="宋体" panose="02010600030101010101" pitchFamily="2" charset="-122"/>
              </a:rPr>
              <a:t>put</a:t>
            </a:r>
            <a:r>
              <a:rPr lang="zh-CN" altLang="en-US" sz="1800" dirty="0">
                <a:ea typeface="宋体" panose="02010600030101010101" pitchFamily="2" charset="-122"/>
              </a:rPr>
              <a:t>的价格。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1"/>
            <a:r>
              <a:rPr lang="zh-CN" altLang="en-US" sz="1800" dirty="0">
                <a:ea typeface="宋体" panose="02010600030101010101" pitchFamily="2" charset="-122"/>
              </a:rPr>
              <a:t>假如执行价为</a:t>
            </a:r>
            <a:r>
              <a:rPr lang="en-US" altLang="zh-CN" sz="1800" dirty="0">
                <a:ea typeface="宋体" panose="02010600030101010101" pitchFamily="2" charset="-122"/>
              </a:rPr>
              <a:t>1500</a:t>
            </a:r>
            <a:r>
              <a:rPr lang="zh-CN" altLang="en-US" sz="1800" dirty="0">
                <a:ea typeface="宋体" panose="02010600030101010101" pitchFamily="2" charset="-122"/>
              </a:rPr>
              <a:t>刀，大于远期价格，吃亏了，那么初始时刻就必须获得补偿，即</a:t>
            </a:r>
            <a:r>
              <a:rPr lang="en-US" altLang="zh-CN" sz="1800" dirty="0">
                <a:ea typeface="宋体" panose="02010600030101010101" pitchFamily="2" charset="-122"/>
              </a:rPr>
              <a:t>call</a:t>
            </a:r>
            <a:r>
              <a:rPr lang="zh-CN" altLang="en-US" sz="1800" dirty="0">
                <a:ea typeface="宋体" panose="02010600030101010101" pitchFamily="2" charset="-122"/>
              </a:rPr>
              <a:t>的价格必须</a:t>
            </a:r>
            <a:r>
              <a:rPr lang="en-US" altLang="zh-CN" sz="1800" dirty="0">
                <a:ea typeface="宋体" panose="02010600030101010101" pitchFamily="2" charset="-122"/>
              </a:rPr>
              <a:t>&lt;put</a:t>
            </a:r>
            <a:r>
              <a:rPr lang="zh-CN" altLang="en-US" sz="1800" dirty="0">
                <a:ea typeface="宋体" panose="02010600030101010101" pitchFamily="2" charset="-122"/>
              </a:rPr>
              <a:t>的价格。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1"/>
            <a:endParaRPr lang="en-US" altLang="zh-CN" sz="1500" dirty="0">
              <a:ea typeface="宋体" panose="02010600030101010101" pitchFamily="2" charset="-122"/>
            </a:endParaRPr>
          </a:p>
          <a:p>
            <a:endParaRPr lang="zh-CN" altLang="en-US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293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768" y="227966"/>
            <a:ext cx="10515600" cy="687612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 smtClean="0"/>
              <a:t>两种方式购买黄金的成本分析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2466498" y="1196753"/>
          <a:ext cx="7996237" cy="28803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2677"/>
                <a:gridCol w="2160240"/>
                <a:gridCol w="3623320"/>
              </a:tblGrid>
              <a:tr h="52369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支付的成本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真实远期合约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effectLst/>
                        </a:rPr>
                        <a:t>合成远期合约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</a:tr>
              <a:tr h="5236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</a:t>
                      </a:r>
                      <a:r>
                        <a:rPr lang="zh-CN" altLang="en-US" sz="2000" u="none" strike="noStrike" dirty="0">
                          <a:effectLst/>
                        </a:rPr>
                        <a:t>时刻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Call(K) - Put(K)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</a:tr>
              <a:tr h="610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T</a:t>
                      </a:r>
                      <a:r>
                        <a:rPr lang="zh-CN" altLang="en-US" sz="2000" u="none" strike="noStrike" dirty="0">
                          <a:effectLst/>
                        </a:rPr>
                        <a:t>时刻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F</a:t>
                      </a:r>
                      <a:r>
                        <a:rPr lang="en-US" sz="2000" u="none" strike="noStrike" baseline="-25000" dirty="0">
                          <a:effectLst/>
                        </a:rPr>
                        <a:t>0,T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</a:tr>
              <a:tr h="61097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effectLst/>
                        </a:rPr>
                        <a:t>总计（</a:t>
                      </a:r>
                      <a:r>
                        <a:rPr lang="en-US" altLang="zh-CN" sz="2000" u="none" strike="noStrike">
                          <a:effectLst/>
                        </a:rPr>
                        <a:t>T</a:t>
                      </a:r>
                      <a:r>
                        <a:rPr lang="zh-CN" altLang="en-US" sz="2000" u="none" strike="noStrike">
                          <a:effectLst/>
                        </a:rPr>
                        <a:t>时刻）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F</a:t>
                      </a:r>
                      <a:r>
                        <a:rPr lang="en-US" sz="2000" u="none" strike="noStrike" baseline="-25000" dirty="0">
                          <a:effectLst/>
                        </a:rPr>
                        <a:t>0,T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K + [Call(K) - Put(K)]</a:t>
                      </a:r>
                      <a:r>
                        <a:rPr lang="en-US" sz="2000" u="none" strike="noStrike" dirty="0" err="1">
                          <a:effectLst/>
                        </a:rPr>
                        <a:t>e</a:t>
                      </a:r>
                      <a:r>
                        <a:rPr lang="en-US" sz="2000" u="none" strike="noStrike" baseline="30000" dirty="0" err="1">
                          <a:effectLst/>
                        </a:rPr>
                        <a:t>rT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</a:tr>
              <a:tr h="61097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effectLst/>
                        </a:rPr>
                        <a:t>总计（</a:t>
                      </a:r>
                      <a:r>
                        <a:rPr lang="en-US" altLang="zh-CN" sz="2000" u="none" strike="noStrike">
                          <a:effectLst/>
                        </a:rPr>
                        <a:t>0</a:t>
                      </a:r>
                      <a:r>
                        <a:rPr lang="zh-CN" altLang="en-US" sz="2000" u="none" strike="noStrike">
                          <a:effectLst/>
                        </a:rPr>
                        <a:t>时刻）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PV(F</a:t>
                      </a:r>
                      <a:r>
                        <a:rPr lang="en-US" sz="2000" u="none" strike="noStrike" baseline="-25000" dirty="0">
                          <a:effectLst/>
                        </a:rPr>
                        <a:t>0,T</a:t>
                      </a:r>
                      <a:r>
                        <a:rPr lang="en-US" sz="2000" u="none" strike="noStrike" dirty="0">
                          <a:effectLst/>
                        </a:rPr>
                        <a:t>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PV(K) + [Call(K) - Put(K)]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015264"/>
              </p:ext>
            </p:extLst>
          </p:nvPr>
        </p:nvGraphicFramePr>
        <p:xfrm>
          <a:off x="2466975" y="4211638"/>
          <a:ext cx="7896225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Equation" r:id="rId3" imgW="4495680" imgH="1282680" progId="Equation.DSMT4">
                  <p:embed/>
                </p:oleObj>
              </mc:Choice>
              <mc:Fallback>
                <p:oleObj name="Equation" r:id="rId3" imgW="4495680" imgH="1282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6975" y="4211638"/>
                        <a:ext cx="7896225" cy="210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534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ea typeface="宋体" panose="02010600030101010101" pitchFamily="2" charset="-122"/>
              </a:rPr>
              <a:t>结论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2004252" y="1987740"/>
            <a:ext cx="7920037" cy="198075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预付远期价格 </a:t>
            </a:r>
            <a:r>
              <a:rPr lang="en-US" altLang="zh-CN" dirty="0" smtClean="0">
                <a:ea typeface="宋体" panose="02010600030101010101" pitchFamily="2" charset="-122"/>
              </a:rPr>
              <a:t>= call – put + </a:t>
            </a:r>
            <a:r>
              <a:rPr lang="zh-CN" altLang="en-US" dirty="0" smtClean="0">
                <a:ea typeface="宋体" panose="02010600030101010101" pitchFamily="2" charset="-122"/>
              </a:rPr>
              <a:t>执行价的现值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 smtClean="0">
                <a:ea typeface="宋体" panose="02010600030101010101" pitchFamily="2" charset="-122"/>
              </a:rPr>
              <a:t>Call </a:t>
            </a:r>
            <a:r>
              <a:rPr lang="zh-CN" altLang="en-US" dirty="0" smtClean="0">
                <a:ea typeface="宋体" panose="02010600030101010101" pitchFamily="2" charset="-122"/>
              </a:rPr>
              <a:t>和</a:t>
            </a:r>
            <a:r>
              <a:rPr lang="en-US" altLang="zh-CN" dirty="0" smtClean="0">
                <a:ea typeface="宋体" panose="02010600030101010101" pitchFamily="2" charset="-122"/>
              </a:rPr>
              <a:t>put</a:t>
            </a:r>
            <a:r>
              <a:rPr lang="zh-CN" altLang="en-US" dirty="0" smtClean="0">
                <a:ea typeface="宋体" panose="02010600030101010101" pitchFamily="2" charset="-122"/>
              </a:rPr>
              <a:t>都是</a:t>
            </a:r>
            <a:r>
              <a:rPr lang="en-US" altLang="zh-CN" dirty="0" smtClean="0">
                <a:ea typeface="宋体" panose="02010600030101010101" pitchFamily="2" charset="-122"/>
              </a:rPr>
              <a:t>0</a:t>
            </a:r>
            <a:r>
              <a:rPr lang="zh-CN" altLang="en-US" dirty="0" smtClean="0">
                <a:ea typeface="宋体" panose="02010600030101010101" pitchFamily="2" charset="-122"/>
              </a:rPr>
              <a:t>时刻的价格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远</a:t>
            </a:r>
            <a:r>
              <a:rPr lang="zh-CN" altLang="en-US" dirty="0" smtClean="0">
                <a:ea typeface="宋体" panose="02010600030101010101" pitchFamily="2" charset="-122"/>
              </a:rPr>
              <a:t>期价格和执行价都是到期时的价格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为</a:t>
            </a:r>
            <a:r>
              <a:rPr lang="zh-CN" altLang="en-US" dirty="0" smtClean="0">
                <a:ea typeface="宋体" panose="02010600030101010101" pitchFamily="2" charset="-122"/>
              </a:rPr>
              <a:t>了统一，把远期价格和执行价都贴现到</a:t>
            </a:r>
            <a:r>
              <a:rPr lang="en-US" altLang="zh-CN" dirty="0" smtClean="0">
                <a:ea typeface="宋体" panose="02010600030101010101" pitchFamily="2" charset="-122"/>
              </a:rPr>
              <a:t>0</a:t>
            </a:r>
            <a:r>
              <a:rPr lang="zh-CN" altLang="en-US" dirty="0" smtClean="0">
                <a:ea typeface="宋体" panose="02010600030101010101" pitchFamily="2" charset="-122"/>
              </a:rPr>
              <a:t>时刻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568924"/>
              </p:ext>
            </p:extLst>
          </p:nvPr>
        </p:nvGraphicFramePr>
        <p:xfrm>
          <a:off x="2711196" y="4558728"/>
          <a:ext cx="5839056" cy="497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Equation" r:id="rId3" imgW="3276360" imgH="279360" progId="Equation.DSMT4">
                  <p:embed/>
                </p:oleObj>
              </mc:Choice>
              <mc:Fallback>
                <p:oleObj name="Equation" r:id="rId3" imgW="3276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1196" y="4558728"/>
                        <a:ext cx="5839056" cy="497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361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000" dirty="0" smtClean="0">
                <a:ea typeface="宋体" panose="02010600030101010101" pitchFamily="2" charset="-122"/>
              </a:rPr>
              <a:t>前面是就一般情形进行证明，现在考虑一个简单情形：</a:t>
            </a:r>
            <a:r>
              <a:rPr lang="en-US" altLang="zh-CN" sz="3000" dirty="0" smtClean="0">
                <a:ea typeface="宋体" panose="02010600030101010101" pitchFamily="2" charset="-122"/>
              </a:rPr>
              <a:t/>
            </a:r>
            <a:br>
              <a:rPr lang="en-US" altLang="zh-CN" sz="3000" dirty="0" smtClean="0">
                <a:ea typeface="宋体" panose="02010600030101010101" pitchFamily="2" charset="-122"/>
              </a:rPr>
            </a:br>
            <a:r>
              <a:rPr lang="zh-CN" altLang="en-US" sz="3000" dirty="0" smtClean="0">
                <a:ea typeface="宋体" panose="02010600030101010101" pitchFamily="2" charset="-122"/>
              </a:rPr>
              <a:t>标的资产为不分红股票</a:t>
            </a: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ea typeface="宋体" panose="02010600030101010101" pitchFamily="2" charset="-122"/>
              </a:rPr>
              <a:t>Call </a:t>
            </a:r>
            <a:r>
              <a:rPr lang="en-US" altLang="zh-CN" dirty="0" smtClean="0">
                <a:ea typeface="宋体" panose="02010600030101010101" pitchFamily="2" charset="-122"/>
              </a:rPr>
              <a:t>(K, T) – Put (K, T) = PV (F</a:t>
            </a:r>
            <a:r>
              <a:rPr lang="en-US" altLang="zh-CN" baseline="-25000" dirty="0" smtClean="0">
                <a:ea typeface="宋体" panose="02010600030101010101" pitchFamily="2" charset="-122"/>
              </a:rPr>
              <a:t>0,T</a:t>
            </a:r>
            <a:r>
              <a:rPr lang="en-US" altLang="zh-CN" dirty="0" smtClean="0">
                <a:ea typeface="宋体" panose="02010600030101010101" pitchFamily="2" charset="-122"/>
              </a:rPr>
              <a:t> – K)</a:t>
            </a:r>
            <a:endParaRPr lang="en-US" altLang="zh-CN" sz="3600" dirty="0">
              <a:ea typeface="宋体" panose="02010600030101010101" pitchFamily="2" charset="-122"/>
            </a:endParaRPr>
          </a:p>
          <a:p>
            <a:r>
              <a:rPr lang="en-US" altLang="zh-CN" sz="3600" dirty="0">
                <a:ea typeface="宋体" panose="02010600030101010101" pitchFamily="2" charset="-122"/>
              </a:rPr>
              <a:t>Call </a:t>
            </a:r>
            <a:r>
              <a:rPr lang="en-US" altLang="zh-CN" dirty="0" smtClean="0">
                <a:ea typeface="宋体" panose="02010600030101010101" pitchFamily="2" charset="-122"/>
              </a:rPr>
              <a:t>(K, T) +PV (K) = Put (K, T) + PV (F</a:t>
            </a:r>
            <a:r>
              <a:rPr lang="en-US" altLang="zh-CN" baseline="-25000" dirty="0" smtClean="0">
                <a:ea typeface="宋体" panose="02010600030101010101" pitchFamily="2" charset="-122"/>
              </a:rPr>
              <a:t>0,T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  <a:endParaRPr lang="en-US" altLang="zh-CN" sz="3600" dirty="0">
              <a:ea typeface="宋体" panose="02010600030101010101" pitchFamily="2" charset="-122"/>
            </a:endParaRPr>
          </a:p>
          <a:p>
            <a:r>
              <a:rPr lang="zh-CN" altLang="en-US" sz="3600" dirty="0">
                <a:ea typeface="宋体" panose="02010600030101010101" pitchFamily="2" charset="-122"/>
              </a:rPr>
              <a:t>假如标的资产为股票，且股票不分红，则 </a:t>
            </a:r>
            <a:r>
              <a:rPr lang="en-US" altLang="zh-CN" sz="3600" dirty="0">
                <a:ea typeface="宋体" panose="02010600030101010101" pitchFamily="2" charset="-122"/>
              </a:rPr>
              <a:t>PV (</a:t>
            </a:r>
            <a:r>
              <a:rPr lang="en-US" altLang="zh-CN" sz="3600" dirty="0" smtClean="0">
                <a:ea typeface="宋体" panose="02010600030101010101" pitchFamily="2" charset="-122"/>
              </a:rPr>
              <a:t>F</a:t>
            </a:r>
            <a:r>
              <a:rPr lang="en-US" altLang="zh-CN" sz="3600" baseline="-25000" dirty="0" smtClean="0">
                <a:ea typeface="宋体" panose="02010600030101010101" pitchFamily="2" charset="-122"/>
              </a:rPr>
              <a:t>0,T</a:t>
            </a:r>
            <a:r>
              <a:rPr lang="en-US" altLang="zh-CN" sz="3600" dirty="0" smtClean="0">
                <a:ea typeface="宋体" panose="02010600030101010101" pitchFamily="2" charset="-122"/>
              </a:rPr>
              <a:t>) =0</a:t>
            </a:r>
            <a:r>
              <a:rPr lang="zh-CN" altLang="en-US" sz="3600" dirty="0" smtClean="0">
                <a:ea typeface="宋体" panose="02010600030101010101" pitchFamily="2" charset="-122"/>
              </a:rPr>
              <a:t>时刻股票价格</a:t>
            </a:r>
            <a:r>
              <a:rPr lang="en-US" altLang="zh-CN" sz="3600" dirty="0" smtClean="0">
                <a:ea typeface="宋体" panose="02010600030101010101" pitchFamily="2" charset="-122"/>
              </a:rPr>
              <a:t>S</a:t>
            </a:r>
            <a:r>
              <a:rPr lang="en-US" altLang="zh-CN" sz="3600" baseline="-25000" dirty="0" smtClean="0">
                <a:ea typeface="宋体" panose="02010600030101010101" pitchFamily="2" charset="-122"/>
              </a:rPr>
              <a:t>0</a:t>
            </a:r>
            <a:r>
              <a:rPr lang="zh-CN" altLang="en-US" sz="3600" dirty="0" smtClean="0">
                <a:ea typeface="宋体" panose="02010600030101010101" pitchFamily="2" charset="-122"/>
              </a:rPr>
              <a:t>，故有</a:t>
            </a:r>
            <a:endParaRPr lang="en-US" altLang="zh-CN" sz="3600" dirty="0" smtClean="0">
              <a:ea typeface="宋体" panose="02010600030101010101" pitchFamily="2" charset="-122"/>
            </a:endParaRPr>
          </a:p>
          <a:p>
            <a:r>
              <a:rPr lang="en-US" altLang="zh-CN" sz="4400" dirty="0"/>
              <a:t>Call </a:t>
            </a:r>
            <a:r>
              <a:rPr lang="en-US" altLang="zh-CN" sz="3600" dirty="0"/>
              <a:t>(K, T) </a:t>
            </a:r>
            <a:r>
              <a:rPr lang="en-US" altLang="zh-CN" sz="3600" dirty="0" smtClean="0"/>
              <a:t>+ </a:t>
            </a:r>
            <a:r>
              <a:rPr lang="en-US" altLang="zh-CN" sz="3600" dirty="0" err="1" smtClean="0"/>
              <a:t>Ke</a:t>
            </a:r>
            <a:r>
              <a:rPr lang="en-US" altLang="zh-CN" sz="3600" baseline="30000" dirty="0" err="1" smtClean="0"/>
              <a:t>-rT</a:t>
            </a:r>
            <a:r>
              <a:rPr lang="en-US" altLang="zh-CN" sz="3600" dirty="0" smtClean="0"/>
              <a:t> </a:t>
            </a:r>
            <a:r>
              <a:rPr lang="en-US" altLang="zh-CN" sz="3600" dirty="0"/>
              <a:t>= Put (K, T) + </a:t>
            </a:r>
            <a:r>
              <a:rPr lang="en-US" altLang="zh-CN" sz="3600" dirty="0" smtClean="0"/>
              <a:t>S</a:t>
            </a:r>
            <a:r>
              <a:rPr lang="en-US" altLang="zh-CN" sz="3600" baseline="-25000" dirty="0" smtClean="0"/>
              <a:t>0</a:t>
            </a:r>
            <a:endParaRPr lang="en-US" altLang="zh-CN" sz="3600" dirty="0"/>
          </a:p>
          <a:p>
            <a:endParaRPr lang="en-US" altLang="zh-CN" sz="3600" dirty="0">
              <a:ea typeface="宋体" panose="02010600030101010101" pitchFamily="2" charset="-122"/>
            </a:endParaRPr>
          </a:p>
          <a:p>
            <a:r>
              <a:rPr lang="zh-CN" altLang="en-US" sz="3600" dirty="0" smtClean="0">
                <a:ea typeface="宋体" panose="02010600030101010101" pitchFamily="2" charset="-122"/>
              </a:rPr>
              <a:t>方便</a:t>
            </a:r>
            <a:r>
              <a:rPr lang="zh-CN" altLang="en-US" sz="3600" dirty="0">
                <a:ea typeface="宋体" panose="02010600030101010101" pitchFamily="2" charset="-122"/>
              </a:rPr>
              <a:t>，改写</a:t>
            </a:r>
            <a:r>
              <a:rPr lang="zh-CN" altLang="en-US" sz="3600" dirty="0" smtClean="0">
                <a:ea typeface="宋体" panose="02010600030101010101" pitchFamily="2" charset="-122"/>
              </a:rPr>
              <a:t>为</a:t>
            </a:r>
            <a:r>
              <a:rPr lang="en-US" altLang="zh-CN" sz="3600" dirty="0" smtClean="0">
                <a:ea typeface="宋体" panose="02010600030101010101" pitchFamily="2" charset="-122"/>
              </a:rPr>
              <a:t>         C + </a:t>
            </a:r>
            <a:r>
              <a:rPr lang="en-US" altLang="zh-CN" sz="3600" dirty="0" err="1" smtClean="0"/>
              <a:t>Ke</a:t>
            </a:r>
            <a:r>
              <a:rPr lang="en-US" altLang="zh-CN" sz="3600" baseline="30000" dirty="0" err="1" smtClean="0"/>
              <a:t>-rT</a:t>
            </a:r>
            <a:r>
              <a:rPr lang="en-US" altLang="zh-CN" sz="3600" dirty="0" smtClean="0">
                <a:ea typeface="宋体" panose="02010600030101010101" pitchFamily="2" charset="-122"/>
              </a:rPr>
              <a:t>= P+</a:t>
            </a:r>
            <a:r>
              <a:rPr lang="en-US" altLang="zh-CN" sz="3600" dirty="0"/>
              <a:t> S</a:t>
            </a:r>
            <a:r>
              <a:rPr lang="en-US" altLang="zh-CN" sz="3600" baseline="-25000" dirty="0"/>
              <a:t>0</a:t>
            </a:r>
            <a:endParaRPr lang="en-US" altLang="zh-CN" sz="3600" dirty="0">
              <a:ea typeface="宋体" panose="02010600030101010101" pitchFamily="2" charset="-122"/>
            </a:endParaRPr>
          </a:p>
          <a:p>
            <a:endParaRPr lang="en-US" altLang="zh-CN" sz="3600" dirty="0">
              <a:ea typeface="宋体" panose="02010600030101010101" pitchFamily="2" charset="-122"/>
            </a:endParaRPr>
          </a:p>
          <a:p>
            <a:endParaRPr lang="zh-CN" altLang="en-US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514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082675"/>
          </a:xfrm>
        </p:spPr>
        <p:txBody>
          <a:bodyPr/>
          <a:lstStyle/>
          <a:p>
            <a:pPr algn="ctr"/>
            <a:r>
              <a:rPr lang="zh-CN" altLang="en-US" dirty="0" smtClean="0">
                <a:ea typeface="宋体" panose="02010600030101010101" pitchFamily="2" charset="-122"/>
              </a:rPr>
              <a:t>简单情形下平价公式的证明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77896" y="1775618"/>
            <a:ext cx="4447032" cy="117316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组合</a:t>
            </a:r>
            <a:r>
              <a:rPr lang="en-US" altLang="zh-CN" dirty="0" err="1" smtClean="0">
                <a:ea typeface="宋体" panose="02010600030101010101" pitchFamily="2" charset="-122"/>
              </a:rPr>
              <a:t>A：t</a:t>
            </a:r>
            <a:r>
              <a:rPr lang="en-US" altLang="zh-CN" dirty="0" smtClean="0">
                <a:ea typeface="宋体" panose="02010600030101010101" pitchFamily="2" charset="-122"/>
              </a:rPr>
              <a:t>=0</a:t>
            </a:r>
            <a:r>
              <a:rPr lang="zh-CN" altLang="en-US" dirty="0" smtClean="0">
                <a:ea typeface="宋体" panose="02010600030101010101" pitchFamily="2" charset="-122"/>
              </a:rPr>
              <a:t>时，</a:t>
            </a:r>
            <a:r>
              <a:rPr lang="en-US" altLang="zh-CN" dirty="0" smtClean="0">
                <a:ea typeface="宋体" panose="02010600030101010101" pitchFamily="2" charset="-122"/>
              </a:rPr>
              <a:t>P + </a:t>
            </a:r>
            <a:r>
              <a:rPr lang="en-US" altLang="zh-CN" dirty="0" smtClean="0"/>
              <a:t>S</a:t>
            </a:r>
            <a:r>
              <a:rPr lang="en-US" altLang="zh-CN" baseline="-25000" dirty="0" smtClean="0"/>
              <a:t>0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组合</a:t>
            </a:r>
            <a:r>
              <a:rPr lang="en-US" altLang="zh-CN" dirty="0" err="1" smtClean="0">
                <a:ea typeface="宋体" panose="02010600030101010101" pitchFamily="2" charset="-122"/>
              </a:rPr>
              <a:t>B：t</a:t>
            </a:r>
            <a:r>
              <a:rPr lang="en-US" altLang="zh-CN" dirty="0" smtClean="0">
                <a:ea typeface="宋体" panose="02010600030101010101" pitchFamily="2" charset="-122"/>
              </a:rPr>
              <a:t>=0</a:t>
            </a:r>
            <a:r>
              <a:rPr lang="zh-CN" altLang="en-US" dirty="0" smtClean="0">
                <a:ea typeface="宋体" panose="02010600030101010101" pitchFamily="2" charset="-122"/>
              </a:rPr>
              <a:t>时，</a:t>
            </a:r>
            <a:r>
              <a:rPr lang="en-US" altLang="zh-CN" dirty="0" smtClean="0">
                <a:ea typeface="宋体" panose="02010600030101010101" pitchFamily="2" charset="-122"/>
              </a:rPr>
              <a:t>C + </a:t>
            </a:r>
            <a:r>
              <a:rPr lang="en-US" altLang="zh-CN" dirty="0" err="1" smtClean="0">
                <a:ea typeface="宋体" panose="02010600030101010101" pitchFamily="2" charset="-122"/>
              </a:rPr>
              <a:t>Ke</a:t>
            </a:r>
            <a:r>
              <a:rPr lang="en-US" altLang="zh-CN" baseline="30000" dirty="0" err="1" smtClean="0">
                <a:ea typeface="宋体" panose="02010600030101010101" pitchFamily="2" charset="-122"/>
              </a:rPr>
              <a:t>-rT</a:t>
            </a:r>
            <a:endParaRPr lang="zh-CN" altLang="en-US" baseline="30000" dirty="0" smtClean="0">
              <a:ea typeface="宋体" panose="02010600030101010101" pitchFamily="2" charset="-122"/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3048000" y="3276600"/>
            <a:ext cx="7620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30000"/>
              </a:spcBef>
              <a:buClr>
                <a:schemeClr val="tx1"/>
              </a:buClr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lr>
                <a:schemeClr val="tx1"/>
              </a:buClr>
              <a:buSzPct val="60000"/>
              <a:buFont typeface="Wingdings 2" panose="05020102010507070707" pitchFamily="18" charset="2"/>
              <a:buChar char="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tx1"/>
              </a:buClr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tx1"/>
              </a:buClr>
              <a:buSzPct val="60000"/>
              <a:buFont typeface="Wingdings 2" panose="05020102010507070707" pitchFamily="18" charset="2"/>
              <a:buChar char="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buClr>
                <a:schemeClr val="tx1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Font typeface="Times" panose="02020603050405020304" pitchFamily="18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w"/>
            </a:pPr>
            <a:r>
              <a:rPr kumimoji="1"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到期时</a:t>
            </a:r>
          </a:p>
        </p:txBody>
      </p:sp>
      <p:graphicFrame>
        <p:nvGraphicFramePr>
          <p:cNvPr id="46107" name="Group 27"/>
          <p:cNvGraphicFramePr>
            <a:graphicFrameLocks noGrp="1"/>
          </p:cNvGraphicFramePr>
          <p:nvPr/>
        </p:nvGraphicFramePr>
        <p:xfrm>
          <a:off x="3200400" y="4038600"/>
          <a:ext cx="6096000" cy="1828800"/>
        </p:xfrm>
        <a:graphic>
          <a:graphicData uri="http://schemas.openxmlformats.org/drawingml/2006/table">
            <a:tbl>
              <a:tblPr/>
              <a:tblGrid>
                <a:gridCol w="2032000"/>
                <a:gridCol w="1871712"/>
                <a:gridCol w="2192288"/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≤K</a:t>
                      </a:r>
                      <a:endParaRPr kumimoji="0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组合</a:t>
                      </a: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组合</a:t>
                      </a: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2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由于两个组合在</a:t>
            </a:r>
            <a:r>
              <a:rPr lang="en-US" altLang="zh-CN" dirty="0" smtClean="0">
                <a:ea typeface="宋体" panose="02010600030101010101" pitchFamily="2" charset="-122"/>
              </a:rPr>
              <a:t>T</a:t>
            </a:r>
            <a:r>
              <a:rPr lang="zh-CN" altLang="en-US" dirty="0" smtClean="0">
                <a:ea typeface="宋体" panose="02010600030101010101" pitchFamily="2" charset="-122"/>
              </a:rPr>
              <a:t>时刻的现金流完全相同，而这两个期权不能在到期日之前执行，他们在</a:t>
            </a:r>
            <a:r>
              <a:rPr lang="en-US" altLang="zh-CN" dirty="0" smtClean="0">
                <a:ea typeface="宋体" panose="02010600030101010101" pitchFamily="2" charset="-122"/>
              </a:rPr>
              <a:t>0</a:t>
            </a:r>
            <a:r>
              <a:rPr lang="zh-CN" altLang="en-US" dirty="0" smtClean="0">
                <a:ea typeface="宋体" panose="02010600030101010101" pitchFamily="2" charset="-122"/>
              </a:rPr>
              <a:t>时刻必定有相同的价值</a:t>
            </a:r>
          </a:p>
          <a:p>
            <a:endParaRPr lang="zh-CN" altLang="en-US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025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</a:t>
            </a:r>
            <a:r>
              <a:rPr lang="zh-CN" altLang="en-US" dirty="0" smtClean="0"/>
              <a:t>期权的二叉树定价方法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仅讲述看涨期权的单步二叉树定价方法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491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为什么使用二叉树定价模型</a:t>
            </a:r>
            <a:r>
              <a:rPr lang="en-US" altLang="zh-CN" dirty="0" smtClean="0"/>
              <a:t>?</a:t>
            </a:r>
            <a:endParaRPr lang="zh-CN" altLang="en-US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原理简单</a:t>
            </a:r>
          </a:p>
          <a:p>
            <a:r>
              <a:rPr lang="zh-CN" altLang="en-US" dirty="0" smtClean="0"/>
              <a:t>能够处理美式期权定价问题，而</a:t>
            </a:r>
            <a:r>
              <a:rPr lang="en-US" altLang="zh-CN" dirty="0" smtClean="0"/>
              <a:t>BS</a:t>
            </a:r>
            <a:r>
              <a:rPr lang="zh-CN" altLang="en-US" dirty="0" smtClean="0"/>
              <a:t>模型难以解决支付红利的美式期权定价。</a:t>
            </a:r>
          </a:p>
          <a:p>
            <a:r>
              <a:rPr lang="zh-CN" altLang="en-US" dirty="0" smtClean="0"/>
              <a:t>便于编程</a:t>
            </a:r>
          </a:p>
        </p:txBody>
      </p:sp>
    </p:spTree>
    <p:extLst>
      <p:ext uri="{BB962C8B-B14F-4D97-AF65-F5344CB8AC3E}">
        <p14:creationId xmlns:p14="http://schemas.microsoft.com/office/powerpoint/2010/main" val="410281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思路：曲径通幽</a:t>
            </a:r>
          </a:p>
          <a:p>
            <a:pPr lvl="1" eaLnBrk="1" hangingPunct="1"/>
            <a:r>
              <a:rPr lang="zh-CN" altLang="en-US" smtClean="0"/>
              <a:t>用股票和期权构造一个无风险资产组合，这个组合的期末价值已知，以无风险利率贴现即得期初价值。该组合中股票的期初价格已知，因此可以获得期权的价值。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56582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dirty="0" smtClean="0"/>
              <a:t>记号</a:t>
            </a:r>
          </a:p>
          <a:p>
            <a:pPr lvl="2" eaLnBrk="1" hangingPunct="1"/>
            <a:r>
              <a:rPr lang="en-US" altLang="zh-CN" dirty="0" smtClean="0"/>
              <a:t>S=20=</a:t>
            </a:r>
            <a:r>
              <a:rPr lang="zh-CN" altLang="en-US" dirty="0" smtClean="0"/>
              <a:t>今天的股票价格</a:t>
            </a:r>
          </a:p>
          <a:p>
            <a:pPr lvl="2" eaLnBrk="1" hangingPunct="1"/>
            <a:r>
              <a:rPr lang="en-US" altLang="zh-CN" dirty="0" smtClean="0"/>
              <a:t>K=21=</a:t>
            </a:r>
            <a:r>
              <a:rPr lang="zh-CN" altLang="en-US" dirty="0" smtClean="0"/>
              <a:t>看涨期权的执行价格</a:t>
            </a:r>
          </a:p>
          <a:p>
            <a:pPr lvl="2" eaLnBrk="1" hangingPunct="1"/>
            <a:r>
              <a:rPr lang="en-US" altLang="zh-CN" dirty="0" smtClean="0"/>
              <a:t>C=</a:t>
            </a:r>
            <a:r>
              <a:rPr lang="zh-CN" altLang="en-US" dirty="0" smtClean="0"/>
              <a:t>看涨期权价值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t=0.25</a:t>
            </a:r>
            <a:r>
              <a:rPr lang="zh-CN" altLang="en-US" dirty="0" smtClean="0"/>
              <a:t>年（到期时间）</a:t>
            </a:r>
          </a:p>
          <a:p>
            <a:pPr lvl="2" eaLnBrk="1" hangingPunct="1"/>
            <a:r>
              <a:rPr lang="en-US" altLang="zh-CN" dirty="0" smtClean="0"/>
              <a:t>r=0.12=</a:t>
            </a:r>
            <a:r>
              <a:rPr lang="zh-CN" altLang="en-US" dirty="0" smtClean="0"/>
              <a:t>无风险利率</a:t>
            </a:r>
            <a:r>
              <a:rPr lang="en-US" altLang="zh-CN" dirty="0" smtClean="0"/>
              <a:t>(</a:t>
            </a:r>
            <a:r>
              <a:rPr lang="zh-CN" altLang="en-US" dirty="0" smtClean="0"/>
              <a:t>连续复利</a:t>
            </a:r>
            <a:r>
              <a:rPr lang="en-US" altLang="zh-CN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344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505200" y="457201"/>
            <a:ext cx="338265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GB" sz="3000" b="1" dirty="0" smtClean="0">
                <a:latin typeface="Arial MT Black" charset="-18"/>
              </a:rPr>
              <a:t>单期</a:t>
            </a:r>
            <a:r>
              <a:rPr lang="zh-CN" altLang="en-US" sz="3000" b="1" dirty="0" smtClean="0">
                <a:latin typeface="Arial MT Black" charset="-18"/>
              </a:rPr>
              <a:t>二叉树</a:t>
            </a:r>
            <a:r>
              <a:rPr lang="zh-CN" altLang="en-GB" sz="3000" b="1" dirty="0" smtClean="0">
                <a:latin typeface="Arial MT Black" charset="-18"/>
              </a:rPr>
              <a:t>的</a:t>
            </a:r>
            <a:r>
              <a:rPr lang="zh-CN" altLang="en-GB" sz="3000" b="1" dirty="0">
                <a:latin typeface="Arial MT Black" charset="-18"/>
              </a:rPr>
              <a:t>收益</a:t>
            </a:r>
            <a:endParaRPr lang="zh-CN" altLang="en-GB" sz="3000" b="1" dirty="0">
              <a:solidFill>
                <a:srgbClr val="FFFF00"/>
              </a:solidFill>
              <a:latin typeface="Arial MT Black" charset="-18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601675" y="1872784"/>
            <a:ext cx="28071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800" b="1" u="sng">
                <a:latin typeface="Arial MT Black" charset="-18"/>
              </a:rPr>
              <a:t>A. </a:t>
            </a:r>
            <a:r>
              <a:rPr lang="zh-CN" altLang="en-GB" sz="2800" b="1" u="sng">
                <a:latin typeface="Arial MT Black" charset="-18"/>
              </a:rPr>
              <a:t>一股股票多头</a:t>
            </a: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 flipV="1">
            <a:off x="6737350" y="1905000"/>
            <a:ext cx="167640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 flipH="1" flipV="1">
            <a:off x="6737350" y="2895600"/>
            <a:ext cx="167640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6048376" y="25908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>
                <a:latin typeface="Arial MT Black" charset="-18"/>
              </a:rPr>
              <a:t>20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8567738" y="1676400"/>
            <a:ext cx="1293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 i="1">
                <a:latin typeface="Arial MT Black" charset="-18"/>
              </a:rPr>
              <a:t>SU</a:t>
            </a:r>
            <a:r>
              <a:rPr lang="en-GB" altLang="zh-CN" sz="2400" b="1">
                <a:latin typeface="Arial MT Black" charset="-18"/>
              </a:rPr>
              <a:t> = 22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8489951" y="3429000"/>
            <a:ext cx="1293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 i="1">
                <a:latin typeface="Arial MT Black" charset="-18"/>
              </a:rPr>
              <a:t>SD</a:t>
            </a:r>
            <a:r>
              <a:rPr lang="en-GB" altLang="zh-CN" sz="2400" b="1">
                <a:latin typeface="Arial MT Black" charset="-18"/>
              </a:rPr>
              <a:t> = 18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2584450" y="4267200"/>
            <a:ext cx="27892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200" b="1" u="sng">
                <a:latin typeface="Arial MT Black" charset="-18"/>
              </a:rPr>
              <a:t>B. </a:t>
            </a:r>
            <a:r>
              <a:rPr lang="zh-CN" altLang="en-GB" sz="2200" b="1" u="sng">
                <a:latin typeface="Arial MT Black" charset="-18"/>
              </a:rPr>
              <a:t>一个看涨期权多头</a:t>
            </a:r>
          </a:p>
          <a:p>
            <a:pPr algn="ctr"/>
            <a:r>
              <a:rPr lang="en-GB" altLang="zh-CN" sz="2200" i="1">
                <a:latin typeface="Arial MT Black" charset="-18"/>
              </a:rPr>
              <a:t>K</a:t>
            </a:r>
            <a:r>
              <a:rPr lang="en-GB" altLang="zh-CN" sz="2200">
                <a:latin typeface="Arial MT Black" charset="-18"/>
              </a:rPr>
              <a:t> = $21</a:t>
            </a:r>
            <a:endParaRPr lang="en-GB" altLang="zh-CN" sz="2200" b="1" u="sng">
              <a:latin typeface="Arial MT Black" charset="-18"/>
            </a:endParaRPr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 flipV="1">
            <a:off x="6705600" y="4419600"/>
            <a:ext cx="167640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 flipH="1" flipV="1">
            <a:off x="6705600" y="5410200"/>
            <a:ext cx="167640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6104983" y="5103169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 i="1">
                <a:latin typeface="Arial MT Black" charset="-18"/>
              </a:rPr>
              <a:t>C</a:t>
            </a:r>
            <a:endParaRPr lang="en-GB" altLang="zh-CN" sz="2400" b="1">
              <a:latin typeface="Arial MT Black" charset="-18"/>
            </a:endParaRP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8509001" y="4191000"/>
            <a:ext cx="104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 i="1">
                <a:latin typeface="Arial MT Black" charset="-18"/>
              </a:rPr>
              <a:t>C</a:t>
            </a:r>
            <a:r>
              <a:rPr lang="en-GB" altLang="zh-CN" sz="2400" b="1" baseline="-25000">
                <a:latin typeface="Arial MT Black" charset="-18"/>
              </a:rPr>
              <a:t>u</a:t>
            </a:r>
            <a:r>
              <a:rPr lang="en-GB" altLang="zh-CN" sz="2400" b="1">
                <a:latin typeface="Arial MT Black" charset="-18"/>
              </a:rPr>
              <a:t> = 1</a:t>
            </a: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8499779" y="5941369"/>
            <a:ext cx="10534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GB" altLang="zh-CN" sz="2400" b="1" i="1">
                <a:latin typeface="Arial MT Black" charset="-18"/>
              </a:rPr>
              <a:t>C</a:t>
            </a:r>
            <a:r>
              <a:rPr lang="en-GB" altLang="zh-CN" sz="2400" b="1" baseline="-25000">
                <a:latin typeface="Arial MT Black" charset="-18"/>
              </a:rPr>
              <a:t>d</a:t>
            </a:r>
            <a:r>
              <a:rPr lang="en-GB" altLang="zh-CN" sz="2400" b="1">
                <a:latin typeface="Arial MT Black" charset="-18"/>
              </a:rPr>
              <a:t> = 0</a:t>
            </a:r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2438400" y="64770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2438400" y="1371600"/>
            <a:ext cx="769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56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500"/>
              <a:t>求出</a:t>
            </a:r>
            <a:r>
              <a:rPr lang="en-US" altLang="zh-CN" sz="2500"/>
              <a:t>h</a:t>
            </a:r>
          </a:p>
          <a:p>
            <a:pPr lvl="1" eaLnBrk="1" hangingPunct="1"/>
            <a:r>
              <a:rPr lang="zh-CN" altLang="en-US" sz="2500"/>
              <a:t>持有股票的两种可能收益之差为</a:t>
            </a:r>
            <a:r>
              <a:rPr lang="en-US" altLang="zh-CN" sz="2500"/>
              <a:t>4</a:t>
            </a:r>
            <a:r>
              <a:rPr lang="zh-CN" altLang="en-US" sz="2500"/>
              <a:t>：</a:t>
            </a:r>
            <a:r>
              <a:rPr lang="zh-CN" altLang="en-US" sz="2500">
                <a:latin typeface="宋体" panose="02010600030101010101" pitchFamily="2" charset="-122"/>
              </a:rPr>
              <a:t>△</a:t>
            </a:r>
            <a:r>
              <a:rPr lang="zh-CN" altLang="en-US" sz="2500"/>
              <a:t> </a:t>
            </a:r>
            <a:r>
              <a:rPr lang="en-US" altLang="zh-CN" sz="2500"/>
              <a:t>S=4</a:t>
            </a:r>
          </a:p>
          <a:p>
            <a:pPr lvl="1" eaLnBrk="1" hangingPunct="1"/>
            <a:r>
              <a:rPr lang="zh-CN" altLang="en-US" sz="2300"/>
              <a:t>持有看涨期权多头的两种可能收益之差为</a:t>
            </a:r>
            <a:r>
              <a:rPr lang="en-US" altLang="zh-CN" sz="2300"/>
              <a:t>1</a:t>
            </a:r>
            <a:r>
              <a:rPr lang="zh-CN" altLang="en-US" sz="2300"/>
              <a:t>：</a:t>
            </a:r>
            <a:r>
              <a:rPr lang="zh-CN" altLang="en-US" sz="2300">
                <a:latin typeface="宋体" panose="02010600030101010101" pitchFamily="2" charset="-122"/>
              </a:rPr>
              <a:t>△</a:t>
            </a:r>
            <a:r>
              <a:rPr lang="zh-CN" altLang="en-US" sz="2300"/>
              <a:t> </a:t>
            </a:r>
            <a:r>
              <a:rPr lang="en-US" altLang="zh-CN" sz="2300"/>
              <a:t>C=1</a:t>
            </a:r>
          </a:p>
          <a:p>
            <a:pPr lvl="1" eaLnBrk="1" hangingPunct="1"/>
            <a:r>
              <a:rPr lang="zh-CN" altLang="en-US" sz="2500"/>
              <a:t>令</a:t>
            </a:r>
            <a:r>
              <a:rPr lang="en-US" altLang="zh-CN" sz="2500"/>
              <a:t>h* </a:t>
            </a:r>
            <a:r>
              <a:rPr lang="zh-CN" altLang="en-US" sz="2500">
                <a:latin typeface="宋体" panose="02010600030101010101" pitchFamily="2" charset="-122"/>
              </a:rPr>
              <a:t>△</a:t>
            </a:r>
            <a:r>
              <a:rPr lang="zh-CN" altLang="en-US" sz="2500"/>
              <a:t> </a:t>
            </a:r>
            <a:r>
              <a:rPr lang="en-US" altLang="zh-CN" sz="2500"/>
              <a:t>S= </a:t>
            </a:r>
            <a:r>
              <a:rPr lang="zh-CN" altLang="en-US" sz="2500">
                <a:latin typeface="宋体" panose="02010600030101010101" pitchFamily="2" charset="-122"/>
              </a:rPr>
              <a:t>△</a:t>
            </a:r>
            <a:r>
              <a:rPr lang="zh-CN" altLang="en-US" sz="2500"/>
              <a:t> </a:t>
            </a:r>
            <a:r>
              <a:rPr lang="en-US" altLang="zh-CN" sz="2500"/>
              <a:t>C  ＝&gt;h=0.25</a:t>
            </a:r>
          </a:p>
        </p:txBody>
      </p:sp>
    </p:spTree>
    <p:extLst>
      <p:ext uri="{BB962C8B-B14F-4D97-AF65-F5344CB8AC3E}">
        <p14:creationId xmlns:p14="http://schemas.microsoft.com/office/powerpoint/2010/main" val="384197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求出期权价值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考虑组合：0.</a:t>
            </a:r>
            <a:r>
              <a:rPr lang="en-US" altLang="zh-CN" dirty="0" smtClean="0"/>
              <a:t>25</a:t>
            </a:r>
            <a:r>
              <a:rPr lang="zh-CN" altLang="en-US" dirty="0" smtClean="0"/>
              <a:t>股股票多头+1个看涨期权空头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在</a:t>
            </a:r>
            <a:r>
              <a:rPr lang="en-US" altLang="zh-CN" dirty="0" smtClean="0"/>
              <a:t>t=0</a:t>
            </a:r>
            <a:r>
              <a:rPr lang="zh-CN" altLang="en-US" dirty="0" smtClean="0"/>
              <a:t>时的成本：0.</a:t>
            </a:r>
            <a:r>
              <a:rPr lang="en-US" altLang="zh-CN" dirty="0" smtClean="0"/>
              <a:t>25*S-C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在到期时的收益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 smtClean="0"/>
              <a:t>股价上涨：收益＝0.</a:t>
            </a:r>
            <a:r>
              <a:rPr lang="en-US" altLang="zh-CN" dirty="0" smtClean="0"/>
              <a:t>25*22-1=4.5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 smtClean="0"/>
              <a:t>股价下跌：收益=0.</a:t>
            </a:r>
            <a:r>
              <a:rPr lang="en-US" altLang="zh-CN" dirty="0" smtClean="0"/>
              <a:t>25*18-0=4.5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 smtClean="0"/>
              <a:t>不管股价如何变化，收益均为4</a:t>
            </a:r>
            <a:r>
              <a:rPr lang="en-US" altLang="zh-CN" dirty="0" smtClean="0"/>
              <a:t>.5</a:t>
            </a:r>
            <a:r>
              <a:rPr lang="zh-CN" altLang="en-US" dirty="0" smtClean="0"/>
              <a:t>，说明该资产组合为无风险资产.那么，该组合在</a:t>
            </a:r>
            <a:r>
              <a:rPr lang="en-US" altLang="zh-CN" dirty="0" smtClean="0"/>
              <a:t>t=0</a:t>
            </a:r>
            <a:r>
              <a:rPr lang="zh-CN" altLang="en-US" dirty="0" smtClean="0"/>
              <a:t>时的价值即为其</a:t>
            </a:r>
            <a:r>
              <a:rPr lang="en-US" altLang="zh-CN" dirty="0" smtClean="0"/>
              <a:t>t=1</a:t>
            </a:r>
            <a:r>
              <a:rPr lang="zh-CN" altLang="en-US" dirty="0" smtClean="0"/>
              <a:t>时其收益按无风险利率所贴现的现值</a:t>
            </a:r>
          </a:p>
        </p:txBody>
      </p:sp>
    </p:spTree>
    <p:extLst>
      <p:ext uri="{BB962C8B-B14F-4D97-AF65-F5344CB8AC3E}">
        <p14:creationId xmlns:p14="http://schemas.microsoft.com/office/powerpoint/2010/main" val="227368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因此</a:t>
            </a:r>
          </a:p>
          <a:p>
            <a:pPr lvl="1" eaLnBrk="1" hangingPunct="1">
              <a:buFontTx/>
              <a:buNone/>
            </a:pPr>
            <a:r>
              <a:rPr lang="zh-CN" altLang="en-US" dirty="0" smtClean="0"/>
              <a:t> 4</a:t>
            </a:r>
            <a:r>
              <a:rPr lang="en-US" altLang="zh-CN" dirty="0" smtClean="0"/>
              <a:t>.5/</a:t>
            </a:r>
            <a:r>
              <a:rPr lang="en-US" altLang="zh-CN" dirty="0" err="1" smtClean="0"/>
              <a:t>exp</a:t>
            </a:r>
            <a:r>
              <a:rPr lang="en-US" altLang="zh-CN" smtClean="0"/>
              <a:t>(0.25*0.12)= 0.25*S-C=0.25*20-C   </a:t>
            </a:r>
          </a:p>
          <a:p>
            <a:pPr lvl="1" eaLnBrk="1" hangingPunct="1">
              <a:buFontTx/>
              <a:buNone/>
            </a:pPr>
            <a:r>
              <a:rPr lang="en-US" altLang="zh-CN" dirty="0" smtClean="0"/>
              <a:t>   ＝&gt;C=0.633</a:t>
            </a:r>
          </a:p>
          <a:p>
            <a:pPr eaLnBrk="1" hangingPunct="1"/>
            <a:r>
              <a:rPr lang="zh-CN" altLang="en-US" dirty="0" smtClean="0"/>
              <a:t>或者说：</a:t>
            </a:r>
          </a:p>
          <a:p>
            <a:pPr lvl="1" eaLnBrk="1" hangingPunct="1"/>
            <a:endParaRPr lang="zh-CN" altLang="en-US" dirty="0" smtClean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202113" y="4076700"/>
          <a:ext cx="30670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Equation" r:id="rId3" imgW="1726920" imgH="419040" progId="Equation.DSMT4">
                  <p:embed/>
                </p:oleObj>
              </mc:Choice>
              <mc:Fallback>
                <p:oleObj name="Equation" r:id="rId3" imgW="17269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4076700"/>
                        <a:ext cx="3067050" cy="723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796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 smtClean="0"/>
              <a:t>正式推导</a:t>
            </a:r>
          </a:p>
        </p:txBody>
      </p:sp>
      <p:graphicFrame>
        <p:nvGraphicFramePr>
          <p:cNvPr id="2050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419830"/>
              </p:ext>
            </p:extLst>
          </p:nvPr>
        </p:nvGraphicFramePr>
        <p:xfrm>
          <a:off x="2203705" y="1773238"/>
          <a:ext cx="7099046" cy="424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3" imgW="3187440" imgH="2184120" progId="Equation.DSMT4">
                  <p:embed/>
                </p:oleObj>
              </mc:Choice>
              <mc:Fallback>
                <p:oleObj name="Equation" r:id="rId3" imgW="3187440" imgH="2184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705" y="1773238"/>
                        <a:ext cx="7099046" cy="4248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416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774825" y="301625"/>
          <a:ext cx="8497888" cy="618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Equation" r:id="rId3" imgW="3974760" imgH="3390840" progId="Equation.DSMT4">
                  <p:embed/>
                </p:oleObj>
              </mc:Choice>
              <mc:Fallback>
                <p:oleObj name="Equation" r:id="rId3" imgW="3974760" imgH="3390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301625"/>
                        <a:ext cx="8497888" cy="6184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861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练习：降低看涨期权的行权价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记号</a:t>
            </a:r>
          </a:p>
          <a:p>
            <a:pPr lvl="2"/>
            <a:r>
              <a:rPr lang="en-US" altLang="zh-CN" dirty="0"/>
              <a:t>S=20=</a:t>
            </a:r>
            <a:r>
              <a:rPr lang="zh-CN" altLang="en-US" dirty="0"/>
              <a:t>今天的股票价格</a:t>
            </a:r>
          </a:p>
          <a:p>
            <a:pPr lvl="2"/>
            <a:r>
              <a:rPr lang="en-US" altLang="zh-CN" b="1" dirty="0" smtClean="0">
                <a:solidFill>
                  <a:srgbClr val="FF0000"/>
                </a:solidFill>
              </a:rPr>
              <a:t>K=20</a:t>
            </a:r>
            <a:r>
              <a:rPr lang="en-US" altLang="zh-CN" dirty="0" smtClean="0"/>
              <a:t>=</a:t>
            </a:r>
            <a:r>
              <a:rPr lang="zh-CN" altLang="en-US" dirty="0"/>
              <a:t>看涨期权的执行价格</a:t>
            </a:r>
          </a:p>
          <a:p>
            <a:pPr lvl="2"/>
            <a:r>
              <a:rPr lang="en-US" altLang="zh-CN" dirty="0"/>
              <a:t>C=</a:t>
            </a:r>
            <a:r>
              <a:rPr lang="zh-CN" altLang="en-US" dirty="0"/>
              <a:t>看涨期权价值</a:t>
            </a:r>
            <a:endParaRPr lang="en-US" altLang="zh-CN" dirty="0"/>
          </a:p>
          <a:p>
            <a:pPr lvl="2"/>
            <a:r>
              <a:rPr lang="en-US" altLang="zh-CN" dirty="0"/>
              <a:t>t=0.25</a:t>
            </a:r>
            <a:r>
              <a:rPr lang="zh-CN" altLang="en-US" dirty="0"/>
              <a:t>年（到期时间）</a:t>
            </a:r>
          </a:p>
          <a:p>
            <a:pPr lvl="2"/>
            <a:r>
              <a:rPr lang="en-US" altLang="zh-CN" dirty="0"/>
              <a:t>r=0.12=</a:t>
            </a:r>
            <a:r>
              <a:rPr lang="zh-CN" altLang="en-US" dirty="0"/>
              <a:t>无风险利率</a:t>
            </a:r>
            <a:r>
              <a:rPr lang="en-US" altLang="zh-CN" dirty="0"/>
              <a:t>(</a:t>
            </a:r>
            <a:r>
              <a:rPr lang="zh-CN" altLang="en-US" dirty="0"/>
              <a:t>连续复利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94761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扩展二叉树步数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5599"/>
          </a:xfrm>
        </p:spPr>
        <p:txBody>
          <a:bodyPr/>
          <a:lstStyle/>
          <a:p>
            <a:r>
              <a:rPr lang="zh-CN" altLang="en-US" dirty="0" smtClean="0"/>
              <a:t>前面讲述的单步二叉树，这个步数可以扩展：两步、三步等等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当步数趋于无穷大时，就可以推导出</a:t>
            </a:r>
            <a:r>
              <a:rPr lang="en-US" altLang="zh-CN" dirty="0" smtClean="0"/>
              <a:t>Black-Scholes</a:t>
            </a:r>
            <a:r>
              <a:rPr lang="zh-CN" altLang="en-US" dirty="0" smtClean="0"/>
              <a:t>期权定价模型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14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260350"/>
            <a:ext cx="7772400" cy="88265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algn="ctr" eaLnBrk="1" hangingPunct="1"/>
            <a:r>
              <a:rPr lang="zh-CN" altLang="en-US" sz="2800" dirty="0" smtClean="0"/>
              <a:t>两步二叉树示例（标的资产树）</a:t>
            </a:r>
            <a:endParaRPr lang="en-US" altLang="zh-CN" dirty="0" smtClean="0"/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333750" y="1100138"/>
            <a:ext cx="5883402" cy="4995862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buFontTx/>
              <a:buNone/>
            </a:pPr>
            <a:r>
              <a:rPr lang="zh-CN" altLang="en-US" dirty="0" smtClean="0"/>
              <a:t>																												</a:t>
            </a:r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 smtClean="0"/>
              <a:t>T=0.5</a:t>
            </a:r>
            <a:r>
              <a:rPr lang="zh-CN" altLang="en-US" dirty="0" smtClean="0"/>
              <a:t>年，每步</a:t>
            </a:r>
            <a:r>
              <a:rPr lang="en-US" altLang="zh-CN" dirty="0" smtClean="0"/>
              <a:t>=0.25</a:t>
            </a:r>
            <a:r>
              <a:rPr lang="zh-CN" altLang="en-US" dirty="0" smtClean="0"/>
              <a:t>年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K=21, r=12%</a:t>
            </a:r>
          </a:p>
        </p:txBody>
      </p:sp>
      <p:grpSp>
        <p:nvGrpSpPr>
          <p:cNvPr id="19462" name="Group 20"/>
          <p:cNvGrpSpPr>
            <a:grpSpLocks/>
          </p:cNvGrpSpPr>
          <p:nvPr/>
        </p:nvGrpSpPr>
        <p:grpSpPr bwMode="auto">
          <a:xfrm>
            <a:off x="3786189" y="1149351"/>
            <a:ext cx="5332413" cy="3414713"/>
            <a:chOff x="1425" y="724"/>
            <a:chExt cx="3359" cy="2151"/>
          </a:xfrm>
        </p:grpSpPr>
        <p:sp>
          <p:nvSpPr>
            <p:cNvPr id="19463" name="Rectangle 4"/>
            <p:cNvSpPr>
              <a:spLocks noChangeArrowheads="1"/>
            </p:cNvSpPr>
            <p:nvPr/>
          </p:nvSpPr>
          <p:spPr bwMode="auto">
            <a:xfrm>
              <a:off x="1425" y="1625"/>
              <a:ext cx="404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/>
                <a:t>20</a:t>
              </a:r>
            </a:p>
          </p:txBody>
        </p:sp>
        <p:grpSp>
          <p:nvGrpSpPr>
            <p:cNvPr id="19464" name="Group 14"/>
            <p:cNvGrpSpPr>
              <a:grpSpLocks/>
            </p:cNvGrpSpPr>
            <p:nvPr/>
          </p:nvGrpSpPr>
          <p:grpSpPr bwMode="auto">
            <a:xfrm>
              <a:off x="1735" y="881"/>
              <a:ext cx="2507" cy="1820"/>
              <a:chOff x="1735" y="881"/>
              <a:chExt cx="2507" cy="1820"/>
            </a:xfrm>
          </p:grpSpPr>
          <p:grpSp>
            <p:nvGrpSpPr>
              <p:cNvPr id="19470" name="Group 7"/>
              <p:cNvGrpSpPr>
                <a:grpSpLocks/>
              </p:cNvGrpSpPr>
              <p:nvPr/>
            </p:nvGrpSpPr>
            <p:grpSpPr bwMode="auto">
              <a:xfrm>
                <a:off x="1735" y="1331"/>
                <a:ext cx="1263" cy="920"/>
                <a:chOff x="1735" y="1331"/>
                <a:chExt cx="1263" cy="920"/>
              </a:xfrm>
            </p:grpSpPr>
            <p:sp>
              <p:nvSpPr>
                <p:cNvPr id="19477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1735" y="133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8" name="Line 6"/>
                <p:cNvSpPr>
                  <a:spLocks noChangeShapeType="1"/>
                </p:cNvSpPr>
                <p:nvPr/>
              </p:nvSpPr>
              <p:spPr bwMode="auto">
                <a:xfrm>
                  <a:off x="1735" y="179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471" name="Group 10"/>
              <p:cNvGrpSpPr>
                <a:grpSpLocks/>
              </p:cNvGrpSpPr>
              <p:nvPr/>
            </p:nvGrpSpPr>
            <p:grpSpPr bwMode="auto">
              <a:xfrm>
                <a:off x="2979" y="881"/>
                <a:ext cx="1263" cy="920"/>
                <a:chOff x="2979" y="881"/>
                <a:chExt cx="1263" cy="920"/>
              </a:xfrm>
            </p:grpSpPr>
            <p:sp>
              <p:nvSpPr>
                <p:cNvPr id="19475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2979" y="88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6" name="Line 9"/>
                <p:cNvSpPr>
                  <a:spLocks noChangeShapeType="1"/>
                </p:cNvSpPr>
                <p:nvPr/>
              </p:nvSpPr>
              <p:spPr bwMode="auto">
                <a:xfrm>
                  <a:off x="2979" y="134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472" name="Group 13"/>
              <p:cNvGrpSpPr>
                <a:grpSpLocks/>
              </p:cNvGrpSpPr>
              <p:nvPr/>
            </p:nvGrpSpPr>
            <p:grpSpPr bwMode="auto">
              <a:xfrm>
                <a:off x="2973" y="1781"/>
                <a:ext cx="1263" cy="920"/>
                <a:chOff x="2973" y="1781"/>
                <a:chExt cx="1263" cy="920"/>
              </a:xfrm>
            </p:grpSpPr>
            <p:sp>
              <p:nvSpPr>
                <p:cNvPr id="1947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2973" y="178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4" name="Line 12"/>
                <p:cNvSpPr>
                  <a:spLocks noChangeShapeType="1"/>
                </p:cNvSpPr>
                <p:nvPr/>
              </p:nvSpPr>
              <p:spPr bwMode="auto">
                <a:xfrm>
                  <a:off x="2973" y="224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9465" name="Rectangle 15"/>
            <p:cNvSpPr>
              <a:spLocks noChangeArrowheads="1"/>
            </p:cNvSpPr>
            <p:nvPr/>
          </p:nvSpPr>
          <p:spPr bwMode="auto">
            <a:xfrm>
              <a:off x="2716" y="1039"/>
              <a:ext cx="404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 dirty="0"/>
                <a:t>22</a:t>
              </a:r>
            </a:p>
          </p:txBody>
        </p:sp>
        <p:sp>
          <p:nvSpPr>
            <p:cNvPr id="19466" name="Rectangle 16"/>
            <p:cNvSpPr>
              <a:spLocks noChangeArrowheads="1"/>
            </p:cNvSpPr>
            <p:nvPr/>
          </p:nvSpPr>
          <p:spPr bwMode="auto">
            <a:xfrm>
              <a:off x="2725" y="2227"/>
              <a:ext cx="404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/>
                <a:t>18</a:t>
              </a:r>
            </a:p>
          </p:txBody>
        </p:sp>
        <p:sp>
          <p:nvSpPr>
            <p:cNvPr id="19467" name="Rectangle 17"/>
            <p:cNvSpPr>
              <a:spLocks noChangeArrowheads="1"/>
            </p:cNvSpPr>
            <p:nvPr/>
          </p:nvSpPr>
          <p:spPr bwMode="auto">
            <a:xfrm>
              <a:off x="4165" y="724"/>
              <a:ext cx="619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/>
                <a:t>24.2</a:t>
              </a:r>
            </a:p>
          </p:txBody>
        </p:sp>
        <p:sp>
          <p:nvSpPr>
            <p:cNvPr id="19468" name="Rectangle 18"/>
            <p:cNvSpPr>
              <a:spLocks noChangeArrowheads="1"/>
            </p:cNvSpPr>
            <p:nvPr/>
          </p:nvSpPr>
          <p:spPr bwMode="auto">
            <a:xfrm>
              <a:off x="4165" y="1615"/>
              <a:ext cx="619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/>
                <a:t>19.8</a:t>
              </a:r>
            </a:p>
          </p:txBody>
        </p:sp>
        <p:sp>
          <p:nvSpPr>
            <p:cNvPr id="19469" name="Rectangle 19"/>
            <p:cNvSpPr>
              <a:spLocks noChangeArrowheads="1"/>
            </p:cNvSpPr>
            <p:nvPr/>
          </p:nvSpPr>
          <p:spPr bwMode="auto">
            <a:xfrm>
              <a:off x="4165" y="2506"/>
              <a:ext cx="619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/>
                <a:t>16.2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01050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260350"/>
            <a:ext cx="7772400" cy="88265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algn="ctr"/>
            <a:r>
              <a:rPr lang="zh-CN" altLang="en-US" sz="2800" dirty="0" smtClean="0"/>
              <a:t>两步二叉树示例（计算过程）</a:t>
            </a:r>
            <a:endParaRPr lang="en-US" altLang="zh-CN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310128" y="1142999"/>
            <a:ext cx="6448236" cy="484822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buFontTx/>
              <a:buNone/>
            </a:pPr>
            <a:r>
              <a:rPr lang="zh-CN" altLang="en-US" dirty="0" smtClean="0"/>
              <a:t>																																							</a:t>
            </a:r>
          </a:p>
          <a:p>
            <a:pPr eaLnBrk="1" hangingPunct="1">
              <a:buFontTx/>
              <a:buNone/>
            </a:pPr>
            <a:endParaRPr lang="zh-CN" altLang="en-US" sz="2400" dirty="0"/>
          </a:p>
          <a:p>
            <a:pPr eaLnBrk="1" hangingPunct="1">
              <a:buFontTx/>
              <a:buNone/>
            </a:pPr>
            <a:endParaRPr lang="zh-CN" altLang="en-US" sz="2400" dirty="0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3645099" y="2290764"/>
            <a:ext cx="1128514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400"/>
              <a:t>20</a:t>
            </a:r>
          </a:p>
          <a:p>
            <a:pPr algn="r"/>
            <a:r>
              <a:rPr lang="en-US" altLang="zh-CN" sz="2400"/>
              <a:t>1.2823</a:t>
            </a:r>
          </a:p>
        </p:txBody>
      </p:sp>
      <p:grpSp>
        <p:nvGrpSpPr>
          <p:cNvPr id="20485" name="Group 14"/>
          <p:cNvGrpSpPr>
            <a:grpSpLocks/>
          </p:cNvGrpSpPr>
          <p:nvPr/>
        </p:nvGrpSpPr>
        <p:grpSpPr bwMode="auto">
          <a:xfrm>
            <a:off x="4568826" y="1590676"/>
            <a:ext cx="3979863" cy="2212975"/>
            <a:chOff x="1934" y="986"/>
            <a:chExt cx="2507" cy="1394"/>
          </a:xfrm>
        </p:grpSpPr>
        <p:grpSp>
          <p:nvGrpSpPr>
            <p:cNvPr id="20499" name="Group 7"/>
            <p:cNvGrpSpPr>
              <a:grpSpLocks/>
            </p:cNvGrpSpPr>
            <p:nvPr/>
          </p:nvGrpSpPr>
          <p:grpSpPr bwMode="auto">
            <a:xfrm>
              <a:off x="1934" y="1331"/>
              <a:ext cx="1263" cy="705"/>
              <a:chOff x="1934" y="1331"/>
              <a:chExt cx="1263" cy="705"/>
            </a:xfrm>
          </p:grpSpPr>
          <p:sp>
            <p:nvSpPr>
              <p:cNvPr id="20506" name="Line 5"/>
              <p:cNvSpPr>
                <a:spLocks noChangeShapeType="1"/>
              </p:cNvSpPr>
              <p:nvPr/>
            </p:nvSpPr>
            <p:spPr bwMode="auto">
              <a:xfrm flipV="1">
                <a:off x="1934" y="1331"/>
                <a:ext cx="1263" cy="3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7" name="Line 6"/>
              <p:cNvSpPr>
                <a:spLocks noChangeShapeType="1"/>
              </p:cNvSpPr>
              <p:nvPr/>
            </p:nvSpPr>
            <p:spPr bwMode="auto">
              <a:xfrm>
                <a:off x="1934" y="1683"/>
                <a:ext cx="1263" cy="3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00" name="Group 10"/>
            <p:cNvGrpSpPr>
              <a:grpSpLocks/>
            </p:cNvGrpSpPr>
            <p:nvPr/>
          </p:nvGrpSpPr>
          <p:grpSpPr bwMode="auto">
            <a:xfrm>
              <a:off x="3178" y="986"/>
              <a:ext cx="1263" cy="705"/>
              <a:chOff x="3178" y="986"/>
              <a:chExt cx="1263" cy="705"/>
            </a:xfrm>
          </p:grpSpPr>
          <p:sp>
            <p:nvSpPr>
              <p:cNvPr id="20504" name="Line 8"/>
              <p:cNvSpPr>
                <a:spLocks noChangeShapeType="1"/>
              </p:cNvSpPr>
              <p:nvPr/>
            </p:nvSpPr>
            <p:spPr bwMode="auto">
              <a:xfrm flipV="1">
                <a:off x="3178" y="986"/>
                <a:ext cx="1263" cy="3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5" name="Line 9"/>
              <p:cNvSpPr>
                <a:spLocks noChangeShapeType="1"/>
              </p:cNvSpPr>
              <p:nvPr/>
            </p:nvSpPr>
            <p:spPr bwMode="auto">
              <a:xfrm>
                <a:off x="3178" y="1339"/>
                <a:ext cx="1263" cy="3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01" name="Group 13"/>
            <p:cNvGrpSpPr>
              <a:grpSpLocks/>
            </p:cNvGrpSpPr>
            <p:nvPr/>
          </p:nvGrpSpPr>
          <p:grpSpPr bwMode="auto">
            <a:xfrm>
              <a:off x="3172" y="1675"/>
              <a:ext cx="1263" cy="705"/>
              <a:chOff x="3172" y="1675"/>
              <a:chExt cx="1263" cy="705"/>
            </a:xfrm>
          </p:grpSpPr>
          <p:sp>
            <p:nvSpPr>
              <p:cNvPr id="20502" name="Line 11"/>
              <p:cNvSpPr>
                <a:spLocks noChangeShapeType="1"/>
              </p:cNvSpPr>
              <p:nvPr/>
            </p:nvSpPr>
            <p:spPr bwMode="auto">
              <a:xfrm flipV="1">
                <a:off x="3172" y="1675"/>
                <a:ext cx="1263" cy="3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3" name="Line 12"/>
              <p:cNvSpPr>
                <a:spLocks noChangeShapeType="1"/>
              </p:cNvSpPr>
              <p:nvPr/>
            </p:nvSpPr>
            <p:spPr bwMode="auto">
              <a:xfrm>
                <a:off x="3172" y="2028"/>
                <a:ext cx="1263" cy="3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0486" name="Rectangle 15"/>
          <p:cNvSpPr>
            <a:spLocks noChangeArrowheads="1"/>
          </p:cNvSpPr>
          <p:nvPr/>
        </p:nvSpPr>
        <p:spPr bwMode="auto">
          <a:xfrm>
            <a:off x="6253164" y="1714501"/>
            <a:ext cx="52899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22</a:t>
            </a:r>
          </a:p>
        </p:txBody>
      </p:sp>
      <p:sp>
        <p:nvSpPr>
          <p:cNvPr id="20487" name="Rectangle 16"/>
          <p:cNvSpPr>
            <a:spLocks noChangeArrowheads="1"/>
          </p:cNvSpPr>
          <p:nvPr/>
        </p:nvSpPr>
        <p:spPr bwMode="auto">
          <a:xfrm>
            <a:off x="6353176" y="2822576"/>
            <a:ext cx="52899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18</a:t>
            </a:r>
          </a:p>
        </p:txBody>
      </p:sp>
      <p:sp>
        <p:nvSpPr>
          <p:cNvPr id="20488" name="Rectangle 17"/>
          <p:cNvSpPr>
            <a:spLocks noChangeArrowheads="1"/>
          </p:cNvSpPr>
          <p:nvPr/>
        </p:nvSpPr>
        <p:spPr bwMode="auto">
          <a:xfrm>
            <a:off x="8363293" y="1143001"/>
            <a:ext cx="785471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400"/>
              <a:t>24.2</a:t>
            </a:r>
          </a:p>
          <a:p>
            <a:pPr algn="r"/>
            <a:r>
              <a:rPr lang="en-US" altLang="zh-CN" sz="2400"/>
              <a:t>3.2</a:t>
            </a:r>
          </a:p>
        </p:txBody>
      </p:sp>
      <p:sp>
        <p:nvSpPr>
          <p:cNvPr id="20489" name="Rectangle 18"/>
          <p:cNvSpPr>
            <a:spLocks noChangeArrowheads="1"/>
          </p:cNvSpPr>
          <p:nvPr/>
        </p:nvSpPr>
        <p:spPr bwMode="auto">
          <a:xfrm>
            <a:off x="8363293" y="2246314"/>
            <a:ext cx="785471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400"/>
              <a:t>19.8</a:t>
            </a:r>
          </a:p>
          <a:p>
            <a:pPr algn="r"/>
            <a:r>
              <a:rPr lang="en-US" altLang="zh-CN" sz="2400"/>
              <a:t>0.0</a:t>
            </a:r>
          </a:p>
        </p:txBody>
      </p:sp>
      <p:sp>
        <p:nvSpPr>
          <p:cNvPr id="20490" name="Rectangle 19"/>
          <p:cNvSpPr>
            <a:spLocks noChangeArrowheads="1"/>
          </p:cNvSpPr>
          <p:nvPr/>
        </p:nvSpPr>
        <p:spPr bwMode="auto">
          <a:xfrm>
            <a:off x="8363293" y="3384551"/>
            <a:ext cx="785471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400"/>
              <a:t>16.2</a:t>
            </a:r>
          </a:p>
          <a:p>
            <a:pPr algn="r"/>
            <a:r>
              <a:rPr lang="en-US" altLang="zh-CN" sz="2400"/>
              <a:t>0.0</a:t>
            </a:r>
          </a:p>
        </p:txBody>
      </p:sp>
      <p:sp>
        <p:nvSpPr>
          <p:cNvPr id="20491" name="Rectangle 20"/>
          <p:cNvSpPr>
            <a:spLocks noChangeArrowheads="1"/>
          </p:cNvSpPr>
          <p:nvPr/>
        </p:nvSpPr>
        <p:spPr bwMode="auto">
          <a:xfrm>
            <a:off x="5997575" y="2309814"/>
            <a:ext cx="112851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2.0257</a:t>
            </a:r>
          </a:p>
        </p:txBody>
      </p:sp>
      <p:sp>
        <p:nvSpPr>
          <p:cNvPr id="20492" name="Rectangle 21"/>
          <p:cNvSpPr>
            <a:spLocks noChangeArrowheads="1"/>
          </p:cNvSpPr>
          <p:nvPr/>
        </p:nvSpPr>
        <p:spPr bwMode="auto">
          <a:xfrm>
            <a:off x="6315076" y="3332164"/>
            <a:ext cx="61395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0.0</a:t>
            </a:r>
          </a:p>
        </p:txBody>
      </p:sp>
      <p:sp>
        <p:nvSpPr>
          <p:cNvPr id="20493" name="Rectangle 22"/>
          <p:cNvSpPr>
            <a:spLocks noChangeArrowheads="1"/>
          </p:cNvSpPr>
          <p:nvPr/>
        </p:nvSpPr>
        <p:spPr bwMode="auto">
          <a:xfrm>
            <a:off x="4899025" y="2506663"/>
            <a:ext cx="35747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/>
              <a:t>A</a:t>
            </a:r>
          </a:p>
        </p:txBody>
      </p:sp>
      <p:sp>
        <p:nvSpPr>
          <p:cNvPr id="20494" name="Rectangle 23"/>
          <p:cNvSpPr>
            <a:spLocks noChangeArrowheads="1"/>
          </p:cNvSpPr>
          <p:nvPr/>
        </p:nvSpPr>
        <p:spPr bwMode="auto">
          <a:xfrm>
            <a:off x="6934200" y="1984375"/>
            <a:ext cx="3048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/>
              <a:t>B</a:t>
            </a:r>
          </a:p>
        </p:txBody>
      </p:sp>
      <p:sp>
        <p:nvSpPr>
          <p:cNvPr id="20495" name="Rectangle 24"/>
          <p:cNvSpPr>
            <a:spLocks noChangeArrowheads="1"/>
          </p:cNvSpPr>
          <p:nvPr/>
        </p:nvSpPr>
        <p:spPr bwMode="auto">
          <a:xfrm>
            <a:off x="6934200" y="3071813"/>
            <a:ext cx="3810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/>
              <a:t>C</a:t>
            </a:r>
          </a:p>
        </p:txBody>
      </p:sp>
      <p:sp>
        <p:nvSpPr>
          <p:cNvPr id="20496" name="Rectangle 25"/>
          <p:cNvSpPr>
            <a:spLocks noChangeArrowheads="1"/>
          </p:cNvSpPr>
          <p:nvPr/>
        </p:nvSpPr>
        <p:spPr bwMode="auto">
          <a:xfrm>
            <a:off x="7773989" y="1390650"/>
            <a:ext cx="37189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/>
              <a:t>D</a:t>
            </a:r>
          </a:p>
        </p:txBody>
      </p:sp>
      <p:sp>
        <p:nvSpPr>
          <p:cNvPr id="20497" name="Rectangle 26"/>
          <p:cNvSpPr>
            <a:spLocks noChangeArrowheads="1"/>
          </p:cNvSpPr>
          <p:nvPr/>
        </p:nvSpPr>
        <p:spPr bwMode="auto">
          <a:xfrm>
            <a:off x="7696200" y="2514600"/>
            <a:ext cx="3810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/>
              <a:t>E</a:t>
            </a:r>
          </a:p>
        </p:txBody>
      </p:sp>
      <p:sp>
        <p:nvSpPr>
          <p:cNvPr id="20498" name="Rectangle 27"/>
          <p:cNvSpPr>
            <a:spLocks noChangeArrowheads="1"/>
          </p:cNvSpPr>
          <p:nvPr/>
        </p:nvSpPr>
        <p:spPr bwMode="auto">
          <a:xfrm>
            <a:off x="7839076" y="3714750"/>
            <a:ext cx="343043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3400613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2961</Words>
  <Application>Microsoft Office PowerPoint</Application>
  <PresentationFormat>宽屏</PresentationFormat>
  <Paragraphs>319</Paragraphs>
  <Slides>53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3" baseType="lpstr">
      <vt:lpstr>宋体</vt:lpstr>
      <vt:lpstr>Arial</vt:lpstr>
      <vt:lpstr>Arial MT Black</vt:lpstr>
      <vt:lpstr>Calibri</vt:lpstr>
      <vt:lpstr>Calibri Light</vt:lpstr>
      <vt:lpstr>Tahoma</vt:lpstr>
      <vt:lpstr>Times New Roman</vt:lpstr>
      <vt:lpstr>Wingdings</vt:lpstr>
      <vt:lpstr>Office 主题</vt:lpstr>
      <vt:lpstr>Equation</vt:lpstr>
      <vt:lpstr>第8次课 金融衍生品定价入门</vt:lpstr>
      <vt:lpstr>远期价格与预付远期价格</vt:lpstr>
      <vt:lpstr>内容</vt:lpstr>
      <vt:lpstr>1. 组合复制问题：例子</vt:lpstr>
      <vt:lpstr>到期时</vt:lpstr>
      <vt:lpstr>PowerPoint 演示文稿</vt:lpstr>
      <vt:lpstr>商品基金</vt:lpstr>
      <vt:lpstr>证明要点</vt:lpstr>
      <vt:lpstr>组合复制要点</vt:lpstr>
      <vt:lpstr>2.金融期货的定价</vt:lpstr>
      <vt:lpstr>定价假设</vt:lpstr>
      <vt:lpstr>无套利均衡定价方法：单个资产</vt:lpstr>
      <vt:lpstr>无套利均衡定价方法：相关联的两个资产（或资产组合）</vt:lpstr>
      <vt:lpstr>PowerPoint 演示文稿</vt:lpstr>
      <vt:lpstr>PowerPoint 演示文稿</vt:lpstr>
      <vt:lpstr>预付远期价格与远期合约价格</vt:lpstr>
      <vt:lpstr>股指期货能否预测未来的现货指数？ 或者说，股指期货是否具有价格发现功能？</vt:lpstr>
      <vt:lpstr>思考</vt:lpstr>
      <vt:lpstr>风险溢价没有价值！</vt:lpstr>
      <vt:lpstr>       货币的远期合约定价</vt:lpstr>
      <vt:lpstr>PowerPoint 演示文稿</vt:lpstr>
      <vt:lpstr>欧式看涨期权买方的权利</vt:lpstr>
      <vt:lpstr>欧式看跌期权买方的权利</vt:lpstr>
      <vt:lpstr>期权买方和卖方的关系</vt:lpstr>
      <vt:lpstr>欧式看涨期权多头的损益分析</vt:lpstr>
      <vt:lpstr>PowerPoint 演示文稿</vt:lpstr>
      <vt:lpstr>欧式看跌期权多头的损益分析</vt:lpstr>
      <vt:lpstr>欧式看跌期权多头的损益分析</vt:lpstr>
      <vt:lpstr>PowerPoint 演示文稿</vt:lpstr>
      <vt:lpstr>3.期权平价公式及其证明</vt:lpstr>
      <vt:lpstr>分解1：看涨期权多头        C(K=1000) </vt:lpstr>
      <vt:lpstr>分解2： 看跌期权空头 — P(K=1000)</vt:lpstr>
      <vt:lpstr>合并</vt:lpstr>
      <vt:lpstr>多call和空put来复制远期合约的效果</vt:lpstr>
      <vt:lpstr>两种方式购买黄金的成本分析</vt:lpstr>
      <vt:lpstr>结论</vt:lpstr>
      <vt:lpstr>前面是就一般情形进行证明，现在考虑一个简单情形： 标的资产为不分红股票</vt:lpstr>
      <vt:lpstr>简单情形下平价公式的证明</vt:lpstr>
      <vt:lpstr>PowerPoint 演示文稿</vt:lpstr>
      <vt:lpstr>4.期权的二叉树定价方法</vt:lpstr>
      <vt:lpstr>为什么使用二叉树定价模型?</vt:lpstr>
      <vt:lpstr>PowerPoint 演示文稿</vt:lpstr>
      <vt:lpstr>PowerPoint 演示文稿</vt:lpstr>
      <vt:lpstr>PowerPoint 演示文稿</vt:lpstr>
      <vt:lpstr>PowerPoint 演示文稿</vt:lpstr>
      <vt:lpstr>求出期权价值</vt:lpstr>
      <vt:lpstr>PowerPoint 演示文稿</vt:lpstr>
      <vt:lpstr>正式推导</vt:lpstr>
      <vt:lpstr>PowerPoint 演示文稿</vt:lpstr>
      <vt:lpstr>练习：降低看涨期权的行权价</vt:lpstr>
      <vt:lpstr>扩展二叉树步数</vt:lpstr>
      <vt:lpstr>两步二叉树示例（标的资产树）</vt:lpstr>
      <vt:lpstr>两步二叉树示例（计算过程）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金融衍生品定价入门</dc:title>
  <dc:creator>2069912353@qq.com</dc:creator>
  <cp:lastModifiedBy>Microsoft 帐户</cp:lastModifiedBy>
  <cp:revision>48</cp:revision>
  <dcterms:created xsi:type="dcterms:W3CDTF">2020-05-28T16:37:13Z</dcterms:created>
  <dcterms:modified xsi:type="dcterms:W3CDTF">2026-04-09T11:19:10Z</dcterms:modified>
</cp:coreProperties>
</file>