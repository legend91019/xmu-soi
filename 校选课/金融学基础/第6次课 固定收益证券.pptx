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348" r:id="rId3"/>
    <p:sldId id="349" r:id="rId4"/>
    <p:sldId id="350" r:id="rId5"/>
    <p:sldId id="346" r:id="rId6"/>
    <p:sldId id="352" r:id="rId7"/>
    <p:sldId id="353" r:id="rId8"/>
    <p:sldId id="347" r:id="rId9"/>
    <p:sldId id="330" r:id="rId10"/>
    <p:sldId id="331" r:id="rId11"/>
    <p:sldId id="323" r:id="rId12"/>
    <p:sldId id="324" r:id="rId13"/>
    <p:sldId id="337" r:id="rId14"/>
    <p:sldId id="329" r:id="rId15"/>
    <p:sldId id="278" r:id="rId16"/>
    <p:sldId id="280" r:id="rId17"/>
    <p:sldId id="281" r:id="rId18"/>
    <p:sldId id="286" r:id="rId19"/>
    <p:sldId id="282" r:id="rId20"/>
    <p:sldId id="283" r:id="rId21"/>
    <p:sldId id="334" r:id="rId22"/>
    <p:sldId id="335" r:id="rId23"/>
    <p:sldId id="336" r:id="rId24"/>
    <p:sldId id="284" r:id="rId25"/>
    <p:sldId id="287" r:id="rId26"/>
    <p:sldId id="289" r:id="rId27"/>
    <p:sldId id="285" r:id="rId28"/>
    <p:sldId id="288" r:id="rId29"/>
    <p:sldId id="314" r:id="rId30"/>
    <p:sldId id="290" r:id="rId31"/>
    <p:sldId id="291" r:id="rId32"/>
    <p:sldId id="293" r:id="rId33"/>
    <p:sldId id="301" r:id="rId34"/>
    <p:sldId id="315" r:id="rId35"/>
    <p:sldId id="318" r:id="rId36"/>
    <p:sldId id="344" r:id="rId37"/>
    <p:sldId id="294" r:id="rId38"/>
    <p:sldId id="316" r:id="rId39"/>
    <p:sldId id="351" r:id="rId40"/>
    <p:sldId id="317" r:id="rId41"/>
    <p:sldId id="295" r:id="rId42"/>
    <p:sldId id="296" r:id="rId43"/>
    <p:sldId id="297" r:id="rId44"/>
    <p:sldId id="298" r:id="rId45"/>
    <p:sldId id="299" r:id="rId46"/>
    <p:sldId id="308" r:id="rId47"/>
    <p:sldId id="309" r:id="rId48"/>
    <p:sldId id="311" r:id="rId49"/>
    <p:sldId id="345" r:id="rId50"/>
    <p:sldId id="300" r:id="rId51"/>
    <p:sldId id="302" r:id="rId52"/>
    <p:sldId id="303" r:id="rId53"/>
    <p:sldId id="326" r:id="rId54"/>
    <p:sldId id="340" r:id="rId55"/>
    <p:sldId id="341" r:id="rId56"/>
    <p:sldId id="342" r:id="rId57"/>
    <p:sldId id="304" r:id="rId58"/>
    <p:sldId id="306" r:id="rId59"/>
    <p:sldId id="313" r:id="rId60"/>
    <p:sldId id="339" r:id="rId61"/>
    <p:sldId id="319" r:id="rId62"/>
    <p:sldId id="320" r:id="rId63"/>
    <p:sldId id="321" r:id="rId64"/>
    <p:sldId id="322" r:id="rId65"/>
    <p:sldId id="325" r:id="rId6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64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223E04-78B8-448F-9DA4-099140CB94AB}" type="datetimeFigureOut">
              <a:rPr lang="zh-CN" altLang="en-US" smtClean="0"/>
              <a:t>2026/4/2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DF6EC4-18D1-4B0F-9D5D-A7C4E69C8A41}" type="slidenum">
              <a:rPr lang="zh-CN" altLang="en-US" smtClean="0"/>
              <a:t>‹#›</a:t>
            </a:fld>
            <a:endParaRPr lang="zh-CN" altLang="en-US"/>
          </a:p>
        </p:txBody>
      </p:sp>
    </p:spTree>
    <p:extLst>
      <p:ext uri="{BB962C8B-B14F-4D97-AF65-F5344CB8AC3E}">
        <p14:creationId xmlns:p14="http://schemas.microsoft.com/office/powerpoint/2010/main" val="3388959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lvl1pPr defTabSz="950913" eaLnBrk="0" hangingPunct="0">
              <a:defRPr sz="2000" b="1">
                <a:solidFill>
                  <a:srgbClr val="003366"/>
                </a:solidFill>
                <a:latin typeface="Arial" panose="020B0604020202020204" pitchFamily="34" charset="0"/>
                <a:ea typeface="楷体_GB2312" pitchFamily="49" charset="-122"/>
              </a:defRPr>
            </a:lvl1pPr>
            <a:lvl2pPr marL="773113" indent="-298450" defTabSz="950913" eaLnBrk="0" hangingPunct="0">
              <a:defRPr sz="2000" b="1">
                <a:solidFill>
                  <a:srgbClr val="003366"/>
                </a:solidFill>
                <a:latin typeface="Arial" panose="020B0604020202020204" pitchFamily="34" charset="0"/>
                <a:ea typeface="楷体_GB2312" pitchFamily="49" charset="-122"/>
              </a:defRPr>
            </a:lvl2pPr>
            <a:lvl3pPr marL="1189038" indent="-238125" defTabSz="950913" eaLnBrk="0" hangingPunct="0">
              <a:defRPr sz="2000" b="1">
                <a:solidFill>
                  <a:srgbClr val="003366"/>
                </a:solidFill>
                <a:latin typeface="Arial" panose="020B0604020202020204" pitchFamily="34" charset="0"/>
                <a:ea typeface="楷体_GB2312" pitchFamily="49" charset="-122"/>
              </a:defRPr>
            </a:lvl3pPr>
            <a:lvl4pPr marL="1663700" indent="-238125" defTabSz="950913" eaLnBrk="0" hangingPunct="0">
              <a:defRPr sz="2000" b="1">
                <a:solidFill>
                  <a:srgbClr val="003366"/>
                </a:solidFill>
                <a:latin typeface="Arial" panose="020B0604020202020204" pitchFamily="34" charset="0"/>
                <a:ea typeface="楷体_GB2312" pitchFamily="49" charset="-122"/>
              </a:defRPr>
            </a:lvl4pPr>
            <a:lvl5pPr marL="2138363" indent="-236538" defTabSz="950913" eaLnBrk="0" hangingPunct="0">
              <a:defRPr sz="2000" b="1">
                <a:solidFill>
                  <a:srgbClr val="003366"/>
                </a:solidFill>
                <a:latin typeface="Arial" panose="020B0604020202020204" pitchFamily="34" charset="0"/>
                <a:ea typeface="楷体_GB2312" pitchFamily="49" charset="-122"/>
              </a:defRPr>
            </a:lvl5pPr>
            <a:lvl6pPr marL="25955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6pPr>
            <a:lvl7pPr marL="30527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7pPr>
            <a:lvl8pPr marL="35099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8pPr>
            <a:lvl9pPr marL="39671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9pPr>
          </a:lstStyle>
          <a:p>
            <a:pPr eaLnBrk="1" hangingPunct="1"/>
            <a:fld id="{2E8FD8AB-6298-4A9E-A844-8B65B132364C}" type="slidenum">
              <a:rPr lang="en-US" altLang="zh-CN" sz="1200" b="0">
                <a:solidFill>
                  <a:schemeClr val="tx1"/>
                </a:solidFill>
                <a:ea typeface="宋体" panose="02010600030101010101" pitchFamily="2" charset="-122"/>
              </a:rPr>
              <a:pPr eaLnBrk="1" hangingPunct="1"/>
              <a:t>33</a:t>
            </a:fld>
            <a:endParaRPr lang="en-US" altLang="zh-CN" sz="1200" b="0">
              <a:solidFill>
                <a:schemeClr val="tx1"/>
              </a:solidFill>
              <a:ea typeface="宋体" panose="02010600030101010101" pitchFamily="2" charset="-122"/>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p:txBody>
          <a:bodyPr lIns="91438" tIns="45719" rIns="91438" bIns="45719"/>
          <a:lstStyle/>
          <a:p>
            <a:pPr eaLnBrk="1" hangingPunct="1"/>
            <a:endParaRPr lang="zh-CN" altLang="en-US" dirty="0" smtClean="0">
              <a:latin typeface="Arial" panose="020B0604020202020204" pitchFamily="34" charset="0"/>
            </a:endParaRPr>
          </a:p>
        </p:txBody>
      </p:sp>
    </p:spTree>
    <p:extLst>
      <p:ext uri="{BB962C8B-B14F-4D97-AF65-F5344CB8AC3E}">
        <p14:creationId xmlns:p14="http://schemas.microsoft.com/office/powerpoint/2010/main" val="1922935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p:txBody>
          <a:bodyPr/>
          <a:lstStyle>
            <a:lvl1pPr defTabSz="950913" eaLnBrk="0" hangingPunct="0">
              <a:defRPr sz="2000" b="1">
                <a:solidFill>
                  <a:srgbClr val="003366"/>
                </a:solidFill>
                <a:latin typeface="Arial" panose="020B0604020202020204" pitchFamily="34" charset="0"/>
                <a:ea typeface="楷体_GB2312" pitchFamily="49" charset="-122"/>
              </a:defRPr>
            </a:lvl1pPr>
            <a:lvl2pPr marL="773113" indent="-298450" defTabSz="950913" eaLnBrk="0" hangingPunct="0">
              <a:defRPr sz="2000" b="1">
                <a:solidFill>
                  <a:srgbClr val="003366"/>
                </a:solidFill>
                <a:latin typeface="Arial" panose="020B0604020202020204" pitchFamily="34" charset="0"/>
                <a:ea typeface="楷体_GB2312" pitchFamily="49" charset="-122"/>
              </a:defRPr>
            </a:lvl2pPr>
            <a:lvl3pPr marL="1189038" indent="-238125" defTabSz="950913" eaLnBrk="0" hangingPunct="0">
              <a:defRPr sz="2000" b="1">
                <a:solidFill>
                  <a:srgbClr val="003366"/>
                </a:solidFill>
                <a:latin typeface="Arial" panose="020B0604020202020204" pitchFamily="34" charset="0"/>
                <a:ea typeface="楷体_GB2312" pitchFamily="49" charset="-122"/>
              </a:defRPr>
            </a:lvl3pPr>
            <a:lvl4pPr marL="1663700" indent="-238125" defTabSz="950913" eaLnBrk="0" hangingPunct="0">
              <a:defRPr sz="2000" b="1">
                <a:solidFill>
                  <a:srgbClr val="003366"/>
                </a:solidFill>
                <a:latin typeface="Arial" panose="020B0604020202020204" pitchFamily="34" charset="0"/>
                <a:ea typeface="楷体_GB2312" pitchFamily="49" charset="-122"/>
              </a:defRPr>
            </a:lvl4pPr>
            <a:lvl5pPr marL="2138363" indent="-236538" defTabSz="950913" eaLnBrk="0" hangingPunct="0">
              <a:defRPr sz="2000" b="1">
                <a:solidFill>
                  <a:srgbClr val="003366"/>
                </a:solidFill>
                <a:latin typeface="Arial" panose="020B0604020202020204" pitchFamily="34" charset="0"/>
                <a:ea typeface="楷体_GB2312" pitchFamily="49" charset="-122"/>
              </a:defRPr>
            </a:lvl5pPr>
            <a:lvl6pPr marL="25955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6pPr>
            <a:lvl7pPr marL="30527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7pPr>
            <a:lvl8pPr marL="35099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8pPr>
            <a:lvl9pPr marL="39671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9pPr>
          </a:lstStyle>
          <a:p>
            <a:pPr eaLnBrk="1" hangingPunct="1"/>
            <a:fld id="{4889A70B-128E-463E-8DB8-4B8364943475}" type="slidenum">
              <a:rPr lang="en-US" altLang="zh-CN" sz="1200" b="0">
                <a:solidFill>
                  <a:schemeClr val="tx1"/>
                </a:solidFill>
                <a:ea typeface="宋体" panose="02010600030101010101" pitchFamily="2" charset="-122"/>
              </a:rPr>
              <a:pPr eaLnBrk="1" hangingPunct="1"/>
              <a:t>51</a:t>
            </a:fld>
            <a:endParaRPr lang="en-US" altLang="zh-CN" sz="1200" b="0">
              <a:solidFill>
                <a:schemeClr val="tx1"/>
              </a:solidFill>
              <a:ea typeface="宋体" panose="02010600030101010101" pitchFamily="2" charset="-122"/>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p:txBody>
          <a:bodyPr lIns="91438" tIns="45719" rIns="91438" bIns="45719"/>
          <a:lstStyle/>
          <a:p>
            <a:pPr eaLnBrk="1" hangingPunct="1"/>
            <a:endParaRPr lang="zh-CN" altLang="en-US" dirty="0" smtClean="0">
              <a:latin typeface="Arial" panose="020B0604020202020204" pitchFamily="34" charset="0"/>
            </a:endParaRPr>
          </a:p>
        </p:txBody>
      </p:sp>
    </p:spTree>
    <p:extLst>
      <p:ext uri="{BB962C8B-B14F-4D97-AF65-F5344CB8AC3E}">
        <p14:creationId xmlns:p14="http://schemas.microsoft.com/office/powerpoint/2010/main" val="2711499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p:txBody>
          <a:bodyPr/>
          <a:lstStyle>
            <a:lvl1pPr defTabSz="950913" eaLnBrk="0" hangingPunct="0">
              <a:defRPr sz="2000" b="1">
                <a:solidFill>
                  <a:srgbClr val="003366"/>
                </a:solidFill>
                <a:latin typeface="Arial" panose="020B0604020202020204" pitchFamily="34" charset="0"/>
                <a:ea typeface="楷体_GB2312" pitchFamily="49" charset="-122"/>
              </a:defRPr>
            </a:lvl1pPr>
            <a:lvl2pPr marL="773113" indent="-298450" defTabSz="950913" eaLnBrk="0" hangingPunct="0">
              <a:defRPr sz="2000" b="1">
                <a:solidFill>
                  <a:srgbClr val="003366"/>
                </a:solidFill>
                <a:latin typeface="Arial" panose="020B0604020202020204" pitchFamily="34" charset="0"/>
                <a:ea typeface="楷体_GB2312" pitchFamily="49" charset="-122"/>
              </a:defRPr>
            </a:lvl2pPr>
            <a:lvl3pPr marL="1189038" indent="-238125" defTabSz="950913" eaLnBrk="0" hangingPunct="0">
              <a:defRPr sz="2000" b="1">
                <a:solidFill>
                  <a:srgbClr val="003366"/>
                </a:solidFill>
                <a:latin typeface="Arial" panose="020B0604020202020204" pitchFamily="34" charset="0"/>
                <a:ea typeface="楷体_GB2312" pitchFamily="49" charset="-122"/>
              </a:defRPr>
            </a:lvl3pPr>
            <a:lvl4pPr marL="1663700" indent="-238125" defTabSz="950913" eaLnBrk="0" hangingPunct="0">
              <a:defRPr sz="2000" b="1">
                <a:solidFill>
                  <a:srgbClr val="003366"/>
                </a:solidFill>
                <a:latin typeface="Arial" panose="020B0604020202020204" pitchFamily="34" charset="0"/>
                <a:ea typeface="楷体_GB2312" pitchFamily="49" charset="-122"/>
              </a:defRPr>
            </a:lvl4pPr>
            <a:lvl5pPr marL="2138363" indent="-236538" defTabSz="950913" eaLnBrk="0" hangingPunct="0">
              <a:defRPr sz="2000" b="1">
                <a:solidFill>
                  <a:srgbClr val="003366"/>
                </a:solidFill>
                <a:latin typeface="Arial" panose="020B0604020202020204" pitchFamily="34" charset="0"/>
                <a:ea typeface="楷体_GB2312" pitchFamily="49" charset="-122"/>
              </a:defRPr>
            </a:lvl5pPr>
            <a:lvl6pPr marL="25955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6pPr>
            <a:lvl7pPr marL="30527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7pPr>
            <a:lvl8pPr marL="35099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8pPr>
            <a:lvl9pPr marL="3967163" indent="-236538" algn="ctr" defTabSz="950913"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9pPr>
          </a:lstStyle>
          <a:p>
            <a:pPr eaLnBrk="1" hangingPunct="1"/>
            <a:fld id="{BBA2E74A-761D-45C1-B161-817F590ABAE6}" type="slidenum">
              <a:rPr lang="en-US" altLang="zh-CN" sz="1200" b="0">
                <a:solidFill>
                  <a:schemeClr val="tx1"/>
                </a:solidFill>
                <a:ea typeface="宋体" panose="02010600030101010101" pitchFamily="2" charset="-122"/>
              </a:rPr>
              <a:pPr eaLnBrk="1" hangingPunct="1"/>
              <a:t>52</a:t>
            </a:fld>
            <a:endParaRPr lang="en-US" altLang="zh-CN" sz="1200" b="0">
              <a:solidFill>
                <a:schemeClr val="tx1"/>
              </a:solidFill>
              <a:ea typeface="宋体" panose="02010600030101010101" pitchFamily="2" charset="-122"/>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p:txBody>
          <a:bodyPr lIns="91438" tIns="45719" rIns="91438" bIns="45719"/>
          <a:lstStyle/>
          <a:p>
            <a:pPr eaLnBrk="1" hangingPunct="1"/>
            <a:endParaRPr lang="zh-CN" altLang="en-US" dirty="0" smtClean="0">
              <a:latin typeface="Arial" panose="020B0604020202020204" pitchFamily="34" charset="0"/>
            </a:endParaRPr>
          </a:p>
        </p:txBody>
      </p:sp>
    </p:spTree>
    <p:extLst>
      <p:ext uri="{BB962C8B-B14F-4D97-AF65-F5344CB8AC3E}">
        <p14:creationId xmlns:p14="http://schemas.microsoft.com/office/powerpoint/2010/main" val="3285572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2438090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2557688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217593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2799546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3075877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3908947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2727838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929033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1842895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2295125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26C3642-9EF5-40D2-87C4-15B7EE0EBE40}" type="datetimeFigureOut">
              <a:rPr lang="zh-CN" altLang="en-US" smtClean="0"/>
              <a:t>2026/4/2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11295061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47363" y="517881"/>
            <a:ext cx="5137544" cy="582081"/>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14294" y="1261176"/>
            <a:ext cx="5378507" cy="4769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065430" y="1261176"/>
            <a:ext cx="5378506" cy="4769356"/>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A8606A52-D7C7-4491-8706-1EFFEE483B31}" type="slidenum">
              <a:rPr lang="en-US" altLang="zh-CN"/>
              <a:pPr/>
              <a:t>‹#›</a:t>
            </a:fld>
            <a:endParaRPr lang="en-US" altLang="zh-CN"/>
          </a:p>
        </p:txBody>
      </p:sp>
    </p:spTree>
    <p:extLst>
      <p:ext uri="{BB962C8B-B14F-4D97-AF65-F5344CB8AC3E}">
        <p14:creationId xmlns:p14="http://schemas.microsoft.com/office/powerpoint/2010/main" val="1599903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6C3642-9EF5-40D2-87C4-15B7EE0EBE40}" type="datetimeFigureOut">
              <a:rPr lang="zh-CN" altLang="en-US" smtClean="0"/>
              <a:t>2026/4/2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3B9A10-8C4D-48BC-87ED-CF14E274A0AC}" type="slidenum">
              <a:rPr lang="zh-CN" altLang="en-US" smtClean="0"/>
              <a:t>‹#›</a:t>
            </a:fld>
            <a:endParaRPr lang="zh-CN" altLang="en-US"/>
          </a:p>
        </p:txBody>
      </p:sp>
    </p:spTree>
    <p:extLst>
      <p:ext uri="{BB962C8B-B14F-4D97-AF65-F5344CB8AC3E}">
        <p14:creationId xmlns:p14="http://schemas.microsoft.com/office/powerpoint/2010/main" val="526864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5.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17.emf"/><Relationship Id="rId4" Type="http://schemas.openxmlformats.org/officeDocument/2006/relationships/image" Target="../media/image16.w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18.wmf"/><Relationship Id="rId4" Type="http://schemas.openxmlformats.org/officeDocument/2006/relationships/oleObject" Target="../embeddings/oleObject3.bin"/></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8.wmf"/></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37.wmf"/><Relationship Id="rId4" Type="http://schemas.openxmlformats.org/officeDocument/2006/relationships/oleObject" Target="../embeddings/oleObject5.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9.emf"/><Relationship Id="rId4" Type="http://schemas.openxmlformats.org/officeDocument/2006/relationships/oleObject" Target="../embeddings/oleObject7.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40.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41.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42.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43.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11.vml"/><Relationship Id="rId4" Type="http://schemas.openxmlformats.org/officeDocument/2006/relationships/image" Target="../media/image44.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45.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6</a:t>
            </a:r>
            <a:r>
              <a:rPr lang="zh-CN" altLang="en-US" dirty="0" smtClean="0"/>
              <a:t>次</a:t>
            </a:r>
            <a:r>
              <a:rPr lang="zh-CN" altLang="en-US" dirty="0" smtClean="0"/>
              <a:t>课</a:t>
            </a:r>
            <a:r>
              <a:rPr lang="en-US" altLang="zh-CN" dirty="0" smtClean="0"/>
              <a:t/>
            </a:r>
            <a:br>
              <a:rPr lang="en-US" altLang="zh-CN" dirty="0" smtClean="0"/>
            </a:br>
            <a:r>
              <a:rPr lang="zh-CN" altLang="en-US" dirty="0" smtClean="0"/>
              <a:t>第</a:t>
            </a:r>
            <a:r>
              <a:rPr lang="en-US" altLang="zh-CN" dirty="0" smtClean="0"/>
              <a:t>8</a:t>
            </a:r>
            <a:r>
              <a:rPr lang="zh-CN" altLang="en-US" dirty="0" smtClean="0"/>
              <a:t>章 固定收益证券</a:t>
            </a:r>
            <a:endParaRPr lang="zh-CN" altLang="en-US" dirty="0"/>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4118826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00025"/>
            <a:ext cx="10515600" cy="971551"/>
          </a:xfrm>
        </p:spPr>
        <p:txBody>
          <a:bodyPr/>
          <a:lstStyle/>
          <a:p>
            <a:pPr algn="ctr"/>
            <a:r>
              <a:rPr lang="zh-CN" altLang="en-US" dirty="0" smtClean="0"/>
              <a:t>我国降息（银行整存整取存款利率</a:t>
            </a:r>
            <a:r>
              <a:rPr lang="en-US" altLang="zh-CN" dirty="0" smtClean="0"/>
              <a:t>%</a:t>
            </a:r>
            <a:r>
              <a:rPr lang="zh-CN" altLang="en-US" dirty="0" smtClean="0"/>
              <a:t>）</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4047842288"/>
              </p:ext>
            </p:extLst>
          </p:nvPr>
        </p:nvGraphicFramePr>
        <p:xfrm>
          <a:off x="2114551" y="1285880"/>
          <a:ext cx="7600949" cy="5438768"/>
        </p:xfrm>
        <a:graphic>
          <a:graphicData uri="http://schemas.openxmlformats.org/drawingml/2006/table">
            <a:tbl>
              <a:tblPr>
                <a:tableStyleId>{5C22544A-7EE6-4342-B048-85BDC9FD1C3A}</a:tableStyleId>
              </a:tblPr>
              <a:tblGrid>
                <a:gridCol w="2462279"/>
                <a:gridCol w="1712890"/>
                <a:gridCol w="1712890"/>
                <a:gridCol w="1712890"/>
              </a:tblGrid>
              <a:tr h="339923">
                <a:tc>
                  <a:txBody>
                    <a:bodyPr/>
                    <a:lstStyle/>
                    <a:p>
                      <a:pPr algn="ctr" fontAlgn="ctr"/>
                      <a:r>
                        <a:rPr lang="zh-CN" altLang="en-US" sz="1500" u="none" strike="noStrike" dirty="0">
                          <a:effectLst/>
                        </a:rPr>
                        <a:t>日期</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zh-CN" altLang="en-US" sz="1500" u="none" strike="noStrike">
                          <a:effectLst/>
                        </a:rPr>
                        <a:t>一年期</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zh-CN" altLang="en-US" sz="1500" u="none" strike="noStrike">
                          <a:effectLst/>
                        </a:rPr>
                        <a:t>三年期</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zh-CN" altLang="en-US" sz="1500" u="none" strike="noStrike">
                          <a:effectLst/>
                        </a:rPr>
                        <a:t>五年期</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a:effectLst/>
                        </a:rPr>
                        <a:t>2011-07-07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3.50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5.00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5.50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a:effectLst/>
                        </a:rPr>
                        <a:t>2012-06-08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3.50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4.65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5.10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dirty="0">
                          <a:effectLst/>
                        </a:rPr>
                        <a:t>2012-07-06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3.25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4.25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4.75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a:effectLst/>
                        </a:rPr>
                        <a:t>2014-11-22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3.00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4.00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4.25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a:effectLst/>
                        </a:rPr>
                        <a:t>2015-03-01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2.75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3.75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4.00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a:effectLst/>
                        </a:rPr>
                        <a:t>2015-05-11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2.50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3.50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3.75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a:effectLst/>
                        </a:rPr>
                        <a:t>2015-06-28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2.25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3.25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3.35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a:effectLst/>
                        </a:rPr>
                        <a:t>2015-08-26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2.00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3.00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3.05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u="none" strike="noStrike">
                          <a:effectLst/>
                        </a:rPr>
                        <a:t>2015-10-24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1.75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2.75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2.75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b="1" u="none" strike="noStrike" dirty="0">
                          <a:solidFill>
                            <a:srgbClr val="0070C0"/>
                          </a:solidFill>
                          <a:effectLst/>
                        </a:rPr>
                        <a:t>2022-09-15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1.65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2.60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b="1" u="none" strike="noStrike" dirty="0">
                          <a:solidFill>
                            <a:srgbClr val="FF0000"/>
                          </a:solidFill>
                          <a:effectLst/>
                        </a:rPr>
                        <a:t>2.65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b="1" u="none" strike="noStrike" dirty="0">
                          <a:solidFill>
                            <a:srgbClr val="0070C0"/>
                          </a:solidFill>
                          <a:effectLst/>
                        </a:rPr>
                        <a:t>2023-06-08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1.65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2.45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b="1" u="none" strike="noStrike" dirty="0">
                          <a:solidFill>
                            <a:srgbClr val="FF0000"/>
                          </a:solidFill>
                          <a:effectLst/>
                        </a:rPr>
                        <a:t>2.50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b="1" u="none" strike="noStrike" dirty="0">
                          <a:solidFill>
                            <a:srgbClr val="0070C0"/>
                          </a:solidFill>
                          <a:effectLst/>
                        </a:rPr>
                        <a:t>2023-09-01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1.55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2.20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b="1" u="none" strike="noStrike" dirty="0">
                          <a:solidFill>
                            <a:srgbClr val="FF0000"/>
                          </a:solidFill>
                          <a:effectLst/>
                        </a:rPr>
                        <a:t>2.25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b="1" u="none" strike="noStrike" dirty="0">
                          <a:solidFill>
                            <a:srgbClr val="0070C0"/>
                          </a:solidFill>
                          <a:effectLst/>
                        </a:rPr>
                        <a:t>2023-12-22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1.45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dirty="0">
                          <a:effectLst/>
                        </a:rPr>
                        <a:t>1.95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b="1" u="none" strike="noStrike" dirty="0">
                          <a:solidFill>
                            <a:srgbClr val="FF0000"/>
                          </a:solidFill>
                          <a:effectLst/>
                        </a:rPr>
                        <a:t>2.00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b="1" u="none" strike="noStrike" dirty="0">
                          <a:solidFill>
                            <a:srgbClr val="0070C0"/>
                          </a:solidFill>
                          <a:effectLst/>
                        </a:rPr>
                        <a:t>2024-07-25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1.35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1.75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b="1" u="none" strike="noStrike" dirty="0">
                          <a:solidFill>
                            <a:srgbClr val="FF0000"/>
                          </a:solidFill>
                          <a:effectLst/>
                        </a:rPr>
                        <a:t>1.80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0" marR="0" marT="0" marB="0" anchor="ctr"/>
                </a:tc>
              </a:tr>
              <a:tr h="339923">
                <a:tc>
                  <a:txBody>
                    <a:bodyPr/>
                    <a:lstStyle/>
                    <a:p>
                      <a:pPr algn="ctr" fontAlgn="ctr"/>
                      <a:r>
                        <a:rPr lang="en-US" altLang="zh-CN" sz="1500" b="1" u="none" strike="noStrike" dirty="0">
                          <a:solidFill>
                            <a:srgbClr val="0070C0"/>
                          </a:solidFill>
                          <a:effectLst/>
                        </a:rPr>
                        <a:t>2024-10-18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1.10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u="none" strike="noStrike">
                          <a:effectLst/>
                        </a:rPr>
                        <a:t>1.50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nchor="ctr"/>
                </a:tc>
                <a:tc>
                  <a:txBody>
                    <a:bodyPr/>
                    <a:lstStyle/>
                    <a:p>
                      <a:pPr algn="ctr" fontAlgn="ctr"/>
                      <a:r>
                        <a:rPr lang="en-US" altLang="zh-CN" sz="1500" b="1" u="none" strike="noStrike" dirty="0">
                          <a:solidFill>
                            <a:srgbClr val="FF0000"/>
                          </a:solidFill>
                          <a:effectLst/>
                        </a:rPr>
                        <a:t>1.55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0" marR="0" marT="0" marB="0" anchor="ctr"/>
                </a:tc>
              </a:tr>
            </a:tbl>
          </a:graphicData>
        </a:graphic>
      </p:graphicFrame>
    </p:spTree>
    <p:extLst>
      <p:ext uri="{BB962C8B-B14F-4D97-AF65-F5344CB8AC3E}">
        <p14:creationId xmlns:p14="http://schemas.microsoft.com/office/powerpoint/2010/main" val="169503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美国加息</a:t>
            </a:r>
            <a:endParaRPr lang="zh-CN" altLang="en-US" dirty="0"/>
          </a:p>
        </p:txBody>
      </p:sp>
      <p:pic>
        <p:nvPicPr>
          <p:cNvPr id="3" name="图片 2"/>
          <p:cNvPicPr>
            <a:picLocks noChangeAspect="1"/>
          </p:cNvPicPr>
          <p:nvPr/>
        </p:nvPicPr>
        <p:blipFill>
          <a:blip r:embed="rId2"/>
          <a:stretch>
            <a:fillRect/>
          </a:stretch>
        </p:blipFill>
        <p:spPr>
          <a:xfrm>
            <a:off x="2481262" y="2063770"/>
            <a:ext cx="7229475" cy="3809591"/>
          </a:xfrm>
          <a:prstGeom prst="rect">
            <a:avLst/>
          </a:prstGeom>
        </p:spPr>
      </p:pic>
    </p:spTree>
    <p:extLst>
      <p:ext uri="{BB962C8B-B14F-4D97-AF65-F5344CB8AC3E}">
        <p14:creationId xmlns:p14="http://schemas.microsoft.com/office/powerpoint/2010/main" val="72670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后果</a:t>
            </a:r>
            <a:endParaRPr lang="zh-CN" altLang="en-US" dirty="0"/>
          </a:p>
        </p:txBody>
      </p:sp>
      <p:sp>
        <p:nvSpPr>
          <p:cNvPr id="3" name="内容占位符 2"/>
          <p:cNvSpPr>
            <a:spLocks noGrp="1"/>
          </p:cNvSpPr>
          <p:nvPr>
            <p:ph idx="1"/>
          </p:nvPr>
        </p:nvSpPr>
        <p:spPr/>
        <p:txBody>
          <a:bodyPr/>
          <a:lstStyle/>
          <a:p>
            <a:r>
              <a:rPr lang="zh-CN" altLang="en-US" dirty="0" smtClean="0"/>
              <a:t>在我国降息环境下，我国债券价格持续上涨</a:t>
            </a:r>
            <a:endParaRPr lang="en-US" altLang="zh-CN" dirty="0" smtClean="0"/>
          </a:p>
          <a:p>
            <a:endParaRPr lang="en-US" altLang="zh-CN" dirty="0"/>
          </a:p>
          <a:p>
            <a:r>
              <a:rPr lang="zh-CN" altLang="en-US" dirty="0" smtClean="0"/>
              <a:t>在美国加息环境下，美国债券价格持续下跌</a:t>
            </a:r>
            <a:endParaRPr lang="zh-CN" altLang="en-US" dirty="0"/>
          </a:p>
        </p:txBody>
      </p:sp>
    </p:spTree>
    <p:extLst>
      <p:ext uri="{BB962C8B-B14F-4D97-AF65-F5344CB8AC3E}">
        <p14:creationId xmlns:p14="http://schemas.microsoft.com/office/powerpoint/2010/main" val="2947341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大类资产配置</a:t>
            </a:r>
            <a:endParaRPr lang="zh-CN" altLang="en-US" dirty="0"/>
          </a:p>
        </p:txBody>
      </p:sp>
      <p:sp>
        <p:nvSpPr>
          <p:cNvPr id="3" name="内容占位符 2"/>
          <p:cNvSpPr>
            <a:spLocks noGrp="1"/>
          </p:cNvSpPr>
          <p:nvPr>
            <p:ph idx="1"/>
          </p:nvPr>
        </p:nvSpPr>
        <p:spPr/>
        <p:txBody>
          <a:bodyPr/>
          <a:lstStyle/>
          <a:p>
            <a:r>
              <a:rPr lang="zh-CN" altLang="en-US" dirty="0" smtClean="0"/>
              <a:t>低风险的固定收益类资产</a:t>
            </a:r>
            <a:endParaRPr lang="en-US" altLang="zh-CN" dirty="0" smtClean="0"/>
          </a:p>
          <a:p>
            <a:endParaRPr lang="en-US" altLang="zh-CN" dirty="0"/>
          </a:p>
          <a:p>
            <a:r>
              <a:rPr lang="zh-CN" altLang="en-US" dirty="0" smtClean="0"/>
              <a:t>高风险的权益类资产</a:t>
            </a:r>
            <a:endParaRPr lang="zh-CN" altLang="en-US" dirty="0"/>
          </a:p>
        </p:txBody>
      </p:sp>
    </p:spTree>
    <p:extLst>
      <p:ext uri="{BB962C8B-B14F-4D97-AF65-F5344CB8AC3E}">
        <p14:creationId xmlns:p14="http://schemas.microsoft.com/office/powerpoint/2010/main" val="2787712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425388" y="1690688"/>
            <a:ext cx="8892987" cy="4926735"/>
          </a:xfrm>
          <a:prstGeom prst="rect">
            <a:avLst/>
          </a:prstGeom>
        </p:spPr>
      </p:pic>
      <p:sp>
        <p:nvSpPr>
          <p:cNvPr id="5" name="标题 4"/>
          <p:cNvSpPr>
            <a:spLocks noGrp="1"/>
          </p:cNvSpPr>
          <p:nvPr>
            <p:ph type="title"/>
          </p:nvPr>
        </p:nvSpPr>
        <p:spPr/>
        <p:txBody>
          <a:bodyPr/>
          <a:lstStyle/>
          <a:p>
            <a:r>
              <a:rPr lang="zh-CN" altLang="en-US" dirty="0" smtClean="0"/>
              <a:t>伯克希尔现金储备金额（</a:t>
            </a:r>
            <a:r>
              <a:rPr lang="en-US" altLang="zh-CN" dirty="0" smtClean="0"/>
              <a:t>2010.Q1-2024.Q4</a:t>
            </a:r>
            <a:r>
              <a:rPr lang="zh-CN" altLang="en-US" dirty="0" smtClean="0"/>
              <a:t>）</a:t>
            </a:r>
            <a:endParaRPr lang="zh-CN" altLang="en-US" dirty="0"/>
          </a:p>
        </p:txBody>
      </p:sp>
    </p:spTree>
    <p:extLst>
      <p:ext uri="{BB962C8B-B14F-4D97-AF65-F5344CB8AC3E}">
        <p14:creationId xmlns:p14="http://schemas.microsoft.com/office/powerpoint/2010/main" val="428667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219075"/>
            <a:ext cx="10515600" cy="1047751"/>
          </a:xfrm>
        </p:spPr>
        <p:txBody>
          <a:bodyPr/>
          <a:lstStyle/>
          <a:p>
            <a:pPr algn="ctr"/>
            <a:r>
              <a:rPr lang="zh-CN" altLang="en-US" dirty="0" smtClean="0"/>
              <a:t>伯克希尔现金储备变化（</a:t>
            </a:r>
            <a:r>
              <a:rPr lang="en-US" altLang="zh-CN" dirty="0" smtClean="0"/>
              <a:t>2022-2025</a:t>
            </a:r>
            <a:r>
              <a:rPr lang="zh-CN" altLang="en-US" dirty="0" smtClean="0"/>
              <a:t>）</a:t>
            </a:r>
            <a:endParaRPr lang="zh-CN" altLang="en-US" dirty="0"/>
          </a:p>
        </p:txBody>
      </p:sp>
      <p:sp>
        <p:nvSpPr>
          <p:cNvPr id="4" name="内容占位符 3"/>
          <p:cNvSpPr>
            <a:spLocks noGrp="1"/>
          </p:cNvSpPr>
          <p:nvPr>
            <p:ph idx="1"/>
          </p:nvPr>
        </p:nvSpPr>
        <p:spPr>
          <a:xfrm>
            <a:off x="838200" y="1352550"/>
            <a:ext cx="10515600" cy="4824413"/>
          </a:xfrm>
        </p:spPr>
        <p:txBody>
          <a:bodyPr>
            <a:normAutofit fontScale="92500" lnSpcReduction="10000"/>
          </a:bodyPr>
          <a:lstStyle/>
          <a:p>
            <a:r>
              <a:rPr lang="en-US" altLang="zh-CN" sz="2000" dirty="0" smtClean="0"/>
              <a:t>2022</a:t>
            </a:r>
            <a:r>
              <a:rPr lang="zh-CN" altLang="en-US" sz="2000" dirty="0" smtClean="0"/>
              <a:t>年底现金储备：</a:t>
            </a:r>
            <a:r>
              <a:rPr lang="en-US" altLang="zh-CN" sz="2000" dirty="0" smtClean="0"/>
              <a:t>1285.85</a:t>
            </a:r>
            <a:r>
              <a:rPr lang="zh-CN" altLang="en-US" sz="2000" dirty="0" smtClean="0"/>
              <a:t>亿美元，占总资产比重为</a:t>
            </a:r>
            <a:r>
              <a:rPr lang="en-US" altLang="zh-CN" sz="2000" dirty="0" smtClean="0"/>
              <a:t>13.56%</a:t>
            </a:r>
          </a:p>
          <a:p>
            <a:pPr lvl="1"/>
            <a:r>
              <a:rPr lang="zh-CN" altLang="en-US" sz="2000" dirty="0" smtClean="0"/>
              <a:t>现金及其等价物：</a:t>
            </a:r>
            <a:r>
              <a:rPr lang="en-US" altLang="zh-CN" sz="2000" dirty="0" smtClean="0"/>
              <a:t>358.11</a:t>
            </a:r>
            <a:r>
              <a:rPr lang="zh-CN" altLang="en-US" sz="2000" dirty="0" smtClean="0"/>
              <a:t>亿美元</a:t>
            </a:r>
            <a:endParaRPr lang="en-US" altLang="zh-CN" sz="2000" dirty="0" smtClean="0"/>
          </a:p>
          <a:p>
            <a:pPr lvl="1"/>
            <a:r>
              <a:rPr lang="zh-CN" altLang="en-US" sz="2000" dirty="0" smtClean="0"/>
              <a:t>美国国债（短期投资目的）：</a:t>
            </a:r>
            <a:r>
              <a:rPr lang="en-US" altLang="zh-CN" sz="2000" dirty="0" smtClean="0"/>
              <a:t>927.74</a:t>
            </a:r>
            <a:r>
              <a:rPr lang="zh-CN" altLang="en-US" sz="2000" dirty="0" smtClean="0"/>
              <a:t>亿美元</a:t>
            </a:r>
            <a:endParaRPr lang="en-US" altLang="zh-CN" sz="2000" dirty="0"/>
          </a:p>
          <a:p>
            <a:endParaRPr lang="en-US" altLang="zh-CN" sz="2000" dirty="0" smtClean="0"/>
          </a:p>
          <a:p>
            <a:r>
              <a:rPr lang="en-US" altLang="zh-CN" sz="2000" dirty="0"/>
              <a:t>2023</a:t>
            </a:r>
            <a:r>
              <a:rPr lang="zh-CN" altLang="en-US" sz="2000" dirty="0"/>
              <a:t>年底现金储备：</a:t>
            </a:r>
            <a:r>
              <a:rPr lang="en-US" altLang="zh-CN" sz="2000" dirty="0" smtClean="0"/>
              <a:t>1676.41</a:t>
            </a:r>
            <a:r>
              <a:rPr lang="zh-CN" altLang="en-US" sz="2000" dirty="0"/>
              <a:t>亿美元，占总资产比重为</a:t>
            </a:r>
            <a:r>
              <a:rPr lang="en-US" altLang="zh-CN" sz="2000" dirty="0" smtClean="0"/>
              <a:t>15.67%</a:t>
            </a:r>
            <a:endParaRPr lang="en-US" altLang="zh-CN" sz="2000" dirty="0"/>
          </a:p>
          <a:p>
            <a:pPr lvl="1"/>
            <a:r>
              <a:rPr lang="zh-CN" altLang="en-US" sz="2000" dirty="0"/>
              <a:t>现金及其等价物：</a:t>
            </a:r>
            <a:r>
              <a:rPr lang="en-US" altLang="zh-CN" sz="2000" dirty="0" smtClean="0"/>
              <a:t>380.22</a:t>
            </a:r>
            <a:r>
              <a:rPr lang="zh-CN" altLang="en-US" sz="2000" dirty="0"/>
              <a:t>亿美元</a:t>
            </a:r>
            <a:endParaRPr lang="en-US" altLang="zh-CN" sz="2000" dirty="0"/>
          </a:p>
          <a:p>
            <a:pPr lvl="1"/>
            <a:r>
              <a:rPr lang="zh-CN" altLang="en-US" sz="2000" dirty="0"/>
              <a:t>美国国债（短期投资目的）：</a:t>
            </a:r>
            <a:r>
              <a:rPr lang="en-US" altLang="zh-CN" sz="2000" dirty="0"/>
              <a:t>1296.19</a:t>
            </a:r>
            <a:r>
              <a:rPr lang="zh-CN" altLang="en-US" sz="2000" dirty="0"/>
              <a:t>亿美元</a:t>
            </a:r>
            <a:endParaRPr lang="en-US" altLang="zh-CN" sz="2000" dirty="0"/>
          </a:p>
          <a:p>
            <a:pPr lvl="1"/>
            <a:endParaRPr lang="en-US" altLang="zh-CN" sz="2000" dirty="0" smtClean="0"/>
          </a:p>
          <a:p>
            <a:r>
              <a:rPr lang="en-US" altLang="zh-CN" sz="2000" dirty="0"/>
              <a:t>2024</a:t>
            </a:r>
            <a:r>
              <a:rPr lang="zh-CN" altLang="en-US" sz="2000" dirty="0" smtClean="0"/>
              <a:t>年</a:t>
            </a:r>
            <a:r>
              <a:rPr lang="en-US" altLang="zh-CN" sz="2000" dirty="0" smtClean="0"/>
              <a:t>12</a:t>
            </a:r>
            <a:r>
              <a:rPr lang="zh-CN" altLang="en-US" sz="2000" dirty="0" smtClean="0"/>
              <a:t>月底</a:t>
            </a:r>
            <a:r>
              <a:rPr lang="zh-CN" altLang="en-US" sz="2000" dirty="0"/>
              <a:t>现金储备</a:t>
            </a:r>
            <a:r>
              <a:rPr lang="zh-CN" altLang="en-US" sz="2000" dirty="0" smtClean="0"/>
              <a:t>：</a:t>
            </a:r>
            <a:r>
              <a:rPr lang="en-US" altLang="zh-CN" sz="2000" dirty="0" smtClean="0"/>
              <a:t>3342.01</a:t>
            </a:r>
            <a:r>
              <a:rPr lang="zh-CN" altLang="en-US" sz="2000" dirty="0" smtClean="0"/>
              <a:t>亿</a:t>
            </a:r>
            <a:r>
              <a:rPr lang="zh-CN" altLang="en-US" sz="2000" dirty="0"/>
              <a:t>美元，占总资产比重上升至</a:t>
            </a:r>
            <a:r>
              <a:rPr lang="en-US" altLang="zh-CN" sz="2000" dirty="0" smtClean="0"/>
              <a:t>28.96%</a:t>
            </a:r>
            <a:endParaRPr lang="en-US" altLang="zh-CN" sz="2000" dirty="0"/>
          </a:p>
          <a:p>
            <a:pPr lvl="1"/>
            <a:r>
              <a:rPr lang="zh-CN" altLang="en-US" sz="2000" dirty="0"/>
              <a:t>现金及其等价物</a:t>
            </a:r>
            <a:r>
              <a:rPr lang="zh-CN" altLang="en-US" sz="2000" dirty="0" smtClean="0"/>
              <a:t>：</a:t>
            </a:r>
            <a:r>
              <a:rPr lang="en-US" altLang="zh-CN" sz="2000" dirty="0" smtClean="0"/>
              <a:t>477.29</a:t>
            </a:r>
            <a:r>
              <a:rPr lang="zh-CN" altLang="en-US" sz="2000" dirty="0" smtClean="0"/>
              <a:t>亿</a:t>
            </a:r>
            <a:r>
              <a:rPr lang="zh-CN" altLang="en-US" sz="2000" dirty="0"/>
              <a:t>美元</a:t>
            </a:r>
            <a:endParaRPr lang="en-US" altLang="zh-CN" sz="2000" dirty="0"/>
          </a:p>
          <a:p>
            <a:pPr lvl="1"/>
            <a:r>
              <a:rPr lang="zh-CN" altLang="en-US" sz="2000" dirty="0"/>
              <a:t>美国国债（短期投资目的）：</a:t>
            </a:r>
            <a:r>
              <a:rPr lang="en-US" altLang="zh-CN" sz="2000" dirty="0" smtClean="0"/>
              <a:t>2864.72</a:t>
            </a:r>
            <a:r>
              <a:rPr lang="zh-CN" altLang="en-US" sz="2000" dirty="0" smtClean="0"/>
              <a:t>亿美元</a:t>
            </a:r>
            <a:endParaRPr lang="en-US" altLang="zh-CN" sz="2000" dirty="0" smtClean="0"/>
          </a:p>
          <a:p>
            <a:pPr lvl="1"/>
            <a:endParaRPr lang="en-US" altLang="zh-CN" dirty="0" smtClean="0"/>
          </a:p>
          <a:p>
            <a:r>
              <a:rPr lang="en-US" altLang="zh-CN" sz="2000" dirty="0" smtClean="0"/>
              <a:t>2025</a:t>
            </a:r>
            <a:r>
              <a:rPr lang="zh-CN" altLang="en-US" sz="2000" dirty="0" smtClean="0"/>
              <a:t>年</a:t>
            </a:r>
            <a:r>
              <a:rPr lang="en-US" altLang="zh-CN" sz="2000" dirty="0" smtClean="0"/>
              <a:t>12</a:t>
            </a:r>
            <a:r>
              <a:rPr lang="zh-CN" altLang="en-US" sz="2000" dirty="0" smtClean="0"/>
              <a:t>月底</a:t>
            </a:r>
            <a:r>
              <a:rPr lang="zh-CN" altLang="en-US" sz="2000" dirty="0"/>
              <a:t>现金储备</a:t>
            </a:r>
            <a:r>
              <a:rPr lang="zh-CN" altLang="en-US" sz="2000" dirty="0" smtClean="0"/>
              <a:t>：</a:t>
            </a:r>
            <a:r>
              <a:rPr lang="en-US" altLang="zh-CN" sz="2000" dirty="0" smtClean="0"/>
              <a:t>3733.11</a:t>
            </a:r>
            <a:r>
              <a:rPr lang="zh-CN" altLang="en-US" sz="2000" dirty="0"/>
              <a:t>亿美元，占总资产比重上升</a:t>
            </a:r>
            <a:r>
              <a:rPr lang="zh-CN" altLang="en-US" sz="2000" dirty="0" smtClean="0"/>
              <a:t>至</a:t>
            </a:r>
            <a:r>
              <a:rPr lang="en-US" altLang="zh-CN" sz="2000" dirty="0" smtClean="0"/>
              <a:t>30.54%</a:t>
            </a:r>
            <a:endParaRPr lang="en-US" altLang="zh-CN" sz="2000" dirty="0"/>
          </a:p>
          <a:p>
            <a:pPr lvl="1"/>
            <a:r>
              <a:rPr lang="zh-CN" altLang="en-US" sz="2000" dirty="0"/>
              <a:t>现金及其等价物</a:t>
            </a:r>
            <a:r>
              <a:rPr lang="zh-CN" altLang="en-US" sz="2000" dirty="0" smtClean="0"/>
              <a:t>：</a:t>
            </a:r>
            <a:r>
              <a:rPr lang="en-US" altLang="zh-CN" sz="2000" dirty="0" smtClean="0"/>
              <a:t>518.77</a:t>
            </a:r>
            <a:r>
              <a:rPr lang="zh-CN" altLang="en-US" sz="2000" dirty="0" smtClean="0"/>
              <a:t>亿</a:t>
            </a:r>
            <a:r>
              <a:rPr lang="zh-CN" altLang="en-US" sz="2000" dirty="0"/>
              <a:t>美元</a:t>
            </a:r>
            <a:endParaRPr lang="en-US" altLang="zh-CN" sz="2000" dirty="0"/>
          </a:p>
          <a:p>
            <a:pPr lvl="1"/>
            <a:r>
              <a:rPr lang="zh-CN" altLang="en-US" sz="2000" dirty="0"/>
              <a:t>美国国债（短期投资目的）</a:t>
            </a:r>
            <a:r>
              <a:rPr lang="zh-CN" altLang="en-US" sz="2000" dirty="0" smtClean="0"/>
              <a:t>：</a:t>
            </a:r>
            <a:r>
              <a:rPr lang="en-US" altLang="zh-CN" sz="2000" dirty="0" smtClean="0"/>
              <a:t>3214.34</a:t>
            </a:r>
            <a:r>
              <a:rPr lang="zh-CN" altLang="en-US" sz="2000" dirty="0" smtClean="0"/>
              <a:t>亿</a:t>
            </a:r>
            <a:r>
              <a:rPr lang="zh-CN" altLang="en-US" sz="2000" dirty="0" smtClean="0"/>
              <a:t>美元</a:t>
            </a:r>
            <a:endParaRPr lang="zh-CN" altLang="en-US" dirty="0"/>
          </a:p>
        </p:txBody>
      </p:sp>
    </p:spTree>
    <p:extLst>
      <p:ext uri="{BB962C8B-B14F-4D97-AF65-F5344CB8AC3E}">
        <p14:creationId xmlns:p14="http://schemas.microsoft.com/office/powerpoint/2010/main" val="3390618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住户存款的结构趋势变化</a:t>
            </a:r>
            <a:r>
              <a:rPr lang="en-US" altLang="zh-CN" dirty="0" smtClean="0"/>
              <a:t>——</a:t>
            </a:r>
            <a:br>
              <a:rPr lang="en-US" altLang="zh-CN" dirty="0" smtClean="0"/>
            </a:br>
            <a:r>
              <a:rPr lang="zh-CN" altLang="en-US" dirty="0" smtClean="0"/>
              <a:t>定期存款占比大幅度增加</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907911554"/>
              </p:ext>
            </p:extLst>
          </p:nvPr>
        </p:nvGraphicFramePr>
        <p:xfrm>
          <a:off x="331693" y="1927410"/>
          <a:ext cx="11609295" cy="4824870"/>
        </p:xfrm>
        <a:graphic>
          <a:graphicData uri="http://schemas.openxmlformats.org/drawingml/2006/table">
            <a:tbl>
              <a:tblPr>
                <a:tableStyleId>{5C22544A-7EE6-4342-B048-85BDC9FD1C3A}</a:tableStyleId>
              </a:tblPr>
              <a:tblGrid>
                <a:gridCol w="1613648"/>
                <a:gridCol w="1611156"/>
                <a:gridCol w="2127127"/>
                <a:gridCol w="1730188"/>
                <a:gridCol w="2617694"/>
                <a:gridCol w="1909482"/>
              </a:tblGrid>
              <a:tr h="569268">
                <a:tc>
                  <a:txBody>
                    <a:bodyPr/>
                    <a:lstStyle/>
                    <a:p>
                      <a:pPr algn="ctr" fontAlgn="b"/>
                      <a:r>
                        <a:rPr lang="zh-CN" altLang="en-US" sz="2000" u="none" strike="noStrike" dirty="0">
                          <a:effectLst/>
                        </a:rPr>
                        <a:t>年度</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b"/>
                      <a:r>
                        <a:rPr lang="zh-CN" altLang="en-US" sz="2000" u="none" strike="noStrike" dirty="0">
                          <a:effectLst/>
                        </a:rPr>
                        <a:t>住户</a:t>
                      </a:r>
                      <a:r>
                        <a:rPr lang="zh-CN" altLang="en-US" sz="2000" u="none" strike="noStrike" dirty="0" smtClean="0">
                          <a:effectLst/>
                        </a:rPr>
                        <a:t>存款</a:t>
                      </a:r>
                      <a:endParaRPr lang="en-US" altLang="zh-CN" sz="2000" u="none" strike="noStrike" dirty="0" smtClean="0">
                        <a:effectLst/>
                      </a:endParaRPr>
                    </a:p>
                    <a:p>
                      <a:pPr algn="ctr" fontAlgn="b"/>
                      <a:r>
                        <a:rPr lang="zh-CN" altLang="en-US" sz="2000" u="none" strike="noStrike" dirty="0" smtClean="0">
                          <a:effectLst/>
                        </a:rPr>
                        <a:t>（万亿）</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b"/>
                      <a:r>
                        <a:rPr lang="zh-CN" altLang="en-US" sz="2000" u="none" strike="noStrike" dirty="0">
                          <a:effectLst/>
                        </a:rPr>
                        <a:t>住户</a:t>
                      </a:r>
                      <a:r>
                        <a:rPr lang="zh-CN" altLang="en-US" sz="2000" u="none" strike="noStrike" dirty="0" smtClean="0">
                          <a:effectLst/>
                        </a:rPr>
                        <a:t>活期存款</a:t>
                      </a:r>
                      <a:endParaRPr lang="en-US" altLang="zh-CN" sz="2000" u="none" strike="noStrike" dirty="0" smtClean="0">
                        <a:effectLst/>
                      </a:endParaRPr>
                    </a:p>
                    <a:p>
                      <a:pPr algn="ctr" fontAlgn="b"/>
                      <a:r>
                        <a:rPr lang="zh-CN" altLang="en-US" sz="2000" u="none" strike="noStrike" dirty="0" smtClean="0">
                          <a:effectLst/>
                        </a:rPr>
                        <a:t>（万亿）</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b"/>
                      <a:r>
                        <a:rPr lang="zh-CN" altLang="en-US" sz="2000" u="none" strike="noStrike" dirty="0">
                          <a:effectLst/>
                        </a:rPr>
                        <a:t>活期占比</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b"/>
                      <a:r>
                        <a:rPr lang="zh-CN" altLang="en-US" sz="2000" u="none" strike="noStrike" dirty="0">
                          <a:effectLst/>
                        </a:rPr>
                        <a:t>住户定期存款及其</a:t>
                      </a:r>
                      <a:r>
                        <a:rPr lang="zh-CN" altLang="en-US" sz="2000" u="none" strike="noStrike" dirty="0" smtClean="0">
                          <a:effectLst/>
                        </a:rPr>
                        <a:t>它（万亿）</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b"/>
                      <a:r>
                        <a:rPr lang="zh-CN" altLang="en-US" sz="2000" u="none" strike="noStrike" dirty="0">
                          <a:effectLst/>
                        </a:rPr>
                        <a:t>定期占比</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420892">
                <a:tc>
                  <a:txBody>
                    <a:bodyPr/>
                    <a:lstStyle/>
                    <a:p>
                      <a:pPr algn="ctr" fontAlgn="b"/>
                      <a:r>
                        <a:rPr lang="en-US" altLang="zh-CN" sz="2000" u="none" strike="noStrike" dirty="0">
                          <a:effectLst/>
                        </a:rPr>
                        <a:t>2017</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65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25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38.7%</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40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61.3%</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a:effectLst/>
                        </a:rPr>
                        <a:t>2018</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72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27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37.5%</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45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62.5%</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a:effectLst/>
                        </a:rPr>
                        <a:t>2019</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82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30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36.4%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52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63.6%</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a:effectLst/>
                        </a:rPr>
                        <a:t>2020</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93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33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35.5%</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60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64.5%</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a:effectLst/>
                        </a:rPr>
                        <a:t>2021</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103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35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33.6%</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69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66.4%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a:effectLst/>
                        </a:rPr>
                        <a:t>2022</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121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39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32.0%</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82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68.0%</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a:effectLst/>
                        </a:rPr>
                        <a:t>2023</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138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39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28.6%</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98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71.4%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a:effectLst/>
                        </a:rPr>
                        <a:t>2024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152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42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27.5%</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110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72.5%</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smtClean="0">
                          <a:effectLst/>
                        </a:rPr>
                        <a:t>2025.12</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167</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45</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26.9%</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122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73.1%</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420892">
                <a:tc>
                  <a:txBody>
                    <a:bodyPr/>
                    <a:lstStyle/>
                    <a:p>
                      <a:pPr algn="ctr" fontAlgn="b"/>
                      <a:r>
                        <a:rPr lang="en-US" altLang="zh-CN" sz="2000" u="none" strike="noStrike" dirty="0" smtClean="0">
                          <a:effectLst/>
                        </a:rPr>
                        <a:t>2026.02</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marL="0" algn="ctr" defTabSz="914400" rtl="0" eaLnBrk="1" fontAlgn="b" latinLnBrk="0" hangingPunct="1"/>
                      <a:r>
                        <a:rPr lang="en-US" altLang="zh-CN" sz="2000" u="none" strike="noStrike" kern="1200" dirty="0" smtClean="0">
                          <a:solidFill>
                            <a:schemeClr val="dk1"/>
                          </a:solidFill>
                          <a:effectLst/>
                          <a:latin typeface="+mn-lt"/>
                          <a:ea typeface="+mn-ea"/>
                          <a:cs typeface="+mn-cs"/>
                        </a:rPr>
                        <a:t>172 </a:t>
                      </a:r>
                      <a:endParaRPr lang="en-US" altLang="zh-CN" sz="2000" u="none" strike="noStrike" kern="1200" dirty="0">
                        <a:solidFill>
                          <a:schemeClr val="dk1"/>
                        </a:solidFill>
                        <a:effectLst/>
                        <a:latin typeface="+mn-lt"/>
                        <a:ea typeface="+mn-ea"/>
                        <a:cs typeface="+mn-cs"/>
                      </a:endParaRPr>
                    </a:p>
                  </a:txBody>
                  <a:tcPr marL="6350" marR="6350" marT="6350" marB="0" anchor="b"/>
                </a:tc>
                <a:tc>
                  <a:txBody>
                    <a:bodyPr/>
                    <a:lstStyle/>
                    <a:p>
                      <a:pPr marL="0" algn="ctr" defTabSz="914400" rtl="0" eaLnBrk="1" fontAlgn="b" latinLnBrk="0" hangingPunct="1"/>
                      <a:r>
                        <a:rPr lang="en-US" altLang="zh-CN" sz="2000" u="none" strike="noStrike" kern="1200" dirty="0" smtClean="0">
                          <a:solidFill>
                            <a:schemeClr val="dk1"/>
                          </a:solidFill>
                          <a:effectLst/>
                          <a:latin typeface="+mn-lt"/>
                          <a:ea typeface="+mn-ea"/>
                          <a:cs typeface="+mn-cs"/>
                        </a:rPr>
                        <a:t>45</a:t>
                      </a:r>
                      <a:endParaRPr lang="en-US" altLang="zh-CN" sz="2000" u="none" strike="noStrike" kern="1200" dirty="0">
                        <a:solidFill>
                          <a:schemeClr val="dk1"/>
                        </a:solidFill>
                        <a:effectLst/>
                        <a:latin typeface="+mn-lt"/>
                        <a:ea typeface="+mn-ea"/>
                        <a:cs typeface="+mn-cs"/>
                      </a:endParaRPr>
                    </a:p>
                  </a:txBody>
                  <a:tcPr marL="6350" marR="6350" marT="6350" marB="0" anchor="b"/>
                </a:tc>
                <a:tc>
                  <a:txBody>
                    <a:bodyPr/>
                    <a:lstStyle/>
                    <a:p>
                      <a:pPr marL="0" algn="ctr" defTabSz="914400" rtl="0" eaLnBrk="1" fontAlgn="b" latinLnBrk="0" hangingPunct="1"/>
                      <a:r>
                        <a:rPr lang="en-US" altLang="zh-CN" sz="2000" u="none" strike="noStrike" kern="1200" dirty="0" smtClean="0">
                          <a:solidFill>
                            <a:schemeClr val="dk1"/>
                          </a:solidFill>
                          <a:effectLst/>
                          <a:latin typeface="+mn-lt"/>
                          <a:ea typeface="+mn-ea"/>
                          <a:cs typeface="+mn-cs"/>
                        </a:rPr>
                        <a:t>26.5%</a:t>
                      </a:r>
                      <a:endParaRPr lang="en-US" altLang="zh-CN" sz="2000" u="none" strike="noStrike" kern="1200" dirty="0">
                        <a:solidFill>
                          <a:schemeClr val="dk1"/>
                        </a:solidFill>
                        <a:effectLst/>
                        <a:latin typeface="+mn-lt"/>
                        <a:ea typeface="+mn-ea"/>
                        <a:cs typeface="+mn-cs"/>
                      </a:endParaRPr>
                    </a:p>
                  </a:txBody>
                  <a:tcPr marL="6350" marR="6350" marT="6350" marB="0" anchor="b"/>
                </a:tc>
                <a:tc>
                  <a:txBody>
                    <a:bodyPr/>
                    <a:lstStyle/>
                    <a:p>
                      <a:pPr marL="0" algn="ctr" defTabSz="914400" rtl="0" eaLnBrk="1" fontAlgn="b" latinLnBrk="0" hangingPunct="1"/>
                      <a:r>
                        <a:rPr lang="en-US" altLang="zh-CN" sz="2000" u="none" strike="noStrike" kern="1200" dirty="0" smtClean="0">
                          <a:solidFill>
                            <a:schemeClr val="dk1"/>
                          </a:solidFill>
                          <a:effectLst/>
                          <a:latin typeface="+mn-lt"/>
                          <a:ea typeface="+mn-ea"/>
                          <a:cs typeface="+mn-cs"/>
                        </a:rPr>
                        <a:t>127</a:t>
                      </a:r>
                      <a:endParaRPr lang="en-US" altLang="zh-CN" sz="2000" u="none" strike="noStrike" kern="1200" dirty="0">
                        <a:solidFill>
                          <a:schemeClr val="dk1"/>
                        </a:solidFill>
                        <a:effectLst/>
                        <a:latin typeface="+mn-lt"/>
                        <a:ea typeface="+mn-ea"/>
                        <a:cs typeface="+mn-cs"/>
                      </a:endParaRPr>
                    </a:p>
                  </a:txBody>
                  <a:tcPr marL="6350" marR="6350" marT="6350" marB="0" anchor="b"/>
                </a:tc>
                <a:tc>
                  <a:txBody>
                    <a:bodyPr/>
                    <a:lstStyle/>
                    <a:p>
                      <a:pPr marL="0" algn="ctr" defTabSz="914400" rtl="0" eaLnBrk="1" fontAlgn="b" latinLnBrk="0" hangingPunct="1"/>
                      <a:r>
                        <a:rPr lang="en-US" altLang="zh-CN" sz="2000" u="none" strike="noStrike" kern="1200" dirty="0" smtClean="0">
                          <a:solidFill>
                            <a:schemeClr val="dk1"/>
                          </a:solidFill>
                          <a:effectLst/>
                          <a:latin typeface="+mn-lt"/>
                          <a:ea typeface="+mn-ea"/>
                          <a:cs typeface="+mn-cs"/>
                        </a:rPr>
                        <a:t>73.5%</a:t>
                      </a:r>
                      <a:endParaRPr lang="en-US" altLang="zh-CN" sz="2000" u="none" strike="noStrike" kern="1200" dirty="0">
                        <a:solidFill>
                          <a:schemeClr val="dk1"/>
                        </a:solidFill>
                        <a:effectLst/>
                        <a:latin typeface="+mn-lt"/>
                        <a:ea typeface="+mn-ea"/>
                        <a:cs typeface="+mn-cs"/>
                      </a:endParaRPr>
                    </a:p>
                  </a:txBody>
                  <a:tcPr marL="6350" marR="6350" marT="6350" marB="0" anchor="b"/>
                </a:tc>
              </a:tr>
            </a:tbl>
          </a:graphicData>
        </a:graphic>
      </p:graphicFrame>
    </p:spTree>
    <p:extLst>
      <p:ext uri="{BB962C8B-B14F-4D97-AF65-F5344CB8AC3E}">
        <p14:creationId xmlns:p14="http://schemas.microsoft.com/office/powerpoint/2010/main" val="2747488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lang="zh-CN" altLang="en-US" dirty="0" smtClean="0"/>
              <a:t>我国债券市场、股市存量</a:t>
            </a:r>
            <a:r>
              <a:rPr lang="en-US" altLang="zh-CN" dirty="0" smtClean="0"/>
              <a:t/>
            </a:r>
            <a:br>
              <a:rPr lang="en-US" altLang="zh-CN" dirty="0" smtClean="0"/>
            </a:br>
            <a:r>
              <a:rPr lang="zh-CN" altLang="en-US" dirty="0" smtClean="0"/>
              <a:t>（截至 </a:t>
            </a:r>
            <a:r>
              <a:rPr lang="en-US" altLang="zh-CN" dirty="0" smtClean="0"/>
              <a:t>2026.4.2</a:t>
            </a:r>
            <a:r>
              <a:rPr lang="zh-CN" altLang="en-US" dirty="0" smtClean="0"/>
              <a:t>收盘）</a:t>
            </a:r>
            <a:endParaRPr lang="zh-CN" altLang="en-US" dirty="0"/>
          </a:p>
        </p:txBody>
      </p:sp>
      <p:pic>
        <p:nvPicPr>
          <p:cNvPr id="6" name="图片 5"/>
          <p:cNvPicPr>
            <a:picLocks noChangeAspect="1"/>
          </p:cNvPicPr>
          <p:nvPr/>
        </p:nvPicPr>
        <p:blipFill>
          <a:blip r:embed="rId2"/>
          <a:stretch>
            <a:fillRect/>
          </a:stretch>
        </p:blipFill>
        <p:spPr>
          <a:xfrm>
            <a:off x="4605337" y="3952875"/>
            <a:ext cx="2314575" cy="733425"/>
          </a:xfrm>
          <a:prstGeom prst="rect">
            <a:avLst/>
          </a:prstGeom>
        </p:spPr>
      </p:pic>
      <p:pic>
        <p:nvPicPr>
          <p:cNvPr id="5" name="图片 4"/>
          <p:cNvPicPr>
            <a:picLocks noChangeAspect="1"/>
          </p:cNvPicPr>
          <p:nvPr/>
        </p:nvPicPr>
        <p:blipFill>
          <a:blip r:embed="rId3"/>
          <a:stretch>
            <a:fillRect/>
          </a:stretch>
        </p:blipFill>
        <p:spPr>
          <a:xfrm>
            <a:off x="500514" y="4686300"/>
            <a:ext cx="11415562" cy="2114875"/>
          </a:xfrm>
          <a:prstGeom prst="rect">
            <a:avLst/>
          </a:prstGeom>
        </p:spPr>
      </p:pic>
      <p:pic>
        <p:nvPicPr>
          <p:cNvPr id="7" name="图片 6"/>
          <p:cNvPicPr>
            <a:picLocks noChangeAspect="1"/>
          </p:cNvPicPr>
          <p:nvPr/>
        </p:nvPicPr>
        <p:blipFill>
          <a:blip r:embed="rId4"/>
          <a:stretch>
            <a:fillRect/>
          </a:stretch>
        </p:blipFill>
        <p:spPr>
          <a:xfrm>
            <a:off x="288758" y="1871535"/>
            <a:ext cx="11290434" cy="1900493"/>
          </a:xfrm>
          <a:prstGeom prst="rect">
            <a:avLst/>
          </a:prstGeom>
        </p:spPr>
      </p:pic>
    </p:spTree>
    <p:extLst>
      <p:ext uri="{BB962C8B-B14F-4D97-AF65-F5344CB8AC3E}">
        <p14:creationId xmlns:p14="http://schemas.microsoft.com/office/powerpoint/2010/main" val="1235342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a:t>前</a:t>
            </a:r>
            <a:r>
              <a:rPr lang="en-US" altLang="zh-CN" b="1" dirty="0"/>
              <a:t>4</a:t>
            </a:r>
            <a:r>
              <a:rPr lang="zh-CN" altLang="en-US" b="1" dirty="0"/>
              <a:t>大债券品种</a:t>
            </a:r>
            <a:r>
              <a:rPr lang="en-US" altLang="zh-CN" b="1" dirty="0"/>
              <a:t>10</a:t>
            </a:r>
            <a:r>
              <a:rPr lang="zh-CN" altLang="en-US" b="1" dirty="0"/>
              <a:t>年历史</a:t>
            </a:r>
            <a:r>
              <a:rPr lang="zh-CN" altLang="en-US" b="1" dirty="0" smtClean="0"/>
              <a:t>存量（亿元）</a:t>
            </a:r>
            <a:endParaRPr lang="zh-CN" altLang="en-US" dirty="0"/>
          </a:p>
        </p:txBody>
      </p:sp>
      <p:pic>
        <p:nvPicPr>
          <p:cNvPr id="3" name="图片 2"/>
          <p:cNvPicPr>
            <a:picLocks noChangeAspect="1"/>
          </p:cNvPicPr>
          <p:nvPr/>
        </p:nvPicPr>
        <p:blipFill>
          <a:blip r:embed="rId2"/>
          <a:stretch>
            <a:fillRect/>
          </a:stretch>
        </p:blipFill>
        <p:spPr>
          <a:xfrm>
            <a:off x="0" y="1896177"/>
            <a:ext cx="12192000" cy="2391133"/>
          </a:xfrm>
          <a:prstGeom prst="rect">
            <a:avLst/>
          </a:prstGeom>
        </p:spPr>
      </p:pic>
    </p:spTree>
    <p:extLst>
      <p:ext uri="{BB962C8B-B14F-4D97-AF65-F5344CB8AC3E}">
        <p14:creationId xmlns:p14="http://schemas.microsoft.com/office/powerpoint/2010/main" val="3471968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2026.3.10</a:t>
            </a:r>
            <a:r>
              <a:rPr lang="zh-CN" altLang="en-US" dirty="0" smtClean="0"/>
              <a:t>我国发行凭证式储蓄国债</a:t>
            </a:r>
            <a:endParaRPr lang="zh-CN" altLang="en-US" dirty="0"/>
          </a:p>
        </p:txBody>
      </p:sp>
      <p:sp>
        <p:nvSpPr>
          <p:cNvPr id="3" name="内容占位符 2"/>
          <p:cNvSpPr>
            <a:spLocks noGrp="1"/>
          </p:cNvSpPr>
          <p:nvPr>
            <p:ph idx="1"/>
          </p:nvPr>
        </p:nvSpPr>
        <p:spPr>
          <a:xfrm>
            <a:off x="7486650" y="1825625"/>
            <a:ext cx="3867149" cy="4351338"/>
          </a:xfrm>
        </p:spPr>
        <p:txBody>
          <a:bodyPr/>
          <a:lstStyle/>
          <a:p>
            <a:r>
              <a:rPr lang="zh-CN" altLang="en-US" dirty="0" smtClean="0"/>
              <a:t>投资人</a:t>
            </a:r>
            <a:r>
              <a:rPr lang="zh-CN" altLang="en-US" dirty="0"/>
              <a:t>购买的两期国债从购买之日开始计息，到期一次</a:t>
            </a:r>
            <a:r>
              <a:rPr lang="zh-CN" altLang="en-US" dirty="0" smtClean="0"/>
              <a:t>还本付息（利息免征个人所得税），</a:t>
            </a:r>
            <a:r>
              <a:rPr lang="zh-CN" altLang="en-US" b="1" dirty="0">
                <a:solidFill>
                  <a:srgbClr val="FF0000"/>
                </a:solidFill>
              </a:rPr>
              <a:t>不计复利</a:t>
            </a:r>
            <a:r>
              <a:rPr lang="zh-CN" altLang="en-US" dirty="0"/>
              <a:t>，逾期不加计利息</a:t>
            </a:r>
            <a:r>
              <a:rPr lang="zh-CN" altLang="en-US" dirty="0" smtClean="0"/>
              <a:t>。</a:t>
            </a:r>
            <a:endParaRPr lang="en-US" altLang="zh-CN" dirty="0" smtClean="0"/>
          </a:p>
        </p:txBody>
      </p:sp>
      <p:pic>
        <p:nvPicPr>
          <p:cNvPr id="5" name="图片 4"/>
          <p:cNvPicPr>
            <a:picLocks noChangeAspect="1"/>
          </p:cNvPicPr>
          <p:nvPr/>
        </p:nvPicPr>
        <p:blipFill>
          <a:blip r:embed="rId2"/>
          <a:stretch>
            <a:fillRect/>
          </a:stretch>
        </p:blipFill>
        <p:spPr>
          <a:xfrm>
            <a:off x="1581150" y="1746250"/>
            <a:ext cx="4514850" cy="4510087"/>
          </a:xfrm>
          <a:prstGeom prst="rect">
            <a:avLst/>
          </a:prstGeom>
        </p:spPr>
      </p:pic>
    </p:spTree>
    <p:extLst>
      <p:ext uri="{BB962C8B-B14F-4D97-AF65-F5344CB8AC3E}">
        <p14:creationId xmlns:p14="http://schemas.microsoft.com/office/powerpoint/2010/main" val="1377377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储蓄国债的两种类型</a:t>
            </a:r>
            <a:endParaRPr lang="zh-CN" altLang="en-US" dirty="0"/>
          </a:p>
        </p:txBody>
      </p:sp>
      <p:sp>
        <p:nvSpPr>
          <p:cNvPr id="3" name="内容占位符 2"/>
          <p:cNvSpPr>
            <a:spLocks noGrp="1"/>
          </p:cNvSpPr>
          <p:nvPr>
            <p:ph idx="1"/>
          </p:nvPr>
        </p:nvSpPr>
        <p:spPr/>
        <p:txBody>
          <a:bodyPr/>
          <a:lstStyle/>
          <a:p>
            <a:r>
              <a:rPr lang="zh-CN" altLang="en-US" dirty="0" smtClean="0"/>
              <a:t>凭证式国债</a:t>
            </a:r>
            <a:endParaRPr lang="en-US" altLang="zh-CN" dirty="0" smtClean="0"/>
          </a:p>
          <a:p>
            <a:pPr lvl="1"/>
            <a:r>
              <a:rPr lang="zh-CN" altLang="en-US" dirty="0" smtClean="0"/>
              <a:t>银行柜台购买，不能在银行</a:t>
            </a:r>
            <a:r>
              <a:rPr lang="en-US" altLang="zh-CN" dirty="0" smtClean="0"/>
              <a:t>APP</a:t>
            </a:r>
            <a:r>
              <a:rPr lang="zh-CN" altLang="en-US" dirty="0" smtClean="0"/>
              <a:t>购买</a:t>
            </a:r>
            <a:endParaRPr lang="en-US" altLang="zh-CN" dirty="0" smtClean="0"/>
          </a:p>
          <a:p>
            <a:pPr lvl="1"/>
            <a:r>
              <a:rPr lang="zh-CN" altLang="en-US" dirty="0" smtClean="0"/>
              <a:t>利息为单利（没有复利！！！），到期一次还本付息</a:t>
            </a:r>
            <a:endParaRPr lang="en-US" altLang="zh-CN" dirty="0"/>
          </a:p>
          <a:p>
            <a:endParaRPr lang="en-US" altLang="zh-CN" dirty="0" smtClean="0"/>
          </a:p>
          <a:p>
            <a:r>
              <a:rPr lang="zh-CN" altLang="en-US" dirty="0" smtClean="0"/>
              <a:t>电子式国债</a:t>
            </a:r>
            <a:endParaRPr lang="en-US" altLang="zh-CN" dirty="0"/>
          </a:p>
          <a:p>
            <a:pPr lvl="1"/>
            <a:r>
              <a:rPr lang="zh-CN" altLang="en-US" dirty="0"/>
              <a:t>需要先开立个人国债托管账户并指定对应的资金</a:t>
            </a:r>
            <a:r>
              <a:rPr lang="zh-CN" altLang="en-US" dirty="0" smtClean="0"/>
              <a:t>账户</a:t>
            </a:r>
            <a:endParaRPr lang="en-US" altLang="zh-CN" dirty="0" smtClean="0"/>
          </a:p>
          <a:p>
            <a:pPr lvl="1"/>
            <a:r>
              <a:rPr lang="zh-CN" altLang="en-US" dirty="0" smtClean="0"/>
              <a:t>既能在银行柜台购买，也能在银行</a:t>
            </a:r>
            <a:r>
              <a:rPr lang="en-US" altLang="zh-CN" dirty="0" smtClean="0"/>
              <a:t>APP</a:t>
            </a:r>
            <a:r>
              <a:rPr lang="zh-CN" altLang="en-US" dirty="0" smtClean="0"/>
              <a:t>购买</a:t>
            </a:r>
            <a:endParaRPr lang="en-US" altLang="zh-CN" dirty="0" smtClean="0"/>
          </a:p>
          <a:p>
            <a:pPr lvl="1"/>
            <a:r>
              <a:rPr lang="zh-CN" altLang="en-US" dirty="0" smtClean="0"/>
              <a:t>每年支付利息。</a:t>
            </a:r>
            <a:endParaRPr lang="en-US" altLang="zh-CN" dirty="0" smtClean="0"/>
          </a:p>
          <a:p>
            <a:pPr lvl="1"/>
            <a:endParaRPr lang="zh-CN" altLang="en-US" dirty="0"/>
          </a:p>
        </p:txBody>
      </p:sp>
    </p:spTree>
    <p:extLst>
      <p:ext uri="{BB962C8B-B14F-4D97-AF65-F5344CB8AC3E}">
        <p14:creationId xmlns:p14="http://schemas.microsoft.com/office/powerpoint/2010/main" val="4025317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美国国债：</a:t>
            </a:r>
            <a:r>
              <a:rPr lang="en-US" altLang="zh-CN" dirty="0" smtClean="0"/>
              <a:t>2015-2024</a:t>
            </a:r>
            <a:endParaRPr lang="zh-CN" altLang="en-US" dirty="0"/>
          </a:p>
        </p:txBody>
      </p:sp>
      <p:pic>
        <p:nvPicPr>
          <p:cNvPr id="3" name="图片 2"/>
          <p:cNvPicPr>
            <a:picLocks noChangeAspect="1"/>
          </p:cNvPicPr>
          <p:nvPr/>
        </p:nvPicPr>
        <p:blipFill>
          <a:blip r:embed="rId2"/>
          <a:stretch>
            <a:fillRect/>
          </a:stretch>
        </p:blipFill>
        <p:spPr>
          <a:xfrm>
            <a:off x="428625" y="1771650"/>
            <a:ext cx="11363325" cy="4931577"/>
          </a:xfrm>
          <a:prstGeom prst="rect">
            <a:avLst/>
          </a:prstGeom>
        </p:spPr>
      </p:pic>
    </p:spTree>
    <p:extLst>
      <p:ext uri="{BB962C8B-B14F-4D97-AF65-F5344CB8AC3E}">
        <p14:creationId xmlns:p14="http://schemas.microsoft.com/office/powerpoint/2010/main" val="1676980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ctr"/>
            <a:r>
              <a:rPr lang="zh-CN" altLang="en-US" dirty="0" smtClean="0"/>
              <a:t>美国国债（北京时间 </a:t>
            </a:r>
            <a:r>
              <a:rPr lang="en-US" altLang="zh-CN" dirty="0" smtClean="0"/>
              <a:t>2026.4.2</a:t>
            </a:r>
            <a:r>
              <a:rPr lang="zh-CN" altLang="en-US" dirty="0" smtClean="0"/>
              <a:t>）</a:t>
            </a:r>
            <a:endParaRPr lang="zh-CN" altLang="en-US" dirty="0"/>
          </a:p>
        </p:txBody>
      </p:sp>
      <p:pic>
        <p:nvPicPr>
          <p:cNvPr id="2" name="图片 1"/>
          <p:cNvPicPr>
            <a:picLocks noChangeAspect="1"/>
          </p:cNvPicPr>
          <p:nvPr/>
        </p:nvPicPr>
        <p:blipFill>
          <a:blip r:embed="rId2"/>
          <a:stretch>
            <a:fillRect/>
          </a:stretch>
        </p:blipFill>
        <p:spPr>
          <a:xfrm>
            <a:off x="2217019" y="1964906"/>
            <a:ext cx="7757962" cy="4084696"/>
          </a:xfrm>
          <a:prstGeom prst="rect">
            <a:avLst/>
          </a:prstGeom>
        </p:spPr>
      </p:pic>
    </p:spTree>
    <p:extLst>
      <p:ext uri="{BB962C8B-B14F-4D97-AF65-F5344CB8AC3E}">
        <p14:creationId xmlns:p14="http://schemas.microsoft.com/office/powerpoint/2010/main" val="757950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内容</a:t>
            </a:r>
            <a:endParaRPr lang="zh-CN" altLang="en-US" dirty="0"/>
          </a:p>
        </p:txBody>
      </p:sp>
      <p:sp>
        <p:nvSpPr>
          <p:cNvPr id="3" name="内容占位符 2"/>
          <p:cNvSpPr>
            <a:spLocks noGrp="1"/>
          </p:cNvSpPr>
          <p:nvPr>
            <p:ph idx="1"/>
          </p:nvPr>
        </p:nvSpPr>
        <p:spPr/>
        <p:txBody>
          <a:bodyPr/>
          <a:lstStyle/>
          <a:p>
            <a:r>
              <a:rPr lang="en-US" altLang="zh-CN" dirty="0" smtClean="0"/>
              <a:t>8.1 </a:t>
            </a:r>
            <a:r>
              <a:rPr lang="zh-CN" altLang="en-US" dirty="0" smtClean="0"/>
              <a:t>使用现值因子对已知现金流进行价值评估</a:t>
            </a:r>
            <a:endParaRPr lang="en-US" altLang="zh-CN" dirty="0" smtClean="0"/>
          </a:p>
          <a:p>
            <a:r>
              <a:rPr lang="en-US" altLang="zh-CN" dirty="0" smtClean="0"/>
              <a:t>8.2 </a:t>
            </a:r>
            <a:r>
              <a:rPr lang="zh-CN" altLang="en-US" dirty="0" smtClean="0"/>
              <a:t>基本构成要素：纯贴现债券</a:t>
            </a:r>
            <a:endParaRPr lang="en-US" altLang="zh-CN" dirty="0" smtClean="0"/>
          </a:p>
          <a:p>
            <a:r>
              <a:rPr lang="en-US" altLang="zh-CN" dirty="0" smtClean="0"/>
              <a:t>8.3 </a:t>
            </a:r>
            <a:r>
              <a:rPr lang="zh-CN" altLang="en-US" dirty="0" smtClean="0"/>
              <a:t>附息债券、当期收益率和到期收益率</a:t>
            </a:r>
            <a:endParaRPr lang="en-US" altLang="zh-CN" dirty="0" smtClean="0"/>
          </a:p>
          <a:p>
            <a:r>
              <a:rPr lang="en-US" altLang="zh-CN" dirty="0" smtClean="0"/>
              <a:t>8.4 </a:t>
            </a:r>
            <a:r>
              <a:rPr lang="zh-CN" altLang="en-US" dirty="0" smtClean="0"/>
              <a:t>解读债券行情表</a:t>
            </a:r>
            <a:endParaRPr lang="en-US" altLang="zh-CN" dirty="0" smtClean="0"/>
          </a:p>
          <a:p>
            <a:r>
              <a:rPr lang="en-US" altLang="zh-CN" dirty="0" smtClean="0"/>
              <a:t>8.5 </a:t>
            </a:r>
            <a:r>
              <a:rPr lang="zh-CN" altLang="en-US" dirty="0" smtClean="0"/>
              <a:t>为什么到期期限相同的债券收益率可能有所不同</a:t>
            </a:r>
            <a:endParaRPr lang="en-US" altLang="zh-CN" dirty="0" smtClean="0"/>
          </a:p>
          <a:p>
            <a:r>
              <a:rPr lang="en-US" altLang="zh-CN" dirty="0" smtClean="0"/>
              <a:t>8.6 </a:t>
            </a:r>
            <a:r>
              <a:rPr lang="zh-CN" altLang="en-US" dirty="0" smtClean="0"/>
              <a:t>随时间推移的债券价格行为</a:t>
            </a:r>
            <a:endParaRPr lang="en-US" altLang="zh-CN" dirty="0" smtClean="0"/>
          </a:p>
          <a:p>
            <a:r>
              <a:rPr lang="en-US" altLang="zh-CN" dirty="0" smtClean="0"/>
              <a:t>8.7 </a:t>
            </a:r>
            <a:r>
              <a:rPr lang="zh-CN" altLang="en-US" dirty="0" smtClean="0"/>
              <a:t>债券回购与逆回购</a:t>
            </a:r>
            <a:endParaRPr lang="en-US" altLang="zh-CN" dirty="0" smtClean="0"/>
          </a:p>
          <a:p>
            <a:r>
              <a:rPr lang="en-US" altLang="zh-CN" dirty="0" smtClean="0"/>
              <a:t>8.8 </a:t>
            </a:r>
            <a:r>
              <a:rPr lang="zh-CN" altLang="en-US" dirty="0" smtClean="0"/>
              <a:t>衡量债券利率风险：久期与凸度（补充）</a:t>
            </a:r>
            <a:endParaRPr lang="zh-CN" altLang="en-US" dirty="0"/>
          </a:p>
        </p:txBody>
      </p:sp>
    </p:spTree>
    <p:extLst>
      <p:ext uri="{BB962C8B-B14F-4D97-AF65-F5344CB8AC3E}">
        <p14:creationId xmlns:p14="http://schemas.microsoft.com/office/powerpoint/2010/main" val="3123912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8.1 </a:t>
            </a:r>
            <a:r>
              <a:rPr lang="zh-CN" altLang="en-US" sz="4000" dirty="0" smtClean="0"/>
              <a:t>使用现值因子对已知现金流进行价值评估</a:t>
            </a:r>
            <a:endParaRPr lang="zh-CN" altLang="en-US" sz="4000" dirty="0"/>
          </a:p>
        </p:txBody>
      </p:sp>
      <p:sp>
        <p:nvSpPr>
          <p:cNvPr id="3" name="内容占位符 2"/>
          <p:cNvSpPr>
            <a:spLocks noGrp="1"/>
          </p:cNvSpPr>
          <p:nvPr>
            <p:ph idx="1"/>
          </p:nvPr>
        </p:nvSpPr>
        <p:spPr/>
        <p:txBody>
          <a:bodyPr>
            <a:normAutofit fontScale="92500" lnSpcReduction="10000"/>
          </a:bodyPr>
          <a:lstStyle/>
          <a:p>
            <a:r>
              <a:rPr lang="zh-CN" altLang="en-US" dirty="0" smtClean="0"/>
              <a:t>年金类固定收益证券估值：某</a:t>
            </a:r>
            <a:r>
              <a:rPr lang="en-US" altLang="zh-CN" dirty="0" smtClean="0"/>
              <a:t>3</a:t>
            </a:r>
            <a:r>
              <a:rPr lang="zh-CN" altLang="en-US" dirty="0" smtClean="0"/>
              <a:t>年期债券每年支付</a:t>
            </a:r>
            <a:r>
              <a:rPr lang="en-US" altLang="zh-CN" dirty="0" smtClean="0"/>
              <a:t>100</a:t>
            </a:r>
            <a:r>
              <a:rPr lang="zh-CN" altLang="en-US" dirty="0" smtClean="0"/>
              <a:t>元（类似于</a:t>
            </a:r>
            <a:r>
              <a:rPr lang="en-US" altLang="zh-CN" dirty="0" smtClean="0"/>
              <a:t>3</a:t>
            </a:r>
            <a:r>
              <a:rPr lang="zh-CN" altLang="en-US" dirty="0" smtClean="0"/>
              <a:t>年期的年金）</a:t>
            </a:r>
            <a:endParaRPr lang="en-US" altLang="zh-CN" dirty="0" smtClean="0"/>
          </a:p>
          <a:p>
            <a:pPr lvl="1"/>
            <a:r>
              <a:rPr lang="zh-CN" altLang="en-US" dirty="0" smtClean="0"/>
              <a:t>假定贴现率为</a:t>
            </a:r>
            <a:r>
              <a:rPr lang="en-US" altLang="zh-CN" dirty="0" smtClean="0"/>
              <a:t>6%</a:t>
            </a:r>
            <a:r>
              <a:rPr lang="zh-CN" altLang="en-US" dirty="0" smtClean="0"/>
              <a:t>，则价值为</a:t>
            </a:r>
            <a:r>
              <a:rPr lang="en-US" altLang="zh-CN" dirty="0" smtClean="0"/>
              <a:t>267.30(excel</a:t>
            </a:r>
            <a:r>
              <a:rPr lang="zh-CN" altLang="en-US" dirty="0" smtClean="0"/>
              <a:t>计算</a:t>
            </a:r>
            <a:r>
              <a:rPr lang="en-US" altLang="zh-CN" dirty="0" smtClean="0"/>
              <a:t>)</a:t>
            </a:r>
            <a:r>
              <a:rPr lang="zh-CN" altLang="en-US" dirty="0" smtClean="0"/>
              <a:t>：</a:t>
            </a:r>
            <a:endParaRPr lang="en-US" altLang="zh-CN" dirty="0" smtClean="0"/>
          </a:p>
          <a:p>
            <a:pPr lvl="2"/>
            <a:r>
              <a:rPr lang="en-US" altLang="zh-CN" dirty="0" smtClean="0"/>
              <a:t>100/1.06 + 100/ power(1.06, 2) + 100/ power(1.06, 3) = 267.30</a:t>
            </a:r>
          </a:p>
          <a:p>
            <a:pPr lvl="1"/>
            <a:r>
              <a:rPr lang="zh-CN" altLang="en-US" dirty="0" smtClean="0"/>
              <a:t>假定贴现率上升到</a:t>
            </a:r>
            <a:r>
              <a:rPr lang="en-US" altLang="zh-CN" dirty="0" smtClean="0"/>
              <a:t>7%</a:t>
            </a:r>
            <a:r>
              <a:rPr lang="zh-CN" altLang="en-US" dirty="0" smtClean="0"/>
              <a:t>，则价值为</a:t>
            </a:r>
            <a:r>
              <a:rPr lang="en-US" altLang="zh-CN" dirty="0" smtClean="0"/>
              <a:t>262.43</a:t>
            </a:r>
            <a:r>
              <a:rPr lang="zh-CN" altLang="en-US" dirty="0" smtClean="0"/>
              <a:t>，下降</a:t>
            </a:r>
            <a:r>
              <a:rPr lang="en-US" altLang="zh-CN" dirty="0" smtClean="0"/>
              <a:t>4.87</a:t>
            </a:r>
            <a:r>
              <a:rPr lang="zh-CN" altLang="en-US" dirty="0" smtClean="0"/>
              <a:t>：</a:t>
            </a:r>
            <a:endParaRPr lang="en-US" altLang="zh-CN" dirty="0" smtClean="0"/>
          </a:p>
          <a:p>
            <a:pPr lvl="2"/>
            <a:r>
              <a:rPr lang="en-US" altLang="zh-CN" dirty="0" smtClean="0"/>
              <a:t>100/1.07 + 100/ power(1.07, 2) + 100/ power(1.07, 3) = 262.43</a:t>
            </a:r>
          </a:p>
          <a:p>
            <a:pPr lvl="1"/>
            <a:r>
              <a:rPr lang="zh-CN" altLang="en-US" dirty="0" smtClean="0"/>
              <a:t>假定贴现率下降到</a:t>
            </a:r>
            <a:r>
              <a:rPr lang="en-US" altLang="zh-CN" dirty="0" smtClean="0"/>
              <a:t>5%</a:t>
            </a:r>
            <a:r>
              <a:rPr lang="zh-CN" altLang="en-US" dirty="0" smtClean="0"/>
              <a:t>，则价值为</a:t>
            </a:r>
            <a:r>
              <a:rPr lang="en-US" altLang="zh-CN" dirty="0" smtClean="0"/>
              <a:t>272.32</a:t>
            </a:r>
            <a:r>
              <a:rPr lang="zh-CN" altLang="en-US" dirty="0" smtClean="0"/>
              <a:t>，上升</a:t>
            </a:r>
            <a:r>
              <a:rPr lang="en-US" altLang="zh-CN" dirty="0" smtClean="0"/>
              <a:t>5.02</a:t>
            </a:r>
            <a:r>
              <a:rPr lang="zh-CN" altLang="en-US" dirty="0" smtClean="0"/>
              <a:t>：</a:t>
            </a:r>
            <a:endParaRPr lang="en-US" altLang="zh-CN" dirty="0" smtClean="0"/>
          </a:p>
          <a:p>
            <a:pPr lvl="2"/>
            <a:r>
              <a:rPr lang="en-US" altLang="zh-CN" dirty="0" smtClean="0"/>
              <a:t>100/1.05 + 100/ power(1.05, 2) + 100/ power(1.05, 3) = 272.32</a:t>
            </a:r>
          </a:p>
          <a:p>
            <a:pPr lvl="2"/>
            <a:endParaRPr lang="en-US" altLang="zh-CN" dirty="0"/>
          </a:p>
          <a:p>
            <a:r>
              <a:rPr lang="zh-CN" altLang="en-US" dirty="0" smtClean="0"/>
              <a:t>请注意：</a:t>
            </a:r>
            <a:endParaRPr lang="en-US" altLang="zh-CN" dirty="0" smtClean="0"/>
          </a:p>
          <a:p>
            <a:pPr lvl="1"/>
            <a:r>
              <a:rPr lang="zh-CN" altLang="en-US" dirty="0"/>
              <a:t>固定</a:t>
            </a:r>
            <a:r>
              <a:rPr lang="zh-CN" altLang="en-US" dirty="0" smtClean="0"/>
              <a:t>收益证券未来的现金流是固定的</a:t>
            </a:r>
            <a:endParaRPr lang="en-US" altLang="zh-CN" dirty="0" smtClean="0"/>
          </a:p>
          <a:p>
            <a:pPr lvl="1"/>
            <a:r>
              <a:rPr lang="zh-CN" altLang="en-US" dirty="0" smtClean="0"/>
              <a:t>市场利率上升，则贴现率</a:t>
            </a:r>
            <a:r>
              <a:rPr lang="zh-CN" altLang="en-US" dirty="0"/>
              <a:t>上升（分母</a:t>
            </a:r>
            <a:r>
              <a:rPr lang="zh-CN" altLang="en-US" dirty="0" smtClean="0"/>
              <a:t>增加），债券价值下跌</a:t>
            </a:r>
            <a:endParaRPr lang="en-US" altLang="zh-CN" dirty="0" smtClean="0"/>
          </a:p>
          <a:p>
            <a:pPr lvl="1"/>
            <a:r>
              <a:rPr lang="zh-CN" altLang="en-US" dirty="0"/>
              <a:t>市场</a:t>
            </a:r>
            <a:r>
              <a:rPr lang="zh-CN" altLang="en-US" dirty="0" smtClean="0"/>
              <a:t>利率下降，</a:t>
            </a:r>
            <a:r>
              <a:rPr lang="zh-CN" altLang="en-US" dirty="0"/>
              <a:t>则</a:t>
            </a:r>
            <a:r>
              <a:rPr lang="zh-CN" altLang="en-US" dirty="0" smtClean="0"/>
              <a:t>贴现率下降（分母下降），</a:t>
            </a:r>
            <a:r>
              <a:rPr lang="zh-CN" altLang="en-US" dirty="0"/>
              <a:t>债券</a:t>
            </a:r>
            <a:r>
              <a:rPr lang="zh-CN" altLang="en-US" dirty="0" smtClean="0"/>
              <a:t>价值上升</a:t>
            </a:r>
            <a:endParaRPr lang="en-US" altLang="zh-CN" dirty="0" smtClean="0"/>
          </a:p>
          <a:p>
            <a:endParaRPr lang="en-US" altLang="zh-CN" dirty="0" smtClean="0"/>
          </a:p>
          <a:p>
            <a:endParaRPr lang="zh-CN" altLang="en-US" dirty="0"/>
          </a:p>
        </p:txBody>
      </p:sp>
    </p:spTree>
    <p:extLst>
      <p:ext uri="{BB962C8B-B14F-4D97-AF65-F5344CB8AC3E}">
        <p14:creationId xmlns:p14="http://schemas.microsoft.com/office/powerpoint/2010/main" val="1797117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国债估值：考虑</a:t>
            </a:r>
            <a:r>
              <a:rPr lang="en-US" altLang="zh-CN" dirty="0" smtClean="0"/>
              <a:t>3</a:t>
            </a:r>
            <a:r>
              <a:rPr lang="zh-CN" altLang="en-US" dirty="0" smtClean="0"/>
              <a:t>年期国债，面值</a:t>
            </a:r>
            <a:r>
              <a:rPr lang="en-US" altLang="zh-CN" dirty="0" smtClean="0"/>
              <a:t>100</a:t>
            </a:r>
            <a:r>
              <a:rPr lang="zh-CN" altLang="en-US" dirty="0" smtClean="0"/>
              <a:t>元，每年利息</a:t>
            </a:r>
            <a:r>
              <a:rPr lang="en-US" altLang="zh-CN" dirty="0" smtClean="0"/>
              <a:t>5</a:t>
            </a:r>
            <a:r>
              <a:rPr lang="zh-CN" altLang="en-US" dirty="0" smtClean="0"/>
              <a:t>元</a:t>
            </a:r>
            <a:endParaRPr lang="en-US" altLang="zh-CN" dirty="0" smtClean="0"/>
          </a:p>
          <a:p>
            <a:pPr lvl="1"/>
            <a:r>
              <a:rPr lang="zh-CN" altLang="en-US" dirty="0" smtClean="0"/>
              <a:t>贴现率为</a:t>
            </a:r>
            <a:r>
              <a:rPr lang="en-US" altLang="zh-CN" dirty="0" smtClean="0"/>
              <a:t>6%</a:t>
            </a:r>
            <a:r>
              <a:rPr lang="zh-CN" altLang="en-US" dirty="0" smtClean="0"/>
              <a:t>时，价值为</a:t>
            </a:r>
            <a:r>
              <a:rPr lang="en-US" altLang="zh-CN" dirty="0" smtClean="0"/>
              <a:t>97.33</a:t>
            </a:r>
          </a:p>
          <a:p>
            <a:pPr lvl="2"/>
            <a:r>
              <a:rPr lang="en-US" altLang="zh-CN" dirty="0" smtClean="0"/>
              <a:t>5/1.06 + 5/ power(1.06, 2) + 105/ power(1.06, 3) = 97.33</a:t>
            </a:r>
          </a:p>
          <a:p>
            <a:pPr lvl="1"/>
            <a:r>
              <a:rPr lang="zh-CN" altLang="en-US" dirty="0" smtClean="0"/>
              <a:t>贴现率为</a:t>
            </a:r>
            <a:r>
              <a:rPr lang="en-US" altLang="zh-CN" dirty="0" smtClean="0"/>
              <a:t>7%</a:t>
            </a:r>
            <a:r>
              <a:rPr lang="zh-CN" altLang="en-US" dirty="0" smtClean="0"/>
              <a:t>时，价值为</a:t>
            </a:r>
            <a:r>
              <a:rPr lang="en-US" altLang="zh-CN" dirty="0" smtClean="0"/>
              <a:t>94.75</a:t>
            </a:r>
            <a:r>
              <a:rPr lang="zh-CN" altLang="en-US" dirty="0" smtClean="0"/>
              <a:t>，下降</a:t>
            </a:r>
            <a:r>
              <a:rPr lang="en-US" altLang="zh-CN" dirty="0" smtClean="0"/>
              <a:t>2.58</a:t>
            </a:r>
          </a:p>
          <a:p>
            <a:pPr lvl="2"/>
            <a:r>
              <a:rPr lang="en-US" altLang="zh-CN" dirty="0" smtClean="0"/>
              <a:t>5/1.07 + 5/ power(1.07, 2) + 105/ power(1.07, 3) = 94.75</a:t>
            </a:r>
          </a:p>
          <a:p>
            <a:pPr lvl="1"/>
            <a:r>
              <a:rPr lang="zh-CN" altLang="en-US" dirty="0" smtClean="0"/>
              <a:t>贴现率为</a:t>
            </a:r>
            <a:r>
              <a:rPr lang="en-US" altLang="zh-CN" dirty="0" smtClean="0"/>
              <a:t>5%</a:t>
            </a:r>
            <a:r>
              <a:rPr lang="zh-CN" altLang="en-US" dirty="0" smtClean="0"/>
              <a:t>时，价值为</a:t>
            </a:r>
            <a:r>
              <a:rPr lang="en-US" altLang="zh-CN" dirty="0" smtClean="0"/>
              <a:t>100</a:t>
            </a:r>
            <a:r>
              <a:rPr lang="zh-CN" altLang="en-US" dirty="0" smtClean="0"/>
              <a:t>，上升</a:t>
            </a:r>
            <a:r>
              <a:rPr lang="en-US" altLang="zh-CN" dirty="0" smtClean="0"/>
              <a:t>2.67</a:t>
            </a:r>
            <a:endParaRPr lang="zh-CN" altLang="en-US" dirty="0" smtClean="0"/>
          </a:p>
          <a:p>
            <a:pPr lvl="2"/>
            <a:r>
              <a:rPr lang="en-US" altLang="zh-CN" dirty="0" smtClean="0"/>
              <a:t>5/1.07 + 5/ power(1.07, 2) + 105/ power(1.07, 3) = 100</a:t>
            </a:r>
            <a:endParaRPr lang="zh-CN" altLang="en-US" dirty="0"/>
          </a:p>
        </p:txBody>
      </p:sp>
    </p:spTree>
    <p:extLst>
      <p:ext uri="{BB962C8B-B14F-4D97-AF65-F5344CB8AC3E}">
        <p14:creationId xmlns:p14="http://schemas.microsoft.com/office/powerpoint/2010/main" val="1548790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前述例子的缺陷</a:t>
            </a:r>
            <a:endParaRPr lang="zh-CN" altLang="en-US" dirty="0"/>
          </a:p>
        </p:txBody>
      </p:sp>
      <p:sp>
        <p:nvSpPr>
          <p:cNvPr id="3" name="内容占位符 2"/>
          <p:cNvSpPr>
            <a:spLocks noGrp="1"/>
          </p:cNvSpPr>
          <p:nvPr>
            <p:ph idx="1"/>
          </p:nvPr>
        </p:nvSpPr>
        <p:spPr/>
        <p:txBody>
          <a:bodyPr/>
          <a:lstStyle/>
          <a:p>
            <a:r>
              <a:rPr lang="zh-CN" altLang="en-US" dirty="0" smtClean="0"/>
              <a:t>在前述例子中，不同期限的现金流都统一使用一个贴现率</a:t>
            </a:r>
            <a:endParaRPr lang="en-US" altLang="zh-CN" dirty="0" smtClean="0"/>
          </a:p>
          <a:p>
            <a:endParaRPr lang="en-US" altLang="zh-CN" dirty="0"/>
          </a:p>
          <a:p>
            <a:r>
              <a:rPr lang="zh-CN" altLang="en-US" dirty="0" smtClean="0"/>
              <a:t>实际上，不同到期期限的贴现率是不同的</a:t>
            </a:r>
            <a:endParaRPr lang="en-US" altLang="zh-CN" dirty="0" smtClean="0"/>
          </a:p>
          <a:p>
            <a:pPr lvl="1"/>
            <a:r>
              <a:rPr lang="zh-CN" altLang="en-US" dirty="0" smtClean="0"/>
              <a:t>中国</a:t>
            </a:r>
            <a:r>
              <a:rPr lang="en-US" altLang="zh-CN" dirty="0" smtClean="0"/>
              <a:t>5</a:t>
            </a:r>
            <a:r>
              <a:rPr lang="zh-CN" altLang="en-US" dirty="0" smtClean="0"/>
              <a:t>年期利率高于</a:t>
            </a:r>
            <a:r>
              <a:rPr lang="en-US" altLang="zh-CN" dirty="0" smtClean="0"/>
              <a:t>3</a:t>
            </a:r>
            <a:r>
              <a:rPr lang="zh-CN" altLang="en-US" dirty="0" smtClean="0"/>
              <a:t>个月的利率</a:t>
            </a:r>
            <a:endParaRPr lang="zh-CN" altLang="en-US" dirty="0"/>
          </a:p>
        </p:txBody>
      </p:sp>
    </p:spTree>
    <p:extLst>
      <p:ext uri="{BB962C8B-B14F-4D97-AF65-F5344CB8AC3E}">
        <p14:creationId xmlns:p14="http://schemas.microsoft.com/office/powerpoint/2010/main" val="3936970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固定收益证券估值的基本原理</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smtClean="0">
                <a:solidFill>
                  <a:srgbClr val="FF0000"/>
                </a:solidFill>
              </a:rPr>
              <a:t>固定收益证券的价格变化与市场利率变化相反</a:t>
            </a:r>
            <a:endParaRPr lang="en-US" altLang="zh-CN" dirty="0" smtClean="0">
              <a:solidFill>
                <a:srgbClr val="FF0000"/>
              </a:solidFill>
            </a:endParaRPr>
          </a:p>
          <a:p>
            <a:pPr lvl="1"/>
            <a:r>
              <a:rPr lang="zh-CN" altLang="en-US" dirty="0" smtClean="0">
                <a:solidFill>
                  <a:srgbClr val="0070C0"/>
                </a:solidFill>
              </a:rPr>
              <a:t>分子：每年利息与本金已经固定下来</a:t>
            </a:r>
            <a:endParaRPr lang="en-US" altLang="zh-CN" dirty="0" smtClean="0">
              <a:solidFill>
                <a:srgbClr val="0070C0"/>
              </a:solidFill>
            </a:endParaRPr>
          </a:p>
          <a:p>
            <a:pPr lvl="1"/>
            <a:r>
              <a:rPr lang="zh-CN" altLang="en-US" dirty="0" smtClean="0">
                <a:solidFill>
                  <a:srgbClr val="0070C0"/>
                </a:solidFill>
              </a:rPr>
              <a:t>分母：贴现率</a:t>
            </a:r>
            <a:r>
              <a:rPr lang="en-US" altLang="zh-CN" dirty="0" smtClean="0">
                <a:solidFill>
                  <a:srgbClr val="0070C0"/>
                </a:solidFill>
              </a:rPr>
              <a:t>——</a:t>
            </a:r>
            <a:r>
              <a:rPr lang="zh-CN" altLang="en-US" dirty="0" smtClean="0">
                <a:solidFill>
                  <a:srgbClr val="0070C0"/>
                </a:solidFill>
              </a:rPr>
              <a:t>市场利率是变动的</a:t>
            </a:r>
            <a:endParaRPr lang="en-US" altLang="zh-CN" dirty="0" smtClean="0">
              <a:solidFill>
                <a:srgbClr val="0070C0"/>
              </a:solidFill>
            </a:endParaRPr>
          </a:p>
          <a:p>
            <a:pPr lvl="1"/>
            <a:r>
              <a:rPr lang="zh-CN" altLang="en-US" dirty="0" smtClean="0">
                <a:solidFill>
                  <a:srgbClr val="0070C0"/>
                </a:solidFill>
              </a:rPr>
              <a:t>加息与降息的影响</a:t>
            </a:r>
            <a:endParaRPr lang="en-US" altLang="zh-CN" dirty="0" smtClean="0">
              <a:solidFill>
                <a:srgbClr val="0070C0"/>
              </a:solidFill>
            </a:endParaRPr>
          </a:p>
          <a:p>
            <a:pPr lvl="2"/>
            <a:r>
              <a:rPr lang="zh-CN" altLang="en-US" dirty="0" smtClean="0">
                <a:solidFill>
                  <a:srgbClr val="0070C0"/>
                </a:solidFill>
              </a:rPr>
              <a:t>加息：分母上升，价值下降。显然，加息环境下，债券市场走弱。</a:t>
            </a:r>
            <a:endParaRPr lang="en-US" altLang="zh-CN" dirty="0" smtClean="0">
              <a:solidFill>
                <a:srgbClr val="0070C0"/>
              </a:solidFill>
            </a:endParaRPr>
          </a:p>
          <a:p>
            <a:pPr lvl="2"/>
            <a:r>
              <a:rPr lang="zh-CN" altLang="en-US" dirty="0" smtClean="0">
                <a:solidFill>
                  <a:srgbClr val="0070C0"/>
                </a:solidFill>
              </a:rPr>
              <a:t>降息：分母下降，价值上升。降息环境下，债券市场走强</a:t>
            </a:r>
            <a:endParaRPr lang="en-US" altLang="zh-CN" dirty="0" smtClean="0">
              <a:solidFill>
                <a:srgbClr val="0070C0"/>
              </a:solidFill>
            </a:endParaRPr>
          </a:p>
          <a:p>
            <a:endParaRPr lang="en-US" altLang="zh-CN" dirty="0"/>
          </a:p>
          <a:p>
            <a:r>
              <a:rPr lang="zh-CN" altLang="en-US" dirty="0" smtClean="0"/>
              <a:t>推论</a:t>
            </a:r>
            <a:endParaRPr lang="en-US" altLang="zh-CN" dirty="0" smtClean="0"/>
          </a:p>
          <a:p>
            <a:pPr lvl="1"/>
            <a:r>
              <a:rPr lang="zh-CN" altLang="en-US" dirty="0" smtClean="0"/>
              <a:t>由于利率的变化是不可预测的，直至到期时固定收益证券的价格都是不确定的</a:t>
            </a:r>
            <a:endParaRPr lang="en-US" altLang="zh-CN" dirty="0" smtClean="0"/>
          </a:p>
          <a:p>
            <a:pPr lvl="1"/>
            <a:endParaRPr lang="en-US" altLang="zh-CN" dirty="0"/>
          </a:p>
          <a:p>
            <a:r>
              <a:rPr lang="zh-CN" altLang="en-US" dirty="0" smtClean="0"/>
              <a:t>延伸：对于银行而言，固定利率贷款面临着利率风险</a:t>
            </a:r>
            <a:endParaRPr lang="en-US" altLang="zh-CN" dirty="0" smtClean="0"/>
          </a:p>
          <a:p>
            <a:pPr lvl="1"/>
            <a:r>
              <a:rPr lang="zh-CN" altLang="en-US" dirty="0" smtClean="0"/>
              <a:t>比如，银行发放一笔</a:t>
            </a:r>
            <a:r>
              <a:rPr lang="en-US" altLang="zh-CN" dirty="0" smtClean="0"/>
              <a:t>20</a:t>
            </a:r>
            <a:r>
              <a:rPr lang="zh-CN" altLang="en-US" dirty="0" smtClean="0"/>
              <a:t>年期的本金</a:t>
            </a:r>
            <a:r>
              <a:rPr lang="en-US" altLang="zh-CN" dirty="0" smtClean="0"/>
              <a:t>100</a:t>
            </a:r>
            <a:r>
              <a:rPr lang="zh-CN" altLang="en-US" dirty="0" smtClean="0"/>
              <a:t>万、年利率为</a:t>
            </a:r>
            <a:r>
              <a:rPr lang="en-US" altLang="zh-CN" dirty="0" smtClean="0"/>
              <a:t>5%</a:t>
            </a:r>
            <a:r>
              <a:rPr lang="zh-CN" altLang="en-US" dirty="0" smtClean="0"/>
              <a:t>的固定利率贷款，借款人每年支付给银行</a:t>
            </a:r>
            <a:r>
              <a:rPr lang="en-US" altLang="zh-CN" dirty="0" smtClean="0"/>
              <a:t>5</a:t>
            </a:r>
            <a:r>
              <a:rPr lang="zh-CN" altLang="en-US" dirty="0" smtClean="0"/>
              <a:t>万元利息，到期时归还</a:t>
            </a:r>
            <a:r>
              <a:rPr lang="en-US" altLang="zh-CN" dirty="0" smtClean="0"/>
              <a:t>100</a:t>
            </a:r>
            <a:r>
              <a:rPr lang="zh-CN" altLang="en-US" dirty="0" smtClean="0"/>
              <a:t>万本金</a:t>
            </a:r>
            <a:endParaRPr lang="en-US" altLang="zh-CN" dirty="0" smtClean="0"/>
          </a:p>
          <a:p>
            <a:pPr lvl="1"/>
            <a:r>
              <a:rPr lang="zh-CN" altLang="en-US" dirty="0" smtClean="0"/>
              <a:t>显然，当市场利率上升时，银行出现损失</a:t>
            </a:r>
            <a:endParaRPr lang="en-US" altLang="zh-CN" dirty="0" smtClean="0"/>
          </a:p>
        </p:txBody>
      </p:sp>
    </p:spTree>
    <p:extLst>
      <p:ext uri="{BB962C8B-B14F-4D97-AF65-F5344CB8AC3E}">
        <p14:creationId xmlns:p14="http://schemas.microsoft.com/office/powerpoint/2010/main" val="3567849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1898650"/>
          </a:xfrm>
        </p:spPr>
        <p:txBody>
          <a:bodyPr>
            <a:normAutofit/>
          </a:bodyPr>
          <a:lstStyle/>
          <a:p>
            <a:r>
              <a:rPr lang="zh-CN" altLang="en-US" dirty="0" smtClean="0"/>
              <a:t>讨论：为什么我国的银行要推出</a:t>
            </a:r>
            <a:r>
              <a:rPr lang="en-US" altLang="zh-CN" dirty="0" smtClean="0"/>
              <a:t>LPR</a:t>
            </a:r>
            <a:r>
              <a:rPr lang="zh-CN" altLang="en-US" dirty="0" smtClean="0"/>
              <a:t>？</a:t>
            </a:r>
            <a:endParaRPr lang="en-US" altLang="zh-CN" dirty="0" smtClean="0"/>
          </a:p>
          <a:p>
            <a:pPr lvl="1"/>
            <a:r>
              <a:rPr lang="en-US" altLang="zh-CN" dirty="0" smtClean="0"/>
              <a:t>LPR</a:t>
            </a:r>
            <a:r>
              <a:rPr lang="zh-CN" altLang="en-US" dirty="0" smtClean="0"/>
              <a:t>：</a:t>
            </a:r>
            <a:r>
              <a:rPr lang="en-US" altLang="zh-CN" dirty="0"/>
              <a:t>Loan Prime Rate, </a:t>
            </a:r>
            <a:r>
              <a:rPr lang="zh-CN" altLang="en-US" dirty="0"/>
              <a:t>贷款市场报价利率</a:t>
            </a:r>
          </a:p>
        </p:txBody>
      </p:sp>
      <p:pic>
        <p:nvPicPr>
          <p:cNvPr id="5" name="内容占位符 4"/>
          <p:cNvPicPr>
            <a:picLocks noGrp="1" noChangeAspect="1"/>
          </p:cNvPicPr>
          <p:nvPr>
            <p:ph sz="half" idx="2"/>
          </p:nvPr>
        </p:nvPicPr>
        <p:blipFill>
          <a:blip r:embed="rId2"/>
          <a:stretch>
            <a:fillRect/>
          </a:stretch>
        </p:blipFill>
        <p:spPr>
          <a:xfrm>
            <a:off x="6618974" y="1613659"/>
            <a:ext cx="3483041" cy="3674130"/>
          </a:xfrm>
          <a:prstGeom prst="rect">
            <a:avLst/>
          </a:prstGeom>
        </p:spPr>
      </p:pic>
    </p:spTree>
    <p:extLst>
      <p:ext uri="{BB962C8B-B14F-4D97-AF65-F5344CB8AC3E}">
        <p14:creationId xmlns:p14="http://schemas.microsoft.com/office/powerpoint/2010/main" val="3005448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市场利率大幅度上升的后果</a:t>
            </a:r>
            <a:r>
              <a:rPr lang="en-US" altLang="zh-CN" dirty="0" smtClean="0"/>
              <a:t/>
            </a:r>
            <a:br>
              <a:rPr lang="en-US" altLang="zh-CN" dirty="0" smtClean="0"/>
            </a:br>
            <a:r>
              <a:rPr lang="zh-CN" altLang="en-US" dirty="0" smtClean="0"/>
              <a:t>实例：美国</a:t>
            </a:r>
            <a:r>
              <a:rPr lang="en-US" altLang="zh-CN" dirty="0" smtClean="0"/>
              <a:t>11</a:t>
            </a:r>
            <a:r>
              <a:rPr lang="zh-CN" altLang="en-US" dirty="0" smtClean="0"/>
              <a:t>次加息</a:t>
            </a:r>
            <a:endParaRPr lang="zh-CN" altLang="en-US" dirty="0"/>
          </a:p>
        </p:txBody>
      </p:sp>
      <p:pic>
        <p:nvPicPr>
          <p:cNvPr id="5" name="图片 4"/>
          <p:cNvPicPr>
            <a:picLocks noChangeAspect="1"/>
          </p:cNvPicPr>
          <p:nvPr/>
        </p:nvPicPr>
        <p:blipFill>
          <a:blip r:embed="rId2"/>
          <a:stretch>
            <a:fillRect/>
          </a:stretch>
        </p:blipFill>
        <p:spPr>
          <a:xfrm>
            <a:off x="2085975" y="2339995"/>
            <a:ext cx="7229475" cy="3809591"/>
          </a:xfrm>
          <a:prstGeom prst="rect">
            <a:avLst/>
          </a:prstGeom>
        </p:spPr>
      </p:pic>
    </p:spTree>
    <p:extLst>
      <p:ext uri="{BB962C8B-B14F-4D97-AF65-F5344CB8AC3E}">
        <p14:creationId xmlns:p14="http://schemas.microsoft.com/office/powerpoint/2010/main" val="3729681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持续加息环境下，美国几家银行倒下</a:t>
            </a:r>
            <a:r>
              <a:rPr lang="en-US" altLang="zh-CN" dirty="0" smtClean="0"/>
              <a:t/>
            </a:r>
            <a:br>
              <a:rPr lang="en-US" altLang="zh-CN" dirty="0" smtClean="0"/>
            </a:br>
            <a:r>
              <a:rPr lang="zh-CN" altLang="en-US" dirty="0" smtClean="0"/>
              <a:t>硅谷银行为典型代表</a:t>
            </a:r>
            <a:endParaRPr lang="zh-CN" altLang="en-US" dirty="0"/>
          </a:p>
        </p:txBody>
      </p:sp>
      <p:sp>
        <p:nvSpPr>
          <p:cNvPr id="3" name="内容占位符 2"/>
          <p:cNvSpPr>
            <a:spLocks noGrp="1"/>
          </p:cNvSpPr>
          <p:nvPr>
            <p:ph idx="1"/>
          </p:nvPr>
        </p:nvSpPr>
        <p:spPr>
          <a:xfrm>
            <a:off x="5590794" y="2226469"/>
            <a:ext cx="4448556" cy="3263504"/>
          </a:xfrm>
        </p:spPr>
        <p:txBody>
          <a:bodyPr>
            <a:normAutofit fontScale="70000" lnSpcReduction="20000"/>
          </a:bodyPr>
          <a:lstStyle/>
          <a:p>
            <a:r>
              <a:rPr lang="zh-CN" altLang="en-US" dirty="0" smtClean="0"/>
              <a:t>股价走势</a:t>
            </a:r>
            <a:r>
              <a:rPr lang="en-US" altLang="zh-CN" dirty="0" smtClean="0"/>
              <a:t>(2023</a:t>
            </a:r>
            <a:r>
              <a:rPr lang="zh-CN" altLang="en-US" dirty="0" smtClean="0"/>
              <a:t>年</a:t>
            </a:r>
            <a:r>
              <a:rPr lang="en-US" altLang="zh-CN" dirty="0" smtClean="0"/>
              <a:t>2-3</a:t>
            </a:r>
            <a:r>
              <a:rPr lang="zh-CN" altLang="en-US" dirty="0" smtClean="0"/>
              <a:t>月）：</a:t>
            </a:r>
            <a:endParaRPr lang="en-US" altLang="zh-CN" dirty="0" smtClean="0"/>
          </a:p>
          <a:p>
            <a:pPr lvl="1"/>
            <a:r>
              <a:rPr lang="en-US" altLang="zh-CN" dirty="0" smtClean="0"/>
              <a:t>2.2</a:t>
            </a:r>
            <a:r>
              <a:rPr lang="zh-CN" altLang="en-US" dirty="0"/>
              <a:t>最高</a:t>
            </a:r>
            <a:r>
              <a:rPr lang="en-US" altLang="zh-CN" dirty="0"/>
              <a:t>348.6</a:t>
            </a:r>
            <a:r>
              <a:rPr lang="zh-CN" altLang="en-US" dirty="0" smtClean="0"/>
              <a:t>；</a:t>
            </a:r>
            <a:endParaRPr lang="en-US" altLang="zh-CN" dirty="0" smtClean="0"/>
          </a:p>
          <a:p>
            <a:pPr lvl="1"/>
            <a:r>
              <a:rPr lang="en-US" altLang="zh-CN" dirty="0" smtClean="0"/>
              <a:t>3.3</a:t>
            </a:r>
            <a:r>
              <a:rPr lang="zh-CN" altLang="en-US" dirty="0"/>
              <a:t>收盘</a:t>
            </a:r>
            <a:r>
              <a:rPr lang="en-US" altLang="zh-CN" dirty="0"/>
              <a:t>284.41</a:t>
            </a:r>
            <a:r>
              <a:rPr lang="zh-CN" altLang="en-US" dirty="0" smtClean="0"/>
              <a:t>；</a:t>
            </a:r>
            <a:endParaRPr lang="en-US" altLang="zh-CN" dirty="0" smtClean="0"/>
          </a:p>
          <a:p>
            <a:pPr lvl="1"/>
            <a:r>
              <a:rPr lang="en-US" altLang="zh-CN" sz="2625" b="1" dirty="0">
                <a:solidFill>
                  <a:srgbClr val="FF0000"/>
                </a:solidFill>
              </a:rPr>
              <a:t>3.4</a:t>
            </a:r>
            <a:r>
              <a:rPr lang="zh-CN" altLang="en-US" sz="2625" b="1" dirty="0">
                <a:solidFill>
                  <a:srgbClr val="FF0000"/>
                </a:solidFill>
              </a:rPr>
              <a:t>高盛买入平级</a:t>
            </a:r>
            <a:r>
              <a:rPr lang="zh-CN" altLang="en-US" dirty="0" smtClean="0"/>
              <a:t>；</a:t>
            </a:r>
            <a:endParaRPr lang="en-US" altLang="zh-CN" dirty="0" smtClean="0"/>
          </a:p>
          <a:p>
            <a:pPr lvl="1"/>
            <a:r>
              <a:rPr lang="en-US" altLang="zh-CN" dirty="0" smtClean="0"/>
              <a:t>3.6</a:t>
            </a:r>
            <a:r>
              <a:rPr lang="zh-CN" altLang="en-US" dirty="0"/>
              <a:t>周一收于</a:t>
            </a:r>
            <a:r>
              <a:rPr lang="en-US" altLang="zh-CN" dirty="0"/>
              <a:t>283.04</a:t>
            </a:r>
            <a:r>
              <a:rPr lang="zh-CN" altLang="en-US" dirty="0" smtClean="0"/>
              <a:t>；</a:t>
            </a:r>
            <a:endParaRPr lang="en-US" altLang="zh-CN" dirty="0" smtClean="0"/>
          </a:p>
          <a:p>
            <a:pPr lvl="1"/>
            <a:r>
              <a:rPr lang="en-US" altLang="zh-CN" dirty="0" smtClean="0"/>
              <a:t>3.8</a:t>
            </a:r>
            <a:r>
              <a:rPr lang="zh-CN" altLang="en-US" dirty="0"/>
              <a:t>收</a:t>
            </a:r>
            <a:r>
              <a:rPr lang="en-US" altLang="zh-CN" dirty="0"/>
              <a:t>267.83</a:t>
            </a:r>
            <a:r>
              <a:rPr lang="zh-CN" altLang="en-US" dirty="0" smtClean="0"/>
              <a:t>；</a:t>
            </a:r>
            <a:endParaRPr lang="en-US" altLang="zh-CN" dirty="0" smtClean="0"/>
          </a:p>
          <a:p>
            <a:pPr lvl="1"/>
            <a:r>
              <a:rPr lang="en-US" altLang="zh-CN" dirty="0" smtClean="0"/>
              <a:t>3.9</a:t>
            </a:r>
            <a:r>
              <a:rPr lang="zh-CN" altLang="en-US" dirty="0"/>
              <a:t>收</a:t>
            </a:r>
            <a:r>
              <a:rPr lang="en-US" altLang="zh-CN" dirty="0"/>
              <a:t>106.04</a:t>
            </a:r>
            <a:r>
              <a:rPr lang="zh-CN" altLang="en-US" dirty="0"/>
              <a:t>，跌幅</a:t>
            </a:r>
            <a:r>
              <a:rPr lang="en-US" altLang="zh-CN" dirty="0"/>
              <a:t>60.41%</a:t>
            </a:r>
            <a:r>
              <a:rPr lang="zh-CN" altLang="en-US" dirty="0"/>
              <a:t>，然后</a:t>
            </a:r>
            <a:r>
              <a:rPr lang="zh-CN" altLang="en-US" dirty="0" smtClean="0"/>
              <a:t>停牌</a:t>
            </a:r>
            <a:endParaRPr lang="en-US" altLang="zh-CN" dirty="0" smtClean="0"/>
          </a:p>
          <a:p>
            <a:pPr lvl="1"/>
            <a:r>
              <a:rPr lang="en-US" altLang="zh-CN" dirty="0" smtClean="0"/>
              <a:t>3</a:t>
            </a:r>
            <a:r>
              <a:rPr lang="zh-CN" altLang="en-US" dirty="0" smtClean="0"/>
              <a:t>月</a:t>
            </a:r>
            <a:r>
              <a:rPr lang="en-US" altLang="zh-CN" dirty="0" smtClean="0"/>
              <a:t>28</a:t>
            </a:r>
            <a:r>
              <a:rPr lang="zh-CN" altLang="en-US" dirty="0" smtClean="0"/>
              <a:t>日转入粉单市场（</a:t>
            </a:r>
            <a:r>
              <a:rPr lang="en-US" altLang="zh-CN" dirty="0"/>
              <a:t>Pink Sheet Exchange</a:t>
            </a:r>
            <a:r>
              <a:rPr lang="zh-CN" altLang="en-US" dirty="0" smtClean="0"/>
              <a:t>）交易，当日最低价为</a:t>
            </a:r>
            <a:r>
              <a:rPr lang="en-US" altLang="zh-CN" dirty="0" smtClean="0"/>
              <a:t>0.01</a:t>
            </a:r>
            <a:r>
              <a:rPr lang="zh-CN" altLang="en-US" dirty="0" smtClean="0"/>
              <a:t>，收盘价</a:t>
            </a:r>
            <a:r>
              <a:rPr lang="en-US" altLang="zh-CN" dirty="0" smtClean="0"/>
              <a:t>0.40</a:t>
            </a:r>
            <a:r>
              <a:rPr lang="zh-CN" altLang="en-US" dirty="0" smtClean="0"/>
              <a:t>，暴跌</a:t>
            </a:r>
            <a:r>
              <a:rPr lang="en-US" altLang="zh-CN" dirty="0" smtClean="0"/>
              <a:t>99.62%</a:t>
            </a:r>
          </a:p>
          <a:p>
            <a:pPr lvl="1"/>
            <a:r>
              <a:rPr lang="zh-CN" altLang="en-US" dirty="0" smtClean="0"/>
              <a:t>如果某投资者</a:t>
            </a:r>
            <a:r>
              <a:rPr lang="en-US" altLang="zh-CN" dirty="0" smtClean="0"/>
              <a:t>2</a:t>
            </a:r>
            <a:r>
              <a:rPr lang="zh-CN" altLang="en-US" dirty="0" smtClean="0"/>
              <a:t>月</a:t>
            </a:r>
            <a:r>
              <a:rPr lang="en-US" altLang="zh-CN" dirty="0" smtClean="0"/>
              <a:t>2</a:t>
            </a:r>
            <a:r>
              <a:rPr lang="zh-CN" altLang="en-US" dirty="0" smtClean="0"/>
              <a:t>日</a:t>
            </a:r>
            <a:r>
              <a:rPr lang="en-US" altLang="zh-CN" dirty="0" smtClean="0"/>
              <a:t>348.6</a:t>
            </a:r>
            <a:r>
              <a:rPr lang="zh-CN" altLang="en-US" dirty="0" smtClean="0"/>
              <a:t>买入，则</a:t>
            </a:r>
            <a:r>
              <a:rPr lang="en-US" altLang="zh-CN" dirty="0" smtClean="0"/>
              <a:t>3</a:t>
            </a:r>
            <a:r>
              <a:rPr lang="zh-CN" altLang="en-US" dirty="0" smtClean="0"/>
              <a:t>月</a:t>
            </a:r>
            <a:r>
              <a:rPr lang="en-US" altLang="zh-CN" dirty="0" smtClean="0"/>
              <a:t>28</a:t>
            </a:r>
            <a:r>
              <a:rPr lang="zh-CN" altLang="en-US" dirty="0" smtClean="0"/>
              <a:t>日就只剩下零头的零头</a:t>
            </a:r>
            <a:endParaRPr lang="en-US" altLang="zh-CN" dirty="0" smtClean="0"/>
          </a:p>
          <a:p>
            <a:r>
              <a:rPr lang="en-US" altLang="zh-CN" dirty="0" smtClean="0"/>
              <a:t>2024.3.20</a:t>
            </a:r>
            <a:r>
              <a:rPr lang="zh-CN" altLang="en-US" dirty="0" smtClean="0"/>
              <a:t>：收盘价</a:t>
            </a:r>
            <a:r>
              <a:rPr lang="en-US" altLang="zh-CN" dirty="0" smtClean="0"/>
              <a:t>0.07</a:t>
            </a:r>
            <a:endParaRPr lang="zh-CN" altLang="en-US" dirty="0"/>
          </a:p>
        </p:txBody>
      </p:sp>
      <p:pic>
        <p:nvPicPr>
          <p:cNvPr id="4" name="图片 3"/>
          <p:cNvPicPr>
            <a:picLocks noChangeAspect="1"/>
          </p:cNvPicPr>
          <p:nvPr/>
        </p:nvPicPr>
        <p:blipFill>
          <a:blip r:embed="rId2"/>
          <a:stretch>
            <a:fillRect/>
          </a:stretch>
        </p:blipFill>
        <p:spPr>
          <a:xfrm>
            <a:off x="838200" y="1825524"/>
            <a:ext cx="3933825" cy="3911801"/>
          </a:xfrm>
          <a:prstGeom prst="rect">
            <a:avLst/>
          </a:prstGeom>
        </p:spPr>
      </p:pic>
    </p:spTree>
    <p:extLst>
      <p:ext uri="{BB962C8B-B14F-4D97-AF65-F5344CB8AC3E}">
        <p14:creationId xmlns:p14="http://schemas.microsoft.com/office/powerpoint/2010/main" val="3778783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硅谷银行为何倒闭？</a:t>
            </a:r>
            <a:r>
              <a:rPr lang="en-US" altLang="zh-CN" dirty="0" smtClean="0"/>
              <a:t/>
            </a:r>
            <a:br>
              <a:rPr lang="en-US" altLang="zh-CN" dirty="0" smtClean="0"/>
            </a:br>
            <a:r>
              <a:rPr lang="zh-CN" altLang="en-US" sz="2500" dirty="0"/>
              <a:t>资产负债久期不匹配且没有做利率风险管理</a:t>
            </a:r>
          </a:p>
        </p:txBody>
      </p:sp>
      <p:sp>
        <p:nvSpPr>
          <p:cNvPr id="5" name="内容占位符 4"/>
          <p:cNvSpPr>
            <a:spLocks noGrp="1"/>
          </p:cNvSpPr>
          <p:nvPr>
            <p:ph idx="1"/>
          </p:nvPr>
        </p:nvSpPr>
        <p:spPr/>
        <p:txBody>
          <a:bodyPr/>
          <a:lstStyle/>
          <a:p>
            <a:r>
              <a:rPr lang="zh-CN" altLang="en-US" sz="2000" dirty="0"/>
              <a:t>第一，资产端：持有大量的包括美国长期国债在内的固定收益证券，在美联储持续加息的背景下（</a:t>
            </a:r>
            <a:r>
              <a:rPr lang="en-US" altLang="zh-CN" sz="2000" dirty="0"/>
              <a:t>2022.3-2023.2</a:t>
            </a:r>
            <a:r>
              <a:rPr lang="zh-CN" altLang="en-US" sz="2000" dirty="0"/>
              <a:t>持续</a:t>
            </a:r>
            <a:r>
              <a:rPr lang="en-US" altLang="zh-CN" sz="2000" dirty="0"/>
              <a:t>8</a:t>
            </a:r>
            <a:r>
              <a:rPr lang="zh-CN" altLang="en-US" sz="2000" dirty="0"/>
              <a:t>次加息，累计加息</a:t>
            </a:r>
            <a:r>
              <a:rPr lang="en-US" altLang="zh-CN" sz="2000" dirty="0"/>
              <a:t>4.25%</a:t>
            </a:r>
            <a:r>
              <a:rPr lang="zh-CN" altLang="en-US" sz="2000" dirty="0"/>
              <a:t>），资产大幅度贬值。</a:t>
            </a:r>
            <a:endParaRPr lang="en-US" altLang="zh-CN" sz="2000" dirty="0"/>
          </a:p>
          <a:p>
            <a:r>
              <a:rPr lang="zh-CN" altLang="en-US" sz="2000" dirty="0"/>
              <a:t>第二，负债端：主要为美国科技公司在硅谷银行的短期存款（包括大量可以随时提取的无息存款），并且存款主要集中于几个大客户。在持续加息的背景下，这些存款大户要取走存款。硅谷银行被迫卖掉流动性比较好的长期国债，未实现的账面损失马上成为已实现的损失，很快就资不抵债。并且在客户的挤兑压力之下，硅谷银行很快流动性枯竭</a:t>
            </a:r>
            <a:endParaRPr lang="en-US" altLang="zh-CN" sz="2000" dirty="0"/>
          </a:p>
          <a:p>
            <a:endParaRPr lang="en-US" altLang="zh-CN" sz="2000" dirty="0"/>
          </a:p>
          <a:p>
            <a:r>
              <a:rPr lang="zh-CN" altLang="en-US" sz="2000" dirty="0"/>
              <a:t>教训</a:t>
            </a:r>
            <a:endParaRPr lang="en-US" altLang="zh-CN" sz="2000" dirty="0"/>
          </a:p>
          <a:p>
            <a:pPr lvl="1"/>
            <a:r>
              <a:rPr lang="zh-CN" altLang="en-US" sz="2000" dirty="0"/>
              <a:t>负债久期短、资产久期长，严重不匹配</a:t>
            </a:r>
            <a:endParaRPr lang="en-US" altLang="zh-CN" sz="2000" dirty="0"/>
          </a:p>
          <a:p>
            <a:pPr lvl="1"/>
            <a:r>
              <a:rPr lang="zh-CN" altLang="en-US" sz="2000" dirty="0"/>
              <a:t>没有进行利率风险管理</a:t>
            </a:r>
          </a:p>
        </p:txBody>
      </p:sp>
    </p:spTree>
    <p:extLst>
      <p:ext uri="{BB962C8B-B14F-4D97-AF65-F5344CB8AC3E}">
        <p14:creationId xmlns:p14="http://schemas.microsoft.com/office/powerpoint/2010/main" val="922505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8.2 </a:t>
            </a:r>
            <a:r>
              <a:rPr lang="zh-CN" altLang="en-US" dirty="0" smtClean="0"/>
              <a:t>基本构成要素：纯贴现债券</a:t>
            </a:r>
            <a:endParaRPr lang="zh-CN" altLang="en-US" dirty="0"/>
          </a:p>
        </p:txBody>
      </p:sp>
      <p:sp>
        <p:nvSpPr>
          <p:cNvPr id="3" name="内容占位符 2"/>
          <p:cNvSpPr>
            <a:spLocks noGrp="1"/>
          </p:cNvSpPr>
          <p:nvPr>
            <p:ph idx="1"/>
          </p:nvPr>
        </p:nvSpPr>
        <p:spPr>
          <a:xfrm>
            <a:off x="838200" y="1825625"/>
            <a:ext cx="10515600" cy="2977381"/>
          </a:xfrm>
        </p:spPr>
        <p:txBody>
          <a:bodyPr/>
          <a:lstStyle/>
          <a:p>
            <a:r>
              <a:rPr lang="zh-CN" altLang="en-US" dirty="0" smtClean="0"/>
              <a:t>纯贴现债券与即期利率</a:t>
            </a:r>
            <a:endParaRPr lang="en-US" altLang="zh-CN" dirty="0" smtClean="0"/>
          </a:p>
          <a:p>
            <a:pPr lvl="1"/>
            <a:r>
              <a:rPr lang="zh-CN" altLang="en-US" dirty="0" smtClean="0"/>
              <a:t>所谓的纯贴现债券（零息债，没有票息的债券，</a:t>
            </a:r>
            <a:r>
              <a:rPr lang="en-US" altLang="zh-CN" dirty="0" smtClean="0"/>
              <a:t>zero-coupon bonds</a:t>
            </a:r>
            <a:r>
              <a:rPr lang="zh-CN" altLang="en-US" dirty="0" smtClean="0"/>
              <a:t>），就是仅在到期日支付一笔资金的债券</a:t>
            </a:r>
            <a:endParaRPr lang="en-US" altLang="zh-CN" dirty="0" smtClean="0"/>
          </a:p>
          <a:p>
            <a:pPr lvl="2"/>
            <a:r>
              <a:rPr lang="zh-CN" altLang="en-US" dirty="0" smtClean="0"/>
              <a:t>比如，美国的短期国库券，发行后的一年支付</a:t>
            </a:r>
            <a:r>
              <a:rPr lang="en-US" altLang="zh-CN" dirty="0" smtClean="0"/>
              <a:t>100</a:t>
            </a:r>
            <a:r>
              <a:rPr lang="zh-CN" altLang="en-US" dirty="0" smtClean="0"/>
              <a:t>美元</a:t>
            </a:r>
            <a:endParaRPr lang="en-US" altLang="zh-CN" dirty="0" smtClean="0"/>
          </a:p>
          <a:p>
            <a:pPr lvl="1"/>
            <a:r>
              <a:rPr lang="zh-CN" altLang="en-US" dirty="0" smtClean="0"/>
              <a:t>显然，这个到期支付的现金类似于终值</a:t>
            </a:r>
            <a:r>
              <a:rPr lang="en-US" altLang="zh-CN" dirty="0" smtClean="0"/>
              <a:t>FV</a:t>
            </a:r>
            <a:r>
              <a:rPr lang="zh-CN" altLang="en-US" dirty="0" smtClean="0"/>
              <a:t>，今天该债券的价格类似于现值</a:t>
            </a:r>
            <a:r>
              <a:rPr lang="en-US" altLang="zh-CN" dirty="0" smtClean="0"/>
              <a:t>PV</a:t>
            </a:r>
            <a:r>
              <a:rPr lang="zh-CN" altLang="en-US" dirty="0" smtClean="0"/>
              <a:t>，故有   </a:t>
            </a:r>
            <a:r>
              <a:rPr lang="en-US" altLang="zh-CN" dirty="0" smtClean="0"/>
              <a:t>FV = PV*(1+i)^t</a:t>
            </a:r>
          </a:p>
          <a:p>
            <a:pPr lvl="1"/>
            <a:r>
              <a:rPr lang="zh-CN" altLang="en-US" dirty="0" smtClean="0"/>
              <a:t>这个贴现率</a:t>
            </a:r>
            <a:r>
              <a:rPr lang="en-US" altLang="zh-CN" dirty="0" err="1" smtClean="0"/>
              <a:t>i</a:t>
            </a:r>
            <a:r>
              <a:rPr lang="zh-CN" altLang="en-US" dirty="0" smtClean="0"/>
              <a:t>就是对应到期时间为</a:t>
            </a:r>
            <a:r>
              <a:rPr lang="en-US" altLang="zh-CN" dirty="0" smtClean="0"/>
              <a:t>t</a:t>
            </a:r>
            <a:r>
              <a:rPr lang="zh-CN" altLang="en-US" dirty="0" smtClean="0"/>
              <a:t>的零息债收益率，或 即期利率</a:t>
            </a:r>
            <a:endParaRPr lang="en-US" altLang="zh-CN" dirty="0" smtClean="0"/>
          </a:p>
          <a:p>
            <a:endParaRPr lang="zh-CN" altLang="en-US" dirty="0"/>
          </a:p>
        </p:txBody>
      </p:sp>
    </p:spTree>
    <p:extLst>
      <p:ext uri="{BB962C8B-B14F-4D97-AF65-F5344CB8AC3E}">
        <p14:creationId xmlns:p14="http://schemas.microsoft.com/office/powerpoint/2010/main" val="1331381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895784"/>
          </a:xfrm>
        </p:spPr>
        <p:txBody>
          <a:bodyPr/>
          <a:lstStyle/>
          <a:p>
            <a:pPr algn="ctr"/>
            <a:r>
              <a:rPr lang="zh-CN" altLang="en-US" dirty="0" smtClean="0"/>
              <a:t>即期利率曲线</a:t>
            </a:r>
            <a:endParaRPr lang="zh-CN" altLang="en-US" dirty="0"/>
          </a:p>
        </p:txBody>
      </p:sp>
      <p:sp>
        <p:nvSpPr>
          <p:cNvPr id="3" name="内容占位符 2"/>
          <p:cNvSpPr>
            <a:spLocks noGrp="1"/>
          </p:cNvSpPr>
          <p:nvPr>
            <p:ph idx="1"/>
          </p:nvPr>
        </p:nvSpPr>
        <p:spPr>
          <a:xfrm>
            <a:off x="838200" y="1825625"/>
            <a:ext cx="10515600" cy="1880101"/>
          </a:xfrm>
        </p:spPr>
        <p:txBody>
          <a:bodyPr/>
          <a:lstStyle/>
          <a:p>
            <a:r>
              <a:rPr lang="zh-CN" altLang="en-US" sz="2000" dirty="0" smtClean="0"/>
              <a:t>不同到期时间的即期利率合在一起就成为了即期利率曲线</a:t>
            </a:r>
            <a:endParaRPr lang="en-US" altLang="zh-CN" sz="2000" dirty="0" smtClean="0"/>
          </a:p>
          <a:p>
            <a:endParaRPr lang="en-US" altLang="zh-CN" sz="2000" dirty="0"/>
          </a:p>
          <a:p>
            <a:r>
              <a:rPr lang="zh-CN" altLang="en-US" sz="2000" dirty="0" smtClean="0"/>
              <a:t>利率期限结构</a:t>
            </a:r>
            <a:endParaRPr lang="en-US" altLang="zh-CN" sz="2000" dirty="0" smtClean="0"/>
          </a:p>
          <a:p>
            <a:pPr lvl="1"/>
            <a:r>
              <a:rPr lang="zh-CN" altLang="en-US" sz="2000" dirty="0" smtClean="0"/>
              <a:t>指在在某一时点上，不同期限资金的收益率与到期期限之间的关系，表示为一条曲线，横轴为剩余期限，纵轴为到期收益率。</a:t>
            </a:r>
          </a:p>
          <a:p>
            <a:endParaRPr lang="en-US" altLang="zh-CN" dirty="0" smtClean="0"/>
          </a:p>
          <a:p>
            <a:endParaRPr lang="zh-CN" altLang="en-US" dirty="0"/>
          </a:p>
        </p:txBody>
      </p:sp>
      <p:pic>
        <p:nvPicPr>
          <p:cNvPr id="4" name="图片 3"/>
          <p:cNvPicPr>
            <a:picLocks noChangeAspect="1"/>
          </p:cNvPicPr>
          <p:nvPr/>
        </p:nvPicPr>
        <p:blipFill>
          <a:blip r:embed="rId2"/>
          <a:stretch>
            <a:fillRect/>
          </a:stretch>
        </p:blipFill>
        <p:spPr>
          <a:xfrm>
            <a:off x="2156057" y="3609473"/>
            <a:ext cx="6978315" cy="3152274"/>
          </a:xfrm>
          <a:prstGeom prst="rect">
            <a:avLst/>
          </a:prstGeom>
        </p:spPr>
      </p:pic>
    </p:spTree>
    <p:extLst>
      <p:ext uri="{BB962C8B-B14F-4D97-AF65-F5344CB8AC3E}">
        <p14:creationId xmlns:p14="http://schemas.microsoft.com/office/powerpoint/2010/main" val="3703792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即期利率曲线的种类</a:t>
            </a:r>
            <a:endParaRPr lang="zh-CN" altLang="en-US" dirty="0"/>
          </a:p>
        </p:txBody>
      </p:sp>
      <p:sp>
        <p:nvSpPr>
          <p:cNvPr id="3" name="内容占位符 2"/>
          <p:cNvSpPr>
            <a:spLocks noGrp="1"/>
          </p:cNvSpPr>
          <p:nvPr>
            <p:ph idx="1"/>
          </p:nvPr>
        </p:nvSpPr>
        <p:spPr/>
        <p:txBody>
          <a:bodyPr/>
          <a:lstStyle/>
          <a:p>
            <a:r>
              <a:rPr lang="zh-CN" altLang="en-US" dirty="0" smtClean="0"/>
              <a:t>国债即期利率曲线</a:t>
            </a:r>
            <a:endParaRPr lang="en-US" altLang="zh-CN" dirty="0" smtClean="0"/>
          </a:p>
          <a:p>
            <a:endParaRPr lang="en-US" altLang="zh-CN" dirty="0"/>
          </a:p>
          <a:p>
            <a:r>
              <a:rPr lang="zh-CN" altLang="en-US" dirty="0" smtClean="0"/>
              <a:t>企业债即期利率曲线</a:t>
            </a:r>
            <a:endParaRPr lang="en-US" altLang="zh-CN" dirty="0" smtClean="0"/>
          </a:p>
          <a:p>
            <a:pPr lvl="1"/>
            <a:r>
              <a:rPr lang="zh-CN" altLang="en-US" dirty="0" smtClean="0"/>
              <a:t>企业债具有违约风险，显然，在相同的期限下，国债即期利率低于企业债的即期利率</a:t>
            </a:r>
            <a:endParaRPr lang="zh-CN" altLang="en-US" dirty="0"/>
          </a:p>
        </p:txBody>
      </p:sp>
    </p:spTree>
    <p:extLst>
      <p:ext uri="{BB962C8B-B14F-4D97-AF65-F5344CB8AC3E}">
        <p14:creationId xmlns:p14="http://schemas.microsoft.com/office/powerpoint/2010/main" val="3362990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即期利率曲线已知情况下如何给债券估值</a:t>
            </a:r>
            <a:endParaRPr lang="zh-CN" altLang="en-US" dirty="0"/>
          </a:p>
        </p:txBody>
      </p:sp>
      <p:sp>
        <p:nvSpPr>
          <p:cNvPr id="3" name="内容占位符 2"/>
          <p:cNvSpPr>
            <a:spLocks noGrp="1"/>
          </p:cNvSpPr>
          <p:nvPr>
            <p:ph idx="1"/>
          </p:nvPr>
        </p:nvSpPr>
        <p:spPr>
          <a:xfrm>
            <a:off x="838200" y="3946357"/>
            <a:ext cx="10515600" cy="2230605"/>
          </a:xfrm>
        </p:spPr>
        <p:txBody>
          <a:bodyPr/>
          <a:lstStyle/>
          <a:p>
            <a:r>
              <a:rPr lang="zh-CN" altLang="en-US" dirty="0" smtClean="0"/>
              <a:t>某</a:t>
            </a:r>
            <a:r>
              <a:rPr lang="en-US" altLang="zh-CN" dirty="0" smtClean="0"/>
              <a:t>3</a:t>
            </a:r>
            <a:r>
              <a:rPr lang="zh-CN" altLang="en-US" dirty="0" smtClean="0"/>
              <a:t>年期债券每年支付</a:t>
            </a:r>
            <a:r>
              <a:rPr lang="en-US" altLang="zh-CN" dirty="0" smtClean="0"/>
              <a:t>100</a:t>
            </a:r>
            <a:r>
              <a:rPr lang="zh-CN" altLang="en-US" dirty="0" smtClean="0"/>
              <a:t>元（类似于</a:t>
            </a:r>
            <a:r>
              <a:rPr lang="en-US" altLang="zh-CN" dirty="0" smtClean="0"/>
              <a:t>3</a:t>
            </a:r>
            <a:r>
              <a:rPr lang="zh-CN" altLang="en-US" dirty="0" smtClean="0"/>
              <a:t>年期的年金）</a:t>
            </a:r>
            <a:endParaRPr lang="en-US" altLang="zh-CN" dirty="0" smtClean="0"/>
          </a:p>
          <a:p>
            <a:pPr lvl="1"/>
            <a:r>
              <a:rPr lang="en-US" altLang="zh-CN" dirty="0" smtClean="0"/>
              <a:t>100/1.0526 + 100/ power(1.066, 2) + 100/ power(1.0772, 3) = 263</a:t>
            </a:r>
          </a:p>
          <a:p>
            <a:r>
              <a:rPr lang="zh-CN" altLang="en-US" dirty="0" smtClean="0"/>
              <a:t>国债估值：考虑</a:t>
            </a:r>
            <a:r>
              <a:rPr lang="en-US" altLang="zh-CN" dirty="0" smtClean="0"/>
              <a:t>3</a:t>
            </a:r>
            <a:r>
              <a:rPr lang="zh-CN" altLang="en-US" dirty="0" smtClean="0"/>
              <a:t>年期国债，面值</a:t>
            </a:r>
            <a:r>
              <a:rPr lang="en-US" altLang="zh-CN" dirty="0" smtClean="0"/>
              <a:t>100</a:t>
            </a:r>
            <a:r>
              <a:rPr lang="zh-CN" altLang="en-US" dirty="0" smtClean="0"/>
              <a:t>元，每年利息</a:t>
            </a:r>
            <a:r>
              <a:rPr lang="en-US" altLang="zh-CN" dirty="0" smtClean="0"/>
              <a:t>5</a:t>
            </a:r>
            <a:r>
              <a:rPr lang="zh-CN" altLang="en-US" dirty="0" smtClean="0"/>
              <a:t>元</a:t>
            </a:r>
            <a:endParaRPr lang="en-US" altLang="zh-CN" dirty="0" smtClean="0"/>
          </a:p>
          <a:p>
            <a:pPr lvl="1"/>
            <a:r>
              <a:rPr lang="en-US" altLang="zh-CN" dirty="0" smtClean="0"/>
              <a:t>5/1.0526 + 5/ POWER(1.066, 2) + 105/ POWER(1.0772, 3) = 93.15</a:t>
            </a:r>
            <a:endParaRPr lang="zh-CN" altLang="en-US" dirty="0"/>
          </a:p>
        </p:txBody>
      </p:sp>
      <p:pic>
        <p:nvPicPr>
          <p:cNvPr id="4" name="图片 3"/>
          <p:cNvPicPr>
            <a:picLocks noChangeAspect="1"/>
          </p:cNvPicPr>
          <p:nvPr/>
        </p:nvPicPr>
        <p:blipFill>
          <a:blip r:embed="rId2"/>
          <a:stretch>
            <a:fillRect/>
          </a:stretch>
        </p:blipFill>
        <p:spPr>
          <a:xfrm>
            <a:off x="2358189" y="1670122"/>
            <a:ext cx="7421077" cy="1650594"/>
          </a:xfrm>
          <a:prstGeom prst="rect">
            <a:avLst/>
          </a:prstGeom>
        </p:spPr>
      </p:pic>
    </p:spTree>
    <p:extLst>
      <p:ext uri="{BB962C8B-B14F-4D97-AF65-F5344CB8AC3E}">
        <p14:creationId xmlns:p14="http://schemas.microsoft.com/office/powerpoint/2010/main" val="308762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pPr algn="ctr"/>
            <a:r>
              <a:rPr lang="zh-CN" altLang="en-US" dirty="0" smtClean="0">
                <a:ea typeface="宋体" panose="02010600030101010101" pitchFamily="2" charset="-122"/>
              </a:rPr>
              <a:t>即期利率曲线的重要性</a:t>
            </a:r>
          </a:p>
        </p:txBody>
      </p:sp>
      <p:sp>
        <p:nvSpPr>
          <p:cNvPr id="9219" name="内容占位符 2"/>
          <p:cNvSpPr>
            <a:spLocks noGrp="1"/>
          </p:cNvSpPr>
          <p:nvPr>
            <p:ph idx="1"/>
          </p:nvPr>
        </p:nvSpPr>
        <p:spPr/>
        <p:txBody>
          <a:bodyPr/>
          <a:lstStyle/>
          <a:p>
            <a:r>
              <a:rPr lang="zh-CN" altLang="en-US" dirty="0" smtClean="0">
                <a:ea typeface="宋体" panose="02010600030101010101" pitchFamily="2" charset="-122"/>
              </a:rPr>
              <a:t>固定收益证券的估值要点</a:t>
            </a:r>
            <a:endParaRPr lang="en-US" altLang="zh-CN" dirty="0" smtClean="0">
              <a:ea typeface="宋体" panose="02010600030101010101" pitchFamily="2" charset="-122"/>
            </a:endParaRPr>
          </a:p>
          <a:p>
            <a:pPr lvl="1"/>
            <a:r>
              <a:rPr lang="zh-CN" altLang="en-US" dirty="0" smtClean="0">
                <a:ea typeface="宋体" panose="02010600030101010101" pitchFamily="2" charset="-122"/>
              </a:rPr>
              <a:t>由于分子（票息和本金）已知，需要估计的就是分母</a:t>
            </a:r>
            <a:r>
              <a:rPr lang="en-US" altLang="zh-CN" dirty="0" smtClean="0">
                <a:ea typeface="宋体" panose="02010600030101010101" pitchFamily="2" charset="-122"/>
              </a:rPr>
              <a:t>——</a:t>
            </a:r>
            <a:r>
              <a:rPr lang="zh-CN" altLang="en-US" dirty="0" smtClean="0">
                <a:ea typeface="宋体" panose="02010600030101010101" pitchFamily="2" charset="-122"/>
              </a:rPr>
              <a:t>贴现率，估计出即期利率曲线后，把票息和本金用相应期限的即期利率贴现并加总即得到固定收益证券的现值</a:t>
            </a:r>
            <a:endParaRPr lang="en-US" altLang="zh-CN" dirty="0" smtClean="0">
              <a:ea typeface="宋体" panose="02010600030101010101" pitchFamily="2" charset="-122"/>
            </a:endParaRPr>
          </a:p>
          <a:p>
            <a:pPr lvl="1"/>
            <a:r>
              <a:rPr lang="zh-CN" altLang="en-US" dirty="0" smtClean="0">
                <a:ea typeface="宋体" panose="02010600030101010101" pitchFamily="2" charset="-122"/>
              </a:rPr>
              <a:t>因此固定收益证券估值的基础是估计即期利率曲线</a:t>
            </a:r>
            <a:r>
              <a:rPr lang="en-US" altLang="zh-CN" dirty="0" smtClean="0">
                <a:ea typeface="宋体" panose="02010600030101010101" pitchFamily="2" charset="-122"/>
              </a:rPr>
              <a:t>——zero rates</a:t>
            </a:r>
          </a:p>
          <a:p>
            <a:pPr lvl="2"/>
            <a:r>
              <a:rPr lang="zh-CN" altLang="en-US" dirty="0" smtClean="0">
                <a:ea typeface="宋体" panose="02010600030101010101" pitchFamily="2" charset="-122"/>
              </a:rPr>
              <a:t>即期利率曲线的估计在技术上比较困难</a:t>
            </a:r>
            <a:endParaRPr lang="en-US" altLang="zh-CN" dirty="0" smtClean="0">
              <a:ea typeface="宋体" panose="02010600030101010101" pitchFamily="2" charset="-122"/>
            </a:endParaRPr>
          </a:p>
          <a:p>
            <a:pPr lvl="1"/>
            <a:r>
              <a:rPr lang="zh-CN" altLang="en-US" dirty="0" smtClean="0">
                <a:ea typeface="宋体" panose="02010600030101010101" pitchFamily="2" charset="-122"/>
              </a:rPr>
              <a:t>幸运的是，市场提供了即期利率曲线数据</a:t>
            </a:r>
            <a:endParaRPr lang="en-US" altLang="zh-CN" dirty="0" smtClean="0">
              <a:ea typeface="宋体" panose="02010600030101010101" pitchFamily="2" charset="-122"/>
            </a:endParaRPr>
          </a:p>
          <a:p>
            <a:pPr lvl="2"/>
            <a:r>
              <a:rPr lang="zh-CN" altLang="en-US" dirty="0" smtClean="0">
                <a:ea typeface="宋体" panose="02010600030101010101" pitchFamily="2" charset="-122"/>
              </a:rPr>
              <a:t>比如，中国债券网     </a:t>
            </a:r>
            <a:r>
              <a:rPr lang="en-US" altLang="zh-CN" dirty="0" smtClean="0">
                <a:ea typeface="宋体" panose="02010600030101010101" pitchFamily="2" charset="-122"/>
              </a:rPr>
              <a:t>www.chinabond.com.cn</a:t>
            </a:r>
            <a:endParaRPr lang="zh-CN" altLang="en-US" dirty="0" smtClean="0">
              <a:ea typeface="宋体" panose="02010600030101010101" pitchFamily="2" charset="-122"/>
            </a:endParaRPr>
          </a:p>
        </p:txBody>
      </p:sp>
      <p:sp>
        <p:nvSpPr>
          <p:cNvPr id="9221"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zh-CN" sz="1800">
                <a:solidFill>
                  <a:schemeClr val="bg1"/>
                </a:solidFill>
                <a:latin typeface="Arial" panose="020B0604020202020204" pitchFamily="34" charset="0"/>
              </a:rPr>
              <a:t>7-</a:t>
            </a:r>
            <a:fld id="{BDDAE21D-E1FA-467B-8618-CFDBD29D07A9}" type="slidenum">
              <a:rPr lang="en-US" altLang="zh-CN" sz="1800">
                <a:solidFill>
                  <a:schemeClr val="bg1"/>
                </a:solidFill>
                <a:latin typeface="Arial" panose="020B0604020202020204" pitchFamily="34" charset="0"/>
              </a:rPr>
              <a:pPr>
                <a:spcBef>
                  <a:spcPct val="0"/>
                </a:spcBef>
                <a:buFontTx/>
                <a:buNone/>
              </a:pPr>
              <a:t>28</a:t>
            </a:fld>
            <a:endParaRPr lang="en-US" altLang="zh-CN" sz="1800">
              <a:solidFill>
                <a:schemeClr val="bg1"/>
              </a:solidFill>
              <a:latin typeface="Arial" panose="020B0604020202020204" pitchFamily="34" charset="0"/>
            </a:endParaRPr>
          </a:p>
        </p:txBody>
      </p:sp>
    </p:spTree>
    <p:extLst>
      <p:ext uri="{BB962C8B-B14F-4D97-AF65-F5344CB8AC3E}">
        <p14:creationId xmlns:p14="http://schemas.microsoft.com/office/powerpoint/2010/main" val="3517070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693654"/>
          </a:xfrm>
        </p:spPr>
        <p:txBody>
          <a:bodyPr>
            <a:normAutofit fontScale="90000"/>
          </a:bodyPr>
          <a:lstStyle/>
          <a:p>
            <a:pPr algn="ctr"/>
            <a:r>
              <a:rPr lang="zh-CN" altLang="en-US" dirty="0" smtClean="0"/>
              <a:t>中国即期利率曲线</a:t>
            </a:r>
            <a:r>
              <a:rPr lang="en-US" altLang="zh-CN" dirty="0" smtClean="0"/>
              <a:t>(</a:t>
            </a:r>
            <a:r>
              <a:rPr lang="zh-CN" altLang="en-US" sz="3900" dirty="0" smtClean="0"/>
              <a:t>国债 </a:t>
            </a:r>
            <a:r>
              <a:rPr lang="en-US" altLang="zh-CN" sz="3900" dirty="0" smtClean="0"/>
              <a:t>&amp; AAA</a:t>
            </a:r>
            <a:r>
              <a:rPr lang="zh-CN" altLang="en-US" sz="3900" dirty="0" smtClean="0"/>
              <a:t>企业债</a:t>
            </a:r>
            <a:r>
              <a:rPr lang="en-US" altLang="zh-CN" sz="3900" dirty="0" smtClean="0"/>
              <a:t>, 2025-3-14</a:t>
            </a:r>
            <a:r>
              <a:rPr lang="en-US" altLang="zh-CN" dirty="0" smtClean="0"/>
              <a:t>)</a:t>
            </a:r>
            <a:endParaRPr lang="zh-CN" altLang="en-US" dirty="0"/>
          </a:p>
        </p:txBody>
      </p:sp>
      <p:sp>
        <p:nvSpPr>
          <p:cNvPr id="3" name="内容占位符 2"/>
          <p:cNvSpPr>
            <a:spLocks noGrp="1"/>
          </p:cNvSpPr>
          <p:nvPr>
            <p:ph idx="1"/>
          </p:nvPr>
        </p:nvSpPr>
        <p:spPr>
          <a:xfrm>
            <a:off x="838200" y="1058780"/>
            <a:ext cx="10515600" cy="599941"/>
          </a:xfrm>
        </p:spPr>
        <p:txBody>
          <a:bodyPr/>
          <a:lstStyle/>
          <a:p>
            <a:r>
              <a:rPr lang="en-US" altLang="zh-CN" dirty="0"/>
              <a:t>https://yield.chinabond.com.cn/cbweb-mn/yield_main?locale=zh_CN</a:t>
            </a:r>
            <a:endParaRPr lang="zh-CN" altLang="en-US" dirty="0"/>
          </a:p>
        </p:txBody>
      </p:sp>
      <p:pic>
        <p:nvPicPr>
          <p:cNvPr id="4" name="图片 3"/>
          <p:cNvPicPr>
            <a:picLocks noChangeAspect="1"/>
          </p:cNvPicPr>
          <p:nvPr/>
        </p:nvPicPr>
        <p:blipFill>
          <a:blip r:embed="rId2"/>
          <a:stretch>
            <a:fillRect/>
          </a:stretch>
        </p:blipFill>
        <p:spPr>
          <a:xfrm>
            <a:off x="838200" y="1504784"/>
            <a:ext cx="10439400" cy="5134141"/>
          </a:xfrm>
          <a:prstGeom prst="rect">
            <a:avLst/>
          </a:prstGeom>
        </p:spPr>
      </p:pic>
    </p:spTree>
    <p:extLst>
      <p:ext uri="{BB962C8B-B14F-4D97-AF65-F5344CB8AC3E}">
        <p14:creationId xmlns:p14="http://schemas.microsoft.com/office/powerpoint/2010/main" val="3949377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800" dirty="0" smtClean="0"/>
              <a:t>强调！要使用即期利率曲线给固定收益证券估值</a:t>
            </a:r>
            <a:endParaRPr lang="zh-CN" altLang="en-US" sz="3800" dirty="0"/>
          </a:p>
        </p:txBody>
      </p:sp>
      <p:graphicFrame>
        <p:nvGraphicFramePr>
          <p:cNvPr id="4" name="对象 3"/>
          <p:cNvGraphicFramePr>
            <a:graphicFrameLocks noChangeAspect="1"/>
          </p:cNvGraphicFramePr>
          <p:nvPr>
            <p:extLst>
              <p:ext uri="{D42A27DB-BD31-4B8C-83A1-F6EECF244321}">
                <p14:modId xmlns:p14="http://schemas.microsoft.com/office/powerpoint/2010/main" val="1922809099"/>
              </p:ext>
            </p:extLst>
          </p:nvPr>
        </p:nvGraphicFramePr>
        <p:xfrm>
          <a:off x="912813" y="2655888"/>
          <a:ext cx="10614025" cy="2114550"/>
        </p:xfrm>
        <a:graphic>
          <a:graphicData uri="http://schemas.openxmlformats.org/presentationml/2006/ole">
            <mc:AlternateContent xmlns:mc="http://schemas.openxmlformats.org/markup-compatibility/2006">
              <mc:Choice xmlns:v="urn:schemas-microsoft-com:vml" Requires="v">
                <p:oleObj spid="_x0000_s1093" name="Equation" r:id="rId3" imgW="4698720" imgH="952200" progId="Equation.DSMT4">
                  <p:embed/>
                </p:oleObj>
              </mc:Choice>
              <mc:Fallback>
                <p:oleObj name="Equation" r:id="rId3" imgW="4698720" imgH="952200" progId="Equation.DSMT4">
                  <p:embed/>
                  <p:pic>
                    <p:nvPicPr>
                      <p:cNvPr id="0" name=""/>
                      <p:cNvPicPr/>
                      <p:nvPr/>
                    </p:nvPicPr>
                    <p:blipFill>
                      <a:blip r:embed="rId4"/>
                      <a:stretch>
                        <a:fillRect/>
                      </a:stretch>
                    </p:blipFill>
                    <p:spPr>
                      <a:xfrm>
                        <a:off x="912813" y="2655888"/>
                        <a:ext cx="10614025" cy="2114550"/>
                      </a:xfrm>
                      <a:prstGeom prst="rect">
                        <a:avLst/>
                      </a:prstGeom>
                    </p:spPr>
                  </p:pic>
                </p:oleObj>
              </mc:Fallback>
            </mc:AlternateContent>
          </a:graphicData>
        </a:graphic>
      </p:graphicFrame>
    </p:spTree>
    <p:extLst>
      <p:ext uri="{BB962C8B-B14F-4D97-AF65-F5344CB8AC3E}">
        <p14:creationId xmlns:p14="http://schemas.microsoft.com/office/powerpoint/2010/main" val="1526184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algn="ctr"/>
            <a:r>
              <a:rPr lang="zh-CN" altLang="en-US" dirty="0" smtClean="0">
                <a:ea typeface="宋体" panose="02010600030101010101" pitchFamily="2" charset="-122"/>
              </a:rPr>
              <a:t>例子</a:t>
            </a:r>
          </a:p>
        </p:txBody>
      </p:sp>
      <p:sp>
        <p:nvSpPr>
          <p:cNvPr id="3" name="内容占位符 2"/>
          <p:cNvSpPr>
            <a:spLocks noGrp="1"/>
          </p:cNvSpPr>
          <p:nvPr>
            <p:ph idx="1"/>
          </p:nvPr>
        </p:nvSpPr>
        <p:spPr/>
        <p:txBody>
          <a:bodyPr>
            <a:normAutofit lnSpcReduction="10000"/>
          </a:bodyPr>
          <a:lstStyle/>
          <a:p>
            <a:pPr>
              <a:defRPr/>
            </a:pPr>
            <a:r>
              <a:rPr lang="zh-CN" altLang="en-US" sz="2500" dirty="0" smtClean="0">
                <a:ea typeface="宋体" pitchFamily="2" charset="-122"/>
              </a:rPr>
              <a:t>考虑一个三年期的国债，每年支付利息</a:t>
            </a:r>
            <a:r>
              <a:rPr lang="en-US" altLang="zh-CN" sz="2500" dirty="0" smtClean="0">
                <a:ea typeface="宋体" pitchFamily="2" charset="-122"/>
              </a:rPr>
              <a:t>10</a:t>
            </a:r>
            <a:r>
              <a:rPr lang="zh-CN" altLang="en-US" sz="2500" dirty="0" smtClean="0">
                <a:ea typeface="宋体" pitchFamily="2" charset="-122"/>
              </a:rPr>
              <a:t>元，本金</a:t>
            </a:r>
            <a:r>
              <a:rPr lang="en-US" altLang="zh-CN" sz="2500" dirty="0" smtClean="0">
                <a:ea typeface="宋体" pitchFamily="2" charset="-122"/>
              </a:rPr>
              <a:t>100</a:t>
            </a:r>
            <a:r>
              <a:rPr lang="zh-CN" altLang="en-US" sz="2500" dirty="0" smtClean="0">
                <a:ea typeface="宋体" pitchFamily="2" charset="-122"/>
              </a:rPr>
              <a:t>元</a:t>
            </a:r>
            <a:endParaRPr lang="en-US" altLang="zh-CN" sz="2500" dirty="0" smtClean="0">
              <a:ea typeface="宋体" pitchFamily="2" charset="-122"/>
            </a:endParaRPr>
          </a:p>
          <a:p>
            <a:pPr lvl="2">
              <a:defRPr/>
            </a:pPr>
            <a:r>
              <a:rPr lang="zh-CN" altLang="en-US" dirty="0" smtClean="0">
                <a:ea typeface="+mn-ea"/>
                <a:cs typeface="+mn-cs"/>
              </a:rPr>
              <a:t>即期利率曲线如下</a:t>
            </a:r>
            <a:endParaRPr lang="en-US" altLang="zh-CN" dirty="0" smtClean="0">
              <a:ea typeface="+mn-ea"/>
              <a:cs typeface="+mn-cs"/>
            </a:endParaRPr>
          </a:p>
          <a:p>
            <a:pPr lvl="3">
              <a:defRPr/>
            </a:pPr>
            <a:r>
              <a:rPr lang="zh-CN" altLang="en-US" i="1" dirty="0" smtClean="0">
                <a:ea typeface="+mn-ea"/>
                <a:cs typeface="+mn-cs"/>
              </a:rPr>
              <a:t>到期时间（年）</a:t>
            </a:r>
            <a:r>
              <a:rPr lang="en-US" altLang="zh-CN" i="1" dirty="0" smtClean="0">
                <a:ea typeface="+mn-ea"/>
                <a:cs typeface="+mn-cs"/>
              </a:rPr>
              <a:t>    </a:t>
            </a:r>
            <a:r>
              <a:rPr lang="zh-CN" altLang="en-US" i="1" dirty="0" smtClean="0">
                <a:ea typeface="+mn-ea"/>
                <a:cs typeface="+mn-cs"/>
              </a:rPr>
              <a:t>即期利率</a:t>
            </a:r>
            <a:r>
              <a:rPr lang="en-US" altLang="zh-CN" i="1" dirty="0" smtClean="0">
                <a:ea typeface="+mn-ea"/>
                <a:cs typeface="+mn-cs"/>
              </a:rPr>
              <a:t>(%)</a:t>
            </a:r>
          </a:p>
          <a:p>
            <a:pPr lvl="3">
              <a:defRPr/>
            </a:pPr>
            <a:r>
              <a:rPr lang="en-US" altLang="zh-CN" dirty="0" smtClean="0">
                <a:ea typeface="+mn-ea"/>
                <a:cs typeface="+mn-cs"/>
              </a:rPr>
              <a:t>1                               6.0</a:t>
            </a:r>
          </a:p>
          <a:p>
            <a:pPr lvl="3">
              <a:defRPr/>
            </a:pPr>
            <a:r>
              <a:rPr lang="en-US" altLang="zh-CN" dirty="0" smtClean="0">
                <a:ea typeface="+mn-ea"/>
                <a:cs typeface="+mn-cs"/>
              </a:rPr>
              <a:t>2                               6.5</a:t>
            </a:r>
          </a:p>
          <a:p>
            <a:pPr lvl="3">
              <a:defRPr/>
            </a:pPr>
            <a:r>
              <a:rPr lang="en-US" altLang="zh-CN" dirty="0" smtClean="0">
                <a:ea typeface="+mn-ea"/>
                <a:cs typeface="+mn-cs"/>
              </a:rPr>
              <a:t>3                               7.0</a:t>
            </a:r>
          </a:p>
          <a:p>
            <a:pPr>
              <a:defRPr/>
            </a:pPr>
            <a:r>
              <a:rPr lang="zh-CN" altLang="en-US" dirty="0" smtClean="0"/>
              <a:t>债券的价值</a:t>
            </a:r>
            <a:r>
              <a:rPr lang="en-US" altLang="zh-CN" sz="2000" dirty="0" smtClean="0"/>
              <a:t>=10/1.06+10/POWER(1.065,2</a:t>
            </a:r>
            <a:r>
              <a:rPr lang="en-US" altLang="zh-CN" sz="2000" dirty="0"/>
              <a:t>)+110/POWER(1.07,3)=</a:t>
            </a:r>
            <a:r>
              <a:rPr lang="en-US" altLang="zh-CN" sz="2000" dirty="0" smtClean="0"/>
              <a:t>108.0433</a:t>
            </a:r>
          </a:p>
          <a:p>
            <a:pPr>
              <a:defRPr/>
            </a:pPr>
            <a:endParaRPr lang="en-US" altLang="zh-CN" sz="2000" dirty="0" smtClean="0"/>
          </a:p>
          <a:p>
            <a:pPr>
              <a:defRPr/>
            </a:pPr>
            <a:r>
              <a:rPr lang="zh-CN" altLang="en-US" sz="2000" dirty="0" smtClean="0"/>
              <a:t>如果该债券的价格为</a:t>
            </a:r>
            <a:r>
              <a:rPr lang="en-US" altLang="zh-CN" sz="2000" dirty="0" smtClean="0"/>
              <a:t>105</a:t>
            </a:r>
            <a:r>
              <a:rPr lang="zh-CN" altLang="en-US" sz="2000" dirty="0" smtClean="0"/>
              <a:t>元，就可以无风险套利</a:t>
            </a:r>
            <a:endParaRPr lang="en-US" altLang="zh-CN" sz="2000" dirty="0" smtClean="0"/>
          </a:p>
          <a:p>
            <a:pPr lvl="1">
              <a:defRPr/>
            </a:pPr>
            <a:r>
              <a:rPr lang="zh-CN" altLang="en-US" sz="1600" dirty="0" smtClean="0"/>
              <a:t>做多上述国债</a:t>
            </a:r>
            <a:endParaRPr lang="en-US" altLang="zh-CN" sz="1600" dirty="0" smtClean="0"/>
          </a:p>
          <a:p>
            <a:pPr lvl="1">
              <a:defRPr/>
            </a:pPr>
            <a:r>
              <a:rPr lang="zh-CN" altLang="en-US" sz="1600" dirty="0"/>
              <a:t>做</a:t>
            </a:r>
            <a:r>
              <a:rPr lang="zh-CN" altLang="en-US" sz="1600" dirty="0" smtClean="0"/>
              <a:t>空：面值</a:t>
            </a:r>
            <a:r>
              <a:rPr lang="en-US" altLang="zh-CN" sz="1600" dirty="0" smtClean="0"/>
              <a:t>10</a:t>
            </a:r>
            <a:r>
              <a:rPr lang="zh-CN" altLang="en-US" sz="1600" dirty="0" smtClean="0"/>
              <a:t>元的一年期零息债、面值</a:t>
            </a:r>
            <a:r>
              <a:rPr lang="en-US" altLang="zh-CN" sz="1600" dirty="0" smtClean="0"/>
              <a:t>10</a:t>
            </a:r>
            <a:r>
              <a:rPr lang="zh-CN" altLang="en-US" sz="1600" dirty="0" smtClean="0"/>
              <a:t>元的二年期零息债</a:t>
            </a:r>
            <a:r>
              <a:rPr lang="zh-CN" altLang="en-US" sz="1600" dirty="0"/>
              <a:t>、</a:t>
            </a:r>
            <a:r>
              <a:rPr lang="zh-CN" altLang="en-US" sz="1600" dirty="0" smtClean="0"/>
              <a:t>面值</a:t>
            </a:r>
            <a:r>
              <a:rPr lang="en-US" altLang="zh-CN" sz="1600" dirty="0" smtClean="0"/>
              <a:t>10</a:t>
            </a:r>
            <a:r>
              <a:rPr lang="zh-CN" altLang="en-US" sz="1600" dirty="0"/>
              <a:t>元的三年</a:t>
            </a:r>
            <a:r>
              <a:rPr lang="zh-CN" altLang="en-US" sz="1600" dirty="0" smtClean="0"/>
              <a:t>期零息债、面值</a:t>
            </a:r>
            <a:r>
              <a:rPr lang="en-US" altLang="zh-CN" sz="1600" dirty="0" smtClean="0"/>
              <a:t>100</a:t>
            </a:r>
            <a:r>
              <a:rPr lang="zh-CN" altLang="en-US" sz="1600" dirty="0" smtClean="0"/>
              <a:t>元的</a:t>
            </a:r>
            <a:r>
              <a:rPr lang="zh-CN" altLang="en-US" sz="1600" dirty="0"/>
              <a:t>三年</a:t>
            </a:r>
            <a:r>
              <a:rPr lang="zh-CN" altLang="en-US" sz="1600" dirty="0" smtClean="0"/>
              <a:t>期零息债</a:t>
            </a:r>
            <a:endParaRPr lang="en-US" altLang="zh-CN" sz="1600" dirty="0" smtClean="0"/>
          </a:p>
          <a:p>
            <a:pPr lvl="1">
              <a:defRPr/>
            </a:pPr>
            <a:r>
              <a:rPr lang="zh-CN" altLang="en-US" sz="1600" dirty="0" smtClean="0"/>
              <a:t>不考虑交易成本，马上就可以净赚 </a:t>
            </a:r>
            <a:r>
              <a:rPr lang="en-US" altLang="zh-CN" sz="1600" dirty="0" smtClean="0"/>
              <a:t>3.0433</a:t>
            </a:r>
            <a:endParaRPr lang="en-US" altLang="zh-CN" sz="1600" dirty="0"/>
          </a:p>
        </p:txBody>
      </p:sp>
      <p:sp>
        <p:nvSpPr>
          <p:cNvPr id="25605"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zh-CN" sz="1800">
                <a:solidFill>
                  <a:schemeClr val="bg1"/>
                </a:solidFill>
                <a:latin typeface="Arial" panose="020B0604020202020204" pitchFamily="34" charset="0"/>
              </a:rPr>
              <a:t>7-</a:t>
            </a:r>
            <a:fld id="{E44F122F-A036-437E-9FF6-9FE8692ACFA2}" type="slidenum">
              <a:rPr lang="en-US" altLang="zh-CN" sz="1800">
                <a:solidFill>
                  <a:schemeClr val="bg1"/>
                </a:solidFill>
                <a:latin typeface="Arial" panose="020B0604020202020204" pitchFamily="34" charset="0"/>
              </a:rPr>
              <a:pPr>
                <a:spcBef>
                  <a:spcPct val="0"/>
                </a:spcBef>
                <a:buFontTx/>
                <a:buNone/>
              </a:pPr>
              <a:t>31</a:t>
            </a:fld>
            <a:endParaRPr lang="en-US" altLang="zh-CN" sz="1800">
              <a:solidFill>
                <a:schemeClr val="bg1"/>
              </a:solidFill>
              <a:latin typeface="Arial" panose="020B0604020202020204" pitchFamily="34" charset="0"/>
            </a:endParaRPr>
          </a:p>
        </p:txBody>
      </p:sp>
    </p:spTree>
    <p:extLst>
      <p:ext uri="{BB962C8B-B14F-4D97-AF65-F5344CB8AC3E}">
        <p14:creationId xmlns:p14="http://schemas.microsoft.com/office/powerpoint/2010/main" val="12322766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850520" y="537131"/>
            <a:ext cx="8891273" cy="1031786"/>
          </a:xfrm>
        </p:spPr>
        <p:txBody>
          <a:bodyPr>
            <a:normAutofit/>
          </a:bodyPr>
          <a:lstStyle/>
          <a:p>
            <a:pPr algn="ctr"/>
            <a:r>
              <a:rPr lang="en-US" altLang="zh-CN" sz="3500" dirty="0" smtClean="0"/>
              <a:t>8.3 </a:t>
            </a:r>
            <a:r>
              <a:rPr lang="zh-CN" altLang="en-US" sz="3500" dirty="0" smtClean="0"/>
              <a:t>附息债券、当期收益率和到期收益率</a:t>
            </a:r>
            <a:endParaRPr lang="zh-CN" altLang="en-US" sz="3500" dirty="0"/>
          </a:p>
        </p:txBody>
      </p:sp>
      <p:sp>
        <p:nvSpPr>
          <p:cNvPr id="10243" name="Rectangle 3"/>
          <p:cNvSpPr>
            <a:spLocks noGrp="1" noChangeArrowheads="1"/>
          </p:cNvSpPr>
          <p:nvPr>
            <p:ph type="body" sz="half" idx="1"/>
          </p:nvPr>
        </p:nvSpPr>
        <p:spPr>
          <a:xfrm>
            <a:off x="2782888" y="1989138"/>
            <a:ext cx="7561262" cy="4114800"/>
          </a:xfrm>
        </p:spPr>
        <p:txBody>
          <a:bodyPr/>
          <a:lstStyle/>
          <a:p>
            <a:r>
              <a:rPr lang="zh-CN" altLang="en-US" dirty="0"/>
              <a:t>付息债券</a:t>
            </a:r>
          </a:p>
          <a:p>
            <a:endParaRPr lang="en-US" altLang="zh-CN" dirty="0" smtClean="0"/>
          </a:p>
          <a:p>
            <a:endParaRPr lang="zh-CN" altLang="en-US" dirty="0"/>
          </a:p>
          <a:p>
            <a:r>
              <a:rPr lang="zh-CN" altLang="en-US" dirty="0" smtClean="0"/>
              <a:t>当期</a:t>
            </a:r>
            <a:r>
              <a:rPr lang="zh-CN" altLang="en-US" dirty="0"/>
              <a:t>收益率：年支付利息</a:t>
            </a:r>
            <a:r>
              <a:rPr lang="en-US" altLang="zh-CN" dirty="0"/>
              <a:t>/</a:t>
            </a:r>
            <a:r>
              <a:rPr lang="zh-CN" altLang="en-US" dirty="0"/>
              <a:t>债券当前价格</a:t>
            </a:r>
          </a:p>
          <a:p>
            <a:r>
              <a:rPr lang="zh-CN" altLang="en-US" dirty="0" smtClean="0"/>
              <a:t>到期收益率：</a:t>
            </a:r>
            <a:endParaRPr lang="zh-CN" altLang="en-US" dirty="0"/>
          </a:p>
          <a:p>
            <a:endParaRPr lang="en-US" altLang="zh-CN" dirty="0"/>
          </a:p>
        </p:txBody>
      </p:sp>
      <p:graphicFrame>
        <p:nvGraphicFramePr>
          <p:cNvPr id="10244" name="Object 4"/>
          <p:cNvGraphicFramePr>
            <a:graphicFrameLocks noGrp="1" noChangeAspect="1"/>
          </p:cNvGraphicFramePr>
          <p:nvPr>
            <p:ph sz="half" idx="2"/>
            <p:extLst>
              <p:ext uri="{D42A27DB-BD31-4B8C-83A1-F6EECF244321}">
                <p14:modId xmlns:p14="http://schemas.microsoft.com/office/powerpoint/2010/main" val="492976389"/>
              </p:ext>
            </p:extLst>
          </p:nvPr>
        </p:nvGraphicFramePr>
        <p:xfrm>
          <a:off x="5349875" y="4192588"/>
          <a:ext cx="2879725" cy="1630362"/>
        </p:xfrm>
        <a:graphic>
          <a:graphicData uri="http://schemas.openxmlformats.org/presentationml/2006/ole">
            <mc:AlternateContent xmlns:mc="http://schemas.openxmlformats.org/markup-compatibility/2006">
              <mc:Choice xmlns:v="urn:schemas-microsoft-com:vml" Requires="v">
                <p:oleObj spid="_x0000_s2115" name="Equation" r:id="rId3" imgW="2869920" imgH="1625400" progId="Equation.DSMT4">
                  <p:embed/>
                </p:oleObj>
              </mc:Choice>
              <mc:Fallback>
                <p:oleObj name="Equation" r:id="rId3" imgW="2869920" imgH="1625400" progId="Equation.DSMT4">
                  <p:embed/>
                  <p:pic>
                    <p:nvPicPr>
                      <p:cNvPr id="0" name=""/>
                      <p:cNvPicPr>
                        <a:picLocks noChangeAspect="1" noChangeArrowheads="1"/>
                      </p:cNvPicPr>
                      <p:nvPr/>
                    </p:nvPicPr>
                    <p:blipFill>
                      <a:blip r:embed="rId4"/>
                      <a:srcRect/>
                      <a:stretch>
                        <a:fillRect/>
                      </a:stretch>
                    </p:blipFill>
                    <p:spPr bwMode="auto">
                      <a:xfrm>
                        <a:off x="5349875" y="4192588"/>
                        <a:ext cx="2879725" cy="1630362"/>
                      </a:xfrm>
                      <a:prstGeom prst="rect">
                        <a:avLst/>
                      </a:prstGeom>
                      <a:noFill/>
                      <a:ln>
                        <a:noFill/>
                      </a:ln>
                      <a:effectLst/>
                      <a:extLst/>
                    </p:spPr>
                  </p:pic>
                </p:oleObj>
              </mc:Fallback>
            </mc:AlternateContent>
          </a:graphicData>
        </a:graphic>
      </p:graphicFrame>
      <p:pic>
        <p:nvPicPr>
          <p:cNvPr id="2" name="图片 1"/>
          <p:cNvPicPr>
            <a:picLocks noChangeAspect="1"/>
          </p:cNvPicPr>
          <p:nvPr/>
        </p:nvPicPr>
        <p:blipFill>
          <a:blip r:embed="rId5"/>
          <a:stretch>
            <a:fillRect/>
          </a:stretch>
        </p:blipFill>
        <p:spPr>
          <a:xfrm>
            <a:off x="4928134" y="1786768"/>
            <a:ext cx="5996539" cy="1322192"/>
          </a:xfrm>
          <a:prstGeom prst="rect">
            <a:avLst/>
          </a:prstGeom>
        </p:spPr>
      </p:pic>
    </p:spTree>
    <p:extLst>
      <p:ext uri="{BB962C8B-B14F-4D97-AF65-F5344CB8AC3E}">
        <p14:creationId xmlns:p14="http://schemas.microsoft.com/office/powerpoint/2010/main" val="4068784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4466" eaLnBrk="0" hangingPunct="0">
              <a:defRPr sz="1797" b="1">
                <a:solidFill>
                  <a:srgbClr val="003366"/>
                </a:solidFill>
                <a:latin typeface="Arial" panose="020B0604020202020204" pitchFamily="34" charset="0"/>
                <a:ea typeface="楷体_GB2312" pitchFamily="49" charset="-122"/>
              </a:defRPr>
            </a:lvl1pPr>
            <a:lvl2pPr marL="667689" indent="-256804" defTabSz="944466" eaLnBrk="0" hangingPunct="0">
              <a:defRPr sz="1797" b="1">
                <a:solidFill>
                  <a:srgbClr val="003366"/>
                </a:solidFill>
                <a:latin typeface="Arial" panose="020B0604020202020204" pitchFamily="34" charset="0"/>
                <a:ea typeface="楷体_GB2312" pitchFamily="49" charset="-122"/>
              </a:defRPr>
            </a:lvl2pPr>
            <a:lvl3pPr marL="1027214" indent="-205443" defTabSz="944466" eaLnBrk="0" hangingPunct="0">
              <a:defRPr sz="1797" b="1">
                <a:solidFill>
                  <a:srgbClr val="003366"/>
                </a:solidFill>
                <a:latin typeface="Arial" panose="020B0604020202020204" pitchFamily="34" charset="0"/>
                <a:ea typeface="楷体_GB2312" pitchFamily="49" charset="-122"/>
              </a:defRPr>
            </a:lvl3pPr>
            <a:lvl4pPr marL="1438100" indent="-205443" defTabSz="944466" eaLnBrk="0" hangingPunct="0">
              <a:defRPr sz="1797" b="1">
                <a:solidFill>
                  <a:srgbClr val="003366"/>
                </a:solidFill>
                <a:latin typeface="Arial" panose="020B0604020202020204" pitchFamily="34" charset="0"/>
                <a:ea typeface="楷体_GB2312" pitchFamily="49" charset="-122"/>
              </a:defRPr>
            </a:lvl4pPr>
            <a:lvl5pPr marL="1848985" indent="-205443" defTabSz="944466" eaLnBrk="0" hangingPunct="0">
              <a:defRPr sz="1797" b="1">
                <a:solidFill>
                  <a:srgbClr val="003366"/>
                </a:solidFill>
                <a:latin typeface="Arial" panose="020B0604020202020204" pitchFamily="34" charset="0"/>
                <a:ea typeface="楷体_GB2312" pitchFamily="49" charset="-122"/>
              </a:defRPr>
            </a:lvl5pPr>
            <a:lvl6pPr marL="2259871"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6pPr>
            <a:lvl7pPr marL="2670757"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7pPr>
            <a:lvl8pPr marL="3081642"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8pPr>
            <a:lvl9pPr marL="3492528"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9pPr>
          </a:lstStyle>
          <a:p>
            <a:pPr eaLnBrk="1" hangingPunct="1"/>
            <a:fld id="{43058946-12B6-4CC0-B1FA-7F702A175C45}" type="slidenum">
              <a:rPr lang="en-US" altLang="zh-CN" sz="1438" b="0">
                <a:solidFill>
                  <a:schemeClr val="tx1"/>
                </a:solidFill>
                <a:ea typeface="宋体" panose="02010600030101010101" pitchFamily="2" charset="-122"/>
              </a:rPr>
              <a:pPr eaLnBrk="1" hangingPunct="1"/>
              <a:t>33</a:t>
            </a:fld>
            <a:endParaRPr lang="en-US" altLang="zh-CN" sz="1438" b="0">
              <a:solidFill>
                <a:schemeClr val="tx1"/>
              </a:solidFill>
              <a:ea typeface="宋体" panose="02010600030101010101" pitchFamily="2" charset="-122"/>
            </a:endParaRPr>
          </a:p>
        </p:txBody>
      </p:sp>
      <p:sp>
        <p:nvSpPr>
          <p:cNvPr id="2052" name="Rectangle 2"/>
          <p:cNvSpPr>
            <a:spLocks noGrp="1" noChangeArrowheads="1"/>
          </p:cNvSpPr>
          <p:nvPr>
            <p:ph type="title"/>
          </p:nvPr>
        </p:nvSpPr>
        <p:spPr>
          <a:xfrm>
            <a:off x="1760352" y="394636"/>
            <a:ext cx="6850248" cy="721020"/>
          </a:xfrm>
        </p:spPr>
        <p:txBody>
          <a:bodyPr>
            <a:normAutofit fontScale="90000"/>
          </a:bodyPr>
          <a:lstStyle/>
          <a:p>
            <a:pPr algn="ctr" eaLnBrk="1" hangingPunct="1"/>
            <a:r>
              <a:rPr lang="zh-CN" altLang="en-US" dirty="0" smtClean="0"/>
              <a:t>如何计算到期收益率－例子</a:t>
            </a:r>
          </a:p>
        </p:txBody>
      </p:sp>
      <p:sp>
        <p:nvSpPr>
          <p:cNvPr id="2053" name="Text Box 3"/>
          <p:cNvSpPr txBox="1">
            <a:spLocks noChangeArrowheads="1"/>
          </p:cNvSpPr>
          <p:nvPr/>
        </p:nvSpPr>
        <p:spPr bwMode="auto">
          <a:xfrm>
            <a:off x="1666192" y="1376737"/>
            <a:ext cx="8801123" cy="1863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441" tIns="47218" rIns="94441" bIns="47218">
            <a:spAutoFit/>
          </a:bodyPr>
          <a:lstStyle>
            <a:lvl1pPr eaLnBrk="0" hangingPunct="0">
              <a:defRPr sz="2000" b="1">
                <a:solidFill>
                  <a:srgbClr val="003366"/>
                </a:solidFill>
                <a:latin typeface="Arial" panose="020B0604020202020204" pitchFamily="34" charset="0"/>
                <a:ea typeface="楷体_GB2312" pitchFamily="49" charset="-122"/>
              </a:defRPr>
            </a:lvl1pPr>
            <a:lvl2pPr marL="742950" indent="-285750" eaLnBrk="0" hangingPunct="0">
              <a:defRPr sz="2000" b="1">
                <a:solidFill>
                  <a:srgbClr val="003366"/>
                </a:solidFill>
                <a:latin typeface="Arial" panose="020B0604020202020204" pitchFamily="34" charset="0"/>
                <a:ea typeface="楷体_GB2312" pitchFamily="49" charset="-122"/>
              </a:defRPr>
            </a:lvl2pPr>
            <a:lvl3pPr marL="1143000" indent="-228600" eaLnBrk="0" hangingPunct="0">
              <a:defRPr sz="2000" b="1">
                <a:solidFill>
                  <a:srgbClr val="003366"/>
                </a:solidFill>
                <a:latin typeface="Arial" panose="020B0604020202020204" pitchFamily="34" charset="0"/>
                <a:ea typeface="楷体_GB2312" pitchFamily="49" charset="-122"/>
              </a:defRPr>
            </a:lvl3pPr>
            <a:lvl4pPr marL="1600200" indent="-228600" eaLnBrk="0" hangingPunct="0">
              <a:defRPr sz="2000" b="1">
                <a:solidFill>
                  <a:srgbClr val="003366"/>
                </a:solidFill>
                <a:latin typeface="Arial" panose="020B0604020202020204" pitchFamily="34" charset="0"/>
                <a:ea typeface="楷体_GB2312" pitchFamily="49" charset="-122"/>
              </a:defRPr>
            </a:lvl4pPr>
            <a:lvl5pPr marL="2057400" indent="-228600" eaLnBrk="0" hangingPunct="0">
              <a:defRPr sz="2000" b="1">
                <a:solidFill>
                  <a:srgbClr val="003366"/>
                </a:solidFill>
                <a:latin typeface="Arial" panose="020B0604020202020204" pitchFamily="34" charset="0"/>
                <a:ea typeface="楷体_GB2312" pitchFamily="49" charset="-122"/>
              </a:defRPr>
            </a:lvl5pPr>
            <a:lvl6pPr marL="2514600" indent="-228600" algn="ctr"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6pPr>
            <a:lvl7pPr marL="2971800" indent="-228600" algn="ctr"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7pPr>
            <a:lvl8pPr marL="3429000" indent="-228600" algn="ctr"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8pPr>
            <a:lvl9pPr marL="3886200" indent="-228600" algn="ctr"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9pPr>
          </a:lstStyle>
          <a:p>
            <a:pPr algn="l" eaLnBrk="1" hangingPunct="1">
              <a:spcBef>
                <a:spcPct val="50000"/>
              </a:spcBef>
              <a:spcAft>
                <a:spcPct val="20000"/>
              </a:spcAft>
              <a:buClrTx/>
              <a:buSzTx/>
            </a:pPr>
            <a:r>
              <a:rPr lang="zh-CN" altLang="en-US" sz="1618">
                <a:latin typeface="楷体_GB2312" pitchFamily="49" charset="-122"/>
              </a:rPr>
              <a:t>例</a:t>
            </a:r>
            <a:r>
              <a:rPr lang="en-US" altLang="zh-CN" sz="1618">
                <a:latin typeface="楷体_GB2312" pitchFamily="49" charset="-122"/>
              </a:rPr>
              <a:t>1</a:t>
            </a:r>
            <a:r>
              <a:rPr lang="zh-CN" altLang="en-US" sz="1618">
                <a:latin typeface="楷体_GB2312" pitchFamily="49" charset="-122"/>
              </a:rPr>
              <a:t>：</a:t>
            </a:r>
            <a:r>
              <a:rPr lang="en-US" altLang="zh-CN" sz="1618"/>
              <a:t>05</a:t>
            </a:r>
            <a:r>
              <a:rPr lang="zh-CN" altLang="en-US" sz="1618"/>
              <a:t>中信债</a:t>
            </a:r>
            <a:r>
              <a:rPr lang="en-US" altLang="zh-CN" sz="1618"/>
              <a:t>2</a:t>
            </a:r>
            <a:r>
              <a:rPr lang="zh-CN" altLang="en-US" sz="1618"/>
              <a:t>，每年</a:t>
            </a:r>
            <a:r>
              <a:rPr lang="en-US" altLang="zh-CN" sz="1618"/>
              <a:t>12</a:t>
            </a:r>
            <a:r>
              <a:rPr lang="zh-CN" altLang="en-US" sz="1618"/>
              <a:t>月</a:t>
            </a:r>
            <a:r>
              <a:rPr lang="en-US" altLang="zh-CN" sz="1618"/>
              <a:t>9</a:t>
            </a:r>
            <a:r>
              <a:rPr lang="zh-CN" altLang="en-US" sz="1618"/>
              <a:t>日付息</a:t>
            </a:r>
            <a:r>
              <a:rPr lang="en-US" altLang="zh-CN" sz="1618"/>
              <a:t>4.60</a:t>
            </a:r>
            <a:r>
              <a:rPr lang="zh-CN" altLang="en-US" sz="1618"/>
              <a:t>元，</a:t>
            </a:r>
            <a:r>
              <a:rPr lang="en-US" altLang="zh-CN" sz="1618"/>
              <a:t>2025</a:t>
            </a:r>
            <a:r>
              <a:rPr lang="zh-CN" altLang="en-US" sz="1618"/>
              <a:t>年</a:t>
            </a:r>
            <a:r>
              <a:rPr lang="en-US" altLang="zh-CN" sz="1618"/>
              <a:t>12</a:t>
            </a:r>
            <a:r>
              <a:rPr lang="zh-CN" altLang="en-US" sz="1618"/>
              <a:t>月</a:t>
            </a:r>
            <a:r>
              <a:rPr lang="en-US" altLang="zh-CN" sz="1618"/>
              <a:t>9</a:t>
            </a:r>
            <a:r>
              <a:rPr lang="zh-CN" altLang="en-US" sz="1618"/>
              <a:t>日还本付息共计</a:t>
            </a:r>
            <a:r>
              <a:rPr lang="en-US" altLang="zh-CN" sz="1618"/>
              <a:t>104.6</a:t>
            </a:r>
            <a:r>
              <a:rPr lang="zh-CN" altLang="en-US" sz="1618"/>
              <a:t>元。如果投资者在</a:t>
            </a:r>
            <a:r>
              <a:rPr lang="en-US" altLang="zh-CN" sz="1618"/>
              <a:t>2010</a:t>
            </a:r>
            <a:r>
              <a:rPr lang="zh-CN" altLang="en-US" sz="1618"/>
              <a:t>年</a:t>
            </a:r>
            <a:r>
              <a:rPr lang="en-US" altLang="zh-CN" sz="1618"/>
              <a:t>7</a:t>
            </a:r>
            <a:r>
              <a:rPr lang="zh-CN" altLang="en-US" sz="1618"/>
              <a:t>月</a:t>
            </a:r>
            <a:r>
              <a:rPr lang="en-US" altLang="zh-CN" sz="1618"/>
              <a:t>31</a:t>
            </a:r>
            <a:r>
              <a:rPr lang="zh-CN" altLang="en-US" sz="1618"/>
              <a:t>日以</a:t>
            </a:r>
            <a:r>
              <a:rPr lang="en-US" altLang="zh-CN" sz="1618"/>
              <a:t>100</a:t>
            </a:r>
            <a:r>
              <a:rPr lang="zh-CN" altLang="en-US" sz="1618"/>
              <a:t>元的价格购买了该债券，那么其到期收益率是多少？</a:t>
            </a:r>
          </a:p>
          <a:p>
            <a:pPr algn="l" eaLnBrk="1" hangingPunct="1">
              <a:spcBef>
                <a:spcPct val="50000"/>
              </a:spcBef>
              <a:spcAft>
                <a:spcPct val="20000"/>
              </a:spcAft>
              <a:buClrTx/>
              <a:buSzTx/>
            </a:pPr>
            <a:r>
              <a:rPr lang="zh-CN" altLang="en-US" sz="1618">
                <a:latin typeface="楷体_GB2312" pitchFamily="49" charset="-122"/>
              </a:rPr>
              <a:t>解：</a:t>
            </a:r>
            <a:r>
              <a:rPr lang="en-US" altLang="zh-CN" sz="1618"/>
              <a:t>n=15</a:t>
            </a:r>
            <a:r>
              <a:rPr lang="zh-CN" altLang="en-US" sz="1618"/>
              <a:t>，</a:t>
            </a:r>
            <a:r>
              <a:rPr lang="en-US" altLang="zh-CN" sz="1618"/>
              <a:t>F=100</a:t>
            </a:r>
            <a:r>
              <a:rPr lang="zh-CN" altLang="en-US" sz="1618"/>
              <a:t>，</a:t>
            </a:r>
            <a:r>
              <a:rPr lang="en-US" altLang="zh-CN" sz="1618"/>
              <a:t>C=4.6</a:t>
            </a:r>
            <a:r>
              <a:rPr lang="zh-CN" altLang="en-US" sz="1618"/>
              <a:t>，</a:t>
            </a:r>
            <a:r>
              <a:rPr lang="en-US" altLang="zh-CN" sz="1618"/>
              <a:t>f=1</a:t>
            </a:r>
            <a:r>
              <a:rPr lang="zh-CN" altLang="en-US" sz="1618"/>
              <a:t>，</a:t>
            </a:r>
            <a:r>
              <a:rPr lang="en-US" altLang="zh-CN" sz="1618"/>
              <a:t>w=0.36</a:t>
            </a:r>
          </a:p>
          <a:p>
            <a:pPr algn="l" eaLnBrk="1" hangingPunct="1">
              <a:spcBef>
                <a:spcPct val="50000"/>
              </a:spcBef>
              <a:spcAft>
                <a:spcPct val="20000"/>
              </a:spcAft>
              <a:buClrTx/>
              <a:buSzTx/>
            </a:pPr>
            <a:endParaRPr lang="en-US" altLang="zh-CN" sz="1618">
              <a:latin typeface="楷体_GB2312" pitchFamily="49" charset="-122"/>
            </a:endParaRPr>
          </a:p>
          <a:p>
            <a:pPr algn="l" eaLnBrk="1" hangingPunct="1">
              <a:spcBef>
                <a:spcPct val="50000"/>
              </a:spcBef>
              <a:spcAft>
                <a:spcPct val="20000"/>
              </a:spcAft>
              <a:buClrTx/>
              <a:buSzTx/>
            </a:pPr>
            <a:r>
              <a:rPr lang="en-US" altLang="zh-CN" sz="1618">
                <a:latin typeface="楷体_GB2312" pitchFamily="49" charset="-122"/>
              </a:rPr>
              <a:t>              </a:t>
            </a:r>
            <a:endParaRPr lang="en-US" altLang="zh-CN" sz="1618"/>
          </a:p>
        </p:txBody>
      </p:sp>
      <p:graphicFrame>
        <p:nvGraphicFramePr>
          <p:cNvPr id="2050" name="Object 4"/>
          <p:cNvGraphicFramePr>
            <a:graphicFrameLocks noChangeAspect="1"/>
          </p:cNvGraphicFramePr>
          <p:nvPr/>
        </p:nvGraphicFramePr>
        <p:xfrm>
          <a:off x="2590674" y="2458152"/>
          <a:ext cx="6818053" cy="717614"/>
        </p:xfrm>
        <a:graphic>
          <a:graphicData uri="http://schemas.openxmlformats.org/presentationml/2006/ole">
            <mc:AlternateContent xmlns:mc="http://schemas.openxmlformats.org/markup-compatibility/2006">
              <mc:Choice xmlns:v="urn:schemas-microsoft-com:vml" Requires="v">
                <p:oleObj spid="_x0000_s3139" name="公式" r:id="rId4" imgW="3136680" imgH="330120" progId="Equation.3">
                  <p:embed/>
                </p:oleObj>
              </mc:Choice>
              <mc:Fallback>
                <p:oleObj name="公式" r:id="rId4" imgW="3136680" imgH="3301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674" y="2458152"/>
                        <a:ext cx="6818053" cy="7176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4" name="Rectangle 5"/>
          <p:cNvSpPr>
            <a:spLocks noChangeArrowheads="1"/>
          </p:cNvSpPr>
          <p:nvPr/>
        </p:nvSpPr>
        <p:spPr bwMode="auto">
          <a:xfrm>
            <a:off x="2798968" y="3267074"/>
            <a:ext cx="2380338" cy="344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4396" tIns="47192" rIns="94396" bIns="47192">
            <a:spAutoFit/>
          </a:bodyPr>
          <a:lstStyle>
            <a:lvl1pPr defTabSz="1050925" eaLnBrk="0" hangingPunct="0">
              <a:defRPr sz="2000" b="1">
                <a:solidFill>
                  <a:srgbClr val="003366"/>
                </a:solidFill>
                <a:latin typeface="Arial" panose="020B0604020202020204" pitchFamily="34" charset="0"/>
                <a:ea typeface="楷体_GB2312" pitchFamily="49" charset="-122"/>
              </a:defRPr>
            </a:lvl1pPr>
            <a:lvl2pPr marL="742950" indent="-285750" defTabSz="1050925" eaLnBrk="0" hangingPunct="0">
              <a:defRPr sz="2000" b="1">
                <a:solidFill>
                  <a:srgbClr val="003366"/>
                </a:solidFill>
                <a:latin typeface="Arial" panose="020B0604020202020204" pitchFamily="34" charset="0"/>
                <a:ea typeface="楷体_GB2312" pitchFamily="49" charset="-122"/>
              </a:defRPr>
            </a:lvl2pPr>
            <a:lvl3pPr marL="1143000" indent="-228600" defTabSz="1050925" eaLnBrk="0" hangingPunct="0">
              <a:defRPr sz="2000" b="1">
                <a:solidFill>
                  <a:srgbClr val="003366"/>
                </a:solidFill>
                <a:latin typeface="Arial" panose="020B0604020202020204" pitchFamily="34" charset="0"/>
                <a:ea typeface="楷体_GB2312" pitchFamily="49" charset="-122"/>
              </a:defRPr>
            </a:lvl3pPr>
            <a:lvl4pPr marL="1600200" indent="-228600" defTabSz="1050925" eaLnBrk="0" hangingPunct="0">
              <a:defRPr sz="2000" b="1">
                <a:solidFill>
                  <a:srgbClr val="003366"/>
                </a:solidFill>
                <a:latin typeface="Arial" panose="020B0604020202020204" pitchFamily="34" charset="0"/>
                <a:ea typeface="楷体_GB2312" pitchFamily="49" charset="-122"/>
              </a:defRPr>
            </a:lvl4pPr>
            <a:lvl5pPr marL="2057400" indent="-228600" defTabSz="1050925" eaLnBrk="0" hangingPunct="0">
              <a:defRPr sz="2000" b="1">
                <a:solidFill>
                  <a:srgbClr val="003366"/>
                </a:solidFill>
                <a:latin typeface="Arial" panose="020B0604020202020204" pitchFamily="34" charset="0"/>
                <a:ea typeface="楷体_GB2312" pitchFamily="49" charset="-122"/>
              </a:defRPr>
            </a:lvl5pPr>
            <a:lvl6pPr marL="25146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6pPr>
            <a:lvl7pPr marL="29718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7pPr>
            <a:lvl8pPr marL="34290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8pPr>
            <a:lvl9pPr marL="38862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9pPr>
          </a:lstStyle>
          <a:p>
            <a:pPr eaLnBrk="1" hangingPunct="1">
              <a:spcBef>
                <a:spcPct val="50000"/>
              </a:spcBef>
              <a:spcAft>
                <a:spcPct val="20000"/>
              </a:spcAft>
              <a:buClrTx/>
              <a:buSzTx/>
            </a:pPr>
            <a:r>
              <a:rPr lang="zh-CN" altLang="en-US" sz="1618"/>
              <a:t>求解可得，</a:t>
            </a:r>
            <a:r>
              <a:rPr lang="en-US" altLang="zh-CN" sz="1618"/>
              <a:t>YTM=4.87%</a:t>
            </a:r>
          </a:p>
        </p:txBody>
      </p:sp>
      <p:graphicFrame>
        <p:nvGraphicFramePr>
          <p:cNvPr id="2120" name="Group 72"/>
          <p:cNvGraphicFramePr>
            <a:graphicFrameLocks noGrp="1"/>
          </p:cNvGraphicFramePr>
          <p:nvPr/>
        </p:nvGraphicFramePr>
        <p:xfrm>
          <a:off x="1857366" y="4108809"/>
          <a:ext cx="4302836" cy="1880498"/>
        </p:xfrm>
        <a:graphic>
          <a:graphicData uri="http://schemas.openxmlformats.org/drawingml/2006/table">
            <a:tbl>
              <a:tblPr/>
              <a:tblGrid>
                <a:gridCol w="1031482"/>
                <a:gridCol w="1168443"/>
                <a:gridCol w="984402"/>
                <a:gridCol w="1118509"/>
              </a:tblGrid>
              <a:tr h="386628">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300" b="1" i="0" u="none" strike="noStrike" cap="none" normalizeH="0" baseline="0" smtClean="0">
                          <a:ln>
                            <a:noFill/>
                          </a:ln>
                          <a:solidFill>
                            <a:srgbClr val="003366"/>
                          </a:solidFill>
                          <a:effectLst/>
                          <a:latin typeface="宋体" panose="02010600030101010101" pitchFamily="2" charset="-122"/>
                          <a:ea typeface="黑体" panose="02010609060101010101" pitchFamily="49" charset="-122"/>
                        </a:rPr>
                        <a:t>债券价格</a:t>
                      </a:r>
                      <a:endParaRPr kumimoji="0" lang="zh-CN" altLang="en-US" sz="1300" b="1" i="0" u="none" strike="noStrike" cap="none" normalizeH="0" baseline="0" smtClean="0">
                        <a:ln>
                          <a:noFill/>
                        </a:ln>
                        <a:solidFill>
                          <a:srgbClr val="003366"/>
                        </a:solidFill>
                        <a:effectLst/>
                        <a:latin typeface="Arial" panose="020B0604020202020204" pitchFamily="34" charset="0"/>
                        <a:ea typeface="黑体" panose="02010609060101010101" pitchFamily="49" charset="-122"/>
                      </a:endParaRPr>
                    </a:p>
                  </a:txBody>
                  <a:tcPr marL="94396" marR="94396" marT="47192" marB="47192" anchor="ctr" horzOverflow="overflow">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300" b="1" i="0" u="none" strike="noStrike" cap="none" normalizeH="0" baseline="0" smtClean="0">
                          <a:ln>
                            <a:noFill/>
                          </a:ln>
                          <a:solidFill>
                            <a:srgbClr val="003366"/>
                          </a:solidFill>
                          <a:effectLst/>
                          <a:latin typeface="宋体" panose="02010600030101010101" pitchFamily="2" charset="-122"/>
                          <a:ea typeface="黑体" panose="02010609060101010101" pitchFamily="49" charset="-122"/>
                        </a:rPr>
                        <a:t>到期收益率</a:t>
                      </a:r>
                      <a:endParaRPr kumimoji="0" lang="zh-CN" altLang="en-US" sz="1300" b="1" i="0" u="none" strike="noStrike" cap="none" normalizeH="0" baseline="0" smtClean="0">
                        <a:ln>
                          <a:noFill/>
                        </a:ln>
                        <a:solidFill>
                          <a:srgbClr val="003366"/>
                        </a:solidFill>
                        <a:effectLst/>
                        <a:latin typeface="Arial" panose="020B0604020202020204" pitchFamily="34" charset="0"/>
                        <a:ea typeface="黑体" panose="02010609060101010101" pitchFamily="49" charset="-122"/>
                      </a:endParaRPr>
                    </a:p>
                  </a:txBody>
                  <a:tcPr marL="94396" marR="94396" marT="47192" marB="47192" anchor="ctr" horzOverflow="overflow">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300" b="1" i="0" u="none" strike="noStrike" cap="none" normalizeH="0" baseline="0" smtClean="0">
                          <a:ln>
                            <a:noFill/>
                          </a:ln>
                          <a:solidFill>
                            <a:srgbClr val="003366"/>
                          </a:solidFill>
                          <a:effectLst/>
                          <a:latin typeface="宋体" panose="02010600030101010101" pitchFamily="2" charset="-122"/>
                          <a:ea typeface="黑体" panose="02010609060101010101" pitchFamily="49" charset="-122"/>
                        </a:rPr>
                        <a:t>债券价格</a:t>
                      </a:r>
                      <a:endParaRPr kumimoji="0" lang="zh-CN" altLang="en-US" sz="1300" b="1" i="0" u="none" strike="noStrike" cap="none" normalizeH="0" baseline="0" smtClean="0">
                        <a:ln>
                          <a:noFill/>
                        </a:ln>
                        <a:solidFill>
                          <a:srgbClr val="003366"/>
                        </a:solidFill>
                        <a:effectLst/>
                        <a:latin typeface="Arial" panose="020B0604020202020204" pitchFamily="34" charset="0"/>
                        <a:ea typeface="黑体" panose="02010609060101010101" pitchFamily="49" charset="-122"/>
                      </a:endParaRPr>
                    </a:p>
                  </a:txBody>
                  <a:tcPr marL="94396" marR="94396" marT="47192" marB="47192" anchor="ctr" horzOverflow="overflow">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300" b="1" i="0" u="none" strike="noStrike" cap="none" normalizeH="0" baseline="0" smtClean="0">
                          <a:ln>
                            <a:noFill/>
                          </a:ln>
                          <a:solidFill>
                            <a:srgbClr val="003366"/>
                          </a:solidFill>
                          <a:effectLst/>
                          <a:latin typeface="宋体" panose="02010600030101010101" pitchFamily="2" charset="-122"/>
                          <a:ea typeface="黑体" panose="02010609060101010101" pitchFamily="49" charset="-122"/>
                        </a:rPr>
                        <a:t>到期收益率</a:t>
                      </a:r>
                      <a:endParaRPr kumimoji="0" lang="zh-CN" altLang="en-US" sz="1300" b="1" i="0" u="none" strike="noStrike" cap="none" normalizeH="0" baseline="0" smtClean="0">
                        <a:ln>
                          <a:noFill/>
                        </a:ln>
                        <a:solidFill>
                          <a:srgbClr val="003366"/>
                        </a:solidFill>
                        <a:effectLst/>
                        <a:latin typeface="Arial" panose="020B0604020202020204" pitchFamily="34" charset="0"/>
                        <a:ea typeface="黑体" panose="02010609060101010101" pitchFamily="49" charset="-122"/>
                      </a:endParaRPr>
                    </a:p>
                  </a:txBody>
                  <a:tcPr marL="94396" marR="94396" marT="47192" marB="47192" anchor="ctr" horzOverflow="overflow">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4">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80</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7.0922%</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105</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4.4081%</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6128">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85</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6.4710%</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110</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3.9731%</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6128">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90</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5.8979%</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115</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3.5633%</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187">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95</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5.3665%</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120</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3.1760%</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6128">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100</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4.8713%</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125</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000" b="1">
                          <a:solidFill>
                            <a:srgbClr val="003366"/>
                          </a:solidFill>
                          <a:latin typeface="Arial" panose="020B0604020202020204" pitchFamily="34" charset="0"/>
                          <a:ea typeface="楷体_GB2312" pitchFamily="49" charset="-122"/>
                        </a:defRPr>
                      </a:lvl1pPr>
                      <a:lvl2pPr marL="742950" indent="-285750" algn="l" eaLnBrk="0" hangingPunct="0">
                        <a:buSzPct val="70000"/>
                        <a:defRPr b="1">
                          <a:solidFill>
                            <a:schemeClr val="tx1"/>
                          </a:solidFill>
                          <a:latin typeface="Arial" panose="020B0604020202020204" pitchFamily="34" charset="0"/>
                          <a:ea typeface="楷体_GB2312" pitchFamily="49" charset="-122"/>
                        </a:defRPr>
                      </a:lvl2pPr>
                      <a:lvl3pPr marL="1143000" indent="-228600" algn="l" eaLnBrk="0" hangingPunct="0">
                        <a:defRPr sz="2000" b="1">
                          <a:solidFill>
                            <a:srgbClr val="003366"/>
                          </a:solidFill>
                          <a:latin typeface="Arial" panose="020B0604020202020204" pitchFamily="34" charset="0"/>
                          <a:ea typeface="楷体_GB2312" pitchFamily="49" charset="-122"/>
                        </a:defRPr>
                      </a:lvl3pPr>
                      <a:lvl4pPr marL="1600200" indent="-228600" algn="l" eaLnBrk="0" hangingPunct="0">
                        <a:buClr>
                          <a:srgbClr val="003399"/>
                        </a:buClr>
                        <a:defRPr sz="900">
                          <a:solidFill>
                            <a:schemeClr val="tx1"/>
                          </a:solidFill>
                          <a:latin typeface="Arial" panose="020B0604020202020204" pitchFamily="34" charset="0"/>
                          <a:ea typeface="楷体_GB2312" pitchFamily="49" charset="-122"/>
                        </a:defRPr>
                      </a:lvl4pPr>
                      <a:lvl5pPr marL="2057400" indent="-228600" algn="l" eaLnBrk="0" hangingPunct="0">
                        <a:buClr>
                          <a:srgbClr val="003399"/>
                        </a:buClr>
                        <a:defRPr sz="8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rgbClr val="003399"/>
                        </a:buClr>
                        <a:buSzPct val="50000"/>
                        <a:buFont typeface="Wingdings" panose="05000000000000000000" pitchFamily="2" charset="2"/>
                        <a:defRPr sz="800">
                          <a:solidFill>
                            <a:schemeClr val="tx1"/>
                          </a:solidFill>
                          <a:latin typeface="Arial" panose="020B0604020202020204" pitchFamily="34" charset="0"/>
                          <a:ea typeface="楷体_GB2312" pitchFamily="49"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300" b="1" i="0" u="none" strike="noStrike" cap="none" normalizeH="0" baseline="0" smtClean="0">
                          <a:ln>
                            <a:noFill/>
                          </a:ln>
                          <a:solidFill>
                            <a:srgbClr val="003366"/>
                          </a:solidFill>
                          <a:effectLst/>
                          <a:latin typeface="Times New Roman" panose="02020603050405020304" pitchFamily="18" charset="0"/>
                          <a:ea typeface="宋体" panose="02010600030101010101" pitchFamily="2" charset="-122"/>
                        </a:rPr>
                        <a:t>2.8091%</a:t>
                      </a:r>
                    </a:p>
                  </a:txBody>
                  <a:tcPr marL="94396" marR="94396" marT="47192" marB="47192" anchor="ctr" horzOverflow="overflow">
                    <a:lnL>
                      <a:noFill/>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087" name="Rectangle 103"/>
          <p:cNvSpPr>
            <a:spLocks noChangeArrowheads="1"/>
          </p:cNvSpPr>
          <p:nvPr/>
        </p:nvSpPr>
        <p:spPr bwMode="auto">
          <a:xfrm>
            <a:off x="1857365" y="3716475"/>
            <a:ext cx="4301408" cy="35524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4441" tIns="47218" rIns="94441" bIns="47218" anchor="ctr"/>
          <a:lstStyle>
            <a:lvl1pPr defTabSz="1050925" eaLnBrk="0" hangingPunct="0">
              <a:defRPr sz="2000" b="1">
                <a:solidFill>
                  <a:srgbClr val="003366"/>
                </a:solidFill>
                <a:latin typeface="Arial" panose="020B0604020202020204" pitchFamily="34" charset="0"/>
                <a:ea typeface="楷体_GB2312" pitchFamily="49" charset="-122"/>
              </a:defRPr>
            </a:lvl1pPr>
            <a:lvl2pPr marL="742950" indent="-285750" defTabSz="1050925" eaLnBrk="0" hangingPunct="0">
              <a:defRPr sz="2000" b="1">
                <a:solidFill>
                  <a:srgbClr val="003366"/>
                </a:solidFill>
                <a:latin typeface="Arial" panose="020B0604020202020204" pitchFamily="34" charset="0"/>
                <a:ea typeface="楷体_GB2312" pitchFamily="49" charset="-122"/>
              </a:defRPr>
            </a:lvl2pPr>
            <a:lvl3pPr marL="1143000" indent="-228600" defTabSz="1050925" eaLnBrk="0" hangingPunct="0">
              <a:defRPr sz="2000" b="1">
                <a:solidFill>
                  <a:srgbClr val="003366"/>
                </a:solidFill>
                <a:latin typeface="Arial" panose="020B0604020202020204" pitchFamily="34" charset="0"/>
                <a:ea typeface="楷体_GB2312" pitchFamily="49" charset="-122"/>
              </a:defRPr>
            </a:lvl3pPr>
            <a:lvl4pPr marL="1600200" indent="-228600" defTabSz="1050925" eaLnBrk="0" hangingPunct="0">
              <a:defRPr sz="2000" b="1">
                <a:solidFill>
                  <a:srgbClr val="003366"/>
                </a:solidFill>
                <a:latin typeface="Arial" panose="020B0604020202020204" pitchFamily="34" charset="0"/>
                <a:ea typeface="楷体_GB2312" pitchFamily="49" charset="-122"/>
              </a:defRPr>
            </a:lvl4pPr>
            <a:lvl5pPr marL="2057400" indent="-228600" defTabSz="1050925" eaLnBrk="0" hangingPunct="0">
              <a:defRPr sz="2000" b="1">
                <a:solidFill>
                  <a:srgbClr val="003366"/>
                </a:solidFill>
                <a:latin typeface="Arial" panose="020B0604020202020204" pitchFamily="34" charset="0"/>
                <a:ea typeface="楷体_GB2312" pitchFamily="49" charset="-122"/>
              </a:defRPr>
            </a:lvl5pPr>
            <a:lvl6pPr marL="25146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6pPr>
            <a:lvl7pPr marL="29718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7pPr>
            <a:lvl8pPr marL="34290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8pPr>
            <a:lvl9pPr marL="38862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9pPr>
          </a:lstStyle>
          <a:p>
            <a:pPr eaLnBrk="1" hangingPunct="1">
              <a:lnSpc>
                <a:spcPct val="100000"/>
              </a:lnSpc>
              <a:spcBef>
                <a:spcPct val="0"/>
              </a:spcBef>
              <a:spcAft>
                <a:spcPct val="50000"/>
              </a:spcAft>
              <a:buClrTx/>
              <a:buSzTx/>
              <a:buFontTx/>
              <a:buNone/>
            </a:pPr>
            <a:r>
              <a:rPr lang="zh-CN" altLang="en-US" sz="1528">
                <a:solidFill>
                  <a:schemeClr val="tx1"/>
                </a:solidFill>
                <a:latin typeface="楷体_GB2312" pitchFamily="49" charset="-122"/>
              </a:rPr>
              <a:t>不同价格水平下的到期收益率</a:t>
            </a:r>
          </a:p>
        </p:txBody>
      </p:sp>
      <p:sp>
        <p:nvSpPr>
          <p:cNvPr id="2088" name="Rectangle 104"/>
          <p:cNvSpPr>
            <a:spLocks noChangeArrowheads="1"/>
          </p:cNvSpPr>
          <p:nvPr/>
        </p:nvSpPr>
        <p:spPr bwMode="auto">
          <a:xfrm>
            <a:off x="6965969" y="4632965"/>
            <a:ext cx="4045331" cy="403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4396" tIns="47192" rIns="94396" bIns="47192">
            <a:spAutoFit/>
          </a:bodyPr>
          <a:lstStyle>
            <a:lvl1pPr defTabSz="1050925" eaLnBrk="0" hangingPunct="0">
              <a:defRPr sz="2000" b="1">
                <a:solidFill>
                  <a:srgbClr val="003366"/>
                </a:solidFill>
                <a:latin typeface="Arial" panose="020B0604020202020204" pitchFamily="34" charset="0"/>
                <a:ea typeface="楷体_GB2312" pitchFamily="49" charset="-122"/>
              </a:defRPr>
            </a:lvl1pPr>
            <a:lvl2pPr marL="742950" indent="-285750" defTabSz="1050925" eaLnBrk="0" hangingPunct="0">
              <a:defRPr sz="2000" b="1">
                <a:solidFill>
                  <a:srgbClr val="003366"/>
                </a:solidFill>
                <a:latin typeface="Arial" panose="020B0604020202020204" pitchFamily="34" charset="0"/>
                <a:ea typeface="楷体_GB2312" pitchFamily="49" charset="-122"/>
              </a:defRPr>
            </a:lvl2pPr>
            <a:lvl3pPr marL="1143000" indent="-228600" defTabSz="1050925" eaLnBrk="0" hangingPunct="0">
              <a:defRPr sz="2000" b="1">
                <a:solidFill>
                  <a:srgbClr val="003366"/>
                </a:solidFill>
                <a:latin typeface="Arial" panose="020B0604020202020204" pitchFamily="34" charset="0"/>
                <a:ea typeface="楷体_GB2312" pitchFamily="49" charset="-122"/>
              </a:defRPr>
            </a:lvl3pPr>
            <a:lvl4pPr marL="1600200" indent="-228600" defTabSz="1050925" eaLnBrk="0" hangingPunct="0">
              <a:defRPr sz="2000" b="1">
                <a:solidFill>
                  <a:srgbClr val="003366"/>
                </a:solidFill>
                <a:latin typeface="Arial" panose="020B0604020202020204" pitchFamily="34" charset="0"/>
                <a:ea typeface="楷体_GB2312" pitchFamily="49" charset="-122"/>
              </a:defRPr>
            </a:lvl4pPr>
            <a:lvl5pPr marL="2057400" indent="-228600" defTabSz="1050925" eaLnBrk="0" hangingPunct="0">
              <a:defRPr sz="2000" b="1">
                <a:solidFill>
                  <a:srgbClr val="003366"/>
                </a:solidFill>
                <a:latin typeface="Arial" panose="020B0604020202020204" pitchFamily="34" charset="0"/>
                <a:ea typeface="楷体_GB2312" pitchFamily="49" charset="-122"/>
              </a:defRPr>
            </a:lvl5pPr>
            <a:lvl6pPr marL="25146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6pPr>
            <a:lvl7pPr marL="29718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7pPr>
            <a:lvl8pPr marL="34290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8pPr>
            <a:lvl9pPr marL="38862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9pPr>
          </a:lstStyle>
          <a:p>
            <a:pPr eaLnBrk="1" hangingPunct="1">
              <a:spcBef>
                <a:spcPts val="449"/>
              </a:spcBef>
              <a:spcAft>
                <a:spcPts val="359"/>
              </a:spcAft>
            </a:pPr>
            <a:r>
              <a:rPr lang="zh-CN" altLang="en-US" dirty="0">
                <a:solidFill>
                  <a:srgbClr val="FF0000"/>
                </a:solidFill>
              </a:rPr>
              <a:t>到期收益率与</a:t>
            </a:r>
            <a:r>
              <a:rPr lang="zh-CN" altLang="en-US" dirty="0" smtClean="0">
                <a:solidFill>
                  <a:srgbClr val="FF0000"/>
                </a:solidFill>
              </a:rPr>
              <a:t>债券价格</a:t>
            </a:r>
            <a:r>
              <a:rPr lang="zh-CN" altLang="en-US" dirty="0">
                <a:solidFill>
                  <a:srgbClr val="FF0000"/>
                </a:solidFill>
              </a:rPr>
              <a:t>呈反向波动。</a:t>
            </a:r>
          </a:p>
        </p:txBody>
      </p:sp>
    </p:spTree>
    <p:extLst>
      <p:ext uri="{BB962C8B-B14F-4D97-AF65-F5344CB8AC3E}">
        <p14:creationId xmlns:p14="http://schemas.microsoft.com/office/powerpoint/2010/main" val="8762516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365126"/>
            <a:ext cx="10515600" cy="828408"/>
          </a:xfrm>
        </p:spPr>
        <p:txBody>
          <a:bodyPr>
            <a:normAutofit/>
          </a:bodyPr>
          <a:lstStyle/>
          <a:p>
            <a:pPr algn="ctr"/>
            <a:r>
              <a:rPr lang="zh-CN" altLang="en-US" sz="3500" dirty="0"/>
              <a:t>若干国家或地区</a:t>
            </a:r>
            <a:r>
              <a:rPr lang="en-US" altLang="zh-CN" sz="3500" dirty="0" smtClean="0"/>
              <a:t>10</a:t>
            </a:r>
            <a:r>
              <a:rPr lang="zh-CN" altLang="en-US" sz="3500" dirty="0" smtClean="0"/>
              <a:t>年期国债到期收益率</a:t>
            </a:r>
            <a:r>
              <a:rPr lang="en-US" altLang="zh-CN" sz="3500" dirty="0" smtClean="0"/>
              <a:t>2021-4-8</a:t>
            </a:r>
            <a:endParaRPr lang="zh-CN" altLang="en-US" sz="3500" dirty="0"/>
          </a:p>
        </p:txBody>
      </p:sp>
      <p:pic>
        <p:nvPicPr>
          <p:cNvPr id="7" name="图片 6"/>
          <p:cNvPicPr>
            <a:picLocks noChangeAspect="1"/>
          </p:cNvPicPr>
          <p:nvPr/>
        </p:nvPicPr>
        <p:blipFill>
          <a:blip r:embed="rId2"/>
          <a:stretch>
            <a:fillRect/>
          </a:stretch>
        </p:blipFill>
        <p:spPr>
          <a:xfrm>
            <a:off x="308008" y="1424539"/>
            <a:ext cx="2590013" cy="4745255"/>
          </a:xfrm>
          <a:prstGeom prst="rect">
            <a:avLst/>
          </a:prstGeom>
        </p:spPr>
      </p:pic>
      <p:pic>
        <p:nvPicPr>
          <p:cNvPr id="9" name="图片 8"/>
          <p:cNvPicPr>
            <a:picLocks noChangeAspect="1"/>
          </p:cNvPicPr>
          <p:nvPr/>
        </p:nvPicPr>
        <p:blipFill>
          <a:blip r:embed="rId3"/>
          <a:stretch>
            <a:fillRect/>
          </a:stretch>
        </p:blipFill>
        <p:spPr>
          <a:xfrm>
            <a:off x="5785467" y="1424538"/>
            <a:ext cx="2790642" cy="4745255"/>
          </a:xfrm>
          <a:prstGeom prst="rect">
            <a:avLst/>
          </a:prstGeom>
        </p:spPr>
      </p:pic>
      <p:pic>
        <p:nvPicPr>
          <p:cNvPr id="10" name="图片 9"/>
          <p:cNvPicPr>
            <a:picLocks noChangeAspect="1"/>
          </p:cNvPicPr>
          <p:nvPr/>
        </p:nvPicPr>
        <p:blipFill>
          <a:blip r:embed="rId4"/>
          <a:stretch>
            <a:fillRect/>
          </a:stretch>
        </p:blipFill>
        <p:spPr>
          <a:xfrm>
            <a:off x="9026006" y="1424537"/>
            <a:ext cx="2620562" cy="4745255"/>
          </a:xfrm>
          <a:prstGeom prst="rect">
            <a:avLst/>
          </a:prstGeom>
        </p:spPr>
      </p:pic>
      <p:pic>
        <p:nvPicPr>
          <p:cNvPr id="11" name="图片 10"/>
          <p:cNvPicPr>
            <a:picLocks noChangeAspect="1"/>
          </p:cNvPicPr>
          <p:nvPr/>
        </p:nvPicPr>
        <p:blipFill>
          <a:blip r:embed="rId5"/>
          <a:stretch>
            <a:fillRect/>
          </a:stretch>
        </p:blipFill>
        <p:spPr>
          <a:xfrm>
            <a:off x="3166711" y="1424536"/>
            <a:ext cx="2406315" cy="4745255"/>
          </a:xfrm>
          <a:prstGeom prst="rect">
            <a:avLst/>
          </a:prstGeom>
        </p:spPr>
      </p:pic>
    </p:spTree>
    <p:extLst>
      <p:ext uri="{BB962C8B-B14F-4D97-AF65-F5344CB8AC3E}">
        <p14:creationId xmlns:p14="http://schemas.microsoft.com/office/powerpoint/2010/main" val="1372822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365126"/>
            <a:ext cx="10515600" cy="828408"/>
          </a:xfrm>
        </p:spPr>
        <p:txBody>
          <a:bodyPr>
            <a:normAutofit/>
          </a:bodyPr>
          <a:lstStyle/>
          <a:p>
            <a:pPr algn="ctr"/>
            <a:r>
              <a:rPr lang="zh-CN" altLang="en-US" sz="3500" dirty="0" smtClean="0"/>
              <a:t>若干国家或地区</a:t>
            </a:r>
            <a:r>
              <a:rPr lang="en-US" altLang="zh-CN" sz="3500" dirty="0" smtClean="0"/>
              <a:t>10</a:t>
            </a:r>
            <a:r>
              <a:rPr lang="zh-CN" altLang="en-US" sz="3500" dirty="0" smtClean="0"/>
              <a:t>年期国债到期收益率</a:t>
            </a:r>
            <a:r>
              <a:rPr lang="en-US" altLang="zh-CN" sz="3500" dirty="0" smtClean="0"/>
              <a:t>2022-4-19</a:t>
            </a:r>
            <a:endParaRPr lang="zh-CN" altLang="en-US" sz="3500" dirty="0"/>
          </a:p>
        </p:txBody>
      </p:sp>
      <p:pic>
        <p:nvPicPr>
          <p:cNvPr id="3" name="图片 2"/>
          <p:cNvPicPr>
            <a:picLocks noChangeAspect="1"/>
          </p:cNvPicPr>
          <p:nvPr/>
        </p:nvPicPr>
        <p:blipFill>
          <a:blip r:embed="rId2"/>
          <a:stretch>
            <a:fillRect/>
          </a:stretch>
        </p:blipFill>
        <p:spPr>
          <a:xfrm>
            <a:off x="4438848" y="1193534"/>
            <a:ext cx="3001480" cy="5091763"/>
          </a:xfrm>
          <a:prstGeom prst="rect">
            <a:avLst/>
          </a:prstGeom>
        </p:spPr>
      </p:pic>
      <p:pic>
        <p:nvPicPr>
          <p:cNvPr id="4" name="图片 3"/>
          <p:cNvPicPr>
            <a:picLocks noChangeAspect="1"/>
          </p:cNvPicPr>
          <p:nvPr/>
        </p:nvPicPr>
        <p:blipFill>
          <a:blip r:embed="rId3"/>
          <a:stretch>
            <a:fillRect/>
          </a:stretch>
        </p:blipFill>
        <p:spPr>
          <a:xfrm>
            <a:off x="8284861" y="1193533"/>
            <a:ext cx="2736065" cy="5159141"/>
          </a:xfrm>
          <a:prstGeom prst="rect">
            <a:avLst/>
          </a:prstGeom>
        </p:spPr>
      </p:pic>
      <p:pic>
        <p:nvPicPr>
          <p:cNvPr id="6" name="图片 5"/>
          <p:cNvPicPr>
            <a:picLocks noChangeAspect="1"/>
          </p:cNvPicPr>
          <p:nvPr/>
        </p:nvPicPr>
        <p:blipFill>
          <a:blip r:embed="rId4"/>
          <a:stretch>
            <a:fillRect/>
          </a:stretch>
        </p:blipFill>
        <p:spPr>
          <a:xfrm>
            <a:off x="838200" y="1320187"/>
            <a:ext cx="3157732" cy="710744"/>
          </a:xfrm>
          <a:prstGeom prst="rect">
            <a:avLst/>
          </a:prstGeom>
        </p:spPr>
      </p:pic>
      <p:pic>
        <p:nvPicPr>
          <p:cNvPr id="8" name="图片 7"/>
          <p:cNvPicPr>
            <a:picLocks noChangeAspect="1"/>
          </p:cNvPicPr>
          <p:nvPr/>
        </p:nvPicPr>
        <p:blipFill>
          <a:blip r:embed="rId5"/>
          <a:stretch>
            <a:fillRect/>
          </a:stretch>
        </p:blipFill>
        <p:spPr>
          <a:xfrm>
            <a:off x="821474" y="2157583"/>
            <a:ext cx="3174458" cy="3648107"/>
          </a:xfrm>
          <a:prstGeom prst="rect">
            <a:avLst/>
          </a:prstGeom>
        </p:spPr>
      </p:pic>
    </p:spTree>
    <p:extLst>
      <p:ext uri="{BB962C8B-B14F-4D97-AF65-F5344CB8AC3E}">
        <p14:creationId xmlns:p14="http://schemas.microsoft.com/office/powerpoint/2010/main" val="3766372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12725"/>
            <a:ext cx="10515600" cy="911225"/>
          </a:xfrm>
        </p:spPr>
        <p:txBody>
          <a:bodyPr/>
          <a:lstStyle/>
          <a:p>
            <a:r>
              <a:rPr lang="zh-CN" altLang="en-US" dirty="0" smtClean="0"/>
              <a:t>部分国家</a:t>
            </a:r>
            <a:r>
              <a:rPr lang="en-US" altLang="zh-CN" dirty="0" smtClean="0"/>
              <a:t>10</a:t>
            </a:r>
            <a:r>
              <a:rPr lang="zh-CN" altLang="en-US" dirty="0" smtClean="0"/>
              <a:t>年期国债到期收益率</a:t>
            </a:r>
            <a:r>
              <a:rPr lang="en-US" altLang="zh-CN" dirty="0" smtClean="0"/>
              <a:t>(2025-3-14)</a:t>
            </a:r>
            <a:endParaRPr lang="zh-CN" altLang="en-US" dirty="0"/>
          </a:p>
        </p:txBody>
      </p:sp>
      <p:pic>
        <p:nvPicPr>
          <p:cNvPr id="4" name="图片 3"/>
          <p:cNvPicPr>
            <a:picLocks noChangeAspect="1"/>
          </p:cNvPicPr>
          <p:nvPr/>
        </p:nvPicPr>
        <p:blipFill>
          <a:blip r:embed="rId2"/>
          <a:stretch>
            <a:fillRect/>
          </a:stretch>
        </p:blipFill>
        <p:spPr>
          <a:xfrm>
            <a:off x="3886200" y="1223962"/>
            <a:ext cx="3600450" cy="5514975"/>
          </a:xfrm>
          <a:prstGeom prst="rect">
            <a:avLst/>
          </a:prstGeom>
        </p:spPr>
      </p:pic>
    </p:spTree>
    <p:extLst>
      <p:ext uri="{BB962C8B-B14F-4D97-AF65-F5344CB8AC3E}">
        <p14:creationId xmlns:p14="http://schemas.microsoft.com/office/powerpoint/2010/main" val="3992942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2135189" y="1989138"/>
            <a:ext cx="8281987" cy="4114800"/>
          </a:xfrm>
        </p:spPr>
        <p:txBody>
          <a:bodyPr/>
          <a:lstStyle/>
          <a:p>
            <a:r>
              <a:rPr lang="zh-CN" altLang="en-US" dirty="0" smtClean="0"/>
              <a:t>平价债券</a:t>
            </a:r>
            <a:r>
              <a:rPr lang="en-US" altLang="zh-CN" dirty="0"/>
              <a:t>:</a:t>
            </a:r>
            <a:r>
              <a:rPr lang="zh-CN" altLang="en-US" dirty="0"/>
              <a:t>　收益率＝息票率</a:t>
            </a:r>
          </a:p>
          <a:p>
            <a:r>
              <a:rPr lang="zh-CN" altLang="en-US" dirty="0"/>
              <a:t>溢价债券：到期收益率</a:t>
            </a:r>
            <a:r>
              <a:rPr lang="zh-CN" altLang="en-US" dirty="0" smtClean="0"/>
              <a:t>＜当期</a:t>
            </a:r>
            <a:r>
              <a:rPr lang="zh-CN" altLang="en-US" dirty="0"/>
              <a:t>收益率＜息票率</a:t>
            </a:r>
          </a:p>
          <a:p>
            <a:r>
              <a:rPr lang="zh-CN" altLang="en-US" dirty="0" smtClean="0"/>
              <a:t>贴现债券</a:t>
            </a:r>
            <a:r>
              <a:rPr lang="zh-CN" altLang="en-US" dirty="0"/>
              <a:t>：到期收益率</a:t>
            </a:r>
            <a:r>
              <a:rPr lang="zh-CN" altLang="en-US" dirty="0" smtClean="0"/>
              <a:t>＞当期</a:t>
            </a:r>
            <a:r>
              <a:rPr lang="zh-CN" altLang="en-US" dirty="0"/>
              <a:t>收益率＞息票率</a:t>
            </a:r>
          </a:p>
          <a:p>
            <a:endParaRPr lang="en-US" altLang="zh-CN" dirty="0" smtClean="0"/>
          </a:p>
          <a:p>
            <a:r>
              <a:rPr lang="en-US" altLang="zh-CN" dirty="0" smtClean="0"/>
              <a:t>#</a:t>
            </a:r>
            <a:r>
              <a:rPr lang="zh-CN" altLang="en-US" dirty="0"/>
              <a:t>债券投资决策时，应该依照到期收益率的比较，而不能用其他，如本期收益率或息票率</a:t>
            </a:r>
          </a:p>
          <a:p>
            <a:pPr>
              <a:buFont typeface="Wingdings" panose="05000000000000000000" pitchFamily="2" charset="2"/>
              <a:buNone/>
            </a:pPr>
            <a:endParaRPr lang="zh-CN" altLang="en-US" dirty="0"/>
          </a:p>
          <a:p>
            <a:endParaRPr lang="en-US" altLang="zh-CN" dirty="0"/>
          </a:p>
        </p:txBody>
      </p:sp>
    </p:spTree>
    <p:extLst>
      <p:ext uri="{BB962C8B-B14F-4D97-AF65-F5344CB8AC3E}">
        <p14:creationId xmlns:p14="http://schemas.microsoft.com/office/powerpoint/2010/main" val="1250381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3500" dirty="0" smtClean="0"/>
              <a:t>中长期国债发行时一般按面值发行（平价债）</a:t>
            </a:r>
            <a:endParaRPr lang="zh-CN" altLang="en-US" sz="3500" dirty="0"/>
          </a:p>
        </p:txBody>
      </p:sp>
      <p:sp>
        <p:nvSpPr>
          <p:cNvPr id="3" name="内容占位符 2"/>
          <p:cNvSpPr>
            <a:spLocks noGrp="1"/>
          </p:cNvSpPr>
          <p:nvPr>
            <p:ph idx="1"/>
          </p:nvPr>
        </p:nvSpPr>
        <p:spPr>
          <a:xfrm>
            <a:off x="838200" y="1825625"/>
            <a:ext cx="10515600" cy="676943"/>
          </a:xfrm>
        </p:spPr>
        <p:txBody>
          <a:bodyPr/>
          <a:lstStyle/>
          <a:p>
            <a:r>
              <a:rPr lang="zh-CN" altLang="en-US" dirty="0" smtClean="0"/>
              <a:t>如何实现？</a:t>
            </a:r>
            <a:r>
              <a:rPr lang="zh-CN" altLang="en-US" sz="4000" b="1" dirty="0" smtClean="0">
                <a:solidFill>
                  <a:srgbClr val="FF0000"/>
                </a:solidFill>
                <a:latin typeface="隶书" panose="02010509060101010101" pitchFamily="49" charset="-122"/>
                <a:ea typeface="隶书" panose="02010509060101010101" pitchFamily="49" charset="-122"/>
              </a:rPr>
              <a:t>调整票面利率</a:t>
            </a:r>
            <a:endParaRPr lang="zh-CN" altLang="en-US" sz="4000" b="1" dirty="0">
              <a:solidFill>
                <a:srgbClr val="FF0000"/>
              </a:solidFill>
              <a:latin typeface="隶书" panose="02010509060101010101" pitchFamily="49" charset="-122"/>
              <a:ea typeface="隶书" panose="02010509060101010101" pitchFamily="49"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492915194"/>
              </p:ext>
            </p:extLst>
          </p:nvPr>
        </p:nvGraphicFramePr>
        <p:xfrm>
          <a:off x="731837" y="2406199"/>
          <a:ext cx="10728325" cy="3578225"/>
        </p:xfrm>
        <a:graphic>
          <a:graphicData uri="http://schemas.openxmlformats.org/presentationml/2006/ole">
            <mc:AlternateContent xmlns:mc="http://schemas.openxmlformats.org/markup-compatibility/2006">
              <mc:Choice xmlns:v="urn:schemas-microsoft-com:vml" Requires="v">
                <p:oleObj spid="_x0000_s8237" name="Equation" r:id="rId3" imgW="4749480" imgH="1612800" progId="Equation.DSMT4">
                  <p:embed/>
                </p:oleObj>
              </mc:Choice>
              <mc:Fallback>
                <p:oleObj name="Equation" r:id="rId3" imgW="4749480" imgH="1612800" progId="Equation.DSMT4">
                  <p:embed/>
                  <p:pic>
                    <p:nvPicPr>
                      <p:cNvPr id="0" name=""/>
                      <p:cNvPicPr/>
                      <p:nvPr/>
                    </p:nvPicPr>
                    <p:blipFill>
                      <a:blip r:embed="rId4"/>
                      <a:stretch>
                        <a:fillRect/>
                      </a:stretch>
                    </p:blipFill>
                    <p:spPr>
                      <a:xfrm>
                        <a:off x="731837" y="2406199"/>
                        <a:ext cx="10728325" cy="3578225"/>
                      </a:xfrm>
                      <a:prstGeom prst="rect">
                        <a:avLst/>
                      </a:prstGeom>
                    </p:spPr>
                  </p:pic>
                </p:oleObj>
              </mc:Fallback>
            </mc:AlternateContent>
          </a:graphicData>
        </a:graphic>
      </p:graphicFrame>
    </p:spTree>
    <p:extLst>
      <p:ext uri="{BB962C8B-B14F-4D97-AF65-F5344CB8AC3E}">
        <p14:creationId xmlns:p14="http://schemas.microsoft.com/office/powerpoint/2010/main" val="24912225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美国</a:t>
            </a:r>
            <a:r>
              <a:rPr lang="en-US" altLang="zh-CN" dirty="0" smtClean="0"/>
              <a:t>2025</a:t>
            </a:r>
            <a:r>
              <a:rPr lang="zh-CN" altLang="en-US" dirty="0" smtClean="0"/>
              <a:t>年</a:t>
            </a:r>
            <a:r>
              <a:rPr lang="en-US" altLang="zh-CN" dirty="0" smtClean="0"/>
              <a:t>3</a:t>
            </a:r>
            <a:r>
              <a:rPr lang="zh-CN" altLang="en-US" dirty="0" smtClean="0"/>
              <a:t>月份部分</a:t>
            </a:r>
            <a:r>
              <a:rPr lang="zh-CN" altLang="en-US" dirty="0"/>
              <a:t>国债</a:t>
            </a:r>
            <a:r>
              <a:rPr lang="zh-CN" altLang="en-US" dirty="0" smtClean="0"/>
              <a:t>拍卖结果</a:t>
            </a:r>
            <a:endParaRPr lang="zh-CN" altLang="en-US" dirty="0"/>
          </a:p>
        </p:txBody>
      </p:sp>
      <p:pic>
        <p:nvPicPr>
          <p:cNvPr id="4" name="内容占位符 3"/>
          <p:cNvPicPr>
            <a:picLocks noGrp="1" noChangeAspect="1"/>
          </p:cNvPicPr>
          <p:nvPr>
            <p:ph idx="1"/>
          </p:nvPr>
        </p:nvPicPr>
        <p:blipFill>
          <a:blip r:embed="rId2"/>
          <a:stretch>
            <a:fillRect/>
          </a:stretch>
        </p:blipFill>
        <p:spPr>
          <a:xfrm>
            <a:off x="1595418" y="2133600"/>
            <a:ext cx="8672532" cy="2963069"/>
          </a:xfrm>
          <a:prstGeom prst="rect">
            <a:avLst/>
          </a:prstGeom>
        </p:spPr>
      </p:pic>
    </p:spTree>
    <p:extLst>
      <p:ext uri="{BB962C8B-B14F-4D97-AF65-F5344CB8AC3E}">
        <p14:creationId xmlns:p14="http://schemas.microsoft.com/office/powerpoint/2010/main" val="3513117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公司债通常也按面值发行</a:t>
            </a:r>
            <a:endParaRPr lang="zh-CN" altLang="en-US" dirty="0"/>
          </a:p>
        </p:txBody>
      </p:sp>
      <p:sp>
        <p:nvSpPr>
          <p:cNvPr id="3" name="内容占位符 2"/>
          <p:cNvSpPr>
            <a:spLocks noGrp="1"/>
          </p:cNvSpPr>
          <p:nvPr>
            <p:ph idx="1"/>
          </p:nvPr>
        </p:nvSpPr>
        <p:spPr/>
        <p:txBody>
          <a:bodyPr/>
          <a:lstStyle/>
          <a:p>
            <a:pPr>
              <a:spcAft>
                <a:spcPct val="20000"/>
              </a:spcAft>
              <a:buSzPct val="75000"/>
              <a:buFont typeface="Wingdings" panose="05000000000000000000" pitchFamily="2" charset="2"/>
              <a:buChar char="ü"/>
            </a:pPr>
            <a:r>
              <a:rPr lang="en-US" altLang="zh-CN" sz="2377" dirty="0">
                <a:solidFill>
                  <a:srgbClr val="FF0000"/>
                </a:solidFill>
              </a:rPr>
              <a:t>15</a:t>
            </a:r>
            <a:r>
              <a:rPr lang="zh-CN" altLang="en-US" sz="2377" dirty="0">
                <a:solidFill>
                  <a:srgbClr val="FF0000"/>
                </a:solidFill>
              </a:rPr>
              <a:t>海航债（代码：</a:t>
            </a:r>
            <a:r>
              <a:rPr lang="en-US" altLang="zh-CN" sz="2377" dirty="0">
                <a:solidFill>
                  <a:srgbClr val="FF0000"/>
                </a:solidFill>
              </a:rPr>
              <a:t>127312.SH</a:t>
            </a:r>
            <a:r>
              <a:rPr lang="zh-CN" altLang="en-US" sz="2377" dirty="0">
                <a:solidFill>
                  <a:srgbClr val="FF0000"/>
                </a:solidFill>
              </a:rPr>
              <a:t>）</a:t>
            </a:r>
            <a:r>
              <a:rPr lang="en-US" altLang="zh-CN" sz="2377" dirty="0">
                <a:solidFill>
                  <a:srgbClr val="FF0000"/>
                </a:solidFill>
              </a:rPr>
              <a:t> </a:t>
            </a:r>
            <a:r>
              <a:rPr lang="zh-CN" altLang="en-US" sz="2377" dirty="0"/>
              <a:t>是海航集团在</a:t>
            </a:r>
            <a:r>
              <a:rPr lang="en-US" altLang="zh-CN" sz="2377" dirty="0"/>
              <a:t>2015</a:t>
            </a:r>
            <a:r>
              <a:rPr lang="zh-CN" altLang="en-US" sz="2377" dirty="0"/>
              <a:t>年</a:t>
            </a:r>
            <a:r>
              <a:rPr lang="en-US" altLang="zh-CN" sz="2377" dirty="0"/>
              <a:t>11</a:t>
            </a:r>
            <a:r>
              <a:rPr lang="zh-CN" altLang="en-US" sz="2377" dirty="0"/>
              <a:t>月发行的一只</a:t>
            </a:r>
            <a:r>
              <a:rPr lang="en-US" altLang="zh-CN" sz="2377" dirty="0"/>
              <a:t>7</a:t>
            </a:r>
            <a:r>
              <a:rPr lang="zh-CN" altLang="en-US" sz="2377" dirty="0"/>
              <a:t>年期固定利率债券</a:t>
            </a:r>
            <a:r>
              <a:rPr lang="zh-CN" altLang="en-US" sz="2377" dirty="0" smtClean="0"/>
              <a:t>，发行规模</a:t>
            </a:r>
            <a:r>
              <a:rPr lang="en-US" altLang="zh-CN" sz="2377" dirty="0" smtClean="0"/>
              <a:t>30</a:t>
            </a:r>
            <a:r>
              <a:rPr lang="zh-CN" altLang="en-US" sz="2377" dirty="0" smtClean="0"/>
              <a:t>亿，票面利率</a:t>
            </a:r>
            <a:r>
              <a:rPr lang="zh-CN" altLang="en-US" sz="2377" dirty="0"/>
              <a:t>为</a:t>
            </a:r>
            <a:r>
              <a:rPr lang="en-US" altLang="zh-CN" sz="2377" dirty="0"/>
              <a:t>5.99%</a:t>
            </a:r>
            <a:r>
              <a:rPr lang="zh-CN" altLang="en-US" sz="2377" dirty="0"/>
              <a:t>，票面</a:t>
            </a:r>
            <a:r>
              <a:rPr lang="zh-CN" altLang="en-US" sz="2377" dirty="0" smtClean="0"/>
              <a:t>价</a:t>
            </a:r>
            <a:r>
              <a:rPr lang="zh-CN" altLang="en-US" sz="2377" dirty="0"/>
              <a:t>格</a:t>
            </a:r>
            <a:r>
              <a:rPr lang="en-US" altLang="zh-CN" sz="2377" dirty="0" smtClean="0"/>
              <a:t>100</a:t>
            </a:r>
            <a:r>
              <a:rPr lang="zh-CN" altLang="en-US" sz="2377" dirty="0" smtClean="0"/>
              <a:t>元</a:t>
            </a:r>
            <a:r>
              <a:rPr lang="zh-CN" altLang="en-US" sz="2377" dirty="0"/>
              <a:t>，发行价格</a:t>
            </a:r>
            <a:r>
              <a:rPr lang="en-US" altLang="zh-CN" sz="2377" dirty="0"/>
              <a:t>100</a:t>
            </a:r>
            <a:r>
              <a:rPr lang="zh-CN" altLang="en-US" sz="2377" dirty="0"/>
              <a:t>元</a:t>
            </a:r>
            <a:r>
              <a:rPr lang="zh-CN" altLang="en-US" sz="2377" dirty="0" smtClean="0"/>
              <a:t>。</a:t>
            </a:r>
            <a:endParaRPr lang="en-US" altLang="zh-CN" sz="2377" dirty="0"/>
          </a:p>
          <a:p>
            <a:pPr>
              <a:spcAft>
                <a:spcPct val="20000"/>
              </a:spcAft>
              <a:buSzPct val="75000"/>
              <a:buFont typeface="Wingdings" panose="05000000000000000000" pitchFamily="2" charset="2"/>
              <a:buChar char="ü"/>
            </a:pPr>
            <a:r>
              <a:rPr lang="en-US" altLang="zh-CN" sz="2377" dirty="0">
                <a:solidFill>
                  <a:srgbClr val="0070C0"/>
                </a:solidFill>
              </a:rPr>
              <a:t>18</a:t>
            </a:r>
            <a:r>
              <a:rPr lang="zh-CN" altLang="en-US" sz="2377" dirty="0">
                <a:solidFill>
                  <a:srgbClr val="0070C0"/>
                </a:solidFill>
              </a:rPr>
              <a:t>长电</a:t>
            </a:r>
            <a:r>
              <a:rPr lang="en-US" altLang="zh-CN" sz="2377" dirty="0">
                <a:solidFill>
                  <a:srgbClr val="0070C0"/>
                </a:solidFill>
              </a:rPr>
              <a:t>01</a:t>
            </a:r>
            <a:r>
              <a:rPr lang="zh-CN" altLang="en-US" sz="2377" dirty="0">
                <a:solidFill>
                  <a:srgbClr val="0070C0"/>
                </a:solidFill>
              </a:rPr>
              <a:t>（代码：</a:t>
            </a:r>
            <a:r>
              <a:rPr lang="en-US" altLang="zh-CN" sz="2377" dirty="0">
                <a:solidFill>
                  <a:srgbClr val="0070C0"/>
                </a:solidFill>
              </a:rPr>
              <a:t>143188.SH</a:t>
            </a:r>
            <a:r>
              <a:rPr lang="zh-CN" altLang="en-US" sz="2377" dirty="0">
                <a:solidFill>
                  <a:srgbClr val="0070C0"/>
                </a:solidFill>
              </a:rPr>
              <a:t>）</a:t>
            </a:r>
            <a:r>
              <a:rPr lang="en-US" altLang="zh-CN" sz="2377" dirty="0">
                <a:solidFill>
                  <a:srgbClr val="0070C0"/>
                </a:solidFill>
              </a:rPr>
              <a:t> </a:t>
            </a:r>
            <a:r>
              <a:rPr lang="zh-CN" altLang="en-US" sz="2377" dirty="0"/>
              <a:t>是长江电力（</a:t>
            </a:r>
            <a:r>
              <a:rPr lang="en-US" altLang="zh-CN" sz="2377" dirty="0"/>
              <a:t>600900.SH</a:t>
            </a:r>
            <a:r>
              <a:rPr lang="zh-CN" altLang="en-US" sz="2377" dirty="0"/>
              <a:t>）在</a:t>
            </a:r>
            <a:r>
              <a:rPr lang="en-US" altLang="zh-CN" sz="2377" dirty="0"/>
              <a:t>2018</a:t>
            </a:r>
            <a:r>
              <a:rPr lang="zh-CN" altLang="en-US" sz="2377" dirty="0"/>
              <a:t>年</a:t>
            </a:r>
            <a:r>
              <a:rPr lang="en-US" altLang="zh-CN" sz="2377" dirty="0"/>
              <a:t>7</a:t>
            </a:r>
            <a:r>
              <a:rPr lang="zh-CN" altLang="en-US" sz="2377" dirty="0"/>
              <a:t>月发行的一只</a:t>
            </a:r>
            <a:r>
              <a:rPr lang="en-US" altLang="zh-CN" sz="2377" dirty="0"/>
              <a:t>3</a:t>
            </a:r>
            <a:r>
              <a:rPr lang="zh-CN" altLang="en-US" sz="2377" dirty="0"/>
              <a:t>年期固定利率债券</a:t>
            </a:r>
            <a:r>
              <a:rPr lang="zh-CN" altLang="en-US" sz="2377" dirty="0" smtClean="0"/>
              <a:t>，</a:t>
            </a:r>
            <a:r>
              <a:rPr lang="zh-CN" altLang="en-US" sz="2377" dirty="0"/>
              <a:t> </a:t>
            </a:r>
            <a:r>
              <a:rPr lang="zh-CN" altLang="en-US" sz="2377" dirty="0" smtClean="0"/>
              <a:t>发行规模</a:t>
            </a:r>
            <a:r>
              <a:rPr lang="en-US" altLang="zh-CN" sz="2377" dirty="0" smtClean="0"/>
              <a:t>25</a:t>
            </a:r>
            <a:r>
              <a:rPr lang="zh-CN" altLang="en-US" sz="2377" dirty="0" smtClean="0"/>
              <a:t>亿</a:t>
            </a:r>
            <a:r>
              <a:rPr lang="zh-CN" altLang="en-US" sz="2377" dirty="0"/>
              <a:t>，</a:t>
            </a:r>
            <a:r>
              <a:rPr lang="zh-CN" altLang="en-US" sz="2377" dirty="0" smtClean="0"/>
              <a:t>票面利率</a:t>
            </a:r>
            <a:r>
              <a:rPr lang="zh-CN" altLang="en-US" sz="2377" dirty="0"/>
              <a:t>为</a:t>
            </a:r>
            <a:r>
              <a:rPr lang="en-US" altLang="zh-CN" sz="2377" dirty="0"/>
              <a:t>4.19%</a:t>
            </a:r>
            <a:r>
              <a:rPr lang="zh-CN" altLang="en-US" sz="2377" dirty="0"/>
              <a:t>，票面</a:t>
            </a:r>
            <a:r>
              <a:rPr lang="zh-CN" altLang="en-US" sz="2377" dirty="0" smtClean="0"/>
              <a:t>价格</a:t>
            </a:r>
            <a:r>
              <a:rPr lang="en-US" altLang="zh-CN" sz="2377" dirty="0" smtClean="0"/>
              <a:t>100</a:t>
            </a:r>
            <a:r>
              <a:rPr lang="zh-CN" altLang="en-US" sz="2377" dirty="0" smtClean="0"/>
              <a:t>元，发行价格</a:t>
            </a:r>
            <a:r>
              <a:rPr lang="en-US" altLang="zh-CN" sz="2377" dirty="0" smtClean="0"/>
              <a:t>100</a:t>
            </a:r>
            <a:r>
              <a:rPr lang="zh-CN" altLang="en-US" sz="2377" dirty="0" smtClean="0"/>
              <a:t>元。</a:t>
            </a:r>
            <a:endParaRPr lang="en-US" altLang="zh-CN" sz="2377" dirty="0" smtClean="0"/>
          </a:p>
          <a:p>
            <a:pPr>
              <a:spcAft>
                <a:spcPct val="20000"/>
              </a:spcAft>
              <a:buSzPct val="75000"/>
              <a:buFont typeface="Wingdings" panose="05000000000000000000" pitchFamily="2" charset="2"/>
              <a:buChar char="ü"/>
            </a:pPr>
            <a:r>
              <a:rPr lang="en-US" altLang="zh-CN" sz="2400" dirty="0">
                <a:solidFill>
                  <a:srgbClr val="FF0000"/>
                </a:solidFill>
              </a:rPr>
              <a:t>20</a:t>
            </a:r>
            <a:r>
              <a:rPr lang="zh-CN" altLang="en-US" sz="2400" dirty="0">
                <a:solidFill>
                  <a:srgbClr val="FF0000"/>
                </a:solidFill>
              </a:rPr>
              <a:t>恒大</a:t>
            </a:r>
            <a:r>
              <a:rPr lang="en-US" altLang="zh-CN" sz="2400" dirty="0" smtClean="0">
                <a:solidFill>
                  <a:srgbClr val="FF0000"/>
                </a:solidFill>
              </a:rPr>
              <a:t>04</a:t>
            </a:r>
            <a:r>
              <a:rPr lang="zh-CN" altLang="en-US" sz="2400" dirty="0" smtClean="0">
                <a:solidFill>
                  <a:srgbClr val="FF0000"/>
                </a:solidFill>
              </a:rPr>
              <a:t>（</a:t>
            </a:r>
            <a:r>
              <a:rPr lang="zh-CN" altLang="en-US" sz="2377" dirty="0" smtClean="0">
                <a:solidFill>
                  <a:srgbClr val="FF0000"/>
                </a:solidFill>
              </a:rPr>
              <a:t>代码</a:t>
            </a:r>
            <a:r>
              <a:rPr lang="zh-CN" altLang="en-US" sz="2377" dirty="0">
                <a:solidFill>
                  <a:srgbClr val="FF0000"/>
                </a:solidFill>
              </a:rPr>
              <a:t>： </a:t>
            </a:r>
            <a:r>
              <a:rPr lang="en-US" altLang="zh-CN" sz="2377" dirty="0" smtClean="0">
                <a:solidFill>
                  <a:srgbClr val="FF0000"/>
                </a:solidFill>
              </a:rPr>
              <a:t>149247.SZ</a:t>
            </a:r>
            <a:r>
              <a:rPr lang="zh-CN" altLang="en-US" sz="2400" dirty="0">
                <a:solidFill>
                  <a:srgbClr val="FF0000"/>
                </a:solidFill>
              </a:rPr>
              <a:t> ）</a:t>
            </a:r>
            <a:r>
              <a:rPr lang="zh-CN" altLang="en-US" sz="2400" b="1" dirty="0" smtClean="0"/>
              <a:t>是</a:t>
            </a:r>
            <a:r>
              <a:rPr lang="zh-CN" altLang="en-US" sz="2377" dirty="0"/>
              <a:t>恒大</a:t>
            </a:r>
            <a:r>
              <a:rPr lang="zh-CN" altLang="en-US" sz="2377" dirty="0" smtClean="0"/>
              <a:t>地产在</a:t>
            </a:r>
            <a:r>
              <a:rPr lang="en-US" altLang="zh-CN" sz="2377" dirty="0" smtClean="0"/>
              <a:t>2020</a:t>
            </a:r>
            <a:r>
              <a:rPr lang="zh-CN" altLang="en-US" sz="2377" dirty="0" smtClean="0"/>
              <a:t>年</a:t>
            </a:r>
            <a:r>
              <a:rPr lang="en-US" altLang="zh-CN" sz="2377" dirty="0" smtClean="0"/>
              <a:t>9</a:t>
            </a:r>
            <a:r>
              <a:rPr lang="zh-CN" altLang="en-US" sz="2377" dirty="0" smtClean="0"/>
              <a:t>月</a:t>
            </a:r>
            <a:r>
              <a:rPr lang="zh-CN" altLang="en-US" sz="2377" dirty="0"/>
              <a:t>发行的一</a:t>
            </a:r>
            <a:r>
              <a:rPr lang="zh-CN" altLang="en-US" sz="2377" dirty="0" smtClean="0"/>
              <a:t>只</a:t>
            </a:r>
            <a:r>
              <a:rPr lang="en-US" altLang="zh-CN" sz="2377" dirty="0" smtClean="0"/>
              <a:t>5</a:t>
            </a:r>
            <a:r>
              <a:rPr lang="zh-CN" altLang="en-US" sz="2377" dirty="0" smtClean="0"/>
              <a:t>年</a:t>
            </a:r>
            <a:r>
              <a:rPr lang="zh-CN" altLang="en-US" sz="2377" dirty="0"/>
              <a:t>期固定利率债券， 发行</a:t>
            </a:r>
            <a:r>
              <a:rPr lang="zh-CN" altLang="en-US" sz="2377" dirty="0" smtClean="0"/>
              <a:t>规模</a:t>
            </a:r>
            <a:r>
              <a:rPr lang="en-US" altLang="zh-CN" sz="2377" dirty="0" smtClean="0"/>
              <a:t>40</a:t>
            </a:r>
            <a:r>
              <a:rPr lang="zh-CN" altLang="en-US" sz="2377" dirty="0" smtClean="0"/>
              <a:t>亿</a:t>
            </a:r>
            <a:r>
              <a:rPr lang="zh-CN" altLang="en-US" sz="2377" dirty="0"/>
              <a:t>，票面利率</a:t>
            </a:r>
            <a:r>
              <a:rPr lang="zh-CN" altLang="en-US" sz="2377" dirty="0" smtClean="0"/>
              <a:t>为</a:t>
            </a:r>
            <a:r>
              <a:rPr lang="en-US" altLang="zh-CN" sz="2377" dirty="0" smtClean="0"/>
              <a:t>5.8%</a:t>
            </a:r>
            <a:r>
              <a:rPr lang="zh-CN" altLang="en-US" sz="2377" dirty="0"/>
              <a:t>，票面价格</a:t>
            </a:r>
            <a:r>
              <a:rPr lang="en-US" altLang="zh-CN" sz="2377" dirty="0"/>
              <a:t>100</a:t>
            </a:r>
            <a:r>
              <a:rPr lang="zh-CN" altLang="en-US" sz="2377" dirty="0"/>
              <a:t>元，发行价格</a:t>
            </a:r>
            <a:r>
              <a:rPr lang="en-US" altLang="zh-CN" sz="2377" dirty="0"/>
              <a:t>100</a:t>
            </a:r>
            <a:r>
              <a:rPr lang="zh-CN" altLang="en-US" sz="2377" dirty="0" smtClean="0"/>
              <a:t>元。</a:t>
            </a:r>
            <a:endParaRPr lang="en-US" altLang="zh-CN" sz="2377" dirty="0" smtClean="0"/>
          </a:p>
          <a:p>
            <a:pPr lvl="1">
              <a:spcAft>
                <a:spcPct val="20000"/>
              </a:spcAft>
              <a:buSzPct val="75000"/>
              <a:buFont typeface="Wingdings" panose="05000000000000000000" pitchFamily="2" charset="2"/>
              <a:buChar char="ü"/>
            </a:pPr>
            <a:r>
              <a:rPr lang="en-US" altLang="zh-CN" sz="1977" dirty="0" smtClean="0"/>
              <a:t>2020</a:t>
            </a:r>
            <a:r>
              <a:rPr lang="zh-CN" altLang="en-US" sz="1977" dirty="0" smtClean="0"/>
              <a:t>年</a:t>
            </a:r>
            <a:r>
              <a:rPr lang="en-US" altLang="zh-CN" sz="1977" dirty="0" smtClean="0"/>
              <a:t>9</a:t>
            </a:r>
            <a:r>
              <a:rPr lang="zh-CN" altLang="en-US" sz="1977" dirty="0" smtClean="0"/>
              <a:t>月发行价</a:t>
            </a:r>
            <a:r>
              <a:rPr lang="en-US" altLang="zh-CN" sz="1977" dirty="0" smtClean="0"/>
              <a:t>100</a:t>
            </a:r>
            <a:r>
              <a:rPr lang="zh-CN" altLang="en-US" sz="1977" dirty="0" smtClean="0"/>
              <a:t>元</a:t>
            </a:r>
            <a:endParaRPr lang="en-US" altLang="zh-CN" sz="1977" dirty="0" smtClean="0"/>
          </a:p>
          <a:p>
            <a:pPr lvl="1">
              <a:spcAft>
                <a:spcPct val="20000"/>
              </a:spcAft>
              <a:buSzPct val="75000"/>
              <a:buFont typeface="Wingdings" panose="05000000000000000000" pitchFamily="2" charset="2"/>
              <a:buChar char="ü"/>
            </a:pPr>
            <a:r>
              <a:rPr lang="zh-CN" altLang="en-US" sz="1977" dirty="0" smtClean="0"/>
              <a:t>随着恒大集团破产，该债券现在无法交易</a:t>
            </a:r>
            <a:endParaRPr lang="en-US" altLang="zh-CN" sz="1977" dirty="0"/>
          </a:p>
          <a:p>
            <a:pPr>
              <a:spcAft>
                <a:spcPct val="20000"/>
              </a:spcAft>
              <a:buSzPct val="75000"/>
              <a:buFont typeface="Wingdings" panose="05000000000000000000" pitchFamily="2" charset="2"/>
              <a:buChar char="ü"/>
            </a:pPr>
            <a:endParaRPr lang="zh-CN" altLang="en-US" dirty="0"/>
          </a:p>
        </p:txBody>
      </p:sp>
    </p:spTree>
    <p:extLst>
      <p:ext uri="{BB962C8B-B14F-4D97-AF65-F5344CB8AC3E}">
        <p14:creationId xmlns:p14="http://schemas.microsoft.com/office/powerpoint/2010/main" val="2552642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ctr"/>
            <a:r>
              <a:rPr lang="en-US" altLang="zh-CN" dirty="0" smtClean="0"/>
              <a:t>8.4 </a:t>
            </a:r>
            <a:r>
              <a:rPr lang="zh-CN" altLang="en-US" dirty="0" smtClean="0"/>
              <a:t>解读债券行情表</a:t>
            </a:r>
            <a:r>
              <a:rPr lang="zh-CN" altLang="en-US" dirty="0"/>
              <a:t>　　　</a:t>
            </a:r>
          </a:p>
        </p:txBody>
      </p:sp>
      <p:sp>
        <p:nvSpPr>
          <p:cNvPr id="12291" name="Rectangle 3"/>
          <p:cNvSpPr>
            <a:spLocks noGrp="1" noChangeArrowheads="1"/>
          </p:cNvSpPr>
          <p:nvPr>
            <p:ph type="body" idx="1"/>
          </p:nvPr>
        </p:nvSpPr>
        <p:spPr>
          <a:xfrm>
            <a:off x="2706689" y="1690688"/>
            <a:ext cx="7134225" cy="1533775"/>
          </a:xfrm>
        </p:spPr>
        <p:txBody>
          <a:bodyPr/>
          <a:lstStyle/>
          <a:p>
            <a:r>
              <a:rPr lang="zh-CN" altLang="en-US" sz="2400" dirty="0"/>
              <a:t>美国</a:t>
            </a:r>
            <a:r>
              <a:rPr lang="zh-CN" altLang="en-US" sz="2400" b="1" dirty="0"/>
              <a:t>剥离</a:t>
            </a:r>
            <a:r>
              <a:rPr lang="en-US" altLang="zh-CN" sz="2400" b="1" dirty="0"/>
              <a:t>(</a:t>
            </a:r>
            <a:r>
              <a:rPr lang="zh-CN" altLang="en-US" sz="2400" b="1" dirty="0"/>
              <a:t>付息</a:t>
            </a:r>
            <a:r>
              <a:rPr lang="en-US" altLang="zh-CN" sz="2400" b="1" dirty="0"/>
              <a:t>)</a:t>
            </a:r>
            <a:r>
              <a:rPr lang="zh-CN" altLang="en-US" sz="2400" b="1" dirty="0" smtClean="0"/>
              <a:t>债券</a:t>
            </a:r>
            <a:r>
              <a:rPr lang="en-US" altLang="zh-CN" sz="2400" b="1" dirty="0" smtClean="0"/>
              <a:t>2006-05-22</a:t>
            </a:r>
          </a:p>
          <a:p>
            <a:pPr lvl="1"/>
            <a:r>
              <a:rPr lang="en-US" altLang="zh-CN" sz="2000" b="1" dirty="0" smtClean="0"/>
              <a:t>ci: </a:t>
            </a:r>
            <a:r>
              <a:rPr lang="zh-CN" altLang="en-US" sz="2000" b="1" dirty="0" smtClean="0"/>
              <a:t>票息</a:t>
            </a:r>
            <a:endParaRPr lang="en-US" altLang="zh-CN" sz="2000" b="1" dirty="0"/>
          </a:p>
          <a:p>
            <a:pPr lvl="1"/>
            <a:r>
              <a:rPr lang="en-US" altLang="zh-CN" sz="2000" b="1" dirty="0" err="1" smtClean="0"/>
              <a:t>bp</a:t>
            </a:r>
            <a:r>
              <a:rPr lang="en-US" altLang="zh-CN" sz="2000" b="1" dirty="0" smtClean="0"/>
              <a:t>: </a:t>
            </a:r>
            <a:r>
              <a:rPr lang="zh-CN" altLang="en-US" sz="2000" b="1" dirty="0" smtClean="0"/>
              <a:t>长期国债本金（长期国债原始到期期限</a:t>
            </a:r>
            <a:r>
              <a:rPr lang="en-US" altLang="zh-CN" sz="2000" b="1" dirty="0" smtClean="0"/>
              <a:t>&gt;10</a:t>
            </a:r>
            <a:r>
              <a:rPr lang="zh-CN" altLang="en-US" sz="2000" b="1" dirty="0" smtClean="0"/>
              <a:t>年）</a:t>
            </a:r>
            <a:endParaRPr lang="en-US" altLang="zh-CN" sz="2000" b="1" dirty="0" smtClean="0"/>
          </a:p>
          <a:p>
            <a:pPr lvl="1"/>
            <a:r>
              <a:rPr lang="en-US" altLang="zh-CN" sz="2000" b="1" dirty="0" smtClean="0"/>
              <a:t>np: </a:t>
            </a:r>
            <a:r>
              <a:rPr lang="zh-CN" altLang="en-US" sz="2000" b="1" dirty="0" smtClean="0"/>
              <a:t>中期国库券本金（中期国债原始到期期限</a:t>
            </a:r>
            <a:r>
              <a:rPr lang="en-US" altLang="zh-CN" sz="2000" b="1" dirty="0" smtClean="0"/>
              <a:t>&lt;=10</a:t>
            </a:r>
            <a:r>
              <a:rPr lang="zh-CN" altLang="en-US" sz="2000" b="1" dirty="0" smtClean="0"/>
              <a:t>年）</a:t>
            </a:r>
            <a:endParaRPr lang="zh-CN" altLang="en-US" sz="2000" b="1" dirty="0"/>
          </a:p>
        </p:txBody>
      </p:sp>
      <p:pic>
        <p:nvPicPr>
          <p:cNvPr id="2" name="图片 1"/>
          <p:cNvPicPr>
            <a:picLocks noChangeAspect="1"/>
          </p:cNvPicPr>
          <p:nvPr/>
        </p:nvPicPr>
        <p:blipFill>
          <a:blip r:embed="rId2"/>
          <a:stretch>
            <a:fillRect/>
          </a:stretch>
        </p:blipFill>
        <p:spPr>
          <a:xfrm>
            <a:off x="1934678" y="3626469"/>
            <a:ext cx="8479857" cy="3083325"/>
          </a:xfrm>
          <a:prstGeom prst="rect">
            <a:avLst/>
          </a:prstGeom>
        </p:spPr>
      </p:pic>
    </p:spTree>
    <p:extLst>
      <p:ext uri="{BB962C8B-B14F-4D97-AF65-F5344CB8AC3E}">
        <p14:creationId xmlns:p14="http://schemas.microsoft.com/office/powerpoint/2010/main" val="3047827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美国国债行情表</a:t>
            </a:r>
            <a:endParaRPr lang="zh-CN" altLang="en-US" dirty="0"/>
          </a:p>
        </p:txBody>
      </p:sp>
      <p:pic>
        <p:nvPicPr>
          <p:cNvPr id="4" name="图片 3"/>
          <p:cNvPicPr>
            <a:picLocks noChangeAspect="1"/>
          </p:cNvPicPr>
          <p:nvPr/>
        </p:nvPicPr>
        <p:blipFill>
          <a:blip r:embed="rId2"/>
          <a:stretch>
            <a:fillRect/>
          </a:stretch>
        </p:blipFill>
        <p:spPr>
          <a:xfrm>
            <a:off x="1435856" y="1690688"/>
            <a:ext cx="9065306" cy="4892992"/>
          </a:xfrm>
          <a:prstGeom prst="rect">
            <a:avLst/>
          </a:prstGeom>
        </p:spPr>
      </p:pic>
    </p:spTree>
    <p:extLst>
      <p:ext uri="{BB962C8B-B14F-4D97-AF65-F5344CB8AC3E}">
        <p14:creationId xmlns:p14="http://schemas.microsoft.com/office/powerpoint/2010/main" val="3027432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ctr"/>
            <a:r>
              <a:rPr lang="en-US" altLang="zh-CN" dirty="0" smtClean="0"/>
              <a:t>8.5 </a:t>
            </a:r>
            <a:r>
              <a:rPr lang="zh-CN" altLang="en-US" dirty="0" smtClean="0"/>
              <a:t>为什么</a:t>
            </a:r>
            <a:r>
              <a:rPr lang="zh-CN" altLang="en-US" dirty="0"/>
              <a:t>到期日相同而收益不同</a:t>
            </a:r>
          </a:p>
        </p:txBody>
      </p:sp>
      <p:sp>
        <p:nvSpPr>
          <p:cNvPr id="17411" name="Rectangle 3"/>
          <p:cNvSpPr>
            <a:spLocks noGrp="1" noChangeArrowheads="1"/>
          </p:cNvSpPr>
          <p:nvPr>
            <p:ph type="body" idx="1"/>
          </p:nvPr>
        </p:nvSpPr>
        <p:spPr>
          <a:xfrm>
            <a:off x="2135188" y="2017713"/>
            <a:ext cx="7993062" cy="4114800"/>
          </a:xfrm>
        </p:spPr>
        <p:txBody>
          <a:bodyPr/>
          <a:lstStyle/>
          <a:p>
            <a:r>
              <a:rPr lang="zh-CN" altLang="en-US" dirty="0" smtClean="0"/>
              <a:t>票面利率的影响</a:t>
            </a:r>
            <a:endParaRPr lang="en-US" altLang="zh-CN" dirty="0" smtClean="0"/>
          </a:p>
          <a:p>
            <a:pPr lvl="1"/>
            <a:r>
              <a:rPr lang="zh-CN" altLang="en-US" dirty="0" smtClean="0"/>
              <a:t>两</a:t>
            </a:r>
            <a:r>
              <a:rPr lang="zh-CN" altLang="en-US" dirty="0"/>
              <a:t>个</a:t>
            </a:r>
            <a:r>
              <a:rPr lang="en-US" altLang="zh-CN" dirty="0"/>
              <a:t>2</a:t>
            </a:r>
            <a:r>
              <a:rPr lang="zh-CN" altLang="en-US" dirty="0"/>
              <a:t>年期债券，一个息票率</a:t>
            </a:r>
            <a:r>
              <a:rPr lang="en-US" altLang="zh-CN" dirty="0"/>
              <a:t>5%</a:t>
            </a:r>
            <a:r>
              <a:rPr lang="zh-CN" altLang="en-US" dirty="0"/>
              <a:t>，另一个</a:t>
            </a:r>
            <a:r>
              <a:rPr lang="en-US" altLang="zh-CN" dirty="0"/>
              <a:t>10%</a:t>
            </a:r>
          </a:p>
          <a:p>
            <a:pPr lvl="1"/>
            <a:r>
              <a:rPr lang="en-US" altLang="zh-CN" dirty="0"/>
              <a:t>1</a:t>
            </a:r>
            <a:r>
              <a:rPr lang="zh-CN" altLang="en-US" dirty="0"/>
              <a:t>年、</a:t>
            </a:r>
            <a:r>
              <a:rPr lang="en-US" altLang="zh-CN" dirty="0"/>
              <a:t>2</a:t>
            </a:r>
            <a:r>
              <a:rPr lang="zh-CN" altLang="en-US" dirty="0"/>
              <a:t>年期即期利率分别是</a:t>
            </a:r>
            <a:r>
              <a:rPr lang="en-US" altLang="zh-CN" dirty="0"/>
              <a:t>4%</a:t>
            </a:r>
            <a:r>
              <a:rPr lang="zh-CN" altLang="en-US" dirty="0"/>
              <a:t>，</a:t>
            </a:r>
            <a:r>
              <a:rPr lang="en-US" altLang="zh-CN" dirty="0"/>
              <a:t>6%</a:t>
            </a:r>
            <a:r>
              <a:rPr lang="zh-CN" altLang="en-US" dirty="0"/>
              <a:t>。</a:t>
            </a:r>
          </a:p>
          <a:p>
            <a:pPr lvl="2"/>
            <a:r>
              <a:rPr lang="zh-CN" altLang="en-US" dirty="0"/>
              <a:t>先求出两个债券的市场价格（</a:t>
            </a:r>
            <a:r>
              <a:rPr lang="en-US" altLang="zh-CN" dirty="0"/>
              <a:t>982.57</a:t>
            </a:r>
            <a:r>
              <a:rPr lang="zh-CN" altLang="en-US" dirty="0"/>
              <a:t>；</a:t>
            </a:r>
            <a:r>
              <a:rPr lang="en-US" altLang="zh-CN" dirty="0"/>
              <a:t>1075.15</a:t>
            </a:r>
            <a:r>
              <a:rPr lang="zh-CN" altLang="en-US" dirty="0"/>
              <a:t>）</a:t>
            </a:r>
          </a:p>
          <a:p>
            <a:pPr lvl="2"/>
            <a:r>
              <a:rPr lang="zh-CN" altLang="en-US" dirty="0"/>
              <a:t>再求每个债券的到期收益率（</a:t>
            </a:r>
            <a:r>
              <a:rPr lang="en-US" altLang="zh-CN" dirty="0"/>
              <a:t>5.950%</a:t>
            </a:r>
            <a:r>
              <a:rPr lang="zh-CN" altLang="en-US" dirty="0"/>
              <a:t>；</a:t>
            </a:r>
            <a:r>
              <a:rPr lang="en-US" altLang="zh-CN" dirty="0"/>
              <a:t>5.9064%</a:t>
            </a:r>
            <a:r>
              <a:rPr lang="zh-CN" altLang="en-US" dirty="0"/>
              <a:t>）</a:t>
            </a:r>
          </a:p>
          <a:p>
            <a:pPr lvl="2"/>
            <a:endParaRPr lang="zh-CN" altLang="en-US" dirty="0"/>
          </a:p>
          <a:p>
            <a:r>
              <a:rPr lang="zh-CN" altLang="en-US" dirty="0"/>
              <a:t>收益曲线不是水平线时，息票利率不同而期限相同的债券的到期收益率不同。</a:t>
            </a:r>
          </a:p>
          <a:p>
            <a:endParaRPr lang="en-US" altLang="zh-CN" dirty="0"/>
          </a:p>
        </p:txBody>
      </p:sp>
    </p:spTree>
    <p:extLst>
      <p:ext uri="{BB962C8B-B14F-4D97-AF65-F5344CB8AC3E}">
        <p14:creationId xmlns:p14="http://schemas.microsoft.com/office/powerpoint/2010/main" val="3258816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a:r>
              <a:rPr lang="zh-CN" altLang="en-US" dirty="0"/>
              <a:t>影响债券收益率的因素</a:t>
            </a:r>
          </a:p>
        </p:txBody>
      </p:sp>
      <p:sp>
        <p:nvSpPr>
          <p:cNvPr id="18435" name="Rectangle 3"/>
          <p:cNvSpPr>
            <a:spLocks noGrp="1" noChangeArrowheads="1"/>
          </p:cNvSpPr>
          <p:nvPr>
            <p:ph type="body" idx="1"/>
          </p:nvPr>
        </p:nvSpPr>
        <p:spPr>
          <a:xfrm>
            <a:off x="838200" y="1825625"/>
            <a:ext cx="4600074" cy="4351338"/>
          </a:xfrm>
        </p:spPr>
        <p:txBody>
          <a:bodyPr>
            <a:normAutofit lnSpcReduction="10000"/>
          </a:bodyPr>
          <a:lstStyle/>
          <a:p>
            <a:r>
              <a:rPr lang="zh-CN" altLang="en-US" dirty="0"/>
              <a:t>违约风险</a:t>
            </a:r>
          </a:p>
          <a:p>
            <a:r>
              <a:rPr lang="zh-CN" altLang="en-US" dirty="0"/>
              <a:t>税收</a:t>
            </a:r>
          </a:p>
          <a:p>
            <a:r>
              <a:rPr lang="zh-CN" altLang="en-US" dirty="0"/>
              <a:t>可</a:t>
            </a:r>
            <a:r>
              <a:rPr lang="zh-CN" altLang="en-US" dirty="0" smtClean="0"/>
              <a:t>赎回</a:t>
            </a:r>
            <a:endParaRPr lang="en-US" altLang="zh-CN" dirty="0" smtClean="0"/>
          </a:p>
          <a:p>
            <a:pPr lvl="1"/>
            <a:r>
              <a:rPr lang="zh-CN" altLang="en-US" dirty="0" smtClean="0"/>
              <a:t>有利发行人</a:t>
            </a:r>
            <a:endParaRPr lang="en-US" altLang="zh-CN" dirty="0" smtClean="0"/>
          </a:p>
          <a:p>
            <a:pPr lvl="1"/>
            <a:r>
              <a:rPr lang="zh-CN" altLang="en-US" dirty="0" smtClean="0"/>
              <a:t>降低债券价格</a:t>
            </a:r>
            <a:endParaRPr lang="en-US" altLang="zh-CN" dirty="0" smtClean="0"/>
          </a:p>
          <a:p>
            <a:pPr lvl="1"/>
            <a:r>
              <a:rPr lang="zh-CN" altLang="en-US" dirty="0" smtClean="0"/>
              <a:t>提高到期收益率</a:t>
            </a:r>
            <a:endParaRPr lang="en-US" altLang="zh-CN" dirty="0" smtClean="0"/>
          </a:p>
          <a:p>
            <a:r>
              <a:rPr lang="zh-CN" altLang="en-US" dirty="0" smtClean="0"/>
              <a:t>可转换</a:t>
            </a:r>
            <a:endParaRPr lang="en-US" altLang="zh-CN" dirty="0" smtClean="0"/>
          </a:p>
          <a:p>
            <a:pPr lvl="1"/>
            <a:r>
              <a:rPr lang="zh-CN" altLang="en-US" dirty="0" smtClean="0"/>
              <a:t>有利持有人</a:t>
            </a:r>
            <a:endParaRPr lang="en-US" altLang="zh-CN" dirty="0" smtClean="0"/>
          </a:p>
          <a:p>
            <a:pPr lvl="1"/>
            <a:r>
              <a:rPr lang="zh-CN" altLang="en-US" dirty="0" smtClean="0"/>
              <a:t>提高债券价格</a:t>
            </a:r>
            <a:endParaRPr lang="en-US" altLang="zh-CN" dirty="0" smtClean="0"/>
          </a:p>
          <a:p>
            <a:pPr lvl="1"/>
            <a:r>
              <a:rPr lang="zh-CN" altLang="en-US" dirty="0" smtClean="0"/>
              <a:t>降低到期收益率</a:t>
            </a:r>
            <a:endParaRPr lang="zh-CN" altLang="en-US" dirty="0"/>
          </a:p>
        </p:txBody>
      </p:sp>
      <p:pic>
        <p:nvPicPr>
          <p:cNvPr id="18436" name="Picture 4" descr="价格lil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7639" y="1825625"/>
            <a:ext cx="5334000" cy="380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70634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ctr"/>
            <a:r>
              <a:rPr lang="en-US" altLang="zh-CN" dirty="0" smtClean="0"/>
              <a:t>8.6 </a:t>
            </a:r>
            <a:r>
              <a:rPr lang="zh-CN" altLang="en-US" dirty="0" smtClean="0"/>
              <a:t>债券价格</a:t>
            </a:r>
            <a:r>
              <a:rPr lang="zh-CN" altLang="en-US" dirty="0"/>
              <a:t>的波动</a:t>
            </a:r>
          </a:p>
        </p:txBody>
      </p:sp>
      <p:sp>
        <p:nvSpPr>
          <p:cNvPr id="19459" name="Rectangle 3"/>
          <p:cNvSpPr>
            <a:spLocks noGrp="1" noChangeArrowheads="1"/>
          </p:cNvSpPr>
          <p:nvPr>
            <p:ph type="body" idx="1"/>
          </p:nvPr>
        </p:nvSpPr>
        <p:spPr/>
        <p:txBody>
          <a:bodyPr/>
          <a:lstStyle/>
          <a:p>
            <a:r>
              <a:rPr lang="zh-CN" altLang="en-US" dirty="0"/>
              <a:t>时间推移的影响</a:t>
            </a:r>
          </a:p>
          <a:p>
            <a:r>
              <a:rPr lang="zh-CN" altLang="en-US" dirty="0"/>
              <a:t>利率风险</a:t>
            </a:r>
          </a:p>
          <a:p>
            <a:endParaRPr lang="en-US" altLang="zh-CN" dirty="0"/>
          </a:p>
        </p:txBody>
      </p:sp>
      <p:pic>
        <p:nvPicPr>
          <p:cNvPr id="19460" name="Picture 4" descr="价格时间"/>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700213"/>
            <a:ext cx="4419600" cy="312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3213101"/>
            <a:ext cx="4953000" cy="3465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5200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8.7 </a:t>
            </a:r>
            <a:r>
              <a:rPr lang="zh-CN" altLang="en-US" dirty="0"/>
              <a:t>债券回购与逆回</a:t>
            </a:r>
            <a:r>
              <a:rPr lang="zh-CN" altLang="en-US" dirty="0" smtClean="0"/>
              <a:t>购（补充）</a:t>
            </a:r>
            <a:endParaRPr lang="zh-CN" altLang="en-US" dirty="0"/>
          </a:p>
        </p:txBody>
      </p:sp>
      <p:sp>
        <p:nvSpPr>
          <p:cNvPr id="3" name="内容占位符 2"/>
          <p:cNvSpPr>
            <a:spLocks noGrp="1"/>
          </p:cNvSpPr>
          <p:nvPr>
            <p:ph idx="1"/>
          </p:nvPr>
        </p:nvSpPr>
        <p:spPr/>
        <p:txBody>
          <a:bodyPr/>
          <a:lstStyle/>
          <a:p>
            <a:r>
              <a:rPr lang="zh-CN" altLang="en-US" dirty="0" smtClean="0"/>
              <a:t>债券回购</a:t>
            </a:r>
            <a:endParaRPr lang="en-US" altLang="zh-CN" dirty="0" smtClean="0"/>
          </a:p>
          <a:p>
            <a:pPr lvl="1"/>
            <a:r>
              <a:rPr lang="zh-CN" altLang="en-US" dirty="0" smtClean="0"/>
              <a:t>回</a:t>
            </a:r>
            <a:r>
              <a:rPr lang="zh-CN" altLang="en-US" dirty="0"/>
              <a:t>购的实质是以持有的债券作为抵押获得借款</a:t>
            </a:r>
            <a:endParaRPr lang="en-US" altLang="zh-CN" dirty="0"/>
          </a:p>
          <a:p>
            <a:pPr lvl="1"/>
            <a:r>
              <a:rPr lang="zh-CN" altLang="en-US" dirty="0" smtClean="0"/>
              <a:t>回</a:t>
            </a:r>
            <a:r>
              <a:rPr lang="zh-CN" altLang="en-US" dirty="0"/>
              <a:t>购时存在折扣（</a:t>
            </a:r>
            <a:r>
              <a:rPr lang="en-US" altLang="zh-CN" dirty="0"/>
              <a:t>haircut</a:t>
            </a:r>
            <a:r>
              <a:rPr lang="zh-CN" altLang="en-US" dirty="0"/>
              <a:t>），比如</a:t>
            </a:r>
            <a:r>
              <a:rPr lang="en-US" altLang="zh-CN" dirty="0"/>
              <a:t>100</a:t>
            </a:r>
            <a:r>
              <a:rPr lang="zh-CN" altLang="en-US" dirty="0"/>
              <a:t>万债券，只能融资</a:t>
            </a:r>
            <a:r>
              <a:rPr lang="en-US" altLang="zh-CN" dirty="0"/>
              <a:t>99</a:t>
            </a:r>
            <a:r>
              <a:rPr lang="zh-CN" altLang="en-US" dirty="0"/>
              <a:t>万</a:t>
            </a:r>
            <a:endParaRPr lang="en-US" altLang="zh-CN" dirty="0"/>
          </a:p>
          <a:p>
            <a:pPr lvl="1"/>
            <a:r>
              <a:rPr lang="zh-CN" altLang="en-US" dirty="0" smtClean="0"/>
              <a:t>到期</a:t>
            </a:r>
            <a:r>
              <a:rPr lang="zh-CN" altLang="en-US" dirty="0"/>
              <a:t>时归还融资</a:t>
            </a:r>
            <a:r>
              <a:rPr lang="zh-CN" altLang="en-US" dirty="0">
                <a:solidFill>
                  <a:srgbClr val="FF0000"/>
                </a:solidFill>
              </a:rPr>
              <a:t>本息</a:t>
            </a:r>
            <a:r>
              <a:rPr lang="zh-CN" altLang="en-US" dirty="0"/>
              <a:t>，同时获得债券</a:t>
            </a:r>
            <a:endParaRPr lang="en-US" altLang="zh-CN" dirty="0"/>
          </a:p>
          <a:p>
            <a:endParaRPr lang="zh-CN" altLang="en-US" dirty="0"/>
          </a:p>
        </p:txBody>
      </p:sp>
    </p:spTree>
    <p:extLst>
      <p:ext uri="{BB962C8B-B14F-4D97-AF65-F5344CB8AC3E}">
        <p14:creationId xmlns:p14="http://schemas.microsoft.com/office/powerpoint/2010/main" val="33790281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p:txBody>
          <a:bodyPr/>
          <a:lstStyle/>
          <a:p>
            <a:pPr algn="ctr"/>
            <a:r>
              <a:rPr lang="zh-CN" altLang="en-US" dirty="0" smtClean="0">
                <a:ea typeface="宋体" panose="02010600030101010101" pitchFamily="2" charset="-122"/>
              </a:rPr>
              <a:t>国债回购</a:t>
            </a:r>
          </a:p>
        </p:txBody>
      </p:sp>
      <p:sp>
        <p:nvSpPr>
          <p:cNvPr id="108547" name="内容占位符 2"/>
          <p:cNvSpPr>
            <a:spLocks noGrp="1"/>
          </p:cNvSpPr>
          <p:nvPr>
            <p:ph idx="1"/>
          </p:nvPr>
        </p:nvSpPr>
        <p:spPr/>
        <p:txBody>
          <a:bodyPr/>
          <a:lstStyle/>
          <a:p>
            <a:r>
              <a:rPr lang="zh-CN" altLang="en-US" sz="2500" dirty="0">
                <a:ea typeface="宋体" panose="02010600030101010101" pitchFamily="2" charset="-122"/>
              </a:rPr>
              <a:t>期限</a:t>
            </a:r>
            <a:endParaRPr lang="en-US" altLang="zh-CN" sz="2500" dirty="0">
              <a:ea typeface="宋体" panose="02010600030101010101" pitchFamily="2" charset="-122"/>
            </a:endParaRPr>
          </a:p>
          <a:p>
            <a:pPr lvl="1"/>
            <a:r>
              <a:rPr lang="en-US" altLang="zh-CN" sz="2100" dirty="0">
                <a:ea typeface="宋体" panose="02010600030101010101" pitchFamily="2" charset="-122"/>
              </a:rPr>
              <a:t>1</a:t>
            </a:r>
            <a:r>
              <a:rPr lang="zh-CN" altLang="en-US" sz="2100" dirty="0">
                <a:ea typeface="宋体" panose="02010600030101010101" pitchFamily="2" charset="-122"/>
              </a:rPr>
              <a:t>、</a:t>
            </a:r>
            <a:r>
              <a:rPr lang="en-US" altLang="zh-CN" sz="2100" dirty="0">
                <a:ea typeface="宋体" panose="02010600030101010101" pitchFamily="2" charset="-122"/>
              </a:rPr>
              <a:t>2</a:t>
            </a:r>
            <a:r>
              <a:rPr lang="zh-CN" altLang="en-US" sz="2100" dirty="0">
                <a:ea typeface="宋体" panose="02010600030101010101" pitchFamily="2" charset="-122"/>
              </a:rPr>
              <a:t>、</a:t>
            </a:r>
            <a:r>
              <a:rPr lang="en-US" altLang="zh-CN" sz="2100" dirty="0">
                <a:ea typeface="宋体" panose="02010600030101010101" pitchFamily="2" charset="-122"/>
              </a:rPr>
              <a:t>3</a:t>
            </a:r>
            <a:r>
              <a:rPr lang="zh-CN" altLang="en-US" sz="2100" dirty="0">
                <a:ea typeface="宋体" panose="02010600030101010101" pitchFamily="2" charset="-122"/>
              </a:rPr>
              <a:t>、</a:t>
            </a:r>
            <a:r>
              <a:rPr lang="en-US" altLang="zh-CN" sz="2100" dirty="0">
                <a:ea typeface="宋体" panose="02010600030101010101" pitchFamily="2" charset="-122"/>
              </a:rPr>
              <a:t>7</a:t>
            </a:r>
            <a:r>
              <a:rPr lang="zh-CN" altLang="en-US" sz="2100" dirty="0">
                <a:ea typeface="宋体" panose="02010600030101010101" pitchFamily="2" charset="-122"/>
              </a:rPr>
              <a:t> 、 </a:t>
            </a:r>
            <a:r>
              <a:rPr lang="en-US" altLang="zh-CN" sz="2100" dirty="0">
                <a:ea typeface="宋体" panose="02010600030101010101" pitchFamily="2" charset="-122"/>
              </a:rPr>
              <a:t>14</a:t>
            </a:r>
            <a:r>
              <a:rPr lang="zh-CN" altLang="en-US" sz="2100" dirty="0">
                <a:ea typeface="宋体" panose="02010600030101010101" pitchFamily="2" charset="-122"/>
              </a:rPr>
              <a:t> 、 </a:t>
            </a:r>
            <a:r>
              <a:rPr lang="en-US" altLang="zh-CN" sz="2100" dirty="0">
                <a:ea typeface="宋体" panose="02010600030101010101" pitchFamily="2" charset="-122"/>
              </a:rPr>
              <a:t>28</a:t>
            </a:r>
            <a:r>
              <a:rPr lang="zh-CN" altLang="en-US" sz="2100" dirty="0">
                <a:ea typeface="宋体" panose="02010600030101010101" pitchFamily="2" charset="-122"/>
              </a:rPr>
              <a:t>日回购</a:t>
            </a:r>
            <a:r>
              <a:rPr lang="en-US" altLang="zh-CN" sz="2100" dirty="0">
                <a:ea typeface="宋体" panose="02010600030101010101" pitchFamily="2" charset="-122"/>
              </a:rPr>
              <a:t>, 3</a:t>
            </a:r>
            <a:r>
              <a:rPr lang="zh-CN" altLang="en-US" sz="2100" dirty="0">
                <a:ea typeface="宋体" panose="02010600030101010101" pitchFamily="2" charset="-122"/>
              </a:rPr>
              <a:t>个</a:t>
            </a:r>
            <a:r>
              <a:rPr lang="zh-CN" altLang="en-US" sz="2100" dirty="0" smtClean="0">
                <a:ea typeface="宋体" panose="02010600030101010101" pitchFamily="2" charset="-122"/>
              </a:rPr>
              <a:t>月</a:t>
            </a:r>
            <a:r>
              <a:rPr lang="en-US" altLang="zh-CN" sz="2100" dirty="0" smtClean="0">
                <a:ea typeface="宋体" panose="02010600030101010101" pitchFamily="2" charset="-122"/>
              </a:rPr>
              <a:t>91</a:t>
            </a:r>
            <a:r>
              <a:rPr lang="zh-CN" altLang="en-US" sz="2100" dirty="0" smtClean="0">
                <a:ea typeface="宋体" panose="02010600030101010101" pitchFamily="2" charset="-122"/>
              </a:rPr>
              <a:t>天、</a:t>
            </a:r>
            <a:r>
              <a:rPr lang="zh-CN" altLang="en-US" sz="2100" dirty="0">
                <a:ea typeface="宋体" panose="02010600030101010101" pitchFamily="2" charset="-122"/>
              </a:rPr>
              <a:t>半</a:t>
            </a:r>
            <a:r>
              <a:rPr lang="zh-CN" altLang="en-US" sz="2100" dirty="0" smtClean="0">
                <a:ea typeface="宋体" panose="02010600030101010101" pitchFamily="2" charset="-122"/>
              </a:rPr>
              <a:t>年</a:t>
            </a:r>
            <a:r>
              <a:rPr lang="en-US" altLang="zh-CN" sz="2100" dirty="0" smtClean="0">
                <a:ea typeface="宋体" panose="02010600030101010101" pitchFamily="2" charset="-122"/>
              </a:rPr>
              <a:t>182</a:t>
            </a:r>
            <a:r>
              <a:rPr lang="zh-CN" altLang="en-US" sz="2100" dirty="0" smtClean="0">
                <a:ea typeface="宋体" panose="02010600030101010101" pitchFamily="2" charset="-122"/>
              </a:rPr>
              <a:t>天回</a:t>
            </a:r>
            <a:r>
              <a:rPr lang="zh-CN" altLang="en-US" sz="2100" dirty="0">
                <a:ea typeface="宋体" panose="02010600030101010101" pitchFamily="2" charset="-122"/>
              </a:rPr>
              <a:t>购</a:t>
            </a:r>
            <a:endParaRPr lang="en-US" altLang="zh-CN" sz="2100" dirty="0">
              <a:ea typeface="宋体" panose="02010600030101010101" pitchFamily="2" charset="-122"/>
            </a:endParaRPr>
          </a:p>
          <a:p>
            <a:pPr lvl="1"/>
            <a:r>
              <a:rPr lang="zh-CN" altLang="en-US" sz="2100" dirty="0">
                <a:ea typeface="宋体" panose="02010600030101010101" pitchFamily="2" charset="-122"/>
              </a:rPr>
              <a:t>上交所的品种：</a:t>
            </a:r>
            <a:r>
              <a:rPr lang="en-US" altLang="zh-CN" sz="2100" dirty="0" smtClean="0">
                <a:ea typeface="宋体" panose="02010600030101010101" pitchFamily="2" charset="-122"/>
              </a:rPr>
              <a:t>204001</a:t>
            </a:r>
            <a:r>
              <a:rPr lang="zh-CN" altLang="en-US" sz="2100" dirty="0" smtClean="0">
                <a:ea typeface="宋体" panose="02010600030101010101" pitchFamily="2" charset="-122"/>
              </a:rPr>
              <a:t>、</a:t>
            </a:r>
            <a:r>
              <a:rPr lang="en-US" altLang="zh-CN" sz="2100" dirty="0" smtClean="0">
                <a:ea typeface="宋体" panose="02010600030101010101" pitchFamily="2" charset="-122"/>
              </a:rPr>
              <a:t>204002</a:t>
            </a:r>
            <a:r>
              <a:rPr lang="zh-CN" altLang="en-US" sz="2100" dirty="0" smtClean="0">
                <a:ea typeface="宋体" panose="02010600030101010101" pitchFamily="2" charset="-122"/>
              </a:rPr>
              <a:t>、</a:t>
            </a:r>
            <a:r>
              <a:rPr lang="en-US" altLang="zh-CN" sz="2100" dirty="0" smtClean="0">
                <a:ea typeface="宋体" panose="02010600030101010101" pitchFamily="2" charset="-122"/>
              </a:rPr>
              <a:t>204007</a:t>
            </a:r>
            <a:r>
              <a:rPr lang="zh-CN" altLang="en-US" sz="2100" dirty="0" smtClean="0">
                <a:ea typeface="宋体" panose="02010600030101010101" pitchFamily="2" charset="-122"/>
              </a:rPr>
              <a:t>、</a:t>
            </a:r>
            <a:r>
              <a:rPr lang="en-US" altLang="zh-CN" sz="2100" dirty="0" smtClean="0">
                <a:ea typeface="宋体" panose="02010600030101010101" pitchFamily="2" charset="-122"/>
              </a:rPr>
              <a:t>204182</a:t>
            </a:r>
            <a:r>
              <a:rPr lang="zh-CN" altLang="en-US" sz="2100" dirty="0" smtClean="0">
                <a:ea typeface="宋体" panose="02010600030101010101" pitchFamily="2" charset="-122"/>
              </a:rPr>
              <a:t>，</a:t>
            </a:r>
            <a:r>
              <a:rPr lang="zh-CN" altLang="en-US" sz="2100" dirty="0">
                <a:ea typeface="宋体" panose="02010600030101010101" pitchFamily="2" charset="-122"/>
              </a:rPr>
              <a:t>等等</a:t>
            </a:r>
            <a:endParaRPr lang="en-US" altLang="zh-CN" sz="2100" dirty="0">
              <a:ea typeface="宋体" panose="02010600030101010101" pitchFamily="2" charset="-122"/>
            </a:endParaRPr>
          </a:p>
          <a:p>
            <a:pPr lvl="1"/>
            <a:r>
              <a:rPr lang="zh-CN" altLang="en-US" sz="2100" dirty="0">
                <a:ea typeface="宋体" panose="02010600030101010101" pitchFamily="2" charset="-122"/>
              </a:rPr>
              <a:t>深交所：</a:t>
            </a:r>
            <a:r>
              <a:rPr lang="en-US" altLang="zh-CN" sz="2100" dirty="0">
                <a:ea typeface="宋体" panose="02010600030101010101" pitchFamily="2" charset="-122"/>
              </a:rPr>
              <a:t>R-001</a:t>
            </a:r>
            <a:r>
              <a:rPr lang="zh-CN" altLang="en-US" sz="2100" dirty="0">
                <a:ea typeface="宋体" panose="02010600030101010101" pitchFamily="2" charset="-122"/>
              </a:rPr>
              <a:t>，</a:t>
            </a:r>
            <a:r>
              <a:rPr lang="en-US" altLang="zh-CN" sz="2100" dirty="0">
                <a:ea typeface="宋体" panose="02010600030101010101" pitchFamily="2" charset="-122"/>
              </a:rPr>
              <a:t>R-002</a:t>
            </a:r>
            <a:r>
              <a:rPr lang="zh-CN" altLang="en-US" sz="2100" dirty="0">
                <a:ea typeface="宋体" panose="02010600030101010101" pitchFamily="2" charset="-122"/>
              </a:rPr>
              <a:t>， </a:t>
            </a:r>
            <a:r>
              <a:rPr lang="en-US" altLang="zh-CN" sz="2100" dirty="0">
                <a:ea typeface="宋体" panose="02010600030101010101" pitchFamily="2" charset="-122"/>
              </a:rPr>
              <a:t>R-014</a:t>
            </a:r>
            <a:r>
              <a:rPr lang="zh-CN" altLang="en-US" sz="2100" dirty="0">
                <a:ea typeface="宋体" panose="02010600030101010101" pitchFamily="2" charset="-122"/>
              </a:rPr>
              <a:t>，</a:t>
            </a:r>
            <a:r>
              <a:rPr lang="en-US" altLang="zh-CN" sz="2100" dirty="0">
                <a:ea typeface="宋体" panose="02010600030101010101" pitchFamily="2" charset="-122"/>
              </a:rPr>
              <a:t>R-028</a:t>
            </a:r>
            <a:r>
              <a:rPr lang="zh-CN" altLang="en-US" sz="2100" dirty="0">
                <a:ea typeface="宋体" panose="02010600030101010101" pitchFamily="2" charset="-122"/>
              </a:rPr>
              <a:t>， </a:t>
            </a:r>
            <a:r>
              <a:rPr lang="en-US" altLang="zh-CN" sz="2100" dirty="0">
                <a:ea typeface="宋体" panose="02010600030101010101" pitchFamily="2" charset="-122"/>
              </a:rPr>
              <a:t>R-091</a:t>
            </a:r>
            <a:r>
              <a:rPr lang="zh-CN" altLang="en-US" sz="2100" dirty="0">
                <a:ea typeface="宋体" panose="02010600030101010101" pitchFamily="2" charset="-122"/>
              </a:rPr>
              <a:t>， </a:t>
            </a:r>
            <a:r>
              <a:rPr lang="en-US" altLang="zh-CN" sz="2100" dirty="0" smtClean="0">
                <a:ea typeface="宋体" panose="02010600030101010101" pitchFamily="2" charset="-122"/>
              </a:rPr>
              <a:t>R-182</a:t>
            </a:r>
            <a:endParaRPr lang="en-US" altLang="zh-CN" sz="2100" dirty="0">
              <a:ea typeface="宋体" panose="02010600030101010101" pitchFamily="2" charset="-122"/>
            </a:endParaRPr>
          </a:p>
          <a:p>
            <a:pPr lvl="1"/>
            <a:endParaRPr lang="en-US" altLang="zh-CN" sz="2100" dirty="0">
              <a:ea typeface="宋体" panose="02010600030101010101" pitchFamily="2" charset="-122"/>
            </a:endParaRPr>
          </a:p>
          <a:p>
            <a:r>
              <a:rPr lang="zh-CN" altLang="en-US" sz="2500" dirty="0">
                <a:ea typeface="宋体" panose="02010600030101010101" pitchFamily="2" charset="-122"/>
              </a:rPr>
              <a:t>名义年利率</a:t>
            </a:r>
            <a:endParaRPr lang="en-US" altLang="zh-CN" sz="2500" dirty="0">
              <a:ea typeface="宋体" panose="02010600030101010101" pitchFamily="2" charset="-122"/>
            </a:endParaRPr>
          </a:p>
          <a:p>
            <a:pPr lvl="1"/>
            <a:r>
              <a:rPr lang="zh-CN" altLang="en-US" sz="2100" dirty="0">
                <a:ea typeface="宋体" panose="02010600030101010101" pitchFamily="2" charset="-122"/>
              </a:rPr>
              <a:t>即行情软件上面的报价，比如报价</a:t>
            </a:r>
            <a:r>
              <a:rPr lang="en-US" altLang="zh-CN" sz="2100" dirty="0">
                <a:ea typeface="宋体" panose="02010600030101010101" pitchFamily="2" charset="-122"/>
              </a:rPr>
              <a:t>2.4</a:t>
            </a:r>
            <a:r>
              <a:rPr lang="zh-CN" altLang="en-US" sz="2100" dirty="0">
                <a:ea typeface="宋体" panose="02010600030101010101" pitchFamily="2" charset="-122"/>
              </a:rPr>
              <a:t>，即名义年利率为</a:t>
            </a:r>
            <a:r>
              <a:rPr lang="en-US" altLang="zh-CN" sz="2100" dirty="0">
                <a:ea typeface="宋体" panose="02010600030101010101" pitchFamily="2" charset="-122"/>
              </a:rPr>
              <a:t>2.4%</a:t>
            </a:r>
          </a:p>
          <a:p>
            <a:pPr lvl="1"/>
            <a:r>
              <a:rPr lang="zh-CN" altLang="en-US" sz="2100" dirty="0">
                <a:ea typeface="宋体" panose="02010600030101010101" pitchFamily="2" charset="-122"/>
              </a:rPr>
              <a:t>实际年利率等于名义年利率</a:t>
            </a:r>
            <a:r>
              <a:rPr lang="en-US" altLang="zh-CN" sz="2100" dirty="0">
                <a:ea typeface="宋体" panose="02010600030101010101" pitchFamily="2" charset="-122"/>
              </a:rPr>
              <a:t>*365/360</a:t>
            </a:r>
          </a:p>
          <a:p>
            <a:endParaRPr lang="zh-CN" altLang="en-US" dirty="0" smtClean="0">
              <a:ea typeface="宋体" panose="02010600030101010101" pitchFamily="2" charset="-122"/>
            </a:endParaRPr>
          </a:p>
        </p:txBody>
      </p:sp>
      <p:sp>
        <p:nvSpPr>
          <p:cNvPr id="108549"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zh-CN" sz="1800">
                <a:solidFill>
                  <a:schemeClr val="bg1"/>
                </a:solidFill>
                <a:latin typeface="Arial" panose="020B0604020202020204" pitchFamily="34" charset="0"/>
              </a:rPr>
              <a:t>7-</a:t>
            </a:r>
            <a:fld id="{DBC56E62-2ABE-407B-B049-B16F36771C7C}" type="slidenum">
              <a:rPr lang="en-US" altLang="zh-CN" sz="1800">
                <a:solidFill>
                  <a:schemeClr val="bg1"/>
                </a:solidFill>
                <a:latin typeface="Arial" panose="020B0604020202020204" pitchFamily="34" charset="0"/>
              </a:rPr>
              <a:pPr/>
              <a:t>47</a:t>
            </a:fld>
            <a:endParaRPr lang="en-US" altLang="zh-CN" sz="1800">
              <a:solidFill>
                <a:schemeClr val="bg1"/>
              </a:solidFill>
              <a:latin typeface="Arial" panose="020B0604020202020204" pitchFamily="34" charset="0"/>
            </a:endParaRPr>
          </a:p>
        </p:txBody>
      </p:sp>
    </p:spTree>
    <p:extLst>
      <p:ext uri="{BB962C8B-B14F-4D97-AF65-F5344CB8AC3E}">
        <p14:creationId xmlns:p14="http://schemas.microsoft.com/office/powerpoint/2010/main" val="4164903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p:nvPr>
        </p:nvSpPr>
        <p:spPr/>
        <p:txBody>
          <a:bodyPr/>
          <a:lstStyle/>
          <a:p>
            <a:r>
              <a:rPr lang="zh-CN" altLang="en-US" smtClean="0">
                <a:ea typeface="宋体" panose="02010600030101010101" pitchFamily="2" charset="-122"/>
              </a:rPr>
              <a:t>逆回购</a:t>
            </a:r>
          </a:p>
        </p:txBody>
      </p:sp>
      <p:sp>
        <p:nvSpPr>
          <p:cNvPr id="112643" name="内容占位符 2"/>
          <p:cNvSpPr>
            <a:spLocks noGrp="1"/>
          </p:cNvSpPr>
          <p:nvPr>
            <p:ph idx="1"/>
          </p:nvPr>
        </p:nvSpPr>
        <p:spPr/>
        <p:txBody>
          <a:bodyPr/>
          <a:lstStyle/>
          <a:p>
            <a:r>
              <a:rPr lang="zh-CN" altLang="en-US" sz="2500" dirty="0">
                <a:ea typeface="宋体" panose="02010600030101010101" pitchFamily="2" charset="-122"/>
              </a:rPr>
              <a:t>既然有回购，就有逆回购。回购是融资，逆回购是放贷</a:t>
            </a:r>
            <a:endParaRPr lang="en-US" altLang="zh-CN" sz="2500" dirty="0">
              <a:ea typeface="宋体" panose="02010600030101010101" pitchFamily="2" charset="-122"/>
            </a:endParaRPr>
          </a:p>
          <a:p>
            <a:endParaRPr lang="en-US" altLang="zh-CN" sz="2500" dirty="0">
              <a:ea typeface="宋体" panose="02010600030101010101" pitchFamily="2" charset="-122"/>
            </a:endParaRPr>
          </a:p>
          <a:p>
            <a:r>
              <a:rPr lang="zh-CN" altLang="en-US" sz="2500" dirty="0">
                <a:ea typeface="宋体" panose="02010600030101010101" pitchFamily="2" charset="-122"/>
              </a:rPr>
              <a:t>回购的资格要求比较</a:t>
            </a:r>
            <a:r>
              <a:rPr lang="zh-CN" altLang="en-US" sz="2500" dirty="0" smtClean="0">
                <a:ea typeface="宋体" panose="02010600030101010101" pitchFamily="2" charset="-122"/>
              </a:rPr>
              <a:t>高（迷你小散户恐怕没有资格），</a:t>
            </a:r>
            <a:r>
              <a:rPr lang="zh-CN" altLang="en-US" sz="2500" dirty="0">
                <a:ea typeface="宋体" panose="02010600030101010101" pitchFamily="2" charset="-122"/>
              </a:rPr>
              <a:t>逆回购的资格要求非常低</a:t>
            </a:r>
            <a:endParaRPr lang="en-US" altLang="zh-CN" sz="2500" dirty="0">
              <a:ea typeface="宋体" panose="02010600030101010101" pitchFamily="2" charset="-122"/>
            </a:endParaRPr>
          </a:p>
          <a:p>
            <a:pPr lvl="1"/>
            <a:r>
              <a:rPr lang="zh-CN" altLang="en-US" sz="2500" dirty="0" smtClean="0">
                <a:ea typeface="宋体" panose="02010600030101010101" pitchFamily="2" charset="-122"/>
              </a:rPr>
              <a:t>逆回购</a:t>
            </a:r>
            <a:r>
              <a:rPr lang="en-US" altLang="zh-CN" sz="2500" dirty="0" smtClean="0">
                <a:ea typeface="宋体" panose="02010600030101010101" pitchFamily="2" charset="-122"/>
              </a:rPr>
              <a:t>1000</a:t>
            </a:r>
            <a:r>
              <a:rPr lang="zh-CN" altLang="en-US" sz="2500" dirty="0">
                <a:ea typeface="宋体" panose="02010600030101010101" pitchFamily="2" charset="-122"/>
              </a:rPr>
              <a:t>起步</a:t>
            </a:r>
            <a:endParaRPr lang="en-US" altLang="zh-CN" sz="2500" dirty="0">
              <a:ea typeface="宋体" panose="02010600030101010101" pitchFamily="2" charset="-122"/>
            </a:endParaRPr>
          </a:p>
          <a:p>
            <a:pPr lvl="1"/>
            <a:endParaRPr lang="en-US" altLang="zh-CN" dirty="0" smtClean="0">
              <a:ea typeface="宋体" panose="02010600030101010101" pitchFamily="2" charset="-122"/>
            </a:endParaRPr>
          </a:p>
          <a:p>
            <a:r>
              <a:rPr lang="zh-CN" altLang="en-US" sz="2000" dirty="0">
                <a:ea typeface="宋体" panose="02010600030101010101" pitchFamily="2" charset="-122"/>
              </a:rPr>
              <a:t>在行情软件上，逆回购是</a:t>
            </a:r>
            <a:r>
              <a:rPr lang="zh-CN" altLang="en-US" sz="3000" b="1" dirty="0">
                <a:solidFill>
                  <a:srgbClr val="FF0000"/>
                </a:solidFill>
                <a:ea typeface="宋体" panose="02010600030101010101" pitchFamily="2" charset="-122"/>
              </a:rPr>
              <a:t>卖出</a:t>
            </a:r>
            <a:r>
              <a:rPr lang="zh-CN" altLang="en-US" sz="2000" dirty="0">
                <a:ea typeface="宋体" panose="02010600030101010101" pitchFamily="2" charset="-122"/>
              </a:rPr>
              <a:t>相应的品种（你把钱借给回购方，回购方以债券抵押获得资金），到期后本金和利息自动到你的账户。</a:t>
            </a:r>
            <a:endParaRPr lang="en-US" altLang="zh-CN" sz="2000" dirty="0">
              <a:ea typeface="宋体" panose="02010600030101010101" pitchFamily="2" charset="-122"/>
            </a:endParaRPr>
          </a:p>
          <a:p>
            <a:pPr lvl="1"/>
            <a:r>
              <a:rPr lang="zh-CN" altLang="en-US" sz="1600" dirty="0">
                <a:ea typeface="宋体" panose="02010600030101010101" pitchFamily="2" charset="-122"/>
              </a:rPr>
              <a:t>比如你想做上交所的</a:t>
            </a:r>
            <a:r>
              <a:rPr lang="en-US" altLang="zh-CN" sz="1600" dirty="0">
                <a:ea typeface="宋体" panose="02010600030101010101" pitchFamily="2" charset="-122"/>
              </a:rPr>
              <a:t>7</a:t>
            </a:r>
            <a:r>
              <a:rPr lang="zh-CN" altLang="en-US" sz="1600" dirty="0">
                <a:ea typeface="宋体" panose="02010600030101010101" pitchFamily="2" charset="-122"/>
              </a:rPr>
              <a:t>日逆回购，直接选择卖出</a:t>
            </a:r>
            <a:r>
              <a:rPr lang="en-US" altLang="zh-CN" sz="1600" dirty="0">
                <a:ea typeface="宋体" panose="02010600030101010101" pitchFamily="2" charset="-122"/>
              </a:rPr>
              <a:t>204007</a:t>
            </a:r>
            <a:r>
              <a:rPr lang="zh-CN" altLang="en-US" sz="1600" dirty="0">
                <a:ea typeface="宋体" panose="02010600030101010101" pitchFamily="2" charset="-122"/>
              </a:rPr>
              <a:t>即可</a:t>
            </a:r>
            <a:endParaRPr lang="en-US" altLang="zh-CN" sz="1600" dirty="0">
              <a:ea typeface="宋体" panose="02010600030101010101" pitchFamily="2" charset="-122"/>
            </a:endParaRPr>
          </a:p>
          <a:p>
            <a:pPr lvl="1"/>
            <a:r>
              <a:rPr lang="zh-CN" altLang="en-US" sz="1600" dirty="0">
                <a:ea typeface="宋体" panose="02010600030101010101" pitchFamily="2" charset="-122"/>
              </a:rPr>
              <a:t>当然，你卖出的价格（就是利率）越高越好，根据经验，逆回购利率日内波动并不小</a:t>
            </a:r>
          </a:p>
        </p:txBody>
      </p:sp>
      <p:sp>
        <p:nvSpPr>
          <p:cNvPr id="112645"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zh-CN" sz="1800">
                <a:solidFill>
                  <a:schemeClr val="bg1"/>
                </a:solidFill>
                <a:latin typeface="Arial" panose="020B0604020202020204" pitchFamily="34" charset="0"/>
              </a:rPr>
              <a:t>7-</a:t>
            </a:r>
            <a:fld id="{5785A28D-D0D5-4FEA-895B-00ED3AD7EADB}" type="slidenum">
              <a:rPr lang="en-US" altLang="zh-CN" sz="1800">
                <a:solidFill>
                  <a:schemeClr val="bg1"/>
                </a:solidFill>
                <a:latin typeface="Arial" panose="020B0604020202020204" pitchFamily="34" charset="0"/>
              </a:rPr>
              <a:pPr/>
              <a:t>48</a:t>
            </a:fld>
            <a:endParaRPr lang="en-US" altLang="zh-CN" sz="1800">
              <a:solidFill>
                <a:schemeClr val="bg1"/>
              </a:solidFill>
              <a:latin typeface="Arial" panose="020B0604020202020204" pitchFamily="34" charset="0"/>
            </a:endParaRPr>
          </a:p>
        </p:txBody>
      </p:sp>
    </p:spTree>
    <p:extLst>
      <p:ext uri="{BB962C8B-B14F-4D97-AF65-F5344CB8AC3E}">
        <p14:creationId xmlns:p14="http://schemas.microsoft.com/office/powerpoint/2010/main" val="7837900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我国国债逆回购收益率（</a:t>
            </a:r>
            <a:r>
              <a:rPr lang="en-US" altLang="zh-CN" dirty="0" smtClean="0"/>
              <a:t>2025-3-13</a:t>
            </a:r>
            <a:r>
              <a:rPr lang="zh-CN" altLang="en-US" dirty="0" smtClean="0"/>
              <a:t>收盘）</a:t>
            </a:r>
            <a:endParaRPr lang="zh-CN" altLang="en-US" dirty="0"/>
          </a:p>
        </p:txBody>
      </p:sp>
      <p:pic>
        <p:nvPicPr>
          <p:cNvPr id="4" name="图片 3"/>
          <p:cNvPicPr>
            <a:picLocks noChangeAspect="1"/>
          </p:cNvPicPr>
          <p:nvPr/>
        </p:nvPicPr>
        <p:blipFill>
          <a:blip r:embed="rId2"/>
          <a:stretch>
            <a:fillRect/>
          </a:stretch>
        </p:blipFill>
        <p:spPr>
          <a:xfrm>
            <a:off x="1519237" y="1690688"/>
            <a:ext cx="3648075" cy="4814887"/>
          </a:xfrm>
          <a:prstGeom prst="rect">
            <a:avLst/>
          </a:prstGeom>
        </p:spPr>
      </p:pic>
      <p:pic>
        <p:nvPicPr>
          <p:cNvPr id="5" name="图片 4"/>
          <p:cNvPicPr>
            <a:picLocks noChangeAspect="1"/>
          </p:cNvPicPr>
          <p:nvPr/>
        </p:nvPicPr>
        <p:blipFill>
          <a:blip r:embed="rId3"/>
          <a:stretch>
            <a:fillRect/>
          </a:stretch>
        </p:blipFill>
        <p:spPr>
          <a:xfrm>
            <a:off x="6234112" y="1690688"/>
            <a:ext cx="3686175" cy="4738687"/>
          </a:xfrm>
          <a:prstGeom prst="rect">
            <a:avLst/>
          </a:prstGeom>
        </p:spPr>
      </p:pic>
    </p:spTree>
    <p:extLst>
      <p:ext uri="{BB962C8B-B14F-4D97-AF65-F5344CB8AC3E}">
        <p14:creationId xmlns:p14="http://schemas.microsoft.com/office/powerpoint/2010/main" val="38269503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en-US" altLang="zh-CN" sz="3500" dirty="0" smtClean="0"/>
              <a:t>8.8 </a:t>
            </a:r>
            <a:r>
              <a:rPr lang="zh-CN" altLang="en-US" sz="3500" dirty="0" smtClean="0"/>
              <a:t>衡量债券利率风险：久期与凸度（补充）</a:t>
            </a:r>
            <a:endParaRPr lang="zh-CN" altLang="en-US" sz="3500" dirty="0"/>
          </a:p>
        </p:txBody>
      </p:sp>
      <p:sp>
        <p:nvSpPr>
          <p:cNvPr id="3" name="内容占位符 2"/>
          <p:cNvSpPr>
            <a:spLocks noGrp="1"/>
          </p:cNvSpPr>
          <p:nvPr>
            <p:ph idx="1"/>
          </p:nvPr>
        </p:nvSpPr>
        <p:spPr/>
        <p:txBody>
          <a:bodyPr/>
          <a:lstStyle/>
          <a:p>
            <a:r>
              <a:rPr lang="zh-CN" altLang="en-US" dirty="0" smtClean="0"/>
              <a:t>由于债券价格受利率变动影响，为了测度债券的利率风险以及为了进行利率风险管理，提出了两个指标</a:t>
            </a:r>
            <a:endParaRPr lang="en-US" altLang="zh-CN" dirty="0" smtClean="0"/>
          </a:p>
          <a:p>
            <a:pPr lvl="1"/>
            <a:r>
              <a:rPr lang="zh-CN" altLang="en-US" dirty="0" smtClean="0"/>
              <a:t>久期</a:t>
            </a:r>
            <a:endParaRPr lang="en-US" altLang="zh-CN" dirty="0" smtClean="0"/>
          </a:p>
          <a:p>
            <a:pPr lvl="1"/>
            <a:r>
              <a:rPr lang="zh-CN" altLang="en-US" dirty="0" smtClean="0"/>
              <a:t>凸度</a:t>
            </a:r>
            <a:endParaRPr lang="zh-CN" altLang="en-US" dirty="0"/>
          </a:p>
        </p:txBody>
      </p:sp>
    </p:spTree>
    <p:extLst>
      <p:ext uri="{BB962C8B-B14F-4D97-AF65-F5344CB8AC3E}">
        <p14:creationId xmlns:p14="http://schemas.microsoft.com/office/powerpoint/2010/main" val="15587252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4466" eaLnBrk="0" hangingPunct="0">
              <a:defRPr sz="1797" b="1">
                <a:solidFill>
                  <a:srgbClr val="003366"/>
                </a:solidFill>
                <a:latin typeface="Arial" panose="020B0604020202020204" pitchFamily="34" charset="0"/>
                <a:ea typeface="楷体_GB2312" pitchFamily="49" charset="-122"/>
              </a:defRPr>
            </a:lvl1pPr>
            <a:lvl2pPr marL="667689" indent="-256804" defTabSz="944466" eaLnBrk="0" hangingPunct="0">
              <a:defRPr sz="1797" b="1">
                <a:solidFill>
                  <a:srgbClr val="003366"/>
                </a:solidFill>
                <a:latin typeface="Arial" panose="020B0604020202020204" pitchFamily="34" charset="0"/>
                <a:ea typeface="楷体_GB2312" pitchFamily="49" charset="-122"/>
              </a:defRPr>
            </a:lvl2pPr>
            <a:lvl3pPr marL="1027214" indent="-205443" defTabSz="944466" eaLnBrk="0" hangingPunct="0">
              <a:defRPr sz="1797" b="1">
                <a:solidFill>
                  <a:srgbClr val="003366"/>
                </a:solidFill>
                <a:latin typeface="Arial" panose="020B0604020202020204" pitchFamily="34" charset="0"/>
                <a:ea typeface="楷体_GB2312" pitchFamily="49" charset="-122"/>
              </a:defRPr>
            </a:lvl3pPr>
            <a:lvl4pPr marL="1438100" indent="-205443" defTabSz="944466" eaLnBrk="0" hangingPunct="0">
              <a:defRPr sz="1797" b="1">
                <a:solidFill>
                  <a:srgbClr val="003366"/>
                </a:solidFill>
                <a:latin typeface="Arial" panose="020B0604020202020204" pitchFamily="34" charset="0"/>
                <a:ea typeface="楷体_GB2312" pitchFamily="49" charset="-122"/>
              </a:defRPr>
            </a:lvl4pPr>
            <a:lvl5pPr marL="1848985" indent="-205443" defTabSz="944466" eaLnBrk="0" hangingPunct="0">
              <a:defRPr sz="1797" b="1">
                <a:solidFill>
                  <a:srgbClr val="003366"/>
                </a:solidFill>
                <a:latin typeface="Arial" panose="020B0604020202020204" pitchFamily="34" charset="0"/>
                <a:ea typeface="楷体_GB2312" pitchFamily="49" charset="-122"/>
              </a:defRPr>
            </a:lvl5pPr>
            <a:lvl6pPr marL="2259871"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6pPr>
            <a:lvl7pPr marL="2670757"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7pPr>
            <a:lvl8pPr marL="3081642"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8pPr>
            <a:lvl9pPr marL="3492528"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9pPr>
          </a:lstStyle>
          <a:p>
            <a:pPr eaLnBrk="1" hangingPunct="1"/>
            <a:fld id="{55091AE1-72EE-4730-A07B-1DCF02B3FCD8}" type="slidenum">
              <a:rPr lang="en-US" altLang="zh-CN" sz="1438" b="0">
                <a:solidFill>
                  <a:schemeClr val="tx1"/>
                </a:solidFill>
                <a:ea typeface="宋体" panose="02010600030101010101" pitchFamily="2" charset="-122"/>
              </a:rPr>
              <a:pPr eaLnBrk="1" hangingPunct="1"/>
              <a:t>51</a:t>
            </a:fld>
            <a:endParaRPr lang="en-US" altLang="zh-CN" sz="1438" b="0">
              <a:solidFill>
                <a:schemeClr val="tx1"/>
              </a:solidFill>
              <a:ea typeface="宋体" panose="02010600030101010101" pitchFamily="2" charset="-122"/>
            </a:endParaRPr>
          </a:p>
        </p:txBody>
      </p:sp>
      <p:sp>
        <p:nvSpPr>
          <p:cNvPr id="3077" name="Rectangle 2"/>
          <p:cNvSpPr>
            <a:spLocks noGrp="1" noChangeArrowheads="1"/>
          </p:cNvSpPr>
          <p:nvPr>
            <p:ph type="title"/>
          </p:nvPr>
        </p:nvSpPr>
        <p:spPr>
          <a:xfrm>
            <a:off x="4102128" y="464383"/>
            <a:ext cx="1964625" cy="533574"/>
          </a:xfrm>
        </p:spPr>
        <p:txBody>
          <a:bodyPr>
            <a:normAutofit fontScale="90000"/>
          </a:bodyPr>
          <a:lstStyle/>
          <a:p>
            <a:pPr algn="ctr" eaLnBrk="1" hangingPunct="1"/>
            <a:r>
              <a:rPr lang="zh-CN" altLang="en-US" dirty="0" smtClean="0"/>
              <a:t>久期</a:t>
            </a:r>
          </a:p>
        </p:txBody>
      </p:sp>
      <p:sp>
        <p:nvSpPr>
          <p:cNvPr id="3078" name="Text Box 3"/>
          <p:cNvSpPr txBox="1">
            <a:spLocks noChangeArrowheads="1"/>
          </p:cNvSpPr>
          <p:nvPr/>
        </p:nvSpPr>
        <p:spPr bwMode="auto">
          <a:xfrm>
            <a:off x="1666192" y="1376737"/>
            <a:ext cx="8801123" cy="3912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441" tIns="47218" rIns="94441" bIns="47218">
            <a:spAutoFit/>
          </a:bodyPr>
          <a:lstStyle>
            <a:lvl1pPr eaLnBrk="0" hangingPunct="0">
              <a:tabLst>
                <a:tab pos="1698625" algn="l"/>
              </a:tabLst>
              <a:defRPr sz="2000" b="1">
                <a:solidFill>
                  <a:srgbClr val="003366"/>
                </a:solidFill>
                <a:latin typeface="Arial" panose="020B0604020202020204" pitchFamily="34" charset="0"/>
                <a:ea typeface="楷体_GB2312" pitchFamily="49" charset="-122"/>
              </a:defRPr>
            </a:lvl1pPr>
            <a:lvl2pPr marL="742950" indent="-285750" eaLnBrk="0" hangingPunct="0">
              <a:tabLst>
                <a:tab pos="1698625" algn="l"/>
              </a:tabLst>
              <a:defRPr sz="2000" b="1">
                <a:solidFill>
                  <a:srgbClr val="003366"/>
                </a:solidFill>
                <a:latin typeface="Arial" panose="020B0604020202020204" pitchFamily="34" charset="0"/>
                <a:ea typeface="楷体_GB2312" pitchFamily="49" charset="-122"/>
              </a:defRPr>
            </a:lvl2pPr>
            <a:lvl3pPr marL="1143000" indent="-228600" eaLnBrk="0" hangingPunct="0">
              <a:tabLst>
                <a:tab pos="1698625" algn="l"/>
              </a:tabLst>
              <a:defRPr sz="2000" b="1">
                <a:solidFill>
                  <a:srgbClr val="003366"/>
                </a:solidFill>
                <a:latin typeface="Arial" panose="020B0604020202020204" pitchFamily="34" charset="0"/>
                <a:ea typeface="楷体_GB2312" pitchFamily="49" charset="-122"/>
              </a:defRPr>
            </a:lvl3pPr>
            <a:lvl4pPr marL="1600200" indent="-228600" eaLnBrk="0" hangingPunct="0">
              <a:tabLst>
                <a:tab pos="1698625" algn="l"/>
              </a:tabLst>
              <a:defRPr sz="2000" b="1">
                <a:solidFill>
                  <a:srgbClr val="003366"/>
                </a:solidFill>
                <a:latin typeface="Arial" panose="020B0604020202020204" pitchFamily="34" charset="0"/>
                <a:ea typeface="楷体_GB2312" pitchFamily="49" charset="-122"/>
              </a:defRPr>
            </a:lvl4pPr>
            <a:lvl5pPr marL="2057400" indent="-228600" eaLnBrk="0" hangingPunct="0">
              <a:tabLst>
                <a:tab pos="1698625" algn="l"/>
              </a:tabLst>
              <a:defRPr sz="2000" b="1">
                <a:solidFill>
                  <a:srgbClr val="003366"/>
                </a:solidFill>
                <a:latin typeface="Arial" panose="020B0604020202020204" pitchFamily="34" charset="0"/>
                <a:ea typeface="楷体_GB2312" pitchFamily="49" charset="-122"/>
              </a:defRPr>
            </a:lvl5pPr>
            <a:lvl6pPr marL="2514600" indent="-228600" algn="ctr" eaLnBrk="0" fontAlgn="base" hangingPunct="0">
              <a:lnSpc>
                <a:spcPct val="120000"/>
              </a:lnSpc>
              <a:spcBef>
                <a:spcPct val="20000"/>
              </a:spcBef>
              <a:spcAft>
                <a:spcPct val="0"/>
              </a:spcAft>
              <a:buClr>
                <a:srgbClr val="003366"/>
              </a:buClr>
              <a:buSzPct val="50000"/>
              <a:buFont typeface="Wingdings" panose="05000000000000000000" pitchFamily="2" charset="2"/>
              <a:tabLst>
                <a:tab pos="1698625" algn="l"/>
              </a:tabLst>
              <a:defRPr sz="2000" b="1">
                <a:solidFill>
                  <a:srgbClr val="003366"/>
                </a:solidFill>
                <a:latin typeface="Arial" panose="020B0604020202020204" pitchFamily="34" charset="0"/>
                <a:ea typeface="楷体_GB2312" pitchFamily="49" charset="-122"/>
              </a:defRPr>
            </a:lvl6pPr>
            <a:lvl7pPr marL="2971800" indent="-228600" algn="ctr" eaLnBrk="0" fontAlgn="base" hangingPunct="0">
              <a:lnSpc>
                <a:spcPct val="120000"/>
              </a:lnSpc>
              <a:spcBef>
                <a:spcPct val="20000"/>
              </a:spcBef>
              <a:spcAft>
                <a:spcPct val="0"/>
              </a:spcAft>
              <a:buClr>
                <a:srgbClr val="003366"/>
              </a:buClr>
              <a:buSzPct val="50000"/>
              <a:buFont typeface="Wingdings" panose="05000000000000000000" pitchFamily="2" charset="2"/>
              <a:tabLst>
                <a:tab pos="1698625" algn="l"/>
              </a:tabLst>
              <a:defRPr sz="2000" b="1">
                <a:solidFill>
                  <a:srgbClr val="003366"/>
                </a:solidFill>
                <a:latin typeface="Arial" panose="020B0604020202020204" pitchFamily="34" charset="0"/>
                <a:ea typeface="楷体_GB2312" pitchFamily="49" charset="-122"/>
              </a:defRPr>
            </a:lvl7pPr>
            <a:lvl8pPr marL="3429000" indent="-228600" algn="ctr" eaLnBrk="0" fontAlgn="base" hangingPunct="0">
              <a:lnSpc>
                <a:spcPct val="120000"/>
              </a:lnSpc>
              <a:spcBef>
                <a:spcPct val="20000"/>
              </a:spcBef>
              <a:spcAft>
                <a:spcPct val="0"/>
              </a:spcAft>
              <a:buClr>
                <a:srgbClr val="003366"/>
              </a:buClr>
              <a:buSzPct val="50000"/>
              <a:buFont typeface="Wingdings" panose="05000000000000000000" pitchFamily="2" charset="2"/>
              <a:tabLst>
                <a:tab pos="1698625" algn="l"/>
              </a:tabLst>
              <a:defRPr sz="2000" b="1">
                <a:solidFill>
                  <a:srgbClr val="003366"/>
                </a:solidFill>
                <a:latin typeface="Arial" panose="020B0604020202020204" pitchFamily="34" charset="0"/>
                <a:ea typeface="楷体_GB2312" pitchFamily="49" charset="-122"/>
              </a:defRPr>
            </a:lvl8pPr>
            <a:lvl9pPr marL="3886200" indent="-228600" algn="ctr" eaLnBrk="0" fontAlgn="base" hangingPunct="0">
              <a:lnSpc>
                <a:spcPct val="120000"/>
              </a:lnSpc>
              <a:spcBef>
                <a:spcPct val="20000"/>
              </a:spcBef>
              <a:spcAft>
                <a:spcPct val="0"/>
              </a:spcAft>
              <a:buClr>
                <a:srgbClr val="003366"/>
              </a:buClr>
              <a:buSzPct val="50000"/>
              <a:buFont typeface="Wingdings" panose="05000000000000000000" pitchFamily="2" charset="2"/>
              <a:tabLst>
                <a:tab pos="1698625" algn="l"/>
              </a:tabLst>
              <a:defRPr sz="2000" b="1">
                <a:solidFill>
                  <a:srgbClr val="003366"/>
                </a:solidFill>
                <a:latin typeface="Arial" panose="020B0604020202020204" pitchFamily="34" charset="0"/>
                <a:ea typeface="楷体_GB2312" pitchFamily="49" charset="-122"/>
              </a:defRPr>
            </a:lvl9pPr>
          </a:lstStyle>
          <a:p>
            <a:pPr algn="l" eaLnBrk="1" fontAlgn="t" hangingPunct="1">
              <a:spcBef>
                <a:spcPct val="50000"/>
              </a:spcBef>
              <a:buClrTx/>
              <a:buSzTx/>
              <a:buFontTx/>
              <a:buNone/>
            </a:pPr>
            <a:r>
              <a:rPr lang="zh-CN" altLang="en-US" sz="1797" dirty="0"/>
              <a:t>久期（麦考利久期 </a:t>
            </a:r>
            <a:r>
              <a:rPr lang="en-US" altLang="zh-CN" sz="1797" dirty="0" err="1"/>
              <a:t>Macauley</a:t>
            </a:r>
            <a:r>
              <a:rPr lang="en-US" altLang="zh-CN" sz="1797" dirty="0"/>
              <a:t> Duration</a:t>
            </a:r>
            <a:r>
              <a:rPr lang="zh-CN" altLang="en-US" sz="1797" dirty="0"/>
              <a:t>）是债券价格对收益率变化敏感度的衡量指标，其计算公式为（简单起见</a:t>
            </a:r>
            <a:r>
              <a:rPr lang="zh-CN" altLang="en-US" sz="1797" dirty="0" smtClean="0"/>
              <a:t>，</a:t>
            </a:r>
            <a:r>
              <a:rPr lang="zh-CN" altLang="en-US" sz="1618" dirty="0" smtClean="0"/>
              <a:t>每年支付一次利息，</a:t>
            </a:r>
            <a:r>
              <a:rPr lang="en-US" altLang="zh-CN" sz="1618" dirty="0" smtClean="0"/>
              <a:t>YTM</a:t>
            </a:r>
            <a:r>
              <a:rPr lang="zh-CN" altLang="en-US" sz="1618" dirty="0" smtClean="0"/>
              <a:t>为到期收益率</a:t>
            </a:r>
            <a:r>
              <a:rPr lang="zh-CN" altLang="en-US" sz="1797" dirty="0" smtClean="0"/>
              <a:t>）</a:t>
            </a:r>
            <a:r>
              <a:rPr lang="zh-CN" altLang="en-US" sz="1797" dirty="0"/>
              <a:t>：</a:t>
            </a:r>
          </a:p>
          <a:p>
            <a:pPr algn="l" eaLnBrk="1" fontAlgn="t" hangingPunct="1">
              <a:spcBef>
                <a:spcPct val="50000"/>
              </a:spcBef>
              <a:buClrTx/>
              <a:buSzTx/>
              <a:buFontTx/>
              <a:buNone/>
            </a:pPr>
            <a:endParaRPr lang="zh-CN" altLang="en-US" sz="1797" dirty="0"/>
          </a:p>
          <a:p>
            <a:pPr algn="l" eaLnBrk="1" fontAlgn="t" hangingPunct="1">
              <a:spcBef>
                <a:spcPct val="50000"/>
              </a:spcBef>
              <a:buClrTx/>
              <a:buSzTx/>
              <a:buFontTx/>
              <a:buNone/>
            </a:pPr>
            <a:endParaRPr lang="zh-CN" altLang="en-US" sz="1797" dirty="0"/>
          </a:p>
          <a:p>
            <a:pPr algn="l" eaLnBrk="1" hangingPunct="1">
              <a:lnSpc>
                <a:spcPct val="110000"/>
              </a:lnSpc>
              <a:spcBef>
                <a:spcPct val="50000"/>
              </a:spcBef>
              <a:buClrTx/>
              <a:buSzTx/>
              <a:buFontTx/>
              <a:buNone/>
            </a:pPr>
            <a:r>
              <a:rPr lang="zh-CN" altLang="en-US" sz="1977" dirty="0"/>
              <a:t>从公式中可以看出，麦考利久期是债券未来现金流的加权平均年限。</a:t>
            </a:r>
          </a:p>
          <a:p>
            <a:pPr algn="l" eaLnBrk="1" hangingPunct="1">
              <a:lnSpc>
                <a:spcPct val="110000"/>
              </a:lnSpc>
              <a:spcBef>
                <a:spcPct val="50000"/>
              </a:spcBef>
              <a:buClrTx/>
              <a:buSzTx/>
              <a:buFontTx/>
              <a:buNone/>
            </a:pPr>
            <a:r>
              <a:rPr lang="zh-CN" altLang="en-US" sz="1977" dirty="0"/>
              <a:t>修正久期</a:t>
            </a:r>
            <a:r>
              <a:rPr lang="en-US" altLang="zh-CN" sz="1977" dirty="0"/>
              <a:t>= </a:t>
            </a:r>
            <a:r>
              <a:rPr lang="zh-CN" altLang="en-US" sz="1977" dirty="0"/>
              <a:t>麦考利久期</a:t>
            </a:r>
            <a:r>
              <a:rPr lang="en-US" altLang="zh-CN" sz="1977" dirty="0"/>
              <a:t>/</a:t>
            </a:r>
            <a:r>
              <a:rPr lang="zh-CN" altLang="en-US" sz="1977" dirty="0"/>
              <a:t>（</a:t>
            </a:r>
            <a:r>
              <a:rPr lang="en-US" altLang="zh-CN" sz="1977" dirty="0"/>
              <a:t>1+ YTM</a:t>
            </a:r>
            <a:r>
              <a:rPr lang="zh-CN" altLang="en-US" sz="1977" dirty="0"/>
              <a:t>），其计算公式为：</a:t>
            </a:r>
          </a:p>
          <a:p>
            <a:pPr algn="l" eaLnBrk="1" hangingPunct="1">
              <a:lnSpc>
                <a:spcPct val="110000"/>
              </a:lnSpc>
              <a:spcBef>
                <a:spcPct val="50000"/>
              </a:spcBef>
              <a:buClrTx/>
              <a:buSzTx/>
              <a:buFontTx/>
              <a:buNone/>
            </a:pPr>
            <a:endParaRPr lang="zh-CN" altLang="en-US" sz="1977" dirty="0"/>
          </a:p>
          <a:p>
            <a:pPr algn="l" eaLnBrk="1" hangingPunct="1">
              <a:lnSpc>
                <a:spcPct val="110000"/>
              </a:lnSpc>
              <a:spcBef>
                <a:spcPct val="50000"/>
              </a:spcBef>
              <a:buClrTx/>
              <a:buSzTx/>
              <a:buFontTx/>
              <a:buNone/>
            </a:pPr>
            <a:endParaRPr lang="zh-CN" altLang="en-US" sz="1977" dirty="0"/>
          </a:p>
          <a:p>
            <a:pPr algn="l" eaLnBrk="1" hangingPunct="1">
              <a:lnSpc>
                <a:spcPct val="110000"/>
              </a:lnSpc>
              <a:spcBef>
                <a:spcPct val="50000"/>
              </a:spcBef>
              <a:buClrTx/>
              <a:buSzTx/>
              <a:buFontTx/>
              <a:buNone/>
            </a:pPr>
            <a:r>
              <a:rPr lang="zh-CN" altLang="en-US" sz="1977" dirty="0"/>
              <a:t>修正久期是价格与收益率间非线性关系的斜率（一阶导数）。</a:t>
            </a:r>
          </a:p>
        </p:txBody>
      </p:sp>
      <p:graphicFrame>
        <p:nvGraphicFramePr>
          <p:cNvPr id="3074" name="Object 7"/>
          <p:cNvGraphicFramePr>
            <a:graphicFrameLocks noChangeAspect="1"/>
          </p:cNvGraphicFramePr>
          <p:nvPr/>
        </p:nvGraphicFramePr>
        <p:xfrm>
          <a:off x="3095715" y="2134298"/>
          <a:ext cx="5852198" cy="717615"/>
        </p:xfrm>
        <a:graphic>
          <a:graphicData uri="http://schemas.openxmlformats.org/presentationml/2006/ole">
            <mc:AlternateContent xmlns:mc="http://schemas.openxmlformats.org/markup-compatibility/2006">
              <mc:Choice xmlns:v="urn:schemas-microsoft-com:vml" Requires="v">
                <p:oleObj spid="_x0000_s4228" name="公式" r:id="rId4" imgW="2692080" imgH="330120" progId="Equation.3">
                  <p:embed/>
                </p:oleObj>
              </mc:Choice>
              <mc:Fallback>
                <p:oleObj name="公式" r:id="rId4" imgW="2692080" imgH="3301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5715" y="2134298"/>
                        <a:ext cx="5852198" cy="7176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11"/>
          <p:cNvGraphicFramePr>
            <a:graphicFrameLocks noChangeAspect="1"/>
          </p:cNvGraphicFramePr>
          <p:nvPr/>
        </p:nvGraphicFramePr>
        <p:xfrm>
          <a:off x="2763300" y="4075995"/>
          <a:ext cx="6825187" cy="644855"/>
        </p:xfrm>
        <a:graphic>
          <a:graphicData uri="http://schemas.openxmlformats.org/presentationml/2006/ole">
            <mc:AlternateContent xmlns:mc="http://schemas.openxmlformats.org/markup-compatibility/2006">
              <mc:Choice xmlns:v="urn:schemas-microsoft-com:vml" Requires="v">
                <p:oleObj spid="_x0000_s4229" name="公式" r:id="rId6" imgW="3492360" imgH="330120" progId="Equation.3">
                  <p:embed/>
                </p:oleObj>
              </mc:Choice>
              <mc:Fallback>
                <p:oleObj name="公式" r:id="rId6" imgW="3492360" imgH="33012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63300" y="4075995"/>
                        <a:ext cx="6825187" cy="6448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7016638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4466" eaLnBrk="0" hangingPunct="0">
              <a:defRPr sz="1797" b="1">
                <a:solidFill>
                  <a:srgbClr val="003366"/>
                </a:solidFill>
                <a:latin typeface="Arial" panose="020B0604020202020204" pitchFamily="34" charset="0"/>
                <a:ea typeface="楷体_GB2312" pitchFamily="49" charset="-122"/>
              </a:defRPr>
            </a:lvl1pPr>
            <a:lvl2pPr marL="667689" indent="-256804" defTabSz="944466" eaLnBrk="0" hangingPunct="0">
              <a:defRPr sz="1797" b="1">
                <a:solidFill>
                  <a:srgbClr val="003366"/>
                </a:solidFill>
                <a:latin typeface="Arial" panose="020B0604020202020204" pitchFamily="34" charset="0"/>
                <a:ea typeface="楷体_GB2312" pitchFamily="49" charset="-122"/>
              </a:defRPr>
            </a:lvl2pPr>
            <a:lvl3pPr marL="1027214" indent="-205443" defTabSz="944466" eaLnBrk="0" hangingPunct="0">
              <a:defRPr sz="1797" b="1">
                <a:solidFill>
                  <a:srgbClr val="003366"/>
                </a:solidFill>
                <a:latin typeface="Arial" panose="020B0604020202020204" pitchFamily="34" charset="0"/>
                <a:ea typeface="楷体_GB2312" pitchFamily="49" charset="-122"/>
              </a:defRPr>
            </a:lvl3pPr>
            <a:lvl4pPr marL="1438100" indent="-205443" defTabSz="944466" eaLnBrk="0" hangingPunct="0">
              <a:defRPr sz="1797" b="1">
                <a:solidFill>
                  <a:srgbClr val="003366"/>
                </a:solidFill>
                <a:latin typeface="Arial" panose="020B0604020202020204" pitchFamily="34" charset="0"/>
                <a:ea typeface="楷体_GB2312" pitchFamily="49" charset="-122"/>
              </a:defRPr>
            </a:lvl4pPr>
            <a:lvl5pPr marL="1848985" indent="-205443" defTabSz="944466" eaLnBrk="0" hangingPunct="0">
              <a:defRPr sz="1797" b="1">
                <a:solidFill>
                  <a:srgbClr val="003366"/>
                </a:solidFill>
                <a:latin typeface="Arial" panose="020B0604020202020204" pitchFamily="34" charset="0"/>
                <a:ea typeface="楷体_GB2312" pitchFamily="49" charset="-122"/>
              </a:defRPr>
            </a:lvl5pPr>
            <a:lvl6pPr marL="2259871"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6pPr>
            <a:lvl7pPr marL="2670757"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7pPr>
            <a:lvl8pPr marL="3081642"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8pPr>
            <a:lvl9pPr marL="3492528" indent="-205443" algn="ctr" defTabSz="944466" eaLnBrk="0" fontAlgn="base" hangingPunct="0">
              <a:lnSpc>
                <a:spcPct val="120000"/>
              </a:lnSpc>
              <a:spcBef>
                <a:spcPct val="20000"/>
              </a:spcBef>
              <a:spcAft>
                <a:spcPct val="0"/>
              </a:spcAft>
              <a:buClr>
                <a:srgbClr val="003366"/>
              </a:buClr>
              <a:buSzPct val="50000"/>
              <a:buFont typeface="Wingdings" panose="05000000000000000000" pitchFamily="2" charset="2"/>
              <a:defRPr sz="1797" b="1">
                <a:solidFill>
                  <a:srgbClr val="003366"/>
                </a:solidFill>
                <a:latin typeface="Arial" panose="020B0604020202020204" pitchFamily="34" charset="0"/>
                <a:ea typeface="楷体_GB2312" pitchFamily="49" charset="-122"/>
              </a:defRPr>
            </a:lvl9pPr>
          </a:lstStyle>
          <a:p>
            <a:pPr eaLnBrk="1" hangingPunct="1"/>
            <a:fld id="{1072C149-5D19-43F5-A029-2EDDB4F06211}" type="slidenum">
              <a:rPr lang="en-US" altLang="zh-CN" sz="1438" b="0">
                <a:solidFill>
                  <a:schemeClr val="tx1"/>
                </a:solidFill>
                <a:ea typeface="宋体" panose="02010600030101010101" pitchFamily="2" charset="-122"/>
              </a:rPr>
              <a:pPr eaLnBrk="1" hangingPunct="1"/>
              <a:t>52</a:t>
            </a:fld>
            <a:endParaRPr lang="en-US" altLang="zh-CN" sz="1438" b="0">
              <a:solidFill>
                <a:schemeClr val="tx1"/>
              </a:solidFill>
              <a:ea typeface="宋体" panose="02010600030101010101" pitchFamily="2" charset="-122"/>
            </a:endParaRPr>
          </a:p>
        </p:txBody>
      </p:sp>
      <p:sp>
        <p:nvSpPr>
          <p:cNvPr id="4101" name="Rectangle 5"/>
          <p:cNvSpPr>
            <a:spLocks noChangeArrowheads="1"/>
          </p:cNvSpPr>
          <p:nvPr/>
        </p:nvSpPr>
        <p:spPr bwMode="auto">
          <a:xfrm>
            <a:off x="1666192" y="1376737"/>
            <a:ext cx="8671297" cy="258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1050925" eaLnBrk="0" hangingPunct="0">
              <a:defRPr sz="2000" b="1">
                <a:solidFill>
                  <a:srgbClr val="003366"/>
                </a:solidFill>
                <a:latin typeface="Arial" panose="020B0604020202020204" pitchFamily="34" charset="0"/>
                <a:ea typeface="楷体_GB2312" pitchFamily="49" charset="-122"/>
              </a:defRPr>
            </a:lvl1pPr>
            <a:lvl2pPr marL="742950" indent="-285750" defTabSz="1050925" eaLnBrk="0" hangingPunct="0">
              <a:defRPr sz="2000" b="1">
                <a:solidFill>
                  <a:srgbClr val="003366"/>
                </a:solidFill>
                <a:latin typeface="Arial" panose="020B0604020202020204" pitchFamily="34" charset="0"/>
                <a:ea typeface="楷体_GB2312" pitchFamily="49" charset="-122"/>
              </a:defRPr>
            </a:lvl2pPr>
            <a:lvl3pPr marL="1143000" indent="-228600" defTabSz="1050925" eaLnBrk="0" hangingPunct="0">
              <a:defRPr sz="2000" b="1">
                <a:solidFill>
                  <a:srgbClr val="003366"/>
                </a:solidFill>
                <a:latin typeface="Arial" panose="020B0604020202020204" pitchFamily="34" charset="0"/>
                <a:ea typeface="楷体_GB2312" pitchFamily="49" charset="-122"/>
              </a:defRPr>
            </a:lvl3pPr>
            <a:lvl4pPr marL="1600200" indent="-228600" defTabSz="1050925" eaLnBrk="0" hangingPunct="0">
              <a:defRPr sz="2000" b="1">
                <a:solidFill>
                  <a:srgbClr val="003366"/>
                </a:solidFill>
                <a:latin typeface="Arial" panose="020B0604020202020204" pitchFamily="34" charset="0"/>
                <a:ea typeface="楷体_GB2312" pitchFamily="49" charset="-122"/>
              </a:defRPr>
            </a:lvl4pPr>
            <a:lvl5pPr marL="2057400" indent="-228600" defTabSz="1050925" eaLnBrk="0" hangingPunct="0">
              <a:defRPr sz="2000" b="1">
                <a:solidFill>
                  <a:srgbClr val="003366"/>
                </a:solidFill>
                <a:latin typeface="Arial" panose="020B0604020202020204" pitchFamily="34" charset="0"/>
                <a:ea typeface="楷体_GB2312" pitchFamily="49" charset="-122"/>
              </a:defRPr>
            </a:lvl5pPr>
            <a:lvl6pPr marL="25146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6pPr>
            <a:lvl7pPr marL="29718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7pPr>
            <a:lvl8pPr marL="34290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8pPr>
            <a:lvl9pPr marL="3886200" indent="-228600" algn="ctr" defTabSz="1050925" eaLnBrk="0" fontAlgn="base" hangingPunct="0">
              <a:lnSpc>
                <a:spcPct val="120000"/>
              </a:lnSpc>
              <a:spcBef>
                <a:spcPct val="20000"/>
              </a:spcBef>
              <a:spcAft>
                <a:spcPct val="0"/>
              </a:spcAft>
              <a:buClr>
                <a:srgbClr val="003366"/>
              </a:buClr>
              <a:buSzPct val="50000"/>
              <a:buFont typeface="Wingdings" panose="05000000000000000000" pitchFamily="2" charset="2"/>
              <a:defRPr sz="2000" b="1">
                <a:solidFill>
                  <a:srgbClr val="003366"/>
                </a:solidFill>
                <a:latin typeface="Arial" panose="020B0604020202020204" pitchFamily="34" charset="0"/>
                <a:ea typeface="楷体_GB2312" pitchFamily="49" charset="-122"/>
              </a:defRPr>
            </a:lvl9pPr>
          </a:lstStyle>
          <a:p>
            <a:pPr algn="l" eaLnBrk="1" fontAlgn="t" hangingPunct="1">
              <a:spcBef>
                <a:spcPct val="50000"/>
              </a:spcBef>
              <a:buClrTx/>
              <a:buSzTx/>
              <a:buFontTx/>
              <a:buNone/>
            </a:pPr>
            <a:r>
              <a:rPr lang="en-US" altLang="zh-CN" sz="1797" dirty="0"/>
              <a:t>“</a:t>
            </a:r>
            <a:r>
              <a:rPr lang="zh-CN" altLang="en-US" sz="1797" dirty="0"/>
              <a:t>债券价格</a:t>
            </a:r>
            <a:r>
              <a:rPr lang="en-US" altLang="zh-CN" sz="1797" dirty="0"/>
              <a:t>—</a:t>
            </a:r>
            <a:r>
              <a:rPr lang="zh-CN" altLang="en-US" sz="1797" dirty="0"/>
              <a:t>收益率”函数不是线性函数，当利率变化较小时，利用久期可以比较精确的计算出债券价格的变化。但是当利率变化较大时，久期不能完全反映债券价格对利率变动的敏感性，因此引入了凸度的概念。</a:t>
            </a:r>
          </a:p>
          <a:p>
            <a:pPr algn="l" eaLnBrk="1" fontAlgn="t" hangingPunct="1">
              <a:spcBef>
                <a:spcPct val="50000"/>
              </a:spcBef>
              <a:buClrTx/>
              <a:buSzTx/>
              <a:buFontTx/>
              <a:buNone/>
            </a:pPr>
            <a:r>
              <a:rPr lang="zh-CN" altLang="en-US" sz="1797" dirty="0"/>
              <a:t>凸度是收益率同价格之间非线性关系的二级导数，其计算公式为：</a:t>
            </a:r>
          </a:p>
          <a:p>
            <a:pPr algn="l" eaLnBrk="1" fontAlgn="t" hangingPunct="1">
              <a:spcBef>
                <a:spcPct val="50000"/>
              </a:spcBef>
              <a:buClrTx/>
              <a:buSzTx/>
              <a:buFontTx/>
              <a:buNone/>
            </a:pPr>
            <a:endParaRPr lang="zh-CN" altLang="en-US" sz="1797" dirty="0"/>
          </a:p>
          <a:p>
            <a:pPr algn="l" eaLnBrk="1" fontAlgn="t" hangingPunct="1">
              <a:spcBef>
                <a:spcPct val="50000"/>
              </a:spcBef>
              <a:buClrTx/>
              <a:buSzTx/>
              <a:buFontTx/>
              <a:buNone/>
            </a:pPr>
            <a:endParaRPr lang="zh-CN" altLang="en-US" sz="1797" dirty="0"/>
          </a:p>
          <a:p>
            <a:pPr algn="l" eaLnBrk="1" fontAlgn="t" hangingPunct="1">
              <a:spcBef>
                <a:spcPct val="50000"/>
              </a:spcBef>
              <a:buClrTx/>
              <a:buSzTx/>
              <a:buFontTx/>
              <a:buNone/>
            </a:pPr>
            <a:endParaRPr lang="zh-CN" altLang="en-US" sz="1797" dirty="0"/>
          </a:p>
        </p:txBody>
      </p:sp>
      <p:sp>
        <p:nvSpPr>
          <p:cNvPr id="4102" name="Rectangle 2"/>
          <p:cNvSpPr>
            <a:spLocks noGrp="1" noChangeArrowheads="1"/>
          </p:cNvSpPr>
          <p:nvPr>
            <p:ph type="title"/>
          </p:nvPr>
        </p:nvSpPr>
        <p:spPr>
          <a:xfrm>
            <a:off x="4850061" y="533955"/>
            <a:ext cx="1656616" cy="533574"/>
          </a:xfrm>
        </p:spPr>
        <p:txBody>
          <a:bodyPr>
            <a:normAutofit fontScale="90000"/>
          </a:bodyPr>
          <a:lstStyle/>
          <a:p>
            <a:pPr algn="ctr" eaLnBrk="1" hangingPunct="1"/>
            <a:r>
              <a:rPr lang="zh-CN" altLang="en-US" dirty="0" smtClean="0"/>
              <a:t>凸度</a:t>
            </a:r>
          </a:p>
        </p:txBody>
      </p:sp>
      <p:graphicFrame>
        <p:nvGraphicFramePr>
          <p:cNvPr id="4098" name="Object 4"/>
          <p:cNvGraphicFramePr>
            <a:graphicFrameLocks noGrp="1" noChangeAspect="1"/>
          </p:cNvGraphicFramePr>
          <p:nvPr>
            <p:ph idx="1"/>
            <p:extLst>
              <p:ext uri="{D42A27DB-BD31-4B8C-83A1-F6EECF244321}">
                <p14:modId xmlns:p14="http://schemas.microsoft.com/office/powerpoint/2010/main" val="2464840945"/>
              </p:ext>
            </p:extLst>
          </p:nvPr>
        </p:nvGraphicFramePr>
        <p:xfrm>
          <a:off x="2107841" y="3187748"/>
          <a:ext cx="6502759" cy="770401"/>
        </p:xfrm>
        <a:graphic>
          <a:graphicData uri="http://schemas.openxmlformats.org/presentationml/2006/ole">
            <mc:AlternateContent xmlns:mc="http://schemas.openxmlformats.org/markup-compatibility/2006">
              <mc:Choice xmlns:v="urn:schemas-microsoft-com:vml" Requires="v">
                <p:oleObj spid="_x0000_s5188" name="Equation" r:id="rId4" imgW="4609800" imgH="545760" progId="Equation.DSMT4">
                  <p:embed/>
                </p:oleObj>
              </mc:Choice>
              <mc:Fallback>
                <p:oleObj name="Equation" r:id="rId4" imgW="4609800" imgH="54576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7841" y="3187748"/>
                        <a:ext cx="6502759" cy="770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3340223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200">
                <a:solidFill>
                  <a:srgbClr val="898989"/>
                </a:solidFill>
                <a:latin typeface="Times New Roman" panose="02020603050405020304" pitchFamily="18" charset="0"/>
              </a:rPr>
              <a:t>11-</a:t>
            </a:r>
            <a:fld id="{28D7C9B6-3236-4608-8777-ED3174CFE241}" type="slidenum">
              <a:rPr lang="en-US" altLang="zh-CN" sz="1200">
                <a:solidFill>
                  <a:srgbClr val="898989"/>
                </a:solidFill>
                <a:latin typeface="Times New Roman" panose="02020603050405020304" pitchFamily="18" charset="0"/>
              </a:rPr>
              <a:pPr>
                <a:spcBef>
                  <a:spcPct val="0"/>
                </a:spcBef>
                <a:buFontTx/>
                <a:buNone/>
              </a:pPr>
              <a:t>53</a:t>
            </a:fld>
            <a:endParaRPr lang="en-US" altLang="zh-CN" sz="1200">
              <a:solidFill>
                <a:srgbClr val="898989"/>
              </a:solidFill>
              <a:latin typeface="Times New Roman" panose="02020603050405020304" pitchFamily="18" charset="0"/>
            </a:endParaRPr>
          </a:p>
        </p:txBody>
      </p:sp>
      <p:sp>
        <p:nvSpPr>
          <p:cNvPr id="116739" name="标题 4"/>
          <p:cNvSpPr>
            <a:spLocks noGrp="1"/>
          </p:cNvSpPr>
          <p:nvPr>
            <p:ph type="title" idx="4294967295"/>
          </p:nvPr>
        </p:nvSpPr>
        <p:spPr>
          <a:xfrm>
            <a:off x="1524000" y="274638"/>
            <a:ext cx="8229600" cy="1143000"/>
          </a:xfrm>
        </p:spPr>
        <p:txBody>
          <a:bodyPr/>
          <a:lstStyle/>
          <a:p>
            <a:pPr algn="ctr"/>
            <a:r>
              <a:rPr lang="zh-CN" altLang="en-US" dirty="0" smtClean="0"/>
              <a:t>泰勒展开式</a:t>
            </a:r>
          </a:p>
        </p:txBody>
      </p:sp>
      <p:graphicFrame>
        <p:nvGraphicFramePr>
          <p:cNvPr id="116740" name="对象 6"/>
          <p:cNvGraphicFramePr>
            <a:graphicFrameLocks noChangeAspect="1"/>
          </p:cNvGraphicFramePr>
          <p:nvPr>
            <p:extLst>
              <p:ext uri="{D42A27DB-BD31-4B8C-83A1-F6EECF244321}">
                <p14:modId xmlns:p14="http://schemas.microsoft.com/office/powerpoint/2010/main" val="3484027746"/>
              </p:ext>
            </p:extLst>
          </p:nvPr>
        </p:nvGraphicFramePr>
        <p:xfrm>
          <a:off x="1333500" y="1385887"/>
          <a:ext cx="9315450" cy="3729037"/>
        </p:xfrm>
        <a:graphic>
          <a:graphicData uri="http://schemas.openxmlformats.org/presentationml/2006/ole">
            <mc:AlternateContent xmlns:mc="http://schemas.openxmlformats.org/markup-compatibility/2006">
              <mc:Choice xmlns:v="urn:schemas-microsoft-com:vml" Requires="v">
                <p:oleObj spid="_x0000_s9247" name="Equation" r:id="rId3" imgW="5003640" imgH="1981080" progId="Equation.DSMT4">
                  <p:embed/>
                </p:oleObj>
              </mc:Choice>
              <mc:Fallback>
                <p:oleObj name="Equation" r:id="rId3" imgW="5003640" imgH="1981080" progId="Equation.DSMT4">
                  <p:embed/>
                  <p:pic>
                    <p:nvPicPr>
                      <p:cNvPr id="0" name=""/>
                      <p:cNvPicPr>
                        <a:picLocks noChangeAspect="1" noChangeArrowheads="1"/>
                      </p:cNvPicPr>
                      <p:nvPr/>
                    </p:nvPicPr>
                    <p:blipFill>
                      <a:blip r:embed="rId4"/>
                      <a:srcRect/>
                      <a:stretch>
                        <a:fillRect/>
                      </a:stretch>
                    </p:blipFill>
                    <p:spPr bwMode="auto">
                      <a:xfrm>
                        <a:off x="1333500" y="1385887"/>
                        <a:ext cx="9315450" cy="372903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884709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669528021"/>
              </p:ext>
            </p:extLst>
          </p:nvPr>
        </p:nvGraphicFramePr>
        <p:xfrm>
          <a:off x="2066925" y="1843088"/>
          <a:ext cx="7699375" cy="4268960"/>
        </p:xfrm>
        <a:graphic>
          <a:graphicData uri="http://schemas.openxmlformats.org/presentationml/2006/ole">
            <mc:AlternateContent xmlns:mc="http://schemas.openxmlformats.org/markup-compatibility/2006">
              <mc:Choice xmlns:v="urn:schemas-microsoft-com:vml" Requires="v">
                <p:oleObj spid="_x0000_s10261" name="Equation" r:id="rId3" imgW="5130720" imgH="2844720" progId="Equation.DSMT4">
                  <p:embed/>
                </p:oleObj>
              </mc:Choice>
              <mc:Fallback>
                <p:oleObj name="Equation" r:id="rId3" imgW="5130720" imgH="2844720" progId="Equation.DSMT4">
                  <p:embed/>
                  <p:pic>
                    <p:nvPicPr>
                      <p:cNvPr id="0" name=""/>
                      <p:cNvPicPr/>
                      <p:nvPr/>
                    </p:nvPicPr>
                    <p:blipFill>
                      <a:blip r:embed="rId4"/>
                      <a:stretch>
                        <a:fillRect/>
                      </a:stretch>
                    </p:blipFill>
                    <p:spPr>
                      <a:xfrm>
                        <a:off x="2066925" y="1843088"/>
                        <a:ext cx="7699375" cy="4268960"/>
                      </a:xfrm>
                      <a:prstGeom prst="rect">
                        <a:avLst/>
                      </a:prstGeom>
                    </p:spPr>
                  </p:pic>
                </p:oleObj>
              </mc:Fallback>
            </mc:AlternateContent>
          </a:graphicData>
        </a:graphic>
      </p:graphicFrame>
      <p:sp>
        <p:nvSpPr>
          <p:cNvPr id="3" name="标题 2"/>
          <p:cNvSpPr>
            <a:spLocks noGrp="1"/>
          </p:cNvSpPr>
          <p:nvPr>
            <p:ph type="title"/>
          </p:nvPr>
        </p:nvSpPr>
        <p:spPr/>
        <p:txBody>
          <a:bodyPr/>
          <a:lstStyle/>
          <a:p>
            <a:pPr algn="ctr"/>
            <a:r>
              <a:rPr lang="zh-CN" altLang="en-US" dirty="0" smtClean="0"/>
              <a:t>连续函数的近似表示</a:t>
            </a:r>
            <a:endParaRPr lang="zh-CN" altLang="en-US" dirty="0"/>
          </a:p>
        </p:txBody>
      </p:sp>
    </p:spTree>
    <p:extLst>
      <p:ext uri="{BB962C8B-B14F-4D97-AF65-F5344CB8AC3E}">
        <p14:creationId xmlns:p14="http://schemas.microsoft.com/office/powerpoint/2010/main" val="42465882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把债券价值表示为到期收益率的函数</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3355879229"/>
              </p:ext>
            </p:extLst>
          </p:nvPr>
        </p:nvGraphicFramePr>
        <p:xfrm>
          <a:off x="1058863" y="1477963"/>
          <a:ext cx="10294937" cy="5272087"/>
        </p:xfrm>
        <a:graphic>
          <a:graphicData uri="http://schemas.openxmlformats.org/presentationml/2006/ole">
            <mc:AlternateContent xmlns:mc="http://schemas.openxmlformats.org/markup-compatibility/2006">
              <mc:Choice xmlns:v="urn:schemas-microsoft-com:vml" Requires="v">
                <p:oleObj spid="_x0000_s11285" name="Equation" r:id="rId3" imgW="5130720" imgH="2361960" progId="Equation.DSMT4">
                  <p:embed/>
                </p:oleObj>
              </mc:Choice>
              <mc:Fallback>
                <p:oleObj name="Equation" r:id="rId3" imgW="5130720" imgH="2361960" progId="Equation.DSMT4">
                  <p:embed/>
                  <p:pic>
                    <p:nvPicPr>
                      <p:cNvPr id="0" name=""/>
                      <p:cNvPicPr/>
                      <p:nvPr/>
                    </p:nvPicPr>
                    <p:blipFill>
                      <a:blip r:embed="rId4"/>
                      <a:stretch>
                        <a:fillRect/>
                      </a:stretch>
                    </p:blipFill>
                    <p:spPr>
                      <a:xfrm>
                        <a:off x="1058863" y="1477963"/>
                        <a:ext cx="10294937" cy="5272087"/>
                      </a:xfrm>
                      <a:prstGeom prst="rect">
                        <a:avLst/>
                      </a:prstGeom>
                    </p:spPr>
                  </p:pic>
                </p:oleObj>
              </mc:Fallback>
            </mc:AlternateContent>
          </a:graphicData>
        </a:graphic>
      </p:graphicFrame>
    </p:spTree>
    <p:extLst>
      <p:ext uri="{BB962C8B-B14F-4D97-AF65-F5344CB8AC3E}">
        <p14:creationId xmlns:p14="http://schemas.microsoft.com/office/powerpoint/2010/main" val="11336054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债券或债券组合的利率风险管理</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3618223260"/>
              </p:ext>
            </p:extLst>
          </p:nvPr>
        </p:nvGraphicFramePr>
        <p:xfrm>
          <a:off x="1835228" y="1938337"/>
          <a:ext cx="8966121" cy="3462337"/>
        </p:xfrm>
        <a:graphic>
          <a:graphicData uri="http://schemas.openxmlformats.org/presentationml/2006/ole">
            <mc:AlternateContent xmlns:mc="http://schemas.openxmlformats.org/markup-compatibility/2006">
              <mc:Choice xmlns:v="urn:schemas-microsoft-com:vml" Requires="v">
                <p:oleObj spid="_x0000_s12309" name="Equation" r:id="rId3" imgW="4673520" imgH="2082600" progId="Equation.DSMT4">
                  <p:embed/>
                </p:oleObj>
              </mc:Choice>
              <mc:Fallback>
                <p:oleObj name="Equation" r:id="rId3" imgW="4673520" imgH="2082600" progId="Equation.DSMT4">
                  <p:embed/>
                  <p:pic>
                    <p:nvPicPr>
                      <p:cNvPr id="0" name=""/>
                      <p:cNvPicPr/>
                      <p:nvPr/>
                    </p:nvPicPr>
                    <p:blipFill>
                      <a:blip r:embed="rId4"/>
                      <a:stretch>
                        <a:fillRect/>
                      </a:stretch>
                    </p:blipFill>
                    <p:spPr>
                      <a:xfrm>
                        <a:off x="1835228" y="1938337"/>
                        <a:ext cx="8966121" cy="3462337"/>
                      </a:xfrm>
                      <a:prstGeom prst="rect">
                        <a:avLst/>
                      </a:prstGeom>
                    </p:spPr>
                  </p:pic>
                </p:oleObj>
              </mc:Fallback>
            </mc:AlternateContent>
          </a:graphicData>
        </a:graphic>
      </p:graphicFrame>
    </p:spTree>
    <p:extLst>
      <p:ext uri="{BB962C8B-B14F-4D97-AF65-F5344CB8AC3E}">
        <p14:creationId xmlns:p14="http://schemas.microsoft.com/office/powerpoint/2010/main" val="13693737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187450"/>
          </a:xfrm>
        </p:spPr>
        <p:txBody>
          <a:bodyPr>
            <a:normAutofit fontScale="90000"/>
          </a:bodyPr>
          <a:lstStyle/>
          <a:p>
            <a:pPr algn="ctr"/>
            <a:r>
              <a:rPr lang="zh-CN" altLang="en-US" dirty="0" smtClean="0"/>
              <a:t>债券价值的泰勒展开式</a:t>
            </a:r>
            <a:r>
              <a:rPr lang="en-US" altLang="zh-CN" dirty="0" smtClean="0"/>
              <a:t/>
            </a:r>
            <a:br>
              <a:rPr lang="en-US" altLang="zh-CN" dirty="0" smtClean="0"/>
            </a:br>
            <a:r>
              <a:rPr lang="zh-CN" altLang="en-US" sz="3900" dirty="0">
                <a:solidFill>
                  <a:srgbClr val="0070C0"/>
                </a:solidFill>
              </a:rPr>
              <a:t>一</a:t>
            </a:r>
            <a:r>
              <a:rPr lang="zh-CN" altLang="en-US" sz="3900" dirty="0" smtClean="0">
                <a:solidFill>
                  <a:srgbClr val="0070C0"/>
                </a:solidFill>
              </a:rPr>
              <a:t>阶导数为负，乘以负一为正</a:t>
            </a:r>
            <a:endParaRPr lang="zh-CN" altLang="en-US" sz="3900" dirty="0">
              <a:solidFill>
                <a:srgbClr val="0070C0"/>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085707763"/>
              </p:ext>
            </p:extLst>
          </p:nvPr>
        </p:nvGraphicFramePr>
        <p:xfrm>
          <a:off x="2654300" y="1946277"/>
          <a:ext cx="7315200" cy="4450614"/>
        </p:xfrm>
        <a:graphic>
          <a:graphicData uri="http://schemas.openxmlformats.org/presentationml/2006/ole">
            <mc:AlternateContent xmlns:mc="http://schemas.openxmlformats.org/markup-compatibility/2006">
              <mc:Choice xmlns:v="urn:schemas-microsoft-com:vml" Requires="v">
                <p:oleObj spid="_x0000_s6210" name="Equation" r:id="rId3" imgW="3288960" imgH="2831760" progId="Equation.DSMT4">
                  <p:embed/>
                </p:oleObj>
              </mc:Choice>
              <mc:Fallback>
                <p:oleObj name="Equation" r:id="rId3" imgW="3288960" imgH="2831760" progId="Equation.DSMT4">
                  <p:embed/>
                  <p:pic>
                    <p:nvPicPr>
                      <p:cNvPr id="0" name=""/>
                      <p:cNvPicPr/>
                      <p:nvPr/>
                    </p:nvPicPr>
                    <p:blipFill>
                      <a:blip r:embed="rId4"/>
                      <a:stretch>
                        <a:fillRect/>
                      </a:stretch>
                    </p:blipFill>
                    <p:spPr>
                      <a:xfrm>
                        <a:off x="2654300" y="1946277"/>
                        <a:ext cx="7315200" cy="4450614"/>
                      </a:xfrm>
                      <a:prstGeom prst="rect">
                        <a:avLst/>
                      </a:prstGeom>
                    </p:spPr>
                  </p:pic>
                </p:oleObj>
              </mc:Fallback>
            </mc:AlternateContent>
          </a:graphicData>
        </a:graphic>
      </p:graphicFrame>
    </p:spTree>
    <p:extLst>
      <p:ext uri="{BB962C8B-B14F-4D97-AF65-F5344CB8AC3E}">
        <p14:creationId xmlns:p14="http://schemas.microsoft.com/office/powerpoint/2010/main" val="3409034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3"/>
          <p:cNvSpPr>
            <a:spLocks noGrp="1"/>
          </p:cNvSpPr>
          <p:nvPr>
            <p:ph type="title"/>
          </p:nvPr>
        </p:nvSpPr>
        <p:spPr/>
        <p:txBody>
          <a:bodyPr/>
          <a:lstStyle/>
          <a:p>
            <a:pPr algn="ctr"/>
            <a:r>
              <a:rPr lang="zh-CN" altLang="en-US" dirty="0" smtClean="0">
                <a:ea typeface="宋体" panose="02010600030101010101" pitchFamily="2" charset="-122"/>
              </a:rPr>
              <a:t>请注意</a:t>
            </a:r>
          </a:p>
        </p:txBody>
      </p:sp>
      <p:sp>
        <p:nvSpPr>
          <p:cNvPr id="60419" name="内容占位符 4"/>
          <p:cNvSpPr>
            <a:spLocks noGrp="1"/>
          </p:cNvSpPr>
          <p:nvPr>
            <p:ph idx="1"/>
          </p:nvPr>
        </p:nvSpPr>
        <p:spPr>
          <a:xfrm>
            <a:off x="1841501" y="1803400"/>
            <a:ext cx="8505825" cy="3073400"/>
          </a:xfrm>
        </p:spPr>
        <p:txBody>
          <a:bodyPr>
            <a:normAutofit fontScale="92500"/>
          </a:bodyPr>
          <a:lstStyle/>
          <a:p>
            <a:r>
              <a:rPr lang="zh-CN" altLang="en-US" sz="2500" dirty="0">
                <a:ea typeface="宋体" panose="02010600030101010101" pitchFamily="2" charset="-122"/>
              </a:rPr>
              <a:t>麦氏久期</a:t>
            </a:r>
            <a:r>
              <a:rPr lang="zh-CN" altLang="en-US" sz="2500" dirty="0"/>
              <a:t>和修正久期都</a:t>
            </a:r>
            <a:r>
              <a:rPr lang="zh-CN" altLang="en-US" sz="2500" dirty="0">
                <a:ea typeface="宋体" panose="02010600030101010101" pitchFamily="2" charset="-122"/>
              </a:rPr>
              <a:t>定义为正数，凸度同样定义为正数</a:t>
            </a:r>
            <a:endParaRPr lang="en-US" altLang="zh-CN" sz="2500" dirty="0">
              <a:ea typeface="宋体" panose="02010600030101010101" pitchFamily="2" charset="-122"/>
            </a:endParaRPr>
          </a:p>
          <a:p>
            <a:r>
              <a:rPr lang="zh-CN" altLang="en-US" sz="2500" dirty="0">
                <a:ea typeface="宋体" panose="02010600030101010101" pitchFamily="2" charset="-122"/>
              </a:rPr>
              <a:t>久期与债券价值变动方向相反；凸度与债券价值变动方向相同</a:t>
            </a:r>
            <a:endParaRPr lang="en-US" altLang="zh-CN" sz="2500" dirty="0">
              <a:ea typeface="宋体" panose="02010600030101010101" pitchFamily="2" charset="-122"/>
            </a:endParaRPr>
          </a:p>
          <a:p>
            <a:r>
              <a:rPr lang="zh-CN" altLang="en-US" sz="2500" dirty="0">
                <a:ea typeface="宋体" panose="02010600030101010101" pitchFamily="2" charset="-122"/>
              </a:rPr>
              <a:t>当利率变动较大时，不能忽略凸度对债券价值的影响。</a:t>
            </a:r>
            <a:endParaRPr lang="en-US" altLang="zh-CN" sz="2500" dirty="0">
              <a:ea typeface="宋体" panose="02010600030101010101" pitchFamily="2" charset="-122"/>
            </a:endParaRPr>
          </a:p>
          <a:p>
            <a:r>
              <a:rPr lang="zh-CN" altLang="en-US" sz="2500" dirty="0">
                <a:ea typeface="宋体" panose="02010600030101010101" pitchFamily="2" charset="-122"/>
              </a:rPr>
              <a:t>给定其它条件，凸度越大的债券，投资价值越大</a:t>
            </a:r>
            <a:r>
              <a:rPr lang="zh-CN" altLang="en-US" sz="2500" dirty="0" smtClean="0">
                <a:ea typeface="宋体" panose="02010600030101010101" pitchFamily="2" charset="-122"/>
              </a:rPr>
              <a:t>。</a:t>
            </a:r>
            <a:r>
              <a:rPr lang="zh-CN" altLang="en-US" sz="2500" dirty="0"/>
              <a:t>当然，</a:t>
            </a:r>
            <a:r>
              <a:rPr lang="zh-CN" altLang="en-US" sz="2500" dirty="0" smtClean="0"/>
              <a:t>凸度的这一特性已经反应到债券价格</a:t>
            </a:r>
            <a:r>
              <a:rPr lang="zh-CN" altLang="en-US" sz="2500" dirty="0" smtClean="0">
                <a:ea typeface="宋体" panose="02010600030101010101" pitchFamily="2" charset="-122"/>
              </a:rPr>
              <a:t>里面</a:t>
            </a:r>
            <a:r>
              <a:rPr lang="zh-CN" altLang="en-US" sz="2500" dirty="0"/>
              <a:t>去了，除非你预期利率变化幅度比市场预期的幅度更大，并且这种预期是对的，否则也难以通过买入</a:t>
            </a:r>
            <a:r>
              <a:rPr lang="zh-CN" altLang="en-US" sz="2500" dirty="0" smtClean="0"/>
              <a:t>凸度的债券来获取超额收益</a:t>
            </a:r>
            <a:endParaRPr lang="en-US" altLang="zh-CN" sz="2500" dirty="0">
              <a:ea typeface="宋体" panose="02010600030101010101" pitchFamily="2" charset="-122"/>
            </a:endParaRPr>
          </a:p>
          <a:p>
            <a:pPr lvl="1"/>
            <a:r>
              <a:rPr lang="zh-CN" altLang="en-US" sz="2100" dirty="0">
                <a:ea typeface="宋体" panose="02010600030101010101" pitchFamily="2" charset="-122"/>
              </a:rPr>
              <a:t>无论是加息，还是降息，凸度都是有利于增加债券价值的。</a:t>
            </a:r>
            <a:endParaRPr lang="en-US" altLang="zh-CN" sz="2100" dirty="0">
              <a:ea typeface="宋体" panose="02010600030101010101" pitchFamily="2" charset="-122"/>
            </a:endParaRPr>
          </a:p>
          <a:p>
            <a:endParaRPr lang="zh-CN" altLang="en-US" dirty="0" smtClean="0">
              <a:ea typeface="宋体" panose="02010600030101010101" pitchFamily="2" charset="-122"/>
            </a:endParaRPr>
          </a:p>
        </p:txBody>
      </p:sp>
      <p:sp>
        <p:nvSpPr>
          <p:cNvPr id="60421" name="灯片编号占位符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zh-CN" sz="1800">
                <a:solidFill>
                  <a:schemeClr val="bg1"/>
                </a:solidFill>
                <a:latin typeface="Arial" panose="020B0604020202020204" pitchFamily="34" charset="0"/>
              </a:rPr>
              <a:t>7-</a:t>
            </a:r>
            <a:fld id="{4471AE6B-F769-4FFE-8F85-61263D8AF0C9}" type="slidenum">
              <a:rPr lang="en-US" altLang="zh-CN" sz="1800">
                <a:solidFill>
                  <a:schemeClr val="bg1"/>
                </a:solidFill>
                <a:latin typeface="Arial" panose="020B0604020202020204" pitchFamily="34" charset="0"/>
              </a:rPr>
              <a:pPr/>
              <a:t>58</a:t>
            </a:fld>
            <a:endParaRPr lang="en-US" altLang="zh-CN" sz="1800">
              <a:solidFill>
                <a:schemeClr val="bg1"/>
              </a:solidFill>
              <a:latin typeface="Arial" panose="020B0604020202020204" pitchFamily="34" charset="0"/>
            </a:endParaRPr>
          </a:p>
        </p:txBody>
      </p:sp>
      <p:graphicFrame>
        <p:nvGraphicFramePr>
          <p:cNvPr id="60422" name="对象 5"/>
          <p:cNvGraphicFramePr>
            <a:graphicFrameLocks noChangeAspect="1"/>
          </p:cNvGraphicFramePr>
          <p:nvPr>
            <p:extLst>
              <p:ext uri="{D42A27DB-BD31-4B8C-83A1-F6EECF244321}">
                <p14:modId xmlns:p14="http://schemas.microsoft.com/office/powerpoint/2010/main" val="2884972398"/>
              </p:ext>
            </p:extLst>
          </p:nvPr>
        </p:nvGraphicFramePr>
        <p:xfrm>
          <a:off x="2036763" y="5347619"/>
          <a:ext cx="6934200" cy="838200"/>
        </p:xfrm>
        <a:graphic>
          <a:graphicData uri="http://schemas.openxmlformats.org/presentationml/2006/ole">
            <mc:AlternateContent xmlns:mc="http://schemas.openxmlformats.org/markup-compatibility/2006">
              <mc:Choice xmlns:v="urn:schemas-microsoft-com:vml" Requires="v">
                <p:oleObj spid="_x0000_s7234" name="Equation" r:id="rId3" imgW="3288960" imgH="393480" progId="Equation.DSMT4">
                  <p:embed/>
                </p:oleObj>
              </mc:Choice>
              <mc:Fallback>
                <p:oleObj name="Equation" r:id="rId3" imgW="328896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6763" y="5347619"/>
                        <a:ext cx="6934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652553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久期免疫问题</a:t>
            </a:r>
            <a:endParaRPr lang="zh-CN" altLang="en-US" dirty="0"/>
          </a:p>
        </p:txBody>
      </p:sp>
      <p:sp>
        <p:nvSpPr>
          <p:cNvPr id="3" name="内容占位符 2"/>
          <p:cNvSpPr>
            <a:spLocks noGrp="1"/>
          </p:cNvSpPr>
          <p:nvPr>
            <p:ph idx="1"/>
          </p:nvPr>
        </p:nvSpPr>
        <p:spPr/>
        <p:txBody>
          <a:bodyPr/>
          <a:lstStyle/>
          <a:p>
            <a:r>
              <a:rPr lang="zh-CN" altLang="en-US" dirty="0" smtClean="0"/>
              <a:t>如果担心加息导致债券组合价值下跌</a:t>
            </a:r>
            <a:endParaRPr lang="en-US" altLang="zh-CN" dirty="0" smtClean="0"/>
          </a:p>
          <a:p>
            <a:pPr lvl="1"/>
            <a:r>
              <a:rPr lang="zh-CN" altLang="en-US" dirty="0" smtClean="0"/>
              <a:t>债券组合经理可以做空合适金额的国债期货，</a:t>
            </a:r>
            <a:endParaRPr lang="en-US" altLang="zh-CN" dirty="0" smtClean="0"/>
          </a:p>
          <a:p>
            <a:pPr lvl="1"/>
            <a:r>
              <a:rPr lang="zh-CN" altLang="en-US" dirty="0" smtClean="0"/>
              <a:t>使得债券现货组合的久期等于做空的国债期货的久期，</a:t>
            </a:r>
            <a:endParaRPr lang="en-US" altLang="zh-CN" dirty="0" smtClean="0"/>
          </a:p>
          <a:p>
            <a:pPr lvl="1"/>
            <a:r>
              <a:rPr lang="zh-CN" altLang="en-US" dirty="0" smtClean="0"/>
              <a:t>这样对冲组合的久期为</a:t>
            </a:r>
            <a:r>
              <a:rPr lang="en-US" altLang="zh-CN" dirty="0" smtClean="0"/>
              <a:t>0</a:t>
            </a:r>
            <a:r>
              <a:rPr lang="zh-CN" altLang="en-US" dirty="0" smtClean="0"/>
              <a:t>，当利率变动很小时，整个对冲组合的价值不会改变</a:t>
            </a:r>
            <a:endParaRPr lang="en-US" altLang="zh-CN" dirty="0" smtClean="0"/>
          </a:p>
          <a:p>
            <a:endParaRPr lang="en-US" altLang="zh-CN" dirty="0" smtClean="0"/>
          </a:p>
          <a:p>
            <a:r>
              <a:rPr lang="zh-CN" altLang="en-US" dirty="0" smtClean="0"/>
              <a:t>但是当利率变动很大（比如</a:t>
            </a:r>
            <a:r>
              <a:rPr lang="en-US" altLang="zh-CN" dirty="0" smtClean="0"/>
              <a:t>2020</a:t>
            </a:r>
            <a:r>
              <a:rPr lang="zh-CN" altLang="en-US" dirty="0" smtClean="0"/>
              <a:t>年</a:t>
            </a:r>
            <a:r>
              <a:rPr lang="en-US" altLang="zh-CN" dirty="0" smtClean="0"/>
              <a:t>1</a:t>
            </a:r>
            <a:r>
              <a:rPr lang="zh-CN" altLang="en-US" dirty="0" smtClean="0"/>
              <a:t>季度土耳其的利率变动剧烈），仅仅实现对冲组合的久期为</a:t>
            </a:r>
            <a:r>
              <a:rPr lang="en-US" altLang="zh-CN" dirty="0" smtClean="0"/>
              <a:t>0</a:t>
            </a:r>
            <a:r>
              <a:rPr lang="zh-CN" altLang="en-US" dirty="0" smtClean="0"/>
              <a:t>是不够的，还得使得整个对冲组合的凸度也为</a:t>
            </a:r>
            <a:r>
              <a:rPr lang="en-US" altLang="zh-CN" dirty="0" smtClean="0"/>
              <a:t>0</a:t>
            </a:r>
            <a:endParaRPr lang="en-US" altLang="zh-CN" dirty="0"/>
          </a:p>
          <a:p>
            <a:endParaRPr lang="zh-CN" altLang="en-US" dirty="0"/>
          </a:p>
        </p:txBody>
      </p:sp>
    </p:spTree>
    <p:extLst>
      <p:ext uri="{BB962C8B-B14F-4D97-AF65-F5344CB8AC3E}">
        <p14:creationId xmlns:p14="http://schemas.microsoft.com/office/powerpoint/2010/main" val="34210347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利率风险对冲的基本原理</a:t>
            </a:r>
            <a:endParaRPr lang="zh-CN" altLang="en-US" dirty="0"/>
          </a:p>
        </p:txBody>
      </p:sp>
      <p:sp>
        <p:nvSpPr>
          <p:cNvPr id="3" name="内容占位符 2"/>
          <p:cNvSpPr>
            <a:spLocks noGrp="1"/>
          </p:cNvSpPr>
          <p:nvPr>
            <p:ph idx="1"/>
          </p:nvPr>
        </p:nvSpPr>
        <p:spPr/>
        <p:txBody>
          <a:bodyPr/>
          <a:lstStyle/>
          <a:p>
            <a:r>
              <a:rPr lang="zh-CN" altLang="en-US" dirty="0" smtClean="0"/>
              <a:t>现货多头（持有债券组合），做空国债期货对冲</a:t>
            </a:r>
            <a:endParaRPr lang="en-US" altLang="zh-CN" dirty="0" smtClean="0"/>
          </a:p>
          <a:p>
            <a:pPr lvl="1"/>
            <a:r>
              <a:rPr lang="zh-CN" altLang="en-US" dirty="0" smtClean="0"/>
              <a:t>利率下降</a:t>
            </a:r>
            <a:r>
              <a:rPr lang="zh-CN" altLang="en-US" b="1" dirty="0" smtClean="0"/>
              <a:t>→债券价值上升：持有的债券组合价值上升因此赚钱，做空的国债期货相应亏钱，一赚一亏，基本相抵</a:t>
            </a:r>
            <a:endParaRPr lang="en-US" altLang="zh-CN" b="1" dirty="0" smtClean="0"/>
          </a:p>
          <a:p>
            <a:pPr lvl="1"/>
            <a:r>
              <a:rPr lang="zh-CN" altLang="en-US" dirty="0" smtClean="0"/>
              <a:t>利率上升</a:t>
            </a:r>
            <a:r>
              <a:rPr lang="zh-CN" altLang="en-US" b="1" dirty="0" smtClean="0"/>
              <a:t>→</a:t>
            </a:r>
            <a:r>
              <a:rPr lang="zh-CN" altLang="en-US" b="1" dirty="0"/>
              <a:t>债券</a:t>
            </a:r>
            <a:r>
              <a:rPr lang="zh-CN" altLang="en-US" b="1" dirty="0" smtClean="0"/>
              <a:t>价值下降：</a:t>
            </a:r>
            <a:r>
              <a:rPr lang="zh-CN" altLang="en-US" b="1" dirty="0"/>
              <a:t>持有的债券组合价值上升</a:t>
            </a:r>
            <a:r>
              <a:rPr lang="zh-CN" altLang="en-US" b="1" dirty="0" smtClean="0"/>
              <a:t>因此亏钱</a:t>
            </a:r>
            <a:r>
              <a:rPr lang="zh-CN" altLang="en-US" b="1" dirty="0"/>
              <a:t>，做空的国债期货</a:t>
            </a:r>
            <a:r>
              <a:rPr lang="zh-CN" altLang="en-US" b="1" dirty="0" smtClean="0"/>
              <a:t>相应赚钱</a:t>
            </a:r>
            <a:r>
              <a:rPr lang="zh-CN" altLang="en-US" b="1" dirty="0"/>
              <a:t>，</a:t>
            </a:r>
            <a:r>
              <a:rPr lang="zh-CN" altLang="en-US" b="1" dirty="0" smtClean="0"/>
              <a:t>一亏一</a:t>
            </a:r>
            <a:r>
              <a:rPr lang="zh-CN" altLang="en-US" b="1" dirty="0"/>
              <a:t>赚</a:t>
            </a:r>
            <a:r>
              <a:rPr lang="zh-CN" altLang="en-US" b="1" dirty="0" smtClean="0"/>
              <a:t>，</a:t>
            </a:r>
            <a:r>
              <a:rPr lang="zh-CN" altLang="en-US" b="1" dirty="0"/>
              <a:t>基本相抵</a:t>
            </a:r>
          </a:p>
          <a:p>
            <a:endParaRPr lang="en-US" altLang="zh-CN" dirty="0"/>
          </a:p>
          <a:p>
            <a:r>
              <a:rPr lang="zh-CN" altLang="en-US" dirty="0" smtClean="0"/>
              <a:t>现货空头（</a:t>
            </a:r>
            <a:r>
              <a:rPr lang="zh-CN" altLang="en-US" dirty="0"/>
              <a:t>做空</a:t>
            </a:r>
            <a:r>
              <a:rPr lang="zh-CN" altLang="en-US" dirty="0" smtClean="0"/>
              <a:t>债券</a:t>
            </a:r>
            <a:r>
              <a:rPr lang="zh-CN" altLang="en-US" dirty="0"/>
              <a:t>组合），</a:t>
            </a:r>
            <a:r>
              <a:rPr lang="zh-CN" altLang="en-US" dirty="0" smtClean="0"/>
              <a:t>做多国债期货对冲</a:t>
            </a:r>
            <a:endParaRPr lang="zh-CN" altLang="en-US" dirty="0"/>
          </a:p>
          <a:p>
            <a:pPr lvl="1"/>
            <a:r>
              <a:rPr lang="zh-CN" altLang="en-US" dirty="0" smtClean="0"/>
              <a:t>以此类推</a:t>
            </a:r>
            <a:endParaRPr lang="zh-CN" altLang="en-US" dirty="0"/>
          </a:p>
        </p:txBody>
      </p:sp>
    </p:spTree>
    <p:extLst>
      <p:ext uri="{BB962C8B-B14F-4D97-AF65-F5344CB8AC3E}">
        <p14:creationId xmlns:p14="http://schemas.microsoft.com/office/powerpoint/2010/main" val="40801049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97749"/>
            <a:ext cx="10515600" cy="1001662"/>
          </a:xfrm>
        </p:spPr>
        <p:txBody>
          <a:bodyPr/>
          <a:lstStyle/>
          <a:p>
            <a:pPr algn="ctr"/>
            <a:r>
              <a:rPr lang="en-US" altLang="zh-CN" dirty="0" smtClean="0"/>
              <a:t>8.9 </a:t>
            </a:r>
            <a:r>
              <a:rPr lang="zh-CN" altLang="en-US" dirty="0"/>
              <a:t>中金所</a:t>
            </a:r>
            <a:r>
              <a:rPr lang="zh-CN" altLang="en-US" dirty="0" smtClean="0"/>
              <a:t>目前交易的国债期货（补充）</a:t>
            </a:r>
            <a:endParaRPr lang="zh-CN" altLang="en-US" dirty="0"/>
          </a:p>
        </p:txBody>
      </p:sp>
      <p:sp>
        <p:nvSpPr>
          <p:cNvPr id="3" name="内容占位符 2"/>
          <p:cNvSpPr>
            <a:spLocks noGrp="1"/>
          </p:cNvSpPr>
          <p:nvPr>
            <p:ph idx="1"/>
          </p:nvPr>
        </p:nvSpPr>
        <p:spPr>
          <a:xfrm>
            <a:off x="838200" y="1443789"/>
            <a:ext cx="10515600" cy="4733174"/>
          </a:xfrm>
        </p:spPr>
        <p:txBody>
          <a:bodyPr>
            <a:normAutofit/>
          </a:bodyPr>
          <a:lstStyle/>
          <a:p>
            <a:r>
              <a:rPr lang="en-US" altLang="zh-CN" sz="1500" b="1" dirty="0"/>
              <a:t>2</a:t>
            </a:r>
            <a:r>
              <a:rPr lang="zh-CN" altLang="en-US" sz="1500" b="1" dirty="0"/>
              <a:t>年期国债</a:t>
            </a:r>
            <a:r>
              <a:rPr lang="zh-CN" altLang="en-US" sz="1500" b="1" dirty="0" smtClean="0"/>
              <a:t>期货</a:t>
            </a:r>
            <a:endParaRPr lang="en-US" altLang="zh-CN" sz="1500" b="1" dirty="0" smtClean="0"/>
          </a:p>
          <a:p>
            <a:pPr lvl="1"/>
            <a:r>
              <a:rPr lang="zh-CN" altLang="en-US" sz="1500" b="1" dirty="0"/>
              <a:t>合约标</a:t>
            </a:r>
            <a:r>
              <a:rPr lang="zh-CN" altLang="en-US" sz="1500" b="1" dirty="0" smtClean="0"/>
              <a:t>的：</a:t>
            </a:r>
            <a:r>
              <a:rPr lang="zh-CN" altLang="en-US" sz="1500" dirty="0"/>
              <a:t>面值为</a:t>
            </a:r>
            <a:r>
              <a:rPr lang="en-US" altLang="zh-CN" sz="1500" dirty="0"/>
              <a:t>200</a:t>
            </a:r>
            <a:r>
              <a:rPr lang="zh-CN" altLang="en-US" sz="1500" dirty="0"/>
              <a:t>万元人民币、票面利率为</a:t>
            </a:r>
            <a:r>
              <a:rPr lang="en-US" altLang="zh-CN" sz="1500" dirty="0"/>
              <a:t>3%</a:t>
            </a:r>
            <a:r>
              <a:rPr lang="zh-CN" altLang="en-US" sz="1500" dirty="0"/>
              <a:t>的名义中短期国债</a:t>
            </a:r>
          </a:p>
          <a:p>
            <a:pPr lvl="1"/>
            <a:r>
              <a:rPr lang="zh-CN" altLang="en-US" sz="1500" b="1" dirty="0"/>
              <a:t>可交割</a:t>
            </a:r>
            <a:r>
              <a:rPr lang="zh-CN" altLang="en-US" sz="1500" b="1" dirty="0" smtClean="0"/>
              <a:t>国债：</a:t>
            </a:r>
            <a:r>
              <a:rPr lang="zh-CN" altLang="en-US" sz="1500" dirty="0"/>
              <a:t>发行期限不高于</a:t>
            </a:r>
            <a:r>
              <a:rPr lang="en-US" altLang="zh-CN" sz="1500" dirty="0"/>
              <a:t>5</a:t>
            </a:r>
            <a:r>
              <a:rPr lang="zh-CN" altLang="en-US" sz="1500" dirty="0"/>
              <a:t>年，合约到期月份首日剩余期限为</a:t>
            </a:r>
            <a:r>
              <a:rPr lang="en-US" altLang="zh-CN" sz="1500" dirty="0"/>
              <a:t>1.5-2.25</a:t>
            </a:r>
            <a:r>
              <a:rPr lang="zh-CN" altLang="en-US" sz="1500" dirty="0"/>
              <a:t>年的记账式附息国债</a:t>
            </a:r>
            <a:endParaRPr lang="en-US" altLang="zh-CN" sz="1500" dirty="0"/>
          </a:p>
          <a:p>
            <a:endParaRPr lang="en-US" altLang="zh-CN" sz="1500" b="1" dirty="0"/>
          </a:p>
          <a:p>
            <a:r>
              <a:rPr lang="en-US" altLang="zh-CN" sz="1500" b="1" dirty="0" smtClean="0"/>
              <a:t>5</a:t>
            </a:r>
            <a:r>
              <a:rPr lang="zh-CN" altLang="en-US" sz="1500" b="1" dirty="0" smtClean="0"/>
              <a:t>年</a:t>
            </a:r>
            <a:r>
              <a:rPr lang="zh-CN" altLang="en-US" sz="1500" b="1" dirty="0"/>
              <a:t>期国债</a:t>
            </a:r>
            <a:r>
              <a:rPr lang="zh-CN" altLang="en-US" sz="1500" b="1" dirty="0" smtClean="0"/>
              <a:t>期货</a:t>
            </a:r>
            <a:endParaRPr lang="en-US" altLang="zh-CN" sz="1500" b="1" dirty="0" smtClean="0"/>
          </a:p>
          <a:p>
            <a:pPr lvl="1"/>
            <a:r>
              <a:rPr lang="zh-CN" altLang="en-US" sz="1500" b="1" dirty="0"/>
              <a:t>合约标的</a:t>
            </a:r>
            <a:r>
              <a:rPr lang="zh-CN" altLang="en-US" sz="1500" b="1" dirty="0" smtClean="0"/>
              <a:t>：</a:t>
            </a:r>
            <a:r>
              <a:rPr lang="zh-CN" altLang="en-US" sz="1500" dirty="0"/>
              <a:t>面值为</a:t>
            </a:r>
            <a:r>
              <a:rPr lang="en-US" altLang="zh-CN" sz="1500" dirty="0"/>
              <a:t>100</a:t>
            </a:r>
            <a:r>
              <a:rPr lang="zh-CN" altLang="en-US" sz="1500" dirty="0"/>
              <a:t>万元人民币、票面利率为</a:t>
            </a:r>
            <a:r>
              <a:rPr lang="en-US" altLang="zh-CN" sz="1500" dirty="0"/>
              <a:t>3%</a:t>
            </a:r>
            <a:r>
              <a:rPr lang="zh-CN" altLang="en-US" sz="1500" dirty="0"/>
              <a:t>的名义</a:t>
            </a:r>
            <a:r>
              <a:rPr lang="zh-CN" altLang="en-US" sz="1500" dirty="0" smtClean="0"/>
              <a:t>中期国债</a:t>
            </a:r>
            <a:endParaRPr lang="zh-CN" altLang="en-US" sz="1500" b="1" dirty="0"/>
          </a:p>
          <a:p>
            <a:pPr lvl="1"/>
            <a:r>
              <a:rPr lang="zh-CN" altLang="en-US" sz="1500" b="1" dirty="0"/>
              <a:t>可交割国债</a:t>
            </a:r>
            <a:r>
              <a:rPr lang="zh-CN" altLang="en-US" sz="1500" b="1" dirty="0" smtClean="0"/>
              <a:t>：</a:t>
            </a:r>
            <a:r>
              <a:rPr lang="zh-CN" altLang="en-US" sz="1500" dirty="0"/>
              <a:t>发行期限不高于</a:t>
            </a:r>
            <a:r>
              <a:rPr lang="en-US" altLang="zh-CN" sz="1500" dirty="0"/>
              <a:t>7</a:t>
            </a:r>
            <a:r>
              <a:rPr lang="zh-CN" altLang="en-US" sz="1500" dirty="0"/>
              <a:t>年、合约到期月份首日剩余期限为</a:t>
            </a:r>
            <a:r>
              <a:rPr lang="en-US" altLang="zh-CN" sz="1500" dirty="0"/>
              <a:t>4-5.25</a:t>
            </a:r>
            <a:r>
              <a:rPr lang="zh-CN" altLang="en-US" sz="1500" dirty="0"/>
              <a:t>年的记账式附息</a:t>
            </a:r>
            <a:r>
              <a:rPr lang="zh-CN" altLang="en-US" sz="1500" dirty="0" smtClean="0"/>
              <a:t>国债</a:t>
            </a:r>
            <a:endParaRPr lang="en-US" altLang="zh-CN" sz="1500" b="1" dirty="0" smtClean="0"/>
          </a:p>
          <a:p>
            <a:pPr lvl="1"/>
            <a:endParaRPr lang="en-US" altLang="zh-CN" sz="1500" b="1" dirty="0"/>
          </a:p>
          <a:p>
            <a:r>
              <a:rPr lang="en-US" altLang="zh-CN" sz="1500" b="1" dirty="0" smtClean="0"/>
              <a:t>10</a:t>
            </a:r>
            <a:r>
              <a:rPr lang="zh-CN" altLang="en-US" sz="1500" b="1" dirty="0" smtClean="0"/>
              <a:t>年</a:t>
            </a:r>
            <a:r>
              <a:rPr lang="zh-CN" altLang="en-US" sz="1500" b="1" dirty="0"/>
              <a:t>期国债</a:t>
            </a:r>
            <a:r>
              <a:rPr lang="zh-CN" altLang="en-US" sz="1500" b="1" dirty="0" smtClean="0"/>
              <a:t>期货</a:t>
            </a:r>
            <a:endParaRPr lang="en-US" altLang="zh-CN" sz="1500" b="1" dirty="0" smtClean="0"/>
          </a:p>
          <a:p>
            <a:pPr lvl="1"/>
            <a:r>
              <a:rPr lang="zh-CN" altLang="en-US" sz="1500" b="1" dirty="0"/>
              <a:t>合约标的</a:t>
            </a:r>
            <a:r>
              <a:rPr lang="zh-CN" altLang="en-US" sz="1500" b="1" dirty="0" smtClean="0"/>
              <a:t>：</a:t>
            </a:r>
            <a:r>
              <a:rPr lang="zh-CN" altLang="en-US" sz="1500" dirty="0"/>
              <a:t>面值为</a:t>
            </a:r>
            <a:r>
              <a:rPr lang="en-US" altLang="zh-CN" sz="1500" dirty="0"/>
              <a:t>100</a:t>
            </a:r>
            <a:r>
              <a:rPr lang="zh-CN" altLang="en-US" sz="1500" dirty="0"/>
              <a:t>万元人民币、票面利率为</a:t>
            </a:r>
            <a:r>
              <a:rPr lang="en-US" altLang="zh-CN" sz="1500" dirty="0"/>
              <a:t>3%</a:t>
            </a:r>
            <a:r>
              <a:rPr lang="zh-CN" altLang="en-US" sz="1500" dirty="0"/>
              <a:t>的名义长期国债</a:t>
            </a:r>
            <a:endParaRPr lang="zh-CN" altLang="en-US" sz="1500" b="1" dirty="0"/>
          </a:p>
          <a:p>
            <a:pPr lvl="1"/>
            <a:r>
              <a:rPr lang="zh-CN" altLang="en-US" sz="1500" b="1" dirty="0"/>
              <a:t>可交割国债</a:t>
            </a:r>
            <a:r>
              <a:rPr lang="zh-CN" altLang="en-US" sz="1500" b="1" dirty="0" smtClean="0"/>
              <a:t>：</a:t>
            </a:r>
            <a:r>
              <a:rPr lang="zh-CN" altLang="en-US" sz="1500" dirty="0"/>
              <a:t>发行期限不高于</a:t>
            </a:r>
            <a:r>
              <a:rPr lang="en-US" altLang="zh-CN" sz="1500" dirty="0"/>
              <a:t>10</a:t>
            </a:r>
            <a:r>
              <a:rPr lang="zh-CN" altLang="en-US" sz="1500" dirty="0"/>
              <a:t>年、合约到期月份首日剩余期限不低于</a:t>
            </a:r>
            <a:r>
              <a:rPr lang="en-US" altLang="zh-CN" sz="1500" dirty="0"/>
              <a:t>6.5</a:t>
            </a:r>
            <a:r>
              <a:rPr lang="zh-CN" altLang="en-US" sz="1500" dirty="0"/>
              <a:t>年的记账式附息</a:t>
            </a:r>
            <a:r>
              <a:rPr lang="zh-CN" altLang="en-US" sz="1500" dirty="0" smtClean="0"/>
              <a:t>国债</a:t>
            </a:r>
            <a:endParaRPr lang="en-US" altLang="zh-CN" sz="1500" dirty="0" smtClean="0"/>
          </a:p>
          <a:p>
            <a:pPr lvl="1"/>
            <a:endParaRPr lang="en-US" altLang="zh-CN" sz="1500" dirty="0" smtClean="0"/>
          </a:p>
          <a:p>
            <a:r>
              <a:rPr lang="en-US" altLang="zh-CN" sz="1500" b="1" dirty="0" smtClean="0"/>
              <a:t>30</a:t>
            </a:r>
            <a:r>
              <a:rPr lang="zh-CN" altLang="en-US" sz="1500" b="1" dirty="0"/>
              <a:t>年期国债期货</a:t>
            </a:r>
            <a:endParaRPr lang="en-US" altLang="zh-CN" sz="1500" b="1" dirty="0"/>
          </a:p>
          <a:p>
            <a:pPr lvl="1"/>
            <a:r>
              <a:rPr lang="zh-CN" altLang="en-US" sz="1500" b="1" dirty="0"/>
              <a:t>合约标的</a:t>
            </a:r>
            <a:r>
              <a:rPr lang="zh-CN" altLang="en-US" sz="1500" b="1" dirty="0" smtClean="0"/>
              <a:t>：</a:t>
            </a:r>
            <a:r>
              <a:rPr lang="zh-CN" altLang="en-US" sz="1600" dirty="0"/>
              <a:t>面值为</a:t>
            </a:r>
            <a:r>
              <a:rPr lang="en-US" altLang="zh-CN" sz="1600" dirty="0"/>
              <a:t>100</a:t>
            </a:r>
            <a:r>
              <a:rPr lang="zh-CN" altLang="en-US" sz="1600" dirty="0"/>
              <a:t>万元人民币、票面利率为</a:t>
            </a:r>
            <a:r>
              <a:rPr lang="en-US" altLang="zh-CN" sz="1600" dirty="0"/>
              <a:t>3%</a:t>
            </a:r>
            <a:r>
              <a:rPr lang="zh-CN" altLang="en-US" sz="1600" dirty="0"/>
              <a:t>的名义超</a:t>
            </a:r>
            <a:r>
              <a:rPr lang="zh-CN" altLang="en-US" sz="1600" dirty="0" smtClean="0"/>
              <a:t>长期国债</a:t>
            </a:r>
            <a:endParaRPr lang="zh-CN" altLang="en-US" sz="1500" b="1" dirty="0"/>
          </a:p>
          <a:p>
            <a:pPr lvl="1"/>
            <a:r>
              <a:rPr lang="zh-CN" altLang="en-US" sz="1500" b="1" dirty="0"/>
              <a:t>可交割国债</a:t>
            </a:r>
            <a:r>
              <a:rPr lang="zh-CN" altLang="en-US" sz="1500" b="1" dirty="0" smtClean="0"/>
              <a:t>：</a:t>
            </a:r>
            <a:r>
              <a:rPr lang="zh-CN" altLang="en-US" sz="1600" dirty="0"/>
              <a:t>发行期限不高于</a:t>
            </a:r>
            <a:r>
              <a:rPr lang="en-US" altLang="zh-CN" sz="1600" dirty="0"/>
              <a:t>30</a:t>
            </a:r>
            <a:r>
              <a:rPr lang="zh-CN" altLang="en-US" sz="1600" dirty="0"/>
              <a:t>年，合约到期月份首日剩余期限不低于</a:t>
            </a:r>
            <a:r>
              <a:rPr lang="en-US" altLang="zh-CN" sz="1600" dirty="0"/>
              <a:t>25</a:t>
            </a:r>
            <a:r>
              <a:rPr lang="zh-CN" altLang="en-US" sz="1600" dirty="0"/>
              <a:t>年的记账式附息</a:t>
            </a:r>
            <a:r>
              <a:rPr lang="zh-CN" altLang="en-US" sz="1600" dirty="0" smtClean="0"/>
              <a:t>国债</a:t>
            </a:r>
            <a:endParaRPr lang="zh-CN" altLang="en-US" sz="1500" dirty="0"/>
          </a:p>
          <a:p>
            <a:pPr lvl="1"/>
            <a:endParaRPr lang="en-US" altLang="zh-CN" sz="1500" dirty="0"/>
          </a:p>
        </p:txBody>
      </p:sp>
    </p:spTree>
    <p:extLst>
      <p:ext uri="{BB962C8B-B14F-4D97-AF65-F5344CB8AC3E}">
        <p14:creationId xmlns:p14="http://schemas.microsoft.com/office/powerpoint/2010/main" val="14085224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2</a:t>
            </a:r>
            <a:r>
              <a:rPr lang="zh-CN" altLang="en-US" dirty="0" smtClean="0"/>
              <a:t>年期国债期货（主连）</a:t>
            </a:r>
            <a:endParaRPr lang="zh-CN" altLang="en-US" dirty="0"/>
          </a:p>
        </p:txBody>
      </p:sp>
      <p:pic>
        <p:nvPicPr>
          <p:cNvPr id="3" name="图片 2"/>
          <p:cNvPicPr>
            <a:picLocks noChangeAspect="1"/>
          </p:cNvPicPr>
          <p:nvPr/>
        </p:nvPicPr>
        <p:blipFill>
          <a:blip r:embed="rId2"/>
          <a:stretch>
            <a:fillRect/>
          </a:stretch>
        </p:blipFill>
        <p:spPr>
          <a:xfrm>
            <a:off x="1752600" y="1690688"/>
            <a:ext cx="9048750" cy="4491037"/>
          </a:xfrm>
          <a:prstGeom prst="rect">
            <a:avLst/>
          </a:prstGeom>
        </p:spPr>
      </p:pic>
    </p:spTree>
    <p:extLst>
      <p:ext uri="{BB962C8B-B14F-4D97-AF65-F5344CB8AC3E}">
        <p14:creationId xmlns:p14="http://schemas.microsoft.com/office/powerpoint/2010/main" val="35386553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5</a:t>
            </a:r>
            <a:r>
              <a:rPr lang="zh-CN" altLang="en-US" dirty="0" smtClean="0"/>
              <a:t>年期国债期货行情（主连）</a:t>
            </a:r>
            <a:endParaRPr lang="zh-CN" altLang="en-US" dirty="0"/>
          </a:p>
        </p:txBody>
      </p:sp>
      <p:pic>
        <p:nvPicPr>
          <p:cNvPr id="4" name="图片 3"/>
          <p:cNvPicPr>
            <a:picLocks noChangeAspect="1"/>
          </p:cNvPicPr>
          <p:nvPr/>
        </p:nvPicPr>
        <p:blipFill>
          <a:blip r:embed="rId2"/>
          <a:stretch>
            <a:fillRect/>
          </a:stretch>
        </p:blipFill>
        <p:spPr>
          <a:xfrm>
            <a:off x="2190750" y="1690688"/>
            <a:ext cx="8391525" cy="4481512"/>
          </a:xfrm>
          <a:prstGeom prst="rect">
            <a:avLst/>
          </a:prstGeom>
        </p:spPr>
      </p:pic>
    </p:spTree>
    <p:extLst>
      <p:ext uri="{BB962C8B-B14F-4D97-AF65-F5344CB8AC3E}">
        <p14:creationId xmlns:p14="http://schemas.microsoft.com/office/powerpoint/2010/main" val="22459068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10</a:t>
            </a:r>
            <a:r>
              <a:rPr lang="zh-CN" altLang="en-US" dirty="0" smtClean="0"/>
              <a:t>年期国债期货行情（主连）</a:t>
            </a:r>
            <a:endParaRPr lang="zh-CN" altLang="en-US" dirty="0"/>
          </a:p>
        </p:txBody>
      </p:sp>
      <p:pic>
        <p:nvPicPr>
          <p:cNvPr id="4" name="图片 3"/>
          <p:cNvPicPr>
            <a:picLocks noChangeAspect="1"/>
          </p:cNvPicPr>
          <p:nvPr/>
        </p:nvPicPr>
        <p:blipFill>
          <a:blip r:embed="rId2"/>
          <a:stretch>
            <a:fillRect/>
          </a:stretch>
        </p:blipFill>
        <p:spPr>
          <a:xfrm>
            <a:off x="1552575" y="1476375"/>
            <a:ext cx="9258300" cy="4514850"/>
          </a:xfrm>
          <a:prstGeom prst="rect">
            <a:avLst/>
          </a:prstGeom>
        </p:spPr>
      </p:pic>
    </p:spTree>
    <p:extLst>
      <p:ext uri="{BB962C8B-B14F-4D97-AF65-F5344CB8AC3E}">
        <p14:creationId xmlns:p14="http://schemas.microsoft.com/office/powerpoint/2010/main" val="2639299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30</a:t>
            </a:r>
            <a:r>
              <a:rPr lang="zh-CN" altLang="en-US" dirty="0" smtClean="0"/>
              <a:t>年期国债期货行情（主连）</a:t>
            </a:r>
            <a:endParaRPr lang="zh-CN" altLang="en-US" dirty="0"/>
          </a:p>
        </p:txBody>
      </p:sp>
      <p:pic>
        <p:nvPicPr>
          <p:cNvPr id="3" name="图片 2"/>
          <p:cNvPicPr>
            <a:picLocks noChangeAspect="1"/>
          </p:cNvPicPr>
          <p:nvPr/>
        </p:nvPicPr>
        <p:blipFill>
          <a:blip r:embed="rId2"/>
          <a:stretch>
            <a:fillRect/>
          </a:stretch>
        </p:blipFill>
        <p:spPr>
          <a:xfrm>
            <a:off x="2152650" y="1533524"/>
            <a:ext cx="8191500" cy="4676775"/>
          </a:xfrm>
          <a:prstGeom prst="rect">
            <a:avLst/>
          </a:prstGeom>
        </p:spPr>
      </p:pic>
    </p:spTree>
    <p:extLst>
      <p:ext uri="{BB962C8B-B14F-4D97-AF65-F5344CB8AC3E}">
        <p14:creationId xmlns:p14="http://schemas.microsoft.com/office/powerpoint/2010/main" val="165547879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1503</TotalTime>
  <Words>3567</Words>
  <Application>Microsoft Office PowerPoint</Application>
  <PresentationFormat>宽屏</PresentationFormat>
  <Paragraphs>470</Paragraphs>
  <Slides>65</Slides>
  <Notes>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65</vt:i4>
      </vt:variant>
    </vt:vector>
  </HeadingPairs>
  <TitlesOfParts>
    <vt:vector size="77" baseType="lpstr">
      <vt:lpstr>黑体</vt:lpstr>
      <vt:lpstr>楷体_GB2312</vt:lpstr>
      <vt:lpstr>隶书</vt:lpstr>
      <vt:lpstr>宋体</vt:lpstr>
      <vt:lpstr>Arial</vt:lpstr>
      <vt:lpstr>Calibri</vt:lpstr>
      <vt:lpstr>Calibri Light</vt:lpstr>
      <vt:lpstr>Times New Roman</vt:lpstr>
      <vt:lpstr>Wingdings</vt:lpstr>
      <vt:lpstr>Office 主题</vt:lpstr>
      <vt:lpstr>Equation</vt:lpstr>
      <vt:lpstr>公式</vt:lpstr>
      <vt:lpstr>第6次课 第8章 固定收益证券</vt:lpstr>
      <vt:lpstr>我国降息（银行整存整取存款利率%）</vt:lpstr>
      <vt:lpstr>美国加息</vt:lpstr>
      <vt:lpstr>后果</vt:lpstr>
      <vt:lpstr>大类资产配置</vt:lpstr>
      <vt:lpstr>伯克希尔现金储备金额（2010.Q1-2024.Q4）</vt:lpstr>
      <vt:lpstr>伯克希尔现金储备变化（2022-2025）</vt:lpstr>
      <vt:lpstr>住户存款的结构趋势变化—— 定期存款占比大幅度增加</vt:lpstr>
      <vt:lpstr>我国债券市场、股市存量 （截至 2026.4.2收盘）</vt:lpstr>
      <vt:lpstr>前4大债券品种10年历史存量（亿元）</vt:lpstr>
      <vt:lpstr>2026.3.10我国发行凭证式储蓄国债</vt:lpstr>
      <vt:lpstr>储蓄国债的两种类型</vt:lpstr>
      <vt:lpstr>美国国债：2015-2024</vt:lpstr>
      <vt:lpstr>美国国债（北京时间 2026.4.2）</vt:lpstr>
      <vt:lpstr>内容</vt:lpstr>
      <vt:lpstr>8.1 使用现值因子对已知现金流进行价值评估</vt:lpstr>
      <vt:lpstr>PowerPoint 演示文稿</vt:lpstr>
      <vt:lpstr>前述例子的缺陷</vt:lpstr>
      <vt:lpstr>固定收益证券估值的基本原理</vt:lpstr>
      <vt:lpstr>PowerPoint 演示文稿</vt:lpstr>
      <vt:lpstr>市场利率大幅度上升的后果 实例：美国11次加息</vt:lpstr>
      <vt:lpstr>持续加息环境下，美国几家银行倒下 硅谷银行为典型代表</vt:lpstr>
      <vt:lpstr>硅谷银行为何倒闭？ 资产负债久期不匹配且没有做利率风险管理</vt:lpstr>
      <vt:lpstr>8.2 基本构成要素：纯贴现债券</vt:lpstr>
      <vt:lpstr>即期利率曲线</vt:lpstr>
      <vt:lpstr>即期利率曲线的种类</vt:lpstr>
      <vt:lpstr>即期利率曲线已知情况下如何给债券估值</vt:lpstr>
      <vt:lpstr>即期利率曲线的重要性</vt:lpstr>
      <vt:lpstr>中国即期利率曲线(国债 &amp; AAA企业债, 2025-3-14)</vt:lpstr>
      <vt:lpstr>强调！要使用即期利率曲线给固定收益证券估值</vt:lpstr>
      <vt:lpstr>例子</vt:lpstr>
      <vt:lpstr>8.3 附息债券、当期收益率和到期收益率</vt:lpstr>
      <vt:lpstr>如何计算到期收益率－例子</vt:lpstr>
      <vt:lpstr>若干国家或地区10年期国债到期收益率2021-4-8</vt:lpstr>
      <vt:lpstr>若干国家或地区10年期国债到期收益率2022-4-19</vt:lpstr>
      <vt:lpstr>部分国家10年期国债到期收益率(2025-3-14)</vt:lpstr>
      <vt:lpstr>PowerPoint 演示文稿</vt:lpstr>
      <vt:lpstr>中长期国债发行时一般按面值发行（平价债）</vt:lpstr>
      <vt:lpstr>美国2025年3月份部分国债拍卖结果</vt:lpstr>
      <vt:lpstr>公司债通常也按面值发行</vt:lpstr>
      <vt:lpstr>8.4 解读债券行情表　　　</vt:lpstr>
      <vt:lpstr>美国国债行情表</vt:lpstr>
      <vt:lpstr>8.5 为什么到期日相同而收益不同</vt:lpstr>
      <vt:lpstr>影响债券收益率的因素</vt:lpstr>
      <vt:lpstr>8.6 债券价格的波动</vt:lpstr>
      <vt:lpstr>8.7 债券回购与逆回购（补充）</vt:lpstr>
      <vt:lpstr>国债回购</vt:lpstr>
      <vt:lpstr>逆回购</vt:lpstr>
      <vt:lpstr>我国国债逆回购收益率（2025-3-13收盘）</vt:lpstr>
      <vt:lpstr>8.8 衡量债券利率风险：久期与凸度（补充）</vt:lpstr>
      <vt:lpstr>久期</vt:lpstr>
      <vt:lpstr>凸度</vt:lpstr>
      <vt:lpstr>泰勒展开式</vt:lpstr>
      <vt:lpstr>连续函数的近似表示</vt:lpstr>
      <vt:lpstr>把债券价值表示为到期收益率的函数</vt:lpstr>
      <vt:lpstr>债券或债券组合的利率风险管理</vt:lpstr>
      <vt:lpstr>债券价值的泰勒展开式 一阶导数为负，乘以负一为正</vt:lpstr>
      <vt:lpstr>请注意</vt:lpstr>
      <vt:lpstr>久期免疫问题</vt:lpstr>
      <vt:lpstr>利率风险对冲的基本原理</vt:lpstr>
      <vt:lpstr>8.9 中金所目前交易的国债期货（补充）</vt:lpstr>
      <vt:lpstr>2年期国债期货（主连）</vt:lpstr>
      <vt:lpstr>5年期国债期货行情（主连）</vt:lpstr>
      <vt:lpstr>10年期国债期货行情（主连）</vt:lpstr>
      <vt:lpstr>30年期国债期货行情（主连）</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固定收益证券</dc:title>
  <dc:creator>2069912353@qq.com</dc:creator>
  <cp:lastModifiedBy>Microsoft 帐户</cp:lastModifiedBy>
  <cp:revision>98</cp:revision>
  <dcterms:created xsi:type="dcterms:W3CDTF">2020-03-26T12:03:56Z</dcterms:created>
  <dcterms:modified xsi:type="dcterms:W3CDTF">2026-04-02T14:47:13Z</dcterms:modified>
</cp:coreProperties>
</file>