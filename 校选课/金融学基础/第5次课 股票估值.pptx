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80"/>
  </p:notesMasterIdLst>
  <p:sldIdLst>
    <p:sldId id="256" r:id="rId2"/>
    <p:sldId id="388" r:id="rId3"/>
    <p:sldId id="379" r:id="rId4"/>
    <p:sldId id="390" r:id="rId5"/>
    <p:sldId id="380" r:id="rId6"/>
    <p:sldId id="381" r:id="rId7"/>
    <p:sldId id="375" r:id="rId8"/>
    <p:sldId id="387" r:id="rId9"/>
    <p:sldId id="334" r:id="rId10"/>
    <p:sldId id="337" r:id="rId11"/>
    <p:sldId id="336" r:id="rId12"/>
    <p:sldId id="319" r:id="rId13"/>
    <p:sldId id="320" r:id="rId14"/>
    <p:sldId id="257" r:id="rId15"/>
    <p:sldId id="377" r:id="rId16"/>
    <p:sldId id="378" r:id="rId17"/>
    <p:sldId id="258" r:id="rId18"/>
    <p:sldId id="260" r:id="rId19"/>
    <p:sldId id="259" r:id="rId20"/>
    <p:sldId id="389" r:id="rId21"/>
    <p:sldId id="391" r:id="rId22"/>
    <p:sldId id="392" r:id="rId23"/>
    <p:sldId id="261" r:id="rId24"/>
    <p:sldId id="263" r:id="rId25"/>
    <p:sldId id="264" r:id="rId26"/>
    <p:sldId id="265" r:id="rId27"/>
    <p:sldId id="266" r:id="rId28"/>
    <p:sldId id="299" r:id="rId29"/>
    <p:sldId id="300" r:id="rId30"/>
    <p:sldId id="297" r:id="rId31"/>
    <p:sldId id="268" r:id="rId32"/>
    <p:sldId id="295" r:id="rId33"/>
    <p:sldId id="269" r:id="rId34"/>
    <p:sldId id="270" r:id="rId35"/>
    <p:sldId id="271" r:id="rId36"/>
    <p:sldId id="272" r:id="rId37"/>
    <p:sldId id="376" r:id="rId38"/>
    <p:sldId id="274" r:id="rId39"/>
    <p:sldId id="275" r:id="rId40"/>
    <p:sldId id="276" r:id="rId41"/>
    <p:sldId id="277" r:id="rId42"/>
    <p:sldId id="301" r:id="rId43"/>
    <p:sldId id="278" r:id="rId44"/>
    <p:sldId id="279" r:id="rId45"/>
    <p:sldId id="280" r:id="rId46"/>
    <p:sldId id="281" r:id="rId47"/>
    <p:sldId id="296" r:id="rId48"/>
    <p:sldId id="282" r:id="rId49"/>
    <p:sldId id="302" r:id="rId50"/>
    <p:sldId id="303" r:id="rId51"/>
    <p:sldId id="304" r:id="rId52"/>
    <p:sldId id="305" r:id="rId53"/>
    <p:sldId id="309" r:id="rId54"/>
    <p:sldId id="310" r:id="rId55"/>
    <p:sldId id="311" r:id="rId56"/>
    <p:sldId id="284" r:id="rId57"/>
    <p:sldId id="285" r:id="rId58"/>
    <p:sldId id="307" r:id="rId59"/>
    <p:sldId id="288" r:id="rId60"/>
    <p:sldId id="294" r:id="rId61"/>
    <p:sldId id="289" r:id="rId62"/>
    <p:sldId id="290" r:id="rId63"/>
    <p:sldId id="291" r:id="rId64"/>
    <p:sldId id="292" r:id="rId65"/>
    <p:sldId id="293" r:id="rId66"/>
    <p:sldId id="286" r:id="rId67"/>
    <p:sldId id="312" r:id="rId68"/>
    <p:sldId id="313" r:id="rId69"/>
    <p:sldId id="341" r:id="rId70"/>
    <p:sldId id="342" r:id="rId71"/>
    <p:sldId id="343" r:id="rId72"/>
    <p:sldId id="314" r:id="rId73"/>
    <p:sldId id="315" r:id="rId74"/>
    <p:sldId id="316" r:id="rId75"/>
    <p:sldId id="317" r:id="rId76"/>
    <p:sldId id="318" r:id="rId77"/>
    <p:sldId id="287" r:id="rId78"/>
    <p:sldId id="359" r:id="rId7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华文新魏" panose="02010800040101010101" pitchFamily="2" charset="-122"/>
        <a:ea typeface="华文新魏" panose="0201080004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华文新魏" panose="02010800040101010101" pitchFamily="2" charset="-122"/>
        <a:ea typeface="华文新魏" panose="0201080004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华文新魏" panose="02010800040101010101" pitchFamily="2" charset="-122"/>
        <a:ea typeface="华文新魏" panose="0201080004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华文新魏" panose="02010800040101010101" pitchFamily="2" charset="-122"/>
        <a:ea typeface="华文新魏" panose="0201080004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华文新魏" panose="02010800040101010101" pitchFamily="2" charset="-122"/>
        <a:ea typeface="华文新魏" panose="0201080004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华文新魏" panose="02010800040101010101" pitchFamily="2" charset="-122"/>
        <a:ea typeface="华文新魏" panose="0201080004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华文新魏" panose="02010800040101010101" pitchFamily="2" charset="-122"/>
        <a:ea typeface="华文新魏" panose="0201080004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华文新魏" panose="02010800040101010101" pitchFamily="2" charset="-122"/>
        <a:ea typeface="华文新魏" panose="0201080004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华文新魏" panose="02010800040101010101" pitchFamily="2" charset="-122"/>
        <a:ea typeface="华文新魏" panose="020108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64" d="100"/>
          <a:sy n="64" d="100"/>
        </p:scale>
        <p:origin x="68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spcBef>
                <a:spcPct val="30000"/>
              </a:spcBef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spcBef>
                <a:spcPct val="30000"/>
              </a:spcBef>
              <a:defRPr sz="1200"/>
            </a:lvl1pPr>
          </a:lstStyle>
          <a:p>
            <a:pPr>
              <a:defRPr/>
            </a:pPr>
            <a:fld id="{580E0C86-8E6A-4A4A-A338-01D87B3B7903}" type="datetimeFigureOut">
              <a:rPr lang="zh-CN" altLang="en-US"/>
              <a:pPr>
                <a:defRPr/>
              </a:pPr>
              <a:t>2026/3/25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spcBef>
                <a:spcPct val="30000"/>
              </a:spcBef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spcBef>
                <a:spcPct val="30000"/>
              </a:spcBef>
              <a:defRPr sz="1200"/>
            </a:lvl1pPr>
          </a:lstStyle>
          <a:p>
            <a:pPr>
              <a:defRPr/>
            </a:pPr>
            <a:fld id="{A101C12E-41AB-4A60-AF5A-1A3426616E8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0166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6D3C36A-EB29-48E0-A4B8-8BBF8378B25C}" type="slidenum">
              <a:rPr lang="zh-CN" altLang="en-US" smtClean="0">
                <a:latin typeface="华文新魏" panose="02010800040101010101" pitchFamily="2" charset="-122"/>
              </a:rPr>
              <a:pPr/>
              <a:t>30</a:t>
            </a:fld>
            <a:endParaRPr lang="en-US" altLang="zh-CN" smtClean="0">
              <a:latin typeface="华文新魏" panose="02010800040101010101" pitchFamily="2" charset="-122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644295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fld id="{E44588EB-7429-42B0-9895-62EBBCE10307}" type="slidenum">
              <a:rPr lang="zh-CN" altLang="en-US" sz="1200" smtClean="0"/>
              <a:pPr/>
              <a:t>53</a:t>
            </a:fld>
            <a:endParaRPr lang="en-US" altLang="zh-CN" sz="1200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306251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fld id="{DD4FDBCD-9855-422D-BAF1-2875FE18153D}" type="slidenum">
              <a:rPr lang="zh-CN" altLang="en-US" sz="1200" smtClean="0"/>
              <a:pPr/>
              <a:t>54</a:t>
            </a:fld>
            <a:endParaRPr lang="en-US" altLang="zh-CN" sz="1200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568862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fld id="{D8A2D16F-E7E9-4D79-9D6E-E565C09C6102}" type="slidenum">
              <a:rPr lang="zh-CN" altLang="en-US" sz="1200" smtClean="0"/>
              <a:pPr/>
              <a:t>55</a:t>
            </a:fld>
            <a:endParaRPr lang="en-US" altLang="zh-CN" sz="1200" smtClean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580539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fld id="{CCA31EF6-AC15-4215-A102-FEBBB7DC6052}" type="slidenum">
              <a:rPr lang="zh-CN" altLang="en-US" sz="1200" smtClean="0"/>
              <a:pPr/>
              <a:t>67</a:t>
            </a:fld>
            <a:endParaRPr lang="en-US" altLang="zh-CN" sz="1200" smtClean="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097268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fld id="{1851E0AF-E6D4-4F9B-8A91-AD342EEDF4F3}" type="slidenum">
              <a:rPr lang="zh-CN" altLang="en-US" sz="1200" smtClean="0"/>
              <a:pPr/>
              <a:t>68</a:t>
            </a:fld>
            <a:endParaRPr lang="en-US" altLang="zh-CN" sz="1200" smtClean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402149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fld id="{8EDC821F-A41D-4329-B37D-2DF1C8D3FD7A}" type="slidenum">
              <a:rPr lang="zh-CN" altLang="en-US" sz="1200" smtClean="0"/>
              <a:pPr/>
              <a:t>72</a:t>
            </a:fld>
            <a:endParaRPr lang="en-US" altLang="zh-CN" sz="1200" smtClean="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4055186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fld id="{A82C8ADD-9093-4BEC-B927-5673A9D42D95}" type="slidenum">
              <a:rPr lang="zh-CN" altLang="en-US" sz="1200" smtClean="0"/>
              <a:pPr/>
              <a:t>73</a:t>
            </a:fld>
            <a:endParaRPr lang="en-US" altLang="zh-CN" sz="1200" smtClean="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689481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fld id="{4E5D264F-2D44-41D5-ABC4-FAE36CEB46E0}" type="slidenum">
              <a:rPr lang="zh-CN" altLang="en-US" sz="1200" smtClean="0"/>
              <a:pPr/>
              <a:t>74</a:t>
            </a:fld>
            <a:endParaRPr lang="en-US" altLang="zh-CN" sz="1200" smtClean="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15589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fld id="{D7E74373-421D-497A-96C5-D47B6292B03B}" type="slidenum">
              <a:rPr lang="zh-CN" altLang="en-US" sz="1200" smtClean="0"/>
              <a:pPr/>
              <a:t>75</a:t>
            </a:fld>
            <a:endParaRPr lang="en-US" altLang="zh-CN" sz="1200" smtClean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202117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fld id="{06A9CF68-CBE6-47D8-927D-2823E9457BB1}" type="slidenum">
              <a:rPr lang="zh-CN" altLang="en-US" sz="1200" smtClean="0"/>
              <a:pPr/>
              <a:t>76</a:t>
            </a:fld>
            <a:endParaRPr lang="en-US" altLang="zh-CN" sz="1200" smtClean="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79109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86687D-1A13-4946-AEA7-0618A5951B5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02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13E0E-C442-4ADB-B5C1-56FE0DE47A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5093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E10495-AF9F-4874-9C54-B1AE65E61AD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850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191000" cy="4800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0600" y="1600200"/>
            <a:ext cx="4191000" cy="4800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1CF37E-35B6-4CB2-94D8-F30534AFE5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674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BD8CDA-861A-4111-9167-4B21750A2C4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7602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211417-3BBD-4FFB-88C4-BF801D4FDE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3401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EBD9A4-59D0-4F0D-A6A5-6537D2893D3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6349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0675D1-C976-4126-A865-41A7353411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1078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75300E-D988-406E-BD33-72A6DC34BED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9199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FBA3CF-0CCE-4183-A286-01739B814C5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3985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533400"/>
            <a:ext cx="2133600" cy="5867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248400" cy="5867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89BC16-7A8F-4F50-B24D-D8D2AE9B9CD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9718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3C157B-F5AE-43F9-97CA-674DA28BDC1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94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33400"/>
            <a:ext cx="8153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5532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kumimoji="0" sz="1400" b="1">
                <a:latin typeface="+mn-lt"/>
                <a:ea typeface="+mn-ea"/>
              </a:defRPr>
            </a:lvl1pPr>
          </a:lstStyle>
          <a:p>
            <a:pPr>
              <a:defRPr/>
            </a:pPr>
            <a:fld id="{C7258905-4E9A-473B-8F4B-1F8BC97398A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5344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9" name="Text Box 9"/>
          <p:cNvSpPr txBox="1">
            <a:spLocks noChangeArrowheads="1"/>
          </p:cNvSpPr>
          <p:nvPr/>
        </p:nvSpPr>
        <p:spPr bwMode="auto">
          <a:xfrm>
            <a:off x="0" y="0"/>
            <a:ext cx="1828800" cy="457200"/>
          </a:xfrm>
          <a:prstGeom prst="rect">
            <a:avLst/>
          </a:prstGeom>
          <a:solidFill>
            <a:srgbClr val="6693E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0000"/>
              </a:spcBef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r>
              <a:rPr lang="zh-CN" altLang="en-US" b="1" u="sng" smtClean="0">
                <a:solidFill>
                  <a:srgbClr val="0000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股票估值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8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w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9500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3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4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5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5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9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0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1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3.w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4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7.w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8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7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18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19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33.w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37.emf"/><Relationship Id="rId4" Type="http://schemas.openxmlformats.org/officeDocument/2006/relationships/oleObject" Target="../embeddings/oleObject21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8.emf"/><Relationship Id="rId4" Type="http://schemas.openxmlformats.org/officeDocument/2006/relationships/oleObject" Target="../embeddings/oleObject22.bin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9.emf"/><Relationship Id="rId4" Type="http://schemas.openxmlformats.org/officeDocument/2006/relationships/oleObject" Target="../embeddings/oleObject23.bin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40.emf"/><Relationship Id="rId4" Type="http://schemas.openxmlformats.org/officeDocument/2006/relationships/oleObject" Target="../embeddings/oleObject24.bin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25.bin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pPr eaLnBrk="1" hangingPunct="1"/>
            <a:r>
              <a:rPr lang="zh-CN" altLang="en-US" sz="3800" dirty="0" smtClean="0"/>
              <a:t>第</a:t>
            </a:r>
            <a:r>
              <a:rPr lang="en-US" altLang="zh-CN" sz="3800" dirty="0" smtClean="0"/>
              <a:t>5</a:t>
            </a:r>
            <a:r>
              <a:rPr lang="zh-CN" altLang="en-US" sz="3800" dirty="0" smtClean="0"/>
              <a:t>次课</a:t>
            </a:r>
            <a:r>
              <a:rPr lang="en-US" altLang="zh-CN" sz="3800" dirty="0" smtClean="0"/>
              <a:t/>
            </a:r>
            <a:br>
              <a:rPr lang="en-US" altLang="zh-CN" sz="3800" dirty="0" smtClean="0"/>
            </a:br>
            <a:r>
              <a:rPr lang="zh-CN" altLang="en-US" sz="3800" dirty="0" smtClean="0"/>
              <a:t>第</a:t>
            </a:r>
            <a:r>
              <a:rPr lang="en-US" altLang="zh-CN" sz="3800" dirty="0" smtClean="0"/>
              <a:t>9</a:t>
            </a:r>
            <a:r>
              <a:rPr lang="zh-CN" altLang="en-US" sz="3800" dirty="0" smtClean="0"/>
              <a:t>章</a:t>
            </a:r>
            <a:r>
              <a:rPr lang="en-US" altLang="zh-CN" sz="3800" dirty="0" smtClean="0"/>
              <a:t> </a:t>
            </a:r>
            <a:r>
              <a:rPr lang="zh-CN" altLang="en-US" sz="3800" dirty="0" smtClean="0"/>
              <a:t>股票估值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zh-CN" altLang="en-US" sz="320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牛顿的投资能力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340768"/>
            <a:ext cx="7289800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956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巴菲特的投资能力</a:t>
            </a:r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534400" cy="2188840"/>
          </a:xfrm>
        </p:spPr>
        <p:txBody>
          <a:bodyPr/>
          <a:lstStyle/>
          <a:p>
            <a:r>
              <a:rPr lang="zh-CN" altLang="en-US" dirty="0" smtClean="0"/>
              <a:t>从</a:t>
            </a:r>
            <a:r>
              <a:rPr lang="en-US" altLang="zh-CN" dirty="0" smtClean="0"/>
              <a:t>1965</a:t>
            </a:r>
            <a:r>
              <a:rPr lang="zh-CN" altLang="en-US" dirty="0" smtClean="0"/>
              <a:t>年到</a:t>
            </a:r>
            <a:r>
              <a:rPr lang="en-US" altLang="zh-CN" dirty="0" smtClean="0"/>
              <a:t>2025</a:t>
            </a:r>
            <a:r>
              <a:rPr lang="zh-CN" altLang="en-US" dirty="0" smtClean="0"/>
              <a:t>年末，巴菲特管理的伯克希尔</a:t>
            </a:r>
            <a:r>
              <a:rPr lang="en-US" altLang="zh-CN" dirty="0" smtClean="0"/>
              <a:t>·</a:t>
            </a:r>
            <a:r>
              <a:rPr lang="zh-CN" altLang="en-US" dirty="0" smtClean="0"/>
              <a:t>哈撒韦在</a:t>
            </a:r>
            <a:r>
              <a:rPr lang="en-US" altLang="zh-CN" dirty="0" smtClean="0"/>
              <a:t>61</a:t>
            </a:r>
            <a:r>
              <a:rPr lang="zh-CN" altLang="en-US" dirty="0" smtClean="0"/>
              <a:t>年时间里实现了</a:t>
            </a:r>
            <a:r>
              <a:rPr lang="en-US" altLang="zh-CN" b="1" dirty="0"/>
              <a:t>6099294</a:t>
            </a:r>
            <a:r>
              <a:rPr lang="en-US" altLang="zh-CN" dirty="0" smtClean="0"/>
              <a:t>%</a:t>
            </a:r>
            <a:r>
              <a:rPr lang="zh-CN" altLang="en-US" dirty="0" smtClean="0"/>
              <a:t>的收益率，即</a:t>
            </a:r>
            <a:r>
              <a:rPr lang="zh-CN" altLang="en-US" b="1" dirty="0" smtClean="0">
                <a:solidFill>
                  <a:srgbClr val="FF0000"/>
                </a:solidFill>
              </a:rPr>
              <a:t>增长</a:t>
            </a:r>
            <a:r>
              <a:rPr lang="en-US" altLang="zh-CN" b="1" dirty="0" smtClean="0">
                <a:solidFill>
                  <a:srgbClr val="FF0000"/>
                </a:solidFill>
              </a:rPr>
              <a:t>6.1</a:t>
            </a:r>
            <a:r>
              <a:rPr lang="zh-CN" altLang="en-US" b="1" dirty="0" smtClean="0">
                <a:solidFill>
                  <a:srgbClr val="FF0000"/>
                </a:solidFill>
              </a:rPr>
              <a:t>万倍</a:t>
            </a:r>
            <a:r>
              <a:rPr lang="zh-CN" altLang="en-US" dirty="0" smtClean="0"/>
              <a:t>，</a:t>
            </a:r>
            <a:r>
              <a:rPr lang="zh-CN" altLang="en-US" b="1" dirty="0" smtClean="0">
                <a:solidFill>
                  <a:srgbClr val="FF0000"/>
                </a:solidFill>
              </a:rPr>
              <a:t>年均复利回报率</a:t>
            </a:r>
            <a:r>
              <a:rPr lang="en-US" altLang="zh-CN" b="1" dirty="0" smtClean="0">
                <a:solidFill>
                  <a:srgbClr val="FF0000"/>
                </a:solidFill>
              </a:rPr>
              <a:t>19.7%</a:t>
            </a:r>
            <a:r>
              <a:rPr lang="zh-CN" altLang="en-US" b="1" dirty="0" smtClean="0">
                <a:solidFill>
                  <a:srgbClr val="FF0000"/>
                </a:solidFill>
              </a:rPr>
              <a:t>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4" y="3717032"/>
            <a:ext cx="8807896" cy="288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437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>
          <a:xfrm>
            <a:off x="802625" y="404664"/>
            <a:ext cx="8153400" cy="609600"/>
          </a:xfrm>
        </p:spPr>
        <p:txBody>
          <a:bodyPr/>
          <a:lstStyle/>
          <a:p>
            <a:r>
              <a:rPr lang="zh-CN" altLang="en-US" dirty="0" smtClean="0"/>
              <a:t>延伸：巴菲特的股票投资</a:t>
            </a:r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534400" cy="5589240"/>
          </a:xfrm>
        </p:spPr>
        <p:txBody>
          <a:bodyPr/>
          <a:lstStyle/>
          <a:p>
            <a:r>
              <a:rPr lang="zh-CN" altLang="en-US" dirty="0" smtClean="0"/>
              <a:t>股票投资原则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①我们能够理解；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比尔盖茨是巴菲特的好朋友，但巴菲特不投资于微软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②具有良好的长期前景；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具有很宽的护城河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③具有诚实且能干的管理层；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德艺双馨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CEO</a:t>
            </a:r>
            <a:r>
              <a:rPr lang="zh-CN" altLang="en-US" dirty="0" smtClean="0"/>
              <a:t>如果造假，尽快清仓股票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④能以合理的价格买到。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绝对不会牛市顶部追高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买入的股票如果暴涨之后明显高估，也要卖出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175534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巴菲特投资中国石油</a:t>
            </a:r>
          </a:p>
        </p:txBody>
      </p:sp>
      <p:sp>
        <p:nvSpPr>
          <p:cNvPr id="28675" name="内容占位符 2"/>
          <p:cNvSpPr>
            <a:spLocks noGrp="1"/>
          </p:cNvSpPr>
          <p:nvPr>
            <p:ph sz="half" idx="1"/>
          </p:nvPr>
        </p:nvSpPr>
        <p:spPr>
          <a:xfrm>
            <a:off x="468313" y="1412875"/>
            <a:ext cx="8074025" cy="2447925"/>
          </a:xfrm>
        </p:spPr>
        <p:txBody>
          <a:bodyPr/>
          <a:lstStyle/>
          <a:p>
            <a:r>
              <a:rPr lang="en-US" altLang="zh-CN" sz="1500" dirty="0" smtClean="0"/>
              <a:t>2002-2003</a:t>
            </a:r>
            <a:r>
              <a:rPr lang="zh-CN" altLang="en-US" sz="1500" dirty="0" smtClean="0"/>
              <a:t>年</a:t>
            </a:r>
            <a:r>
              <a:rPr lang="en-US" altLang="zh-CN" sz="1500" dirty="0" smtClean="0"/>
              <a:t>4</a:t>
            </a:r>
            <a:r>
              <a:rPr lang="zh-CN" altLang="en-US" sz="1500" dirty="0" smtClean="0"/>
              <a:t>月买入中国石油港股，平均买入价格</a:t>
            </a:r>
            <a:r>
              <a:rPr lang="en-US" altLang="zh-CN" sz="1500" dirty="0" smtClean="0"/>
              <a:t>1.6</a:t>
            </a:r>
            <a:r>
              <a:rPr lang="zh-CN" altLang="en-US" sz="1500" dirty="0" smtClean="0"/>
              <a:t>港币，</a:t>
            </a:r>
            <a:r>
              <a:rPr lang="en-US" altLang="zh-CN" sz="1500" dirty="0" smtClean="0"/>
              <a:t>2007</a:t>
            </a:r>
            <a:r>
              <a:rPr lang="zh-CN" altLang="en-US" sz="1500" dirty="0" smtClean="0"/>
              <a:t>年</a:t>
            </a:r>
            <a:r>
              <a:rPr lang="en-US" altLang="zh-CN" sz="1500" dirty="0" smtClean="0"/>
              <a:t>7-9</a:t>
            </a:r>
            <a:r>
              <a:rPr lang="zh-CN" altLang="en-US" sz="1500" dirty="0" smtClean="0"/>
              <a:t>月以均价</a:t>
            </a:r>
            <a:r>
              <a:rPr lang="en-US" altLang="zh-CN" sz="1500" dirty="0" smtClean="0"/>
              <a:t>13</a:t>
            </a:r>
            <a:r>
              <a:rPr lang="zh-CN" altLang="en-US" sz="1500" dirty="0" smtClean="0"/>
              <a:t>港币卖出。</a:t>
            </a:r>
            <a:endParaRPr lang="en-US" altLang="zh-CN" sz="1500" dirty="0" smtClean="0"/>
          </a:p>
          <a:p>
            <a:endParaRPr lang="en-US" altLang="zh-CN" sz="1500" dirty="0" smtClean="0"/>
          </a:p>
          <a:p>
            <a:r>
              <a:rPr lang="en-US" altLang="zh-CN" sz="1500" dirty="0" smtClean="0"/>
              <a:t>2007-10-26</a:t>
            </a:r>
            <a:r>
              <a:rPr lang="zh-CN" altLang="en-US" sz="1500" dirty="0" smtClean="0"/>
              <a:t>中国石油发行</a:t>
            </a:r>
            <a:r>
              <a:rPr lang="en-US" altLang="zh-CN" sz="1500" dirty="0" smtClean="0"/>
              <a:t>A</a:t>
            </a:r>
            <a:r>
              <a:rPr lang="zh-CN" altLang="en-US" sz="1500" dirty="0" smtClean="0"/>
              <a:t>股，发行价</a:t>
            </a:r>
            <a:r>
              <a:rPr lang="en-US" altLang="zh-CN" sz="1500" dirty="0" smtClean="0"/>
              <a:t>16.7</a:t>
            </a:r>
            <a:r>
              <a:rPr lang="zh-CN" altLang="en-US" sz="1500" dirty="0" smtClean="0"/>
              <a:t>人民币；</a:t>
            </a:r>
            <a:r>
              <a:rPr lang="en-US" altLang="zh-CN" sz="1500" dirty="0" smtClean="0"/>
              <a:t>2007-11-05</a:t>
            </a:r>
            <a:r>
              <a:rPr lang="zh-CN" altLang="en-US" sz="1500" dirty="0" smtClean="0"/>
              <a:t>上市，开盘价</a:t>
            </a:r>
            <a:r>
              <a:rPr lang="en-US" altLang="zh-CN" sz="1500" dirty="0" smtClean="0"/>
              <a:t>48.6</a:t>
            </a:r>
            <a:r>
              <a:rPr lang="zh-CN" altLang="en-US" sz="1500" dirty="0" smtClean="0"/>
              <a:t>元</a:t>
            </a:r>
            <a:endParaRPr lang="en-US" altLang="zh-CN" sz="1500" dirty="0" smtClean="0"/>
          </a:p>
          <a:p>
            <a:endParaRPr lang="en-US" altLang="zh-CN" sz="1500" dirty="0" smtClean="0"/>
          </a:p>
          <a:p>
            <a:r>
              <a:rPr lang="en-US" altLang="zh-CN" sz="1500" dirty="0" smtClean="0"/>
              <a:t>2026</a:t>
            </a:r>
            <a:r>
              <a:rPr lang="zh-CN" altLang="en-US" sz="1500" dirty="0" smtClean="0"/>
              <a:t>年</a:t>
            </a:r>
            <a:r>
              <a:rPr lang="en-US" altLang="zh-CN" sz="1500" dirty="0" smtClean="0"/>
              <a:t>3</a:t>
            </a:r>
            <a:r>
              <a:rPr lang="zh-CN" altLang="en-US" sz="1500" dirty="0" smtClean="0"/>
              <a:t>月</a:t>
            </a:r>
            <a:r>
              <a:rPr lang="en-US" altLang="zh-CN" sz="1500" dirty="0" smtClean="0"/>
              <a:t>24</a:t>
            </a:r>
            <a:r>
              <a:rPr lang="zh-CN" altLang="en-US" sz="1500" dirty="0" smtClean="0"/>
              <a:t>日，中国石油</a:t>
            </a:r>
            <a:r>
              <a:rPr lang="en-US" altLang="zh-CN" sz="1500" dirty="0" smtClean="0"/>
              <a:t>A</a:t>
            </a:r>
            <a:r>
              <a:rPr lang="zh-CN" altLang="en-US" sz="1500" dirty="0" smtClean="0"/>
              <a:t>股收盘价</a:t>
            </a:r>
            <a:r>
              <a:rPr lang="en-US" altLang="zh-CN" sz="1500" dirty="0" smtClean="0"/>
              <a:t>11.99</a:t>
            </a:r>
            <a:r>
              <a:rPr lang="zh-CN" altLang="en-US" sz="1500" dirty="0" smtClean="0"/>
              <a:t>，后复权价</a:t>
            </a:r>
            <a:r>
              <a:rPr lang="en-US" altLang="zh-CN" sz="1500" dirty="0" smtClean="0"/>
              <a:t>16.77</a:t>
            </a:r>
            <a:r>
              <a:rPr lang="zh-CN" altLang="en-US" sz="1500" dirty="0" smtClean="0"/>
              <a:t>元</a:t>
            </a:r>
          </a:p>
          <a:p>
            <a:endParaRPr lang="zh-CN" altLang="en-US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3501008"/>
            <a:ext cx="7210425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351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341438"/>
            <a:ext cx="8207375" cy="273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723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" y="1654968"/>
            <a:ext cx="4043363" cy="3567113"/>
          </a:xfrm>
        </p:spPr>
      </p:pic>
      <p:pic>
        <p:nvPicPr>
          <p:cNvPr id="5" name="内容占位符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19588" y="1414463"/>
            <a:ext cx="4717256" cy="3950494"/>
          </a:xfrm>
          <a:prstGeom prst="rect">
            <a:avLst/>
          </a:prstGeom>
        </p:spPr>
      </p:pic>
      <p:sp>
        <p:nvSpPr>
          <p:cNvPr id="6" name="标题 1"/>
          <p:cNvSpPr txBox="1">
            <a:spLocks/>
          </p:cNvSpPr>
          <p:nvPr/>
        </p:nvSpPr>
        <p:spPr>
          <a:xfrm>
            <a:off x="762000" y="533400"/>
            <a:ext cx="8153400" cy="609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smtClean="0"/>
              <a:t>But, </a:t>
            </a:r>
            <a:r>
              <a:rPr lang="zh-CN" altLang="en-US" dirty="0" smtClean="0"/>
              <a:t>普通人可以炒股赚钱吗？</a:t>
            </a:r>
          </a:p>
        </p:txBody>
      </p:sp>
    </p:spTree>
    <p:extLst>
      <p:ext uri="{BB962C8B-B14F-4D97-AF65-F5344CB8AC3E}">
        <p14:creationId xmlns:p14="http://schemas.microsoft.com/office/powerpoint/2010/main" val="3351064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052" y="980728"/>
            <a:ext cx="5427896" cy="5877272"/>
          </a:xfrm>
          <a:prstGeom prst="rect">
            <a:avLst/>
          </a:prstGeom>
        </p:spPr>
      </p:pic>
      <p:sp>
        <p:nvSpPr>
          <p:cNvPr id="3" name="标题 1"/>
          <p:cNvSpPr txBox="1">
            <a:spLocks/>
          </p:cNvSpPr>
          <p:nvPr/>
        </p:nvSpPr>
        <p:spPr>
          <a:xfrm>
            <a:off x="827584" y="363217"/>
            <a:ext cx="8153400" cy="61751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 smtClean="0"/>
              <a:t>中国投资者账户统计数据</a:t>
            </a:r>
            <a:r>
              <a:rPr lang="en-US" altLang="zh-CN" dirty="0" smtClean="0"/>
              <a:t>2025Q1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308000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结论</a:t>
            </a: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关于择时能力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整体而言，投资者都没有择时能力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但极少数优秀投资者是具有择时能力的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关于选股能力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账户资金低于</a:t>
            </a:r>
            <a:r>
              <a:rPr lang="en-US" altLang="zh-CN" dirty="0" smtClean="0"/>
              <a:t>1</a:t>
            </a:r>
            <a:r>
              <a:rPr lang="zh-CN" altLang="en-US" dirty="0" smtClean="0"/>
              <a:t>千万的散户投资者没有选股能力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账户资金</a:t>
            </a:r>
            <a:r>
              <a:rPr lang="en-US" altLang="zh-CN" dirty="0" smtClean="0"/>
              <a:t>1</a:t>
            </a:r>
            <a:r>
              <a:rPr lang="zh-CN" altLang="en-US" dirty="0" smtClean="0"/>
              <a:t>千万以上的散户投资者具有正的选股能力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机构投资者和公司法人投资者具有正的选股能力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小散户要炒股吗？</a:t>
            </a: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小散户没有择时能力，也没有选股能力，只有送钱能力！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怎么办？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选择之一：拥抱生活、远离股市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选择之二：做好资产配置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按照家庭主要成员的年龄情况、家庭财产状况与收入情况做好资产配置。年龄越大，风险资产占比越低。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3"/>
          <p:cNvSpPr>
            <a:spLocks noGrp="1"/>
          </p:cNvSpPr>
          <p:nvPr>
            <p:ph type="title"/>
          </p:nvPr>
        </p:nvSpPr>
        <p:spPr>
          <a:xfrm>
            <a:off x="611188" y="692150"/>
            <a:ext cx="7886700" cy="776288"/>
          </a:xfrm>
        </p:spPr>
        <p:txBody>
          <a:bodyPr/>
          <a:lstStyle/>
          <a:p>
            <a:r>
              <a:rPr lang="zh-CN" altLang="en-US" smtClean="0"/>
              <a:t>消极投资的重要性</a:t>
            </a:r>
          </a:p>
        </p:txBody>
      </p:sp>
      <p:pic>
        <p:nvPicPr>
          <p:cNvPr id="14339" name="图片 4" descr="https://07.imgmini.eastday.com/mobile/20180325/20180325220253_b548cac38f014e2ac659923500364d15_13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809750"/>
            <a:ext cx="6270625" cy="449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现金流贴现：绝对估值方法</a:t>
            </a:r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第</a:t>
            </a:r>
            <a:r>
              <a:rPr lang="en-US" altLang="zh-CN" smtClean="0"/>
              <a:t>8</a:t>
            </a:r>
            <a:r>
              <a:rPr lang="zh-CN" altLang="en-US" smtClean="0"/>
              <a:t>章的固定收益证券估值</a:t>
            </a:r>
            <a:endParaRPr lang="en-US" altLang="zh-CN" smtClean="0"/>
          </a:p>
          <a:p>
            <a:r>
              <a:rPr lang="zh-CN" altLang="en-US" smtClean="0"/>
              <a:t>第</a:t>
            </a:r>
            <a:r>
              <a:rPr lang="en-US" altLang="zh-CN" smtClean="0"/>
              <a:t>9</a:t>
            </a:r>
            <a:r>
              <a:rPr lang="zh-CN" altLang="en-US" smtClean="0"/>
              <a:t>章的股票估值：股利贴现模型</a:t>
            </a:r>
            <a:r>
              <a:rPr lang="en-US" altLang="zh-CN" smtClean="0"/>
              <a:t>DDM</a:t>
            </a:r>
          </a:p>
          <a:p>
            <a:endParaRPr lang="en-US" altLang="zh-CN" smtClean="0"/>
          </a:p>
          <a:p>
            <a:endParaRPr lang="zh-CN" altLang="en-US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股票估值特点</a:t>
            </a: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500" smtClean="0"/>
              <a:t>股票估值需要</a:t>
            </a:r>
            <a:endParaRPr lang="en-US" altLang="zh-CN" sz="2500" smtClean="0"/>
          </a:p>
          <a:p>
            <a:pPr lvl="1"/>
            <a:r>
              <a:rPr lang="zh-CN" altLang="en-US" sz="2500" smtClean="0"/>
              <a:t>估计未来无穷期限的现金流</a:t>
            </a:r>
            <a:endParaRPr lang="en-US" altLang="zh-CN" sz="2500" smtClean="0"/>
          </a:p>
          <a:p>
            <a:pPr lvl="1"/>
            <a:r>
              <a:rPr lang="zh-CN" altLang="en-US" sz="2500" smtClean="0"/>
              <a:t>估计贴现率（资本成本）</a:t>
            </a:r>
            <a:endParaRPr lang="en-US" altLang="zh-CN" sz="2500" smtClean="0"/>
          </a:p>
          <a:p>
            <a:endParaRPr lang="en-US" altLang="zh-CN" sz="2500" smtClean="0"/>
          </a:p>
          <a:p>
            <a:r>
              <a:rPr lang="zh-CN" altLang="en-US" sz="2500" smtClean="0"/>
              <a:t>股票估值的难点</a:t>
            </a:r>
            <a:endParaRPr lang="en-US" altLang="zh-CN" sz="2500" smtClean="0"/>
          </a:p>
          <a:p>
            <a:pPr lvl="1"/>
            <a:r>
              <a:rPr lang="zh-CN" altLang="en-US" sz="2500" smtClean="0"/>
              <a:t>分子分母都异常困难</a:t>
            </a:r>
            <a:endParaRPr lang="en-US" altLang="zh-CN" sz="2500" smtClean="0"/>
          </a:p>
          <a:p>
            <a:pPr lvl="1"/>
            <a:endParaRPr lang="en-US" altLang="zh-CN" sz="2500" smtClean="0"/>
          </a:p>
          <a:p>
            <a:r>
              <a:rPr lang="zh-CN" altLang="en-US" sz="2500" smtClean="0"/>
              <a:t>股票估值的特点</a:t>
            </a:r>
            <a:endParaRPr lang="en-US" altLang="zh-CN" sz="2500" smtClean="0"/>
          </a:p>
          <a:p>
            <a:pPr lvl="1"/>
            <a:r>
              <a:rPr lang="zh-CN" altLang="en-US" sz="2500" smtClean="0"/>
              <a:t>科学 </a:t>
            </a:r>
            <a:r>
              <a:rPr lang="en-US" altLang="zh-CN" sz="2500" smtClean="0"/>
              <a:t>&amp; </a:t>
            </a:r>
            <a:r>
              <a:rPr lang="zh-CN" altLang="en-US" sz="2500" smtClean="0"/>
              <a:t>艺术 相结合</a:t>
            </a:r>
            <a:endParaRPr lang="en-US" altLang="zh-CN" sz="2500" smtClean="0"/>
          </a:p>
          <a:p>
            <a:endParaRPr lang="zh-CN" altLang="en-US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内容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1. 股利贴现模型</a:t>
            </a:r>
          </a:p>
          <a:p>
            <a:pPr eaLnBrk="1" hangingPunct="1"/>
            <a:r>
              <a:rPr lang="zh-CN" altLang="en-US" smtClean="0"/>
              <a:t>2. 盈利和投资机会</a:t>
            </a:r>
          </a:p>
          <a:p>
            <a:pPr eaLnBrk="1" hangingPunct="1"/>
            <a:r>
              <a:rPr lang="zh-CN" altLang="en-US" smtClean="0"/>
              <a:t>3. 市盈率倍数分析方法</a:t>
            </a:r>
          </a:p>
          <a:p>
            <a:pPr eaLnBrk="1" hangingPunct="1"/>
            <a:r>
              <a:rPr lang="zh-CN" altLang="en-US" smtClean="0"/>
              <a:t>4. 股利政策是否影响股东财富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格力电器高分红与董明珠的收入结构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970021"/>
              </p:ext>
            </p:extLst>
          </p:nvPr>
        </p:nvGraphicFramePr>
        <p:xfrm>
          <a:off x="683568" y="1484784"/>
          <a:ext cx="7704855" cy="5112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0273"/>
                <a:gridCol w="3640755"/>
                <a:gridCol w="2003827"/>
              </a:tblGrid>
              <a:tr h="28403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500" u="none" strike="noStrike" dirty="0">
                          <a:effectLst/>
                        </a:rPr>
                        <a:t>统计截止日期</a:t>
                      </a:r>
                      <a:endParaRPr lang="zh-CN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500" u="none" strike="noStrike" dirty="0">
                          <a:effectLst/>
                        </a:rPr>
                        <a:t>报告期报酬总额（税前）</a:t>
                      </a:r>
                      <a:endParaRPr lang="zh-CN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500" u="none" strike="noStrike" dirty="0">
                          <a:effectLst/>
                        </a:rPr>
                        <a:t>现金分红</a:t>
                      </a:r>
                      <a:endParaRPr lang="zh-CN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28403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 dirty="0">
                          <a:effectLst/>
                        </a:rPr>
                        <a:t>2008-12-31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 dirty="0">
                          <a:effectLst/>
                        </a:rPr>
                        <a:t>1,190,000 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>
                          <a:effectLst/>
                        </a:rPr>
                        <a:t>1,427,897 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28403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2009-12-31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>
                          <a:effectLst/>
                        </a:rPr>
                        <a:t>2,100,000 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>
                          <a:effectLst/>
                        </a:rPr>
                        <a:t>2,819,846 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28403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 dirty="0">
                          <a:effectLst/>
                        </a:rPr>
                        <a:t>2010-12-31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>
                          <a:effectLst/>
                        </a:rPr>
                        <a:t>2,520,000 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>
                          <a:effectLst/>
                        </a:rPr>
                        <a:t>7,049,616 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28403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2011-12-31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>
                          <a:effectLst/>
                        </a:rPr>
                        <a:t>4,750,000 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>
                          <a:effectLst/>
                        </a:rPr>
                        <a:t>6,344,654 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28403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2012-12-31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>
                          <a:effectLst/>
                        </a:rPr>
                        <a:t>4,750,000 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>
                          <a:effectLst/>
                        </a:rPr>
                        <a:t>10,574,423 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28403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2013-12-31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>
                          <a:effectLst/>
                        </a:rPr>
                        <a:t>4,990,000 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>
                          <a:effectLst/>
                        </a:rPr>
                        <a:t>21,148,846 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28403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2014-12-31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>
                          <a:effectLst/>
                        </a:rPr>
                        <a:t>7,197,200 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>
                          <a:effectLst/>
                        </a:rPr>
                        <a:t>31,810,119 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28403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2015-12-31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 dirty="0">
                          <a:effectLst/>
                        </a:rPr>
                        <a:t>6,977,100 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>
                          <a:effectLst/>
                        </a:rPr>
                        <a:t>63,620,238 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28403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2016-12-31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 dirty="0">
                          <a:effectLst/>
                        </a:rPr>
                        <a:t>6,198,300 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>
                          <a:effectLst/>
                        </a:rPr>
                        <a:t>66,417,738 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28403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2017-12-31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 dirty="0">
                          <a:effectLst/>
                        </a:rPr>
                        <a:t>7,020,700 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>
                          <a:effectLst/>
                        </a:rPr>
                        <a:t>80,079,286 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28403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2018-12-31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 dirty="0">
                          <a:effectLst/>
                        </a:rPr>
                        <a:t>9,600,000 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>
                          <a:effectLst/>
                        </a:rPr>
                        <a:t>0 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28403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2019-12-31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 dirty="0">
                          <a:effectLst/>
                        </a:rPr>
                        <a:t>8,650,000 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>
                          <a:effectLst/>
                        </a:rPr>
                        <a:t>93,425,833 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28403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2020-12-31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 dirty="0">
                          <a:effectLst/>
                        </a:rPr>
                        <a:t>9,150,000 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>
                          <a:effectLst/>
                        </a:rPr>
                        <a:t>97,874,682 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28403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2021-12-31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 dirty="0">
                          <a:effectLst/>
                        </a:rPr>
                        <a:t>10,980,000 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 dirty="0">
                          <a:effectLst/>
                        </a:rPr>
                        <a:t>133,465,476 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28403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2022-12-31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 dirty="0">
                          <a:effectLst/>
                        </a:rPr>
                        <a:t>11,420,000 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 dirty="0">
                          <a:effectLst/>
                        </a:rPr>
                        <a:t>133,465,476 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28403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>
                          <a:effectLst/>
                        </a:rPr>
                        <a:t>2023-12-31</a:t>
                      </a:r>
                      <a:endParaRPr lang="en-US" altLang="zh-CN" sz="15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 dirty="0">
                          <a:effectLst/>
                        </a:rPr>
                        <a:t>12,138,000 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 dirty="0">
                          <a:effectLst/>
                        </a:rPr>
                        <a:t>88,976,984 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28403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500" u="none" strike="noStrike" dirty="0" smtClean="0">
                          <a:effectLst/>
                        </a:rPr>
                        <a:t>2024-12-31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14,372,00</a:t>
                      </a:r>
                      <a:r>
                        <a:rPr lang="en-US" altLang="zh-C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lang="zh-CN" alt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500" u="none" strike="noStrike" dirty="0">
                          <a:effectLst/>
                        </a:rPr>
                        <a:t>184,791,511 </a:t>
                      </a:r>
                      <a:endParaRPr lang="en-US" altLang="zh-CN" sz="15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116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8153400" cy="1527448"/>
          </a:xfrm>
        </p:spPr>
        <p:txBody>
          <a:bodyPr/>
          <a:lstStyle/>
          <a:p>
            <a:r>
              <a:rPr lang="zh-CN" altLang="en-US" dirty="0" smtClean="0"/>
              <a:t>飞科电器（</a:t>
            </a:r>
            <a:r>
              <a:rPr lang="en-US" altLang="zh-CN" dirty="0"/>
              <a:t>603868.SH</a:t>
            </a:r>
            <a:r>
              <a:rPr lang="zh-CN" altLang="en-US" dirty="0" smtClean="0"/>
              <a:t>）的高分红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实际控制人直接间接持股</a:t>
            </a:r>
            <a:r>
              <a:rPr lang="en-US" altLang="zh-CN" dirty="0" smtClean="0"/>
              <a:t>88.37%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907803"/>
            <a:ext cx="3114675" cy="2524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2204864"/>
            <a:ext cx="542352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333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1. 股利贴现模型</a:t>
            </a:r>
            <a:r>
              <a:rPr lang="en-US" altLang="zh-CN" smtClean="0"/>
              <a:t>DDM</a:t>
            </a:r>
            <a:endParaRPr lang="zh-CN" altLang="en-US" smtClean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DDM</a:t>
            </a:r>
            <a:r>
              <a:rPr lang="zh-CN" altLang="en-US" smtClean="0"/>
              <a:t>：指计算股票未来预期现金流的现值，并将其作为股票的价值。</a:t>
            </a:r>
          </a:p>
          <a:p>
            <a:pPr lvl="1" eaLnBrk="1" hangingPunct="1"/>
            <a:r>
              <a:rPr lang="zh-CN" altLang="en-US" smtClean="0"/>
              <a:t>现金流：现金股利和资本利得（股票价格变化）</a:t>
            </a:r>
          </a:p>
          <a:p>
            <a:pPr lvl="1" eaLnBrk="1" hangingPunct="1"/>
            <a:r>
              <a:rPr lang="zh-CN" altLang="en-US" smtClean="0"/>
              <a:t>风险调整贴现率</a:t>
            </a:r>
            <a:r>
              <a:rPr lang="en-US" altLang="zh-CN" smtClean="0"/>
              <a:t>/</a:t>
            </a:r>
            <a:r>
              <a:rPr lang="zh-CN" altLang="en-US" smtClean="0"/>
              <a:t>市场资本报酬率：为吸引投资者投资该股票而应达到的预期收益率（必要收益率）。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问题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如果某人购买股票的目的仅仅是投机，即从股票价格的短期波动中获利，那么，对他而言，股利是没有用的。这是否意味着股利贴现模型没有用呢？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609600" y="1905000"/>
          <a:ext cx="78486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8" name="Equation" r:id="rId3" imgW="3911600" imgH="1295400" progId="Equation.DSMT4">
                  <p:embed/>
                </p:oleObj>
              </mc:Choice>
              <mc:Fallback>
                <p:oleObj name="Equation" r:id="rId3" imgW="3911600" imgH="1295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905000"/>
                        <a:ext cx="7848600" cy="2667000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</a:t>
            </a:r>
            <a:r>
              <a:rPr lang="zh-CN" altLang="en-US" dirty="0" smtClean="0"/>
              <a:t>长性与股票估值：股市三登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484784"/>
            <a:ext cx="8620125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946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</a:t>
            </a:r>
            <a:r>
              <a:rPr lang="zh-CN" altLang="en-US" dirty="0" smtClean="0"/>
              <a:t>登的关键区别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成长特征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成长性：通常而言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小登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中登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老登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风险特征</a:t>
            </a:r>
            <a:endParaRPr lang="en-US" altLang="zh-CN" dirty="0" smtClean="0"/>
          </a:p>
          <a:p>
            <a:pPr lvl="1"/>
            <a:r>
              <a:rPr lang="zh-CN" altLang="en-US" dirty="0"/>
              <a:t>小登</a:t>
            </a:r>
            <a:r>
              <a:rPr lang="en-US" altLang="zh-CN" dirty="0"/>
              <a:t>&gt;</a:t>
            </a:r>
            <a:r>
              <a:rPr lang="zh-CN" altLang="en-US" dirty="0"/>
              <a:t>中登</a:t>
            </a:r>
            <a:r>
              <a:rPr lang="en-US" altLang="zh-CN" dirty="0"/>
              <a:t>&gt;</a:t>
            </a:r>
            <a:r>
              <a:rPr lang="zh-CN" altLang="en-US" dirty="0" smtClean="0"/>
              <a:t>老登</a:t>
            </a:r>
            <a:endParaRPr lang="en-US" altLang="zh-CN" dirty="0" smtClean="0"/>
          </a:p>
          <a:p>
            <a:pPr lvl="2"/>
            <a:r>
              <a:rPr lang="zh-CN" altLang="en-US" dirty="0"/>
              <a:t>以芯片设计公司为例， </a:t>
            </a:r>
            <a:r>
              <a:rPr lang="en-US" altLang="zh-CN" dirty="0"/>
              <a:t>2024</a:t>
            </a:r>
            <a:r>
              <a:rPr lang="zh-CN" altLang="en-US" dirty="0" smtClean="0"/>
              <a:t>年</a:t>
            </a:r>
            <a:r>
              <a:rPr lang="zh-CN" altLang="en-US" dirty="0"/>
              <a:t>，</a:t>
            </a:r>
            <a:r>
              <a:rPr lang="zh-CN" altLang="en-US" dirty="0" smtClean="0"/>
              <a:t>中国</a:t>
            </a:r>
            <a:r>
              <a:rPr lang="zh-CN" altLang="en-US" dirty="0"/>
              <a:t>大陆的芯片设计企业数量已达</a:t>
            </a:r>
            <a:r>
              <a:rPr lang="en-US" altLang="zh-CN" dirty="0"/>
              <a:t>3600</a:t>
            </a:r>
            <a:r>
              <a:rPr lang="zh-CN" altLang="en-US" dirty="0"/>
              <a:t>余</a:t>
            </a:r>
            <a:r>
              <a:rPr lang="zh-CN" altLang="en-US" dirty="0" smtClean="0"/>
              <a:t>家，但如</a:t>
            </a:r>
            <a:r>
              <a:rPr lang="zh-CN" altLang="en-US" dirty="0"/>
              <a:t>同宗门的“</a:t>
            </a:r>
            <a:r>
              <a:rPr lang="zh-CN" altLang="en-US" b="1" i="1" dirty="0">
                <a:solidFill>
                  <a:srgbClr val="FF0000"/>
                </a:solidFill>
              </a:rPr>
              <a:t>养蛊</a:t>
            </a:r>
            <a:r>
              <a:rPr lang="zh-CN" altLang="en-US" dirty="0"/>
              <a:t>”</a:t>
            </a:r>
            <a:r>
              <a:rPr lang="zh-CN" altLang="en-US" dirty="0" smtClean="0"/>
              <a:t>法则，经过残酷的优胜劣汰，最终生存下来的不过寥寥数家。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0918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一种养老投资策略：</a:t>
            </a:r>
            <a:r>
              <a:rPr lang="zh-CN" altLang="en-US" dirty="0" smtClean="0"/>
              <a:t>攒股收息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攒</a:t>
            </a:r>
            <a:r>
              <a:rPr lang="zh-CN" altLang="en-US" dirty="0" smtClean="0"/>
              <a:t>股：择机买入业绩稳定、估值便宜、高分红的老登股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注意：不要在高位买入此类老登股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收息：每年获得稳定分红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股息收入要么用于日常消费，要么用于买入老登股（红利复投）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6950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稳定增长率与股利贴现模型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对未来股利的形式进行简化处理</a:t>
            </a:r>
          </a:p>
          <a:p>
            <a:pPr lvl="1" eaLnBrk="1" hangingPunct="1"/>
            <a:r>
              <a:rPr lang="zh-CN" altLang="en-US" b="1" smtClean="0">
                <a:latin typeface="黑体" panose="02010609060101010101" pitchFamily="49" charset="-122"/>
                <a:ea typeface="黑体" panose="02010609060101010101" pitchFamily="49" charset="-122"/>
              </a:rPr>
              <a:t>零增长模型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稳定增长模型</a:t>
            </a:r>
          </a:p>
          <a:p>
            <a:pPr lvl="1" eaLnBrk="1" hangingPunct="1"/>
            <a:r>
              <a:rPr lang="zh-CN" altLang="en-US" smtClean="0"/>
              <a:t>不同增长模型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黑体" panose="02010609060101010101" pitchFamily="49" charset="-122"/>
                <a:ea typeface="黑体" panose="02010609060101010101" pitchFamily="49" charset="-122"/>
              </a:rPr>
              <a:t>零增长模型</a:t>
            </a:r>
            <a:r>
              <a:rPr lang="zh-CN" altLang="en-US" sz="3400" b="1" smtClean="0">
                <a:latin typeface="楷体_GB2312" pitchFamily="49" charset="-122"/>
                <a:ea typeface="楷体_GB2312" pitchFamily="49" charset="-122"/>
              </a:rPr>
              <a:t>(股利恒定)</a:t>
            </a:r>
          </a:p>
        </p:txBody>
      </p:sp>
      <p:graphicFrame>
        <p:nvGraphicFramePr>
          <p:cNvPr id="37891" name="对象 2"/>
          <p:cNvGraphicFramePr>
            <a:graphicFrameLocks noChangeAspect="1"/>
          </p:cNvGraphicFramePr>
          <p:nvPr/>
        </p:nvGraphicFramePr>
        <p:xfrm>
          <a:off x="2484438" y="2565400"/>
          <a:ext cx="5111750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7" name="Equation" r:id="rId3" imgW="1675673" imgH="634725" progId="Equation.DSMT4">
                  <p:embed/>
                </p:oleObj>
              </mc:Choice>
              <mc:Fallback>
                <p:oleObj name="Equation" r:id="rId3" imgW="1675673" imgH="634725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565400"/>
                        <a:ext cx="5111750" cy="127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000" smtClean="0"/>
              <a:t>不变增长模型</a:t>
            </a:r>
            <a:r>
              <a:rPr lang="zh-CN" altLang="en-US" sz="3000" b="1" smtClean="0">
                <a:latin typeface="楷体_GB2312" pitchFamily="49" charset="-122"/>
                <a:ea typeface="楷体_GB2312" pitchFamily="49" charset="-122"/>
              </a:rPr>
              <a:t>(股利以</a:t>
            </a:r>
            <a:r>
              <a:rPr lang="en-US" altLang="zh-CN" sz="3000" b="1" smtClean="0">
                <a:latin typeface="楷体_GB2312" pitchFamily="49" charset="-122"/>
                <a:ea typeface="楷体_GB2312" pitchFamily="49" charset="-122"/>
              </a:rPr>
              <a:t>g</a:t>
            </a:r>
            <a:r>
              <a:rPr lang="zh-CN" altLang="en-US" sz="3000" b="1" smtClean="0">
                <a:latin typeface="楷体_GB2312" pitchFamily="49" charset="-122"/>
                <a:ea typeface="楷体_GB2312" pitchFamily="49" charset="-122"/>
              </a:rPr>
              <a:t>比例逐期增长)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此时,股利为一永续增长年金，其现值为：</a:t>
            </a:r>
          </a:p>
          <a:p>
            <a:pPr eaLnBrk="1" hangingPunct="1"/>
            <a:endParaRPr lang="zh-CN" altLang="en-US" b="1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/>
            <a:endParaRPr lang="zh-CN" altLang="en-US" b="1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/>
            <a:endParaRPr lang="zh-CN" altLang="en-US" b="1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/>
            <a:r>
              <a:rPr lang="en-US" altLang="zh-CN" sz="2800" b="1" smtClean="0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en-US" altLang="zh-CN" sz="2800" b="1" baseline="-25000" smtClean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800" b="1" smtClean="0">
                <a:ea typeface="楷体_GB2312" pitchFamily="49" charset="-122"/>
              </a:rPr>
              <a:t>—</a:t>
            </a:r>
            <a:r>
              <a:rPr lang="zh-CN" altLang="en-US" sz="2800" b="1" smtClean="0">
                <a:latin typeface="楷体_GB2312" pitchFamily="49" charset="-122"/>
                <a:ea typeface="楷体_GB2312" pitchFamily="49" charset="-122"/>
              </a:rPr>
              <a:t>未来第一年股利；</a:t>
            </a:r>
            <a:r>
              <a:rPr lang="en-US" altLang="zh-CN" sz="2800" b="1" smtClean="0">
                <a:latin typeface="楷体_GB2312" pitchFamily="49" charset="-122"/>
                <a:ea typeface="楷体_GB2312" pitchFamily="49" charset="-122"/>
              </a:rPr>
              <a:t>g=</a:t>
            </a:r>
            <a:r>
              <a:rPr lang="zh-CN" altLang="en-US" sz="2800" b="1" smtClean="0">
                <a:latin typeface="楷体_GB2312" pitchFamily="49" charset="-122"/>
                <a:ea typeface="楷体_GB2312" pitchFamily="49" charset="-122"/>
              </a:rPr>
              <a:t>股利增长率</a:t>
            </a:r>
          </a:p>
        </p:txBody>
      </p:sp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887413" y="2605088"/>
          <a:ext cx="721518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2" name="Equation" r:id="rId3" imgW="2768600" imgH="444500" progId="Equation.DSMT4">
                  <p:embed/>
                </p:oleObj>
              </mc:Choice>
              <mc:Fallback>
                <p:oleObj name="Equation" r:id="rId3" imgW="2768600" imgH="444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3" y="2605088"/>
                        <a:ext cx="7215187" cy="990600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2"/>
          <p:cNvGraphicFramePr>
            <a:graphicFrameLocks noChangeAspect="1"/>
          </p:cNvGraphicFramePr>
          <p:nvPr/>
        </p:nvGraphicFramePr>
        <p:xfrm>
          <a:off x="1387475" y="1538288"/>
          <a:ext cx="6369050" cy="317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4" name="Equation" r:id="rId3" imgW="2565400" imgH="1333500" progId="Equation.DSMT4">
                  <p:embed/>
                </p:oleObj>
              </mc:Choice>
              <mc:Fallback>
                <p:oleObj name="Equation" r:id="rId3" imgW="2565400" imgH="13335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1538288"/>
                        <a:ext cx="6369050" cy="3170237"/>
                      </a:xfrm>
                      <a:prstGeom prst="rect">
                        <a:avLst/>
                      </a:prstGeom>
                      <a:solidFill>
                        <a:srgbClr val="00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mtClean="0">
                <a:latin typeface="宋体" panose="02010600030101010101" pitchFamily="2" charset="-122"/>
              </a:rPr>
              <a:t>例：某股票第一期红利</a:t>
            </a:r>
            <a:r>
              <a:rPr lang="en-US" altLang="zh-CN" smtClean="0">
                <a:latin typeface="宋体" panose="02010600030101010101" pitchFamily="2" charset="-122"/>
              </a:rPr>
              <a:t>D</a:t>
            </a:r>
            <a:r>
              <a:rPr lang="en-US" altLang="zh-CN" baseline="-25000" smtClean="0">
                <a:latin typeface="宋体" panose="02010600030101010101" pitchFamily="2" charset="-122"/>
              </a:rPr>
              <a:t>1</a:t>
            </a:r>
            <a:r>
              <a:rPr lang="zh-CN" altLang="en-US" smtClean="0">
                <a:latin typeface="宋体" panose="02010600030101010101" pitchFamily="2" charset="-122"/>
              </a:rPr>
              <a:t>为</a:t>
            </a:r>
            <a:r>
              <a:rPr lang="en-US" altLang="zh-CN" smtClean="0">
                <a:latin typeface="宋体" panose="02010600030101010101" pitchFamily="2" charset="-122"/>
              </a:rPr>
              <a:t>5</a:t>
            </a:r>
            <a:r>
              <a:rPr lang="zh-CN" altLang="en-US" smtClean="0">
                <a:latin typeface="宋体" panose="02010600030101010101" pitchFamily="2" charset="-122"/>
              </a:rPr>
              <a:t>元，预计每年将以</a:t>
            </a:r>
            <a:r>
              <a:rPr lang="en-US" altLang="zh-CN" smtClean="0">
                <a:latin typeface="宋体" panose="02010600030101010101" pitchFamily="2" charset="-122"/>
              </a:rPr>
              <a:t>10</a:t>
            </a:r>
            <a:r>
              <a:rPr lang="zh-CN" altLang="en-US" smtClean="0">
                <a:latin typeface="宋体" panose="02010600030101010101" pitchFamily="2" charset="-122"/>
              </a:rPr>
              <a:t>%的比率持续增长，若折现率为1</a:t>
            </a:r>
            <a:r>
              <a:rPr lang="en-US" altLang="zh-CN" smtClean="0">
                <a:latin typeface="宋体" panose="02010600030101010101" pitchFamily="2" charset="-122"/>
              </a:rPr>
              <a:t>5</a:t>
            </a:r>
            <a:r>
              <a:rPr lang="zh-CN" altLang="en-US" smtClean="0">
                <a:latin typeface="宋体" panose="02010600030101010101" pitchFamily="2" charset="-122"/>
              </a:rPr>
              <a:t>%，则该股票的价值为：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mtClean="0">
                <a:latin typeface="宋体" panose="02010600030101010101" pitchFamily="2" charset="-122"/>
              </a:rPr>
              <a:t>    </a:t>
            </a:r>
            <a:r>
              <a:rPr lang="en-US" altLang="zh-CN" smtClean="0">
                <a:latin typeface="宋体" panose="02010600030101010101" pitchFamily="2" charset="-122"/>
              </a:rPr>
              <a:t>P=D</a:t>
            </a:r>
            <a:r>
              <a:rPr lang="en-US" altLang="zh-CN" baseline="-25000" smtClean="0">
                <a:latin typeface="宋体" panose="02010600030101010101" pitchFamily="2" charset="-122"/>
              </a:rPr>
              <a:t>1</a:t>
            </a:r>
            <a:r>
              <a:rPr lang="en-US" altLang="zh-CN" smtClean="0">
                <a:latin typeface="宋体" panose="02010600030101010101" pitchFamily="2" charset="-122"/>
              </a:rPr>
              <a:t>/(k-g)=5/(0.15-0.1)=100</a:t>
            </a:r>
            <a:r>
              <a:rPr lang="zh-CN" altLang="en-US" smtClean="0">
                <a:latin typeface="宋体" panose="02010600030101010101" pitchFamily="2" charset="-122"/>
              </a:rPr>
              <a:t>元</a:t>
            </a:r>
            <a:endParaRPr lang="en-US" altLang="zh-CN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收益率分解</a:t>
            </a:r>
          </a:p>
        </p:txBody>
      </p:sp>
      <p:sp>
        <p:nvSpPr>
          <p:cNvPr id="41987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035300" cy="4800600"/>
          </a:xfrm>
        </p:spPr>
        <p:txBody>
          <a:bodyPr/>
          <a:lstStyle/>
          <a:p>
            <a:pPr eaLnBrk="1" hangingPunct="1"/>
            <a:r>
              <a:rPr lang="zh-CN" altLang="en-US" smtClean="0"/>
              <a:t>对于不变增长的股票而言，股票收益率包括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股利收益率（</a:t>
            </a:r>
            <a:r>
              <a:rPr lang="en-US" altLang="zh-CN" smtClean="0"/>
              <a:t>5%</a:t>
            </a:r>
            <a:r>
              <a:rPr lang="zh-CN" altLang="en-US" smtClean="0"/>
              <a:t>）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资本利得（</a:t>
            </a:r>
            <a:r>
              <a:rPr lang="en-US" altLang="zh-CN" smtClean="0"/>
              <a:t>10%</a:t>
            </a:r>
            <a:r>
              <a:rPr lang="zh-CN" altLang="en-US" smtClean="0"/>
              <a:t>）</a:t>
            </a:r>
            <a:endParaRPr lang="en-US" altLang="zh-CN" smtClean="0"/>
          </a:p>
          <a:p>
            <a:pPr eaLnBrk="1" hangingPunct="1"/>
            <a:endParaRPr lang="zh-CN" altLang="en-US" smtClean="0"/>
          </a:p>
        </p:txBody>
      </p:sp>
      <p:pic>
        <p:nvPicPr>
          <p:cNvPr id="41988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51275" y="1847850"/>
            <a:ext cx="4968875" cy="3668713"/>
          </a:xfr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43011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显然，不变增长</a:t>
            </a:r>
            <a:r>
              <a:rPr lang="en-US" altLang="zh-CN" smtClean="0"/>
              <a:t>DDM</a:t>
            </a:r>
            <a:r>
              <a:rPr lang="zh-CN" altLang="en-US" smtClean="0"/>
              <a:t>隐含着 股利增长率与股价变化率（资本利得收益率）均等于</a:t>
            </a:r>
            <a:r>
              <a:rPr lang="en-US" altLang="zh-CN" smtClean="0"/>
              <a:t>g</a:t>
            </a:r>
            <a:r>
              <a:rPr lang="zh-CN" altLang="en-US" smtClean="0"/>
              <a:t>，在前述例子中</a:t>
            </a:r>
            <a:endParaRPr lang="en-US" altLang="zh-CN" smtClean="0"/>
          </a:p>
          <a:p>
            <a:pPr lvl="2" eaLnBrk="1" hangingPunct="1"/>
            <a:r>
              <a:rPr lang="zh-CN" altLang="en-US" smtClean="0"/>
              <a:t>年股利增长率</a:t>
            </a:r>
            <a:r>
              <a:rPr lang="en-US" altLang="zh-CN" smtClean="0"/>
              <a:t>10%</a:t>
            </a:r>
          </a:p>
          <a:p>
            <a:pPr lvl="2" eaLnBrk="1" hangingPunct="1"/>
            <a:r>
              <a:rPr lang="zh-CN" altLang="en-US" smtClean="0"/>
              <a:t>年股价变化率</a:t>
            </a:r>
            <a:r>
              <a:rPr lang="en-US" altLang="zh-CN" smtClean="0"/>
              <a:t>10%</a:t>
            </a:r>
          </a:p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7042150" y="6243638"/>
            <a:ext cx="1905000" cy="457200"/>
          </a:xfrm>
        </p:spPr>
        <p:txBody>
          <a:bodyPr/>
          <a:lstStyle/>
          <a:p>
            <a:pPr>
              <a:defRPr/>
            </a:pPr>
            <a:fld id="{4690BD81-927E-4174-A0EE-73F0CEA05715}" type="slidenum">
              <a:rPr lang="zh-CN" altLang="en-US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88913"/>
            <a:ext cx="8153400" cy="954087"/>
          </a:xfrm>
          <a:noFill/>
        </p:spPr>
        <p:txBody>
          <a:bodyPr/>
          <a:lstStyle/>
          <a:p>
            <a:pPr eaLnBrk="1" hangingPunct="1"/>
            <a:r>
              <a:rPr lang="zh-CN" altLang="en-US" smtClean="0"/>
              <a:t>一种求解资本成本</a:t>
            </a:r>
            <a:r>
              <a:rPr lang="en-US" altLang="zh-CN" smtClean="0"/>
              <a:t> K</a:t>
            </a:r>
            <a:r>
              <a:rPr lang="zh-CN" altLang="en-US" smtClean="0"/>
              <a:t>的方法</a:t>
            </a:r>
            <a:endParaRPr lang="en-US" altLang="zh-CN" smtClean="0"/>
          </a:p>
        </p:txBody>
      </p:sp>
      <p:graphicFrame>
        <p:nvGraphicFramePr>
          <p:cNvPr id="44036" name="Object 3"/>
          <p:cNvGraphicFramePr>
            <a:graphicFrameLocks/>
          </p:cNvGraphicFramePr>
          <p:nvPr/>
        </p:nvGraphicFramePr>
        <p:xfrm>
          <a:off x="2124075" y="2349500"/>
          <a:ext cx="4032250" cy="259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9" name="Equation" r:id="rId4" imgW="2679700" imgH="2598738" progId="Equation.3">
                  <p:embed/>
                </p:oleObj>
              </mc:Choice>
              <mc:Fallback>
                <p:oleObj name="Equation" r:id="rId4" imgW="2679700" imgH="2598738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349500"/>
                        <a:ext cx="4032250" cy="259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4"/>
          <p:cNvGraphicFramePr>
            <a:graphicFrameLocks/>
          </p:cNvGraphicFramePr>
          <p:nvPr/>
        </p:nvGraphicFramePr>
        <p:xfrm>
          <a:off x="2124075" y="2349500"/>
          <a:ext cx="4032250" cy="259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0" name="Equation" r:id="rId6" imgW="2679700" imgH="2598738" progId="Equation.3">
                  <p:embed/>
                </p:oleObj>
              </mc:Choice>
              <mc:Fallback>
                <p:oleObj name="Equation" r:id="rId6" imgW="2679700" imgH="2598738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349500"/>
                        <a:ext cx="4032250" cy="259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038" name="图片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5157788"/>
            <a:ext cx="6264275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1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3.不同增长</a:t>
            </a:r>
            <a:r>
              <a:rPr lang="zh-CN" altLang="en-US" sz="1900" b="1" dirty="0" smtClean="0">
                <a:latin typeface="楷体_GB2312" pitchFamily="49" charset="-122"/>
                <a:ea typeface="楷体_GB2312" pitchFamily="49" charset="-122"/>
              </a:rPr>
              <a:t>（前期快速增长，以后增速下降）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smtClean="0"/>
              <a:t>此时，前期年增速</a:t>
            </a:r>
            <a:r>
              <a:rPr lang="en-US" altLang="zh-CN" b="1" smtClean="0"/>
              <a:t>g1</a:t>
            </a:r>
            <a:r>
              <a:rPr lang="zh-CN" altLang="en-US" b="1" smtClean="0"/>
              <a:t>，后期是永续增长年金，年增速为</a:t>
            </a:r>
            <a:r>
              <a:rPr lang="en-US" altLang="zh-CN" b="1" smtClean="0"/>
              <a:t>g2 (g1&gt;g2)</a:t>
            </a:r>
            <a:r>
              <a:rPr lang="zh-CN" altLang="en-US" b="1" smtClean="0"/>
              <a:t> 。若目前每股股利为</a:t>
            </a:r>
            <a:r>
              <a:rPr lang="en-US" altLang="zh-CN" b="1" smtClean="0"/>
              <a:t>D</a:t>
            </a:r>
            <a:r>
              <a:rPr lang="en-US" altLang="zh-CN" b="1" baseline="-25000" smtClean="0"/>
              <a:t>0</a:t>
            </a:r>
            <a:r>
              <a:rPr lang="en-US" altLang="zh-CN" b="1" smtClean="0"/>
              <a:t>，</a:t>
            </a:r>
            <a:r>
              <a:rPr lang="zh-CN" altLang="en-US" b="1" smtClean="0"/>
              <a:t>则股票价值为：</a:t>
            </a:r>
          </a:p>
        </p:txBody>
      </p:sp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1919288" y="3276600"/>
          <a:ext cx="5246687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0" name="Equation" r:id="rId3" imgW="2362200" imgH="457200" progId="Equation.DSMT4">
                  <p:embed/>
                </p:oleObj>
              </mc:Choice>
              <mc:Fallback>
                <p:oleObj name="Equation" r:id="rId3" imgW="23622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3276600"/>
                        <a:ext cx="5246687" cy="1016000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400" smtClean="0"/>
              <a:t>更现实的情形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第一阶段快速增长</a:t>
            </a:r>
            <a:r>
              <a:rPr lang="en-US" altLang="zh-CN" dirty="0" smtClean="0"/>
              <a:t>g1</a:t>
            </a:r>
            <a:r>
              <a:rPr lang="zh-CN" altLang="en-US" dirty="0" smtClean="0"/>
              <a:t>、第二阶段增速下降到</a:t>
            </a:r>
            <a:r>
              <a:rPr lang="en-US" altLang="zh-CN" dirty="0" smtClean="0"/>
              <a:t>g2</a:t>
            </a:r>
            <a:r>
              <a:rPr lang="zh-CN" altLang="en-US" dirty="0" smtClean="0"/>
              <a:t>、以后投资回报率等于资本成本（不增长）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如何估计增长率</a:t>
            </a:r>
            <a:r>
              <a:rPr lang="en-US" altLang="zh-CN" smtClean="0"/>
              <a:t>g</a:t>
            </a:r>
            <a:r>
              <a:rPr lang="zh-CN" altLang="en-US" smtClean="0"/>
              <a:t>？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  <a:p>
            <a:pPr eaLnBrk="1" hangingPunct="1"/>
            <a:endParaRPr lang="zh-CN" altLang="en-US" smtClean="0"/>
          </a:p>
        </p:txBody>
      </p:sp>
      <p:graphicFrame>
        <p:nvGraphicFramePr>
          <p:cNvPr id="49156" name="Object 4"/>
          <p:cNvGraphicFramePr>
            <a:graphicFrameLocks noChangeAspect="1"/>
          </p:cNvGraphicFramePr>
          <p:nvPr/>
        </p:nvGraphicFramePr>
        <p:xfrm>
          <a:off x="457200" y="2286000"/>
          <a:ext cx="83058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2" name="Equation" r:id="rId3" imgW="4152900" imgH="1117600" progId="Equation.DSMT4">
                  <p:embed/>
                </p:oleObj>
              </mc:Choice>
              <mc:Fallback>
                <p:oleObj name="Equation" r:id="rId3" imgW="4152900" imgH="1117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86000"/>
                        <a:ext cx="8305800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一些需要注意的问题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公司最近不支付股利</a:t>
            </a:r>
          </a:p>
          <a:p>
            <a:pPr lvl="1" eaLnBrk="1" hangingPunct="1"/>
            <a:r>
              <a:rPr lang="zh-CN" altLang="en-US" smtClean="0"/>
              <a:t>一家公司如果想持续下去，总得支付股利。因此，应该用未来的长期增长率来代替</a:t>
            </a:r>
          </a:p>
          <a:p>
            <a:pPr eaLnBrk="1" hangingPunct="1"/>
            <a:r>
              <a:rPr lang="zh-CN" altLang="en-US" smtClean="0"/>
              <a:t>公司最近的股利增长率</a:t>
            </a:r>
            <a:r>
              <a:rPr lang="en-US" altLang="zh-CN" smtClean="0"/>
              <a:t>g&gt;=r</a:t>
            </a:r>
          </a:p>
          <a:p>
            <a:pPr lvl="1" eaLnBrk="1" hangingPunct="1"/>
            <a:r>
              <a:rPr lang="zh-CN" altLang="en-US" smtClean="0"/>
              <a:t>从长期来看， </a:t>
            </a:r>
            <a:r>
              <a:rPr lang="en-US" altLang="zh-CN" smtClean="0"/>
              <a:t>g&lt;r。</a:t>
            </a:r>
            <a:r>
              <a:rPr lang="zh-CN" altLang="en-US" smtClean="0"/>
              <a:t>公司不可能永远维持一种非正常的高增长状态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2.盈利和投资机会</a:t>
            </a:r>
          </a:p>
        </p:txBody>
      </p:sp>
      <p:graphicFrame>
        <p:nvGraphicFramePr>
          <p:cNvPr id="51203" name="Object 3"/>
          <p:cNvGraphicFramePr>
            <a:graphicFrameLocks noGrp="1" noChangeAspect="1"/>
          </p:cNvGraphicFramePr>
          <p:nvPr>
            <p:ph type="body" idx="1"/>
          </p:nvPr>
        </p:nvGraphicFramePr>
        <p:xfrm>
          <a:off x="1042988" y="2349500"/>
          <a:ext cx="6827837" cy="298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9" name="Equation" r:id="rId3" imgW="2616200" imgH="1143000" progId="Equation.DSMT4">
                  <p:embed/>
                </p:oleObj>
              </mc:Choice>
              <mc:Fallback>
                <p:oleObj name="Equation" r:id="rId3" imgW="2616200" imgH="1143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349500"/>
                        <a:ext cx="6827837" cy="298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公司的价值</a:t>
            </a:r>
          </a:p>
          <a:p>
            <a:pPr lvl="1" eaLnBrk="1" hangingPunct="1"/>
            <a:r>
              <a:rPr lang="zh-CN" altLang="en-US" smtClean="0"/>
              <a:t>不等于未来预期盈利的现值</a:t>
            </a:r>
          </a:p>
          <a:p>
            <a:pPr lvl="1" eaLnBrk="1" hangingPunct="1"/>
            <a:r>
              <a:rPr lang="zh-CN" altLang="en-US" smtClean="0"/>
              <a:t>应该等于未来预期盈利的现值减去新的净投资的现值</a:t>
            </a:r>
          </a:p>
          <a:p>
            <a:pPr lvl="1" eaLnBrk="1" hangingPunct="1"/>
            <a:r>
              <a:rPr lang="zh-CN" altLang="en-US" smtClean="0"/>
              <a:t>如果仅仅用公司未来预期盈利的现值来计算公司价值，就会出现错误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新增净投资的差异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15425" cy="533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608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公司价值的二项分解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在现有状态下未来可能获得盈利的现值</a:t>
            </a:r>
          </a:p>
          <a:p>
            <a:pPr eaLnBrk="1" hangingPunct="1"/>
            <a:r>
              <a:rPr lang="zh-CN" altLang="en-US" smtClean="0"/>
              <a:t>未来投资机会的现值</a:t>
            </a:r>
          </a:p>
          <a:p>
            <a:pPr lvl="1" eaLnBrk="1" hangingPunct="1"/>
            <a:r>
              <a:rPr lang="zh-CN" altLang="en-US" smtClean="0"/>
              <a:t>未来的盈利减去为获得该盈利所需的投资额</a:t>
            </a:r>
          </a:p>
        </p:txBody>
      </p:sp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2057400" y="4114800"/>
          <a:ext cx="4724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2" name="Equation" r:id="rId3" imgW="2005729" imgH="393529" progId="Equation.DSMT4">
                  <p:embed/>
                </p:oleObj>
              </mc:Choice>
              <mc:Fallback>
                <p:oleObj name="Equation" r:id="rId3" imgW="2005729" imgH="39352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114800"/>
                        <a:ext cx="4724400" cy="990600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700" smtClean="0">
                <a:solidFill>
                  <a:srgbClr val="FF3300"/>
                </a:solidFill>
              </a:rPr>
              <a:t>公司增长机会的再分析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smtClean="0"/>
              <a:t>一个稳定经营的公司（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ROE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不变）</a:t>
            </a:r>
            <a:r>
              <a:rPr lang="zh-CN" altLang="en-US" b="1" smtClean="0"/>
              <a:t>，如果将全部盈余作为股利分配，即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D=EPS</a:t>
            </a:r>
            <a:r>
              <a:rPr lang="en-US" altLang="zh-CN" b="1" smtClean="0"/>
              <a:t>，</a:t>
            </a:r>
            <a:r>
              <a:rPr lang="zh-CN" altLang="en-US" b="1" smtClean="0"/>
              <a:t>则其价值为：</a:t>
            </a:r>
          </a:p>
          <a:p>
            <a:pPr lvl="1" eaLnBrk="1" hangingPunct="1">
              <a:buFontTx/>
              <a:buNone/>
            </a:pPr>
            <a:r>
              <a:rPr lang="en-US" altLang="zh-CN" sz="3600" b="1" smtClean="0">
                <a:latin typeface="黑体" panose="02010609060101010101" pitchFamily="49" charset="-122"/>
                <a:ea typeface="黑体" panose="02010609060101010101" pitchFamily="49" charset="-122"/>
              </a:rPr>
              <a:t>P = EPS/k</a:t>
            </a:r>
            <a:r>
              <a:rPr lang="en-US" altLang="zh-CN" sz="3600" b="1" baseline="-2500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b="1" smtClean="0">
                <a:latin typeface="黑体" panose="02010609060101010101" pitchFamily="49" charset="-122"/>
                <a:ea typeface="黑体" panose="02010609060101010101" pitchFamily="49" charset="-122"/>
              </a:rPr>
              <a:t>= D/k</a:t>
            </a:r>
            <a:endParaRPr lang="en-US" altLang="zh-CN" sz="3600" b="1" baseline="-2500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buFontTx/>
              <a:buNone/>
            </a:pPr>
            <a:endParaRPr lang="en-US" altLang="zh-CN" sz="3200" b="1" baseline="-2500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2600" b="1" smtClean="0">
                <a:latin typeface="幼圆" panose="02010509060101010101" pitchFamily="49" charset="-122"/>
                <a:ea typeface="幼圆" panose="02010509060101010101" pitchFamily="49" charset="-122"/>
              </a:rPr>
              <a:t>这种股票称为收益型股票或</a:t>
            </a:r>
            <a:r>
              <a:rPr lang="zh-CN" altLang="en-US" sz="2600" b="1" smtClean="0">
                <a:ea typeface="幼圆" panose="02010509060101010101" pitchFamily="49" charset="-122"/>
              </a:rPr>
              <a:t>“</a:t>
            </a:r>
            <a:r>
              <a:rPr lang="zh-CN" altLang="en-US" sz="2600" b="1" smtClean="0">
                <a:latin typeface="幼圆" panose="02010509060101010101" pitchFamily="49" charset="-122"/>
                <a:ea typeface="幼圆" panose="02010509060101010101" pitchFamily="49" charset="-122"/>
              </a:rPr>
              <a:t>现金牛</a:t>
            </a:r>
            <a:r>
              <a:rPr lang="zh-CN" altLang="en-US" sz="2600" b="1" smtClean="0">
                <a:ea typeface="幼圆" panose="02010509060101010101" pitchFamily="49" charset="-122"/>
              </a:rPr>
              <a:t>”</a:t>
            </a:r>
            <a:r>
              <a:rPr lang="zh-CN" altLang="en-US" sz="2600" b="1" smtClean="0">
                <a:latin typeface="幼圆" panose="02010509060101010101" pitchFamily="49" charset="-122"/>
                <a:ea typeface="幼圆" panose="02010509060101010101" pitchFamily="49" charset="-122"/>
              </a:rPr>
              <a:t>型股票。</a:t>
            </a:r>
            <a:endParaRPr lang="zh-CN" altLang="en-US" sz="2600" b="1" smtClean="0">
              <a:ea typeface="幼圆" panose="02010509060101010101" pitchFamily="49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4213" y="609600"/>
            <a:ext cx="8078787" cy="59436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b="1" smtClean="0">
                <a:ea typeface="幼圆" panose="02010509060101010101" pitchFamily="49" charset="-122"/>
              </a:rPr>
              <a:t>如果每年都将一部分盈余留下来进行投资，其投资产生的净现值称为增长机会的价值</a:t>
            </a:r>
            <a:r>
              <a:rPr lang="en-US" altLang="zh-CN" sz="2800" b="1" smtClean="0">
                <a:ea typeface="幼圆" panose="02010509060101010101" pitchFamily="49" charset="-122"/>
              </a:rPr>
              <a:t>NPVGO。</a:t>
            </a:r>
            <a:r>
              <a:rPr lang="zh-CN" altLang="en-US" sz="2800" b="1" smtClean="0">
                <a:ea typeface="幼圆" panose="02010509060101010101" pitchFamily="49" charset="-122"/>
              </a:rPr>
              <a:t>此时，股票的价值为：</a:t>
            </a:r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zh-CN" altLang="en-US" sz="2600" b="1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增长型股票价值=无增长股票价值+增长机会价值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zh-CN" altLang="en-US" sz="2800" b="1" smtClean="0"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zh-CN" altLang="en-US" b="1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其中：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zh-CN" altLang="en-US" b="1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NPV</a:t>
            </a:r>
            <a:r>
              <a:rPr lang="en-US" altLang="zh-CN" sz="2400" b="1" baseline="-25000" smtClean="0"/>
              <a:t>1</a:t>
            </a:r>
            <a:r>
              <a:rPr lang="en-US" altLang="zh-CN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lang="zh-CN" altLang="en-US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第一年留存收益用于投资产生的净现值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b="1" smtClean="0">
                <a:latin typeface="幼圆" panose="02010509060101010101" pitchFamily="49" charset="-122"/>
                <a:ea typeface="幼圆" panose="02010509060101010101" pitchFamily="49" charset="-122"/>
              </a:rPr>
              <a:t>于是：</a:t>
            </a:r>
          </a:p>
        </p:txBody>
      </p:sp>
      <p:graphicFrame>
        <p:nvGraphicFramePr>
          <p:cNvPr id="56323" name="Object 3"/>
          <p:cNvGraphicFramePr>
            <a:graphicFrameLocks noChangeAspect="1"/>
          </p:cNvGraphicFramePr>
          <p:nvPr/>
        </p:nvGraphicFramePr>
        <p:xfrm>
          <a:off x="1524000" y="2554288"/>
          <a:ext cx="327660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1" name="Equation" r:id="rId3" imgW="1295400" imgH="393700" progId="Equation.DSMT4">
                  <p:embed/>
                </p:oleObj>
              </mc:Choice>
              <mc:Fallback>
                <p:oleObj name="Equation" r:id="rId3" imgW="1295400" imgH="393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554288"/>
                        <a:ext cx="327660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4" name="Object 4"/>
          <p:cNvGraphicFramePr>
            <a:graphicFrameLocks noChangeAspect="1"/>
          </p:cNvGraphicFramePr>
          <p:nvPr/>
        </p:nvGraphicFramePr>
        <p:xfrm>
          <a:off x="2514600" y="3595688"/>
          <a:ext cx="24384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2" name="Equation" r:id="rId5" imgW="1079500" imgH="419100" progId="Equation.DSMT4">
                  <p:embed/>
                </p:oleObj>
              </mc:Choice>
              <mc:Fallback>
                <p:oleObj name="Equation" r:id="rId5" imgW="1079500" imgH="419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595688"/>
                        <a:ext cx="2438400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5" name="Object 5"/>
          <p:cNvGraphicFramePr>
            <a:graphicFrameLocks noChangeAspect="1"/>
          </p:cNvGraphicFramePr>
          <p:nvPr/>
        </p:nvGraphicFramePr>
        <p:xfrm>
          <a:off x="2667000" y="5270500"/>
          <a:ext cx="281940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3" name="Equation" r:id="rId7" imgW="1143000" imgH="419100" progId="Equation.DSMT4">
                  <p:embed/>
                </p:oleObj>
              </mc:Choice>
              <mc:Fallback>
                <p:oleObj name="Equation" r:id="rId7" imgW="1143000" imgH="41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270500"/>
                        <a:ext cx="2819400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为了提高公司价值，就要进行新的投资</a:t>
            </a:r>
          </a:p>
          <a:p>
            <a:pPr lvl="1" eaLnBrk="1" hangingPunct="1"/>
            <a:r>
              <a:rPr lang="zh-CN" altLang="en-US" smtClean="0"/>
              <a:t>投资项目必须能提高公司价值</a:t>
            </a:r>
          </a:p>
          <a:p>
            <a:pPr lvl="1" eaLnBrk="1" hangingPunct="1"/>
            <a:r>
              <a:rPr lang="zh-CN" altLang="en-US" smtClean="0"/>
              <a:t>必须有资金来源</a:t>
            </a:r>
          </a:p>
          <a:p>
            <a:pPr lvl="2" eaLnBrk="1" hangingPunct="1"/>
            <a:r>
              <a:rPr lang="zh-CN" altLang="en-US" smtClean="0"/>
              <a:t>留存收益</a:t>
            </a:r>
          </a:p>
          <a:p>
            <a:pPr lvl="2" eaLnBrk="1" hangingPunct="1"/>
            <a:r>
              <a:rPr lang="zh-CN" altLang="en-US" smtClean="0"/>
              <a:t>发行股票或者债券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基准情形：无增长公司股票估值</a:t>
            </a:r>
          </a:p>
        </p:txBody>
      </p:sp>
      <p:sp>
        <p:nvSpPr>
          <p:cNvPr id="583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例：某公司预计第一年底每股盈利(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EPS</a:t>
            </a:r>
            <a:r>
              <a:rPr lang="en-US" altLang="zh-CN" b="1" baseline="-25000" smtClean="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)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为1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5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元,公司股利政策是保持股利支付率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10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0%不变（即不会增加投资），权益的机会成本(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k)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为1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5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%，试估计该股票的价值。</a:t>
            </a:r>
          </a:p>
          <a:p>
            <a:pPr lvl="2" eaLnBrk="1" hangingPunct="1"/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P = 15/ 15% =100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元</a:t>
            </a:r>
            <a:endParaRPr lang="en-US" altLang="zh-CN" b="1" smtClean="0">
              <a:latin typeface="幼圆" panose="02010509060101010101" pitchFamily="49" charset="-122"/>
              <a:cs typeface="Arial" panose="020B0604020202020204" pitchFamily="34" charset="0"/>
            </a:endParaRPr>
          </a:p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不变增长股票估值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例：某公司预计第一年底每股盈利(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EPS</a:t>
            </a:r>
            <a:r>
              <a:rPr lang="en-US" altLang="zh-CN" b="1" baseline="-25000" smtClean="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)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为1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5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元,公司股利政策是保持股利支付率40%不变，权益的机会成本(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k)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为1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5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%，留存收益再投资的回报率为20%，试估计该股票的价值。</a:t>
            </a:r>
          </a:p>
          <a:p>
            <a:pPr lvl="1" eaLnBrk="1" hangingPunct="1"/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该公司股利增长率为</a:t>
            </a:r>
          </a:p>
          <a:p>
            <a:pPr lvl="1" eaLnBrk="1" hangingPunct="1">
              <a:buFontTx/>
              <a:buNone/>
            </a:pP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  g=(1-40%)</a:t>
            </a:r>
            <a:r>
              <a:rPr lang="en-US" altLang="zh-CN" b="1" smtClean="0">
                <a:latin typeface="幼圆" panose="02010509060101010101" pitchFamily="49" charset="-122"/>
                <a:cs typeface="Arial" panose="020B0604020202020204" pitchFamily="34" charset="0"/>
              </a:rPr>
              <a:t>×20%=12%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其一：</a:t>
            </a:r>
            <a:r>
              <a:rPr lang="zh-CN" altLang="en-US" b="1" smtClean="0">
                <a:latin typeface="黑体" panose="02010609060101010101" pitchFamily="49" charset="-122"/>
                <a:ea typeface="黑体" panose="02010609060101010101" pitchFamily="49" charset="-122"/>
              </a:rPr>
              <a:t>用持续增长模型</a:t>
            </a:r>
          </a:p>
        </p:txBody>
      </p:sp>
      <p:graphicFrame>
        <p:nvGraphicFramePr>
          <p:cNvPr id="60419" name="Object 3"/>
          <p:cNvGraphicFramePr>
            <a:graphicFrameLocks noGrp="1" noChangeAspect="1"/>
          </p:cNvGraphicFramePr>
          <p:nvPr>
            <p:ph type="body" idx="1"/>
          </p:nvPr>
        </p:nvGraphicFramePr>
        <p:xfrm>
          <a:off x="179388" y="2060575"/>
          <a:ext cx="85344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5" name="Equation" r:id="rId3" imgW="2235200" imgH="419100" progId="Equation.DSMT4">
                  <p:embed/>
                </p:oleObj>
              </mc:Choice>
              <mc:Fallback>
                <p:oleObj name="Equation" r:id="rId3" imgW="2235200" imgH="419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060575"/>
                        <a:ext cx="85344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>
                            <a:solidFill>
                              <a:srgbClr val="000000"/>
                            </a:solidFill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其二：用增长机会模型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 smtClean="0">
                <a:latin typeface="幼圆" panose="02010509060101010101" pitchFamily="49" charset="-122"/>
                <a:ea typeface="幼圆" panose="02010509060101010101" pitchFamily="49" charset="-122"/>
              </a:rPr>
              <a:t>无增长时股票价值为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EPS</a:t>
            </a:r>
            <a:r>
              <a:rPr lang="en-US" altLang="zh-CN" b="1" baseline="-25000" smtClean="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/k=15/15%=100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 smtClean="0">
                <a:latin typeface="黑体" panose="02010609060101010101" pitchFamily="49" charset="-122"/>
                <a:ea typeface="黑体" panose="02010609060101010101" pitchFamily="49" charset="-122"/>
              </a:rPr>
              <a:t>第一年</a:t>
            </a:r>
            <a:r>
              <a:rPr lang="zh-CN" altLang="en-US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每股盈利1</a:t>
            </a:r>
            <a:r>
              <a:rPr lang="en-US" altLang="zh-CN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5</a:t>
            </a:r>
            <a:r>
              <a:rPr lang="zh-CN" altLang="en-US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元，年末留存</a:t>
            </a:r>
            <a:r>
              <a:rPr lang="en-US" altLang="zh-CN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9</a:t>
            </a:r>
            <a:r>
              <a:rPr lang="zh-CN" altLang="en-US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元，这</a:t>
            </a:r>
            <a:r>
              <a:rPr lang="en-US" altLang="zh-CN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9</a:t>
            </a:r>
            <a:r>
              <a:rPr lang="zh-CN" altLang="en-US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元作为新增投资，从第二年起每年产生</a:t>
            </a:r>
            <a:r>
              <a:rPr lang="en-US" altLang="zh-CN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9</a:t>
            </a:r>
            <a:r>
              <a:rPr lang="zh-CN" altLang="en-US" sz="2400" b="1" smtClean="0">
                <a:latin typeface="幼圆" panose="02010509060101010101" pitchFamily="49" charset="-122"/>
                <a:cs typeface="Arial" panose="020B0604020202020204" pitchFamily="34" charset="0"/>
              </a:rPr>
              <a:t>×20%=1.</a:t>
            </a:r>
            <a:r>
              <a:rPr lang="en-US" altLang="zh-CN" sz="2400" b="1" smtClean="0">
                <a:latin typeface="幼圆" panose="02010509060101010101" pitchFamily="49" charset="-122"/>
                <a:cs typeface="Arial" panose="020B0604020202020204" pitchFamily="34" charset="0"/>
              </a:rPr>
              <a:t>8</a:t>
            </a:r>
            <a:r>
              <a:rPr lang="zh-CN" altLang="en-US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元盈利。这1.</a:t>
            </a:r>
            <a:r>
              <a:rPr lang="en-US" altLang="zh-CN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8</a:t>
            </a:r>
            <a:r>
              <a:rPr lang="zh-CN" altLang="en-US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元是一个永续年金。如图所示：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 b="1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2400" b="1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2400" b="1" smtClean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b="1" smtClean="0">
              <a:solidFill>
                <a:srgbClr val="3333FF"/>
              </a:solidFill>
              <a:ea typeface="幼圆" panose="02010509060101010101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smtClean="0">
                <a:solidFill>
                  <a:srgbClr val="3333FF"/>
                </a:solidFill>
                <a:ea typeface="幼圆" panose="02010509060101010101" pitchFamily="49" charset="-122"/>
              </a:rPr>
              <a:t>这</a:t>
            </a:r>
            <a:r>
              <a:rPr lang="en-US" altLang="zh-CN" b="1" smtClean="0">
                <a:solidFill>
                  <a:srgbClr val="3333FF"/>
                </a:solidFill>
                <a:ea typeface="幼圆" panose="02010509060101010101" pitchFamily="49" charset="-122"/>
              </a:rPr>
              <a:t>9</a:t>
            </a:r>
            <a:r>
              <a:rPr lang="zh-CN" altLang="en-US" b="1" smtClean="0">
                <a:solidFill>
                  <a:srgbClr val="3333FF"/>
                </a:solidFill>
                <a:ea typeface="幼圆" panose="02010509060101010101" pitchFamily="49" charset="-122"/>
              </a:rPr>
              <a:t>元投资在1年末净现值为:</a:t>
            </a:r>
            <a:r>
              <a:rPr lang="zh-CN" altLang="en-US" b="1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-</a:t>
            </a:r>
            <a:r>
              <a:rPr lang="en-US" altLang="zh-CN" b="1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9</a:t>
            </a:r>
            <a:r>
              <a:rPr lang="zh-CN" altLang="en-US" b="1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+1.</a:t>
            </a:r>
            <a:r>
              <a:rPr lang="en-US" altLang="zh-CN" b="1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8</a:t>
            </a:r>
            <a:r>
              <a:rPr lang="zh-CN" altLang="en-US" b="1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/1</a:t>
            </a:r>
            <a:r>
              <a:rPr lang="en-US" altLang="zh-CN" b="1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5</a:t>
            </a:r>
            <a:r>
              <a:rPr lang="zh-CN" altLang="en-US" b="1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%=</a:t>
            </a:r>
            <a:r>
              <a:rPr lang="en-US" altLang="zh-CN" b="1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en-US" b="1" smtClean="0">
                <a:solidFill>
                  <a:srgbClr val="3333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元</a:t>
            </a:r>
          </a:p>
        </p:txBody>
      </p:sp>
      <p:grpSp>
        <p:nvGrpSpPr>
          <p:cNvPr id="61444" name="Group 4"/>
          <p:cNvGrpSpPr>
            <a:grpSpLocks/>
          </p:cNvGrpSpPr>
          <p:nvPr/>
        </p:nvGrpSpPr>
        <p:grpSpPr bwMode="auto">
          <a:xfrm>
            <a:off x="2438400" y="3657600"/>
            <a:ext cx="4953000" cy="1400175"/>
            <a:chOff x="960" y="96"/>
            <a:chExt cx="3120" cy="931"/>
          </a:xfrm>
        </p:grpSpPr>
        <p:sp>
          <p:nvSpPr>
            <p:cNvPr id="61445" name="Line 5"/>
            <p:cNvSpPr>
              <a:spLocks noChangeShapeType="1"/>
            </p:cNvSpPr>
            <p:nvPr/>
          </p:nvSpPr>
          <p:spPr bwMode="auto">
            <a:xfrm>
              <a:off x="1008" y="528"/>
              <a:ext cx="29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46" name="Line 6"/>
            <p:cNvSpPr>
              <a:spLocks noChangeShapeType="1"/>
            </p:cNvSpPr>
            <p:nvPr/>
          </p:nvSpPr>
          <p:spPr bwMode="auto">
            <a:xfrm>
              <a:off x="1008" y="480"/>
              <a:ext cx="0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47" name="Line 7"/>
            <p:cNvSpPr>
              <a:spLocks noChangeShapeType="1"/>
            </p:cNvSpPr>
            <p:nvPr/>
          </p:nvSpPr>
          <p:spPr bwMode="auto">
            <a:xfrm flipV="1">
              <a:off x="1632" y="336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48" name="Line 8"/>
            <p:cNvSpPr>
              <a:spLocks noChangeShapeType="1"/>
            </p:cNvSpPr>
            <p:nvPr/>
          </p:nvSpPr>
          <p:spPr bwMode="auto">
            <a:xfrm flipV="1">
              <a:off x="2016" y="336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49" name="Line 9"/>
            <p:cNvSpPr>
              <a:spLocks noChangeShapeType="1"/>
            </p:cNvSpPr>
            <p:nvPr/>
          </p:nvSpPr>
          <p:spPr bwMode="auto">
            <a:xfrm flipV="1">
              <a:off x="2352" y="336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50" name="Line 10"/>
            <p:cNvSpPr>
              <a:spLocks noChangeShapeType="1"/>
            </p:cNvSpPr>
            <p:nvPr/>
          </p:nvSpPr>
          <p:spPr bwMode="auto">
            <a:xfrm flipV="1">
              <a:off x="2736" y="336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51" name="Line 11"/>
            <p:cNvSpPr>
              <a:spLocks noChangeShapeType="1"/>
            </p:cNvSpPr>
            <p:nvPr/>
          </p:nvSpPr>
          <p:spPr bwMode="auto">
            <a:xfrm>
              <a:off x="1304" y="52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52" name="Text Box 12"/>
            <p:cNvSpPr txBox="1">
              <a:spLocks noChangeArrowheads="1"/>
            </p:cNvSpPr>
            <p:nvPr/>
          </p:nvSpPr>
          <p:spPr bwMode="auto">
            <a:xfrm>
              <a:off x="2976" y="240"/>
              <a:ext cx="1104" cy="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1"/>
                <a:t>……    </a:t>
              </a:r>
              <a:r>
                <a:rPr lang="zh-CN" altLang="en-US" sz="2400" b="1">
                  <a:ea typeface="幼圆" panose="02010509060101010101" pitchFamily="49" charset="-122"/>
                </a:rPr>
                <a:t>∞</a:t>
              </a:r>
              <a:endParaRPr lang="zh-CN" altLang="en-US" sz="2400" b="1"/>
            </a:p>
          </p:txBody>
        </p:sp>
        <p:sp>
          <p:nvSpPr>
            <p:cNvPr id="61453" name="Text Box 13"/>
            <p:cNvSpPr txBox="1">
              <a:spLocks noChangeArrowheads="1"/>
            </p:cNvSpPr>
            <p:nvPr/>
          </p:nvSpPr>
          <p:spPr bwMode="auto">
            <a:xfrm>
              <a:off x="1152" y="720"/>
              <a:ext cx="480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9</a:t>
              </a:r>
              <a:r>
                <a:rPr lang="zh-CN" altLang="en-US" sz="2400"/>
                <a:t>元</a:t>
              </a:r>
            </a:p>
          </p:txBody>
        </p:sp>
        <p:sp>
          <p:nvSpPr>
            <p:cNvPr id="61454" name="Text Box 14"/>
            <p:cNvSpPr txBox="1">
              <a:spLocks noChangeArrowheads="1"/>
            </p:cNvSpPr>
            <p:nvPr/>
          </p:nvSpPr>
          <p:spPr bwMode="auto">
            <a:xfrm>
              <a:off x="1440" y="96"/>
              <a:ext cx="1632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1.</a:t>
              </a:r>
              <a:r>
                <a:rPr lang="en-US" altLang="zh-CN" sz="2000"/>
                <a:t>8</a:t>
              </a:r>
              <a:r>
                <a:rPr lang="zh-CN" altLang="en-US" sz="2000"/>
                <a:t>     1.</a:t>
              </a:r>
              <a:r>
                <a:rPr lang="en-US" altLang="zh-CN" sz="2000"/>
                <a:t>8</a:t>
              </a:r>
              <a:r>
                <a:rPr lang="zh-CN" altLang="en-US" sz="2000"/>
                <a:t>    1.</a:t>
              </a:r>
              <a:r>
                <a:rPr lang="en-US" altLang="zh-CN" sz="2000"/>
                <a:t>8</a:t>
              </a:r>
              <a:r>
                <a:rPr lang="zh-CN" altLang="en-US" sz="2000"/>
                <a:t>     1.</a:t>
              </a:r>
              <a:r>
                <a:rPr lang="en-US" altLang="zh-CN" sz="2000"/>
                <a:t>8</a:t>
              </a:r>
              <a:endParaRPr lang="zh-CN" altLang="en-US" sz="2000"/>
            </a:p>
          </p:txBody>
        </p:sp>
        <p:sp>
          <p:nvSpPr>
            <p:cNvPr id="61455" name="Text Box 15"/>
            <p:cNvSpPr txBox="1">
              <a:spLocks noChangeArrowheads="1"/>
            </p:cNvSpPr>
            <p:nvPr/>
          </p:nvSpPr>
          <p:spPr bwMode="auto">
            <a:xfrm>
              <a:off x="960" y="505"/>
              <a:ext cx="2304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0      1     2       3       4       5</a:t>
              </a:r>
            </a:p>
          </p:txBody>
        </p:sp>
        <p:sp>
          <p:nvSpPr>
            <p:cNvPr id="61456" name="Text Box 16"/>
            <p:cNvSpPr txBox="1">
              <a:spLocks noChangeArrowheads="1"/>
            </p:cNvSpPr>
            <p:nvPr/>
          </p:nvSpPr>
          <p:spPr bwMode="auto">
            <a:xfrm>
              <a:off x="2976" y="432"/>
              <a:ext cx="1104" cy="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1"/>
                <a:t>……    </a:t>
              </a:r>
              <a:r>
                <a:rPr lang="zh-CN" altLang="en-US" sz="2400" b="1">
                  <a:ea typeface="幼圆" panose="02010509060101010101" pitchFamily="49" charset="-122"/>
                </a:rPr>
                <a:t>∞</a:t>
              </a:r>
              <a:endParaRPr lang="zh-CN" altLang="en-US" sz="2400" b="1"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11188" y="1066800"/>
            <a:ext cx="8380412" cy="5029200"/>
          </a:xfrm>
        </p:spPr>
        <p:txBody>
          <a:bodyPr/>
          <a:lstStyle/>
          <a:p>
            <a:pPr eaLnBrk="1" hangingPunct="1"/>
            <a:r>
              <a:rPr lang="zh-CN" altLang="en-US" sz="2800" b="1" smtClean="0">
                <a:latin typeface="黑体" panose="02010609060101010101" pitchFamily="49" charset="-122"/>
                <a:ea typeface="黑体" panose="02010609060101010101" pitchFamily="49" charset="-122"/>
              </a:rPr>
              <a:t>第二年</a:t>
            </a:r>
            <a:r>
              <a:rPr lang="zh-CN" altLang="en-US" sz="2800" b="1" smtClean="0">
                <a:latin typeface="幼圆" panose="02010509060101010101" pitchFamily="49" charset="-122"/>
                <a:ea typeface="幼圆" panose="02010509060101010101" pitchFamily="49" charset="-122"/>
              </a:rPr>
              <a:t>由于公司增长率为12%，而股利支付率不变，留存收益也以12%增长，则第二年末再留存  </a:t>
            </a:r>
            <a:r>
              <a:rPr lang="en-US" altLang="zh-CN" sz="2800" b="1" smtClean="0">
                <a:latin typeface="幼圆" panose="02010509060101010101" pitchFamily="49" charset="-122"/>
                <a:ea typeface="幼圆" panose="02010509060101010101" pitchFamily="49" charset="-122"/>
              </a:rPr>
              <a:t>9</a:t>
            </a:r>
            <a:r>
              <a:rPr lang="zh-CN" altLang="en-US" sz="2800" b="1" smtClean="0">
                <a:latin typeface="幼圆" panose="02010509060101010101" pitchFamily="49" charset="-122"/>
                <a:ea typeface="幼圆" panose="02010509060101010101" pitchFamily="49" charset="-122"/>
              </a:rPr>
              <a:t>（1+12%）=</a:t>
            </a:r>
            <a:r>
              <a:rPr lang="en-US" altLang="zh-CN" sz="2800" b="1" smtClean="0">
                <a:latin typeface="幼圆" panose="02010509060101010101" pitchFamily="49" charset="-122"/>
                <a:ea typeface="幼圆" panose="02010509060101010101" pitchFamily="49" charset="-122"/>
              </a:rPr>
              <a:t>10</a:t>
            </a:r>
            <a:r>
              <a:rPr lang="zh-CN" altLang="en-US" sz="2800" b="1" smtClean="0">
                <a:latin typeface="幼圆" panose="02010509060101010101" pitchFamily="49" charset="-122"/>
                <a:ea typeface="幼圆" panose="02010509060101010101" pitchFamily="49" charset="-122"/>
              </a:rPr>
              <a:t>.</a:t>
            </a:r>
            <a:r>
              <a:rPr lang="en-US" altLang="zh-CN" sz="2800" b="1" smtClean="0">
                <a:latin typeface="幼圆" panose="02010509060101010101" pitchFamily="49" charset="-122"/>
                <a:ea typeface="幼圆" panose="02010509060101010101" pitchFamily="49" charset="-122"/>
              </a:rPr>
              <a:t>08</a:t>
            </a:r>
            <a:r>
              <a:rPr lang="zh-CN" altLang="en-US" sz="2800" b="1" smtClean="0">
                <a:latin typeface="幼圆" panose="02010509060101010101" pitchFamily="49" charset="-122"/>
                <a:ea typeface="幼圆" panose="02010509060101010101" pitchFamily="49" charset="-122"/>
              </a:rPr>
              <a:t>元，它从第三年起每年又产生</a:t>
            </a:r>
            <a:r>
              <a:rPr lang="en-US" altLang="zh-CN" sz="2800" b="1" smtClean="0">
                <a:latin typeface="幼圆" panose="02010509060101010101" pitchFamily="49" charset="-122"/>
                <a:ea typeface="幼圆" panose="02010509060101010101" pitchFamily="49" charset="-122"/>
              </a:rPr>
              <a:t>10</a:t>
            </a:r>
            <a:r>
              <a:rPr lang="zh-CN" altLang="en-US" sz="2800" b="1" smtClean="0">
                <a:latin typeface="幼圆" panose="02010509060101010101" pitchFamily="49" charset="-122"/>
                <a:ea typeface="幼圆" panose="02010509060101010101" pitchFamily="49" charset="-122"/>
              </a:rPr>
              <a:t>.</a:t>
            </a:r>
            <a:r>
              <a:rPr lang="en-US" altLang="zh-CN" sz="2800" b="1" smtClean="0">
                <a:latin typeface="幼圆" panose="02010509060101010101" pitchFamily="49" charset="-122"/>
                <a:ea typeface="幼圆" panose="02010509060101010101" pitchFamily="49" charset="-122"/>
              </a:rPr>
              <a:t>08 </a:t>
            </a:r>
            <a:r>
              <a:rPr lang="zh-CN" altLang="en-US" sz="2800" b="1" smtClean="0">
                <a:latin typeface="幼圆" panose="02010509060101010101" pitchFamily="49" charset="-122"/>
                <a:cs typeface="Arial" panose="020B0604020202020204" pitchFamily="34" charset="0"/>
              </a:rPr>
              <a:t>×20%=</a:t>
            </a:r>
            <a:r>
              <a:rPr lang="en-US" altLang="zh-CN" sz="2800" b="1" smtClean="0">
                <a:latin typeface="幼圆" panose="02010509060101010101" pitchFamily="49" charset="-122"/>
                <a:cs typeface="Arial" panose="020B0604020202020204" pitchFamily="34" charset="0"/>
              </a:rPr>
              <a:t>2.016</a:t>
            </a:r>
            <a:r>
              <a:rPr lang="zh-CN" altLang="en-US" sz="2800" b="1" smtClean="0">
                <a:latin typeface="幼圆" panose="02010509060101010101" pitchFamily="49" charset="-122"/>
                <a:ea typeface="幼圆" panose="02010509060101010101" pitchFamily="49" charset="-122"/>
              </a:rPr>
              <a:t>元盈利。这</a:t>
            </a:r>
            <a:r>
              <a:rPr lang="en-US" altLang="zh-CN" sz="2800" b="1" smtClean="0">
                <a:latin typeface="幼圆" panose="02010509060101010101" pitchFamily="49" charset="-122"/>
                <a:ea typeface="幼圆" panose="02010509060101010101" pitchFamily="49" charset="-122"/>
              </a:rPr>
              <a:t>2.016</a:t>
            </a:r>
            <a:r>
              <a:rPr lang="zh-CN" altLang="en-US" sz="2800" b="1" smtClean="0">
                <a:latin typeface="幼圆" panose="02010509060101010101" pitchFamily="49" charset="-122"/>
                <a:ea typeface="幼圆" panose="02010509060101010101" pitchFamily="49" charset="-122"/>
              </a:rPr>
              <a:t>元也是一个永续年金。它在第二年末的净现值为:</a:t>
            </a:r>
          </a:p>
          <a:p>
            <a:pPr lvl="1" eaLnBrk="1" hangingPunct="1">
              <a:buFontTx/>
              <a:buNone/>
            </a:pPr>
            <a:r>
              <a:rPr lang="zh-CN" altLang="en-US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    -</a:t>
            </a:r>
            <a:r>
              <a:rPr lang="en-US" altLang="zh-CN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10</a:t>
            </a:r>
            <a:r>
              <a:rPr lang="zh-CN" altLang="en-US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.</a:t>
            </a:r>
            <a:r>
              <a:rPr lang="en-US" altLang="zh-CN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08 </a:t>
            </a:r>
            <a:r>
              <a:rPr lang="zh-CN" altLang="en-US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+ </a:t>
            </a:r>
            <a:r>
              <a:rPr lang="en-US" altLang="zh-CN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2.016</a:t>
            </a:r>
            <a:r>
              <a:rPr lang="zh-CN" altLang="en-US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/1</a:t>
            </a:r>
            <a:r>
              <a:rPr lang="en-US" altLang="zh-CN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5</a:t>
            </a:r>
            <a:r>
              <a:rPr lang="zh-CN" altLang="en-US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% = </a:t>
            </a:r>
            <a:r>
              <a:rPr lang="en-US" altLang="zh-CN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3.36 </a:t>
            </a:r>
            <a:r>
              <a:rPr lang="zh-CN" altLang="en-US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= </a:t>
            </a:r>
            <a:r>
              <a:rPr lang="en-US" altLang="zh-CN" sz="2400" b="1" smtClean="0"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en-US" sz="2400" b="1" smtClean="0">
                <a:latin typeface="幼圆" panose="02010509060101010101" pitchFamily="49" charset="-122"/>
                <a:cs typeface="Arial" panose="020B0604020202020204" pitchFamily="34" charset="0"/>
              </a:rPr>
              <a:t>×1.12</a:t>
            </a:r>
            <a:endParaRPr lang="zh-CN" altLang="en-US" sz="2400" smtClean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859713" cy="4800600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黑体" panose="02010609060101010101" pitchFamily="49" charset="-122"/>
                <a:ea typeface="黑体" panose="02010609060101010101" pitchFamily="49" charset="-122"/>
              </a:rPr>
              <a:t>第三年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留存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9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(1+12%)</a:t>
            </a:r>
            <a:r>
              <a:rPr lang="zh-CN" altLang="en-US" b="1" baseline="30000" smtClean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=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11.2896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，它从第四年起产生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2.25792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元的永续现金流，其在第三年末的净现值为</a:t>
            </a:r>
          </a:p>
          <a:p>
            <a:pPr lvl="1" eaLnBrk="1" hangingPunct="1">
              <a:buFontTx/>
              <a:buNone/>
            </a:pP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 -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11.2896 + 2.25792/15%=3.7632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元</a:t>
            </a:r>
          </a:p>
          <a:p>
            <a:pPr lvl="1" eaLnBrk="1" hangingPunct="1">
              <a:buFontTx/>
              <a:buNone/>
            </a:pP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  =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en-US" b="1" smtClean="0">
                <a:latin typeface="幼圆" panose="02010509060101010101" pitchFamily="49" charset="-122"/>
                <a:cs typeface="Arial" panose="020B0604020202020204" pitchFamily="34" charset="0"/>
              </a:rPr>
              <a:t>×1.12</a:t>
            </a:r>
            <a:r>
              <a:rPr lang="zh-CN" altLang="en-US" b="1" baseline="30000" smtClean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544513"/>
            <a:ext cx="8153400" cy="404812"/>
          </a:xfrm>
        </p:spPr>
        <p:txBody>
          <a:bodyPr/>
          <a:lstStyle/>
          <a:p>
            <a:pPr algn="l" eaLnBrk="1" hangingPunct="1"/>
            <a:r>
              <a:rPr lang="zh-CN" altLang="en-US" sz="2100" b="1" smtClean="0">
                <a:ea typeface="幼圆" panose="02010509060101010101" pitchFamily="49" charset="-122"/>
              </a:rPr>
              <a:t>以此类推，直到永远。于是得到增长机会现值的现金流：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2514600"/>
            <a:ext cx="6400800" cy="3810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smtClean="0">
                <a:ea typeface="幼圆" panose="02010509060101010101" pitchFamily="49" charset="-122"/>
              </a:rPr>
              <a:t>增长机会的现值为: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b="1" smtClean="0">
              <a:ea typeface="幼圆" panose="020105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b="1" smtClean="0">
              <a:ea typeface="幼圆" panose="020105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b="1" smtClean="0">
              <a:ea typeface="幼圆" panose="020105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b="1" smtClean="0">
              <a:ea typeface="幼圆" panose="020105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smtClean="0">
                <a:ea typeface="幼圆" panose="02010509060101010101" pitchFamily="49" charset="-122"/>
              </a:rPr>
              <a:t>于是：</a:t>
            </a:r>
          </a:p>
        </p:txBody>
      </p:sp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1773238" y="2971800"/>
          <a:ext cx="6003925" cy="175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62" name="Equation" r:id="rId3" imgW="2590800" imgH="838200" progId="Equation.DSMT4">
                  <p:embed/>
                </p:oleObj>
              </mc:Choice>
              <mc:Fallback>
                <p:oleObj name="Equation" r:id="rId3" imgW="2590800" imgH="838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3238" y="2971800"/>
                        <a:ext cx="6003925" cy="175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4517" name="Group 5"/>
          <p:cNvGrpSpPr>
            <a:grpSpLocks/>
          </p:cNvGrpSpPr>
          <p:nvPr/>
        </p:nvGrpSpPr>
        <p:grpSpPr bwMode="auto">
          <a:xfrm>
            <a:off x="1331913" y="1125538"/>
            <a:ext cx="6934200" cy="1477962"/>
            <a:chOff x="240" y="854"/>
            <a:chExt cx="4368" cy="887"/>
          </a:xfrm>
        </p:grpSpPr>
        <p:sp>
          <p:nvSpPr>
            <p:cNvPr id="64519" name="Text Box 6"/>
            <p:cNvSpPr txBox="1">
              <a:spLocks noChangeArrowheads="1"/>
            </p:cNvSpPr>
            <p:nvPr/>
          </p:nvSpPr>
          <p:spPr bwMode="auto">
            <a:xfrm>
              <a:off x="240" y="1296"/>
              <a:ext cx="3168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/>
                <a:t>  0                   1                        2                      3     </a:t>
              </a:r>
            </a:p>
          </p:txBody>
        </p:sp>
        <p:grpSp>
          <p:nvGrpSpPr>
            <p:cNvPr id="64520" name="Group 7"/>
            <p:cNvGrpSpPr>
              <a:grpSpLocks/>
            </p:cNvGrpSpPr>
            <p:nvPr/>
          </p:nvGrpSpPr>
          <p:grpSpPr bwMode="auto">
            <a:xfrm>
              <a:off x="384" y="854"/>
              <a:ext cx="4224" cy="887"/>
              <a:chOff x="384" y="1142"/>
              <a:chExt cx="4224" cy="887"/>
            </a:xfrm>
          </p:grpSpPr>
          <p:sp>
            <p:nvSpPr>
              <p:cNvPr id="64521" name="Line 8"/>
              <p:cNvSpPr>
                <a:spLocks noChangeShapeType="1"/>
              </p:cNvSpPr>
              <p:nvPr/>
            </p:nvSpPr>
            <p:spPr bwMode="auto">
              <a:xfrm>
                <a:off x="384" y="1632"/>
                <a:ext cx="42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4522" name="Line 9"/>
              <p:cNvSpPr>
                <a:spLocks noChangeShapeType="1"/>
              </p:cNvSpPr>
              <p:nvPr/>
            </p:nvSpPr>
            <p:spPr bwMode="auto">
              <a:xfrm>
                <a:off x="384" y="1587"/>
                <a:ext cx="0" cy="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4523" name="Text Box 10"/>
              <p:cNvSpPr txBox="1">
                <a:spLocks noChangeArrowheads="1"/>
              </p:cNvSpPr>
              <p:nvPr/>
            </p:nvSpPr>
            <p:spPr bwMode="auto">
              <a:xfrm>
                <a:off x="4128" y="1296"/>
                <a:ext cx="432" cy="4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w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95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 sz="2400" b="1"/>
                  <a:t>……</a:t>
                </a:r>
              </a:p>
            </p:txBody>
          </p:sp>
          <p:sp>
            <p:nvSpPr>
              <p:cNvPr id="64524" name="Text Box 11"/>
              <p:cNvSpPr txBox="1">
                <a:spLocks noChangeArrowheads="1"/>
              </p:cNvSpPr>
              <p:nvPr/>
            </p:nvSpPr>
            <p:spPr bwMode="auto">
              <a:xfrm>
                <a:off x="1056" y="1344"/>
                <a:ext cx="432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w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95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 sz="2000"/>
                  <a:t> </a:t>
                </a:r>
                <a:r>
                  <a:rPr lang="en-US" altLang="zh-CN" sz="2000"/>
                  <a:t>3</a:t>
                </a:r>
                <a:endParaRPr lang="zh-CN" altLang="en-US" sz="2000" b="1"/>
              </a:p>
            </p:txBody>
          </p:sp>
          <p:sp>
            <p:nvSpPr>
              <p:cNvPr id="64525" name="Text Box 12"/>
              <p:cNvSpPr txBox="1">
                <a:spLocks noChangeArrowheads="1"/>
              </p:cNvSpPr>
              <p:nvPr/>
            </p:nvSpPr>
            <p:spPr bwMode="auto">
              <a:xfrm>
                <a:off x="4128" y="1536"/>
                <a:ext cx="480" cy="4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w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95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 sz="2400" b="1"/>
                  <a:t>…… </a:t>
                </a:r>
              </a:p>
            </p:txBody>
          </p:sp>
          <p:sp>
            <p:nvSpPr>
              <p:cNvPr id="64526" name="Line 13"/>
              <p:cNvSpPr>
                <a:spLocks noChangeShapeType="1"/>
              </p:cNvSpPr>
              <p:nvPr/>
            </p:nvSpPr>
            <p:spPr bwMode="auto">
              <a:xfrm>
                <a:off x="1248" y="1584"/>
                <a:ext cx="0" cy="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4527" name="Line 14"/>
              <p:cNvSpPr>
                <a:spLocks noChangeShapeType="1"/>
              </p:cNvSpPr>
              <p:nvPr/>
            </p:nvSpPr>
            <p:spPr bwMode="auto">
              <a:xfrm>
                <a:off x="2304" y="1584"/>
                <a:ext cx="0" cy="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4528" name="Line 15"/>
              <p:cNvSpPr>
                <a:spLocks noChangeShapeType="1"/>
              </p:cNvSpPr>
              <p:nvPr/>
            </p:nvSpPr>
            <p:spPr bwMode="auto">
              <a:xfrm>
                <a:off x="3264" y="1584"/>
                <a:ext cx="0" cy="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4529" name="Text Box 16"/>
              <p:cNvSpPr txBox="1">
                <a:spLocks noChangeArrowheads="1"/>
              </p:cNvSpPr>
              <p:nvPr/>
            </p:nvSpPr>
            <p:spPr bwMode="auto">
              <a:xfrm>
                <a:off x="1488" y="1152"/>
                <a:ext cx="2976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w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95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4530" name="Rectangle 17"/>
              <p:cNvSpPr>
                <a:spLocks noChangeArrowheads="1"/>
              </p:cNvSpPr>
              <p:nvPr/>
            </p:nvSpPr>
            <p:spPr bwMode="auto">
              <a:xfrm>
                <a:off x="1968" y="1142"/>
                <a:ext cx="769" cy="4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w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95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1"/>
                  <a:t>3</a:t>
                </a:r>
                <a:r>
                  <a:rPr lang="zh-CN" altLang="en-US" sz="1800" b="1"/>
                  <a:t> </a:t>
                </a:r>
                <a:r>
                  <a:rPr lang="zh-CN" altLang="en-US" sz="1800" b="1">
                    <a:latin typeface="幼圆" panose="02010509060101010101" pitchFamily="49" charset="-122"/>
                    <a:cs typeface="Arial" panose="020B0604020202020204" pitchFamily="34" charset="0"/>
                  </a:rPr>
                  <a:t>×</a:t>
                </a:r>
                <a:r>
                  <a:rPr lang="zh-CN" altLang="en-US" sz="2000" b="1"/>
                  <a:t> </a:t>
                </a:r>
                <a:r>
                  <a:rPr lang="zh-CN" altLang="en-US" sz="1800" b="1"/>
                  <a:t>1.12=</a:t>
                </a:r>
                <a:r>
                  <a:rPr lang="en-US" altLang="zh-CN" sz="1800" b="1"/>
                  <a:t>3.36</a:t>
                </a:r>
                <a:endParaRPr lang="zh-CN" altLang="en-US" sz="1800" b="1"/>
              </a:p>
            </p:txBody>
          </p:sp>
          <p:sp>
            <p:nvSpPr>
              <p:cNvPr id="64531" name="Rectangle 18"/>
              <p:cNvSpPr>
                <a:spLocks noChangeArrowheads="1"/>
              </p:cNvSpPr>
              <p:nvPr/>
            </p:nvSpPr>
            <p:spPr bwMode="auto">
              <a:xfrm>
                <a:off x="2882" y="1142"/>
                <a:ext cx="818" cy="4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w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95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1"/>
                  <a:t>3</a:t>
                </a:r>
                <a:r>
                  <a:rPr lang="zh-CN" altLang="en-US" sz="2000" b="1"/>
                  <a:t> </a:t>
                </a:r>
                <a:r>
                  <a:rPr lang="zh-CN" altLang="en-US" sz="2000" b="1">
                    <a:latin typeface="幼圆" panose="02010509060101010101" pitchFamily="49" charset="-122"/>
                    <a:cs typeface="Arial" panose="020B0604020202020204" pitchFamily="34" charset="0"/>
                  </a:rPr>
                  <a:t>× </a:t>
                </a:r>
                <a:r>
                  <a:rPr lang="zh-CN" altLang="en-US" sz="2000" b="1"/>
                  <a:t>1.12</a:t>
                </a:r>
                <a:r>
                  <a:rPr lang="zh-CN" altLang="en-US" sz="2000" b="1" baseline="30000"/>
                  <a:t>2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b="1"/>
                  <a:t>=</a:t>
                </a:r>
                <a:r>
                  <a:rPr lang="en-US" altLang="zh-CN" sz="2000" b="1"/>
                  <a:t>3.7632</a:t>
                </a:r>
                <a:r>
                  <a:rPr lang="zh-CN" altLang="en-US" sz="2000" b="1"/>
                  <a:t> </a:t>
                </a:r>
              </a:p>
            </p:txBody>
          </p:sp>
        </p:grpSp>
      </p:grpSp>
      <p:graphicFrame>
        <p:nvGraphicFramePr>
          <p:cNvPr id="64518" name="Object 19"/>
          <p:cNvGraphicFramePr>
            <a:graphicFrameLocks noChangeAspect="1"/>
          </p:cNvGraphicFramePr>
          <p:nvPr/>
        </p:nvGraphicFramePr>
        <p:xfrm>
          <a:off x="2595563" y="4981575"/>
          <a:ext cx="603885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63" name="Equation" r:id="rId5" imgW="2387600" imgH="393700" progId="Equation.DSMT4">
                  <p:embed/>
                </p:oleObj>
              </mc:Choice>
              <mc:Fallback>
                <p:oleObj name="Equation" r:id="rId5" imgW="2387600" imgH="3937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63" y="4981575"/>
                        <a:ext cx="603885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小结</a:t>
            </a:r>
          </a:p>
        </p:txBody>
      </p:sp>
      <p:sp>
        <p:nvSpPr>
          <p:cNvPr id="655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500" smtClean="0"/>
              <a:t>不变增长公司的股票价值</a:t>
            </a:r>
            <a:r>
              <a:rPr lang="en-US" altLang="zh-CN" sz="2500" smtClean="0"/>
              <a:t>200</a:t>
            </a:r>
            <a:r>
              <a:rPr lang="zh-CN" altLang="en-US" sz="2500" smtClean="0"/>
              <a:t>元，无增长公司的股票价值</a:t>
            </a:r>
            <a:r>
              <a:rPr lang="en-US" altLang="zh-CN" sz="2500" smtClean="0"/>
              <a:t>100</a:t>
            </a:r>
            <a:r>
              <a:rPr lang="zh-CN" altLang="en-US" sz="2500" smtClean="0"/>
              <a:t>元，前者比后者高</a:t>
            </a:r>
            <a:r>
              <a:rPr lang="en-US" altLang="zh-CN" sz="2500" smtClean="0"/>
              <a:t>100</a:t>
            </a:r>
            <a:r>
              <a:rPr lang="zh-CN" altLang="en-US" sz="2500" smtClean="0"/>
              <a:t>元</a:t>
            </a:r>
            <a:endParaRPr lang="en-US" altLang="zh-CN" sz="2500" smtClean="0"/>
          </a:p>
          <a:p>
            <a:pPr eaLnBrk="1" hangingPunct="1"/>
            <a:endParaRPr lang="en-US" altLang="zh-CN" sz="2500" smtClean="0"/>
          </a:p>
          <a:p>
            <a:pPr eaLnBrk="1" hangingPunct="1"/>
            <a:r>
              <a:rPr lang="zh-CN" altLang="en-US" sz="2500" smtClean="0"/>
              <a:t>为什么更高？</a:t>
            </a:r>
            <a:endParaRPr lang="en-US" altLang="zh-CN" sz="2500" smtClean="0"/>
          </a:p>
          <a:p>
            <a:pPr lvl="1" eaLnBrk="1" hangingPunct="1"/>
            <a:r>
              <a:rPr lang="zh-CN" altLang="en-US" sz="2500" smtClean="0"/>
              <a:t>关键在于不变增长公司的留存收益投资收益率为</a:t>
            </a:r>
            <a:r>
              <a:rPr lang="en-US" altLang="zh-CN" sz="2500" smtClean="0"/>
              <a:t>20%</a:t>
            </a:r>
            <a:r>
              <a:rPr lang="zh-CN" altLang="en-US" sz="2500" smtClean="0"/>
              <a:t>，高于资本成本</a:t>
            </a:r>
            <a:r>
              <a:rPr lang="en-US" altLang="zh-CN" sz="2500" smtClean="0"/>
              <a:t>15%</a:t>
            </a:r>
          </a:p>
          <a:p>
            <a:pPr lvl="1" eaLnBrk="1" hangingPunct="1"/>
            <a:endParaRPr lang="en-US" altLang="zh-CN" sz="2500" smtClean="0"/>
          </a:p>
          <a:p>
            <a:pPr eaLnBrk="1" hangingPunct="1"/>
            <a:r>
              <a:rPr lang="zh-CN" altLang="en-US" sz="2500" smtClean="0"/>
              <a:t>因此，当留存收益的投资收益率高于资本成本时，把利润留存于公司用于扩大再生产是能够提高股东财富的。</a:t>
            </a:r>
            <a:endParaRPr lang="en-US" altLang="zh-CN" sz="2500" smtClean="0"/>
          </a:p>
          <a:p>
            <a:pPr lvl="2" eaLnBrk="1" hangingPunct="1"/>
            <a:r>
              <a:rPr lang="zh-CN" altLang="en-US" sz="1700" smtClean="0"/>
              <a:t>为什么巴菲特控制的伯克希尔从未分红？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留存收益的投资收益率等于资本成本</a:t>
            </a:r>
          </a:p>
        </p:txBody>
      </p:sp>
      <p:sp>
        <p:nvSpPr>
          <p:cNvPr id="665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例：某公司预计第一年底每股盈利(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EPS</a:t>
            </a:r>
            <a:r>
              <a:rPr lang="en-US" altLang="zh-CN" b="1" baseline="-25000" smtClean="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)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为1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5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元,公司股利政策是保持股利支付率40%不变，权益的机会成本(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k)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为1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5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%，</a:t>
            </a:r>
            <a:r>
              <a:rPr lang="zh-CN" altLang="en-US" b="1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留存收益再投资的回报率为</a:t>
            </a:r>
            <a:r>
              <a:rPr lang="en-US" altLang="zh-CN" b="1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15</a:t>
            </a:r>
            <a:r>
              <a:rPr lang="zh-CN" altLang="en-US" b="1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%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，试估计该股票的价值。</a:t>
            </a:r>
          </a:p>
          <a:p>
            <a:pPr lvl="1" eaLnBrk="1" hangingPunct="1"/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该公司股利增长率为</a:t>
            </a:r>
          </a:p>
          <a:p>
            <a:pPr lvl="1" eaLnBrk="1" hangingPunct="1">
              <a:buFontTx/>
              <a:buNone/>
            </a:pP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  g=(1-40%)</a:t>
            </a:r>
            <a:r>
              <a:rPr lang="en-US" altLang="zh-CN" b="1" smtClean="0">
                <a:latin typeface="幼圆" panose="02010509060101010101" pitchFamily="49" charset="-122"/>
                <a:cs typeface="Arial" panose="020B0604020202020204" pitchFamily="34" charset="0"/>
              </a:rPr>
              <a:t>×15%=9%</a:t>
            </a:r>
          </a:p>
          <a:p>
            <a:pPr lvl="1" eaLnBrk="1" hangingPunct="1">
              <a:buFontTx/>
              <a:buNone/>
            </a:pPr>
            <a:r>
              <a:rPr lang="en-US" altLang="zh-CN" b="1" smtClean="0">
                <a:latin typeface="幼圆" panose="02010509060101010101" pitchFamily="49" charset="-122"/>
                <a:cs typeface="Arial" panose="020B0604020202020204" pitchFamily="34" charset="0"/>
              </a:rPr>
              <a:t> -</a:t>
            </a:r>
            <a:r>
              <a:rPr lang="zh-CN" altLang="en-US" b="1" smtClean="0">
                <a:latin typeface="幼圆" panose="02010509060101010101" pitchFamily="49" charset="-122"/>
                <a:cs typeface="Arial" panose="020B0604020202020204" pitchFamily="34" charset="0"/>
              </a:rPr>
              <a:t>股票价值 </a:t>
            </a:r>
            <a:r>
              <a:rPr lang="en-US" altLang="zh-CN" b="1" smtClean="0">
                <a:latin typeface="幼圆" panose="02010509060101010101" pitchFamily="49" charset="-122"/>
                <a:cs typeface="Arial" panose="020B0604020202020204" pitchFamily="34" charset="0"/>
              </a:rPr>
              <a:t>P=6/(0.15 – 0.09) = 100</a:t>
            </a:r>
          </a:p>
          <a:p>
            <a:pPr lvl="1" eaLnBrk="1" hangingPunct="1">
              <a:buFontTx/>
              <a:buNone/>
            </a:pPr>
            <a:endParaRPr lang="en-US" altLang="zh-CN" b="1" smtClean="0">
              <a:latin typeface="幼圆" panose="02010509060101010101" pitchFamily="49" charset="-122"/>
              <a:cs typeface="Arial" panose="020B0604020202020204" pitchFamily="34" charset="0"/>
            </a:endParaRPr>
          </a:p>
          <a:p>
            <a:pPr lvl="1" eaLnBrk="1" hangingPunct="1">
              <a:buFontTx/>
              <a:buNone/>
            </a:pPr>
            <a:r>
              <a:rPr lang="zh-CN" altLang="en-US" b="1" smtClean="0">
                <a:latin typeface="幼圆" panose="02010509060101010101" pitchFamily="49" charset="-122"/>
                <a:cs typeface="Arial" panose="020B0604020202020204" pitchFamily="34" charset="0"/>
              </a:rPr>
              <a:t>显然，类似于不增长公司的股票价值</a:t>
            </a:r>
            <a:endParaRPr lang="en-US" altLang="zh-CN" b="1" smtClean="0">
              <a:latin typeface="幼圆" panose="02010509060101010101" pitchFamily="49" charset="-122"/>
              <a:cs typeface="Arial" panose="020B0604020202020204" pitchFamily="34" charset="0"/>
            </a:endParaRPr>
          </a:p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留存收益的投资收益率低于资本成本</a:t>
            </a:r>
          </a:p>
        </p:txBody>
      </p:sp>
      <p:sp>
        <p:nvSpPr>
          <p:cNvPr id="675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例：某公司预计第一年底每股盈利(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EPS</a:t>
            </a:r>
            <a:r>
              <a:rPr lang="en-US" altLang="zh-CN" b="1" baseline="-25000" smtClean="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)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为1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5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元,公司股利政策是保持股利支付率40%不变，权益的机会成本(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k)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为1</a:t>
            </a: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5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%，</a:t>
            </a:r>
            <a:r>
              <a:rPr lang="zh-CN" altLang="en-US" b="1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留存收益再投资的回报率为</a:t>
            </a:r>
            <a:r>
              <a:rPr lang="en-US" altLang="zh-CN" b="1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10</a:t>
            </a:r>
            <a:r>
              <a:rPr lang="zh-CN" altLang="en-US" b="1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%</a:t>
            </a:r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，试估计该股票的价值。</a:t>
            </a:r>
          </a:p>
          <a:p>
            <a:pPr lvl="1" eaLnBrk="1" hangingPunct="1"/>
            <a:r>
              <a:rPr lang="zh-CN" altLang="en-US" b="1" smtClean="0">
                <a:latin typeface="幼圆" panose="02010509060101010101" pitchFamily="49" charset="-122"/>
                <a:ea typeface="幼圆" panose="02010509060101010101" pitchFamily="49" charset="-122"/>
              </a:rPr>
              <a:t>该公司股利增长率为</a:t>
            </a:r>
          </a:p>
          <a:p>
            <a:pPr lvl="1" eaLnBrk="1" hangingPunct="1">
              <a:buFontTx/>
              <a:buNone/>
            </a:pPr>
            <a:r>
              <a:rPr lang="en-US" altLang="zh-CN" b="1" smtClean="0">
                <a:latin typeface="幼圆" panose="02010509060101010101" pitchFamily="49" charset="-122"/>
                <a:ea typeface="幼圆" panose="02010509060101010101" pitchFamily="49" charset="-122"/>
              </a:rPr>
              <a:t>  g=(1-40%)</a:t>
            </a:r>
            <a:r>
              <a:rPr lang="en-US" altLang="zh-CN" b="1" smtClean="0">
                <a:latin typeface="幼圆" panose="02010509060101010101" pitchFamily="49" charset="-122"/>
                <a:cs typeface="Arial" panose="020B0604020202020204" pitchFamily="34" charset="0"/>
              </a:rPr>
              <a:t>×10%=6%</a:t>
            </a:r>
          </a:p>
          <a:p>
            <a:pPr lvl="1" eaLnBrk="1" hangingPunct="1">
              <a:buFontTx/>
              <a:buNone/>
            </a:pPr>
            <a:r>
              <a:rPr lang="en-US" altLang="zh-CN" b="1" smtClean="0">
                <a:latin typeface="幼圆" panose="02010509060101010101" pitchFamily="49" charset="-122"/>
                <a:cs typeface="Arial" panose="020B0604020202020204" pitchFamily="34" charset="0"/>
              </a:rPr>
              <a:t> -</a:t>
            </a:r>
            <a:r>
              <a:rPr lang="zh-CN" altLang="en-US" b="1" smtClean="0">
                <a:latin typeface="幼圆" panose="02010509060101010101" pitchFamily="49" charset="-122"/>
                <a:cs typeface="Arial" panose="020B0604020202020204" pitchFamily="34" charset="0"/>
              </a:rPr>
              <a:t>股票价值 </a:t>
            </a:r>
            <a:r>
              <a:rPr lang="en-US" altLang="zh-CN" b="1" smtClean="0">
                <a:latin typeface="幼圆" panose="02010509060101010101" pitchFamily="49" charset="-122"/>
                <a:cs typeface="Arial" panose="020B0604020202020204" pitchFamily="34" charset="0"/>
              </a:rPr>
              <a:t>P=6/(0.15 – 0.06) = </a:t>
            </a:r>
            <a:r>
              <a:rPr lang="en-US" altLang="zh-CN" b="1" smtClean="0">
                <a:solidFill>
                  <a:srgbClr val="FF0000"/>
                </a:solidFill>
                <a:latin typeface="幼圆" panose="02010509060101010101" pitchFamily="49" charset="-122"/>
                <a:cs typeface="Arial" panose="020B0604020202020204" pitchFamily="34" charset="0"/>
              </a:rPr>
              <a:t>66.67</a:t>
            </a:r>
          </a:p>
          <a:p>
            <a:pPr lvl="1" eaLnBrk="1" hangingPunct="1">
              <a:buFontTx/>
              <a:buNone/>
            </a:pPr>
            <a:endParaRPr lang="en-US" altLang="zh-CN" b="1" smtClean="0">
              <a:latin typeface="幼圆" panose="02010509060101010101" pitchFamily="49" charset="-122"/>
              <a:cs typeface="Arial" panose="020B0604020202020204" pitchFamily="34" charset="0"/>
            </a:endParaRPr>
          </a:p>
          <a:p>
            <a:pPr lvl="1" eaLnBrk="1" hangingPunct="1">
              <a:buFontTx/>
              <a:buNone/>
            </a:pPr>
            <a:r>
              <a:rPr lang="zh-CN" altLang="en-US" b="1" smtClean="0">
                <a:latin typeface="幼圆" panose="02010509060101010101" pitchFamily="49" charset="-122"/>
                <a:cs typeface="Arial" panose="020B0604020202020204" pitchFamily="34" charset="0"/>
              </a:rPr>
              <a:t>显然，比不增长公司的股票价值低 </a:t>
            </a:r>
            <a:r>
              <a:rPr lang="en-US" altLang="zh-CN" b="1" smtClean="0">
                <a:latin typeface="幼圆" panose="02010509060101010101" pitchFamily="49" charset="-122"/>
                <a:cs typeface="Arial" panose="020B0604020202020204" pitchFamily="34" charset="0"/>
              </a:rPr>
              <a:t>33.33</a:t>
            </a:r>
            <a:r>
              <a:rPr lang="zh-CN" altLang="en-US" b="1" smtClean="0">
                <a:latin typeface="幼圆" panose="02010509060101010101" pitchFamily="49" charset="-122"/>
                <a:cs typeface="Arial" panose="020B0604020202020204" pitchFamily="34" charset="0"/>
              </a:rPr>
              <a:t>元</a:t>
            </a:r>
            <a:endParaRPr lang="en-US" altLang="zh-CN" b="1" smtClean="0">
              <a:latin typeface="幼圆" panose="02010509060101010101" pitchFamily="49" charset="-122"/>
              <a:cs typeface="Arial" panose="020B0604020202020204" pitchFamily="34" charset="0"/>
            </a:endParaRPr>
          </a:p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我们可以仿照前面的分析，计算每年的留存收益再投资的</a:t>
            </a:r>
            <a:r>
              <a:rPr lang="en-US" altLang="zh-CN" dirty="0" smtClean="0"/>
              <a:t>NPV</a:t>
            </a:r>
            <a:r>
              <a:rPr lang="zh-CN" altLang="en-US" dirty="0" smtClean="0"/>
              <a:t>，很容易知道，由于投资收益率</a:t>
            </a:r>
            <a:r>
              <a:rPr lang="en-US" altLang="zh-CN" dirty="0" smtClean="0"/>
              <a:t>10%</a:t>
            </a:r>
            <a:r>
              <a:rPr lang="zh-CN" altLang="en-US" dirty="0" smtClean="0"/>
              <a:t>低于资本成本</a:t>
            </a:r>
            <a:r>
              <a:rPr lang="en-US" altLang="zh-CN" dirty="0" smtClean="0"/>
              <a:t>15%</a:t>
            </a:r>
            <a:r>
              <a:rPr lang="zh-CN" altLang="en-US" dirty="0" smtClean="0"/>
              <a:t>，每年的留存收益再投资创造的</a:t>
            </a:r>
            <a:r>
              <a:rPr lang="en-US" altLang="zh-CN" dirty="0" smtClean="0"/>
              <a:t>NPV&lt;0</a:t>
            </a:r>
            <a:r>
              <a:rPr lang="zh-CN" altLang="en-US" dirty="0" smtClean="0"/>
              <a:t>。把这一系列</a:t>
            </a:r>
            <a:r>
              <a:rPr lang="en-US" altLang="zh-CN" dirty="0" smtClean="0"/>
              <a:t>NPV</a:t>
            </a:r>
            <a:r>
              <a:rPr lang="zh-CN" altLang="en-US" dirty="0" smtClean="0"/>
              <a:t>加总，结果为 </a:t>
            </a:r>
            <a:r>
              <a:rPr lang="en-US" altLang="zh-CN" dirty="0" smtClean="0"/>
              <a:t>-33.33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500" b="1" dirty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增长型股票价值=无增长股票价值+增长机会价值</a:t>
            </a:r>
            <a:endParaRPr lang="en-US" altLang="zh-CN" sz="2500" b="1" dirty="0" smtClean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 66.67             = 100               - 33.33         </a:t>
            </a:r>
          </a:p>
          <a:p>
            <a:pPr eaLnBrk="1" hangingPunct="1">
              <a:defRPr/>
            </a:pPr>
            <a:endParaRPr lang="zh-CN" altLang="en-US" dirty="0" smtClean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7042150" y="6243638"/>
            <a:ext cx="1905000" cy="457200"/>
          </a:xfrm>
        </p:spPr>
        <p:txBody>
          <a:bodyPr/>
          <a:lstStyle/>
          <a:p>
            <a:pPr>
              <a:defRPr/>
            </a:pPr>
            <a:fld id="{0FD92163-A4D7-4DAC-B8B3-F02AC75592AF}" type="slidenum">
              <a:rPr lang="zh-CN" altLang="en-US" smtClean="0"/>
              <a:pPr>
                <a:defRPr/>
              </a:pPr>
              <a:t>53</a:t>
            </a:fld>
            <a:endParaRPr lang="en-US" altLang="zh-CN" smtClean="0"/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sz="3000" smtClean="0"/>
              <a:t>总结：留存收益再投资回报率高于资本成本</a:t>
            </a:r>
            <a:endParaRPr lang="en-US" altLang="zh-CN" sz="3000" smtClean="0"/>
          </a:p>
        </p:txBody>
      </p:sp>
      <p:graphicFrame>
        <p:nvGraphicFramePr>
          <p:cNvPr id="69636" name="Object 3"/>
          <p:cNvGraphicFramePr>
            <a:graphicFrameLocks/>
          </p:cNvGraphicFramePr>
          <p:nvPr/>
        </p:nvGraphicFramePr>
        <p:xfrm>
          <a:off x="1130300" y="1974850"/>
          <a:ext cx="66040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1" name="Equation" r:id="rId4" imgW="2565400" imgH="393700" progId="Equation.DSMT4">
                  <p:embed/>
                </p:oleObj>
              </mc:Choice>
              <mc:Fallback>
                <p:oleObj name="Equation" r:id="rId4" imgW="2565400" imgH="39370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300" y="1974850"/>
                        <a:ext cx="66040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637" name="Group 6"/>
          <p:cNvGrpSpPr>
            <a:grpSpLocks/>
          </p:cNvGrpSpPr>
          <p:nvPr/>
        </p:nvGrpSpPr>
        <p:grpSpPr bwMode="auto">
          <a:xfrm>
            <a:off x="3471863" y="3143250"/>
            <a:ext cx="2854325" cy="1658938"/>
            <a:chOff x="2187" y="1980"/>
            <a:chExt cx="1798" cy="1045"/>
          </a:xfrm>
        </p:grpSpPr>
        <p:sp>
          <p:nvSpPr>
            <p:cNvPr id="69644" name="Freeform 4"/>
            <p:cNvSpPr>
              <a:spLocks/>
            </p:cNvSpPr>
            <p:nvPr/>
          </p:nvSpPr>
          <p:spPr bwMode="auto">
            <a:xfrm>
              <a:off x="2187" y="1980"/>
              <a:ext cx="1798" cy="1045"/>
            </a:xfrm>
            <a:custGeom>
              <a:avLst/>
              <a:gdLst>
                <a:gd name="T0" fmla="*/ 21 w 1798"/>
                <a:gd name="T1" fmla="*/ 564 h 1045"/>
                <a:gd name="T2" fmla="*/ 21 w 1798"/>
                <a:gd name="T3" fmla="*/ 644 h 1045"/>
                <a:gd name="T4" fmla="*/ 21 w 1798"/>
                <a:gd name="T5" fmla="*/ 644 h 1045"/>
                <a:gd name="T6" fmla="*/ 21 w 1798"/>
                <a:gd name="T7" fmla="*/ 764 h 1045"/>
                <a:gd name="T8" fmla="*/ 21 w 1798"/>
                <a:gd name="T9" fmla="*/ 1044 h 1045"/>
                <a:gd name="T10" fmla="*/ 317 w 1798"/>
                <a:gd name="T11" fmla="*/ 1044 h 1045"/>
                <a:gd name="T12" fmla="*/ 317 w 1798"/>
                <a:gd name="T13" fmla="*/ 1044 h 1045"/>
                <a:gd name="T14" fmla="*/ 761 w 1798"/>
                <a:gd name="T15" fmla="*/ 1044 h 1045"/>
                <a:gd name="T16" fmla="*/ 1797 w 1798"/>
                <a:gd name="T17" fmla="*/ 1044 h 1045"/>
                <a:gd name="T18" fmla="*/ 1797 w 1798"/>
                <a:gd name="T19" fmla="*/ 764 h 1045"/>
                <a:gd name="T20" fmla="*/ 1797 w 1798"/>
                <a:gd name="T21" fmla="*/ 644 h 1045"/>
                <a:gd name="T22" fmla="*/ 1797 w 1798"/>
                <a:gd name="T23" fmla="*/ 644 h 1045"/>
                <a:gd name="T24" fmla="*/ 1797 w 1798"/>
                <a:gd name="T25" fmla="*/ 564 h 1045"/>
                <a:gd name="T26" fmla="*/ 761 w 1798"/>
                <a:gd name="T27" fmla="*/ 564 h 1045"/>
                <a:gd name="T28" fmla="*/ 0 w 1798"/>
                <a:gd name="T29" fmla="*/ 0 h 1045"/>
                <a:gd name="T30" fmla="*/ 317 w 1798"/>
                <a:gd name="T31" fmla="*/ 564 h 1045"/>
                <a:gd name="T32" fmla="*/ 21 w 1798"/>
                <a:gd name="T33" fmla="*/ 564 h 104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798" h="1045">
                  <a:moveTo>
                    <a:pt x="21" y="564"/>
                  </a:moveTo>
                  <a:lnTo>
                    <a:pt x="21" y="644"/>
                  </a:lnTo>
                  <a:lnTo>
                    <a:pt x="21" y="764"/>
                  </a:lnTo>
                  <a:lnTo>
                    <a:pt x="21" y="1044"/>
                  </a:lnTo>
                  <a:lnTo>
                    <a:pt x="317" y="1044"/>
                  </a:lnTo>
                  <a:lnTo>
                    <a:pt x="761" y="1044"/>
                  </a:lnTo>
                  <a:lnTo>
                    <a:pt x="1797" y="1044"/>
                  </a:lnTo>
                  <a:lnTo>
                    <a:pt x="1797" y="764"/>
                  </a:lnTo>
                  <a:lnTo>
                    <a:pt x="1797" y="644"/>
                  </a:lnTo>
                  <a:lnTo>
                    <a:pt x="1797" y="564"/>
                  </a:lnTo>
                  <a:lnTo>
                    <a:pt x="761" y="564"/>
                  </a:lnTo>
                  <a:lnTo>
                    <a:pt x="0" y="0"/>
                  </a:lnTo>
                  <a:lnTo>
                    <a:pt x="317" y="564"/>
                  </a:lnTo>
                  <a:lnTo>
                    <a:pt x="21" y="564"/>
                  </a:lnTo>
                </a:path>
              </a:pathLst>
            </a:custGeom>
            <a:solidFill>
              <a:srgbClr val="FFFFFF">
                <a:alpha val="50195"/>
              </a:srgbClr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5" name="Rectangle 5"/>
            <p:cNvSpPr>
              <a:spLocks noChangeArrowheads="1"/>
            </p:cNvSpPr>
            <p:nvPr/>
          </p:nvSpPr>
          <p:spPr bwMode="auto">
            <a:xfrm>
              <a:off x="2269" y="2576"/>
              <a:ext cx="1654" cy="416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zh-CN" altLang="en-US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盈余保留率</a:t>
              </a:r>
            </a:p>
          </p:txBody>
        </p:sp>
      </p:grpSp>
      <p:grpSp>
        <p:nvGrpSpPr>
          <p:cNvPr id="69638" name="Group 9"/>
          <p:cNvGrpSpPr>
            <a:grpSpLocks/>
          </p:cNvGrpSpPr>
          <p:nvPr/>
        </p:nvGrpSpPr>
        <p:grpSpPr bwMode="auto">
          <a:xfrm>
            <a:off x="4600575" y="3121025"/>
            <a:ext cx="4316413" cy="1681163"/>
            <a:chOff x="2898" y="1966"/>
            <a:chExt cx="2719" cy="1059"/>
          </a:xfrm>
        </p:grpSpPr>
        <p:sp>
          <p:nvSpPr>
            <p:cNvPr id="69642" name="Freeform 7"/>
            <p:cNvSpPr>
              <a:spLocks/>
            </p:cNvSpPr>
            <p:nvPr/>
          </p:nvSpPr>
          <p:spPr bwMode="auto">
            <a:xfrm>
              <a:off x="2898" y="1966"/>
              <a:ext cx="2719" cy="1059"/>
            </a:xfrm>
            <a:custGeom>
              <a:avLst/>
              <a:gdLst>
                <a:gd name="T0" fmla="*/ 1230 w 2719"/>
                <a:gd name="T1" fmla="*/ 578 h 1059"/>
                <a:gd name="T2" fmla="*/ 1230 w 2719"/>
                <a:gd name="T3" fmla="*/ 658 h 1059"/>
                <a:gd name="T4" fmla="*/ 1230 w 2719"/>
                <a:gd name="T5" fmla="*/ 658 h 1059"/>
                <a:gd name="T6" fmla="*/ 1230 w 2719"/>
                <a:gd name="T7" fmla="*/ 778 h 1059"/>
                <a:gd name="T8" fmla="*/ 1230 w 2719"/>
                <a:gd name="T9" fmla="*/ 1058 h 1059"/>
                <a:gd name="T10" fmla="*/ 1478 w 2719"/>
                <a:gd name="T11" fmla="*/ 1058 h 1059"/>
                <a:gd name="T12" fmla="*/ 1478 w 2719"/>
                <a:gd name="T13" fmla="*/ 1058 h 1059"/>
                <a:gd name="T14" fmla="*/ 1850 w 2719"/>
                <a:gd name="T15" fmla="*/ 1058 h 1059"/>
                <a:gd name="T16" fmla="*/ 2718 w 2719"/>
                <a:gd name="T17" fmla="*/ 1058 h 1059"/>
                <a:gd name="T18" fmla="*/ 2718 w 2719"/>
                <a:gd name="T19" fmla="*/ 778 h 1059"/>
                <a:gd name="T20" fmla="*/ 2718 w 2719"/>
                <a:gd name="T21" fmla="*/ 658 h 1059"/>
                <a:gd name="T22" fmla="*/ 2718 w 2719"/>
                <a:gd name="T23" fmla="*/ 658 h 1059"/>
                <a:gd name="T24" fmla="*/ 2718 w 2719"/>
                <a:gd name="T25" fmla="*/ 578 h 1059"/>
                <a:gd name="T26" fmla="*/ 1850 w 2719"/>
                <a:gd name="T27" fmla="*/ 578 h 1059"/>
                <a:gd name="T28" fmla="*/ 0 w 2719"/>
                <a:gd name="T29" fmla="*/ 0 h 1059"/>
                <a:gd name="T30" fmla="*/ 1478 w 2719"/>
                <a:gd name="T31" fmla="*/ 578 h 1059"/>
                <a:gd name="T32" fmla="*/ 1230 w 2719"/>
                <a:gd name="T33" fmla="*/ 578 h 105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719" h="1059">
                  <a:moveTo>
                    <a:pt x="1230" y="578"/>
                  </a:moveTo>
                  <a:lnTo>
                    <a:pt x="1230" y="658"/>
                  </a:lnTo>
                  <a:lnTo>
                    <a:pt x="1230" y="778"/>
                  </a:lnTo>
                  <a:lnTo>
                    <a:pt x="1230" y="1058"/>
                  </a:lnTo>
                  <a:lnTo>
                    <a:pt x="1478" y="1058"/>
                  </a:lnTo>
                  <a:lnTo>
                    <a:pt x="1850" y="1058"/>
                  </a:lnTo>
                  <a:lnTo>
                    <a:pt x="2718" y="1058"/>
                  </a:lnTo>
                  <a:lnTo>
                    <a:pt x="2718" y="778"/>
                  </a:lnTo>
                  <a:lnTo>
                    <a:pt x="2718" y="658"/>
                  </a:lnTo>
                  <a:lnTo>
                    <a:pt x="2718" y="578"/>
                  </a:lnTo>
                  <a:lnTo>
                    <a:pt x="1850" y="578"/>
                  </a:lnTo>
                  <a:lnTo>
                    <a:pt x="0" y="0"/>
                  </a:lnTo>
                  <a:lnTo>
                    <a:pt x="1478" y="578"/>
                  </a:lnTo>
                  <a:lnTo>
                    <a:pt x="1230" y="578"/>
                  </a:lnTo>
                </a:path>
              </a:pathLst>
            </a:custGeom>
            <a:solidFill>
              <a:srgbClr val="FFFFFF">
                <a:alpha val="50195"/>
              </a:srgbClr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3" name="Rectangle 8"/>
            <p:cNvSpPr>
              <a:spLocks noChangeArrowheads="1"/>
            </p:cNvSpPr>
            <p:nvPr/>
          </p:nvSpPr>
          <p:spPr bwMode="auto">
            <a:xfrm>
              <a:off x="4189" y="2576"/>
              <a:ext cx="1366" cy="416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zh-CN" altLang="en-US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增长率</a:t>
              </a:r>
              <a:endParaRPr lang="en-US" altLang="zh-CN" sz="30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9639" name="Group 12"/>
          <p:cNvGrpSpPr>
            <a:grpSpLocks/>
          </p:cNvGrpSpPr>
          <p:nvPr/>
        </p:nvGrpSpPr>
        <p:grpSpPr bwMode="auto">
          <a:xfrm>
            <a:off x="609600" y="3170238"/>
            <a:ext cx="2668588" cy="1631950"/>
            <a:chOff x="384" y="1997"/>
            <a:chExt cx="1681" cy="1028"/>
          </a:xfrm>
        </p:grpSpPr>
        <p:sp>
          <p:nvSpPr>
            <p:cNvPr id="69640" name="Freeform 10"/>
            <p:cNvSpPr>
              <a:spLocks/>
            </p:cNvSpPr>
            <p:nvPr/>
          </p:nvSpPr>
          <p:spPr bwMode="auto">
            <a:xfrm>
              <a:off x="384" y="1997"/>
              <a:ext cx="1681" cy="1028"/>
            </a:xfrm>
            <a:custGeom>
              <a:avLst/>
              <a:gdLst>
                <a:gd name="T0" fmla="*/ 0 w 1681"/>
                <a:gd name="T1" fmla="*/ 547 h 1028"/>
                <a:gd name="T2" fmla="*/ 0 w 1681"/>
                <a:gd name="T3" fmla="*/ 627 h 1028"/>
                <a:gd name="T4" fmla="*/ 0 w 1681"/>
                <a:gd name="T5" fmla="*/ 627 h 1028"/>
                <a:gd name="T6" fmla="*/ 0 w 1681"/>
                <a:gd name="T7" fmla="*/ 747 h 1028"/>
                <a:gd name="T8" fmla="*/ 0 w 1681"/>
                <a:gd name="T9" fmla="*/ 1027 h 1028"/>
                <a:gd name="T10" fmla="*/ 980 w 1681"/>
                <a:gd name="T11" fmla="*/ 1027 h 1028"/>
                <a:gd name="T12" fmla="*/ 980 w 1681"/>
                <a:gd name="T13" fmla="*/ 1027 h 1028"/>
                <a:gd name="T14" fmla="*/ 1400 w 1681"/>
                <a:gd name="T15" fmla="*/ 1027 h 1028"/>
                <a:gd name="T16" fmla="*/ 1680 w 1681"/>
                <a:gd name="T17" fmla="*/ 1027 h 1028"/>
                <a:gd name="T18" fmla="*/ 1680 w 1681"/>
                <a:gd name="T19" fmla="*/ 747 h 1028"/>
                <a:gd name="T20" fmla="*/ 1680 w 1681"/>
                <a:gd name="T21" fmla="*/ 627 h 1028"/>
                <a:gd name="T22" fmla="*/ 1680 w 1681"/>
                <a:gd name="T23" fmla="*/ 627 h 1028"/>
                <a:gd name="T24" fmla="*/ 1680 w 1681"/>
                <a:gd name="T25" fmla="*/ 547 h 1028"/>
                <a:gd name="T26" fmla="*/ 1400 w 1681"/>
                <a:gd name="T27" fmla="*/ 547 h 1028"/>
                <a:gd name="T28" fmla="*/ 1296 w 1681"/>
                <a:gd name="T29" fmla="*/ 0 h 1028"/>
                <a:gd name="T30" fmla="*/ 980 w 1681"/>
                <a:gd name="T31" fmla="*/ 547 h 1028"/>
                <a:gd name="T32" fmla="*/ 0 w 1681"/>
                <a:gd name="T33" fmla="*/ 547 h 102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81" h="1028">
                  <a:moveTo>
                    <a:pt x="0" y="547"/>
                  </a:moveTo>
                  <a:lnTo>
                    <a:pt x="0" y="627"/>
                  </a:lnTo>
                  <a:lnTo>
                    <a:pt x="0" y="747"/>
                  </a:lnTo>
                  <a:lnTo>
                    <a:pt x="0" y="1027"/>
                  </a:lnTo>
                  <a:lnTo>
                    <a:pt x="980" y="1027"/>
                  </a:lnTo>
                  <a:lnTo>
                    <a:pt x="1400" y="1027"/>
                  </a:lnTo>
                  <a:lnTo>
                    <a:pt x="1680" y="1027"/>
                  </a:lnTo>
                  <a:lnTo>
                    <a:pt x="1680" y="747"/>
                  </a:lnTo>
                  <a:lnTo>
                    <a:pt x="1680" y="627"/>
                  </a:lnTo>
                  <a:lnTo>
                    <a:pt x="1680" y="547"/>
                  </a:lnTo>
                  <a:lnTo>
                    <a:pt x="1400" y="547"/>
                  </a:lnTo>
                  <a:lnTo>
                    <a:pt x="1296" y="0"/>
                  </a:lnTo>
                  <a:lnTo>
                    <a:pt x="980" y="547"/>
                  </a:lnTo>
                  <a:lnTo>
                    <a:pt x="0" y="547"/>
                  </a:lnTo>
                </a:path>
              </a:pathLst>
            </a:custGeom>
            <a:solidFill>
              <a:srgbClr val="FFFFFF">
                <a:alpha val="50195"/>
              </a:srgbClr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1" name="Rectangle 11"/>
            <p:cNvSpPr>
              <a:spLocks noChangeArrowheads="1"/>
            </p:cNvSpPr>
            <p:nvPr/>
          </p:nvSpPr>
          <p:spPr bwMode="auto">
            <a:xfrm>
              <a:off x="445" y="2576"/>
              <a:ext cx="1558" cy="416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zh-CN" altLang="en-US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资本成本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7042150" y="6243638"/>
            <a:ext cx="1905000" cy="457200"/>
          </a:xfrm>
        </p:spPr>
        <p:txBody>
          <a:bodyPr/>
          <a:lstStyle/>
          <a:p>
            <a:pPr>
              <a:defRPr/>
            </a:pPr>
            <a:fld id="{9B5F4960-F982-4B66-95C2-9B50878A7800}" type="slidenum">
              <a:rPr lang="zh-CN" altLang="en-US" smtClean="0"/>
              <a:pPr>
                <a:defRPr/>
              </a:pPr>
              <a:t>54</a:t>
            </a:fld>
            <a:endParaRPr lang="en-US" altLang="zh-CN" smtClean="0"/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sz="2900" smtClean="0"/>
              <a:t>总结：留存收益再投资回报率等于资本成本</a:t>
            </a:r>
            <a:endParaRPr lang="en-US" altLang="zh-CN" sz="2900" smtClean="0"/>
          </a:p>
        </p:txBody>
      </p:sp>
      <p:graphicFrame>
        <p:nvGraphicFramePr>
          <p:cNvPr id="71684" name="Object 3"/>
          <p:cNvGraphicFramePr>
            <a:graphicFrameLocks/>
          </p:cNvGraphicFramePr>
          <p:nvPr/>
        </p:nvGraphicFramePr>
        <p:xfrm>
          <a:off x="1371600" y="1981200"/>
          <a:ext cx="4495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9" name="Equation" r:id="rId4" imgW="1930400" imgH="393700" progId="Equation.DSMT4">
                  <p:embed/>
                </p:oleObj>
              </mc:Choice>
              <mc:Fallback>
                <p:oleObj name="Equation" r:id="rId4" imgW="1930400" imgH="39370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981200"/>
                        <a:ext cx="44958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685" name="Group 6"/>
          <p:cNvGrpSpPr>
            <a:grpSpLocks/>
          </p:cNvGrpSpPr>
          <p:nvPr/>
        </p:nvGrpSpPr>
        <p:grpSpPr bwMode="auto">
          <a:xfrm>
            <a:off x="3471863" y="3143250"/>
            <a:ext cx="2854325" cy="1658938"/>
            <a:chOff x="2187" y="1980"/>
            <a:chExt cx="1798" cy="1045"/>
          </a:xfrm>
        </p:grpSpPr>
        <p:sp>
          <p:nvSpPr>
            <p:cNvPr id="71692" name="Freeform 4"/>
            <p:cNvSpPr>
              <a:spLocks/>
            </p:cNvSpPr>
            <p:nvPr/>
          </p:nvSpPr>
          <p:spPr bwMode="auto">
            <a:xfrm>
              <a:off x="2187" y="1980"/>
              <a:ext cx="1798" cy="1045"/>
            </a:xfrm>
            <a:custGeom>
              <a:avLst/>
              <a:gdLst>
                <a:gd name="T0" fmla="*/ 21 w 1798"/>
                <a:gd name="T1" fmla="*/ 564 h 1045"/>
                <a:gd name="T2" fmla="*/ 21 w 1798"/>
                <a:gd name="T3" fmla="*/ 644 h 1045"/>
                <a:gd name="T4" fmla="*/ 21 w 1798"/>
                <a:gd name="T5" fmla="*/ 644 h 1045"/>
                <a:gd name="T6" fmla="*/ 21 w 1798"/>
                <a:gd name="T7" fmla="*/ 764 h 1045"/>
                <a:gd name="T8" fmla="*/ 21 w 1798"/>
                <a:gd name="T9" fmla="*/ 1044 h 1045"/>
                <a:gd name="T10" fmla="*/ 317 w 1798"/>
                <a:gd name="T11" fmla="*/ 1044 h 1045"/>
                <a:gd name="T12" fmla="*/ 317 w 1798"/>
                <a:gd name="T13" fmla="*/ 1044 h 1045"/>
                <a:gd name="T14" fmla="*/ 761 w 1798"/>
                <a:gd name="T15" fmla="*/ 1044 h 1045"/>
                <a:gd name="T16" fmla="*/ 1797 w 1798"/>
                <a:gd name="T17" fmla="*/ 1044 h 1045"/>
                <a:gd name="T18" fmla="*/ 1797 w 1798"/>
                <a:gd name="T19" fmla="*/ 764 h 1045"/>
                <a:gd name="T20" fmla="*/ 1797 w 1798"/>
                <a:gd name="T21" fmla="*/ 644 h 1045"/>
                <a:gd name="T22" fmla="*/ 1797 w 1798"/>
                <a:gd name="T23" fmla="*/ 644 h 1045"/>
                <a:gd name="T24" fmla="*/ 1797 w 1798"/>
                <a:gd name="T25" fmla="*/ 564 h 1045"/>
                <a:gd name="T26" fmla="*/ 761 w 1798"/>
                <a:gd name="T27" fmla="*/ 564 h 1045"/>
                <a:gd name="T28" fmla="*/ 0 w 1798"/>
                <a:gd name="T29" fmla="*/ 0 h 1045"/>
                <a:gd name="T30" fmla="*/ 317 w 1798"/>
                <a:gd name="T31" fmla="*/ 564 h 1045"/>
                <a:gd name="T32" fmla="*/ 21 w 1798"/>
                <a:gd name="T33" fmla="*/ 564 h 104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798" h="1045">
                  <a:moveTo>
                    <a:pt x="21" y="564"/>
                  </a:moveTo>
                  <a:lnTo>
                    <a:pt x="21" y="644"/>
                  </a:lnTo>
                  <a:lnTo>
                    <a:pt x="21" y="764"/>
                  </a:lnTo>
                  <a:lnTo>
                    <a:pt x="21" y="1044"/>
                  </a:lnTo>
                  <a:lnTo>
                    <a:pt x="317" y="1044"/>
                  </a:lnTo>
                  <a:lnTo>
                    <a:pt x="761" y="1044"/>
                  </a:lnTo>
                  <a:lnTo>
                    <a:pt x="1797" y="1044"/>
                  </a:lnTo>
                  <a:lnTo>
                    <a:pt x="1797" y="764"/>
                  </a:lnTo>
                  <a:lnTo>
                    <a:pt x="1797" y="644"/>
                  </a:lnTo>
                  <a:lnTo>
                    <a:pt x="1797" y="564"/>
                  </a:lnTo>
                  <a:lnTo>
                    <a:pt x="761" y="564"/>
                  </a:lnTo>
                  <a:lnTo>
                    <a:pt x="0" y="0"/>
                  </a:lnTo>
                  <a:lnTo>
                    <a:pt x="317" y="564"/>
                  </a:lnTo>
                  <a:lnTo>
                    <a:pt x="21" y="564"/>
                  </a:lnTo>
                </a:path>
              </a:pathLst>
            </a:custGeom>
            <a:solidFill>
              <a:srgbClr val="FFFFFF">
                <a:alpha val="50195"/>
              </a:srgbClr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3" name="Rectangle 5"/>
            <p:cNvSpPr>
              <a:spLocks noChangeArrowheads="1"/>
            </p:cNvSpPr>
            <p:nvPr/>
          </p:nvSpPr>
          <p:spPr bwMode="auto">
            <a:xfrm>
              <a:off x="2269" y="2576"/>
              <a:ext cx="1654" cy="416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zh-CN" altLang="en-US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盈余保留率</a:t>
              </a:r>
            </a:p>
          </p:txBody>
        </p:sp>
      </p:grpSp>
      <p:grpSp>
        <p:nvGrpSpPr>
          <p:cNvPr id="71686" name="Group 9"/>
          <p:cNvGrpSpPr>
            <a:grpSpLocks/>
          </p:cNvGrpSpPr>
          <p:nvPr/>
        </p:nvGrpSpPr>
        <p:grpSpPr bwMode="auto">
          <a:xfrm>
            <a:off x="4600575" y="3121025"/>
            <a:ext cx="4316413" cy="1681163"/>
            <a:chOff x="2898" y="1966"/>
            <a:chExt cx="2719" cy="1059"/>
          </a:xfrm>
        </p:grpSpPr>
        <p:sp>
          <p:nvSpPr>
            <p:cNvPr id="71690" name="Freeform 7"/>
            <p:cNvSpPr>
              <a:spLocks/>
            </p:cNvSpPr>
            <p:nvPr/>
          </p:nvSpPr>
          <p:spPr bwMode="auto">
            <a:xfrm>
              <a:off x="2898" y="1966"/>
              <a:ext cx="2719" cy="1059"/>
            </a:xfrm>
            <a:custGeom>
              <a:avLst/>
              <a:gdLst>
                <a:gd name="T0" fmla="*/ 1230 w 2719"/>
                <a:gd name="T1" fmla="*/ 578 h 1059"/>
                <a:gd name="T2" fmla="*/ 1230 w 2719"/>
                <a:gd name="T3" fmla="*/ 658 h 1059"/>
                <a:gd name="T4" fmla="*/ 1230 w 2719"/>
                <a:gd name="T5" fmla="*/ 658 h 1059"/>
                <a:gd name="T6" fmla="*/ 1230 w 2719"/>
                <a:gd name="T7" fmla="*/ 778 h 1059"/>
                <a:gd name="T8" fmla="*/ 1230 w 2719"/>
                <a:gd name="T9" fmla="*/ 1058 h 1059"/>
                <a:gd name="T10" fmla="*/ 1478 w 2719"/>
                <a:gd name="T11" fmla="*/ 1058 h 1059"/>
                <a:gd name="T12" fmla="*/ 1478 w 2719"/>
                <a:gd name="T13" fmla="*/ 1058 h 1059"/>
                <a:gd name="T14" fmla="*/ 1850 w 2719"/>
                <a:gd name="T15" fmla="*/ 1058 h 1059"/>
                <a:gd name="T16" fmla="*/ 2718 w 2719"/>
                <a:gd name="T17" fmla="*/ 1058 h 1059"/>
                <a:gd name="T18" fmla="*/ 2718 w 2719"/>
                <a:gd name="T19" fmla="*/ 778 h 1059"/>
                <a:gd name="T20" fmla="*/ 2718 w 2719"/>
                <a:gd name="T21" fmla="*/ 658 h 1059"/>
                <a:gd name="T22" fmla="*/ 2718 w 2719"/>
                <a:gd name="T23" fmla="*/ 658 h 1059"/>
                <a:gd name="T24" fmla="*/ 2718 w 2719"/>
                <a:gd name="T25" fmla="*/ 578 h 1059"/>
                <a:gd name="T26" fmla="*/ 1850 w 2719"/>
                <a:gd name="T27" fmla="*/ 578 h 1059"/>
                <a:gd name="T28" fmla="*/ 0 w 2719"/>
                <a:gd name="T29" fmla="*/ 0 h 1059"/>
                <a:gd name="T30" fmla="*/ 1478 w 2719"/>
                <a:gd name="T31" fmla="*/ 578 h 1059"/>
                <a:gd name="T32" fmla="*/ 1230 w 2719"/>
                <a:gd name="T33" fmla="*/ 578 h 105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719" h="1059">
                  <a:moveTo>
                    <a:pt x="1230" y="578"/>
                  </a:moveTo>
                  <a:lnTo>
                    <a:pt x="1230" y="658"/>
                  </a:lnTo>
                  <a:lnTo>
                    <a:pt x="1230" y="778"/>
                  </a:lnTo>
                  <a:lnTo>
                    <a:pt x="1230" y="1058"/>
                  </a:lnTo>
                  <a:lnTo>
                    <a:pt x="1478" y="1058"/>
                  </a:lnTo>
                  <a:lnTo>
                    <a:pt x="1850" y="1058"/>
                  </a:lnTo>
                  <a:lnTo>
                    <a:pt x="2718" y="1058"/>
                  </a:lnTo>
                  <a:lnTo>
                    <a:pt x="2718" y="778"/>
                  </a:lnTo>
                  <a:lnTo>
                    <a:pt x="2718" y="658"/>
                  </a:lnTo>
                  <a:lnTo>
                    <a:pt x="2718" y="578"/>
                  </a:lnTo>
                  <a:lnTo>
                    <a:pt x="1850" y="578"/>
                  </a:lnTo>
                  <a:lnTo>
                    <a:pt x="0" y="0"/>
                  </a:lnTo>
                  <a:lnTo>
                    <a:pt x="1478" y="578"/>
                  </a:lnTo>
                  <a:lnTo>
                    <a:pt x="1230" y="578"/>
                  </a:lnTo>
                </a:path>
              </a:pathLst>
            </a:custGeom>
            <a:solidFill>
              <a:srgbClr val="FFFFFF">
                <a:alpha val="50195"/>
              </a:srgbClr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1" name="Rectangle 8"/>
            <p:cNvSpPr>
              <a:spLocks noChangeArrowheads="1"/>
            </p:cNvSpPr>
            <p:nvPr/>
          </p:nvSpPr>
          <p:spPr bwMode="auto">
            <a:xfrm>
              <a:off x="4189" y="2576"/>
              <a:ext cx="1366" cy="416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zh-CN" altLang="en-US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增长率</a:t>
              </a:r>
              <a:endParaRPr lang="en-US" altLang="zh-CN" sz="30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71687" name="Group 12"/>
          <p:cNvGrpSpPr>
            <a:grpSpLocks/>
          </p:cNvGrpSpPr>
          <p:nvPr/>
        </p:nvGrpSpPr>
        <p:grpSpPr bwMode="auto">
          <a:xfrm>
            <a:off x="609600" y="3170238"/>
            <a:ext cx="2668588" cy="1631950"/>
            <a:chOff x="384" y="1997"/>
            <a:chExt cx="1681" cy="1028"/>
          </a:xfrm>
        </p:grpSpPr>
        <p:sp>
          <p:nvSpPr>
            <p:cNvPr id="71688" name="Freeform 10"/>
            <p:cNvSpPr>
              <a:spLocks/>
            </p:cNvSpPr>
            <p:nvPr/>
          </p:nvSpPr>
          <p:spPr bwMode="auto">
            <a:xfrm>
              <a:off x="384" y="1997"/>
              <a:ext cx="1681" cy="1028"/>
            </a:xfrm>
            <a:custGeom>
              <a:avLst/>
              <a:gdLst>
                <a:gd name="T0" fmla="*/ 0 w 1681"/>
                <a:gd name="T1" fmla="*/ 547 h 1028"/>
                <a:gd name="T2" fmla="*/ 0 w 1681"/>
                <a:gd name="T3" fmla="*/ 627 h 1028"/>
                <a:gd name="T4" fmla="*/ 0 w 1681"/>
                <a:gd name="T5" fmla="*/ 627 h 1028"/>
                <a:gd name="T6" fmla="*/ 0 w 1681"/>
                <a:gd name="T7" fmla="*/ 747 h 1028"/>
                <a:gd name="T8" fmla="*/ 0 w 1681"/>
                <a:gd name="T9" fmla="*/ 1027 h 1028"/>
                <a:gd name="T10" fmla="*/ 980 w 1681"/>
                <a:gd name="T11" fmla="*/ 1027 h 1028"/>
                <a:gd name="T12" fmla="*/ 980 w 1681"/>
                <a:gd name="T13" fmla="*/ 1027 h 1028"/>
                <a:gd name="T14" fmla="*/ 1400 w 1681"/>
                <a:gd name="T15" fmla="*/ 1027 h 1028"/>
                <a:gd name="T16" fmla="*/ 1680 w 1681"/>
                <a:gd name="T17" fmla="*/ 1027 h 1028"/>
                <a:gd name="T18" fmla="*/ 1680 w 1681"/>
                <a:gd name="T19" fmla="*/ 747 h 1028"/>
                <a:gd name="T20" fmla="*/ 1680 w 1681"/>
                <a:gd name="T21" fmla="*/ 627 h 1028"/>
                <a:gd name="T22" fmla="*/ 1680 w 1681"/>
                <a:gd name="T23" fmla="*/ 627 h 1028"/>
                <a:gd name="T24" fmla="*/ 1680 w 1681"/>
                <a:gd name="T25" fmla="*/ 547 h 1028"/>
                <a:gd name="T26" fmla="*/ 1400 w 1681"/>
                <a:gd name="T27" fmla="*/ 547 h 1028"/>
                <a:gd name="T28" fmla="*/ 1296 w 1681"/>
                <a:gd name="T29" fmla="*/ 0 h 1028"/>
                <a:gd name="T30" fmla="*/ 980 w 1681"/>
                <a:gd name="T31" fmla="*/ 547 h 1028"/>
                <a:gd name="T32" fmla="*/ 0 w 1681"/>
                <a:gd name="T33" fmla="*/ 547 h 102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81" h="1028">
                  <a:moveTo>
                    <a:pt x="0" y="547"/>
                  </a:moveTo>
                  <a:lnTo>
                    <a:pt x="0" y="627"/>
                  </a:lnTo>
                  <a:lnTo>
                    <a:pt x="0" y="747"/>
                  </a:lnTo>
                  <a:lnTo>
                    <a:pt x="0" y="1027"/>
                  </a:lnTo>
                  <a:lnTo>
                    <a:pt x="980" y="1027"/>
                  </a:lnTo>
                  <a:lnTo>
                    <a:pt x="1400" y="1027"/>
                  </a:lnTo>
                  <a:lnTo>
                    <a:pt x="1680" y="1027"/>
                  </a:lnTo>
                  <a:lnTo>
                    <a:pt x="1680" y="747"/>
                  </a:lnTo>
                  <a:lnTo>
                    <a:pt x="1680" y="627"/>
                  </a:lnTo>
                  <a:lnTo>
                    <a:pt x="1680" y="547"/>
                  </a:lnTo>
                  <a:lnTo>
                    <a:pt x="1400" y="547"/>
                  </a:lnTo>
                  <a:lnTo>
                    <a:pt x="1296" y="0"/>
                  </a:lnTo>
                  <a:lnTo>
                    <a:pt x="980" y="547"/>
                  </a:lnTo>
                  <a:lnTo>
                    <a:pt x="0" y="547"/>
                  </a:lnTo>
                </a:path>
              </a:pathLst>
            </a:custGeom>
            <a:solidFill>
              <a:srgbClr val="FFFFFF">
                <a:alpha val="50195"/>
              </a:srgbClr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89" name="Rectangle 11"/>
            <p:cNvSpPr>
              <a:spLocks noChangeArrowheads="1"/>
            </p:cNvSpPr>
            <p:nvPr/>
          </p:nvSpPr>
          <p:spPr bwMode="auto">
            <a:xfrm>
              <a:off x="445" y="2576"/>
              <a:ext cx="1558" cy="416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zh-CN" altLang="en-US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资本成本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7042150" y="6243638"/>
            <a:ext cx="1905000" cy="457200"/>
          </a:xfrm>
        </p:spPr>
        <p:txBody>
          <a:bodyPr/>
          <a:lstStyle/>
          <a:p>
            <a:pPr>
              <a:defRPr/>
            </a:pPr>
            <a:fld id="{126A903D-A99D-470E-8008-EF1D5483197A}" type="slidenum">
              <a:rPr lang="zh-CN" altLang="en-US" smtClean="0"/>
              <a:pPr>
                <a:defRPr/>
              </a:pPr>
              <a:t>55</a:t>
            </a:fld>
            <a:endParaRPr lang="en-US" altLang="zh-CN" smtClean="0"/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sz="3000" smtClean="0"/>
              <a:t>总结：留存收益再投资回报率低于资本成本</a:t>
            </a:r>
            <a:endParaRPr lang="en-US" altLang="zh-CN" sz="3000" smtClean="0"/>
          </a:p>
        </p:txBody>
      </p:sp>
      <p:graphicFrame>
        <p:nvGraphicFramePr>
          <p:cNvPr id="73732" name="Object 3"/>
          <p:cNvGraphicFramePr>
            <a:graphicFrameLocks/>
          </p:cNvGraphicFramePr>
          <p:nvPr/>
        </p:nvGraphicFramePr>
        <p:xfrm>
          <a:off x="1187450" y="1951038"/>
          <a:ext cx="70993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57" name="Equation" r:id="rId4" imgW="3048000" imgH="393700" progId="Equation.DSMT4">
                  <p:embed/>
                </p:oleObj>
              </mc:Choice>
              <mc:Fallback>
                <p:oleObj name="Equation" r:id="rId4" imgW="3048000" imgH="39370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951038"/>
                        <a:ext cx="70993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733" name="Group 6"/>
          <p:cNvGrpSpPr>
            <a:grpSpLocks/>
          </p:cNvGrpSpPr>
          <p:nvPr/>
        </p:nvGrpSpPr>
        <p:grpSpPr bwMode="auto">
          <a:xfrm>
            <a:off x="3471863" y="3143250"/>
            <a:ext cx="2854325" cy="1658938"/>
            <a:chOff x="2187" y="1980"/>
            <a:chExt cx="1798" cy="1045"/>
          </a:xfrm>
        </p:grpSpPr>
        <p:sp>
          <p:nvSpPr>
            <p:cNvPr id="73740" name="Freeform 4"/>
            <p:cNvSpPr>
              <a:spLocks/>
            </p:cNvSpPr>
            <p:nvPr/>
          </p:nvSpPr>
          <p:spPr bwMode="auto">
            <a:xfrm>
              <a:off x="2187" y="1980"/>
              <a:ext cx="1798" cy="1045"/>
            </a:xfrm>
            <a:custGeom>
              <a:avLst/>
              <a:gdLst>
                <a:gd name="T0" fmla="*/ 21 w 1798"/>
                <a:gd name="T1" fmla="*/ 564 h 1045"/>
                <a:gd name="T2" fmla="*/ 21 w 1798"/>
                <a:gd name="T3" fmla="*/ 644 h 1045"/>
                <a:gd name="T4" fmla="*/ 21 w 1798"/>
                <a:gd name="T5" fmla="*/ 644 h 1045"/>
                <a:gd name="T6" fmla="*/ 21 w 1798"/>
                <a:gd name="T7" fmla="*/ 764 h 1045"/>
                <a:gd name="T8" fmla="*/ 21 w 1798"/>
                <a:gd name="T9" fmla="*/ 1044 h 1045"/>
                <a:gd name="T10" fmla="*/ 317 w 1798"/>
                <a:gd name="T11" fmla="*/ 1044 h 1045"/>
                <a:gd name="T12" fmla="*/ 317 w 1798"/>
                <a:gd name="T13" fmla="*/ 1044 h 1045"/>
                <a:gd name="T14" fmla="*/ 761 w 1798"/>
                <a:gd name="T15" fmla="*/ 1044 h 1045"/>
                <a:gd name="T16" fmla="*/ 1797 w 1798"/>
                <a:gd name="T17" fmla="*/ 1044 h 1045"/>
                <a:gd name="T18" fmla="*/ 1797 w 1798"/>
                <a:gd name="T19" fmla="*/ 764 h 1045"/>
                <a:gd name="T20" fmla="*/ 1797 w 1798"/>
                <a:gd name="T21" fmla="*/ 644 h 1045"/>
                <a:gd name="T22" fmla="*/ 1797 w 1798"/>
                <a:gd name="T23" fmla="*/ 644 h 1045"/>
                <a:gd name="T24" fmla="*/ 1797 w 1798"/>
                <a:gd name="T25" fmla="*/ 564 h 1045"/>
                <a:gd name="T26" fmla="*/ 761 w 1798"/>
                <a:gd name="T27" fmla="*/ 564 h 1045"/>
                <a:gd name="T28" fmla="*/ 0 w 1798"/>
                <a:gd name="T29" fmla="*/ 0 h 1045"/>
                <a:gd name="T30" fmla="*/ 317 w 1798"/>
                <a:gd name="T31" fmla="*/ 564 h 1045"/>
                <a:gd name="T32" fmla="*/ 21 w 1798"/>
                <a:gd name="T33" fmla="*/ 564 h 104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798" h="1045">
                  <a:moveTo>
                    <a:pt x="21" y="564"/>
                  </a:moveTo>
                  <a:lnTo>
                    <a:pt x="21" y="644"/>
                  </a:lnTo>
                  <a:lnTo>
                    <a:pt x="21" y="764"/>
                  </a:lnTo>
                  <a:lnTo>
                    <a:pt x="21" y="1044"/>
                  </a:lnTo>
                  <a:lnTo>
                    <a:pt x="317" y="1044"/>
                  </a:lnTo>
                  <a:lnTo>
                    <a:pt x="761" y="1044"/>
                  </a:lnTo>
                  <a:lnTo>
                    <a:pt x="1797" y="1044"/>
                  </a:lnTo>
                  <a:lnTo>
                    <a:pt x="1797" y="764"/>
                  </a:lnTo>
                  <a:lnTo>
                    <a:pt x="1797" y="644"/>
                  </a:lnTo>
                  <a:lnTo>
                    <a:pt x="1797" y="564"/>
                  </a:lnTo>
                  <a:lnTo>
                    <a:pt x="761" y="564"/>
                  </a:lnTo>
                  <a:lnTo>
                    <a:pt x="0" y="0"/>
                  </a:lnTo>
                  <a:lnTo>
                    <a:pt x="317" y="564"/>
                  </a:lnTo>
                  <a:lnTo>
                    <a:pt x="21" y="564"/>
                  </a:lnTo>
                </a:path>
              </a:pathLst>
            </a:custGeom>
            <a:solidFill>
              <a:srgbClr val="FFFFFF">
                <a:alpha val="50195"/>
              </a:srgbClr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1" name="Rectangle 5"/>
            <p:cNvSpPr>
              <a:spLocks noChangeArrowheads="1"/>
            </p:cNvSpPr>
            <p:nvPr/>
          </p:nvSpPr>
          <p:spPr bwMode="auto">
            <a:xfrm>
              <a:off x="2269" y="2576"/>
              <a:ext cx="1654" cy="416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zh-CN" altLang="en-US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盈余保留率</a:t>
              </a:r>
            </a:p>
          </p:txBody>
        </p:sp>
      </p:grpSp>
      <p:grpSp>
        <p:nvGrpSpPr>
          <p:cNvPr id="73734" name="Group 9"/>
          <p:cNvGrpSpPr>
            <a:grpSpLocks/>
          </p:cNvGrpSpPr>
          <p:nvPr/>
        </p:nvGrpSpPr>
        <p:grpSpPr bwMode="auto">
          <a:xfrm>
            <a:off x="4600575" y="3121025"/>
            <a:ext cx="4316413" cy="1681163"/>
            <a:chOff x="2898" y="1966"/>
            <a:chExt cx="2719" cy="1059"/>
          </a:xfrm>
        </p:grpSpPr>
        <p:sp>
          <p:nvSpPr>
            <p:cNvPr id="73738" name="Freeform 7"/>
            <p:cNvSpPr>
              <a:spLocks/>
            </p:cNvSpPr>
            <p:nvPr/>
          </p:nvSpPr>
          <p:spPr bwMode="auto">
            <a:xfrm>
              <a:off x="2898" y="1966"/>
              <a:ext cx="2719" cy="1059"/>
            </a:xfrm>
            <a:custGeom>
              <a:avLst/>
              <a:gdLst>
                <a:gd name="T0" fmla="*/ 1230 w 2719"/>
                <a:gd name="T1" fmla="*/ 578 h 1059"/>
                <a:gd name="T2" fmla="*/ 1230 w 2719"/>
                <a:gd name="T3" fmla="*/ 658 h 1059"/>
                <a:gd name="T4" fmla="*/ 1230 w 2719"/>
                <a:gd name="T5" fmla="*/ 658 h 1059"/>
                <a:gd name="T6" fmla="*/ 1230 w 2719"/>
                <a:gd name="T7" fmla="*/ 778 h 1059"/>
                <a:gd name="T8" fmla="*/ 1230 w 2719"/>
                <a:gd name="T9" fmla="*/ 1058 h 1059"/>
                <a:gd name="T10" fmla="*/ 1478 w 2719"/>
                <a:gd name="T11" fmla="*/ 1058 h 1059"/>
                <a:gd name="T12" fmla="*/ 1478 w 2719"/>
                <a:gd name="T13" fmla="*/ 1058 h 1059"/>
                <a:gd name="T14" fmla="*/ 1850 w 2719"/>
                <a:gd name="T15" fmla="*/ 1058 h 1059"/>
                <a:gd name="T16" fmla="*/ 2718 w 2719"/>
                <a:gd name="T17" fmla="*/ 1058 h 1059"/>
                <a:gd name="T18" fmla="*/ 2718 w 2719"/>
                <a:gd name="T19" fmla="*/ 778 h 1059"/>
                <a:gd name="T20" fmla="*/ 2718 w 2719"/>
                <a:gd name="T21" fmla="*/ 658 h 1059"/>
                <a:gd name="T22" fmla="*/ 2718 w 2719"/>
                <a:gd name="T23" fmla="*/ 658 h 1059"/>
                <a:gd name="T24" fmla="*/ 2718 w 2719"/>
                <a:gd name="T25" fmla="*/ 578 h 1059"/>
                <a:gd name="T26" fmla="*/ 1850 w 2719"/>
                <a:gd name="T27" fmla="*/ 578 h 1059"/>
                <a:gd name="T28" fmla="*/ 0 w 2719"/>
                <a:gd name="T29" fmla="*/ 0 h 1059"/>
                <a:gd name="T30" fmla="*/ 1478 w 2719"/>
                <a:gd name="T31" fmla="*/ 578 h 1059"/>
                <a:gd name="T32" fmla="*/ 1230 w 2719"/>
                <a:gd name="T33" fmla="*/ 578 h 105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719" h="1059">
                  <a:moveTo>
                    <a:pt x="1230" y="578"/>
                  </a:moveTo>
                  <a:lnTo>
                    <a:pt x="1230" y="658"/>
                  </a:lnTo>
                  <a:lnTo>
                    <a:pt x="1230" y="778"/>
                  </a:lnTo>
                  <a:lnTo>
                    <a:pt x="1230" y="1058"/>
                  </a:lnTo>
                  <a:lnTo>
                    <a:pt x="1478" y="1058"/>
                  </a:lnTo>
                  <a:lnTo>
                    <a:pt x="1850" y="1058"/>
                  </a:lnTo>
                  <a:lnTo>
                    <a:pt x="2718" y="1058"/>
                  </a:lnTo>
                  <a:lnTo>
                    <a:pt x="2718" y="778"/>
                  </a:lnTo>
                  <a:lnTo>
                    <a:pt x="2718" y="658"/>
                  </a:lnTo>
                  <a:lnTo>
                    <a:pt x="2718" y="578"/>
                  </a:lnTo>
                  <a:lnTo>
                    <a:pt x="1850" y="578"/>
                  </a:lnTo>
                  <a:lnTo>
                    <a:pt x="0" y="0"/>
                  </a:lnTo>
                  <a:lnTo>
                    <a:pt x="1478" y="578"/>
                  </a:lnTo>
                  <a:lnTo>
                    <a:pt x="1230" y="578"/>
                  </a:lnTo>
                </a:path>
              </a:pathLst>
            </a:custGeom>
            <a:solidFill>
              <a:srgbClr val="FFFFFF">
                <a:alpha val="50195"/>
              </a:srgbClr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9" name="Rectangle 8"/>
            <p:cNvSpPr>
              <a:spLocks noChangeArrowheads="1"/>
            </p:cNvSpPr>
            <p:nvPr/>
          </p:nvSpPr>
          <p:spPr bwMode="auto">
            <a:xfrm>
              <a:off x="4189" y="2576"/>
              <a:ext cx="1366" cy="416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zh-CN" altLang="en-US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增长率</a:t>
              </a:r>
              <a:endParaRPr lang="en-US" altLang="zh-CN" sz="30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73735" name="Group 12"/>
          <p:cNvGrpSpPr>
            <a:grpSpLocks/>
          </p:cNvGrpSpPr>
          <p:nvPr/>
        </p:nvGrpSpPr>
        <p:grpSpPr bwMode="auto">
          <a:xfrm>
            <a:off x="609600" y="3170238"/>
            <a:ext cx="2668588" cy="1631950"/>
            <a:chOff x="384" y="1997"/>
            <a:chExt cx="1681" cy="1028"/>
          </a:xfrm>
        </p:grpSpPr>
        <p:sp>
          <p:nvSpPr>
            <p:cNvPr id="73736" name="Freeform 10"/>
            <p:cNvSpPr>
              <a:spLocks/>
            </p:cNvSpPr>
            <p:nvPr/>
          </p:nvSpPr>
          <p:spPr bwMode="auto">
            <a:xfrm>
              <a:off x="384" y="1997"/>
              <a:ext cx="1681" cy="1028"/>
            </a:xfrm>
            <a:custGeom>
              <a:avLst/>
              <a:gdLst>
                <a:gd name="T0" fmla="*/ 0 w 1681"/>
                <a:gd name="T1" fmla="*/ 547 h 1028"/>
                <a:gd name="T2" fmla="*/ 0 w 1681"/>
                <a:gd name="T3" fmla="*/ 627 h 1028"/>
                <a:gd name="T4" fmla="*/ 0 w 1681"/>
                <a:gd name="T5" fmla="*/ 627 h 1028"/>
                <a:gd name="T6" fmla="*/ 0 w 1681"/>
                <a:gd name="T7" fmla="*/ 747 h 1028"/>
                <a:gd name="T8" fmla="*/ 0 w 1681"/>
                <a:gd name="T9" fmla="*/ 1027 h 1028"/>
                <a:gd name="T10" fmla="*/ 980 w 1681"/>
                <a:gd name="T11" fmla="*/ 1027 h 1028"/>
                <a:gd name="T12" fmla="*/ 980 w 1681"/>
                <a:gd name="T13" fmla="*/ 1027 h 1028"/>
                <a:gd name="T14" fmla="*/ 1400 w 1681"/>
                <a:gd name="T15" fmla="*/ 1027 h 1028"/>
                <a:gd name="T16" fmla="*/ 1680 w 1681"/>
                <a:gd name="T17" fmla="*/ 1027 h 1028"/>
                <a:gd name="T18" fmla="*/ 1680 w 1681"/>
                <a:gd name="T19" fmla="*/ 747 h 1028"/>
                <a:gd name="T20" fmla="*/ 1680 w 1681"/>
                <a:gd name="T21" fmla="*/ 627 h 1028"/>
                <a:gd name="T22" fmla="*/ 1680 w 1681"/>
                <a:gd name="T23" fmla="*/ 627 h 1028"/>
                <a:gd name="T24" fmla="*/ 1680 w 1681"/>
                <a:gd name="T25" fmla="*/ 547 h 1028"/>
                <a:gd name="T26" fmla="*/ 1400 w 1681"/>
                <a:gd name="T27" fmla="*/ 547 h 1028"/>
                <a:gd name="T28" fmla="*/ 1296 w 1681"/>
                <a:gd name="T29" fmla="*/ 0 h 1028"/>
                <a:gd name="T30" fmla="*/ 980 w 1681"/>
                <a:gd name="T31" fmla="*/ 547 h 1028"/>
                <a:gd name="T32" fmla="*/ 0 w 1681"/>
                <a:gd name="T33" fmla="*/ 547 h 102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81" h="1028">
                  <a:moveTo>
                    <a:pt x="0" y="547"/>
                  </a:moveTo>
                  <a:lnTo>
                    <a:pt x="0" y="627"/>
                  </a:lnTo>
                  <a:lnTo>
                    <a:pt x="0" y="747"/>
                  </a:lnTo>
                  <a:lnTo>
                    <a:pt x="0" y="1027"/>
                  </a:lnTo>
                  <a:lnTo>
                    <a:pt x="980" y="1027"/>
                  </a:lnTo>
                  <a:lnTo>
                    <a:pt x="1400" y="1027"/>
                  </a:lnTo>
                  <a:lnTo>
                    <a:pt x="1680" y="1027"/>
                  </a:lnTo>
                  <a:lnTo>
                    <a:pt x="1680" y="747"/>
                  </a:lnTo>
                  <a:lnTo>
                    <a:pt x="1680" y="627"/>
                  </a:lnTo>
                  <a:lnTo>
                    <a:pt x="1680" y="547"/>
                  </a:lnTo>
                  <a:lnTo>
                    <a:pt x="1400" y="547"/>
                  </a:lnTo>
                  <a:lnTo>
                    <a:pt x="1296" y="0"/>
                  </a:lnTo>
                  <a:lnTo>
                    <a:pt x="980" y="547"/>
                  </a:lnTo>
                  <a:lnTo>
                    <a:pt x="0" y="547"/>
                  </a:lnTo>
                </a:path>
              </a:pathLst>
            </a:custGeom>
            <a:solidFill>
              <a:srgbClr val="FFFFFF">
                <a:alpha val="50195"/>
              </a:srgbClr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7" name="Rectangle 11"/>
            <p:cNvSpPr>
              <a:spLocks noChangeArrowheads="1"/>
            </p:cNvSpPr>
            <p:nvPr/>
          </p:nvSpPr>
          <p:spPr bwMode="auto">
            <a:xfrm>
              <a:off x="445" y="2576"/>
              <a:ext cx="1558" cy="416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zh-CN" altLang="en-US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资本成本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讨论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如果公司有好的增长机会，投资项目的</a:t>
            </a:r>
            <a:r>
              <a:rPr lang="en-US" altLang="zh-CN" smtClean="0"/>
              <a:t>NPV&gt;0，</a:t>
            </a:r>
            <a:r>
              <a:rPr lang="zh-CN" altLang="en-US" smtClean="0"/>
              <a:t>从而增加股东的财富，此时，公司应该留存一部分收益用于新投资项目</a:t>
            </a:r>
          </a:p>
          <a:p>
            <a:pPr lvl="2" eaLnBrk="1" hangingPunct="1"/>
            <a:r>
              <a:rPr lang="zh-CN" altLang="en-US" smtClean="0"/>
              <a:t>麦当劳、早期的微软</a:t>
            </a:r>
          </a:p>
          <a:p>
            <a:pPr eaLnBrk="1" hangingPunct="1"/>
            <a:r>
              <a:rPr lang="zh-CN" altLang="en-US" smtClean="0"/>
              <a:t>但是如果公司没有好的增长机会，公司应该如何办？</a:t>
            </a:r>
          </a:p>
          <a:p>
            <a:pPr lvl="1" eaLnBrk="1" hangingPunct="1"/>
            <a:r>
              <a:rPr lang="zh-CN" altLang="en-US" smtClean="0"/>
              <a:t>公用事业公司</a:t>
            </a:r>
          </a:p>
          <a:p>
            <a:pPr lvl="1" eaLnBrk="1" hangingPunct="1"/>
            <a:r>
              <a:rPr lang="zh-CN" altLang="en-US" smtClean="0"/>
              <a:t>部分国有企业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3.收益率倍数分析方法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997200"/>
            <a:ext cx="8534400" cy="3690938"/>
          </a:xfrm>
        </p:spPr>
        <p:txBody>
          <a:bodyPr/>
          <a:lstStyle/>
          <a:p>
            <a:pPr eaLnBrk="1" hangingPunct="1"/>
            <a:r>
              <a:rPr lang="zh-CN" altLang="en-US" smtClean="0"/>
              <a:t>公司的市盈率倍数高</a:t>
            </a:r>
          </a:p>
          <a:p>
            <a:pPr lvl="1" eaLnBrk="1" hangingPunct="1"/>
            <a:r>
              <a:rPr lang="zh-CN" altLang="en-US" smtClean="0"/>
              <a:t>资本成本相对低</a:t>
            </a:r>
          </a:p>
          <a:p>
            <a:pPr lvl="1" eaLnBrk="1" hangingPunct="1"/>
            <a:r>
              <a:rPr lang="zh-CN" altLang="en-US" smtClean="0"/>
              <a:t>投资增值的现值相对较高（投资项目的收益率高于成本）</a:t>
            </a:r>
          </a:p>
          <a:p>
            <a:pPr lvl="1" eaLnBrk="1" hangingPunct="1"/>
            <a:r>
              <a:rPr lang="zh-CN" altLang="en-US" smtClean="0"/>
              <a:t>会计收益被低估？</a:t>
            </a:r>
          </a:p>
          <a:p>
            <a:pPr eaLnBrk="1" hangingPunct="1"/>
            <a:r>
              <a:rPr lang="zh-CN" altLang="en-US" smtClean="0"/>
              <a:t>成长性股票：未来投资机会的</a:t>
            </a:r>
            <a:r>
              <a:rPr lang="en-US" altLang="zh-CN" smtClean="0"/>
              <a:t>NPV</a:t>
            </a:r>
            <a:r>
              <a:rPr lang="zh-CN" altLang="en-US" smtClean="0"/>
              <a:t>大于0</a:t>
            </a:r>
          </a:p>
        </p:txBody>
      </p:sp>
      <p:graphicFrame>
        <p:nvGraphicFramePr>
          <p:cNvPr id="76804" name="Object 4"/>
          <p:cNvGraphicFramePr>
            <a:graphicFrameLocks noChangeAspect="1"/>
          </p:cNvGraphicFramePr>
          <p:nvPr/>
        </p:nvGraphicFramePr>
        <p:xfrm>
          <a:off x="2627313" y="1149350"/>
          <a:ext cx="3733800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0" name="Equation" r:id="rId3" imgW="2005729" imgH="863225" progId="Equation.DSMT4">
                  <p:embed/>
                </p:oleObj>
              </mc:Choice>
              <mc:Fallback>
                <p:oleObj name="Equation" r:id="rId3" imgW="2005729" imgH="86322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1149350"/>
                        <a:ext cx="3733800" cy="1670050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创业板 </a:t>
            </a:r>
            <a:r>
              <a:rPr lang="en-US" altLang="zh-CN" smtClean="0"/>
              <a:t>&amp; </a:t>
            </a:r>
            <a:r>
              <a:rPr lang="zh-CN" altLang="en-US" smtClean="0"/>
              <a:t>科创板的高成长故事</a:t>
            </a:r>
          </a:p>
        </p:txBody>
      </p:sp>
      <p:sp>
        <p:nvSpPr>
          <p:cNvPr id="788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投资银行家的</a:t>
            </a:r>
            <a:r>
              <a:rPr lang="en-US" altLang="zh-CN" smtClean="0"/>
              <a:t>PPT</a:t>
            </a:r>
          </a:p>
          <a:p>
            <a:pPr lvl="1" eaLnBrk="1" hangingPunct="1"/>
            <a:r>
              <a:rPr lang="zh-CN" altLang="en-US" smtClean="0"/>
              <a:t>细分行业龙头，行业高增长，公司更是增长快，因而高</a:t>
            </a:r>
            <a:r>
              <a:rPr lang="en-US" altLang="zh-CN" smtClean="0"/>
              <a:t>PE</a:t>
            </a:r>
            <a:r>
              <a:rPr lang="zh-CN" altLang="en-US" smtClean="0"/>
              <a:t>是合理的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关于会计盈余所传递的信息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Ball &amp; Brown(1968)</a:t>
            </a:r>
          </a:p>
          <a:p>
            <a:pPr lvl="1" eaLnBrk="1" hangingPunct="1"/>
            <a:r>
              <a:rPr lang="zh-CN" altLang="en-US" smtClean="0"/>
              <a:t>如果今年的</a:t>
            </a:r>
            <a:r>
              <a:rPr lang="en-US" altLang="zh-CN" smtClean="0"/>
              <a:t>EPS</a:t>
            </a:r>
            <a:r>
              <a:rPr lang="zh-CN" altLang="en-US" smtClean="0"/>
              <a:t>大于去年的，则在盈余公告时，市场将其视为一种好消息，股票价格会上涨；如果今年的</a:t>
            </a:r>
            <a:r>
              <a:rPr lang="en-US" altLang="zh-CN" smtClean="0"/>
              <a:t>EPS</a:t>
            </a:r>
            <a:r>
              <a:rPr lang="zh-CN" altLang="en-US" smtClean="0"/>
              <a:t>小于去年的，则在盈余公告时，市场将其视为一种坏消息，股票价格会下跌</a:t>
            </a:r>
          </a:p>
          <a:p>
            <a:pPr lvl="1" eaLnBrk="1" hangingPunct="1"/>
            <a:r>
              <a:rPr lang="zh-CN" altLang="en-US" smtClean="0"/>
              <a:t>严格而言，未预期盈余为正会导致股票价格上涨；未预期盈余为负会导致股票价格下跌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33400"/>
            <a:ext cx="7162800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如何测算未预期盈余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幼稚模型：今年的</a:t>
            </a:r>
            <a:r>
              <a:rPr lang="en-US" altLang="zh-CN" smtClean="0"/>
              <a:t>EPS</a:t>
            </a:r>
            <a:r>
              <a:rPr lang="zh-CN" altLang="en-US" smtClean="0"/>
              <a:t>减去去年的</a:t>
            </a:r>
            <a:r>
              <a:rPr lang="en-US" altLang="zh-CN" smtClean="0"/>
              <a:t>EPS</a:t>
            </a:r>
          </a:p>
          <a:p>
            <a:pPr eaLnBrk="1" hangingPunct="1"/>
            <a:r>
              <a:rPr lang="zh-CN" altLang="en-US" smtClean="0"/>
              <a:t>市场模型：与整个市场比（控制宏观经济因素）</a:t>
            </a:r>
          </a:p>
          <a:p>
            <a:pPr eaLnBrk="1" hangingPunct="1"/>
            <a:r>
              <a:rPr lang="zh-CN" altLang="en-US" smtClean="0"/>
              <a:t>与分析师预测比</a:t>
            </a:r>
          </a:p>
          <a:p>
            <a:pPr lvl="1" eaLnBrk="1" hangingPunct="1"/>
            <a:r>
              <a:rPr lang="zh-CN" altLang="en-US" smtClean="0"/>
              <a:t>实际盈余高于分析师的预测，好消息</a:t>
            </a:r>
          </a:p>
          <a:p>
            <a:pPr lvl="1" eaLnBrk="1" hangingPunct="1"/>
            <a:r>
              <a:rPr lang="zh-CN" altLang="en-US" smtClean="0"/>
              <a:t>实际盈余低于分析师预测，坏消息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小结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什么是好消息，什么是坏消息</a:t>
            </a:r>
          </a:p>
          <a:p>
            <a:pPr lvl="1" eaLnBrk="1" hangingPunct="1"/>
            <a:r>
              <a:rPr lang="zh-CN" altLang="en-US" smtClean="0"/>
              <a:t>必须与市场预期比</a:t>
            </a:r>
          </a:p>
          <a:p>
            <a:pPr lvl="1" eaLnBrk="1" hangingPunct="1"/>
            <a:r>
              <a:rPr lang="zh-CN" altLang="en-US" smtClean="0"/>
              <a:t>如果市场预期出现了系统性偏差（</a:t>
            </a:r>
            <a:r>
              <a:rPr lang="en-US" altLang="zh-CN" smtClean="0"/>
              <a:t>Greenspan</a:t>
            </a:r>
            <a:r>
              <a:rPr lang="zh-CN" altLang="en-US" smtClean="0"/>
              <a:t>的非理性繁荣），则股票定价就出现了系统性错误</a:t>
            </a:r>
          </a:p>
          <a:p>
            <a:pPr lvl="2" eaLnBrk="1" hangingPunct="1"/>
            <a:r>
              <a:rPr lang="zh-CN" altLang="en-US" smtClean="0"/>
              <a:t>1999-2000年的美国网络公司股票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网络经济泡沫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400" smtClean="0"/>
              <a:t>Keating,Elizabeth K., Thomas Z. Lys, Robert P. Magee.2003. Internet downturn-finding valuation factors in Spring 2000, </a:t>
            </a:r>
            <a:r>
              <a:rPr lang="en-US" altLang="zh-CN" sz="2400" smtClean="0">
                <a:ea typeface="AdvTimes" charset="-122"/>
              </a:rPr>
              <a:t>Journal of Accounting and Economics 34 : 189–236.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从2000年3月中旬到2000年5月底，</a:t>
            </a:r>
            <a:r>
              <a:rPr lang="en-US" altLang="zh-CN" smtClean="0"/>
              <a:t>NASDAQ</a:t>
            </a:r>
            <a:r>
              <a:rPr lang="zh-CN" altLang="en-US" smtClean="0"/>
              <a:t>的高科技股票市值下跌35%，网络股票指数下跌45%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股票指数</a:t>
            </a:r>
          </a:p>
        </p:txBody>
      </p:sp>
      <p:pic>
        <p:nvPicPr>
          <p:cNvPr id="849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447800"/>
            <a:ext cx="6629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市场调整后股票收益</a:t>
            </a:r>
          </a:p>
        </p:txBody>
      </p:sp>
      <p:pic>
        <p:nvPicPr>
          <p:cNvPr id="860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409700"/>
            <a:ext cx="6858000" cy="453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4.股利政策与股东财富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在完全的市场条件下，股利政策与股东财富无关(</a:t>
            </a:r>
            <a:r>
              <a:rPr lang="en-US" altLang="zh-CN" smtClean="0"/>
              <a:t>MM</a:t>
            </a:r>
            <a:r>
              <a:rPr lang="zh-CN" altLang="en-US" smtClean="0"/>
              <a:t>定理）</a:t>
            </a:r>
          </a:p>
          <a:p>
            <a:pPr eaLnBrk="1" hangingPunct="1"/>
            <a:r>
              <a:rPr lang="zh-CN" altLang="en-US" smtClean="0"/>
              <a:t>现实</a:t>
            </a:r>
          </a:p>
          <a:p>
            <a:pPr lvl="1" eaLnBrk="1" hangingPunct="1"/>
            <a:r>
              <a:rPr lang="zh-CN" altLang="en-US" smtClean="0"/>
              <a:t>税收：股利征个人所得税、股票回购不用缴税</a:t>
            </a:r>
          </a:p>
          <a:p>
            <a:pPr lvl="1" eaLnBrk="1" hangingPunct="1"/>
            <a:r>
              <a:rPr lang="zh-CN" altLang="en-US" smtClean="0"/>
              <a:t>美国的规章：股票回购同样要缴税</a:t>
            </a:r>
          </a:p>
          <a:p>
            <a:pPr lvl="1" eaLnBrk="1" hangingPunct="1"/>
            <a:r>
              <a:rPr lang="zh-CN" altLang="en-US" smtClean="0"/>
              <a:t>外部融资成本：由于信息不对称，外部融资成本高；而内部融资成本低</a:t>
            </a:r>
          </a:p>
          <a:p>
            <a:pPr lvl="1" eaLnBrk="1" hangingPunct="1"/>
            <a:r>
              <a:rPr lang="zh-CN" altLang="en-US" smtClean="0"/>
              <a:t>信息传递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E27EE4-04EE-46ED-852F-0C05C1673780}" type="slidenum">
              <a:rPr lang="zh-CN" altLang="en-US"/>
              <a:pPr>
                <a:defRPr/>
              </a:pPr>
              <a:t>67</a:t>
            </a:fld>
            <a:endParaRPr lang="en-US" altLang="zh-CN"/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举例</a:t>
            </a:r>
            <a:r>
              <a:rPr lang="en-US" altLang="zh-CN" smtClean="0"/>
              <a:t>:  </a:t>
            </a:r>
            <a:r>
              <a:rPr lang="zh-CN" altLang="en-US" smtClean="0"/>
              <a:t>股利（</a:t>
            </a:r>
            <a:r>
              <a:rPr lang="en-US" altLang="zh-CN" smtClean="0"/>
              <a:t>2</a:t>
            </a:r>
            <a:r>
              <a:rPr lang="zh-CN" altLang="en-US" smtClean="0"/>
              <a:t>元每股，</a:t>
            </a:r>
            <a:r>
              <a:rPr lang="en-US" altLang="zh-CN" smtClean="0"/>
              <a:t>50</a:t>
            </a:r>
            <a:r>
              <a:rPr lang="zh-CN" altLang="en-US" smtClean="0"/>
              <a:t>万股）</a:t>
            </a:r>
          </a:p>
        </p:txBody>
      </p:sp>
      <p:graphicFrame>
        <p:nvGraphicFramePr>
          <p:cNvPr id="88068" name="Object 3"/>
          <p:cNvGraphicFramePr>
            <a:graphicFrameLocks/>
          </p:cNvGraphicFramePr>
          <p:nvPr/>
        </p:nvGraphicFramePr>
        <p:xfrm>
          <a:off x="912813" y="2290763"/>
          <a:ext cx="7572375" cy="362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84" name="文档" r:id="rId4" imgW="7676975" imgH="3675101" progId="Word.Document.8">
                  <p:embed/>
                </p:oleObj>
              </mc:Choice>
              <mc:Fallback>
                <p:oleObj name="文档" r:id="rId4" imgW="7676975" imgH="3675101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13" y="2290763"/>
                        <a:ext cx="7572375" cy="362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7042150" y="6243638"/>
            <a:ext cx="1905000" cy="457200"/>
          </a:xfrm>
        </p:spPr>
        <p:txBody>
          <a:bodyPr/>
          <a:lstStyle/>
          <a:p>
            <a:pPr>
              <a:defRPr/>
            </a:pPr>
            <a:fld id="{26E94506-F036-49F9-8038-77A9E0E3A0E3}" type="slidenum">
              <a:rPr lang="zh-CN" altLang="en-US"/>
              <a:pPr>
                <a:defRPr/>
              </a:pPr>
              <a:t>68</a:t>
            </a:fld>
            <a:endParaRPr lang="en-US" altLang="zh-CN"/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举例: 股利支付（</a:t>
            </a:r>
            <a:r>
              <a:rPr lang="en-US" altLang="zh-CN" smtClean="0"/>
              <a:t>2</a:t>
            </a:r>
            <a:r>
              <a:rPr lang="zh-CN" altLang="en-US" smtClean="0"/>
              <a:t>元每股，</a:t>
            </a:r>
            <a:r>
              <a:rPr lang="en-US" altLang="zh-CN" smtClean="0"/>
              <a:t>50</a:t>
            </a:r>
            <a:r>
              <a:rPr lang="zh-CN" altLang="en-US" smtClean="0"/>
              <a:t>万股）</a:t>
            </a:r>
          </a:p>
        </p:txBody>
      </p:sp>
      <p:sp>
        <p:nvSpPr>
          <p:cNvPr id="90116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579937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zh-CN" altLang="en-US" sz="2400" smtClean="0"/>
          </a:p>
          <a:p>
            <a:pPr>
              <a:lnSpc>
                <a:spcPct val="90000"/>
              </a:lnSpc>
            </a:pPr>
            <a:endParaRPr lang="zh-CN" altLang="en-US" sz="2400" smtClean="0"/>
          </a:p>
          <a:p>
            <a:pPr>
              <a:lnSpc>
                <a:spcPct val="90000"/>
              </a:lnSpc>
            </a:pPr>
            <a:endParaRPr lang="zh-CN" altLang="en-US" sz="2400" smtClean="0"/>
          </a:p>
          <a:p>
            <a:pPr>
              <a:lnSpc>
                <a:spcPct val="90000"/>
              </a:lnSpc>
            </a:pPr>
            <a:endParaRPr lang="zh-CN" altLang="en-US" sz="2400" smtClean="0"/>
          </a:p>
          <a:p>
            <a:pPr>
              <a:lnSpc>
                <a:spcPct val="90000"/>
              </a:lnSpc>
            </a:pPr>
            <a:endParaRPr lang="zh-CN" altLang="en-US" sz="2400" smtClean="0"/>
          </a:p>
          <a:p>
            <a:pPr>
              <a:lnSpc>
                <a:spcPct val="90000"/>
              </a:lnSpc>
            </a:pPr>
            <a:endParaRPr lang="zh-CN" altLang="en-US" sz="2400" smtClean="0"/>
          </a:p>
          <a:p>
            <a:pPr>
              <a:lnSpc>
                <a:spcPct val="90000"/>
              </a:lnSpc>
            </a:pPr>
            <a:endParaRPr lang="zh-CN" altLang="en-US" sz="2400" smtClean="0"/>
          </a:p>
          <a:p>
            <a:pPr>
              <a:lnSpc>
                <a:spcPct val="90000"/>
              </a:lnSpc>
            </a:pPr>
            <a:endParaRPr lang="zh-CN" altLang="en-US" sz="2400" smtClean="0"/>
          </a:p>
          <a:p>
            <a:pPr>
              <a:lnSpc>
                <a:spcPct val="90000"/>
              </a:lnSpc>
            </a:pPr>
            <a:endParaRPr lang="zh-CN" altLang="en-US" sz="2400" smtClean="0"/>
          </a:p>
          <a:p>
            <a:pPr>
              <a:lnSpc>
                <a:spcPct val="90000"/>
              </a:lnSpc>
            </a:pPr>
            <a:r>
              <a:rPr lang="zh-CN" altLang="en-US" sz="2400" smtClean="0"/>
              <a:t>股票数</a:t>
            </a:r>
            <a:r>
              <a:rPr lang="en-US" altLang="zh-CN" sz="2400" smtClean="0"/>
              <a:t>50</a:t>
            </a:r>
            <a:r>
              <a:rPr lang="zh-CN" altLang="en-US" sz="2400" smtClean="0"/>
              <a:t>万</a:t>
            </a:r>
          </a:p>
          <a:p>
            <a:pPr>
              <a:lnSpc>
                <a:spcPct val="90000"/>
              </a:lnSpc>
            </a:pPr>
            <a:r>
              <a:rPr lang="zh-CN" altLang="en-US" sz="2400" smtClean="0"/>
              <a:t>每股价</a:t>
            </a:r>
            <a:r>
              <a:rPr lang="en-US" altLang="zh-CN" sz="2400" smtClean="0"/>
              <a:t>$18</a:t>
            </a:r>
          </a:p>
        </p:txBody>
      </p:sp>
      <p:graphicFrame>
        <p:nvGraphicFramePr>
          <p:cNvPr id="90117" name="Object 3"/>
          <p:cNvGraphicFramePr>
            <a:graphicFrameLocks/>
          </p:cNvGraphicFramePr>
          <p:nvPr/>
        </p:nvGraphicFramePr>
        <p:xfrm>
          <a:off x="914400" y="2292350"/>
          <a:ext cx="7567613" cy="361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45" name="文档" r:id="rId4" imgW="7676975" imgH="3680149" progId="Word.Document.8">
                  <p:embed/>
                </p:oleObj>
              </mc:Choice>
              <mc:Fallback>
                <p:oleObj name="文档" r:id="rId4" imgW="7676975" imgH="3680149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92350"/>
                        <a:ext cx="7567613" cy="361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0118" name="Group 6"/>
          <p:cNvGrpSpPr>
            <a:grpSpLocks/>
          </p:cNvGrpSpPr>
          <p:nvPr/>
        </p:nvGrpSpPr>
        <p:grpSpPr bwMode="auto">
          <a:xfrm>
            <a:off x="3352800" y="1524000"/>
            <a:ext cx="2211388" cy="1841500"/>
            <a:chOff x="2112" y="960"/>
            <a:chExt cx="1393" cy="1160"/>
          </a:xfrm>
        </p:grpSpPr>
        <p:sp>
          <p:nvSpPr>
            <p:cNvPr id="90128" name="Freeform 4"/>
            <p:cNvSpPr>
              <a:spLocks/>
            </p:cNvSpPr>
            <p:nvPr/>
          </p:nvSpPr>
          <p:spPr bwMode="auto">
            <a:xfrm>
              <a:off x="2112" y="960"/>
              <a:ext cx="1393" cy="1160"/>
            </a:xfrm>
            <a:custGeom>
              <a:avLst/>
              <a:gdLst>
                <a:gd name="T0" fmla="*/ 432 w 1393"/>
                <a:gd name="T1" fmla="*/ 0 h 1160"/>
                <a:gd name="T2" fmla="*/ 432 w 1393"/>
                <a:gd name="T3" fmla="*/ 224 h 1160"/>
                <a:gd name="T4" fmla="*/ 432 w 1393"/>
                <a:gd name="T5" fmla="*/ 224 h 1160"/>
                <a:gd name="T6" fmla="*/ 432 w 1393"/>
                <a:gd name="T7" fmla="*/ 320 h 1160"/>
                <a:gd name="T8" fmla="*/ 432 w 1393"/>
                <a:gd name="T9" fmla="*/ 384 h 1160"/>
                <a:gd name="T10" fmla="*/ 592 w 1393"/>
                <a:gd name="T11" fmla="*/ 384 h 1160"/>
                <a:gd name="T12" fmla="*/ 0 w 1393"/>
                <a:gd name="T13" fmla="*/ 1159 h 1160"/>
                <a:gd name="T14" fmla="*/ 832 w 1393"/>
                <a:gd name="T15" fmla="*/ 384 h 1160"/>
                <a:gd name="T16" fmla="*/ 1392 w 1393"/>
                <a:gd name="T17" fmla="*/ 384 h 1160"/>
                <a:gd name="T18" fmla="*/ 1392 w 1393"/>
                <a:gd name="T19" fmla="*/ 320 h 1160"/>
                <a:gd name="T20" fmla="*/ 1392 w 1393"/>
                <a:gd name="T21" fmla="*/ 224 h 1160"/>
                <a:gd name="T22" fmla="*/ 1392 w 1393"/>
                <a:gd name="T23" fmla="*/ 224 h 1160"/>
                <a:gd name="T24" fmla="*/ 1392 w 1393"/>
                <a:gd name="T25" fmla="*/ 0 h 1160"/>
                <a:gd name="T26" fmla="*/ 832 w 1393"/>
                <a:gd name="T27" fmla="*/ 0 h 1160"/>
                <a:gd name="T28" fmla="*/ 592 w 1393"/>
                <a:gd name="T29" fmla="*/ 0 h 1160"/>
                <a:gd name="T30" fmla="*/ 592 w 1393"/>
                <a:gd name="T31" fmla="*/ 0 h 1160"/>
                <a:gd name="T32" fmla="*/ 432 w 1393"/>
                <a:gd name="T33" fmla="*/ 0 h 11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393" h="1160">
                  <a:moveTo>
                    <a:pt x="432" y="0"/>
                  </a:moveTo>
                  <a:lnTo>
                    <a:pt x="432" y="224"/>
                  </a:lnTo>
                  <a:lnTo>
                    <a:pt x="432" y="320"/>
                  </a:lnTo>
                  <a:lnTo>
                    <a:pt x="432" y="384"/>
                  </a:lnTo>
                  <a:lnTo>
                    <a:pt x="592" y="384"/>
                  </a:lnTo>
                  <a:lnTo>
                    <a:pt x="0" y="1159"/>
                  </a:lnTo>
                  <a:lnTo>
                    <a:pt x="832" y="384"/>
                  </a:lnTo>
                  <a:lnTo>
                    <a:pt x="1392" y="384"/>
                  </a:lnTo>
                  <a:lnTo>
                    <a:pt x="1392" y="320"/>
                  </a:lnTo>
                  <a:lnTo>
                    <a:pt x="1392" y="224"/>
                  </a:lnTo>
                  <a:lnTo>
                    <a:pt x="1392" y="0"/>
                  </a:lnTo>
                  <a:lnTo>
                    <a:pt x="832" y="0"/>
                  </a:lnTo>
                  <a:lnTo>
                    <a:pt x="592" y="0"/>
                  </a:lnTo>
                  <a:lnTo>
                    <a:pt x="432" y="0"/>
                  </a:lnTo>
                </a:path>
              </a:pathLst>
            </a:custGeom>
            <a:solidFill>
              <a:srgbClr val="FFFFFF">
                <a:alpha val="50195"/>
              </a:srgbClr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29" name="Rectangle 5"/>
            <p:cNvSpPr>
              <a:spLocks noChangeArrowheads="1"/>
            </p:cNvSpPr>
            <p:nvPr/>
          </p:nvSpPr>
          <p:spPr bwMode="auto">
            <a:xfrm>
              <a:off x="2605" y="992"/>
              <a:ext cx="838" cy="320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zh-CN" altLang="en-US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原 2</a:t>
              </a:r>
              <a:r>
                <a:rPr lang="en-US" altLang="zh-CN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00</a:t>
              </a:r>
            </a:p>
          </p:txBody>
        </p:sp>
      </p:grpSp>
      <p:grpSp>
        <p:nvGrpSpPr>
          <p:cNvPr id="90119" name="Group 9"/>
          <p:cNvGrpSpPr>
            <a:grpSpLocks/>
          </p:cNvGrpSpPr>
          <p:nvPr/>
        </p:nvGrpSpPr>
        <p:grpSpPr bwMode="auto">
          <a:xfrm>
            <a:off x="7105650" y="1828800"/>
            <a:ext cx="1811338" cy="2241550"/>
            <a:chOff x="4476" y="1152"/>
            <a:chExt cx="1141" cy="1412"/>
          </a:xfrm>
        </p:grpSpPr>
        <p:sp>
          <p:nvSpPr>
            <p:cNvPr id="90126" name="Freeform 7"/>
            <p:cNvSpPr>
              <a:spLocks/>
            </p:cNvSpPr>
            <p:nvPr/>
          </p:nvSpPr>
          <p:spPr bwMode="auto">
            <a:xfrm>
              <a:off x="4476" y="1152"/>
              <a:ext cx="1141" cy="1412"/>
            </a:xfrm>
            <a:custGeom>
              <a:avLst/>
              <a:gdLst>
                <a:gd name="T0" fmla="*/ 180 w 1141"/>
                <a:gd name="T1" fmla="*/ 0 h 1412"/>
                <a:gd name="T2" fmla="*/ 180 w 1141"/>
                <a:gd name="T3" fmla="*/ 224 h 1412"/>
                <a:gd name="T4" fmla="*/ 180 w 1141"/>
                <a:gd name="T5" fmla="*/ 224 h 1412"/>
                <a:gd name="T6" fmla="*/ 180 w 1141"/>
                <a:gd name="T7" fmla="*/ 320 h 1412"/>
                <a:gd name="T8" fmla="*/ 180 w 1141"/>
                <a:gd name="T9" fmla="*/ 384 h 1412"/>
                <a:gd name="T10" fmla="*/ 340 w 1141"/>
                <a:gd name="T11" fmla="*/ 384 h 1412"/>
                <a:gd name="T12" fmla="*/ 0 w 1141"/>
                <a:gd name="T13" fmla="*/ 1411 h 1412"/>
                <a:gd name="T14" fmla="*/ 580 w 1141"/>
                <a:gd name="T15" fmla="*/ 384 h 1412"/>
                <a:gd name="T16" fmla="*/ 1140 w 1141"/>
                <a:gd name="T17" fmla="*/ 384 h 1412"/>
                <a:gd name="T18" fmla="*/ 1140 w 1141"/>
                <a:gd name="T19" fmla="*/ 320 h 1412"/>
                <a:gd name="T20" fmla="*/ 1140 w 1141"/>
                <a:gd name="T21" fmla="*/ 224 h 1412"/>
                <a:gd name="T22" fmla="*/ 1140 w 1141"/>
                <a:gd name="T23" fmla="*/ 224 h 1412"/>
                <a:gd name="T24" fmla="*/ 1140 w 1141"/>
                <a:gd name="T25" fmla="*/ 0 h 1412"/>
                <a:gd name="T26" fmla="*/ 580 w 1141"/>
                <a:gd name="T27" fmla="*/ 0 h 1412"/>
                <a:gd name="T28" fmla="*/ 340 w 1141"/>
                <a:gd name="T29" fmla="*/ 0 h 1412"/>
                <a:gd name="T30" fmla="*/ 340 w 1141"/>
                <a:gd name="T31" fmla="*/ 0 h 1412"/>
                <a:gd name="T32" fmla="*/ 180 w 1141"/>
                <a:gd name="T33" fmla="*/ 0 h 14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141" h="1412">
                  <a:moveTo>
                    <a:pt x="180" y="0"/>
                  </a:moveTo>
                  <a:lnTo>
                    <a:pt x="180" y="224"/>
                  </a:lnTo>
                  <a:lnTo>
                    <a:pt x="180" y="320"/>
                  </a:lnTo>
                  <a:lnTo>
                    <a:pt x="180" y="384"/>
                  </a:lnTo>
                  <a:lnTo>
                    <a:pt x="340" y="384"/>
                  </a:lnTo>
                  <a:lnTo>
                    <a:pt x="0" y="1411"/>
                  </a:lnTo>
                  <a:lnTo>
                    <a:pt x="580" y="384"/>
                  </a:lnTo>
                  <a:lnTo>
                    <a:pt x="1140" y="384"/>
                  </a:lnTo>
                  <a:lnTo>
                    <a:pt x="1140" y="320"/>
                  </a:lnTo>
                  <a:lnTo>
                    <a:pt x="1140" y="224"/>
                  </a:lnTo>
                  <a:lnTo>
                    <a:pt x="1140" y="0"/>
                  </a:lnTo>
                  <a:lnTo>
                    <a:pt x="580" y="0"/>
                  </a:lnTo>
                  <a:lnTo>
                    <a:pt x="340" y="0"/>
                  </a:lnTo>
                  <a:lnTo>
                    <a:pt x="180" y="0"/>
                  </a:lnTo>
                </a:path>
              </a:pathLst>
            </a:custGeom>
            <a:solidFill>
              <a:srgbClr val="FFFFFF">
                <a:alpha val="50195"/>
              </a:srgbClr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27" name="Rectangle 8"/>
            <p:cNvSpPr>
              <a:spLocks noChangeArrowheads="1"/>
            </p:cNvSpPr>
            <p:nvPr/>
          </p:nvSpPr>
          <p:spPr bwMode="auto">
            <a:xfrm>
              <a:off x="4717" y="1184"/>
              <a:ext cx="838" cy="320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zh-CN" altLang="en-US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原 10</a:t>
              </a:r>
              <a:r>
                <a:rPr lang="en-US" altLang="zh-CN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00</a:t>
              </a:r>
            </a:p>
          </p:txBody>
        </p:sp>
      </p:grpSp>
      <p:grpSp>
        <p:nvGrpSpPr>
          <p:cNvPr id="90120" name="Group 12"/>
          <p:cNvGrpSpPr>
            <a:grpSpLocks/>
          </p:cNvGrpSpPr>
          <p:nvPr/>
        </p:nvGrpSpPr>
        <p:grpSpPr bwMode="auto">
          <a:xfrm>
            <a:off x="6991350" y="5116513"/>
            <a:ext cx="1544638" cy="1285875"/>
            <a:chOff x="4404" y="3223"/>
            <a:chExt cx="973" cy="810"/>
          </a:xfrm>
        </p:grpSpPr>
        <p:sp>
          <p:nvSpPr>
            <p:cNvPr id="90124" name="Freeform 10"/>
            <p:cNvSpPr>
              <a:spLocks/>
            </p:cNvSpPr>
            <p:nvPr/>
          </p:nvSpPr>
          <p:spPr bwMode="auto">
            <a:xfrm>
              <a:off x="4404" y="3223"/>
              <a:ext cx="973" cy="810"/>
            </a:xfrm>
            <a:custGeom>
              <a:avLst/>
              <a:gdLst>
                <a:gd name="T0" fmla="*/ 12 w 973"/>
                <a:gd name="T1" fmla="*/ 425 h 810"/>
                <a:gd name="T2" fmla="*/ 12 w 973"/>
                <a:gd name="T3" fmla="*/ 489 h 810"/>
                <a:gd name="T4" fmla="*/ 12 w 973"/>
                <a:gd name="T5" fmla="*/ 489 h 810"/>
                <a:gd name="T6" fmla="*/ 12 w 973"/>
                <a:gd name="T7" fmla="*/ 585 h 810"/>
                <a:gd name="T8" fmla="*/ 12 w 973"/>
                <a:gd name="T9" fmla="*/ 809 h 810"/>
                <a:gd name="T10" fmla="*/ 172 w 973"/>
                <a:gd name="T11" fmla="*/ 809 h 810"/>
                <a:gd name="T12" fmla="*/ 172 w 973"/>
                <a:gd name="T13" fmla="*/ 809 h 810"/>
                <a:gd name="T14" fmla="*/ 412 w 973"/>
                <a:gd name="T15" fmla="*/ 809 h 810"/>
                <a:gd name="T16" fmla="*/ 972 w 973"/>
                <a:gd name="T17" fmla="*/ 809 h 810"/>
                <a:gd name="T18" fmla="*/ 972 w 973"/>
                <a:gd name="T19" fmla="*/ 585 h 810"/>
                <a:gd name="T20" fmla="*/ 972 w 973"/>
                <a:gd name="T21" fmla="*/ 489 h 810"/>
                <a:gd name="T22" fmla="*/ 972 w 973"/>
                <a:gd name="T23" fmla="*/ 489 h 810"/>
                <a:gd name="T24" fmla="*/ 972 w 973"/>
                <a:gd name="T25" fmla="*/ 425 h 810"/>
                <a:gd name="T26" fmla="*/ 412 w 973"/>
                <a:gd name="T27" fmla="*/ 425 h 810"/>
                <a:gd name="T28" fmla="*/ 0 w 973"/>
                <a:gd name="T29" fmla="*/ 0 h 810"/>
                <a:gd name="T30" fmla="*/ 172 w 973"/>
                <a:gd name="T31" fmla="*/ 425 h 810"/>
                <a:gd name="T32" fmla="*/ 12 w 973"/>
                <a:gd name="T33" fmla="*/ 425 h 81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73" h="810">
                  <a:moveTo>
                    <a:pt x="12" y="425"/>
                  </a:moveTo>
                  <a:lnTo>
                    <a:pt x="12" y="489"/>
                  </a:lnTo>
                  <a:lnTo>
                    <a:pt x="12" y="585"/>
                  </a:lnTo>
                  <a:lnTo>
                    <a:pt x="12" y="809"/>
                  </a:lnTo>
                  <a:lnTo>
                    <a:pt x="172" y="809"/>
                  </a:lnTo>
                  <a:lnTo>
                    <a:pt x="412" y="809"/>
                  </a:lnTo>
                  <a:lnTo>
                    <a:pt x="972" y="809"/>
                  </a:lnTo>
                  <a:lnTo>
                    <a:pt x="972" y="585"/>
                  </a:lnTo>
                  <a:lnTo>
                    <a:pt x="972" y="489"/>
                  </a:lnTo>
                  <a:lnTo>
                    <a:pt x="972" y="425"/>
                  </a:lnTo>
                  <a:lnTo>
                    <a:pt x="412" y="425"/>
                  </a:lnTo>
                  <a:lnTo>
                    <a:pt x="0" y="0"/>
                  </a:lnTo>
                  <a:lnTo>
                    <a:pt x="172" y="425"/>
                  </a:lnTo>
                  <a:lnTo>
                    <a:pt x="12" y="425"/>
                  </a:lnTo>
                </a:path>
              </a:pathLst>
            </a:custGeom>
            <a:solidFill>
              <a:srgbClr val="FFFFFF">
                <a:alpha val="50195"/>
              </a:srgbClr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25" name="Rectangle 11"/>
            <p:cNvSpPr>
              <a:spLocks noChangeArrowheads="1"/>
            </p:cNvSpPr>
            <p:nvPr/>
          </p:nvSpPr>
          <p:spPr bwMode="auto">
            <a:xfrm>
              <a:off x="4477" y="3680"/>
              <a:ext cx="838" cy="320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zh-CN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Were 12</a:t>
              </a:r>
            </a:p>
          </p:txBody>
        </p:sp>
      </p:grpSp>
      <p:grpSp>
        <p:nvGrpSpPr>
          <p:cNvPr id="90121" name="Group 15"/>
          <p:cNvGrpSpPr>
            <a:grpSpLocks/>
          </p:cNvGrpSpPr>
          <p:nvPr/>
        </p:nvGrpSpPr>
        <p:grpSpPr bwMode="auto">
          <a:xfrm>
            <a:off x="3314700" y="5002213"/>
            <a:ext cx="5221288" cy="1400175"/>
            <a:chOff x="2088" y="3151"/>
            <a:chExt cx="3289" cy="882"/>
          </a:xfrm>
        </p:grpSpPr>
        <p:sp>
          <p:nvSpPr>
            <p:cNvPr id="90122" name="Freeform 13"/>
            <p:cNvSpPr>
              <a:spLocks/>
            </p:cNvSpPr>
            <p:nvPr/>
          </p:nvSpPr>
          <p:spPr bwMode="auto">
            <a:xfrm>
              <a:off x="2088" y="3151"/>
              <a:ext cx="3289" cy="882"/>
            </a:xfrm>
            <a:custGeom>
              <a:avLst/>
              <a:gdLst>
                <a:gd name="T0" fmla="*/ 2328 w 3289"/>
                <a:gd name="T1" fmla="*/ 497 h 882"/>
                <a:gd name="T2" fmla="*/ 2328 w 3289"/>
                <a:gd name="T3" fmla="*/ 561 h 882"/>
                <a:gd name="T4" fmla="*/ 0 w 3289"/>
                <a:gd name="T5" fmla="*/ 0 h 882"/>
                <a:gd name="T6" fmla="*/ 2328 w 3289"/>
                <a:gd name="T7" fmla="*/ 657 h 882"/>
                <a:gd name="T8" fmla="*/ 2328 w 3289"/>
                <a:gd name="T9" fmla="*/ 881 h 882"/>
                <a:gd name="T10" fmla="*/ 2488 w 3289"/>
                <a:gd name="T11" fmla="*/ 881 h 882"/>
                <a:gd name="T12" fmla="*/ 2488 w 3289"/>
                <a:gd name="T13" fmla="*/ 881 h 882"/>
                <a:gd name="T14" fmla="*/ 2728 w 3289"/>
                <a:gd name="T15" fmla="*/ 881 h 882"/>
                <a:gd name="T16" fmla="*/ 3288 w 3289"/>
                <a:gd name="T17" fmla="*/ 881 h 882"/>
                <a:gd name="T18" fmla="*/ 3288 w 3289"/>
                <a:gd name="T19" fmla="*/ 657 h 882"/>
                <a:gd name="T20" fmla="*/ 3288 w 3289"/>
                <a:gd name="T21" fmla="*/ 561 h 882"/>
                <a:gd name="T22" fmla="*/ 3288 w 3289"/>
                <a:gd name="T23" fmla="*/ 561 h 882"/>
                <a:gd name="T24" fmla="*/ 3288 w 3289"/>
                <a:gd name="T25" fmla="*/ 497 h 882"/>
                <a:gd name="T26" fmla="*/ 2728 w 3289"/>
                <a:gd name="T27" fmla="*/ 497 h 882"/>
                <a:gd name="T28" fmla="*/ 2488 w 3289"/>
                <a:gd name="T29" fmla="*/ 497 h 882"/>
                <a:gd name="T30" fmla="*/ 2488 w 3289"/>
                <a:gd name="T31" fmla="*/ 497 h 882"/>
                <a:gd name="T32" fmla="*/ 2328 w 3289"/>
                <a:gd name="T33" fmla="*/ 497 h 88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289" h="882">
                  <a:moveTo>
                    <a:pt x="2328" y="497"/>
                  </a:moveTo>
                  <a:lnTo>
                    <a:pt x="2328" y="561"/>
                  </a:lnTo>
                  <a:lnTo>
                    <a:pt x="0" y="0"/>
                  </a:lnTo>
                  <a:lnTo>
                    <a:pt x="2328" y="657"/>
                  </a:lnTo>
                  <a:lnTo>
                    <a:pt x="2328" y="881"/>
                  </a:lnTo>
                  <a:lnTo>
                    <a:pt x="2488" y="881"/>
                  </a:lnTo>
                  <a:lnTo>
                    <a:pt x="2728" y="881"/>
                  </a:lnTo>
                  <a:lnTo>
                    <a:pt x="3288" y="881"/>
                  </a:lnTo>
                  <a:lnTo>
                    <a:pt x="3288" y="657"/>
                  </a:lnTo>
                  <a:lnTo>
                    <a:pt x="3288" y="561"/>
                  </a:lnTo>
                  <a:lnTo>
                    <a:pt x="3288" y="497"/>
                  </a:lnTo>
                  <a:lnTo>
                    <a:pt x="2728" y="497"/>
                  </a:lnTo>
                  <a:lnTo>
                    <a:pt x="2488" y="497"/>
                  </a:lnTo>
                  <a:lnTo>
                    <a:pt x="2328" y="497"/>
                  </a:lnTo>
                </a:path>
              </a:pathLst>
            </a:custGeom>
            <a:solidFill>
              <a:srgbClr val="FFFFFF">
                <a:alpha val="50195"/>
              </a:srgbClr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23" name="Rectangle 14"/>
            <p:cNvSpPr>
              <a:spLocks noChangeArrowheads="1"/>
            </p:cNvSpPr>
            <p:nvPr/>
          </p:nvSpPr>
          <p:spPr bwMode="auto">
            <a:xfrm>
              <a:off x="4477" y="3680"/>
              <a:ext cx="838" cy="320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zh-CN" altLang="en-US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原 12</a:t>
              </a:r>
              <a:r>
                <a:rPr lang="en-US" altLang="zh-CN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00</a:t>
              </a: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不完美的市场条件下</a:t>
            </a:r>
          </a:p>
        </p:txBody>
      </p:sp>
      <p:sp>
        <p:nvSpPr>
          <p:cNvPr id="921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股利支付政策影响股东财富</a:t>
            </a:r>
            <a:endParaRPr lang="en-US" altLang="zh-CN" smtClean="0"/>
          </a:p>
          <a:p>
            <a:pPr lvl="1"/>
            <a:r>
              <a:rPr lang="zh-CN" altLang="en-US" smtClean="0"/>
              <a:t>可能增加股东财富，如中国神华支付现金股利</a:t>
            </a:r>
            <a:endParaRPr lang="en-US" altLang="zh-CN" smtClean="0"/>
          </a:p>
          <a:p>
            <a:pPr lvl="1"/>
            <a:r>
              <a:rPr lang="zh-CN" altLang="en-US" smtClean="0"/>
              <a:t>可能降低股东财富，如经营业绩差、资金非常紧张的公司支付现金股利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中国神华（</a:t>
            </a:r>
            <a:r>
              <a:rPr lang="en-US" altLang="zh-CN" smtClean="0"/>
              <a:t>601088.SH 1088.HK</a:t>
            </a:r>
            <a:r>
              <a:rPr lang="zh-CN" altLang="en-US" smtClean="0"/>
              <a:t>）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altLang="zh-CN" dirty="0"/>
              <a:t>2021.3.26</a:t>
            </a:r>
            <a:r>
              <a:rPr lang="zh-CN" altLang="en-US" dirty="0"/>
              <a:t>中国神华</a:t>
            </a:r>
            <a:r>
              <a:rPr lang="en-US" altLang="zh-CN" dirty="0"/>
              <a:t>A</a:t>
            </a:r>
            <a:r>
              <a:rPr lang="zh-CN" altLang="en-US" dirty="0"/>
              <a:t>股微涨</a:t>
            </a:r>
            <a:r>
              <a:rPr lang="en-US" altLang="zh-CN" dirty="0"/>
              <a:t>0.17%</a:t>
            </a:r>
            <a:r>
              <a:rPr lang="zh-CN" altLang="en-US" dirty="0"/>
              <a:t>，收于</a:t>
            </a:r>
            <a:r>
              <a:rPr lang="en-US" altLang="zh-CN" dirty="0"/>
              <a:t>18.13</a:t>
            </a:r>
            <a:r>
              <a:rPr lang="zh-CN" altLang="en-US" dirty="0"/>
              <a:t>；港股上涨</a:t>
            </a:r>
            <a:r>
              <a:rPr lang="en-US" altLang="zh-CN" dirty="0"/>
              <a:t>0.69%</a:t>
            </a:r>
            <a:r>
              <a:rPr lang="zh-CN" altLang="en-US" dirty="0"/>
              <a:t>，收于</a:t>
            </a:r>
            <a:r>
              <a:rPr lang="en-US" altLang="zh-CN" dirty="0"/>
              <a:t>14.50</a:t>
            </a:r>
            <a:r>
              <a:rPr lang="zh-CN" altLang="en-US" dirty="0"/>
              <a:t>港币（按当日汇率折人民币</a:t>
            </a:r>
            <a:r>
              <a:rPr lang="en-US" altLang="zh-CN" dirty="0"/>
              <a:t>12.2</a:t>
            </a:r>
            <a:r>
              <a:rPr lang="zh-CN" altLang="en-US" dirty="0"/>
              <a:t>元）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2021-03-26 19:33 </a:t>
            </a:r>
            <a:r>
              <a:rPr lang="zh-CN" altLang="en-US" dirty="0"/>
              <a:t>公告利润分配方案，每股派发现金红利</a:t>
            </a:r>
            <a:r>
              <a:rPr lang="en-US" altLang="zh-CN" dirty="0"/>
              <a:t>1.81</a:t>
            </a:r>
            <a:r>
              <a:rPr lang="zh-CN" altLang="en-US" dirty="0"/>
              <a:t>元，按照</a:t>
            </a:r>
            <a:r>
              <a:rPr lang="en-US" altLang="zh-CN" dirty="0"/>
              <a:t>3.26A</a:t>
            </a:r>
            <a:r>
              <a:rPr lang="zh-CN" altLang="en-US" dirty="0"/>
              <a:t>股收盘价</a:t>
            </a:r>
            <a:r>
              <a:rPr lang="en-US" altLang="zh-CN" dirty="0"/>
              <a:t>18.13</a:t>
            </a:r>
            <a:r>
              <a:rPr lang="zh-CN" altLang="en-US" dirty="0"/>
              <a:t>计算，股息收益率</a:t>
            </a:r>
            <a:r>
              <a:rPr lang="en-US" altLang="zh-CN" dirty="0"/>
              <a:t>10%</a:t>
            </a:r>
            <a:r>
              <a:rPr lang="zh-CN" altLang="en-US" dirty="0"/>
              <a:t>！按港股折人民币</a:t>
            </a:r>
            <a:r>
              <a:rPr lang="en-US" altLang="zh-CN" dirty="0"/>
              <a:t>12.2</a:t>
            </a:r>
            <a:r>
              <a:rPr lang="zh-CN" altLang="en-US" dirty="0"/>
              <a:t>元计算，股息收益率</a:t>
            </a:r>
            <a:r>
              <a:rPr lang="en-US" altLang="zh-CN" dirty="0"/>
              <a:t>14.8%</a:t>
            </a:r>
            <a:r>
              <a:rPr lang="zh-CN" altLang="en-US" dirty="0"/>
              <a:t>！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2021-03-29</a:t>
            </a:r>
            <a:r>
              <a:rPr lang="zh-CN" altLang="en-US" dirty="0"/>
              <a:t>：</a:t>
            </a:r>
            <a:r>
              <a:rPr lang="en-US" altLang="zh-CN" dirty="0"/>
              <a:t>A</a:t>
            </a:r>
            <a:r>
              <a:rPr lang="zh-CN" altLang="en-US" dirty="0"/>
              <a:t>股涨停（</a:t>
            </a:r>
            <a:r>
              <a:rPr lang="en-US" altLang="zh-CN" dirty="0"/>
              <a:t>9.98%</a:t>
            </a:r>
            <a:r>
              <a:rPr lang="zh-CN" altLang="en-US" dirty="0"/>
              <a:t>），港股上涨</a:t>
            </a:r>
            <a:r>
              <a:rPr lang="en-US" altLang="zh-CN" dirty="0"/>
              <a:t>10.34%</a:t>
            </a:r>
          </a:p>
          <a:p>
            <a:pPr>
              <a:defRPr/>
            </a:pPr>
            <a:r>
              <a:rPr lang="en-US" altLang="zh-CN" dirty="0"/>
              <a:t>2021-03-30</a:t>
            </a:r>
            <a:r>
              <a:rPr lang="zh-CN" altLang="en-US" dirty="0"/>
              <a:t>：</a:t>
            </a:r>
            <a:r>
              <a:rPr lang="en-US" altLang="zh-CN" dirty="0"/>
              <a:t>A</a:t>
            </a:r>
            <a:r>
              <a:rPr lang="zh-CN" altLang="en-US" dirty="0"/>
              <a:t>股上涨</a:t>
            </a:r>
            <a:r>
              <a:rPr lang="en-US" altLang="zh-CN" dirty="0"/>
              <a:t>2.26%</a:t>
            </a:r>
            <a:r>
              <a:rPr lang="zh-CN" altLang="en-US" dirty="0"/>
              <a:t>，港股下跌</a:t>
            </a:r>
            <a:r>
              <a:rPr lang="en-US" altLang="zh-CN" dirty="0"/>
              <a:t>0.38%</a:t>
            </a:r>
          </a:p>
          <a:p>
            <a:pPr>
              <a:defRPr/>
            </a:pPr>
            <a:r>
              <a:rPr lang="en-US" altLang="zh-CN" dirty="0"/>
              <a:t>2021-03-31</a:t>
            </a:r>
            <a:r>
              <a:rPr lang="zh-CN" altLang="en-US" dirty="0"/>
              <a:t>：</a:t>
            </a:r>
            <a:r>
              <a:rPr lang="en-US" altLang="zh-CN" dirty="0"/>
              <a:t>A</a:t>
            </a:r>
            <a:r>
              <a:rPr lang="zh-CN" altLang="en-US" dirty="0"/>
              <a:t>股下跌</a:t>
            </a:r>
            <a:r>
              <a:rPr lang="en-US" altLang="zh-CN" dirty="0"/>
              <a:t>1.42%</a:t>
            </a:r>
            <a:r>
              <a:rPr lang="zh-CN" altLang="en-US" dirty="0"/>
              <a:t>，港股上涨</a:t>
            </a:r>
            <a:r>
              <a:rPr lang="en-US" altLang="zh-CN" dirty="0"/>
              <a:t>0.50%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中国神华（</a:t>
            </a:r>
            <a:r>
              <a:rPr lang="en-US" altLang="zh-CN" smtClean="0"/>
              <a:t>601088.SH 1088.HK</a:t>
            </a:r>
            <a:r>
              <a:rPr lang="zh-CN" altLang="en-US" smtClean="0"/>
              <a:t>）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zh-CN" dirty="0"/>
              <a:t>2022.3.25</a:t>
            </a:r>
            <a:r>
              <a:rPr lang="zh-CN" altLang="en-US" dirty="0"/>
              <a:t>中国神华</a:t>
            </a:r>
            <a:r>
              <a:rPr lang="en-US" altLang="zh-CN" dirty="0"/>
              <a:t>A</a:t>
            </a:r>
            <a:r>
              <a:rPr lang="zh-CN" altLang="en-US" dirty="0"/>
              <a:t>股微跌</a:t>
            </a:r>
            <a:r>
              <a:rPr lang="en-US" altLang="zh-CN" dirty="0"/>
              <a:t>0.07%</a:t>
            </a:r>
            <a:r>
              <a:rPr lang="zh-CN" altLang="en-US" dirty="0"/>
              <a:t>，收于</a:t>
            </a:r>
            <a:r>
              <a:rPr lang="en-US" altLang="zh-CN" dirty="0"/>
              <a:t>27.18</a:t>
            </a:r>
            <a:r>
              <a:rPr lang="zh-CN" altLang="en-US" dirty="0"/>
              <a:t>；港股下跌</a:t>
            </a:r>
            <a:r>
              <a:rPr lang="en-US" altLang="zh-CN" dirty="0"/>
              <a:t>1.33%</a:t>
            </a:r>
            <a:r>
              <a:rPr lang="zh-CN" altLang="en-US" dirty="0"/>
              <a:t>，收于</a:t>
            </a:r>
            <a:r>
              <a:rPr lang="en-US" altLang="zh-CN" dirty="0"/>
              <a:t>22.3</a:t>
            </a:r>
            <a:r>
              <a:rPr lang="zh-CN" altLang="en-US" dirty="0"/>
              <a:t>港币（按当日汇率折人民币</a:t>
            </a:r>
            <a:r>
              <a:rPr lang="en-US" altLang="zh-CN" dirty="0"/>
              <a:t>18.17</a:t>
            </a:r>
            <a:r>
              <a:rPr lang="zh-CN" altLang="en-US" dirty="0"/>
              <a:t>元）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2022-03-25</a:t>
            </a:r>
            <a:r>
              <a:rPr lang="zh-CN" altLang="en-US" dirty="0"/>
              <a:t>晚间公告利润分配方案，每股派发现金红利人民币</a:t>
            </a:r>
            <a:r>
              <a:rPr lang="en-US" altLang="zh-CN" dirty="0"/>
              <a:t>2.54</a:t>
            </a:r>
            <a:r>
              <a:rPr lang="zh-CN" altLang="en-US" dirty="0"/>
              <a:t>元，按照</a:t>
            </a:r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25 </a:t>
            </a:r>
            <a:r>
              <a:rPr lang="zh-CN" altLang="en-US" dirty="0"/>
              <a:t>日</a:t>
            </a:r>
            <a:r>
              <a:rPr lang="en-US" altLang="zh-CN" dirty="0"/>
              <a:t>A</a:t>
            </a:r>
            <a:r>
              <a:rPr lang="zh-CN" altLang="en-US" dirty="0"/>
              <a:t>股收盘价</a:t>
            </a:r>
            <a:r>
              <a:rPr lang="en-US" altLang="zh-CN" dirty="0"/>
              <a:t>27.18</a:t>
            </a:r>
            <a:r>
              <a:rPr lang="zh-CN" altLang="en-US" dirty="0"/>
              <a:t>计算，股息收益率</a:t>
            </a:r>
            <a:r>
              <a:rPr lang="en-US" altLang="zh-CN" dirty="0"/>
              <a:t>9.35%</a:t>
            </a:r>
            <a:r>
              <a:rPr lang="zh-CN" altLang="en-US" dirty="0"/>
              <a:t>！按港股折人民币</a:t>
            </a:r>
            <a:r>
              <a:rPr lang="en-US" altLang="zh-CN" dirty="0"/>
              <a:t>18.17</a:t>
            </a:r>
            <a:r>
              <a:rPr lang="zh-CN" altLang="en-US" dirty="0"/>
              <a:t>元计算，股息收益率</a:t>
            </a:r>
            <a:r>
              <a:rPr lang="en-US" altLang="zh-CN" dirty="0"/>
              <a:t>13.98%</a:t>
            </a:r>
            <a:r>
              <a:rPr lang="zh-CN" altLang="en-US" dirty="0"/>
              <a:t>！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2021-03-28</a:t>
            </a:r>
            <a:r>
              <a:rPr lang="zh-CN" altLang="en-US" dirty="0"/>
              <a:t>：</a:t>
            </a:r>
            <a:r>
              <a:rPr lang="en-US" altLang="zh-CN" dirty="0"/>
              <a:t>A</a:t>
            </a:r>
            <a:r>
              <a:rPr lang="zh-CN" altLang="en-US" dirty="0"/>
              <a:t>股上涨</a:t>
            </a:r>
            <a:r>
              <a:rPr lang="en-US" altLang="zh-CN" dirty="0"/>
              <a:t>7.51 % </a:t>
            </a:r>
            <a:r>
              <a:rPr lang="zh-CN" altLang="en-US" dirty="0"/>
              <a:t>，港股上涨</a:t>
            </a:r>
            <a:r>
              <a:rPr lang="en-US" altLang="zh-CN" dirty="0"/>
              <a:t>9.42%</a:t>
            </a:r>
          </a:p>
          <a:p>
            <a:pPr>
              <a:defRPr/>
            </a:pPr>
            <a:r>
              <a:rPr lang="en-US" altLang="zh-CN" dirty="0"/>
              <a:t>2021-03-29</a:t>
            </a:r>
            <a:r>
              <a:rPr lang="zh-CN" altLang="en-US" dirty="0"/>
              <a:t>：</a:t>
            </a:r>
            <a:r>
              <a:rPr lang="en-US" altLang="zh-CN" dirty="0"/>
              <a:t>A</a:t>
            </a:r>
            <a:r>
              <a:rPr lang="zh-CN" altLang="en-US" dirty="0"/>
              <a:t>股上涨</a:t>
            </a:r>
            <a:r>
              <a:rPr lang="en-US" altLang="zh-CN" dirty="0"/>
              <a:t>2.94%</a:t>
            </a:r>
            <a:r>
              <a:rPr lang="zh-CN" altLang="en-US" dirty="0"/>
              <a:t>，港股上涨</a:t>
            </a:r>
            <a:r>
              <a:rPr lang="en-US" altLang="zh-CN" dirty="0"/>
              <a:t>4.71%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576A7A-2524-4105-B2D3-56F1847AA684}" type="slidenum">
              <a:rPr lang="zh-CN" altLang="en-US"/>
              <a:pPr>
                <a:defRPr/>
              </a:pPr>
              <a:t>72</a:t>
            </a:fld>
            <a:endParaRPr lang="en-US" altLang="zh-CN"/>
          </a:p>
        </p:txBody>
      </p:sp>
      <p:sp>
        <p:nvSpPr>
          <p:cNvPr id="9523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举例</a:t>
            </a:r>
            <a:r>
              <a:rPr lang="en-US" altLang="zh-CN" smtClean="0"/>
              <a:t>: </a:t>
            </a:r>
            <a:r>
              <a:rPr lang="zh-CN" altLang="en-US" smtClean="0"/>
              <a:t>股票回购（回购</a:t>
            </a:r>
            <a:r>
              <a:rPr lang="en-US" altLang="zh-CN" smtClean="0"/>
              <a:t>5</a:t>
            </a:r>
            <a:r>
              <a:rPr lang="zh-CN" altLang="en-US" smtClean="0"/>
              <a:t>万股票，每股</a:t>
            </a:r>
            <a:r>
              <a:rPr lang="en-US" altLang="zh-CN" smtClean="0"/>
              <a:t>20</a:t>
            </a:r>
            <a:r>
              <a:rPr lang="zh-CN" altLang="en-US" smtClean="0"/>
              <a:t>元）</a:t>
            </a:r>
          </a:p>
        </p:txBody>
      </p:sp>
      <p:graphicFrame>
        <p:nvGraphicFramePr>
          <p:cNvPr id="95236" name="Object 3"/>
          <p:cNvGraphicFramePr>
            <a:graphicFrameLocks/>
          </p:cNvGraphicFramePr>
          <p:nvPr/>
        </p:nvGraphicFramePr>
        <p:xfrm>
          <a:off x="914400" y="2292350"/>
          <a:ext cx="7567613" cy="361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52" name="文档" r:id="rId4" imgW="7676975" imgH="3680149" progId="Word.Document.8">
                  <p:embed/>
                </p:oleObj>
              </mc:Choice>
              <mc:Fallback>
                <p:oleObj name="文档" r:id="rId4" imgW="7676975" imgH="3680149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92350"/>
                        <a:ext cx="7567613" cy="361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7042150" y="6243638"/>
            <a:ext cx="1905000" cy="457200"/>
          </a:xfrm>
        </p:spPr>
        <p:txBody>
          <a:bodyPr/>
          <a:lstStyle/>
          <a:p>
            <a:pPr>
              <a:defRPr/>
            </a:pPr>
            <a:fld id="{47F0C931-D4C7-489B-A3F5-59F673D39E5D}" type="slidenum">
              <a:rPr lang="zh-CN" altLang="en-US"/>
              <a:pPr>
                <a:defRPr/>
              </a:pPr>
              <a:t>73</a:t>
            </a:fld>
            <a:endParaRPr lang="en-US" altLang="zh-CN"/>
          </a:p>
        </p:txBody>
      </p:sp>
      <p:sp>
        <p:nvSpPr>
          <p:cNvPr id="9728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举例: 股票回购</a:t>
            </a:r>
            <a:br>
              <a:rPr lang="zh-CN" altLang="en-US" smtClean="0"/>
            </a:br>
            <a:r>
              <a:rPr lang="zh-CN" altLang="en-US" smtClean="0"/>
              <a:t>（回购</a:t>
            </a:r>
            <a:r>
              <a:rPr lang="en-US" altLang="zh-CN" smtClean="0"/>
              <a:t>5</a:t>
            </a:r>
            <a:r>
              <a:rPr lang="zh-CN" altLang="en-US" smtClean="0"/>
              <a:t>万股票，每股</a:t>
            </a:r>
            <a:r>
              <a:rPr lang="en-US" altLang="zh-CN" smtClean="0"/>
              <a:t>20</a:t>
            </a:r>
            <a:r>
              <a:rPr lang="zh-CN" altLang="en-US" smtClean="0"/>
              <a:t>元）</a:t>
            </a:r>
          </a:p>
        </p:txBody>
      </p:sp>
      <p:sp>
        <p:nvSpPr>
          <p:cNvPr id="97284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539750" y="5157788"/>
            <a:ext cx="7772400" cy="4840287"/>
          </a:xfrm>
        </p:spPr>
        <p:txBody>
          <a:bodyPr/>
          <a:lstStyle/>
          <a:p>
            <a:endParaRPr lang="zh-CN" altLang="en-US" smtClean="0"/>
          </a:p>
          <a:p>
            <a:r>
              <a:rPr lang="zh-CN" altLang="en-US" sz="2400" smtClean="0"/>
              <a:t>股票数</a:t>
            </a:r>
            <a:r>
              <a:rPr lang="en-US" altLang="zh-CN" sz="2400" smtClean="0"/>
              <a:t>45</a:t>
            </a:r>
            <a:r>
              <a:rPr lang="zh-CN" altLang="en-US" sz="2400" smtClean="0"/>
              <a:t>万股</a:t>
            </a:r>
          </a:p>
          <a:p>
            <a:r>
              <a:rPr lang="zh-CN" altLang="en-US" sz="2400" smtClean="0"/>
              <a:t>每股价格</a:t>
            </a:r>
            <a:r>
              <a:rPr lang="en-US" altLang="zh-CN" sz="2400" smtClean="0"/>
              <a:t>$20</a:t>
            </a:r>
            <a:endParaRPr lang="zh-CN" altLang="en-US" sz="2400" smtClean="0"/>
          </a:p>
          <a:p>
            <a:endParaRPr lang="zh-CN" altLang="en-US" sz="2400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</p:txBody>
      </p:sp>
      <p:graphicFrame>
        <p:nvGraphicFramePr>
          <p:cNvPr id="97285" name="Object 3"/>
          <p:cNvGraphicFramePr>
            <a:graphicFrameLocks/>
          </p:cNvGraphicFramePr>
          <p:nvPr/>
        </p:nvGraphicFramePr>
        <p:xfrm>
          <a:off x="900113" y="2276475"/>
          <a:ext cx="7670800" cy="302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13" name="文档" r:id="rId4" imgW="7676975" imgH="3675101" progId="Word.Document.8">
                  <p:embed/>
                </p:oleObj>
              </mc:Choice>
              <mc:Fallback>
                <p:oleObj name="文档" r:id="rId4" imgW="7676975" imgH="3675101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276475"/>
                        <a:ext cx="7670800" cy="302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7286" name="Group 6"/>
          <p:cNvGrpSpPr>
            <a:grpSpLocks/>
          </p:cNvGrpSpPr>
          <p:nvPr/>
        </p:nvGrpSpPr>
        <p:grpSpPr bwMode="auto">
          <a:xfrm>
            <a:off x="3352800" y="1524000"/>
            <a:ext cx="2211388" cy="1841500"/>
            <a:chOff x="2112" y="960"/>
            <a:chExt cx="1393" cy="1160"/>
          </a:xfrm>
        </p:grpSpPr>
        <p:sp>
          <p:nvSpPr>
            <p:cNvPr id="97296" name="Freeform 4"/>
            <p:cNvSpPr>
              <a:spLocks/>
            </p:cNvSpPr>
            <p:nvPr/>
          </p:nvSpPr>
          <p:spPr bwMode="auto">
            <a:xfrm>
              <a:off x="2112" y="960"/>
              <a:ext cx="1393" cy="1160"/>
            </a:xfrm>
            <a:custGeom>
              <a:avLst/>
              <a:gdLst>
                <a:gd name="T0" fmla="*/ 432 w 1393"/>
                <a:gd name="T1" fmla="*/ 0 h 1160"/>
                <a:gd name="T2" fmla="*/ 432 w 1393"/>
                <a:gd name="T3" fmla="*/ 224 h 1160"/>
                <a:gd name="T4" fmla="*/ 432 w 1393"/>
                <a:gd name="T5" fmla="*/ 224 h 1160"/>
                <a:gd name="T6" fmla="*/ 432 w 1393"/>
                <a:gd name="T7" fmla="*/ 320 h 1160"/>
                <a:gd name="T8" fmla="*/ 432 w 1393"/>
                <a:gd name="T9" fmla="*/ 384 h 1160"/>
                <a:gd name="T10" fmla="*/ 592 w 1393"/>
                <a:gd name="T11" fmla="*/ 384 h 1160"/>
                <a:gd name="T12" fmla="*/ 0 w 1393"/>
                <a:gd name="T13" fmla="*/ 1159 h 1160"/>
                <a:gd name="T14" fmla="*/ 832 w 1393"/>
                <a:gd name="T15" fmla="*/ 384 h 1160"/>
                <a:gd name="T16" fmla="*/ 1392 w 1393"/>
                <a:gd name="T17" fmla="*/ 384 h 1160"/>
                <a:gd name="T18" fmla="*/ 1392 w 1393"/>
                <a:gd name="T19" fmla="*/ 320 h 1160"/>
                <a:gd name="T20" fmla="*/ 1392 w 1393"/>
                <a:gd name="T21" fmla="*/ 224 h 1160"/>
                <a:gd name="T22" fmla="*/ 1392 w 1393"/>
                <a:gd name="T23" fmla="*/ 224 h 1160"/>
                <a:gd name="T24" fmla="*/ 1392 w 1393"/>
                <a:gd name="T25" fmla="*/ 0 h 1160"/>
                <a:gd name="T26" fmla="*/ 832 w 1393"/>
                <a:gd name="T27" fmla="*/ 0 h 1160"/>
                <a:gd name="T28" fmla="*/ 592 w 1393"/>
                <a:gd name="T29" fmla="*/ 0 h 1160"/>
                <a:gd name="T30" fmla="*/ 592 w 1393"/>
                <a:gd name="T31" fmla="*/ 0 h 1160"/>
                <a:gd name="T32" fmla="*/ 432 w 1393"/>
                <a:gd name="T33" fmla="*/ 0 h 11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393" h="1160">
                  <a:moveTo>
                    <a:pt x="432" y="0"/>
                  </a:moveTo>
                  <a:lnTo>
                    <a:pt x="432" y="224"/>
                  </a:lnTo>
                  <a:lnTo>
                    <a:pt x="432" y="320"/>
                  </a:lnTo>
                  <a:lnTo>
                    <a:pt x="432" y="384"/>
                  </a:lnTo>
                  <a:lnTo>
                    <a:pt x="592" y="384"/>
                  </a:lnTo>
                  <a:lnTo>
                    <a:pt x="0" y="1159"/>
                  </a:lnTo>
                  <a:lnTo>
                    <a:pt x="832" y="384"/>
                  </a:lnTo>
                  <a:lnTo>
                    <a:pt x="1392" y="384"/>
                  </a:lnTo>
                  <a:lnTo>
                    <a:pt x="1392" y="320"/>
                  </a:lnTo>
                  <a:lnTo>
                    <a:pt x="1392" y="224"/>
                  </a:lnTo>
                  <a:lnTo>
                    <a:pt x="1392" y="0"/>
                  </a:lnTo>
                  <a:lnTo>
                    <a:pt x="832" y="0"/>
                  </a:lnTo>
                  <a:lnTo>
                    <a:pt x="592" y="0"/>
                  </a:lnTo>
                  <a:lnTo>
                    <a:pt x="432" y="0"/>
                  </a:lnTo>
                </a:path>
              </a:pathLst>
            </a:custGeom>
            <a:solidFill>
              <a:srgbClr val="FFFFFF">
                <a:alpha val="50195"/>
              </a:srgbClr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297" name="Rectangle 5"/>
            <p:cNvSpPr>
              <a:spLocks noChangeArrowheads="1"/>
            </p:cNvSpPr>
            <p:nvPr/>
          </p:nvSpPr>
          <p:spPr bwMode="auto">
            <a:xfrm>
              <a:off x="2605" y="992"/>
              <a:ext cx="838" cy="320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zh-CN" altLang="en-US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原 2</a:t>
              </a:r>
              <a:r>
                <a:rPr lang="en-US" altLang="zh-CN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00</a:t>
              </a:r>
            </a:p>
          </p:txBody>
        </p:sp>
      </p:grpSp>
      <p:grpSp>
        <p:nvGrpSpPr>
          <p:cNvPr id="97287" name="Group 9"/>
          <p:cNvGrpSpPr>
            <a:grpSpLocks/>
          </p:cNvGrpSpPr>
          <p:nvPr/>
        </p:nvGrpSpPr>
        <p:grpSpPr bwMode="auto">
          <a:xfrm>
            <a:off x="7105650" y="1828800"/>
            <a:ext cx="1811338" cy="2241550"/>
            <a:chOff x="4476" y="1152"/>
            <a:chExt cx="1141" cy="1412"/>
          </a:xfrm>
        </p:grpSpPr>
        <p:sp>
          <p:nvSpPr>
            <p:cNvPr id="97294" name="Freeform 7"/>
            <p:cNvSpPr>
              <a:spLocks/>
            </p:cNvSpPr>
            <p:nvPr/>
          </p:nvSpPr>
          <p:spPr bwMode="auto">
            <a:xfrm>
              <a:off x="4476" y="1152"/>
              <a:ext cx="1141" cy="1412"/>
            </a:xfrm>
            <a:custGeom>
              <a:avLst/>
              <a:gdLst>
                <a:gd name="T0" fmla="*/ 180 w 1141"/>
                <a:gd name="T1" fmla="*/ 0 h 1412"/>
                <a:gd name="T2" fmla="*/ 180 w 1141"/>
                <a:gd name="T3" fmla="*/ 224 h 1412"/>
                <a:gd name="T4" fmla="*/ 180 w 1141"/>
                <a:gd name="T5" fmla="*/ 224 h 1412"/>
                <a:gd name="T6" fmla="*/ 180 w 1141"/>
                <a:gd name="T7" fmla="*/ 320 h 1412"/>
                <a:gd name="T8" fmla="*/ 180 w 1141"/>
                <a:gd name="T9" fmla="*/ 384 h 1412"/>
                <a:gd name="T10" fmla="*/ 340 w 1141"/>
                <a:gd name="T11" fmla="*/ 384 h 1412"/>
                <a:gd name="T12" fmla="*/ 0 w 1141"/>
                <a:gd name="T13" fmla="*/ 1411 h 1412"/>
                <a:gd name="T14" fmla="*/ 580 w 1141"/>
                <a:gd name="T15" fmla="*/ 384 h 1412"/>
                <a:gd name="T16" fmla="*/ 1140 w 1141"/>
                <a:gd name="T17" fmla="*/ 384 h 1412"/>
                <a:gd name="T18" fmla="*/ 1140 w 1141"/>
                <a:gd name="T19" fmla="*/ 320 h 1412"/>
                <a:gd name="T20" fmla="*/ 1140 w 1141"/>
                <a:gd name="T21" fmla="*/ 224 h 1412"/>
                <a:gd name="T22" fmla="*/ 1140 w 1141"/>
                <a:gd name="T23" fmla="*/ 224 h 1412"/>
                <a:gd name="T24" fmla="*/ 1140 w 1141"/>
                <a:gd name="T25" fmla="*/ 0 h 1412"/>
                <a:gd name="T26" fmla="*/ 580 w 1141"/>
                <a:gd name="T27" fmla="*/ 0 h 1412"/>
                <a:gd name="T28" fmla="*/ 340 w 1141"/>
                <a:gd name="T29" fmla="*/ 0 h 1412"/>
                <a:gd name="T30" fmla="*/ 340 w 1141"/>
                <a:gd name="T31" fmla="*/ 0 h 1412"/>
                <a:gd name="T32" fmla="*/ 180 w 1141"/>
                <a:gd name="T33" fmla="*/ 0 h 14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141" h="1412">
                  <a:moveTo>
                    <a:pt x="180" y="0"/>
                  </a:moveTo>
                  <a:lnTo>
                    <a:pt x="180" y="224"/>
                  </a:lnTo>
                  <a:lnTo>
                    <a:pt x="180" y="320"/>
                  </a:lnTo>
                  <a:lnTo>
                    <a:pt x="180" y="384"/>
                  </a:lnTo>
                  <a:lnTo>
                    <a:pt x="340" y="384"/>
                  </a:lnTo>
                  <a:lnTo>
                    <a:pt x="0" y="1411"/>
                  </a:lnTo>
                  <a:lnTo>
                    <a:pt x="580" y="384"/>
                  </a:lnTo>
                  <a:lnTo>
                    <a:pt x="1140" y="384"/>
                  </a:lnTo>
                  <a:lnTo>
                    <a:pt x="1140" y="320"/>
                  </a:lnTo>
                  <a:lnTo>
                    <a:pt x="1140" y="224"/>
                  </a:lnTo>
                  <a:lnTo>
                    <a:pt x="1140" y="0"/>
                  </a:lnTo>
                  <a:lnTo>
                    <a:pt x="580" y="0"/>
                  </a:lnTo>
                  <a:lnTo>
                    <a:pt x="340" y="0"/>
                  </a:lnTo>
                  <a:lnTo>
                    <a:pt x="180" y="0"/>
                  </a:lnTo>
                </a:path>
              </a:pathLst>
            </a:custGeom>
            <a:solidFill>
              <a:srgbClr val="FFFFFF">
                <a:alpha val="50195"/>
              </a:srgbClr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295" name="Rectangle 8"/>
            <p:cNvSpPr>
              <a:spLocks noChangeArrowheads="1"/>
            </p:cNvSpPr>
            <p:nvPr/>
          </p:nvSpPr>
          <p:spPr bwMode="auto">
            <a:xfrm>
              <a:off x="4717" y="1184"/>
              <a:ext cx="838" cy="320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zh-CN" altLang="en-US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原 10</a:t>
              </a:r>
              <a:r>
                <a:rPr lang="en-US" altLang="zh-CN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00</a:t>
              </a:r>
            </a:p>
          </p:txBody>
        </p:sp>
      </p:grpSp>
      <p:grpSp>
        <p:nvGrpSpPr>
          <p:cNvPr id="97288" name="Group 12"/>
          <p:cNvGrpSpPr>
            <a:grpSpLocks/>
          </p:cNvGrpSpPr>
          <p:nvPr/>
        </p:nvGrpSpPr>
        <p:grpSpPr bwMode="auto">
          <a:xfrm>
            <a:off x="7092950" y="4437063"/>
            <a:ext cx="1544638" cy="1285875"/>
            <a:chOff x="4404" y="3223"/>
            <a:chExt cx="973" cy="810"/>
          </a:xfrm>
        </p:grpSpPr>
        <p:sp>
          <p:nvSpPr>
            <p:cNvPr id="97292" name="Freeform 10"/>
            <p:cNvSpPr>
              <a:spLocks/>
            </p:cNvSpPr>
            <p:nvPr/>
          </p:nvSpPr>
          <p:spPr bwMode="auto">
            <a:xfrm>
              <a:off x="4404" y="3223"/>
              <a:ext cx="973" cy="810"/>
            </a:xfrm>
            <a:custGeom>
              <a:avLst/>
              <a:gdLst>
                <a:gd name="T0" fmla="*/ 12 w 973"/>
                <a:gd name="T1" fmla="*/ 425 h 810"/>
                <a:gd name="T2" fmla="*/ 12 w 973"/>
                <a:gd name="T3" fmla="*/ 489 h 810"/>
                <a:gd name="T4" fmla="*/ 12 w 973"/>
                <a:gd name="T5" fmla="*/ 489 h 810"/>
                <a:gd name="T6" fmla="*/ 12 w 973"/>
                <a:gd name="T7" fmla="*/ 585 h 810"/>
                <a:gd name="T8" fmla="*/ 12 w 973"/>
                <a:gd name="T9" fmla="*/ 809 h 810"/>
                <a:gd name="T10" fmla="*/ 172 w 973"/>
                <a:gd name="T11" fmla="*/ 809 h 810"/>
                <a:gd name="T12" fmla="*/ 172 w 973"/>
                <a:gd name="T13" fmla="*/ 809 h 810"/>
                <a:gd name="T14" fmla="*/ 412 w 973"/>
                <a:gd name="T15" fmla="*/ 809 h 810"/>
                <a:gd name="T16" fmla="*/ 972 w 973"/>
                <a:gd name="T17" fmla="*/ 809 h 810"/>
                <a:gd name="T18" fmla="*/ 972 w 973"/>
                <a:gd name="T19" fmla="*/ 585 h 810"/>
                <a:gd name="T20" fmla="*/ 972 w 973"/>
                <a:gd name="T21" fmla="*/ 489 h 810"/>
                <a:gd name="T22" fmla="*/ 972 w 973"/>
                <a:gd name="T23" fmla="*/ 489 h 810"/>
                <a:gd name="T24" fmla="*/ 972 w 973"/>
                <a:gd name="T25" fmla="*/ 425 h 810"/>
                <a:gd name="T26" fmla="*/ 412 w 973"/>
                <a:gd name="T27" fmla="*/ 425 h 810"/>
                <a:gd name="T28" fmla="*/ 0 w 973"/>
                <a:gd name="T29" fmla="*/ 0 h 810"/>
                <a:gd name="T30" fmla="*/ 172 w 973"/>
                <a:gd name="T31" fmla="*/ 425 h 810"/>
                <a:gd name="T32" fmla="*/ 12 w 973"/>
                <a:gd name="T33" fmla="*/ 425 h 81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73" h="810">
                  <a:moveTo>
                    <a:pt x="12" y="425"/>
                  </a:moveTo>
                  <a:lnTo>
                    <a:pt x="12" y="489"/>
                  </a:lnTo>
                  <a:lnTo>
                    <a:pt x="12" y="585"/>
                  </a:lnTo>
                  <a:lnTo>
                    <a:pt x="12" y="809"/>
                  </a:lnTo>
                  <a:lnTo>
                    <a:pt x="172" y="809"/>
                  </a:lnTo>
                  <a:lnTo>
                    <a:pt x="412" y="809"/>
                  </a:lnTo>
                  <a:lnTo>
                    <a:pt x="972" y="809"/>
                  </a:lnTo>
                  <a:lnTo>
                    <a:pt x="972" y="585"/>
                  </a:lnTo>
                  <a:lnTo>
                    <a:pt x="972" y="489"/>
                  </a:lnTo>
                  <a:lnTo>
                    <a:pt x="972" y="425"/>
                  </a:lnTo>
                  <a:lnTo>
                    <a:pt x="412" y="425"/>
                  </a:lnTo>
                  <a:lnTo>
                    <a:pt x="0" y="0"/>
                  </a:lnTo>
                  <a:lnTo>
                    <a:pt x="172" y="425"/>
                  </a:lnTo>
                  <a:lnTo>
                    <a:pt x="12" y="425"/>
                  </a:lnTo>
                </a:path>
              </a:pathLst>
            </a:custGeom>
            <a:solidFill>
              <a:srgbClr val="FFFFFF">
                <a:alpha val="50195"/>
              </a:srgbClr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293" name="Rectangle 11"/>
            <p:cNvSpPr>
              <a:spLocks noChangeArrowheads="1"/>
            </p:cNvSpPr>
            <p:nvPr/>
          </p:nvSpPr>
          <p:spPr bwMode="auto">
            <a:xfrm>
              <a:off x="4477" y="3680"/>
              <a:ext cx="838" cy="320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zh-CN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Were 12</a:t>
              </a:r>
            </a:p>
          </p:txBody>
        </p:sp>
      </p:grpSp>
      <p:grpSp>
        <p:nvGrpSpPr>
          <p:cNvPr id="97289" name="Group 15"/>
          <p:cNvGrpSpPr>
            <a:grpSpLocks/>
          </p:cNvGrpSpPr>
          <p:nvPr/>
        </p:nvGrpSpPr>
        <p:grpSpPr bwMode="auto">
          <a:xfrm>
            <a:off x="3492500" y="4365625"/>
            <a:ext cx="5221288" cy="1400175"/>
            <a:chOff x="2088" y="3151"/>
            <a:chExt cx="3289" cy="882"/>
          </a:xfrm>
        </p:grpSpPr>
        <p:sp>
          <p:nvSpPr>
            <p:cNvPr id="97290" name="Freeform 13"/>
            <p:cNvSpPr>
              <a:spLocks/>
            </p:cNvSpPr>
            <p:nvPr/>
          </p:nvSpPr>
          <p:spPr bwMode="auto">
            <a:xfrm>
              <a:off x="2088" y="3151"/>
              <a:ext cx="3289" cy="882"/>
            </a:xfrm>
            <a:custGeom>
              <a:avLst/>
              <a:gdLst>
                <a:gd name="T0" fmla="*/ 2328 w 3289"/>
                <a:gd name="T1" fmla="*/ 497 h 882"/>
                <a:gd name="T2" fmla="*/ 2328 w 3289"/>
                <a:gd name="T3" fmla="*/ 561 h 882"/>
                <a:gd name="T4" fmla="*/ 0 w 3289"/>
                <a:gd name="T5" fmla="*/ 0 h 882"/>
                <a:gd name="T6" fmla="*/ 2328 w 3289"/>
                <a:gd name="T7" fmla="*/ 657 h 882"/>
                <a:gd name="T8" fmla="*/ 2328 w 3289"/>
                <a:gd name="T9" fmla="*/ 881 h 882"/>
                <a:gd name="T10" fmla="*/ 2488 w 3289"/>
                <a:gd name="T11" fmla="*/ 881 h 882"/>
                <a:gd name="T12" fmla="*/ 2488 w 3289"/>
                <a:gd name="T13" fmla="*/ 881 h 882"/>
                <a:gd name="T14" fmla="*/ 2728 w 3289"/>
                <a:gd name="T15" fmla="*/ 881 h 882"/>
                <a:gd name="T16" fmla="*/ 3288 w 3289"/>
                <a:gd name="T17" fmla="*/ 881 h 882"/>
                <a:gd name="T18" fmla="*/ 3288 w 3289"/>
                <a:gd name="T19" fmla="*/ 657 h 882"/>
                <a:gd name="T20" fmla="*/ 3288 w 3289"/>
                <a:gd name="T21" fmla="*/ 561 h 882"/>
                <a:gd name="T22" fmla="*/ 3288 w 3289"/>
                <a:gd name="T23" fmla="*/ 561 h 882"/>
                <a:gd name="T24" fmla="*/ 3288 w 3289"/>
                <a:gd name="T25" fmla="*/ 497 h 882"/>
                <a:gd name="T26" fmla="*/ 2728 w 3289"/>
                <a:gd name="T27" fmla="*/ 497 h 882"/>
                <a:gd name="T28" fmla="*/ 2488 w 3289"/>
                <a:gd name="T29" fmla="*/ 497 h 882"/>
                <a:gd name="T30" fmla="*/ 2488 w 3289"/>
                <a:gd name="T31" fmla="*/ 497 h 882"/>
                <a:gd name="T32" fmla="*/ 2328 w 3289"/>
                <a:gd name="T33" fmla="*/ 497 h 88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289" h="882">
                  <a:moveTo>
                    <a:pt x="2328" y="497"/>
                  </a:moveTo>
                  <a:lnTo>
                    <a:pt x="2328" y="561"/>
                  </a:lnTo>
                  <a:lnTo>
                    <a:pt x="0" y="0"/>
                  </a:lnTo>
                  <a:lnTo>
                    <a:pt x="2328" y="657"/>
                  </a:lnTo>
                  <a:lnTo>
                    <a:pt x="2328" y="881"/>
                  </a:lnTo>
                  <a:lnTo>
                    <a:pt x="2488" y="881"/>
                  </a:lnTo>
                  <a:lnTo>
                    <a:pt x="2728" y="881"/>
                  </a:lnTo>
                  <a:lnTo>
                    <a:pt x="3288" y="881"/>
                  </a:lnTo>
                  <a:lnTo>
                    <a:pt x="3288" y="657"/>
                  </a:lnTo>
                  <a:lnTo>
                    <a:pt x="3288" y="561"/>
                  </a:lnTo>
                  <a:lnTo>
                    <a:pt x="3288" y="497"/>
                  </a:lnTo>
                  <a:lnTo>
                    <a:pt x="2728" y="497"/>
                  </a:lnTo>
                  <a:lnTo>
                    <a:pt x="2488" y="497"/>
                  </a:lnTo>
                  <a:lnTo>
                    <a:pt x="2328" y="497"/>
                  </a:lnTo>
                </a:path>
              </a:pathLst>
            </a:custGeom>
            <a:solidFill>
              <a:srgbClr val="FFFFFF">
                <a:alpha val="50195"/>
              </a:srgbClr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291" name="Rectangle 14"/>
            <p:cNvSpPr>
              <a:spLocks noChangeArrowheads="1"/>
            </p:cNvSpPr>
            <p:nvPr/>
          </p:nvSpPr>
          <p:spPr bwMode="auto">
            <a:xfrm>
              <a:off x="4477" y="3680"/>
              <a:ext cx="838" cy="320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zh-CN" altLang="en-US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原 12</a:t>
              </a:r>
              <a:r>
                <a:rPr lang="en-US" altLang="zh-CN" sz="3000">
                  <a:latin typeface="华文新魏" panose="02010800040101010101" pitchFamily="2" charset="-122"/>
                  <a:ea typeface="华文新魏" panose="02010800040101010101" pitchFamily="2" charset="-122"/>
                </a:rPr>
                <a:t>00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7042150" y="6243638"/>
            <a:ext cx="1905000" cy="457200"/>
          </a:xfrm>
        </p:spPr>
        <p:txBody>
          <a:bodyPr/>
          <a:lstStyle/>
          <a:p>
            <a:pPr>
              <a:defRPr/>
            </a:pPr>
            <a:fld id="{DF713264-4B8A-484A-9C82-2835F7BD8DAF}" type="slidenum">
              <a:rPr lang="zh-CN" altLang="en-US"/>
              <a:pPr>
                <a:defRPr/>
              </a:pPr>
              <a:t>74</a:t>
            </a:fld>
            <a:endParaRPr lang="en-US" altLang="zh-CN"/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股票股利</a:t>
            </a:r>
          </a:p>
        </p:txBody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只有股票数增加，而股东权益不变，每股价格下降</a:t>
            </a:r>
          </a:p>
          <a:p>
            <a:pPr lvl="1"/>
            <a:r>
              <a:rPr lang="en-US" altLang="zh-CN" smtClean="0"/>
              <a:t>10%</a:t>
            </a:r>
            <a:r>
              <a:rPr lang="zh-CN" altLang="en-US" smtClean="0"/>
              <a:t>的股票股利，</a:t>
            </a:r>
            <a:r>
              <a:rPr lang="en-US" altLang="zh-CN" smtClean="0"/>
              <a:t>50</a:t>
            </a:r>
            <a:r>
              <a:rPr lang="zh-CN" altLang="en-US" smtClean="0"/>
              <a:t>万股会增加到</a:t>
            </a:r>
            <a:r>
              <a:rPr lang="en-US" altLang="zh-CN" smtClean="0"/>
              <a:t>55</a:t>
            </a:r>
            <a:r>
              <a:rPr lang="zh-CN" altLang="en-US" smtClean="0"/>
              <a:t>万股</a:t>
            </a:r>
          </a:p>
          <a:p>
            <a:pPr lvl="1"/>
            <a:r>
              <a:rPr lang="zh-CN" altLang="en-US" smtClean="0"/>
              <a:t>每股价格由</a:t>
            </a:r>
            <a:r>
              <a:rPr lang="en-US" altLang="zh-CN" smtClean="0"/>
              <a:t>20</a:t>
            </a:r>
            <a:r>
              <a:rPr lang="zh-CN" altLang="en-US" smtClean="0"/>
              <a:t>元下降到</a:t>
            </a:r>
            <a:r>
              <a:rPr lang="en-US" altLang="zh-CN" smtClean="0"/>
              <a:t>18</a:t>
            </a:r>
            <a:r>
              <a:rPr lang="zh-CN" altLang="en-US" smtClean="0"/>
              <a:t>元</a:t>
            </a:r>
          </a:p>
          <a:p>
            <a:pPr lvl="2"/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7042150" y="6243638"/>
            <a:ext cx="1905000" cy="457200"/>
          </a:xfrm>
        </p:spPr>
        <p:txBody>
          <a:bodyPr/>
          <a:lstStyle/>
          <a:p>
            <a:pPr>
              <a:defRPr/>
            </a:pPr>
            <a:fld id="{9A665C97-7344-45B1-8F1B-05EBFFAFD7A8}" type="slidenum">
              <a:rPr lang="zh-CN" altLang="en-US"/>
              <a:pPr>
                <a:defRPr/>
              </a:pPr>
              <a:t>75</a:t>
            </a:fld>
            <a:endParaRPr lang="en-US" altLang="zh-CN"/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MM</a:t>
            </a:r>
            <a:r>
              <a:rPr lang="zh-CN" altLang="en-US" smtClean="0"/>
              <a:t>定理</a:t>
            </a:r>
          </a:p>
        </p:txBody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在无磨擦环境下，即在发行新股或回购现有股票不用纳税及缴纳费用的情况下，公司的股利政策不会影响股东财富。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7042150" y="6243638"/>
            <a:ext cx="1905000" cy="457200"/>
          </a:xfrm>
        </p:spPr>
        <p:txBody>
          <a:bodyPr/>
          <a:lstStyle/>
          <a:p>
            <a:pPr>
              <a:defRPr/>
            </a:pPr>
            <a:fld id="{A8B29CE4-809B-4919-B7B7-03C2712DB5DB}" type="slidenum">
              <a:rPr lang="zh-CN" altLang="en-US"/>
              <a:pPr>
                <a:defRPr/>
              </a:pPr>
              <a:t>76</a:t>
            </a:fld>
            <a:endParaRPr lang="en-US" altLang="zh-CN"/>
          </a:p>
        </p:txBody>
      </p:sp>
      <p:sp>
        <p:nvSpPr>
          <p:cNvPr id="10342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graphicFrame>
        <p:nvGraphicFramePr>
          <p:cNvPr id="103428" name="Object 4"/>
          <p:cNvGraphicFramePr>
            <a:graphicFrameLocks noGrp="1"/>
          </p:cNvGraphicFramePr>
          <p:nvPr>
            <p:ph idx="1"/>
          </p:nvPr>
        </p:nvGraphicFramePr>
        <p:xfrm>
          <a:off x="1235075" y="2239963"/>
          <a:ext cx="7559675" cy="390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44" name="文档" r:id="rId4" imgW="7676975" imgH="3968922" progId="Word.Document.8">
                  <p:embed/>
                </p:oleObj>
              </mc:Choice>
              <mc:Fallback>
                <p:oleObj name="文档" r:id="rId4" imgW="7676975" imgH="3968922" progId="Word.Document.8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075" y="2239963"/>
                        <a:ext cx="7559675" cy="390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股票分割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在完美市场条件下，不受影响</a:t>
            </a:r>
          </a:p>
          <a:p>
            <a:pPr eaLnBrk="1" hangingPunct="1"/>
            <a:r>
              <a:rPr lang="zh-CN" altLang="en-US" smtClean="0"/>
              <a:t>如果存在信息不对称，股票分割传递了盈余增长的信息，股票价格会上涨</a:t>
            </a:r>
          </a:p>
          <a:p>
            <a:pPr lvl="1" eaLnBrk="1" hangingPunct="1"/>
            <a:r>
              <a:rPr lang="zh-CN" altLang="en-US" smtClean="0"/>
              <a:t>经理人员不喜欢降低每股股利</a:t>
            </a:r>
          </a:p>
          <a:p>
            <a:pPr lvl="1" eaLnBrk="1" hangingPunct="1"/>
            <a:r>
              <a:rPr lang="zh-CN" altLang="en-US" smtClean="0"/>
              <a:t>股票分割，总股本上升，如果市场预期每股股利至少不会降低，那就意味着总盈余会上升（特别是上升的程度超过了外部投资者的预期）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拆股还是不拆股？</a:t>
            </a:r>
          </a:p>
        </p:txBody>
      </p:sp>
      <p:sp>
        <p:nvSpPr>
          <p:cNvPr id="1064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苹果公司多次拆股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1987</a:t>
            </a:r>
            <a:r>
              <a:rPr lang="zh-CN" altLang="en-US" dirty="0" smtClean="0"/>
              <a:t>年</a:t>
            </a:r>
            <a:r>
              <a:rPr lang="en-US" altLang="zh-CN" dirty="0" smtClean="0"/>
              <a:t>1</a:t>
            </a:r>
            <a:r>
              <a:rPr lang="zh-CN" altLang="en-US" dirty="0" smtClean="0"/>
              <a:t>拆</a:t>
            </a:r>
            <a:r>
              <a:rPr lang="en-US" altLang="zh-CN" dirty="0" smtClean="0"/>
              <a:t>2</a:t>
            </a:r>
          </a:p>
          <a:p>
            <a:pPr lvl="1"/>
            <a:r>
              <a:rPr lang="en-US" altLang="zh-CN" dirty="0" smtClean="0"/>
              <a:t>2000</a:t>
            </a:r>
            <a:r>
              <a:rPr lang="zh-CN" altLang="en-US" dirty="0" smtClean="0"/>
              <a:t>年</a:t>
            </a:r>
            <a:r>
              <a:rPr lang="en-US" altLang="zh-CN" dirty="0" smtClean="0"/>
              <a:t>1</a:t>
            </a:r>
            <a:r>
              <a:rPr lang="zh-CN" altLang="en-US" dirty="0" smtClean="0"/>
              <a:t>拆</a:t>
            </a:r>
            <a:r>
              <a:rPr lang="en-US" altLang="zh-CN" dirty="0" smtClean="0"/>
              <a:t>2</a:t>
            </a:r>
          </a:p>
          <a:p>
            <a:pPr lvl="1"/>
            <a:r>
              <a:rPr lang="en-US" altLang="zh-CN" dirty="0" smtClean="0"/>
              <a:t>2005</a:t>
            </a:r>
            <a:r>
              <a:rPr lang="zh-CN" altLang="en-US" dirty="0" smtClean="0"/>
              <a:t>年</a:t>
            </a:r>
            <a:r>
              <a:rPr lang="en-US" altLang="zh-CN" dirty="0" smtClean="0"/>
              <a:t>1</a:t>
            </a:r>
            <a:r>
              <a:rPr lang="zh-CN" altLang="en-US" dirty="0" smtClean="0"/>
              <a:t>拆</a:t>
            </a:r>
            <a:r>
              <a:rPr lang="en-US" altLang="zh-CN" dirty="0" smtClean="0"/>
              <a:t>2</a:t>
            </a:r>
          </a:p>
          <a:p>
            <a:pPr lvl="1"/>
            <a:r>
              <a:rPr lang="en-US" altLang="zh-CN" dirty="0" smtClean="0"/>
              <a:t>2014</a:t>
            </a:r>
            <a:r>
              <a:rPr lang="zh-CN" altLang="en-US" dirty="0" smtClean="0"/>
              <a:t>年</a:t>
            </a:r>
            <a:r>
              <a:rPr lang="en-US" altLang="zh-CN" dirty="0" smtClean="0"/>
              <a:t>1</a:t>
            </a:r>
            <a:r>
              <a:rPr lang="zh-CN" altLang="en-US" dirty="0" smtClean="0"/>
              <a:t>拆</a:t>
            </a:r>
            <a:r>
              <a:rPr lang="en-US" altLang="zh-CN" dirty="0" smtClean="0"/>
              <a:t>7</a:t>
            </a:r>
          </a:p>
          <a:p>
            <a:pPr lvl="1"/>
            <a:r>
              <a:rPr lang="en-US" altLang="zh-CN" dirty="0" smtClean="0"/>
              <a:t>2020</a:t>
            </a:r>
            <a:r>
              <a:rPr lang="zh-CN" altLang="en-US" dirty="0" smtClean="0"/>
              <a:t>年</a:t>
            </a:r>
            <a:r>
              <a:rPr lang="en-US" altLang="zh-CN" dirty="0" smtClean="0"/>
              <a:t>1</a:t>
            </a:r>
            <a:r>
              <a:rPr lang="zh-CN" altLang="en-US" dirty="0" smtClean="0"/>
              <a:t>拆</a:t>
            </a:r>
            <a:r>
              <a:rPr lang="en-US" altLang="zh-CN" b="1" dirty="0" smtClean="0"/>
              <a:t>4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伯克希尔</a:t>
            </a:r>
            <a:r>
              <a:rPr lang="en-US" altLang="zh-CN" dirty="0" smtClean="0"/>
              <a:t>A</a:t>
            </a:r>
            <a:r>
              <a:rPr lang="zh-CN" altLang="en-US" dirty="0" smtClean="0"/>
              <a:t>股从不拆股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衍生品">
  <a:themeElements>
    <a:clrScheme name="衍生品 2">
      <a:dk1>
        <a:srgbClr val="000000"/>
      </a:dk1>
      <a:lt1>
        <a:srgbClr val="E9E2B6"/>
      </a:lt1>
      <a:dk2>
        <a:srgbClr val="996600"/>
      </a:dk2>
      <a:lt2>
        <a:srgbClr val="786950"/>
      </a:lt2>
      <a:accent1>
        <a:srgbClr val="727DE0"/>
      </a:accent1>
      <a:accent2>
        <a:srgbClr val="D54F41"/>
      </a:accent2>
      <a:accent3>
        <a:srgbClr val="F2EED7"/>
      </a:accent3>
      <a:accent4>
        <a:srgbClr val="000000"/>
      </a:accent4>
      <a:accent5>
        <a:srgbClr val="BCBFED"/>
      </a:accent5>
      <a:accent6>
        <a:srgbClr val="C1473A"/>
      </a:accent6>
      <a:hlink>
        <a:srgbClr val="003300"/>
      </a:hlink>
      <a:folHlink>
        <a:srgbClr val="339933"/>
      </a:folHlink>
    </a:clrScheme>
    <a:fontScheme name="衍生品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0000FF"/>
              </a:solidFill>
            </a14:hiddenFill>
          </a:ext>
          <a:ext uri="{91240B29-F687-4F45-9708-019B960494DF}">
            <a14:hiddenLine xmlns:a14="http://schemas.microsoft.com/office/drawing/2010/main" w="1270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1517650" algn="l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华文新魏" panose="02010800040101010101" pitchFamily="2" charset="-122"/>
            <a:ea typeface="华文新魏" panose="020108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0000FF"/>
              </a:solidFill>
            </a14:hiddenFill>
          </a:ext>
          <a:ext uri="{91240B29-F687-4F45-9708-019B960494DF}">
            <a14:hiddenLine xmlns:a14="http://schemas.microsoft.com/office/drawing/2010/main" w="1270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1517650" algn="l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华文新魏" panose="02010800040101010101" pitchFamily="2" charset="-122"/>
            <a:ea typeface="华文新魏" panose="02010800040101010101" pitchFamily="2" charset="-122"/>
          </a:defRPr>
        </a:defPPr>
      </a:lstStyle>
    </a:lnDef>
  </a:objectDefaults>
  <a:extraClrSchemeLst>
    <a:extraClrScheme>
      <a:clrScheme name="衍生品 1">
        <a:dk1>
          <a:srgbClr val="000000"/>
        </a:dk1>
        <a:lt1>
          <a:srgbClr val="EAEAEA"/>
        </a:lt1>
        <a:dk2>
          <a:srgbClr val="819E81"/>
        </a:dk2>
        <a:lt2>
          <a:srgbClr val="FFCC66"/>
        </a:lt2>
        <a:accent1>
          <a:srgbClr val="727DE0"/>
        </a:accent1>
        <a:accent2>
          <a:srgbClr val="D54F41"/>
        </a:accent2>
        <a:accent3>
          <a:srgbClr val="C1CCC1"/>
        </a:accent3>
        <a:accent4>
          <a:srgbClr val="C8C8C8"/>
        </a:accent4>
        <a:accent5>
          <a:srgbClr val="BCBFED"/>
        </a:accent5>
        <a:accent6>
          <a:srgbClr val="C1473A"/>
        </a:accent6>
        <a:hlink>
          <a:srgbClr val="003300"/>
        </a:hlink>
        <a:folHlink>
          <a:srgbClr val="66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衍生品 2">
        <a:dk1>
          <a:srgbClr val="000000"/>
        </a:dk1>
        <a:lt1>
          <a:srgbClr val="E9E2B6"/>
        </a:lt1>
        <a:dk2>
          <a:srgbClr val="996600"/>
        </a:dk2>
        <a:lt2>
          <a:srgbClr val="786950"/>
        </a:lt2>
        <a:accent1>
          <a:srgbClr val="727DE0"/>
        </a:accent1>
        <a:accent2>
          <a:srgbClr val="D54F41"/>
        </a:accent2>
        <a:accent3>
          <a:srgbClr val="F2EED7"/>
        </a:accent3>
        <a:accent4>
          <a:srgbClr val="000000"/>
        </a:accent4>
        <a:accent5>
          <a:srgbClr val="BCBFED"/>
        </a:accent5>
        <a:accent6>
          <a:srgbClr val="C1473A"/>
        </a:accent6>
        <a:hlink>
          <a:srgbClr val="003300"/>
        </a:hlink>
        <a:folHlink>
          <a:srgbClr val="33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衍生品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衍生品 4">
        <a:dk1>
          <a:srgbClr val="000000"/>
        </a:dk1>
        <a:lt1>
          <a:srgbClr val="EAEAEA"/>
        </a:lt1>
        <a:dk2>
          <a:srgbClr val="BC6262"/>
        </a:dk2>
        <a:lt2>
          <a:srgbClr val="FFCC66"/>
        </a:lt2>
        <a:accent1>
          <a:srgbClr val="727DE0"/>
        </a:accent1>
        <a:accent2>
          <a:srgbClr val="D54F41"/>
        </a:accent2>
        <a:accent3>
          <a:srgbClr val="DAB7B7"/>
        </a:accent3>
        <a:accent4>
          <a:srgbClr val="C8C8C8"/>
        </a:accent4>
        <a:accent5>
          <a:srgbClr val="BCBFED"/>
        </a:accent5>
        <a:accent6>
          <a:srgbClr val="C1473A"/>
        </a:accent6>
        <a:hlink>
          <a:srgbClr val="000066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衍生品 5">
        <a:dk1>
          <a:srgbClr val="000000"/>
        </a:dk1>
        <a:lt1>
          <a:srgbClr val="EAEAEA"/>
        </a:lt1>
        <a:dk2>
          <a:srgbClr val="5C74A4"/>
        </a:dk2>
        <a:lt2>
          <a:srgbClr val="FFCC99"/>
        </a:lt2>
        <a:accent1>
          <a:srgbClr val="727DE0"/>
        </a:accent1>
        <a:accent2>
          <a:srgbClr val="D54F41"/>
        </a:accent2>
        <a:accent3>
          <a:srgbClr val="B5BCCF"/>
        </a:accent3>
        <a:accent4>
          <a:srgbClr val="C8C8C8"/>
        </a:accent4>
        <a:accent5>
          <a:srgbClr val="BCBFED"/>
        </a:accent5>
        <a:accent6>
          <a:srgbClr val="C1473A"/>
        </a:accent6>
        <a:hlink>
          <a:srgbClr val="FFFFCC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衍生品 6">
        <a:dk1>
          <a:srgbClr val="000000"/>
        </a:dk1>
        <a:lt1>
          <a:srgbClr val="EAEAEA"/>
        </a:lt1>
        <a:dk2>
          <a:srgbClr val="996600"/>
        </a:dk2>
        <a:lt2>
          <a:srgbClr val="FFCC99"/>
        </a:lt2>
        <a:accent1>
          <a:srgbClr val="727DE0"/>
        </a:accent1>
        <a:accent2>
          <a:srgbClr val="D54F41"/>
        </a:accent2>
        <a:accent3>
          <a:srgbClr val="CAB8AA"/>
        </a:accent3>
        <a:accent4>
          <a:srgbClr val="C8C8C8"/>
        </a:accent4>
        <a:accent5>
          <a:srgbClr val="BCBFED"/>
        </a:accent5>
        <a:accent6>
          <a:srgbClr val="C1473A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Settings\jp\Application Data\Microsoft\Templates\衍生品.pot</Template>
  <TotalTime>869</TotalTime>
  <Words>3166</Words>
  <Application>Microsoft Office PowerPoint</Application>
  <PresentationFormat>全屏显示(4:3)</PresentationFormat>
  <Paragraphs>426</Paragraphs>
  <Slides>78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78</vt:i4>
      </vt:variant>
    </vt:vector>
  </HeadingPairs>
  <TitlesOfParts>
    <vt:vector size="92" baseType="lpstr">
      <vt:lpstr>AdvTimes</vt:lpstr>
      <vt:lpstr>黑体</vt:lpstr>
      <vt:lpstr>华文新魏</vt:lpstr>
      <vt:lpstr>楷体_GB2312</vt:lpstr>
      <vt:lpstr>隶书</vt:lpstr>
      <vt:lpstr>宋体</vt:lpstr>
      <vt:lpstr>幼圆</vt:lpstr>
      <vt:lpstr>Arial</vt:lpstr>
      <vt:lpstr>Calibri</vt:lpstr>
      <vt:lpstr>Times New Roman</vt:lpstr>
      <vt:lpstr>Wingdings</vt:lpstr>
      <vt:lpstr>衍生品</vt:lpstr>
      <vt:lpstr>Equation</vt:lpstr>
      <vt:lpstr>文档</vt:lpstr>
      <vt:lpstr>第5次课 第9章 股票估值</vt:lpstr>
      <vt:lpstr>牛顿的投资能力</vt:lpstr>
      <vt:lpstr>巴菲特的投资能力</vt:lpstr>
      <vt:lpstr>延伸：巴菲特的股票投资</vt:lpstr>
      <vt:lpstr>巴菲特投资中国石油</vt:lpstr>
      <vt:lpstr>PowerPoint 演示文稿</vt:lpstr>
      <vt:lpstr>PowerPoint 演示文稿</vt:lpstr>
      <vt:lpstr>PowerPoint 演示文稿</vt:lpstr>
      <vt:lpstr>结论</vt:lpstr>
      <vt:lpstr>小散户要炒股吗？</vt:lpstr>
      <vt:lpstr>消极投资的重要性</vt:lpstr>
      <vt:lpstr>现金流贴现：绝对估值方法</vt:lpstr>
      <vt:lpstr>股票估值特点</vt:lpstr>
      <vt:lpstr>内容</vt:lpstr>
      <vt:lpstr>格力电器高分红与董明珠的收入结构</vt:lpstr>
      <vt:lpstr>飞科电器（603868.SH）的高分红 实际控制人直接间接持股88.37%</vt:lpstr>
      <vt:lpstr>1. 股利贴现模型DDM</vt:lpstr>
      <vt:lpstr>问题</vt:lpstr>
      <vt:lpstr>PowerPoint 演示文稿</vt:lpstr>
      <vt:lpstr>成长性与股票估值：股市三登</vt:lpstr>
      <vt:lpstr>三登的关键区别</vt:lpstr>
      <vt:lpstr>一种养老投资策略：攒股收息</vt:lpstr>
      <vt:lpstr>稳定增长率与股利贴现模型</vt:lpstr>
      <vt:lpstr>零增长模型(股利恒定)</vt:lpstr>
      <vt:lpstr>不变增长模型(股利以g比例逐期增长)</vt:lpstr>
      <vt:lpstr>PowerPoint 演示文稿</vt:lpstr>
      <vt:lpstr>PowerPoint 演示文稿</vt:lpstr>
      <vt:lpstr>收益率分解</vt:lpstr>
      <vt:lpstr>PowerPoint 演示文稿</vt:lpstr>
      <vt:lpstr>一种求解资本成本 K的方法</vt:lpstr>
      <vt:lpstr>3.不同增长（前期快速增长，以后增速下降）</vt:lpstr>
      <vt:lpstr>更现实的情形</vt:lpstr>
      <vt:lpstr>如何估计增长率g？</vt:lpstr>
      <vt:lpstr>一些需要注意的问题</vt:lpstr>
      <vt:lpstr>2.盈利和投资机会</vt:lpstr>
      <vt:lpstr>PowerPoint 演示文稿</vt:lpstr>
      <vt:lpstr>新增净投资的差异</vt:lpstr>
      <vt:lpstr>公司价值的二项分解</vt:lpstr>
      <vt:lpstr>公司增长机会的再分析</vt:lpstr>
      <vt:lpstr>PowerPoint 演示文稿</vt:lpstr>
      <vt:lpstr>PowerPoint 演示文稿</vt:lpstr>
      <vt:lpstr>基准情形：无增长公司股票估值</vt:lpstr>
      <vt:lpstr>不变增长股票估值</vt:lpstr>
      <vt:lpstr>其一：用持续增长模型</vt:lpstr>
      <vt:lpstr>其二：用增长机会模型</vt:lpstr>
      <vt:lpstr>PowerPoint 演示文稿</vt:lpstr>
      <vt:lpstr>PowerPoint 演示文稿</vt:lpstr>
      <vt:lpstr>以此类推，直到永远。于是得到增长机会现值的现金流：</vt:lpstr>
      <vt:lpstr>小结</vt:lpstr>
      <vt:lpstr>留存收益的投资收益率等于资本成本</vt:lpstr>
      <vt:lpstr>留存收益的投资收益率低于资本成本</vt:lpstr>
      <vt:lpstr>PowerPoint 演示文稿</vt:lpstr>
      <vt:lpstr>总结：留存收益再投资回报率高于资本成本</vt:lpstr>
      <vt:lpstr>总结：留存收益再投资回报率等于资本成本</vt:lpstr>
      <vt:lpstr>总结：留存收益再投资回报率低于资本成本</vt:lpstr>
      <vt:lpstr>讨论</vt:lpstr>
      <vt:lpstr>3.收益率倍数分析方法</vt:lpstr>
      <vt:lpstr>创业板 &amp; 科创板的高成长故事</vt:lpstr>
      <vt:lpstr>关于会计盈余所传递的信息</vt:lpstr>
      <vt:lpstr>PowerPoint 演示文稿</vt:lpstr>
      <vt:lpstr>如何测算未预期盈余</vt:lpstr>
      <vt:lpstr>小结</vt:lpstr>
      <vt:lpstr>网络经济泡沫</vt:lpstr>
      <vt:lpstr>股票指数</vt:lpstr>
      <vt:lpstr>市场调整后股票收益</vt:lpstr>
      <vt:lpstr>4.股利政策与股东财富</vt:lpstr>
      <vt:lpstr>举例:  股利（2元每股，50万股）</vt:lpstr>
      <vt:lpstr>举例: 股利支付（2元每股，50万股）</vt:lpstr>
      <vt:lpstr>不完美的市场条件下</vt:lpstr>
      <vt:lpstr>中国神华（601088.SH 1088.HK）</vt:lpstr>
      <vt:lpstr>中国神华（601088.SH 1088.HK）</vt:lpstr>
      <vt:lpstr>举例: 股票回购（回购5万股票，每股20元）</vt:lpstr>
      <vt:lpstr>举例: 股票回购 （回购5万股票，每股20元）</vt:lpstr>
      <vt:lpstr>股票股利</vt:lpstr>
      <vt:lpstr>MM定理</vt:lpstr>
      <vt:lpstr>PowerPoint 演示文稿</vt:lpstr>
      <vt:lpstr>股票分割</vt:lpstr>
      <vt:lpstr>拆股还是不拆股？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Microsoft 帐户</cp:lastModifiedBy>
  <cp:revision>145</cp:revision>
  <dcterms:created xsi:type="dcterms:W3CDTF">1601-01-01T00:00:00Z</dcterms:created>
  <dcterms:modified xsi:type="dcterms:W3CDTF">2026-03-25T14:24:38Z</dcterms:modified>
</cp:coreProperties>
</file>