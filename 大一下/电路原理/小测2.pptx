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  <p:sldMasterId id="2147483687" r:id="rId5"/>
    <p:sldMasterId id="2147483699" r:id="rId6"/>
    <p:sldMasterId id="2147483711" r:id="rId7"/>
    <p:sldMasterId id="2147483724" r:id="rId8"/>
    <p:sldMasterId id="2147483737" r:id="rId9"/>
    <p:sldMasterId id="2147483750" r:id="rId10"/>
    <p:sldMasterId id="2147483763" r:id="rId11"/>
    <p:sldMasterId id="2147483777" r:id="rId12"/>
  </p:sldMasterIdLst>
  <p:notesMasterIdLst>
    <p:notesMasterId r:id="rId28"/>
  </p:notesMasterIdLst>
  <p:sldIdLst>
    <p:sldId id="278" r:id="rId13"/>
    <p:sldId id="271" r:id="rId14"/>
    <p:sldId id="267" r:id="rId15"/>
    <p:sldId id="261" r:id="rId16"/>
    <p:sldId id="359" r:id="rId17"/>
    <p:sldId id="360" r:id="rId18"/>
    <p:sldId id="282" r:id="rId19"/>
    <p:sldId id="369" r:id="rId20"/>
    <p:sldId id="375" r:id="rId21"/>
    <p:sldId id="362" r:id="rId22"/>
    <p:sldId id="365" r:id="rId23"/>
    <p:sldId id="350" r:id="rId24"/>
    <p:sldId id="377" r:id="rId25"/>
    <p:sldId id="329" r:id="rId26"/>
    <p:sldId id="353" r:id="rId27"/>
  </p:sldIdLst>
  <p:sldSz cx="12192000" cy="6858000" type="screen16x9"/>
  <p:notesSz cx="6858000" cy="9144000"/>
  <p:custDataLst>
    <p:tags r:id="rId3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 userDrawn="1">
          <p15:clr>
            <a:srgbClr val="A4A3A4"/>
          </p15:clr>
        </p15:guide>
        <p15:guide id="2" pos="380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00"/>
    <a:srgbClr val="FF3399"/>
    <a:srgbClr val="E6833F"/>
    <a:srgbClr val="FF99FF"/>
    <a:srgbClr val="FFCC00"/>
    <a:srgbClr val="663300"/>
    <a:srgbClr val="66FFFF"/>
    <a:srgbClr val="00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750" autoAdjust="0"/>
    <p:restoredTop sz="94475" autoAdjust="0"/>
  </p:normalViewPr>
  <p:slideViewPr>
    <p:cSldViewPr showGuides="1">
      <p:cViewPr>
        <p:scale>
          <a:sx n="75" d="100"/>
          <a:sy n="75" d="100"/>
        </p:scale>
        <p:origin x="-384" y="216"/>
      </p:cViewPr>
      <p:guideLst>
        <p:guide orient="horz" pos="2100"/>
        <p:guide pos="38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38"/>
    </p:cViewPr>
  </p:sorterViewPr>
  <p:notesViewPr>
    <p:cSldViewPr>
      <p:cViewPr varScale="1">
        <p:scale>
          <a:sx n="57" d="100"/>
          <a:sy n="57" d="100"/>
        </p:scale>
        <p:origin x="-1782" y="-84"/>
      </p:cViewPr>
      <p:guideLst>
        <p:guide orient="horz" pos="2800"/>
        <p:guide pos="21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3" Type="http://schemas.openxmlformats.org/officeDocument/2006/relationships/tags" Target="tags/tag20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15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0" Type="http://schemas.openxmlformats.org/officeDocument/2006/relationships/slide" Target="slides/slide8.xml"/><Relationship Id="rId2" Type="http://schemas.openxmlformats.org/officeDocument/2006/relationships/theme" Target="theme/theme1.xml"/><Relationship Id="rId19" Type="http://schemas.openxmlformats.org/officeDocument/2006/relationships/slide" Target="slides/slide7.xml"/><Relationship Id="rId18" Type="http://schemas.openxmlformats.org/officeDocument/2006/relationships/slide" Target="slides/slide6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88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88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8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8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88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fld id="{A546FE18-C24B-4162-9F75-7813E3C28BF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D95AA0-E49F-490D-98DA-0E27C4924B2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D95AA0-E49F-490D-98DA-0E27C4924B2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9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9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1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43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72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72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72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72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73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6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73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7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7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5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75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6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7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68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70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7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0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41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6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47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2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5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3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3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4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5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6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7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754" name="Picture 2" descr="33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683" y="0"/>
            <a:ext cx="12240684" cy="688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hf hdr="0" ftr="0" dt="0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84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72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72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622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u="none" strike="noStrike" kern="1200" cap="none" spc="0" normalizeH="0">
                <a:solidFill>
                  <a:schemeClr val="bg1"/>
                </a:solidFill>
                <a:uFillTx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9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9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1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43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72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72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72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72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73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6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73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7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7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5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75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6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7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68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70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7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0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41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6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47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2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5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3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3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4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5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6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7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7" Type="http://schemas.openxmlformats.org/officeDocument/2006/relationships/theme" Target="../theme/theme3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8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0.xml"/><Relationship Id="rId17" Type="http://schemas.openxmlformats.org/officeDocument/2006/relationships/theme" Target="../theme/theme6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8.xml"/><Relationship Id="rId1" Type="http://schemas.openxmlformats.org/officeDocument/2006/relationships/slideLayout" Target="../slideLayouts/slideLayout59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2.xml"/><Relationship Id="rId17" Type="http://schemas.openxmlformats.org/officeDocument/2006/relationships/theme" Target="../theme/theme7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0.xml"/><Relationship Id="rId7" Type="http://schemas.openxmlformats.org/officeDocument/2006/relationships/slideLayout" Target="../slideLayouts/slideLayout89.xml"/><Relationship Id="rId6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4.xml"/><Relationship Id="rId17" Type="http://schemas.openxmlformats.org/officeDocument/2006/relationships/theme" Target="../theme/theme8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2.xml"/><Relationship Id="rId1" Type="http://schemas.openxmlformats.org/officeDocument/2006/relationships/slideLayout" Target="../slideLayouts/slideLayout83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7.xml"/><Relationship Id="rId2" Type="http://schemas.openxmlformats.org/officeDocument/2006/relationships/slideLayout" Target="../slideLayouts/slideLayout96.xml"/><Relationship Id="rId17" Type="http://schemas.openxmlformats.org/officeDocument/2006/relationships/theme" Target="../theme/theme9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95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108.xml"/><Relationship Id="rId15" Type="http://schemas.openxmlformats.org/officeDocument/2006/relationships/theme" Target="../theme/theme10.xml"/><Relationship Id="rId14" Type="http://schemas.openxmlformats.org/officeDocument/2006/relationships/image" Target="../media/image5.png"/><Relationship Id="rId1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7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8.xml"/><Relationship Id="rId8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21.xml"/><Relationship Id="rId17" Type="http://schemas.openxmlformats.org/officeDocument/2006/relationships/theme" Target="../theme/theme11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WordArt 8"/>
          <p:cNvSpPr>
            <a:spLocks noTextEdit="1"/>
          </p:cNvSpPr>
          <p:nvPr userDrawn="1"/>
        </p:nvSpPr>
        <p:spPr>
          <a:xfrm>
            <a:off x="6669617" y="115888"/>
            <a:ext cx="3746500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 fontScale="50000"/>
          </a:bodyPr>
          <a:p>
            <a:pPr algn="ctr" defTabSz="914400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电阻电路的等效变换</a:t>
            </a:r>
            <a:endParaRPr lang="zh-CN" altLang="en-US" sz="2400" b="1" spc="480" normalizeH="1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219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3" name="WordArt 8"/>
          <p:cNvSpPr>
            <a:spLocks noTextEdit="1"/>
          </p:cNvSpPr>
          <p:nvPr userDrawn="1"/>
        </p:nvSpPr>
        <p:spPr>
          <a:xfrm>
            <a:off x="6669617" y="115888"/>
            <a:ext cx="3746500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 fontScale="50000"/>
          </a:bodyPr>
          <a:p>
            <a:pPr algn="ctr" defTabSz="914400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电阻电路的等效变换</a:t>
            </a:r>
            <a:endParaRPr lang="zh-CN" altLang="en-US" sz="2400" b="1" spc="480" normalizeH="1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2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3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4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2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6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6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6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6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6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70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6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7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33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683" y="45085"/>
            <a:ext cx="12240684" cy="688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WordArt 8"/>
          <p:cNvSpPr>
            <a:spLocks noChangeArrowheads="1" noChangeShapeType="1" noTextEdit="1"/>
          </p:cNvSpPr>
          <p:nvPr userDrawn="1"/>
        </p:nvSpPr>
        <p:spPr bwMode="auto">
          <a:xfrm>
            <a:off x="5232400" y="90490"/>
            <a:ext cx="5183717" cy="3143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defTabSz="914400" fontAlgn="auto"/>
            <a:r>
              <a:rPr lang="zh-CN" altLang="en-US" sz="2400" b="0" kern="1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一阶电路和二阶电路的时域分析</a:t>
            </a:r>
            <a:endParaRPr lang="zh-CN" altLang="en-US" sz="2400" b="0" kern="1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2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3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4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2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6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6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6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6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6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70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6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7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9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3.xml"/><Relationship Id="rId4" Type="http://schemas.openxmlformats.org/officeDocument/2006/relationships/image" Target="../media/image11.png"/><Relationship Id="rId3" Type="http://schemas.openxmlformats.org/officeDocument/2006/relationships/tags" Target="../tags/tag14.xml"/><Relationship Id="rId2" Type="http://schemas.openxmlformats.org/officeDocument/2006/relationships/image" Target="../media/image10.png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1.xml"/><Relationship Id="rId4" Type="http://schemas.openxmlformats.org/officeDocument/2006/relationships/image" Target="../media/image13.png"/><Relationship Id="rId3" Type="http://schemas.openxmlformats.org/officeDocument/2006/relationships/tags" Target="../tags/tag16.xml"/><Relationship Id="rId2" Type="http://schemas.openxmlformats.org/officeDocument/2006/relationships/image" Target="../media/image12.png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3.xml"/><Relationship Id="rId4" Type="http://schemas.openxmlformats.org/officeDocument/2006/relationships/image" Target="../media/image15.png"/><Relationship Id="rId3" Type="http://schemas.openxmlformats.org/officeDocument/2006/relationships/tags" Target="../tags/tag18.xml"/><Relationship Id="rId2" Type="http://schemas.openxmlformats.org/officeDocument/2006/relationships/image" Target="../media/image14.png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6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54.xml"/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image" Target="../media/image19.png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5" name="Text Box 56" descr="斜纹布"/>
          <p:cNvSpPr txBox="1">
            <a:spLocks noChangeArrowheads="1"/>
          </p:cNvSpPr>
          <p:nvPr/>
        </p:nvSpPr>
        <p:spPr bwMode="auto">
          <a:xfrm>
            <a:off x="1631315" y="1412875"/>
            <a:ext cx="5682615" cy="143129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一般</a:t>
            </a:r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电路</a:t>
            </a:r>
            <a:endParaRPr kumimoji="1" lang="zh-CN" altLang="en-US" sz="4800" b="1">
              <a:solidFill>
                <a:srgbClr val="FFFF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6" name="Line 19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6675905" y="1532255"/>
            <a:ext cx="0" cy="1670050"/>
          </a:xfrm>
          <a:prstGeom prst="line">
            <a:avLst/>
          </a:prstGeom>
          <a:noFill/>
          <a:ln w="28575" cap="sq">
            <a:solidFill>
              <a:srgbClr val="FFCC00"/>
            </a:solidFill>
            <a:round/>
            <a:headEnd type="oval" w="med" len="med"/>
            <a:tailEnd type="oval" w="med" len="med"/>
          </a:ln>
          <a:effectLst/>
        </p:spPr>
        <p:txBody>
          <a:bodyPr wrap="none" lIns="92075" tIns="46038" rIns="92075" bIns="46038" anchor="ctr"/>
          <a:p>
            <a:endParaRPr lang="zh-CN" altLang="en-US"/>
          </a:p>
        </p:txBody>
      </p:sp>
      <p:grpSp>
        <p:nvGrpSpPr>
          <p:cNvPr id="47" name="Group 2"/>
          <p:cNvGrpSpPr/>
          <p:nvPr/>
        </p:nvGrpSpPr>
        <p:grpSpPr bwMode="auto">
          <a:xfrm>
            <a:off x="4737100" y="1261745"/>
            <a:ext cx="6779895" cy="1938020"/>
            <a:chOff x="476" y="2040"/>
            <a:chExt cx="4424" cy="1526"/>
          </a:xfrm>
        </p:grpSpPr>
        <p:sp>
          <p:nvSpPr>
            <p:cNvPr id="48" name="Oval 3"/>
            <p:cNvSpPr>
              <a:spLocks noChangeArrowheads="1"/>
            </p:cNvSpPr>
            <p:nvPr/>
          </p:nvSpPr>
          <p:spPr bwMode="auto">
            <a:xfrm>
              <a:off x="609" y="2659"/>
              <a:ext cx="317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99FF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</a:ln>
            <a:effectLst/>
          </p:spPr>
          <p:txBody>
            <a:bodyPr wrap="none" anchor="ctr"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49" name="Text Box 4"/>
            <p:cNvSpPr txBox="1">
              <a:spLocks noChangeArrowheads="1"/>
            </p:cNvSpPr>
            <p:nvPr/>
          </p:nvSpPr>
          <p:spPr bwMode="auto">
            <a:xfrm>
              <a:off x="4538" y="2040"/>
              <a:ext cx="178" cy="8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2075" tIns="46038" rIns="92075" bIns="46038" anchor="ctr">
              <a:spAutoFit/>
            </a:bodyPr>
            <a:p>
              <a:pPr algn="ctr">
                <a:spcBef>
                  <a:spcPct val="50000"/>
                </a:spcBef>
                <a:buClr>
                  <a:srgbClr val="333399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3200" b="0" i="1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3200" b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Rectangle 5"/>
            <p:cNvSpPr>
              <a:spLocks noChangeArrowheads="1"/>
            </p:cNvSpPr>
            <p:nvPr/>
          </p:nvSpPr>
          <p:spPr bwMode="auto">
            <a:xfrm>
              <a:off x="748" y="2251"/>
              <a:ext cx="4082" cy="1315"/>
            </a:xfrm>
            <a:prstGeom prst="rect">
              <a:avLst/>
            </a:prstGeom>
            <a:noFill/>
            <a:ln w="28575" cap="sq">
              <a:solidFill>
                <a:srgbClr val="FFCC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p>
              <a:endParaRPr lang="zh-CN" altLang="en-US" dirty="0"/>
            </a:p>
          </p:txBody>
        </p:sp>
        <p:sp>
          <p:nvSpPr>
            <p:cNvPr id="51" name="Text Box 7"/>
            <p:cNvSpPr txBox="1">
              <a:spLocks noChangeArrowheads="1"/>
            </p:cNvSpPr>
            <p:nvPr/>
          </p:nvSpPr>
          <p:spPr bwMode="auto">
            <a:xfrm>
              <a:off x="1015" y="2360"/>
              <a:ext cx="467" cy="4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2075" tIns="46038" rIns="92075" bIns="46038" anchor="ctr">
              <a:noAutofit/>
            </a:bodyPr>
            <a:p>
              <a:pPr algn="ctr">
                <a:spcBef>
                  <a:spcPct val="50000"/>
                </a:spcBef>
                <a:buClr>
                  <a:srgbClr val="333399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800" b="0" i="1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1Ω</a:t>
              </a:r>
              <a:endParaRPr lang="en-US" altLang="zh-CN" sz="2800" b="0" baseline="-25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Text Box 12"/>
            <p:cNvSpPr txBox="1">
              <a:spLocks noChangeArrowheads="1"/>
            </p:cNvSpPr>
            <p:nvPr/>
          </p:nvSpPr>
          <p:spPr bwMode="auto">
            <a:xfrm>
              <a:off x="476" y="2360"/>
              <a:ext cx="242" cy="29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2075" tIns="46038" rIns="92075" bIns="46038" anchor="ctr">
              <a:spAutoFit/>
            </a:bodyPr>
            <a:p>
              <a:pPr algn="ctr">
                <a:spcBef>
                  <a:spcPct val="50000"/>
                </a:spcBef>
                <a:buClr>
                  <a:srgbClr val="333399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" name="Text Box 13"/>
            <p:cNvSpPr txBox="1">
              <a:spLocks noChangeArrowheads="1"/>
            </p:cNvSpPr>
            <p:nvPr/>
          </p:nvSpPr>
          <p:spPr bwMode="auto">
            <a:xfrm>
              <a:off x="476" y="3041"/>
              <a:ext cx="228" cy="29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2075" tIns="46038" rIns="92075" bIns="46038" anchor="ctr">
              <a:spAutoFit/>
            </a:bodyPr>
            <a:p>
              <a:pPr algn="ctr">
                <a:spcBef>
                  <a:spcPct val="50000"/>
                </a:spcBef>
                <a:buClr>
                  <a:srgbClr val="333399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b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" name="Text Box 14"/>
            <p:cNvSpPr txBox="1">
              <a:spLocks noChangeArrowheads="1"/>
            </p:cNvSpPr>
            <p:nvPr/>
          </p:nvSpPr>
          <p:spPr bwMode="auto">
            <a:xfrm>
              <a:off x="764" y="2656"/>
              <a:ext cx="648" cy="7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2075" tIns="46038" rIns="92075" bIns="46038" anchor="ctr">
              <a:spAutoFit/>
            </a:bodyPr>
            <a:p>
              <a:pPr indent="0" algn="ctr" fontAlgn="auto">
                <a:spcBef>
                  <a:spcPts val="0"/>
                </a:spcBef>
                <a:buClr>
                  <a:srgbClr val="333399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3200" b="0" i="1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0" baseline="-250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 sz="3200" b="0" baseline="-25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indent="0" algn="ctr" fontAlgn="auto">
                <a:spcBef>
                  <a:spcPts val="0"/>
                </a:spcBef>
                <a:buClr>
                  <a:srgbClr val="333399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800" b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30V</a:t>
              </a:r>
              <a:endParaRPr lang="en-US" altLang="zh-CN" sz="2800" b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15"/>
            <p:cNvSpPr>
              <a:spLocks noChangeShapeType="1"/>
            </p:cNvSpPr>
            <p:nvPr/>
          </p:nvSpPr>
          <p:spPr bwMode="auto">
            <a:xfrm>
              <a:off x="4150" y="2296"/>
              <a:ext cx="408" cy="0"/>
            </a:xfrm>
            <a:prstGeom prst="line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anchor="ctr"/>
            <a:p>
              <a:endParaRPr lang="zh-CN" altLang="en-US"/>
            </a:p>
          </p:txBody>
        </p:sp>
        <p:sp>
          <p:nvSpPr>
            <p:cNvPr id="56" name="Line 18"/>
            <p:cNvSpPr>
              <a:spLocks noChangeShapeType="1"/>
            </p:cNvSpPr>
            <p:nvPr/>
          </p:nvSpPr>
          <p:spPr bwMode="auto">
            <a:xfrm>
              <a:off x="3923" y="2251"/>
              <a:ext cx="0" cy="1315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 wrap="none" lIns="92075" tIns="46038" rIns="92075" bIns="46038" anchor="ctr"/>
            <a:p>
              <a:endParaRPr lang="zh-CN" altLang="en-US"/>
            </a:p>
          </p:txBody>
        </p:sp>
        <p:sp>
          <p:nvSpPr>
            <p:cNvPr id="57" name="Line 19"/>
            <p:cNvSpPr>
              <a:spLocks noChangeShapeType="1"/>
            </p:cNvSpPr>
            <p:nvPr/>
          </p:nvSpPr>
          <p:spPr bwMode="auto">
            <a:xfrm>
              <a:off x="2835" y="2251"/>
              <a:ext cx="0" cy="1315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 wrap="none" lIns="92075" tIns="46038" rIns="92075" bIns="46038" anchor="ctr"/>
            <a:p>
              <a:endParaRPr lang="zh-CN" altLang="en-US"/>
            </a:p>
          </p:txBody>
        </p:sp>
        <p:sp>
          <p:nvSpPr>
            <p:cNvPr id="58" name="Rectangle 21"/>
            <p:cNvSpPr>
              <a:spLocks noChangeArrowheads="1"/>
            </p:cNvSpPr>
            <p:nvPr/>
          </p:nvSpPr>
          <p:spPr bwMode="auto">
            <a:xfrm>
              <a:off x="2777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59" name="Rectangle 22"/>
            <p:cNvSpPr>
              <a:spLocks noChangeArrowheads="1"/>
            </p:cNvSpPr>
            <p:nvPr/>
          </p:nvSpPr>
          <p:spPr bwMode="auto">
            <a:xfrm>
              <a:off x="3866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0" name="Rectangle 23"/>
            <p:cNvSpPr>
              <a:spLocks noChangeArrowheads="1"/>
            </p:cNvSpPr>
            <p:nvPr/>
          </p:nvSpPr>
          <p:spPr bwMode="auto">
            <a:xfrm>
              <a:off x="4773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1" name="Rectangle 24"/>
            <p:cNvSpPr>
              <a:spLocks noChangeArrowheads="1"/>
            </p:cNvSpPr>
            <p:nvPr/>
          </p:nvSpPr>
          <p:spPr bwMode="auto">
            <a:xfrm>
              <a:off x="1111" y="218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2" name="Rectangle 25"/>
            <p:cNvSpPr>
              <a:spLocks noChangeArrowheads="1"/>
            </p:cNvSpPr>
            <p:nvPr/>
          </p:nvSpPr>
          <p:spPr bwMode="auto">
            <a:xfrm>
              <a:off x="3243" y="218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3" name="Rectangle 26"/>
            <p:cNvSpPr>
              <a:spLocks noChangeArrowheads="1"/>
            </p:cNvSpPr>
            <p:nvPr/>
          </p:nvSpPr>
          <p:spPr bwMode="auto">
            <a:xfrm>
              <a:off x="2109" y="218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</p:grpSp>
      <p:sp>
        <p:nvSpPr>
          <p:cNvPr id="64" name="Text Box 3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73480" y="1826578"/>
            <a:ext cx="3018155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2075" tIns="46038" rIns="92075" bIns="46038" anchor="ctr">
            <a:spAutoFit/>
          </a:bodyPr>
          <a:p>
            <a:pPr algn="l">
              <a:spcBef>
                <a:spcPct val="50000"/>
              </a:spcBef>
              <a:buClr>
                <a:srgbClr val="333399"/>
              </a:buClr>
              <a:buSzPct val="75000"/>
              <a:buFont typeface="Monotype Sorts" pitchFamily="2" charset="2"/>
              <a:buNone/>
            </a:pPr>
            <a:r>
              <a:rPr lang="zh-CN" altLang="en-US" sz="2800" dirty="0">
                <a:solidFill>
                  <a:srgbClr val="FFFF00"/>
                </a:solidFill>
                <a:latin typeface="楷体_GB2312" pitchFamily="49" charset="-122"/>
              </a:rPr>
              <a:t>求左图中电流</a:t>
            </a:r>
            <a:r>
              <a:rPr lang="en-US" altLang="zh-CN" sz="2800" b="1" i="1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</a:rPr>
              <a:t>。</a:t>
            </a: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5" name="Group 56"/>
          <p:cNvGrpSpPr/>
          <p:nvPr/>
        </p:nvGrpSpPr>
        <p:grpSpPr bwMode="auto">
          <a:xfrm>
            <a:off x="6384925" y="2096135"/>
            <a:ext cx="1438276" cy="1096963"/>
            <a:chOff x="2880" y="1872"/>
            <a:chExt cx="906" cy="691"/>
          </a:xfrm>
        </p:grpSpPr>
        <p:sp>
          <p:nvSpPr>
            <p:cNvPr id="66" name="Text Box 6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221" y="1872"/>
              <a:ext cx="565" cy="6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p>
              <a:pPr indent="0" fontAlgn="auto">
                <a:spcBef>
                  <a:spcPts val="0"/>
                </a:spcBef>
              </a:pPr>
              <a:r>
                <a:rPr kumimoji="1" lang="en-US" altLang="zh-CN" sz="3200" b="0" i="1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1" lang="en-US" altLang="zh-CN" sz="3200" b="0" i="1" baseline="-250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sz="3200" b="0" i="1" baseline="-25000" dirty="0" err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indent="0" fontAlgn="auto">
                <a:spcBef>
                  <a:spcPts val="0"/>
                </a:spcBef>
              </a:pPr>
              <a:r>
                <a:rPr kumimoji="1" lang="en-US" altLang="zh-CN" sz="2800" b="0" i="1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4A</a:t>
              </a:r>
              <a:endParaRPr kumimoji="1" lang="en-US" altLang="zh-CN" sz="2800" b="0" i="1" dirty="0" err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Line 9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3061" y="2227"/>
              <a:ext cx="0" cy="336"/>
            </a:xfrm>
            <a:prstGeom prst="line">
              <a:avLst/>
            </a:prstGeom>
            <a:noFill/>
            <a:ln w="63500">
              <a:solidFill>
                <a:srgbClr val="66FFFF"/>
              </a:solidFill>
              <a:round/>
              <a:tailEnd type="triangle" w="med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grpSp>
          <p:nvGrpSpPr>
            <p:cNvPr id="68" name="Group 47"/>
            <p:cNvGrpSpPr/>
            <p:nvPr/>
          </p:nvGrpSpPr>
          <p:grpSpPr bwMode="auto">
            <a:xfrm>
              <a:off x="2880" y="1888"/>
              <a:ext cx="363" cy="363"/>
              <a:chOff x="4785" y="709"/>
              <a:chExt cx="363" cy="363"/>
            </a:xfrm>
          </p:grpSpPr>
          <p:sp>
            <p:nvSpPr>
              <p:cNvPr id="69" name="Oval 48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99FF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</a:ln>
              <a:effectLst/>
            </p:spPr>
            <p:txBody>
              <a:bodyPr wrap="none" anchor="ctr"/>
              <a:p>
                <a:pPr algn="ctr"/>
                <a:endParaRPr lang="zh-CN" altLang="zh-CN" sz="2400" b="0">
                  <a:ea typeface="仿宋_GB2312" pitchFamily="49" charset="-122"/>
                </a:endParaRPr>
              </a:p>
            </p:txBody>
          </p:sp>
          <p:sp>
            <p:nvSpPr>
              <p:cNvPr id="70" name="Line 49"/>
              <p:cNvSpPr>
                <a:spLocks noChangeShapeType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</p:grpSp>
      </p:grpSp>
      <p:sp>
        <p:nvSpPr>
          <p:cNvPr id="71" name="Text Box 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981190" y="1661795"/>
            <a:ext cx="731520" cy="5245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2075" tIns="46038" rIns="92075" bIns="46038" anchor="ctr">
            <a:noAutofit/>
          </a:bodyPr>
          <a:p>
            <a:pPr algn="ctr">
              <a:spcBef>
                <a:spcPct val="50000"/>
              </a:spcBef>
              <a:buClr>
                <a:srgbClr val="333399"/>
              </a:buClr>
              <a:buSzPct val="75000"/>
              <a:buFont typeface="Monotype Sorts" pitchFamily="2" charset="2"/>
              <a:buNone/>
            </a:pPr>
            <a:r>
              <a:rPr lang="en-US" altLang="zh-CN" sz="280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2800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Ω</a:t>
            </a:r>
            <a:endParaRPr lang="en-US" altLang="zh-CN" sz="2800" b="0" baseline="-250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Text Box 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743950" y="1673225"/>
            <a:ext cx="731520" cy="5245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2075" tIns="46038" rIns="92075" bIns="46038" anchor="ctr">
            <a:noAutofit/>
          </a:bodyPr>
          <a:p>
            <a:pPr algn="ctr">
              <a:spcBef>
                <a:spcPct val="50000"/>
              </a:spcBef>
              <a:buClr>
                <a:srgbClr val="333399"/>
              </a:buClr>
              <a:buSzPct val="75000"/>
              <a:buFont typeface="Monotype Sorts" pitchFamily="2" charset="2"/>
              <a:buNone/>
            </a:pPr>
            <a:r>
              <a:rPr lang="en-US" altLang="zh-CN" sz="280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Ω</a:t>
            </a:r>
            <a:endParaRPr lang="en-US" altLang="zh-CN" sz="2800" b="0" baseline="-250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Text Box 7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301990" y="2173605"/>
            <a:ext cx="731520" cy="5245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2075" tIns="46038" rIns="92075" bIns="46038" anchor="ctr">
            <a:noAutofit/>
          </a:bodyPr>
          <a:p>
            <a:pPr algn="ctr">
              <a:spcBef>
                <a:spcPct val="50000"/>
              </a:spcBef>
              <a:buClr>
                <a:srgbClr val="333399"/>
              </a:buClr>
              <a:buSzPct val="75000"/>
              <a:buFont typeface="Monotype Sorts" pitchFamily="2" charset="2"/>
              <a:buNone/>
            </a:pPr>
            <a:r>
              <a:rPr lang="en-US" altLang="zh-CN" sz="2800" b="0" i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4Ω</a:t>
            </a:r>
            <a:endParaRPr lang="en-US" altLang="zh-CN" sz="2800" b="0" baseline="-250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" name="Text Box 7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9305925" y="2219960"/>
            <a:ext cx="716280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2075" tIns="46038" rIns="92075" bIns="46038" anchor="ctr">
            <a:noAutofit/>
          </a:bodyPr>
          <a:p>
            <a:pPr algn="ctr">
              <a:spcBef>
                <a:spcPct val="50000"/>
              </a:spcBef>
              <a:buClr>
                <a:srgbClr val="333399"/>
              </a:buClr>
              <a:buSzPct val="75000"/>
              <a:buFont typeface="Monotype Sorts" pitchFamily="2" charset="2"/>
              <a:buNone/>
            </a:pPr>
            <a:r>
              <a:rPr lang="en-US" altLang="zh-CN" sz="280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Ω</a:t>
            </a:r>
            <a:endParaRPr lang="en-US" altLang="zh-CN" sz="2800" b="0" baseline="-250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" name="Text Box 7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0605135" y="2204085"/>
            <a:ext cx="731520" cy="5245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2075" tIns="46038" rIns="92075" bIns="46038" anchor="ctr">
            <a:noAutofit/>
          </a:bodyPr>
          <a:p>
            <a:pPr algn="ctr">
              <a:spcBef>
                <a:spcPct val="50000"/>
              </a:spcBef>
              <a:buClr>
                <a:srgbClr val="333399"/>
              </a:buClr>
              <a:buSzPct val="75000"/>
              <a:buFont typeface="Monotype Sorts" pitchFamily="2" charset="2"/>
              <a:buNone/>
            </a:pPr>
            <a:r>
              <a:rPr lang="en-US" altLang="zh-CN" sz="2800" b="0" i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6Ω</a:t>
            </a:r>
            <a:endParaRPr lang="en-US" altLang="zh-CN" sz="2800" b="0" baseline="-250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Line 9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11399203" y="1517333"/>
            <a:ext cx="0" cy="533400"/>
          </a:xfrm>
          <a:prstGeom prst="line">
            <a:avLst/>
          </a:prstGeom>
          <a:noFill/>
          <a:ln w="63500">
            <a:solidFill>
              <a:srgbClr val="66FFFF"/>
            </a:solidFill>
            <a:round/>
            <a:tailEnd type="triangle" w="med" len="med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2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15" y="1052830"/>
            <a:ext cx="8220075" cy="36671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3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1" name="图片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620" y="1340485"/>
            <a:ext cx="9382125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4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705" y="0"/>
            <a:ext cx="83121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5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1" name="图片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550" y="1266825"/>
            <a:ext cx="7162800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5" name="Text Box 56" descr="斜纹布"/>
          <p:cNvSpPr txBox="1">
            <a:spLocks noChangeArrowheads="1"/>
          </p:cNvSpPr>
          <p:nvPr/>
        </p:nvSpPr>
        <p:spPr bwMode="auto">
          <a:xfrm>
            <a:off x="1631315" y="1412875"/>
            <a:ext cx="5682615" cy="143129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电容</a:t>
            </a:r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电感</a:t>
            </a:r>
            <a:endParaRPr kumimoji="1" lang="zh-CN" altLang="en-US" sz="4800" b="1">
              <a:solidFill>
                <a:srgbClr val="FFFF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42000">
              <a:srgbClr val="6ACCF2"/>
            </a:gs>
            <a:gs pos="100000">
              <a:srgbClr val="2497E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83615" y="1282065"/>
            <a:ext cx="10203815" cy="3866515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chemeClr val="tx1"/>
                </a:solidFill>
                <a:latin typeface="思源宋体 CN"/>
                <a:ea typeface="思源宋体 CN"/>
              </a:rPr>
              <a:t>电阻是（）元件，电感是（）的元件，电容是（）的元件。</a:t>
            </a:r>
            <a:endParaRPr lang="zh-CN" altLang="en-US" sz="3200">
              <a:solidFill>
                <a:schemeClr val="tx1"/>
              </a:solidFill>
              <a:latin typeface="思源宋体 CN"/>
              <a:ea typeface="思源宋体 CN"/>
            </a:endParaRPr>
          </a:p>
          <a:p>
            <a:pPr defTabSz="266700">
              <a:lnSpc>
                <a:spcPct val="200000"/>
              </a:lnSpc>
            </a:pPr>
            <a:r>
              <a:rPr lang="en-US" altLang="zh-CN" sz="3200">
                <a:solidFill>
                  <a:schemeClr val="tx1"/>
                </a:solidFill>
                <a:latin typeface="思源宋体 CN"/>
                <a:ea typeface="思源宋体 CN"/>
              </a:rPr>
              <a:t>A</a:t>
            </a:r>
            <a:r>
              <a:rPr lang="zh-CN" altLang="en-US" sz="3200">
                <a:solidFill>
                  <a:schemeClr val="tx1"/>
                </a:solidFill>
                <a:latin typeface="思源宋体 CN"/>
                <a:ea typeface="思源宋体 CN"/>
              </a:rPr>
              <a:t>、储存电场能量 </a:t>
            </a:r>
            <a:r>
              <a:rPr lang="en-US" altLang="zh-CN" sz="3200">
                <a:solidFill>
                  <a:schemeClr val="tx1"/>
                </a:solidFill>
                <a:latin typeface="思源宋体 CN"/>
                <a:ea typeface="思源宋体 CN"/>
              </a:rPr>
              <a:t>   B</a:t>
            </a:r>
            <a:r>
              <a:rPr lang="zh-CN" altLang="en-US" sz="3200">
                <a:solidFill>
                  <a:schemeClr val="tx1"/>
                </a:solidFill>
                <a:latin typeface="思源宋体 CN"/>
                <a:ea typeface="思源宋体 CN"/>
              </a:rPr>
              <a:t>、储存磁场能量 </a:t>
            </a:r>
            <a:r>
              <a:rPr lang="en-US" altLang="zh-CN" sz="3200">
                <a:solidFill>
                  <a:schemeClr val="tx1"/>
                </a:solidFill>
                <a:latin typeface="思源宋体 CN"/>
                <a:ea typeface="思源宋体 CN"/>
              </a:rPr>
              <a:t>     C</a:t>
            </a:r>
            <a:r>
              <a:rPr lang="zh-CN" altLang="en-US" sz="3200">
                <a:solidFill>
                  <a:schemeClr val="tx1"/>
                </a:solidFill>
                <a:latin typeface="思源宋体 CN"/>
                <a:ea typeface="思源宋体 CN"/>
              </a:rPr>
              <a:t>、耗能</a:t>
            </a:r>
            <a:endParaRPr lang="zh-CN" altLang="en-US" sz="3200">
              <a:solidFill>
                <a:schemeClr val="tx1"/>
              </a:solidFill>
              <a:latin typeface="思源宋体 CN"/>
              <a:ea typeface="思源宋体 CN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bg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6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7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7715" y="980440"/>
            <a:ext cx="10186035" cy="12757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575685" y="2492375"/>
            <a:ext cx="5150485" cy="3790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1770" y="980440"/>
            <a:ext cx="11156950" cy="10242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15640" y="2420620"/>
            <a:ext cx="5359400" cy="374396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8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1815" y="908685"/>
            <a:ext cx="10454640" cy="15411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15640" y="2636520"/>
            <a:ext cx="3748405" cy="387540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9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5" name="Text Box 56" descr="斜纹布"/>
          <p:cNvSpPr txBox="1">
            <a:spLocks noChangeArrowheads="1"/>
          </p:cNvSpPr>
          <p:nvPr/>
        </p:nvSpPr>
        <p:spPr bwMode="auto">
          <a:xfrm>
            <a:off x="1631315" y="1412875"/>
            <a:ext cx="5682615" cy="143129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一阶</a:t>
            </a:r>
            <a:endParaRPr kumimoji="1" lang="zh-CN" altLang="en-US" sz="4800" b="1">
              <a:solidFill>
                <a:srgbClr val="FFFF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10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70" y="1124585"/>
            <a:ext cx="8572500" cy="38862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7724" name="Object 76"/>
          <p:cNvGraphicFramePr>
            <a:graphicFrameLocks noChangeAspect="1"/>
          </p:cNvGraphicFramePr>
          <p:nvPr/>
        </p:nvGraphicFramePr>
        <p:xfrm>
          <a:off x="3503613" y="5013325"/>
          <a:ext cx="35020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1009015" imgH="139700" progId="Equation.3">
                  <p:embed/>
                </p:oleObj>
              </mc:Choice>
              <mc:Fallback>
                <p:oleObj name="" r:id="rId1" imgW="1009015" imgH="1397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03613" y="5013325"/>
                        <a:ext cx="3502025" cy="633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11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9016" name="Text Box 56"/>
          <p:cNvSpPr txBox="1">
            <a:spLocks noChangeArrowheads="1"/>
          </p:cNvSpPr>
          <p:nvPr/>
        </p:nvSpPr>
        <p:spPr bwMode="auto">
          <a:xfrm>
            <a:off x="407670" y="836295"/>
            <a:ext cx="11252200" cy="1272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800" dirty="0">
                <a:solidFill>
                  <a:schemeClr val="tx1"/>
                </a:solidFill>
                <a:latin typeface="楷体_GB2312" pitchFamily="49" charset="-122"/>
              </a:rPr>
              <a:t>   </a:t>
            </a:r>
            <a:r>
              <a:rPr kumimoji="1" lang="zh-CN" altLang="en-US" sz="3200" dirty="0">
                <a:solidFill>
                  <a:schemeClr val="tx1"/>
                </a:solidFill>
                <a:latin typeface="楷体_GB2312" pitchFamily="49" charset="-122"/>
              </a:rPr>
              <a:t>求图示电路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3200" dirty="0">
                <a:solidFill>
                  <a:schemeClr val="tx1"/>
                </a:solidFill>
                <a:latin typeface="楷体_GB2312" pitchFamily="49" charset="-122"/>
              </a:rPr>
              <a:t>闭合后各元件的电压和电流</a:t>
            </a:r>
            <a:endParaRPr kumimoji="1" lang="zh-CN" altLang="en-US" sz="3200" dirty="0">
              <a:solidFill>
                <a:schemeClr val="tx1"/>
              </a:solidFill>
              <a:latin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3200" dirty="0">
                <a:solidFill>
                  <a:schemeClr val="tx1"/>
                </a:solidFill>
                <a:latin typeface="楷体_GB2312" pitchFamily="49" charset="-122"/>
              </a:rPr>
              <a:t>随时间变化的规律，</a:t>
            </a:r>
            <a:r>
              <a:rPr kumimoji="1" lang="zh-CN" altLang="en-US" sz="3200" dirty="0">
                <a:solidFill>
                  <a:schemeClr val="tx1"/>
                </a:solidFill>
                <a:latin typeface="楷体_GB2312" pitchFamily="49" charset="-122"/>
                <a:sym typeface="+mn-ea"/>
              </a:rPr>
              <a:t>电阻共耗能多少？电容分别释放多少</a:t>
            </a:r>
            <a:r>
              <a:rPr kumimoji="1" lang="zh-CN" altLang="en-US" sz="3200" dirty="0">
                <a:solidFill>
                  <a:schemeClr val="tx1"/>
                </a:solidFill>
                <a:latin typeface="楷体_GB2312" pitchFamily="49" charset="-122"/>
              </a:rPr>
              <a:t>储能？</a:t>
            </a:r>
            <a:endParaRPr kumimoji="1" lang="zh-CN" altLang="en-US" sz="3200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" y="2276475"/>
            <a:ext cx="8467725" cy="400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27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12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4275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9470" y="1124268"/>
            <a:ext cx="940435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pPr>
              <a:spcBef>
                <a:spcPct val="50000"/>
              </a:spcBef>
            </a:pP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t=0 </a:t>
            </a:r>
            <a:r>
              <a:rPr kumimoji="1" lang="zh-CN" altLang="zh-CN" sz="3200">
                <a:solidFill>
                  <a:schemeClr val="tx1"/>
                </a:solidFill>
                <a:latin typeface="楷体_GB2312" pitchFamily="49" charset="-122"/>
              </a:rPr>
              <a:t>时 </a:t>
            </a:r>
            <a:r>
              <a:rPr kumimoji="1" lang="en-US" altLang="zh-CN" sz="3200">
                <a:solidFill>
                  <a:schemeClr val="tx1"/>
                </a:solidFill>
                <a:latin typeface="楷体_GB2312" pitchFamily="49" charset="-122"/>
              </a:rPr>
              <a:t>,</a:t>
            </a:r>
            <a:r>
              <a:rPr kumimoji="1" lang="zh-CN" altLang="en-US" sz="3200">
                <a:solidFill>
                  <a:schemeClr val="tx1"/>
                </a:solidFill>
                <a:latin typeface="楷体_GB2312" pitchFamily="49" charset="-122"/>
              </a:rPr>
              <a:t>开关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3200">
                <a:solidFill>
                  <a:schemeClr val="tx1"/>
                </a:solidFill>
                <a:latin typeface="楷体_GB2312" pitchFamily="49" charset="-122"/>
              </a:rPr>
              <a:t>打开，求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</a:rPr>
              <a:t>t &gt;0</a:t>
            </a:r>
            <a:r>
              <a:rPr kumimoji="1" lang="zh-CN" altLang="en-US" sz="3200">
                <a:solidFill>
                  <a:schemeClr val="tx1"/>
                </a:solidFill>
                <a:latin typeface="楷体_GB2312" pitchFamily="49" charset="-122"/>
              </a:rPr>
              <a:t>后的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kumimoji="1" lang="en-US" altLang="zh-CN" sz="3200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zh-CN" altLang="en-US" sz="3200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3200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zh-CN" altLang="en-US" sz="3200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1" lang="zh-CN" altLang="en-US" sz="3200" b="0" baseline="-250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840" y="2060575"/>
            <a:ext cx="6343650" cy="37909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PP_MARK_KEY" val="262464ef-a37a-4fe6-b54d-0b8752e49583"/>
  <p:tag name="COMMONDATA" val="eyJoZGlkIjoiM2E5MjQxOTg1YTQxNWEzMDIwNDA5MzdiNjRkODFjYmEifQ=="/>
</p:tagLst>
</file>

<file path=ppt/theme/theme1.xml><?xml version="1.0" encoding="utf-8"?>
<a:theme xmlns:a="http://schemas.openxmlformats.org/drawingml/2006/main" name="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9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默认设计模板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C30000"/>
      </a:accent1>
      <a:accent2>
        <a:srgbClr val="3B3E4D"/>
      </a:accent2>
      <a:accent3>
        <a:srgbClr val="C30000"/>
      </a:accent3>
      <a:accent4>
        <a:srgbClr val="3B3E4D"/>
      </a:accent4>
      <a:accent5>
        <a:srgbClr val="C30000"/>
      </a:accent5>
      <a:accent6>
        <a:srgbClr val="3B3E4D"/>
      </a:accent6>
      <a:hlink>
        <a:srgbClr val="5FCBFB"/>
      </a:hlink>
      <a:folHlink>
        <a:srgbClr val="B759B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默认设计模板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C30000"/>
      </a:accent1>
      <a:accent2>
        <a:srgbClr val="3B3E4D"/>
      </a:accent2>
      <a:accent3>
        <a:srgbClr val="C30000"/>
      </a:accent3>
      <a:accent4>
        <a:srgbClr val="3B3E4D"/>
      </a:accent4>
      <a:accent5>
        <a:srgbClr val="C30000"/>
      </a:accent5>
      <a:accent6>
        <a:srgbClr val="3B3E4D"/>
      </a:accent6>
      <a:hlink>
        <a:srgbClr val="5FCBFB"/>
      </a:hlink>
      <a:folHlink>
        <a:srgbClr val="B759B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1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="0" dirty="0" smtClean="0">
            <a:solidFill>
              <a:srgbClr val="FF0000"/>
            </a:solidFill>
            <a:latin typeface="华文行楷" panose="02010800040101010101" charset="-122"/>
            <a:ea typeface="华文行楷" panose="02010800040101010101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2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WPS 演示</Application>
  <PresentationFormat/>
  <Paragraphs>64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48" baseType="lpstr">
      <vt:lpstr>Arial</vt:lpstr>
      <vt:lpstr>宋体</vt:lpstr>
      <vt:lpstr>Wingdings</vt:lpstr>
      <vt:lpstr>楷体_GB2312</vt:lpstr>
      <vt:lpstr>新宋体</vt:lpstr>
      <vt:lpstr>华文行楷</vt:lpstr>
      <vt:lpstr>Times New Roman</vt:lpstr>
      <vt:lpstr>仿宋_GB2312</vt:lpstr>
      <vt:lpstr>仿宋</vt:lpstr>
      <vt:lpstr>Symbol</vt:lpstr>
      <vt:lpstr>黑体</vt:lpstr>
      <vt:lpstr>微软雅黑</vt:lpstr>
      <vt:lpstr>Arial Unicode MS</vt:lpstr>
      <vt:lpstr>PMingLiU-ExtB</vt:lpstr>
      <vt:lpstr>Monotype Sorts</vt:lpstr>
      <vt:lpstr>Wingdings</vt:lpstr>
      <vt:lpstr>Times New Roman</vt:lpstr>
      <vt:lpstr>思源宋体 CN</vt:lpstr>
      <vt:lpstr>Cambria Math</vt:lpstr>
      <vt:lpstr>MS Mincho</vt:lpstr>
      <vt:lpstr>Segoe Print</vt:lpstr>
      <vt:lpstr>Beam</vt:lpstr>
      <vt:lpstr>5_Beam</vt:lpstr>
      <vt:lpstr>9_Beam</vt:lpstr>
      <vt:lpstr>4_默认设计模板</vt:lpstr>
      <vt:lpstr>7_默认设计模板</vt:lpstr>
      <vt:lpstr>11_Beam</vt:lpstr>
      <vt:lpstr>7_Beam</vt:lpstr>
      <vt:lpstr>1_Beam</vt:lpstr>
      <vt:lpstr>3_Beam</vt:lpstr>
      <vt:lpstr>1_默认设计模板</vt:lpstr>
      <vt:lpstr>2_Beam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第1章小测</dc:title>
  <dc:creator>zyz</dc:creator>
  <cp:lastModifiedBy>苏为</cp:lastModifiedBy>
  <cp:revision>28</cp:revision>
  <dcterms:created xsi:type="dcterms:W3CDTF">2023-03-14T00:54:00Z</dcterms:created>
  <dcterms:modified xsi:type="dcterms:W3CDTF">2026-04-16T06:01:48Z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8B53C019295D4ACBA8714B16F8A325E4_13</vt:lpwstr>
  </property>
  <property fmtid="{D5CDD505-2E9C-101B-9397-08002B2CF9AE}" pid="3" name="KSOProductBuildVer">
    <vt:lpwstr>2052-12.1.0.25225</vt:lpwstr>
  </property>
</Properties>
</file>