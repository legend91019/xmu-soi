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1" r:id="rId10"/>
    <p:sldMasterId id="2147483763" r:id="rId11"/>
    <p:sldMasterId id="2147483775" r:id="rId12"/>
    <p:sldMasterId id="2147483788" r:id="rId13"/>
  </p:sldMasterIdLst>
  <p:notesMasterIdLst>
    <p:notesMasterId r:id="rId29"/>
  </p:notesMasterIdLst>
  <p:sldIdLst>
    <p:sldId id="278" r:id="rId14"/>
    <p:sldId id="271" r:id="rId15"/>
    <p:sldId id="267" r:id="rId16"/>
    <p:sldId id="261" r:id="rId17"/>
    <p:sldId id="282" r:id="rId18"/>
    <p:sldId id="285" r:id="rId19"/>
    <p:sldId id="347" r:id="rId20"/>
    <p:sldId id="314" r:id="rId21"/>
    <p:sldId id="350" r:id="rId22"/>
    <p:sldId id="329" r:id="rId23"/>
    <p:sldId id="283" r:id="rId24"/>
    <p:sldId id="353" r:id="rId25"/>
    <p:sldId id="262" r:id="rId26"/>
    <p:sldId id="281" r:id="rId27"/>
    <p:sldId id="275" r:id="rId28"/>
  </p:sldIdLst>
  <p:sldSz cx="12192000" cy="6858000" type="screen16x9"/>
  <p:notesSz cx="6858000" cy="9144000"/>
  <p:custDataLst>
    <p:tags r:id="rId3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99"/>
    <a:srgbClr val="E6833F"/>
    <a:srgbClr val="000000"/>
    <a:srgbClr val="FF99FF"/>
    <a:srgbClr val="FFCC00"/>
    <a:srgbClr val="663300"/>
    <a:srgbClr val="66FFFF"/>
    <a:srgbClr val="00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750" autoAdjust="0"/>
    <p:restoredTop sz="94475" autoAdjust="0"/>
  </p:normalViewPr>
  <p:slideViewPr>
    <p:cSldViewPr showGuides="1">
      <p:cViewPr>
        <p:scale>
          <a:sx n="75" d="100"/>
          <a:sy n="75" d="100"/>
        </p:scale>
        <p:origin x="-384" y="216"/>
      </p:cViewPr>
      <p:guideLst>
        <p:guide orient="horz" pos="2100"/>
        <p:guide pos="3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8"/>
    </p:cViewPr>
  </p:sorterViewPr>
  <p:notesViewPr>
    <p:cSldViewPr>
      <p:cViewPr varScale="1">
        <p:scale>
          <a:sx n="57" d="100"/>
          <a:sy n="57" d="100"/>
        </p:scale>
        <p:origin x="-1782" y="-84"/>
      </p:cViewPr>
      <p:guideLst>
        <p:guide orient="horz" pos="2800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gs" Target="tags/tag10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14166.800 7995.520,'0.000'0.000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14486.800 6258.520,'0.000'0.000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3405.760 5714.520,'9.000'0.000,"1.000"0.000,0.000 0.000,-1.000 0.000,1.000 0.000,0.000 0.000,9.000 0.000,1.000-9.000,-1.000-1.000,10.000-19.000,-19.000 19.000,19.000-9.000,-10.000-20.000,11.000 0.000,-1.000-9.000,-10.000 9.000,-19.000 29.000,19.000-29.000,-9.000 10.000,-10.000 0.000,0.000 10.000,0.000-11.000,0.000 11.000,0.000-10.000,0.000 0.000,0.000 19.000,0.000-9.000,-10.000-10.000,1.000 0.000,-11.000 9.000,11.000 1.000,-1.000-1.000,0.000 20.000,-9.000-19.000,-1.000 0.000,1.000-1.000,-10.000 1.000,0.000-1.000,0.000 11.000,0.000-21.000,-1.000 21.000,11.000-1.000,9.000 10.000,-9.000 0.000,0.000-10.000,-1.000 1.000,1.000 9.000,-1.000 0.000,1.000 0.000,-10.000 0.000,0.000 0.000,0.000 0.000,-10.000 0.000,19.000 9.000,-9.000 1.000,10.000 0.000,-10.000 9.000,9.000-9.000,1.000 0.000,9.000-1.000,-9.000 1.000,-1.000 9.000,1.000 1.000,9.000-10.000,-9.000 9.000,9.000 0.000,-9.000 10.000,19.000-9.000,-10.000-10.000,10.000-1.000,0.000 1.000,0.000 0.000,0.000-1.000,0.000 1.000,-10.000 0.000,10.000-1.000,0.000 11.000,0.000-10.000,0.000-10.000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2842.760 5045.520,'0.000'10.000,"0.000"-1.000,-10.000 1.000,10.000 0.000,0.000-1.000,0.000 1.000,0.000 9.000,0.000 1.000,0.000-1.000,0.000 1.000,0.000-1.000,0.000 0.000,-10.000 1.000,10.000-1.000,0.000 10.000,-9.000-19.000,9.000 0.000,0.000-1.000,0.000 1.000,0.000 0.000,0.000 0.000,0.000-1.000,9.000-9.000,1.000 0.000,0.000 0.000,0.000-9.000,9.000 9.000,0.000-20.000,1.000 10.000,-1.000-9.000,1.000 19.000,-11.000-19.000,11.000 9.000,-11.000 0.000,1.000 1.000,0.000 9.000,0.000-10.000,-1.000 10.000,1.000 0.000,-10.000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7791.760 5840.520,'0.000'10.000,"9.000"-10.000,1.000 0.000,0.000 0.000,-1.000 0.000,1.000 0.000,0.000 0.000,0.000 0.000,19.000-10.000,-10.000 1.000,10.000-20.000,10.000 9.000,-10.000 1.000,0.000-10.000,-19.000 29.000,19.000-29.000,-19.000 9.000,9.000-9.000,1.000 0.000,-11.000 10.000,1.000-1.000,-10.000 10.000,0.000-9.000,0.000 9.000,0.000-9.000,0.000-20.000,0.000 10.000,0.000 10.000,-10.000-10.000,1.000-1.000,-1.000 11.000,0.000 0.000,-9.000-11.000,9.000 11.000,-9.000-10.000,-1.000 10.000,20.000 9.000,-9.000 0.000,-1.000 0.000,0.000 1.000,0.000-11.000,1.000 20.000,-1.000 0.000,0.000-9.000,1.000 9.000,-1.000 0.000,-9.000 0.000,9.000 0.000,-10.000 0.000,1.000 9.000,0.000 11.000,9.000-11.000,-19.000 1.000,9.000 10.000,11.000 9.000,-11.000-20.000,1.000 11.000,-1.000-1.000,11.000 1.000,-11.000-1.000,20.000-9.000,-9.000 9.000,-1.000-19.000,10.000 20.000,0.000-11.000,-10.000-9.000,10.000 10.000,0.000 0.000,0.000-1.000,0.000-9.000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7665.760 5249.520,'-10.000'0.000,"10.000"9.000,0.000 1.000,0.000 0.000,0.000-1.000,0.000 1.000,0.000 0.000,0.000-1.000,0.000 1.000,0.000 10.000,0.000-1.000,0.000-9.000,0.000 9.000,0.000 1.000,0.000-11.000,0.000 11.000,0.000-1.000,0.000-9.000,-10.000-1.000,10.000 1.000,0.000 10.000,0.000-11.000,0.000 11.000,0.000-11.000,0.000 1.000,0.000 0.000,10.000-10.000,0.000 0.000,-10.000-10.000,29.000 0.000,-10.000-9.000,0.000 9.000,-9.000-9.000,10.000 9.000,-1.000 0.000,-9.000 10.000,-10.000-9.000,9.000 9.000,-9.000-10.000,10.000 10.000,-10.000 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3638.760 4123.520,'0.000'-10.000,"9.000"10.000,1.000 0.000,0.000 0.000,-1.000 0.000,1.000 0.000,0.000 0.000,-1.000 0.000,1.000 0.000,10.000 0.000,-1.000 0.000,0.000 0.000,-9.000 0.000,10.000 10.000,-11.000-10.000,11.000 0.000,-11.000 0.000,1.000 0.000,0.000 0.000,-1.000 0.000,-9.000 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3773.760 4045.520,'-9.000'0.000,"9.000"10.000,0.000 9.000,0.000-9.000,0.000 0.000,0.000 9.000,0.000 1.000,0.000-1.000,0.000-9.000,0.000 9.000,0.000 1.000,0.000-1.000,0.000-9.000,0.000-1.000,0.000 1.000,0.000 0.000,0.000 0.000,-10.000-10.000,10.000 9.000,0.000-9.000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2211.760 4171.520,'10.000'0.000,"0.000"0.000,-1.000 0.000,11.000 10.000,-11.000-10.000,1.000 0.000,0.000 0.000,9.000 0.000,1.000 0.000,-11.000 10.000,11.000-10.000,-11.000 0.000,1.000 0.000,0.000 0.000,0.000 0.000,-1.000 0.000,1.000 0.000,-10.000 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2463.760 7432.520,'10.000'0.000,"0.000"0.000,0.000 0.000,-1.000 0.000,1.000 0.000,9.000 0.000,1.000 0.000,9.000 0.000,-10.000 0.000,10.000 0.000,-9.000 0.000,-1.000 0.000,1.000 0.000,-11.000 0.000,11.000 0.000,-11.000 0.000,1.000 0.000,0.000 0.000,-10.000 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2609.760 7315.520,'0.000'10.000,"0.000"0.000,0.000 0.000,0.000-1.000,0.000 1.000,0.000 9.000,0.000-9.000,0.000 0.000,0.000 9.000,0.000-9.000,0.000 9.000,0.000-9.000,0.000 0.000,0.000-1.000,0.000 1.000,0.000 0.000,0.000-1.000,0.000-9.000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3803.760 7461.520,'9.000'0.000,"1.000"0.000,0.000 0.000,-1.000 0.000,11.000 0.000,-1.000 0.000,1.000 0.000,9.000 0.000,-10.000 0.000,0.000 0.000,-9.000 0.000,0.000 0.000,0.000 0.000,-1.000 0.000,1.000 0.000,0.000 0.000,9.000 0.000,-9.000 0.000,0.000 0.000,-1.000 0.000,1.000 0.000,-10.000 0.000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8965.760 6549.520,'9.000'0.000,"1.000"0.000,0.000 0.000,0.000 0.000,-1.000 0.000,1.000 0.000,0.000 0.000,9.000 0.000,-9.000 0.000,0.000 0.000,-1.000 0.000,1.000 0.000,0.000 0.000,-1.000 0.000,1.000 0.000,0.000 0.000,-1.000 0.000,1.000 0.000,-10.000 0.000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9062.760 6491.520,'0.000'9.000,"0.000"1.000,0.000 0.000,0.000 9.000,0.000-9.000,0.000 9.000,0.000-9.000,0.000 0.000,0.000 9.000,0.000-9.000,0.000-1.000,0.000 1.000,0.000 0.000,0.000 0.000,0.000-1.000,0.000 1.000,0.000-10.000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9023.760 5055.520,'0.000'-10.000,"10.000"10.000,-1.000 0.000,1.000 0.000,10.000 0.000,-11.000 0.000,1.000-10.000,0.000 10.000,-1.000 0.000,11.000 0.000,-1.000 0.000,-9.000 0.000,0.000 0.000,-1.000 0.000,1.000 0.000,-10.000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8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8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A546FE18-C24B-4162-9F75-7813E3C28BF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7" Type="http://schemas.openxmlformats.org/officeDocument/2006/relationships/theme" Target="../theme/theme3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7" Type="http://schemas.openxmlformats.org/officeDocument/2006/relationships/theme" Target="../theme/theme4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7" Type="http://schemas.openxmlformats.org/officeDocument/2006/relationships/theme" Target="../theme/theme5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7" Type="http://schemas.openxmlformats.org/officeDocument/2006/relationships/theme" Target="../theme/theme6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7" Type="http://schemas.openxmlformats.org/officeDocument/2006/relationships/theme" Target="../theme/theme7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4.xml"/><Relationship Id="rId8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96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7" Type="http://schemas.openxmlformats.org/officeDocument/2006/relationships/theme" Target="../theme/theme1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18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31.xml"/><Relationship Id="rId17" Type="http://schemas.openxmlformats.org/officeDocument/2006/relationships/theme" Target="../theme/theme12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emf"/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2" Type="http://schemas.openxmlformats.org/officeDocument/2006/relationships/slideLayout" Target="../slideLayouts/slideLayout91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7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7" Type="http://schemas.openxmlformats.org/officeDocument/2006/relationships/slideLayout" Target="../slideLayouts/slideLayout91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102.xml"/><Relationship Id="rId2" Type="http://schemas.openxmlformats.org/officeDocument/2006/relationships/image" Target="../media/image9.emf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0" Type="http://schemas.openxmlformats.org/officeDocument/2006/relationships/vmlDrawing" Target="../drawings/vmlDrawing2.vml"/><Relationship Id="rId2" Type="http://schemas.openxmlformats.org/officeDocument/2006/relationships/image" Target="../media/image10.emf"/><Relationship Id="rId19" Type="http://schemas.openxmlformats.org/officeDocument/2006/relationships/slideLayout" Target="../slideLayouts/slideLayout113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customXml" Target="../ink/ink5.xml"/><Relationship Id="rId7" Type="http://schemas.openxmlformats.org/officeDocument/2006/relationships/image" Target="../media/image13.png"/><Relationship Id="rId6" Type="http://schemas.openxmlformats.org/officeDocument/2006/relationships/customXml" Target="../ink/ink4.xml"/><Relationship Id="rId5" Type="http://schemas.openxmlformats.org/officeDocument/2006/relationships/image" Target="../media/image12.png"/><Relationship Id="rId4" Type="http://schemas.openxmlformats.org/officeDocument/2006/relationships/customXml" Target="../ink/ink3.xml"/><Relationship Id="rId30" Type="http://schemas.openxmlformats.org/officeDocument/2006/relationships/slideLayout" Target="../slideLayouts/slideLayout19.xml"/><Relationship Id="rId3" Type="http://schemas.openxmlformats.org/officeDocument/2006/relationships/tags" Target="../tags/tag96.xml"/><Relationship Id="rId29" Type="http://schemas.openxmlformats.org/officeDocument/2006/relationships/image" Target="../media/image24.png"/><Relationship Id="rId28" Type="http://schemas.openxmlformats.org/officeDocument/2006/relationships/customXml" Target="../ink/ink15.xml"/><Relationship Id="rId27" Type="http://schemas.openxmlformats.org/officeDocument/2006/relationships/image" Target="../media/image23.png"/><Relationship Id="rId26" Type="http://schemas.openxmlformats.org/officeDocument/2006/relationships/customXml" Target="../ink/ink14.xml"/><Relationship Id="rId25" Type="http://schemas.openxmlformats.org/officeDocument/2006/relationships/image" Target="../media/image22.png"/><Relationship Id="rId24" Type="http://schemas.openxmlformats.org/officeDocument/2006/relationships/customXml" Target="../ink/ink13.xml"/><Relationship Id="rId23" Type="http://schemas.openxmlformats.org/officeDocument/2006/relationships/image" Target="../media/image21.png"/><Relationship Id="rId22" Type="http://schemas.openxmlformats.org/officeDocument/2006/relationships/customXml" Target="../ink/ink12.xml"/><Relationship Id="rId21" Type="http://schemas.openxmlformats.org/officeDocument/2006/relationships/image" Target="../media/image20.png"/><Relationship Id="rId20" Type="http://schemas.openxmlformats.org/officeDocument/2006/relationships/customXml" Target="../ink/ink11.xml"/><Relationship Id="rId2" Type="http://schemas.openxmlformats.org/officeDocument/2006/relationships/tags" Target="../tags/tag95.xml"/><Relationship Id="rId19" Type="http://schemas.openxmlformats.org/officeDocument/2006/relationships/image" Target="../media/image19.png"/><Relationship Id="rId18" Type="http://schemas.openxmlformats.org/officeDocument/2006/relationships/customXml" Target="../ink/ink10.xml"/><Relationship Id="rId17" Type="http://schemas.openxmlformats.org/officeDocument/2006/relationships/image" Target="../media/image18.png"/><Relationship Id="rId16" Type="http://schemas.openxmlformats.org/officeDocument/2006/relationships/customXml" Target="../ink/ink9.xml"/><Relationship Id="rId15" Type="http://schemas.openxmlformats.org/officeDocument/2006/relationships/image" Target="../media/image17.png"/><Relationship Id="rId14" Type="http://schemas.openxmlformats.org/officeDocument/2006/relationships/customXml" Target="../ink/ink8.xml"/><Relationship Id="rId13" Type="http://schemas.openxmlformats.org/officeDocument/2006/relationships/image" Target="../media/image16.png"/><Relationship Id="rId12" Type="http://schemas.openxmlformats.org/officeDocument/2006/relationships/customXml" Target="../ink/ink7.xml"/><Relationship Id="rId11" Type="http://schemas.openxmlformats.org/officeDocument/2006/relationships/image" Target="../media/image15.png"/><Relationship Id="rId10" Type="http://schemas.openxmlformats.org/officeDocument/2006/relationships/customXml" Target="../ink/ink6.xml"/><Relationship Id="rId1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5.xml"/><Relationship Id="rId3" Type="http://schemas.openxmlformats.org/officeDocument/2006/relationships/tags" Target="../tags/tag98.xml"/><Relationship Id="rId2" Type="http://schemas.openxmlformats.org/officeDocument/2006/relationships/image" Target="../media/image25.png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100.xml"/><Relationship Id="rId2" Type="http://schemas.openxmlformats.org/officeDocument/2006/relationships/image" Target="../media/image26.png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基础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4" name="Text Box 55" descr="斜纹布"/>
          <p:cNvSpPr txBox="1">
            <a:spLocks noChangeArrowheads="1"/>
          </p:cNvSpPr>
          <p:nvPr/>
        </p:nvSpPr>
        <p:spPr bwMode="auto">
          <a:xfrm>
            <a:off x="4993640" y="2280920"/>
            <a:ext cx="431800" cy="5835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-</a:t>
            </a:r>
            <a:endParaRPr kumimoji="1" lang="en-US" altLang="zh-CN" sz="3200" b="1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3409316" y="2425383"/>
            <a:ext cx="720725" cy="4603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5V</a:t>
            </a:r>
            <a:endParaRPr kumimoji="1" lang="en-US" altLang="zh-CN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7165" y="1022985"/>
            <a:ext cx="10007600" cy="48113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863600"/>
            <a:ext cx="6228715" cy="560197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456805" y="1557655"/>
            <a:ext cx="421640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tip</a:t>
            </a:r>
            <a:endParaRPr kumimoji="1" lang="en-US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回路电压和为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求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1595" y="4417695"/>
            <a:ext cx="14001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122670" y="2243455"/>
            <a:ext cx="14001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2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矩形 2"/>
          <p:cNvSpPr/>
          <p:nvPr/>
        </p:nvSpPr>
        <p:spPr>
          <a:xfrm>
            <a:off x="839470" y="1049020"/>
            <a:ext cx="3721735" cy="3969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 smtClean="0"/>
              <a:t>、右图电路</a:t>
            </a:r>
            <a:r>
              <a:rPr lang="zh-CN" altLang="en-US" dirty="0"/>
              <a:t>中</a:t>
            </a:r>
            <a:r>
              <a:rPr lang="zh-CN" altLang="en-US" dirty="0" smtClean="0"/>
              <a:t>，电流表</a:t>
            </a:r>
            <a:r>
              <a:rPr lang="en-US" altLang="zh-CN" dirty="0" smtClean="0"/>
              <a:t>A</a:t>
            </a:r>
            <a:r>
              <a:rPr lang="zh-CN" altLang="en-US" dirty="0" smtClean="0"/>
              <a:t>内阻可</a:t>
            </a:r>
            <a:r>
              <a:rPr lang="zh-CN" altLang="en-US" dirty="0"/>
              <a:t>忽略</a:t>
            </a:r>
            <a:r>
              <a:rPr lang="zh-CN" altLang="en-US" dirty="0" smtClean="0"/>
              <a:t>不计，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已知</a:t>
            </a:r>
            <a:r>
              <a:rPr lang="en-US" altLang="zh-CN" dirty="0" smtClean="0"/>
              <a:t>Us=20V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4</a:t>
            </a:r>
            <a:r>
              <a:rPr lang="en-US" altLang="zh-CN" dirty="0" smtClean="0"/>
              <a:t>=10</a:t>
            </a:r>
            <a:r>
              <a:rPr lang="el-GR" altLang="zh-CN" dirty="0" smtClean="0"/>
              <a:t>Ω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=20</a:t>
            </a:r>
            <a:r>
              <a:rPr lang="el-GR" altLang="zh-CN" dirty="0" smtClean="0"/>
              <a:t>Ω</a:t>
            </a:r>
            <a:r>
              <a:rPr lang="zh-CN" altLang="en-US" dirty="0" smtClean="0"/>
              <a:t>，</a:t>
            </a:r>
            <a:r>
              <a:rPr lang="zh-CN" altLang="en-US" dirty="0"/>
              <a:t>则</a:t>
            </a:r>
            <a:r>
              <a:rPr lang="en-US" altLang="zh-CN" dirty="0"/>
              <a:t>A</a:t>
            </a:r>
            <a:r>
              <a:rPr lang="zh-CN" altLang="en-US" dirty="0"/>
              <a:t>表的读数为（ </a:t>
            </a:r>
            <a:r>
              <a:rPr lang="zh-CN" altLang="en-US" dirty="0" smtClean="0"/>
              <a:t>）</a:t>
            </a:r>
            <a:r>
              <a:rPr lang="zh-CN" altLang="en-US" dirty="0"/>
              <a:t>。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097158" name="墨迹 19"/>
              <p14:cNvContentPartPr/>
              <p14:nvPr/>
            </p14:nvContentPartPr>
            <p14:xfrm>
              <a:off x="8996045" y="5077460"/>
              <a:ext cx="635" cy="635"/>
            </p14:xfrm>
          </p:contentPart>
        </mc:Choice>
        <mc:Fallback xmlns="">
          <p:pic>
            <p:nvPicPr>
              <p:cNvPr id="2097158" name="墨迹 19"/>
            </p:nvPicPr>
            <p:blipFill>
              <a:blip r:embed="rId2"/>
            </p:blipFill>
            <p:spPr>
              <a:xfrm>
                <a:off x="8996045" y="50774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097165" name="墨迹 21"/>
              <p14:cNvContentPartPr/>
              <p14:nvPr/>
            </p14:nvContentPartPr>
            <p14:xfrm>
              <a:off x="9199245" y="3974465"/>
              <a:ext cx="635" cy="635"/>
            </p14:xfrm>
          </p:contentPart>
        </mc:Choice>
        <mc:Fallback xmlns="">
          <p:pic>
            <p:nvPicPr>
              <p:cNvPr id="2097165" name="墨迹 21"/>
            </p:nvPicPr>
            <p:blipFill>
              <a:blip r:embed="rId2"/>
            </p:blipFill>
            <p:spPr>
              <a:xfrm>
                <a:off x="9199245" y="3974465"/>
                <a:ext cx="635" cy="635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3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75910" y="765175"/>
            <a:ext cx="6122670" cy="57696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等效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18" name="Text Box 14"/>
          <p:cNvSpPr txBox="1"/>
          <p:nvPr/>
        </p:nvSpPr>
        <p:spPr>
          <a:xfrm>
            <a:off x="8183563" y="2709545"/>
            <a:ext cx="23034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b="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,I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b="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,U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endParaRPr lang="en-US" altLang="zh-CN" b="0" baseline="-25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1584" name="Group 80"/>
          <p:cNvGrpSpPr/>
          <p:nvPr/>
        </p:nvGrpSpPr>
        <p:grpSpPr>
          <a:xfrm>
            <a:off x="998538" y="1613853"/>
            <a:ext cx="6054725" cy="2247900"/>
            <a:chOff x="2064" y="200"/>
            <a:chExt cx="3814" cy="1416"/>
          </a:xfrm>
        </p:grpSpPr>
        <p:sp>
          <p:nvSpPr>
            <p:cNvPr id="26643" name="Oval 81"/>
            <p:cNvSpPr/>
            <p:nvPr/>
          </p:nvSpPr>
          <p:spPr>
            <a:xfrm>
              <a:off x="256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23" name="Text Box 82"/>
            <p:cNvSpPr txBox="1"/>
            <p:nvPr>
              <p:custDataLst>
                <p:tags r:id="rId1"/>
              </p:custDataLst>
            </p:nvPr>
          </p:nvSpPr>
          <p:spPr>
            <a:xfrm>
              <a:off x="2472" y="617"/>
              <a:ext cx="24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24" name="Text Box 83"/>
            <p:cNvSpPr txBox="1"/>
            <p:nvPr>
              <p:custDataLst>
                <p:tags r:id="rId2"/>
              </p:custDataLst>
            </p:nvPr>
          </p:nvSpPr>
          <p:spPr>
            <a:xfrm>
              <a:off x="2472" y="1116"/>
              <a:ext cx="21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25" name="Line 84"/>
            <p:cNvSpPr/>
            <p:nvPr>
              <p:custDataLst>
                <p:tags r:id="rId3"/>
              </p:custDataLst>
            </p:nvPr>
          </p:nvSpPr>
          <p:spPr>
            <a:xfrm>
              <a:off x="3424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6" name="Line 85"/>
            <p:cNvSpPr/>
            <p:nvPr>
              <p:custDataLst>
                <p:tags r:id="rId4"/>
              </p:custDataLst>
            </p:nvPr>
          </p:nvSpPr>
          <p:spPr>
            <a:xfrm>
              <a:off x="4150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7" name="Line 86"/>
            <p:cNvSpPr/>
            <p:nvPr>
              <p:custDataLst>
                <p:tags r:id="rId5"/>
              </p:custDataLst>
            </p:nvPr>
          </p:nvSpPr>
          <p:spPr>
            <a:xfrm>
              <a:off x="4830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8" name="Text Box 87"/>
            <p:cNvSpPr txBox="1"/>
            <p:nvPr>
              <p:custDataLst>
                <p:tags r:id="rId6"/>
              </p:custDataLst>
            </p:nvPr>
          </p:nvSpPr>
          <p:spPr>
            <a:xfrm>
              <a:off x="5057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29" name="Text Box 88"/>
            <p:cNvSpPr txBox="1"/>
            <p:nvPr>
              <p:custDataLst>
                <p:tags r:id="rId7"/>
              </p:custDataLst>
            </p:nvPr>
          </p:nvSpPr>
          <p:spPr>
            <a:xfrm>
              <a:off x="4422" y="935"/>
              <a:ext cx="43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0" name="Text Box 89"/>
            <p:cNvSpPr txBox="1"/>
            <p:nvPr>
              <p:custDataLst>
                <p:tags r:id="rId8"/>
              </p:custDataLst>
            </p:nvPr>
          </p:nvSpPr>
          <p:spPr>
            <a:xfrm>
              <a:off x="3742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1" name="Text Box 90"/>
            <p:cNvSpPr txBox="1"/>
            <p:nvPr>
              <p:custDataLst>
                <p:tags r:id="rId9"/>
              </p:custDataLst>
            </p:nvPr>
          </p:nvSpPr>
          <p:spPr>
            <a:xfrm>
              <a:off x="3016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2" name="Text Box 91"/>
            <p:cNvSpPr txBox="1"/>
            <p:nvPr>
              <p:custDataLst>
                <p:tags r:id="rId10"/>
              </p:custDataLst>
            </p:nvPr>
          </p:nvSpPr>
          <p:spPr>
            <a:xfrm>
              <a:off x="3696" y="200"/>
              <a:ext cx="240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3" name="Text Box 92"/>
            <p:cNvSpPr txBox="1"/>
            <p:nvPr>
              <p:custDataLst>
                <p:tags r:id="rId11"/>
              </p:custDataLst>
            </p:nvPr>
          </p:nvSpPr>
          <p:spPr>
            <a:xfrm>
              <a:off x="4422" y="210"/>
              <a:ext cx="19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4" name="Line 93"/>
            <p:cNvSpPr/>
            <p:nvPr>
              <p:custDataLst>
                <p:tags r:id="rId12"/>
              </p:custDataLst>
            </p:nvPr>
          </p:nvSpPr>
          <p:spPr>
            <a:xfrm>
              <a:off x="2880" y="663"/>
              <a:ext cx="336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5" name="Line 94"/>
            <p:cNvSpPr/>
            <p:nvPr>
              <p:custDataLst>
                <p:tags r:id="rId13"/>
              </p:custDataLst>
            </p:nvPr>
          </p:nvSpPr>
          <p:spPr>
            <a:xfrm>
              <a:off x="3470" y="663"/>
              <a:ext cx="272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6" name="Line 95"/>
            <p:cNvSpPr/>
            <p:nvPr>
              <p:custDataLst>
                <p:tags r:id="rId14"/>
              </p:custDataLst>
            </p:nvPr>
          </p:nvSpPr>
          <p:spPr>
            <a:xfrm>
              <a:off x="4195" y="663"/>
              <a:ext cx="257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7" name="Line 96"/>
            <p:cNvSpPr/>
            <p:nvPr>
              <p:custDataLst>
                <p:tags r:id="rId15"/>
              </p:custDataLst>
            </p:nvPr>
          </p:nvSpPr>
          <p:spPr>
            <a:xfrm>
              <a:off x="4876" y="663"/>
              <a:ext cx="0" cy="24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8" name="Line 97"/>
            <p:cNvSpPr/>
            <p:nvPr>
              <p:custDataLst>
                <p:tags r:id="rId16"/>
              </p:custDataLst>
            </p:nvPr>
          </p:nvSpPr>
          <p:spPr>
            <a:xfrm flipH="1">
              <a:off x="5012" y="618"/>
              <a:ext cx="288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9" name="Text Box 98"/>
            <p:cNvSpPr txBox="1"/>
            <p:nvPr>
              <p:custDataLst>
                <p:tags r:id="rId17"/>
              </p:custDataLst>
            </p:nvPr>
          </p:nvSpPr>
          <p:spPr>
            <a:xfrm>
              <a:off x="2880" y="25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0" name="Text Box 99"/>
            <p:cNvSpPr txBox="1"/>
            <p:nvPr>
              <p:custDataLst>
                <p:tags r:id="rId18"/>
              </p:custDataLst>
            </p:nvPr>
          </p:nvSpPr>
          <p:spPr>
            <a:xfrm>
              <a:off x="3408" y="24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1" name="Text Box 100"/>
            <p:cNvSpPr txBox="1"/>
            <p:nvPr>
              <p:custDataLst>
                <p:tags r:id="rId19"/>
              </p:custDataLst>
            </p:nvPr>
          </p:nvSpPr>
          <p:spPr>
            <a:xfrm>
              <a:off x="4134" y="24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2" name="Text Box 101"/>
            <p:cNvSpPr txBox="1"/>
            <p:nvPr>
              <p:custDataLst>
                <p:tags r:id="rId20"/>
              </p:custDataLst>
            </p:nvPr>
          </p:nvSpPr>
          <p:spPr>
            <a:xfrm>
              <a:off x="5012" y="25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3" name="Text Box 102"/>
            <p:cNvSpPr txBox="1"/>
            <p:nvPr>
              <p:custDataLst>
                <p:tags r:id="rId21"/>
              </p:custDataLst>
            </p:nvPr>
          </p:nvSpPr>
          <p:spPr>
            <a:xfrm>
              <a:off x="2064" y="935"/>
              <a:ext cx="50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12V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4" name="Text Box 103"/>
            <p:cNvSpPr txBox="1"/>
            <p:nvPr>
              <p:custDataLst>
                <p:tags r:id="rId22"/>
              </p:custDataLst>
            </p:nvPr>
          </p:nvSpPr>
          <p:spPr>
            <a:xfrm>
              <a:off x="5465" y="1116"/>
              <a:ext cx="295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45" name="Text Box 104"/>
            <p:cNvSpPr txBox="1"/>
            <p:nvPr>
              <p:custDataLst>
                <p:tags r:id="rId23"/>
              </p:custDataLst>
            </p:nvPr>
          </p:nvSpPr>
          <p:spPr>
            <a:xfrm>
              <a:off x="5375" y="934"/>
              <a:ext cx="503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4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26667" name="Group 105"/>
            <p:cNvGrpSpPr/>
            <p:nvPr/>
          </p:nvGrpSpPr>
          <p:grpSpPr>
            <a:xfrm>
              <a:off x="4150" y="753"/>
              <a:ext cx="369" cy="653"/>
              <a:chOff x="276" y="2620"/>
              <a:chExt cx="324" cy="556"/>
            </a:xfrm>
          </p:grpSpPr>
          <p:sp>
            <p:nvSpPr>
              <p:cNvPr id="21559" name="Text Box 106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370" y="2620"/>
                <a:ext cx="116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+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60" name="Text Box 107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360" y="2896"/>
                <a:ext cx="144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  <a:sym typeface="Symbol" panose="05050102010706020507" pitchFamily="18" charset="2"/>
                  </a:rPr>
                  <a:t>_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61" name="Text Box 108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76" y="2787"/>
                <a:ext cx="324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1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U</a:t>
                </a:r>
                <a:r>
                  <a:rPr kumimoji="0" lang="en-US" altLang="zh-CN" sz="2800" b="0" i="0" u="none" strike="noStrike" kern="1200" cap="none" spc="0" normalizeH="0" baseline="-2500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2</a:t>
                </a:r>
                <a:endParaRPr kumimoji="0" lang="en-US" altLang="zh-CN" sz="2800" b="0" i="1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6671" name="Group 109"/>
            <p:cNvGrpSpPr/>
            <p:nvPr/>
          </p:nvGrpSpPr>
          <p:grpSpPr>
            <a:xfrm>
              <a:off x="3424" y="754"/>
              <a:ext cx="415" cy="644"/>
              <a:chOff x="276" y="2617"/>
              <a:chExt cx="324" cy="564"/>
            </a:xfrm>
          </p:grpSpPr>
          <p:sp>
            <p:nvSpPr>
              <p:cNvPr id="21556" name="Text Box 110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370" y="2617"/>
                <a:ext cx="116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+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57" name="Text Box 111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360" y="2893"/>
                <a:ext cx="144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  <a:sym typeface="Symbol" panose="05050102010706020507" pitchFamily="18" charset="2"/>
                  </a:rPr>
                  <a:t>_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58" name="Text Box 112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76" y="2784"/>
                <a:ext cx="324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1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U</a:t>
                </a:r>
                <a:r>
                  <a:rPr kumimoji="0" lang="en-US" altLang="zh-CN" sz="2800" b="0" i="0" u="none" strike="noStrike" kern="1200" cap="none" spc="0" normalizeH="0" baseline="-2500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1</a:t>
                </a:r>
                <a:endPara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1548" name="Text Box 113"/>
            <p:cNvSpPr txBox="1"/>
            <p:nvPr>
              <p:custDataLst>
                <p:tags r:id="rId30"/>
              </p:custDataLst>
            </p:nvPr>
          </p:nvSpPr>
          <p:spPr>
            <a:xfrm>
              <a:off x="5352" y="662"/>
              <a:ext cx="40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9" name="Rectangle 114"/>
            <p:cNvSpPr/>
            <p:nvPr>
              <p:custDataLst>
                <p:tags r:id="rId31"/>
              </p:custDataLst>
            </p:nvPr>
          </p:nvSpPr>
          <p:spPr>
            <a:xfrm>
              <a:off x="2744" y="572"/>
              <a:ext cx="2721" cy="1044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7" name="Rectangle 115"/>
            <p:cNvSpPr/>
            <p:nvPr/>
          </p:nvSpPr>
          <p:spPr>
            <a:xfrm>
              <a:off x="5384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8" name="Rectangle 116"/>
            <p:cNvSpPr/>
            <p:nvPr/>
          </p:nvSpPr>
          <p:spPr>
            <a:xfrm>
              <a:off x="4749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9" name="Rectangle 117"/>
            <p:cNvSpPr/>
            <p:nvPr/>
          </p:nvSpPr>
          <p:spPr>
            <a:xfrm>
              <a:off x="4068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0" name="Rectangle 118"/>
            <p:cNvSpPr/>
            <p:nvPr/>
          </p:nvSpPr>
          <p:spPr>
            <a:xfrm>
              <a:off x="3343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1" name="Rectangle 119"/>
            <p:cNvSpPr/>
            <p:nvPr/>
          </p:nvSpPr>
          <p:spPr>
            <a:xfrm>
              <a:off x="4377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2" name="Rectangle 120"/>
            <p:cNvSpPr/>
            <p:nvPr/>
          </p:nvSpPr>
          <p:spPr>
            <a:xfrm>
              <a:off x="3651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4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Text Box 2"/>
          <p:cNvSpPr txBox="1"/>
          <p:nvPr/>
        </p:nvSpPr>
        <p:spPr>
          <a:xfrm>
            <a:off x="388938" y="746760"/>
            <a:ext cx="5491162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利用电源转换简化电路计算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334" name="Group 230"/>
          <p:cNvGrpSpPr/>
          <p:nvPr/>
        </p:nvGrpSpPr>
        <p:grpSpPr>
          <a:xfrm>
            <a:off x="1162685" y="2709863"/>
            <a:ext cx="3817938" cy="2320925"/>
            <a:chOff x="204" y="709"/>
            <a:chExt cx="2405" cy="1462"/>
          </a:xfrm>
        </p:grpSpPr>
        <p:sp>
          <p:nvSpPr>
            <p:cNvPr id="48184" name="Line 123"/>
            <p:cNvSpPr/>
            <p:nvPr>
              <p:custDataLst>
                <p:tags r:id="rId1"/>
              </p:custDataLst>
            </p:nvPr>
          </p:nvSpPr>
          <p:spPr>
            <a:xfrm>
              <a:off x="1792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85" name="Line 124"/>
            <p:cNvSpPr/>
            <p:nvPr>
              <p:custDataLst>
                <p:tags r:id="rId2"/>
              </p:custDataLst>
            </p:nvPr>
          </p:nvSpPr>
          <p:spPr>
            <a:xfrm>
              <a:off x="2518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6" name="Line 125"/>
            <p:cNvSpPr/>
            <p:nvPr>
              <p:custDataLst>
                <p:tags r:id="rId3"/>
              </p:custDataLst>
            </p:nvPr>
          </p:nvSpPr>
          <p:spPr>
            <a:xfrm>
              <a:off x="976" y="799"/>
              <a:ext cx="154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7" name="Line 126"/>
            <p:cNvSpPr/>
            <p:nvPr>
              <p:custDataLst>
                <p:tags r:id="rId4"/>
              </p:custDataLst>
            </p:nvPr>
          </p:nvSpPr>
          <p:spPr>
            <a:xfrm>
              <a:off x="976" y="1480"/>
              <a:ext cx="816" cy="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3284" name="Line 127"/>
            <p:cNvSpPr/>
            <p:nvPr/>
          </p:nvSpPr>
          <p:spPr>
            <a:xfrm>
              <a:off x="2427" y="845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89" name="Text Box 128"/>
            <p:cNvSpPr txBox="1"/>
            <p:nvPr>
              <p:custDataLst>
                <p:tags r:id="rId5"/>
              </p:custDataLst>
            </p:nvPr>
          </p:nvSpPr>
          <p:spPr>
            <a:xfrm>
              <a:off x="567" y="754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0" name="Line 129"/>
            <p:cNvSpPr/>
            <p:nvPr>
              <p:custDataLst>
                <p:tags r:id="rId6"/>
              </p:custDataLst>
            </p:nvPr>
          </p:nvSpPr>
          <p:spPr>
            <a:xfrm>
              <a:off x="976" y="2160"/>
              <a:ext cx="154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1" name="Text Box 130"/>
            <p:cNvSpPr txBox="1"/>
            <p:nvPr>
              <p:custDataLst>
                <p:tags r:id="rId7"/>
              </p:custDataLst>
            </p:nvPr>
          </p:nvSpPr>
          <p:spPr>
            <a:xfrm>
              <a:off x="1338" y="981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2" name="Text Box 131"/>
            <p:cNvSpPr txBox="1"/>
            <p:nvPr>
              <p:custDataLst>
                <p:tags r:id="rId8"/>
              </p:custDataLst>
            </p:nvPr>
          </p:nvSpPr>
          <p:spPr>
            <a:xfrm>
              <a:off x="1339" y="1616"/>
              <a:ext cx="57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3" name="Text Box 132"/>
            <p:cNvSpPr txBox="1"/>
            <p:nvPr>
              <p:custDataLst>
                <p:tags r:id="rId9"/>
              </p:custDataLst>
            </p:nvPr>
          </p:nvSpPr>
          <p:spPr>
            <a:xfrm>
              <a:off x="2064" y="1343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4" name="Text Box 133"/>
            <p:cNvSpPr txBox="1"/>
            <p:nvPr>
              <p:custDataLst>
                <p:tags r:id="rId10"/>
              </p:custDataLst>
            </p:nvPr>
          </p:nvSpPr>
          <p:spPr>
            <a:xfrm>
              <a:off x="567" y="1842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5" name="Text Box 134"/>
            <p:cNvSpPr txBox="1"/>
            <p:nvPr>
              <p:custDataLst>
                <p:tags r:id="rId11"/>
              </p:custDataLst>
            </p:nvPr>
          </p:nvSpPr>
          <p:spPr>
            <a:xfrm>
              <a:off x="1928" y="845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zh-CN" altLang="en-US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＝？</a:t>
              </a:r>
              <a:endParaRPr kumimoji="0" lang="zh-CN" altLang="en-US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6" name="Line 135"/>
            <p:cNvSpPr/>
            <p:nvPr>
              <p:custDataLst>
                <p:tags r:id="rId12"/>
              </p:custDataLst>
            </p:nvPr>
          </p:nvSpPr>
          <p:spPr>
            <a:xfrm flipH="1" flipV="1">
              <a:off x="976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3" name="Rectangle 142"/>
            <p:cNvSpPr/>
            <p:nvPr/>
          </p:nvSpPr>
          <p:spPr>
            <a:xfrm>
              <a:off x="1710" y="161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4" name="Rectangle 143"/>
            <p:cNvSpPr/>
            <p:nvPr/>
          </p:nvSpPr>
          <p:spPr>
            <a:xfrm>
              <a:off x="1710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5" name="Rectangle 144"/>
            <p:cNvSpPr/>
            <p:nvPr/>
          </p:nvSpPr>
          <p:spPr>
            <a:xfrm>
              <a:off x="2436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6" name="Line 145"/>
            <p:cNvSpPr/>
            <p:nvPr/>
          </p:nvSpPr>
          <p:spPr>
            <a:xfrm flipV="1">
              <a:off x="975" y="1933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3297" name="Line 146"/>
            <p:cNvSpPr/>
            <p:nvPr/>
          </p:nvSpPr>
          <p:spPr>
            <a:xfrm flipV="1">
              <a:off x="975" y="844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98" name="Text Box 161"/>
            <p:cNvSpPr txBox="1"/>
            <p:nvPr/>
          </p:nvSpPr>
          <p:spPr>
            <a:xfrm>
              <a:off x="204" y="709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defTabSz="914400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53299" name="Group 136"/>
            <p:cNvGrpSpPr/>
            <p:nvPr/>
          </p:nvGrpSpPr>
          <p:grpSpPr>
            <a:xfrm>
              <a:off x="794" y="1570"/>
              <a:ext cx="363" cy="363"/>
              <a:chOff x="4785" y="709"/>
              <a:chExt cx="363" cy="363"/>
            </a:xfrm>
          </p:grpSpPr>
          <p:sp>
            <p:nvSpPr>
              <p:cNvPr id="53300" name="Oval 13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01" name="Line 13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3302" name="Group 139"/>
            <p:cNvGrpSpPr/>
            <p:nvPr/>
          </p:nvGrpSpPr>
          <p:grpSpPr>
            <a:xfrm>
              <a:off x="794" y="1026"/>
              <a:ext cx="363" cy="363"/>
              <a:chOff x="4785" y="709"/>
              <a:chExt cx="363" cy="363"/>
            </a:xfrm>
          </p:grpSpPr>
          <p:sp>
            <p:nvSpPr>
              <p:cNvPr id="53303" name="Oval 14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04" name="Line 14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7335" name="Group 231"/>
          <p:cNvGrpSpPr/>
          <p:nvPr/>
        </p:nvGrpSpPr>
        <p:grpSpPr>
          <a:xfrm>
            <a:off x="6455728" y="2781300"/>
            <a:ext cx="4752975" cy="2305050"/>
            <a:chOff x="249" y="2296"/>
            <a:chExt cx="2994" cy="1452"/>
          </a:xfrm>
        </p:grpSpPr>
        <p:sp>
          <p:nvSpPr>
            <p:cNvPr id="53306" name="Oval 164"/>
            <p:cNvSpPr/>
            <p:nvPr/>
          </p:nvSpPr>
          <p:spPr>
            <a:xfrm>
              <a:off x="1700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3307" name="Oval 165"/>
            <p:cNvSpPr/>
            <p:nvPr/>
          </p:nvSpPr>
          <p:spPr>
            <a:xfrm>
              <a:off x="748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8163" name="Line 166"/>
            <p:cNvSpPr/>
            <p:nvPr>
              <p:custDataLst>
                <p:tags r:id="rId13"/>
              </p:custDataLst>
            </p:nvPr>
          </p:nvSpPr>
          <p:spPr>
            <a:xfrm>
              <a:off x="1882" y="2478"/>
              <a:ext cx="0" cy="127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64" name="Text Box 167"/>
            <p:cNvSpPr txBox="1"/>
            <p:nvPr>
              <p:custDataLst>
                <p:tags r:id="rId14"/>
              </p:custDataLst>
            </p:nvPr>
          </p:nvSpPr>
          <p:spPr>
            <a:xfrm>
              <a:off x="1884" y="3022"/>
              <a:ext cx="4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3310" name="Line 168"/>
            <p:cNvSpPr/>
            <p:nvPr/>
          </p:nvSpPr>
          <p:spPr>
            <a:xfrm flipV="1">
              <a:off x="1882" y="3067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66" name="Text Box 169"/>
            <p:cNvSpPr txBox="1"/>
            <p:nvPr>
              <p:custDataLst>
                <p:tags r:id="rId15"/>
              </p:custDataLst>
            </p:nvPr>
          </p:nvSpPr>
          <p:spPr>
            <a:xfrm>
              <a:off x="2608" y="2613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7" name="Text Box 170"/>
            <p:cNvSpPr txBox="1"/>
            <p:nvPr>
              <p:custDataLst>
                <p:tags r:id="rId16"/>
              </p:custDataLst>
            </p:nvPr>
          </p:nvSpPr>
          <p:spPr>
            <a:xfrm>
              <a:off x="652" y="3384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8" name="Text Box 171"/>
            <p:cNvSpPr txBox="1"/>
            <p:nvPr>
              <p:custDataLst>
                <p:tags r:id="rId17"/>
              </p:custDataLst>
            </p:nvPr>
          </p:nvSpPr>
          <p:spPr>
            <a:xfrm>
              <a:off x="2562" y="2930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U=</a:t>
              </a:r>
              <a:r>
                <a:rPr kumimoji="0" lang="zh-CN" altLang="en-US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？</a:t>
              </a:r>
              <a:endParaRPr kumimoji="0" lang="zh-CN" altLang="en-US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9" name="Text Box 172"/>
            <p:cNvSpPr txBox="1"/>
            <p:nvPr>
              <p:custDataLst>
                <p:tags r:id="rId18"/>
              </p:custDataLst>
            </p:nvPr>
          </p:nvSpPr>
          <p:spPr>
            <a:xfrm>
              <a:off x="435" y="2659"/>
              <a:ext cx="5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0" name="Text Box 173"/>
            <p:cNvSpPr txBox="1"/>
            <p:nvPr>
              <p:custDataLst>
                <p:tags r:id="rId19"/>
              </p:custDataLst>
            </p:nvPr>
          </p:nvSpPr>
          <p:spPr>
            <a:xfrm>
              <a:off x="2109" y="2704"/>
              <a:ext cx="55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1" name="Text Box 174"/>
            <p:cNvSpPr txBox="1"/>
            <p:nvPr>
              <p:custDataLst>
                <p:tags r:id="rId20"/>
              </p:custDataLst>
            </p:nvPr>
          </p:nvSpPr>
          <p:spPr>
            <a:xfrm>
              <a:off x="294" y="3204"/>
              <a:ext cx="6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72" name="Text Box 175"/>
            <p:cNvSpPr txBox="1"/>
            <p:nvPr>
              <p:custDataLst>
                <p:tags r:id="rId21"/>
              </p:custDataLst>
            </p:nvPr>
          </p:nvSpPr>
          <p:spPr>
            <a:xfrm>
              <a:off x="1201" y="2659"/>
              <a:ext cx="70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73" name="Rectangle 176"/>
            <p:cNvSpPr/>
            <p:nvPr>
              <p:custDataLst>
                <p:tags r:id="rId22"/>
              </p:custDataLst>
            </p:nvPr>
          </p:nvSpPr>
          <p:spPr>
            <a:xfrm>
              <a:off x="929" y="2478"/>
              <a:ext cx="1633" cy="1270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19" name="Rectangle 177"/>
            <p:cNvSpPr/>
            <p:nvPr/>
          </p:nvSpPr>
          <p:spPr>
            <a:xfrm>
              <a:off x="2481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20" name="Rectangle 178"/>
            <p:cNvSpPr/>
            <p:nvPr/>
          </p:nvSpPr>
          <p:spPr>
            <a:xfrm>
              <a:off x="848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76" name="Text Box 182"/>
            <p:cNvSpPr txBox="1"/>
            <p:nvPr>
              <p:custDataLst>
                <p:tags r:id="rId23"/>
              </p:custDataLst>
            </p:nvPr>
          </p:nvSpPr>
          <p:spPr>
            <a:xfrm>
              <a:off x="657" y="2930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7" name="Text Box 183"/>
            <p:cNvSpPr txBox="1"/>
            <p:nvPr>
              <p:custDataLst>
                <p:tags r:id="rId24"/>
              </p:custDataLst>
            </p:nvPr>
          </p:nvSpPr>
          <p:spPr>
            <a:xfrm>
              <a:off x="1519" y="2431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8" name="Text Box 184"/>
            <p:cNvSpPr txBox="1"/>
            <p:nvPr>
              <p:custDataLst>
                <p:tags r:id="rId25"/>
              </p:custDataLst>
            </p:nvPr>
          </p:nvSpPr>
          <p:spPr>
            <a:xfrm>
              <a:off x="1474" y="2794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9" name="Text Box 185"/>
            <p:cNvSpPr txBox="1"/>
            <p:nvPr>
              <p:custDataLst>
                <p:tags r:id="rId26"/>
              </p:custDataLst>
            </p:nvPr>
          </p:nvSpPr>
          <p:spPr>
            <a:xfrm>
              <a:off x="2562" y="3157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3325" name="Text Box 186"/>
            <p:cNvSpPr txBox="1"/>
            <p:nvPr/>
          </p:nvSpPr>
          <p:spPr>
            <a:xfrm>
              <a:off x="249" y="2296"/>
              <a:ext cx="5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defTabSz="914400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2.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3326" name="Group 179"/>
            <p:cNvGrpSpPr/>
            <p:nvPr/>
          </p:nvGrpSpPr>
          <p:grpSpPr>
            <a:xfrm>
              <a:off x="1700" y="3294"/>
              <a:ext cx="363" cy="363"/>
              <a:chOff x="4785" y="709"/>
              <a:chExt cx="363" cy="363"/>
            </a:xfrm>
          </p:grpSpPr>
          <p:sp>
            <p:nvSpPr>
              <p:cNvPr id="53327" name="Oval 18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28" name="Line 18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矩形 2"/>
          <p:cNvSpPr/>
          <p:nvPr/>
        </p:nvSpPr>
        <p:spPr>
          <a:xfrm>
            <a:off x="0" y="4508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5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0828" name="Object 108"/>
          <p:cNvGraphicFramePr>
            <a:graphicFrameLocks noChangeAspect="1"/>
          </p:cNvGraphicFramePr>
          <p:nvPr/>
        </p:nvGraphicFramePr>
        <p:xfrm>
          <a:off x="2351088" y="4221163"/>
          <a:ext cx="28606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1122045" imgH="313690" progId="Equation.3">
                  <p:embed/>
                </p:oleObj>
              </mc:Choice>
              <mc:Fallback>
                <p:oleObj name="" r:id="rId1" imgW="1122045" imgH="31369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51088" y="4221163"/>
                        <a:ext cx="2860675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5" name="Text Box 155"/>
          <p:cNvSpPr txBox="1"/>
          <p:nvPr/>
        </p:nvSpPr>
        <p:spPr>
          <a:xfrm>
            <a:off x="1559243" y="1180465"/>
            <a:ext cx="6553200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/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求电路中的电流</a:t>
            </a:r>
            <a:r>
              <a:rPr lang="en-US" altLang="zh-CN" b="0" i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lang="en-US" altLang="zh-CN" b="0" i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0927" name="Group 207"/>
          <p:cNvGrpSpPr/>
          <p:nvPr/>
        </p:nvGrpSpPr>
        <p:grpSpPr>
          <a:xfrm>
            <a:off x="3399473" y="2565718"/>
            <a:ext cx="4608512" cy="2303462"/>
            <a:chOff x="113" y="799"/>
            <a:chExt cx="2903" cy="1451"/>
          </a:xfrm>
        </p:grpSpPr>
        <p:sp>
          <p:nvSpPr>
            <p:cNvPr id="57403" name="Oval 123"/>
            <p:cNvSpPr/>
            <p:nvPr/>
          </p:nvSpPr>
          <p:spPr>
            <a:xfrm>
              <a:off x="2653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404" name="Oval 124"/>
            <p:cNvSpPr/>
            <p:nvPr/>
          </p:nvSpPr>
          <p:spPr>
            <a:xfrm>
              <a:off x="1337" y="16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39" name="Line 125"/>
            <p:cNvSpPr/>
            <p:nvPr>
              <p:custDataLst>
                <p:tags r:id="rId3"/>
              </p:custDataLst>
            </p:nvPr>
          </p:nvSpPr>
          <p:spPr>
            <a:xfrm>
              <a:off x="1519" y="844"/>
              <a:ext cx="0" cy="140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0" name="Line 126"/>
            <p:cNvSpPr/>
            <p:nvPr>
              <p:custDataLst>
                <p:tags r:id="rId4"/>
              </p:custDataLst>
            </p:nvPr>
          </p:nvSpPr>
          <p:spPr>
            <a:xfrm>
              <a:off x="1519" y="1479"/>
              <a:ext cx="635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1" name="Line 127"/>
            <p:cNvSpPr/>
            <p:nvPr>
              <p:custDataLst>
                <p:tags r:id="rId5"/>
              </p:custDataLst>
            </p:nvPr>
          </p:nvSpPr>
          <p:spPr>
            <a:xfrm>
              <a:off x="2154" y="1479"/>
              <a:ext cx="0" cy="77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2" name="Text Box 128"/>
            <p:cNvSpPr txBox="1"/>
            <p:nvPr>
              <p:custDataLst>
                <p:tags r:id="rId6"/>
              </p:custDataLst>
            </p:nvPr>
          </p:nvSpPr>
          <p:spPr>
            <a:xfrm>
              <a:off x="817" y="1661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3" name="Text Box 129"/>
            <p:cNvSpPr txBox="1"/>
            <p:nvPr>
              <p:custDataLst>
                <p:tags r:id="rId7"/>
              </p:custDataLst>
            </p:nvPr>
          </p:nvSpPr>
          <p:spPr>
            <a:xfrm>
              <a:off x="113" y="1661"/>
              <a:ext cx="5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4" name="Text Box 130"/>
            <p:cNvSpPr txBox="1"/>
            <p:nvPr>
              <p:custDataLst>
                <p:tags r:id="rId8"/>
              </p:custDataLst>
            </p:nvPr>
          </p:nvSpPr>
          <p:spPr>
            <a:xfrm>
              <a:off x="2358" y="102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5" name="Text Box 131"/>
            <p:cNvSpPr txBox="1"/>
            <p:nvPr>
              <p:custDataLst>
                <p:tags r:id="rId9"/>
              </p:custDataLst>
            </p:nvPr>
          </p:nvSpPr>
          <p:spPr>
            <a:xfrm>
              <a:off x="953" y="1026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6" name="Text Box 132"/>
            <p:cNvSpPr txBox="1"/>
            <p:nvPr>
              <p:custDataLst>
                <p:tags r:id="rId10"/>
              </p:custDataLst>
            </p:nvPr>
          </p:nvSpPr>
          <p:spPr>
            <a:xfrm>
              <a:off x="203" y="845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7" name="Text Box 133"/>
            <p:cNvSpPr txBox="1"/>
            <p:nvPr>
              <p:custDataLst>
                <p:tags r:id="rId11"/>
              </p:custDataLst>
            </p:nvPr>
          </p:nvSpPr>
          <p:spPr>
            <a:xfrm>
              <a:off x="2132" y="799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8" name="Text Box 134"/>
            <p:cNvSpPr txBox="1"/>
            <p:nvPr>
              <p:custDataLst>
                <p:tags r:id="rId12"/>
              </p:custDataLst>
            </p:nvPr>
          </p:nvSpPr>
          <p:spPr>
            <a:xfrm>
              <a:off x="1791" y="1515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9" name="Text Box 135"/>
            <p:cNvSpPr txBox="1"/>
            <p:nvPr>
              <p:custDataLst>
                <p:tags r:id="rId13"/>
              </p:custDataLst>
            </p:nvPr>
          </p:nvSpPr>
          <p:spPr>
            <a:xfrm>
              <a:off x="1678" y="890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50" name="Text Box 136"/>
            <p:cNvSpPr txBox="1"/>
            <p:nvPr>
              <p:custDataLst>
                <p:tags r:id="rId14"/>
              </p:custDataLst>
            </p:nvPr>
          </p:nvSpPr>
          <p:spPr>
            <a:xfrm>
              <a:off x="2199" y="1515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1" name="Text Box 137"/>
            <p:cNvSpPr txBox="1"/>
            <p:nvPr>
              <p:custDataLst>
                <p:tags r:id="rId15"/>
              </p:custDataLst>
            </p:nvPr>
          </p:nvSpPr>
          <p:spPr>
            <a:xfrm>
              <a:off x="2471" y="175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52" name="Text Box 138"/>
            <p:cNvSpPr txBox="1"/>
            <p:nvPr>
              <p:custDataLst>
                <p:tags r:id="rId16"/>
              </p:custDataLst>
            </p:nvPr>
          </p:nvSpPr>
          <p:spPr>
            <a:xfrm>
              <a:off x="2471" y="1253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3" name="Text Box 139"/>
            <p:cNvSpPr txBox="1"/>
            <p:nvPr>
              <p:custDataLst>
                <p:tags r:id="rId17"/>
              </p:custDataLst>
            </p:nvPr>
          </p:nvSpPr>
          <p:spPr>
            <a:xfrm>
              <a:off x="1179" y="138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4" name="Text Box 140"/>
            <p:cNvSpPr txBox="1"/>
            <p:nvPr>
              <p:custDataLst>
                <p:tags r:id="rId18"/>
              </p:custDataLst>
            </p:nvPr>
          </p:nvSpPr>
          <p:spPr>
            <a:xfrm>
              <a:off x="1179" y="184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55" name="Rectangle 141"/>
            <p:cNvSpPr/>
            <p:nvPr>
              <p:custDataLst>
                <p:tags r:id="rId19"/>
              </p:custDataLst>
            </p:nvPr>
          </p:nvSpPr>
          <p:spPr>
            <a:xfrm>
              <a:off x="612" y="844"/>
              <a:ext cx="2223" cy="1406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2" name="Rectangle 148"/>
            <p:cNvSpPr/>
            <p:nvPr/>
          </p:nvSpPr>
          <p:spPr>
            <a:xfrm>
              <a:off x="2776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3" name="Rectangle 149"/>
            <p:cNvSpPr/>
            <p:nvPr/>
          </p:nvSpPr>
          <p:spPr>
            <a:xfrm>
              <a:off x="1474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4" name="Rectangle 150"/>
            <p:cNvSpPr/>
            <p:nvPr/>
          </p:nvSpPr>
          <p:spPr>
            <a:xfrm>
              <a:off x="553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5" name="Line 151"/>
            <p:cNvSpPr/>
            <p:nvPr/>
          </p:nvSpPr>
          <p:spPr>
            <a:xfrm flipV="1">
              <a:off x="612" y="89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26" name="Line 152"/>
            <p:cNvSpPr/>
            <p:nvPr/>
          </p:nvSpPr>
          <p:spPr>
            <a:xfrm flipV="1">
              <a:off x="2154" y="1525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27" name="Rectangle 153"/>
            <p:cNvSpPr/>
            <p:nvPr/>
          </p:nvSpPr>
          <p:spPr>
            <a:xfrm>
              <a:off x="1769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8" name="Line 154"/>
            <p:cNvSpPr/>
            <p:nvPr/>
          </p:nvSpPr>
          <p:spPr>
            <a:xfrm flipV="1">
              <a:off x="2223" y="799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pSp>
          <p:nvGrpSpPr>
            <p:cNvPr id="57429" name="Group 142"/>
            <p:cNvGrpSpPr/>
            <p:nvPr/>
          </p:nvGrpSpPr>
          <p:grpSpPr>
            <a:xfrm>
              <a:off x="1972" y="1797"/>
              <a:ext cx="363" cy="363"/>
              <a:chOff x="4785" y="709"/>
              <a:chExt cx="363" cy="363"/>
            </a:xfrm>
          </p:grpSpPr>
          <p:sp>
            <p:nvSpPr>
              <p:cNvPr id="57430" name="Oval 14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31" name="Line 14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7432" name="Group 145"/>
            <p:cNvGrpSpPr/>
            <p:nvPr/>
          </p:nvGrpSpPr>
          <p:grpSpPr>
            <a:xfrm>
              <a:off x="430" y="1162"/>
              <a:ext cx="363" cy="363"/>
              <a:chOff x="4785" y="709"/>
              <a:chExt cx="363" cy="363"/>
            </a:xfrm>
          </p:grpSpPr>
          <p:sp>
            <p:nvSpPr>
              <p:cNvPr id="57433" name="Oval 14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34" name="Line 14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6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输入电阻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93" name="Text Box 45"/>
          <p:cNvSpPr txBox="1"/>
          <p:nvPr/>
        </p:nvSpPr>
        <p:spPr>
          <a:xfrm>
            <a:off x="270510" y="765175"/>
            <a:ext cx="58324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计算下例一端口电路的输入电阻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724" name="Object 76"/>
          <p:cNvGraphicFramePr>
            <a:graphicFrameLocks noChangeAspect="1"/>
          </p:cNvGraphicFramePr>
          <p:nvPr/>
        </p:nvGraphicFramePr>
        <p:xfrm>
          <a:off x="3503613" y="5013325"/>
          <a:ext cx="35020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009015" imgH="139700" progId="Equation.3">
                  <p:embed/>
                </p:oleObj>
              </mc:Choice>
              <mc:Fallback>
                <p:oleObj name="" r:id="rId1" imgW="1009015" imgH="139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3613" y="5013325"/>
                        <a:ext cx="3502025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794" name="Group 146"/>
          <p:cNvGrpSpPr/>
          <p:nvPr/>
        </p:nvGrpSpPr>
        <p:grpSpPr>
          <a:xfrm>
            <a:off x="1271905" y="2058988"/>
            <a:ext cx="4462463" cy="2447925"/>
            <a:chOff x="204" y="709"/>
            <a:chExt cx="2811" cy="1542"/>
          </a:xfrm>
        </p:grpSpPr>
        <p:grpSp>
          <p:nvGrpSpPr>
            <p:cNvPr id="61469" name="Group 93"/>
            <p:cNvGrpSpPr/>
            <p:nvPr/>
          </p:nvGrpSpPr>
          <p:grpSpPr>
            <a:xfrm>
              <a:off x="657" y="891"/>
              <a:ext cx="2268" cy="1316"/>
              <a:chOff x="748" y="1207"/>
              <a:chExt cx="1769" cy="772"/>
            </a:xfrm>
          </p:grpSpPr>
          <p:sp>
            <p:nvSpPr>
              <p:cNvPr id="56362" name="Line 94"/>
              <p:cNvSpPr/>
              <p:nvPr>
                <p:custDataLst>
                  <p:tags r:id="rId3"/>
                </p:custDataLst>
              </p:nvPr>
            </p:nvSpPr>
            <p:spPr>
              <a:xfrm>
                <a:off x="748" y="1207"/>
                <a:ext cx="1769" cy="0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3" name="Line 95"/>
              <p:cNvSpPr/>
              <p:nvPr>
                <p:custDataLst>
                  <p:tags r:id="rId4"/>
                </p:custDataLst>
              </p:nvPr>
            </p:nvSpPr>
            <p:spPr>
              <a:xfrm>
                <a:off x="748" y="1979"/>
                <a:ext cx="1769" cy="0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4" name="Line 96"/>
              <p:cNvSpPr/>
              <p:nvPr>
                <p:custDataLst>
                  <p:tags r:id="rId5"/>
                </p:custDataLst>
              </p:nvPr>
            </p:nvSpPr>
            <p:spPr>
              <a:xfrm>
                <a:off x="748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5" name="Line 97"/>
              <p:cNvSpPr/>
              <p:nvPr>
                <p:custDataLst>
                  <p:tags r:id="rId6"/>
                </p:custDataLst>
              </p:nvPr>
            </p:nvSpPr>
            <p:spPr>
              <a:xfrm>
                <a:off x="2200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6" name="Line 98"/>
              <p:cNvSpPr/>
              <p:nvPr>
                <p:custDataLst>
                  <p:tags r:id="rId7"/>
                </p:custDataLst>
              </p:nvPr>
            </p:nvSpPr>
            <p:spPr>
              <a:xfrm>
                <a:off x="1202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7" name="Line 99"/>
              <p:cNvSpPr/>
              <p:nvPr>
                <p:custDataLst>
                  <p:tags r:id="rId8"/>
                </p:custDataLst>
              </p:nvPr>
            </p:nvSpPr>
            <p:spPr>
              <a:xfrm>
                <a:off x="1701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</p:grpSp>
        <p:sp>
          <p:nvSpPr>
            <p:cNvPr id="56337" name="Text Box 100"/>
            <p:cNvSpPr txBox="1"/>
            <p:nvPr>
              <p:custDataLst>
                <p:tags r:id="rId9"/>
              </p:custDataLst>
            </p:nvPr>
          </p:nvSpPr>
          <p:spPr>
            <a:xfrm>
              <a:off x="1292" y="1661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r>
                <a:rPr kumimoji="0" lang="en-US" altLang="zh-CN" sz="2800" b="0" i="1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S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338" name="Text Box 101"/>
            <p:cNvSpPr txBox="1"/>
            <p:nvPr>
              <p:custDataLst>
                <p:tags r:id="rId10"/>
              </p:custDataLst>
            </p:nvPr>
          </p:nvSpPr>
          <p:spPr>
            <a:xfrm>
              <a:off x="1519" y="1369"/>
              <a:ext cx="4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39" name="Text Box 102"/>
            <p:cNvSpPr txBox="1"/>
            <p:nvPr>
              <p:custDataLst>
                <p:tags r:id="rId11"/>
              </p:custDataLst>
            </p:nvPr>
          </p:nvSpPr>
          <p:spPr>
            <a:xfrm>
              <a:off x="1609" y="1823"/>
              <a:ext cx="22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6340" name="Text Box 103"/>
            <p:cNvSpPr txBox="1"/>
            <p:nvPr>
              <p:custDataLst>
                <p:tags r:id="rId12"/>
              </p:custDataLst>
            </p:nvPr>
          </p:nvSpPr>
          <p:spPr>
            <a:xfrm>
              <a:off x="1927" y="1142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1" name="Text Box 104"/>
            <p:cNvSpPr txBox="1"/>
            <p:nvPr>
              <p:custDataLst>
                <p:tags r:id="rId13"/>
              </p:custDataLst>
            </p:nvPr>
          </p:nvSpPr>
          <p:spPr>
            <a:xfrm>
              <a:off x="1428" y="935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2" name="Text Box 105"/>
            <p:cNvSpPr txBox="1"/>
            <p:nvPr>
              <p:custDataLst>
                <p:tags r:id="rId14"/>
              </p:custDataLst>
            </p:nvPr>
          </p:nvSpPr>
          <p:spPr>
            <a:xfrm>
              <a:off x="884" y="1323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3" name="Text Box 106"/>
            <p:cNvSpPr txBox="1"/>
            <p:nvPr>
              <p:custDataLst>
                <p:tags r:id="rId15"/>
              </p:custDataLst>
            </p:nvPr>
          </p:nvSpPr>
          <p:spPr>
            <a:xfrm>
              <a:off x="385" y="980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4" name="Text Box 107"/>
            <p:cNvSpPr txBox="1"/>
            <p:nvPr>
              <p:custDataLst>
                <p:tags r:id="rId16"/>
              </p:custDataLst>
            </p:nvPr>
          </p:nvSpPr>
          <p:spPr>
            <a:xfrm rot="10689007" flipV="1">
              <a:off x="2517" y="1026"/>
              <a:ext cx="36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484" name="Line 108"/>
            <p:cNvSpPr/>
            <p:nvPr/>
          </p:nvSpPr>
          <p:spPr>
            <a:xfrm>
              <a:off x="657" y="1026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1485" name="Line 109"/>
            <p:cNvSpPr/>
            <p:nvPr/>
          </p:nvSpPr>
          <p:spPr>
            <a:xfrm>
              <a:off x="2517" y="102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6347" name="Oval 110"/>
            <p:cNvSpPr/>
            <p:nvPr>
              <p:custDataLst>
                <p:tags r:id="rId17"/>
              </p:custDataLst>
            </p:nvPr>
          </p:nvSpPr>
          <p:spPr>
            <a:xfrm>
              <a:off x="2925" y="2161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48" name="Oval 111"/>
            <p:cNvSpPr/>
            <p:nvPr>
              <p:custDataLst>
                <p:tags r:id="rId18"/>
              </p:custDataLst>
            </p:nvPr>
          </p:nvSpPr>
          <p:spPr>
            <a:xfrm>
              <a:off x="2925" y="845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88" name="Rectangle 112"/>
            <p:cNvSpPr/>
            <p:nvPr/>
          </p:nvSpPr>
          <p:spPr>
            <a:xfrm>
              <a:off x="1836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89" name="Rectangle 113"/>
            <p:cNvSpPr/>
            <p:nvPr/>
          </p:nvSpPr>
          <p:spPr>
            <a:xfrm>
              <a:off x="1201" y="13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90" name="Rectangle 114"/>
            <p:cNvSpPr/>
            <p:nvPr/>
          </p:nvSpPr>
          <p:spPr>
            <a:xfrm>
              <a:off x="1428" y="8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61491" name="Group 115"/>
            <p:cNvGrpSpPr/>
            <p:nvPr/>
          </p:nvGrpSpPr>
          <p:grpSpPr>
            <a:xfrm>
              <a:off x="2335" y="1345"/>
              <a:ext cx="363" cy="363"/>
              <a:chOff x="4785" y="709"/>
              <a:chExt cx="363" cy="363"/>
            </a:xfrm>
          </p:grpSpPr>
          <p:sp>
            <p:nvSpPr>
              <p:cNvPr id="61492" name="Oval 11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3" name="Line 11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494" name="Group 118"/>
            <p:cNvGrpSpPr/>
            <p:nvPr/>
          </p:nvGrpSpPr>
          <p:grpSpPr>
            <a:xfrm rot="5400000">
              <a:off x="1699" y="1616"/>
              <a:ext cx="363" cy="363"/>
              <a:chOff x="4785" y="709"/>
              <a:chExt cx="363" cy="363"/>
            </a:xfrm>
          </p:grpSpPr>
          <p:sp>
            <p:nvSpPr>
              <p:cNvPr id="61495" name="Oval 11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6" name="Line 12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497" name="Group 121"/>
            <p:cNvGrpSpPr/>
            <p:nvPr/>
          </p:nvGrpSpPr>
          <p:grpSpPr>
            <a:xfrm>
              <a:off x="476" y="1344"/>
              <a:ext cx="363" cy="363"/>
              <a:chOff x="4785" y="709"/>
              <a:chExt cx="363" cy="363"/>
            </a:xfrm>
          </p:grpSpPr>
          <p:sp>
            <p:nvSpPr>
              <p:cNvPr id="61498" name="Oval 12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9" name="Line 12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500" name="Text Box 139"/>
            <p:cNvSpPr txBox="1"/>
            <p:nvPr/>
          </p:nvSpPr>
          <p:spPr>
            <a:xfrm>
              <a:off x="204" y="709"/>
              <a:ext cx="528" cy="36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defTabSz="914400"/>
              <a:endPara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7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一般</a:t>
            </a:r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电路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 bwMode="auto">
          <a:xfrm>
            <a:off x="4028440" y="1713230"/>
            <a:ext cx="3492500" cy="2463800"/>
            <a:chOff x="0" y="255"/>
            <a:chExt cx="2200" cy="1552"/>
          </a:xfrm>
        </p:grpSpPr>
        <p:sp>
          <p:nvSpPr>
            <p:cNvPr id="71721" name="Text Box 7" descr="斜纹布"/>
            <p:cNvSpPr txBox="1">
              <a:spLocks noChangeArrowheads="1"/>
            </p:cNvSpPr>
            <p:nvPr/>
          </p:nvSpPr>
          <p:spPr bwMode="auto">
            <a:xfrm>
              <a:off x="0" y="1207"/>
              <a:ext cx="544" cy="290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2700000">
                <a:srgbClr val="3D5C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10V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71722" name="Group 8"/>
            <p:cNvGrpSpPr/>
            <p:nvPr/>
          </p:nvGrpSpPr>
          <p:grpSpPr bwMode="auto">
            <a:xfrm>
              <a:off x="295" y="255"/>
              <a:ext cx="1905" cy="1552"/>
              <a:chOff x="249" y="164"/>
              <a:chExt cx="1905" cy="1552"/>
            </a:xfrm>
          </p:grpSpPr>
          <p:sp>
            <p:nvSpPr>
              <p:cNvPr id="71723" name="Oval 9"/>
              <p:cNvSpPr>
                <a:spLocks noChangeArrowheads="1"/>
              </p:cNvSpPr>
              <p:nvPr/>
            </p:nvSpPr>
            <p:spPr bwMode="auto">
              <a:xfrm rot="5400000">
                <a:off x="475" y="1118"/>
                <a:ext cx="363" cy="362"/>
              </a:xfrm>
              <a:prstGeom prst="ellipse">
                <a:avLst/>
              </a:prstGeom>
              <a:solidFill>
                <a:srgbClr val="00CCFF"/>
              </a:solidFill>
              <a:ln w="38100" cap="sq" algn="ctr">
                <a:solidFill>
                  <a:srgbClr val="FF9900"/>
                </a:solidFill>
                <a:round/>
              </a:ln>
              <a:effectLst>
                <a:prstShdw prst="shdw17" dist="17961" dir="2700000">
                  <a:srgbClr val="995C00"/>
                </a:prst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1724" name="Rectangle 10"/>
              <p:cNvSpPr>
                <a:spLocks noChangeArrowheads="1"/>
              </p:cNvSpPr>
              <p:nvPr/>
            </p:nvSpPr>
            <p:spPr bwMode="auto">
              <a:xfrm>
                <a:off x="657" y="527"/>
                <a:ext cx="635" cy="1179"/>
              </a:xfrm>
              <a:prstGeom prst="rect">
                <a:avLst/>
              </a:prstGeom>
              <a:noFill/>
              <a:ln w="28575" cap="sq" algn="ctr">
                <a:solidFill>
                  <a:srgbClr val="CC0000"/>
                </a:solidFill>
                <a:miter lim="800000"/>
              </a:ln>
              <a:effectLst>
                <a:prstShdw prst="shdw17" dist="17961" dir="2700000">
                  <a:srgbClr val="7A00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71725" name="Group 11"/>
              <p:cNvGrpSpPr/>
              <p:nvPr/>
            </p:nvGrpSpPr>
            <p:grpSpPr bwMode="auto">
              <a:xfrm>
                <a:off x="1111" y="980"/>
                <a:ext cx="363" cy="318"/>
                <a:chOff x="1156" y="2614"/>
                <a:chExt cx="409" cy="408"/>
              </a:xfrm>
            </p:grpSpPr>
            <p:sp>
              <p:nvSpPr>
                <p:cNvPr id="71741" name="Oval 12"/>
                <p:cNvSpPr>
                  <a:spLocks noChangeArrowheads="1"/>
                </p:cNvSpPr>
                <p:nvPr/>
              </p:nvSpPr>
              <p:spPr bwMode="auto">
                <a:xfrm>
                  <a:off x="1156" y="2614"/>
                  <a:ext cx="409" cy="408"/>
                </a:xfrm>
                <a:prstGeom prst="ellipse">
                  <a:avLst/>
                </a:prstGeom>
                <a:solidFill>
                  <a:srgbClr val="00CCFF"/>
                </a:solidFill>
                <a:ln w="38100" cap="sq" algn="ctr">
                  <a:solidFill>
                    <a:srgbClr val="FF9900"/>
                  </a:solidFill>
                  <a:round/>
                </a:ln>
                <a:effectLst>
                  <a:prstShdw prst="shdw17" dist="17961" dir="2700000">
                    <a:srgbClr val="995C00"/>
                  </a:prstShdw>
                </a:effec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742" name="Line 13"/>
                <p:cNvSpPr>
                  <a:spLocks noChangeShapeType="1"/>
                </p:cNvSpPr>
                <p:nvPr/>
              </p:nvSpPr>
              <p:spPr bwMode="auto">
                <a:xfrm>
                  <a:off x="1156" y="2840"/>
                  <a:ext cx="409" cy="0"/>
                </a:xfrm>
                <a:prstGeom prst="line">
                  <a:avLst/>
                </a:prstGeom>
                <a:noFill/>
                <a:ln w="38100" cap="sq">
                  <a:solidFill>
                    <a:srgbClr val="FF9900"/>
                  </a:solidFill>
                  <a:round/>
                </a:ln>
                <a:effectLst>
                  <a:prstShdw prst="shdw17" dist="17961" dir="2700000">
                    <a:srgbClr val="995C00"/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726" name="Line 14"/>
              <p:cNvSpPr>
                <a:spLocks noChangeShapeType="1"/>
              </p:cNvSpPr>
              <p:nvPr/>
            </p:nvSpPr>
            <p:spPr bwMode="auto">
              <a:xfrm>
                <a:off x="657" y="1117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</a:ln>
              <a:effectLst>
                <a:prstShdw prst="shdw17" dist="17961" dir="2700000">
                  <a:srgbClr val="995C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7" name="Rectangle 15"/>
              <p:cNvSpPr>
                <a:spLocks noChangeArrowheads="1"/>
              </p:cNvSpPr>
              <p:nvPr/>
            </p:nvSpPr>
            <p:spPr bwMode="auto">
              <a:xfrm>
                <a:off x="567" y="709"/>
                <a:ext cx="181" cy="272"/>
              </a:xfrm>
              <a:prstGeom prst="rect">
                <a:avLst/>
              </a:prstGeom>
              <a:solidFill>
                <a:srgbClr val="46ACAE"/>
              </a:solidFill>
              <a:ln>
                <a:noFill/>
              </a:ln>
              <a:effectLst>
                <a:prstShdw prst="shdw17" dist="17961" dir="2700000">
                  <a:srgbClr val="2A6768"/>
                </a:prstShdw>
              </a:effectLst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1728" name="Line 16"/>
              <p:cNvSpPr>
                <a:spLocks noChangeShapeType="1"/>
              </p:cNvSpPr>
              <p:nvPr/>
            </p:nvSpPr>
            <p:spPr bwMode="auto">
              <a:xfrm>
                <a:off x="1292" y="527"/>
                <a:ext cx="499" cy="0"/>
              </a:xfrm>
              <a:prstGeom prst="line">
                <a:avLst/>
              </a:prstGeom>
              <a:noFill/>
              <a:ln w="28575" cap="sq">
                <a:solidFill>
                  <a:srgbClr val="CC0000"/>
                </a:solidFill>
                <a:round/>
                <a:headEnd type="oval" w="med" len="med"/>
                <a:tailEnd type="oval" w="med" len="med"/>
              </a:ln>
              <a:effectLst>
                <a:prstShdw prst="shdw17" dist="17961" dir="2700000">
                  <a:srgbClr val="7A00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9" name="Line 17"/>
              <p:cNvSpPr>
                <a:spLocks noChangeShapeType="1"/>
              </p:cNvSpPr>
              <p:nvPr/>
            </p:nvSpPr>
            <p:spPr bwMode="auto">
              <a:xfrm>
                <a:off x="1292" y="1706"/>
                <a:ext cx="499" cy="0"/>
              </a:xfrm>
              <a:prstGeom prst="line">
                <a:avLst/>
              </a:prstGeom>
              <a:noFill/>
              <a:ln w="28575" cap="sq">
                <a:solidFill>
                  <a:srgbClr val="CC0000"/>
                </a:solidFill>
                <a:round/>
                <a:headEnd type="oval" w="med" len="med"/>
                <a:tailEnd type="oval" w="med" len="med"/>
              </a:ln>
              <a:effectLst>
                <a:prstShdw prst="shdw17" dist="17961" dir="2700000">
                  <a:srgbClr val="7A00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0" name="Text Box 18" descr="斜纹布"/>
              <p:cNvSpPr txBox="1">
                <a:spLocks noChangeArrowheads="1"/>
              </p:cNvSpPr>
              <p:nvPr/>
            </p:nvSpPr>
            <p:spPr bwMode="auto">
              <a:xfrm>
                <a:off x="1655" y="482"/>
                <a:ext cx="317" cy="32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1" name="Text Box 19" descr="斜纹布"/>
              <p:cNvSpPr txBox="1">
                <a:spLocks noChangeArrowheads="1"/>
              </p:cNvSpPr>
              <p:nvPr/>
            </p:nvSpPr>
            <p:spPr bwMode="auto">
              <a:xfrm flipV="1">
                <a:off x="249" y="935"/>
                <a:ext cx="317" cy="32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2" name="Text Box 20" descr="斜纹布"/>
              <p:cNvSpPr txBox="1">
                <a:spLocks noChangeArrowheads="1"/>
              </p:cNvSpPr>
              <p:nvPr/>
            </p:nvSpPr>
            <p:spPr bwMode="auto">
              <a:xfrm>
                <a:off x="295" y="1253"/>
                <a:ext cx="227" cy="327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-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3" name="Text Box 21" descr="斜纹布"/>
              <p:cNvSpPr txBox="1">
                <a:spLocks noChangeArrowheads="1"/>
              </p:cNvSpPr>
              <p:nvPr/>
            </p:nvSpPr>
            <p:spPr bwMode="auto">
              <a:xfrm>
                <a:off x="1701" y="1389"/>
                <a:ext cx="227" cy="327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-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2726" name="Line 22"/>
              <p:cNvSpPr>
                <a:spLocks noChangeShapeType="1"/>
              </p:cNvSpPr>
              <p:nvPr/>
            </p:nvSpPr>
            <p:spPr bwMode="auto">
              <a:xfrm flipV="1">
                <a:off x="1383" y="572"/>
                <a:ext cx="0" cy="31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tailEnd type="triangle" w="med" len="med"/>
              </a:ln>
              <a:effectLst>
                <a:prstShdw prst="shdw17" dist="17961" dir="2700000">
                  <a:schemeClr val="tx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735" name="Text Box 23" descr="斜纹布"/>
              <p:cNvSpPr txBox="1">
                <a:spLocks noChangeArrowheads="1"/>
              </p:cNvSpPr>
              <p:nvPr/>
            </p:nvSpPr>
            <p:spPr bwMode="auto">
              <a:xfrm>
                <a:off x="1383" y="663"/>
                <a:ext cx="408" cy="290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1A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6" name="Text Box 24" descr="斜纹布"/>
              <p:cNvSpPr txBox="1">
                <a:spLocks noChangeArrowheads="1"/>
              </p:cNvSpPr>
              <p:nvPr/>
            </p:nvSpPr>
            <p:spPr bwMode="auto">
              <a:xfrm>
                <a:off x="1610" y="1071"/>
                <a:ext cx="544" cy="32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-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10V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2729" name="Line 25"/>
              <p:cNvSpPr>
                <a:spLocks noChangeShapeType="1"/>
              </p:cNvSpPr>
              <p:nvPr/>
            </p:nvSpPr>
            <p:spPr bwMode="auto">
              <a:xfrm>
                <a:off x="1429" y="436"/>
                <a:ext cx="31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triangle" w="med" len="med"/>
              </a:ln>
              <a:effectLst>
                <a:prstShdw prst="shdw17" dist="17961" dir="2700000">
                  <a:schemeClr val="tx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738" name="Text Box 26" descr="斜纹布"/>
              <p:cNvSpPr txBox="1">
                <a:spLocks noChangeArrowheads="1"/>
              </p:cNvSpPr>
              <p:nvPr/>
            </p:nvSpPr>
            <p:spPr bwMode="auto">
              <a:xfrm>
                <a:off x="1338" y="164"/>
                <a:ext cx="544" cy="290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I =?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9" name="Text Box 27" descr="斜纹布"/>
              <p:cNvSpPr txBox="1">
                <a:spLocks noChangeArrowheads="1"/>
              </p:cNvSpPr>
              <p:nvPr/>
            </p:nvSpPr>
            <p:spPr bwMode="auto">
              <a:xfrm>
                <a:off x="657" y="709"/>
                <a:ext cx="589" cy="290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10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9" name="Group 60"/>
          <p:cNvGrpSpPr/>
          <p:nvPr/>
        </p:nvGrpSpPr>
        <p:grpSpPr bwMode="auto">
          <a:xfrm>
            <a:off x="5325429" y="1640205"/>
            <a:ext cx="503237" cy="503238"/>
            <a:chOff x="884" y="210"/>
            <a:chExt cx="317" cy="317"/>
          </a:xfrm>
        </p:grpSpPr>
        <p:sp>
          <p:nvSpPr>
            <p:cNvPr id="72765" name="Line 61"/>
            <p:cNvSpPr>
              <a:spLocks noChangeShapeType="1"/>
            </p:cNvSpPr>
            <p:nvPr/>
          </p:nvSpPr>
          <p:spPr bwMode="auto">
            <a:xfrm>
              <a:off x="884" y="527"/>
              <a:ext cx="31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71695" name="Text Box 62" descr="斜纹布"/>
            <p:cNvSpPr txBox="1">
              <a:spLocks noChangeArrowheads="1"/>
            </p:cNvSpPr>
            <p:nvPr/>
          </p:nvSpPr>
          <p:spPr bwMode="auto">
            <a:xfrm>
              <a:off x="884" y="210"/>
              <a:ext cx="273" cy="290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2700000">
                <a:srgbClr val="3D5C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8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Text Box 26" descr="斜纹布"/>
          <p:cNvSpPr txBox="1">
            <a:spLocks noChangeArrowheads="1"/>
          </p:cNvSpPr>
          <p:nvPr/>
        </p:nvSpPr>
        <p:spPr bwMode="auto">
          <a:xfrm>
            <a:off x="9119870" y="3141345"/>
            <a:ext cx="863600" cy="4603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 =?</a:t>
            </a: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31220" y="2204462"/>
            <a:ext cx="5404715" cy="266429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75" name="矩形 1"/>
          <p:cNvSpPr/>
          <p:nvPr/>
        </p:nvSpPr>
        <p:spPr>
          <a:xfrm>
            <a:off x="911553" y="1124972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dirty="0"/>
              <a:t>2</a:t>
            </a:r>
            <a:r>
              <a:rPr lang="zh-CN" altLang="en-US" dirty="0" smtClean="0"/>
              <a:t>、下图电路中，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 </a:t>
            </a:r>
            <a:r>
              <a:rPr lang="zh-CN" altLang="en-US" dirty="0"/>
              <a:t>两点的</a:t>
            </a:r>
            <a:r>
              <a:rPr lang="zh-CN" altLang="en-US" dirty="0" smtClean="0"/>
              <a:t>电位</a:t>
            </a:r>
            <a:r>
              <a:rPr lang="en-US" altLang="zh-CN" sz="3600" dirty="0" err="1"/>
              <a:t>u</a:t>
            </a:r>
            <a:r>
              <a:rPr lang="en-US" altLang="zh-CN" baseline="-25000" dirty="0" err="1" smtClean="0"/>
              <a:t>A</a:t>
            </a:r>
            <a:r>
              <a:rPr lang="en-US" altLang="zh-CN" dirty="0" smtClean="0"/>
              <a:t> </a:t>
            </a:r>
            <a:r>
              <a:rPr lang="zh-CN" altLang="en-US" dirty="0" smtClean="0"/>
              <a:t>、</a:t>
            </a:r>
            <a:r>
              <a:rPr lang="en-US" altLang="zh-CN" sz="3600" dirty="0" err="1" smtClean="0"/>
              <a:t>u</a:t>
            </a:r>
            <a:r>
              <a:rPr lang="en-US" altLang="zh-CN" baseline="-25000" dirty="0" err="1" smtClean="0"/>
              <a:t>B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1048676" name="文本框 25"/>
          <p:cNvSpPr txBox="1"/>
          <p:nvPr>
            <p:custDataLst>
              <p:tags r:id="rId2"/>
            </p:custDataLst>
          </p:nvPr>
        </p:nvSpPr>
        <p:spPr>
          <a:xfrm>
            <a:off x="1487805" y="3501390"/>
            <a:ext cx="60198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I</a:t>
            </a:r>
            <a:r>
              <a:rPr lang="en-US" altLang="zh-CN" sz="10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B</a:t>
            </a:r>
            <a:endParaRPr lang="en-US" altLang="zh-CN" sz="1000">
              <a:solidFill>
                <a:srgbClr val="FF0000"/>
              </a:solidFill>
              <a:latin typeface="PMingLiU-ExtB" panose="02020500000000000000" charset="-120"/>
              <a:ea typeface="PMingLiU-ExtB" panose="02020500000000000000" charset="-120"/>
            </a:endParaRPr>
          </a:p>
        </p:txBody>
      </p:sp>
      <p:sp>
        <p:nvSpPr>
          <p:cNvPr id="1048677" name="文本框 17"/>
          <p:cNvSpPr txBox="1"/>
          <p:nvPr>
            <p:custDataLst>
              <p:tags r:id="rId3"/>
            </p:custDataLst>
          </p:nvPr>
        </p:nvSpPr>
        <p:spPr>
          <a:xfrm>
            <a:off x="4944110" y="3785235"/>
            <a:ext cx="407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I</a:t>
            </a:r>
            <a:r>
              <a:rPr lang="en-US" altLang="zh-CN" sz="10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A</a:t>
            </a:r>
            <a:endParaRPr lang="en-US" altLang="zh-CN" sz="1000">
              <a:solidFill>
                <a:srgbClr val="FF0000"/>
              </a:solidFill>
              <a:latin typeface="PMingLiU-ExtB" panose="02020500000000000000" charset="-120"/>
              <a:ea typeface="PMingLiU-ExtB" panose="02020500000000000000" charset="-12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097173" name="墨迹 22"/>
              <p14:cNvContentPartPr/>
              <p14:nvPr/>
            </p14:nvContentPartPr>
            <p14:xfrm>
              <a:off x="1835785" y="3124200"/>
              <a:ext cx="524510" cy="505460"/>
            </p14:xfrm>
          </p:contentPart>
        </mc:Choice>
        <mc:Fallback xmlns="">
          <p:pic>
            <p:nvPicPr>
              <p:cNvPr id="2097173" name="墨迹 22"/>
            </p:nvPicPr>
            <p:blipFill>
              <a:blip r:embed="rId5"/>
            </p:blipFill>
            <p:spPr>
              <a:xfrm>
                <a:off x="1835785" y="3124200"/>
                <a:ext cx="524510" cy="505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97174" name="墨迹 23"/>
              <p14:cNvContentPartPr/>
              <p14:nvPr/>
            </p14:nvContentPartPr>
            <p14:xfrm>
              <a:off x="1786890" y="3204210"/>
              <a:ext cx="142240" cy="197485"/>
            </p14:xfrm>
          </p:contentPart>
        </mc:Choice>
        <mc:Fallback xmlns="">
          <p:pic>
            <p:nvPicPr>
              <p:cNvPr id="2097174" name="墨迹 23"/>
            </p:nvPicPr>
            <p:blipFill>
              <a:blip r:embed="rId7"/>
            </p:blipFill>
            <p:spPr>
              <a:xfrm>
                <a:off x="1786890" y="3204210"/>
                <a:ext cx="142240" cy="1974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097175" name="墨迹 28"/>
              <p14:cNvContentPartPr/>
              <p14:nvPr/>
            </p14:nvContentPartPr>
            <p14:xfrm>
              <a:off x="4873625" y="3290570"/>
              <a:ext cx="296545" cy="425450"/>
            </p14:xfrm>
          </p:contentPart>
        </mc:Choice>
        <mc:Fallback xmlns="">
          <p:pic>
            <p:nvPicPr>
              <p:cNvPr id="2097175" name="墨迹 28"/>
            </p:nvPicPr>
            <p:blipFill>
              <a:blip r:embed="rId9"/>
            </p:blipFill>
            <p:spPr>
              <a:xfrm>
                <a:off x="4873625" y="3290570"/>
                <a:ext cx="296545" cy="425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097176" name="墨迹 29"/>
              <p14:cNvContentPartPr/>
              <p14:nvPr/>
            </p14:nvContentPartPr>
            <p14:xfrm>
              <a:off x="4855210" y="3333750"/>
              <a:ext cx="105410" cy="203835"/>
            </p14:xfrm>
          </p:contentPart>
        </mc:Choice>
        <mc:Fallback xmlns="">
          <p:pic>
            <p:nvPicPr>
              <p:cNvPr id="2097176" name="墨迹 29"/>
            </p:nvPicPr>
            <p:blipFill>
              <a:blip r:embed="rId11"/>
            </p:blipFill>
            <p:spPr>
              <a:xfrm>
                <a:off x="4855210" y="3333750"/>
                <a:ext cx="105410" cy="2038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2097177" name="墨迹 30"/>
              <p14:cNvContentPartPr/>
              <p14:nvPr/>
            </p14:nvContentPartPr>
            <p14:xfrm>
              <a:off x="2310765" y="2612390"/>
              <a:ext cx="147955" cy="6985"/>
            </p14:xfrm>
          </p:contentPart>
        </mc:Choice>
        <mc:Fallback xmlns="">
          <p:pic>
            <p:nvPicPr>
              <p:cNvPr id="2097177" name="墨迹 30"/>
            </p:nvPicPr>
            <p:blipFill>
              <a:blip r:embed="rId13"/>
            </p:blipFill>
            <p:spPr>
              <a:xfrm>
                <a:off x="2310765" y="2612390"/>
                <a:ext cx="147955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2097178" name="墨迹 32"/>
              <p14:cNvContentPartPr/>
              <p14:nvPr/>
            </p14:nvContentPartPr>
            <p14:xfrm>
              <a:off x="2384425" y="2569210"/>
              <a:ext cx="12700" cy="148590"/>
            </p14:xfrm>
          </p:contentPart>
        </mc:Choice>
        <mc:Fallback xmlns="">
          <p:pic>
            <p:nvPicPr>
              <p:cNvPr id="2097178" name="墨迹 32"/>
            </p:nvPicPr>
            <p:blipFill>
              <a:blip r:embed="rId15"/>
            </p:blipFill>
            <p:spPr>
              <a:xfrm>
                <a:off x="2384425" y="2569210"/>
                <a:ext cx="12700" cy="148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2097179" name="墨迹 33"/>
              <p14:cNvContentPartPr/>
              <p14:nvPr/>
            </p14:nvContentPartPr>
            <p14:xfrm>
              <a:off x="1404620" y="2649220"/>
              <a:ext cx="130175" cy="13335"/>
            </p14:xfrm>
          </p:contentPart>
        </mc:Choice>
        <mc:Fallback xmlns="">
          <p:pic>
            <p:nvPicPr>
              <p:cNvPr id="2097179" name="墨迹 33"/>
            </p:nvPicPr>
            <p:blipFill>
              <a:blip r:embed="rId17"/>
            </p:blipFill>
            <p:spPr>
              <a:xfrm>
                <a:off x="1404620" y="2649220"/>
                <a:ext cx="130175" cy="133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2097180" name="墨迹 34"/>
              <p14:cNvContentPartPr/>
              <p14:nvPr/>
            </p14:nvContentPartPr>
            <p14:xfrm>
              <a:off x="1564640" y="4719955"/>
              <a:ext cx="179705" cy="635"/>
            </p14:xfrm>
          </p:contentPart>
        </mc:Choice>
        <mc:Fallback xmlns="">
          <p:pic>
            <p:nvPicPr>
              <p:cNvPr id="2097180" name="墨迹 34"/>
            </p:nvPicPr>
            <p:blipFill>
              <a:blip r:embed="rId19"/>
            </p:blipFill>
            <p:spPr>
              <a:xfrm>
                <a:off x="1564640" y="4719955"/>
                <a:ext cx="17970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097181" name="墨迹 35"/>
              <p14:cNvContentPartPr/>
              <p14:nvPr/>
            </p14:nvContentPartPr>
            <p14:xfrm>
              <a:off x="1657350" y="4645660"/>
              <a:ext cx="635" cy="123825"/>
            </p14:xfrm>
          </p:contentPart>
        </mc:Choice>
        <mc:Fallback xmlns="">
          <p:pic>
            <p:nvPicPr>
              <p:cNvPr id="2097181" name="墨迹 35"/>
            </p:nvPicPr>
            <p:blipFill>
              <a:blip r:embed="rId21"/>
            </p:blipFill>
            <p:spPr>
              <a:xfrm>
                <a:off x="1657350" y="4645660"/>
                <a:ext cx="635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097182" name="墨迹 36"/>
              <p14:cNvContentPartPr/>
              <p14:nvPr/>
            </p14:nvContentPartPr>
            <p14:xfrm>
              <a:off x="2415540" y="4738370"/>
              <a:ext cx="179070" cy="635"/>
            </p14:xfrm>
          </p:contentPart>
        </mc:Choice>
        <mc:Fallback xmlns="">
          <p:pic>
            <p:nvPicPr>
              <p:cNvPr id="2097182" name="墨迹 36"/>
            </p:nvPicPr>
            <p:blipFill>
              <a:blip r:embed="rId23"/>
            </p:blipFill>
            <p:spPr>
              <a:xfrm>
                <a:off x="2415540" y="4738370"/>
                <a:ext cx="17907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097183" name="墨迹 37"/>
              <p14:cNvContentPartPr/>
              <p14:nvPr/>
            </p14:nvContentPartPr>
            <p14:xfrm>
              <a:off x="5693410" y="4159250"/>
              <a:ext cx="117475" cy="635"/>
            </p14:xfrm>
          </p:contentPart>
        </mc:Choice>
        <mc:Fallback xmlns="">
          <p:pic>
            <p:nvPicPr>
              <p:cNvPr id="2097183" name="墨迹 37"/>
            </p:nvPicPr>
            <p:blipFill>
              <a:blip r:embed="rId25"/>
            </p:blipFill>
            <p:spPr>
              <a:xfrm>
                <a:off x="5693410" y="4159250"/>
                <a:ext cx="11747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097184" name="墨迹 38"/>
              <p14:cNvContentPartPr/>
              <p14:nvPr/>
            </p14:nvContentPartPr>
            <p14:xfrm>
              <a:off x="5755005" y="4122420"/>
              <a:ext cx="635" cy="117475"/>
            </p14:xfrm>
          </p:contentPart>
        </mc:Choice>
        <mc:Fallback xmlns="">
          <p:pic>
            <p:nvPicPr>
              <p:cNvPr id="2097184" name="墨迹 38"/>
            </p:nvPicPr>
            <p:blipFill>
              <a:blip r:embed="rId27"/>
            </p:blipFill>
            <p:spPr>
              <a:xfrm>
                <a:off x="5755005" y="4122420"/>
                <a:ext cx="635" cy="117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097185" name="墨迹 40"/>
              <p14:cNvContentPartPr/>
              <p14:nvPr/>
            </p14:nvContentPartPr>
            <p14:xfrm>
              <a:off x="5730240" y="3197860"/>
              <a:ext cx="105410" cy="13335"/>
            </p14:xfrm>
          </p:contentPart>
        </mc:Choice>
        <mc:Fallback xmlns="">
          <p:pic>
            <p:nvPicPr>
              <p:cNvPr id="2097185" name="墨迹 40"/>
            </p:nvPicPr>
            <p:blipFill>
              <a:blip r:embed="rId29"/>
            </p:blipFill>
            <p:spPr>
              <a:xfrm>
                <a:off x="5730240" y="3197860"/>
                <a:ext cx="105410" cy="13335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9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9392" t="41333" r="12333" b="31600"/>
          <a:stretch>
            <a:fillRect/>
          </a:stretch>
        </p:blipFill>
        <p:spPr>
          <a:xfrm>
            <a:off x="1055369" y="2061029"/>
            <a:ext cx="5058158" cy="3577720"/>
          </a:xfrm>
          <a:prstGeom prst="rect">
            <a:avLst/>
          </a:prstGeom>
        </p:spPr>
      </p:pic>
      <p:sp>
        <p:nvSpPr>
          <p:cNvPr id="1048584" name="文本框 2"/>
          <p:cNvSpPr txBox="1"/>
          <p:nvPr>
            <p:custDataLst>
              <p:tags r:id="rId3"/>
            </p:custDataLst>
          </p:nvPr>
        </p:nvSpPr>
        <p:spPr>
          <a:xfrm>
            <a:off x="911479" y="975487"/>
            <a:ext cx="5439156" cy="802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/>
              <a:t>1</a:t>
            </a:r>
            <a:r>
              <a:rPr lang="zh-CN" altLang="en-US" sz="2400" dirty="0"/>
              <a:t>、写出该电路图的回路电流方程，回路的选择及回路电流的方向与编号如图。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10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3940" t="46667" r="11403" b="25866"/>
          <a:stretch>
            <a:fillRect/>
          </a:stretch>
        </p:blipFill>
        <p:spPr>
          <a:xfrm>
            <a:off x="1991359" y="2204514"/>
            <a:ext cx="5254603" cy="3447288"/>
          </a:xfrm>
          <a:prstGeom prst="rect">
            <a:avLst/>
          </a:prstGeom>
        </p:spPr>
      </p:pic>
      <p:sp>
        <p:nvSpPr>
          <p:cNvPr id="1048585" name="文本框 3"/>
          <p:cNvSpPr txBox="1"/>
          <p:nvPr>
            <p:custDataLst>
              <p:tags r:id="rId3"/>
            </p:custDataLst>
          </p:nvPr>
        </p:nvSpPr>
        <p:spPr>
          <a:xfrm>
            <a:off x="1372743" y="981239"/>
            <a:ext cx="5439156" cy="802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/>
              <a:t>2</a:t>
            </a:r>
            <a:r>
              <a:rPr lang="zh-CN" altLang="en-US" sz="2400" dirty="0"/>
              <a:t>、写出该电路图的节点电压方程，节点编号如图所示，以节点</a:t>
            </a:r>
            <a:r>
              <a:rPr lang="en-US" altLang="zh-CN" sz="2400" dirty="0"/>
              <a:t>3</a:t>
            </a:r>
            <a:r>
              <a:rPr lang="zh-CN" altLang="en-US" sz="2400" dirty="0"/>
              <a:t>为参考节点。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11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8985,&quot;width&quot;:9990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6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18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19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20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4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4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5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6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7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98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99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100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101.xml><?xml version="1.0" encoding="utf-8"?>
<p:tagLst xmlns:p="http://schemas.openxmlformats.org/presentationml/2006/main">
  <p:tag name="KSO_WPP_MARK_KEY" val="262464ef-a37a-4fe6-b54d-0b8752e49583"/>
  <p:tag name="COMMONDATA" val="eyJoZGlkIjoiM2E5MjQxOTg1YTQxNWEzMDIwNDA5MzdiNjRkODFjYmEifQ=="/>
</p:tagLst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9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0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WPS 演示</Application>
  <PresentationFormat/>
  <Paragraphs>212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8" baseType="lpstr">
      <vt:lpstr>Arial</vt:lpstr>
      <vt:lpstr>宋体</vt:lpstr>
      <vt:lpstr>Wingdings</vt:lpstr>
      <vt:lpstr>楷体_GB2312</vt:lpstr>
      <vt:lpstr>新宋体</vt:lpstr>
      <vt:lpstr>华文行楷</vt:lpstr>
      <vt:lpstr>微软雅黑</vt:lpstr>
      <vt:lpstr>PMingLiU-ExtB</vt:lpstr>
      <vt:lpstr>Arial Unicode MS</vt:lpstr>
      <vt:lpstr>Times New Roman</vt:lpstr>
      <vt:lpstr>黑体</vt:lpstr>
      <vt:lpstr>Symbol</vt:lpstr>
      <vt:lpstr>仿宋_GB2312</vt:lpstr>
      <vt:lpstr>仿宋</vt:lpstr>
      <vt:lpstr>Symbol</vt:lpstr>
      <vt:lpstr>仿宋_GB2312</vt:lpstr>
      <vt:lpstr>楷体_GB2312</vt:lpstr>
      <vt:lpstr>Wingdings 3</vt:lpstr>
      <vt:lpstr>隶书</vt:lpstr>
      <vt:lpstr>Beam</vt:lpstr>
      <vt:lpstr>2_Beam</vt:lpstr>
      <vt:lpstr>4_Beam</vt:lpstr>
      <vt:lpstr>5_Beam</vt:lpstr>
      <vt:lpstr>8_Beam</vt:lpstr>
      <vt:lpstr>9_Beam</vt:lpstr>
      <vt:lpstr>10_Beam</vt:lpstr>
      <vt:lpstr>4_默认设计模板</vt:lpstr>
      <vt:lpstr>6_默认设计模板</vt:lpstr>
      <vt:lpstr>7_默认设计模板</vt:lpstr>
      <vt:lpstr>11_Beam</vt:lpstr>
      <vt:lpstr>7_Beam</vt:lpstr>
      <vt:lpstr>Equation.3</vt:lpstr>
      <vt:lpstr>Equation.3</vt:lpstr>
      <vt:lpstr>PowerPoint 演示文稿</vt:lpstr>
      <vt:lpstr>PowerPoint 演示文稿</vt:lpstr>
      <vt:lpstr>PowerPoint 演示文稿</vt:lpstr>
      <vt:lpstr>第1章小测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第1章小测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第1章小测</dc:title>
  <dc:creator>zyz</dc:creator>
  <cp:lastModifiedBy>苏为</cp:lastModifiedBy>
  <cp:revision>20</cp:revision>
  <dcterms:created xsi:type="dcterms:W3CDTF">2023-03-14T00:54:00Z</dcterms:created>
  <dcterms:modified xsi:type="dcterms:W3CDTF">2026-03-25T11:11:49Z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E8C32B90824245029EB2524F5DA00194_13</vt:lpwstr>
  </property>
  <property fmtid="{D5CDD505-2E9C-101B-9397-08002B2CF9AE}" pid="3" name="KSOProductBuildVer">
    <vt:lpwstr>2052-12.1.0.25225</vt:lpwstr>
  </property>
</Properties>
</file>