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7.xml" ContentType="application/vnd.openxmlformats-officedocument.theme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8.xml" ContentType="application/vnd.openxmlformats-officedocument.theme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4" r:id="rId2"/>
    <p:sldMasterId id="2147483687" r:id="rId3"/>
    <p:sldMasterId id="2147483699" r:id="rId4"/>
    <p:sldMasterId id="2147483724" r:id="rId5"/>
    <p:sldMasterId id="2147483737" r:id="rId6"/>
    <p:sldMasterId id="2147483750" r:id="rId7"/>
    <p:sldMasterId id="2147483763" r:id="rId8"/>
    <p:sldMasterId id="2147483777" r:id="rId9"/>
  </p:sldMasterIdLst>
  <p:notesMasterIdLst>
    <p:notesMasterId r:id="rId34"/>
  </p:notesMasterIdLst>
  <p:sldIdLst>
    <p:sldId id="271" r:id="rId10"/>
    <p:sldId id="378" r:id="rId11"/>
    <p:sldId id="267" r:id="rId12"/>
    <p:sldId id="379" r:id="rId13"/>
    <p:sldId id="261" r:id="rId14"/>
    <p:sldId id="380" r:id="rId15"/>
    <p:sldId id="359" r:id="rId16"/>
    <p:sldId id="381" r:id="rId17"/>
    <p:sldId id="360" r:id="rId18"/>
    <p:sldId id="382" r:id="rId19"/>
    <p:sldId id="369" r:id="rId20"/>
    <p:sldId id="383" r:id="rId21"/>
    <p:sldId id="375" r:id="rId22"/>
    <p:sldId id="384" r:id="rId23"/>
    <p:sldId id="362" r:id="rId24"/>
    <p:sldId id="385" r:id="rId25"/>
    <p:sldId id="365" r:id="rId26"/>
    <p:sldId id="386" r:id="rId27"/>
    <p:sldId id="377" r:id="rId28"/>
    <p:sldId id="387" r:id="rId29"/>
    <p:sldId id="329" r:id="rId30"/>
    <p:sldId id="388" r:id="rId31"/>
    <p:sldId id="353" r:id="rId32"/>
    <p:sldId id="389" r:id="rId33"/>
  </p:sldIdLst>
  <p:sldSz cx="12192000" cy="6858000"/>
  <p:notesSz cx="6858000" cy="9144000"/>
  <p:custDataLst>
    <p:tags r:id="rId3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0" userDrawn="1">
          <p15:clr>
            <a:srgbClr val="A4A3A4"/>
          </p15:clr>
        </p15:guide>
        <p15:guide id="2" pos="380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00">
          <p15:clr>
            <a:srgbClr val="A4A3A4"/>
          </p15:clr>
        </p15:guide>
        <p15:guide id="2" pos="213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00"/>
    <a:srgbClr val="FF3399"/>
    <a:srgbClr val="E6833F"/>
    <a:srgbClr val="FF99FF"/>
    <a:srgbClr val="FFCC00"/>
    <a:srgbClr val="663300"/>
    <a:srgbClr val="66FFFF"/>
    <a:srgbClr val="00FF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50" autoAdjust="0"/>
    <p:restoredTop sz="94475" autoAdjust="0"/>
  </p:normalViewPr>
  <p:slideViewPr>
    <p:cSldViewPr showGuides="1">
      <p:cViewPr varScale="1">
        <p:scale>
          <a:sx n="110" d="100"/>
          <a:sy n="110" d="100"/>
        </p:scale>
        <p:origin x="114" y="192"/>
      </p:cViewPr>
      <p:guideLst>
        <p:guide orient="horz" pos="2100"/>
        <p:guide pos="380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938"/>
    </p:cViewPr>
  </p:sorterViewPr>
  <p:notesViewPr>
    <p:cSldViewPr>
      <p:cViewPr varScale="1">
        <p:scale>
          <a:sx n="57" d="100"/>
          <a:sy n="57" d="100"/>
        </p:scale>
        <p:origin x="-1782" y="-84"/>
      </p:cViewPr>
      <p:guideLst>
        <p:guide orient="horz" pos="2800"/>
        <p:guide pos="21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theme" Target="theme/theme1.xml"/><Relationship Id="rId21" Type="http://schemas.openxmlformats.org/officeDocument/2006/relationships/slide" Target="slides/slide12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commentAuthors" Target="commentAuthor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tags" Target="tags/tag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488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488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8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488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fld id="{A546FE18-C24B-4162-9F75-7813E3C28BFE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78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grpSp>
          <p:nvGrpSpPr>
            <p:cNvPr id="5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81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  <p:sp>
            <p:nvSpPr>
              <p:cNvPr id="104881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</p:grpSp>
      </p:grpSp>
      <p:sp>
        <p:nvSpPr>
          <p:cNvPr id="104881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04881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04882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2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2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496865B0-DBF8-4414-8878-187273397094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2097187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82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4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547B-133A-4DEB-89C5-A6EFAEE0542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58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33E0-9A20-4228-AF95-5AAD0529F18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63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64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AF26-9B95-40A4-B928-2632FE0E94F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69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7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72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7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7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7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73EAF-E9AF-4324-B46E-D2316DC8B36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34C1-80BD-493E-9D58-402AE6F40C5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6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792DC-59DF-4031-96F2-DBA43284DB4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77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F7D37-D33F-46CE-821E-8FFF9357CF2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13C42-D0F9-4914-8AED-AB759FA134C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5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8465A-786C-4747-BD5E-84815009261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27AA-6AC5-4E19-BA4E-A59EFEC01C8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29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30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31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lstStyle/>
          <a:p>
            <a:fld id="{22F0DFFC-0AAD-4F89-8553-4597954B179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78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grpSp>
          <p:nvGrpSpPr>
            <p:cNvPr id="5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81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  <p:sp>
            <p:nvSpPr>
              <p:cNvPr id="104881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</p:grpSp>
      </p:grpSp>
      <p:sp>
        <p:nvSpPr>
          <p:cNvPr id="104881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04881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04882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2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2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496865B0-DBF8-4414-8878-187273397094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2097187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82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9" grpId="0" build="allAtOnce"/>
    </p:bldLst>
  </p:timing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4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547B-133A-4DEB-89C5-A6EFAEE0542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58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33E0-9A20-4228-AF95-5AAD0529F18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63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64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AF26-9B95-40A4-B928-2632FE0E94F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69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7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72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7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7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7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73EAF-E9AF-4324-B46E-D2316DC8B36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34C1-80BD-493E-9D58-402AE6F40C5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6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792DC-59DF-4031-96F2-DBA43284DB4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77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F7D37-D33F-46CE-821E-8FFF9357CF2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13C42-D0F9-4914-8AED-AB759FA134C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5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8465A-786C-4747-BD5E-84815009261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27AA-6AC5-4E19-BA4E-A59EFEC01C8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29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30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31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lstStyle/>
          <a:p>
            <a:fld id="{22F0DFFC-0AAD-4F89-8553-4597954B179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/>
              <a:t>单击此处编辑母版标题样式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 fontAlgn="base"/>
            <a:r>
              <a:rPr lang="zh-CN" altLang="en-US" strike="noStrike" noProof="0"/>
              <a:t>单击此处编辑母版副标题样式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D95AA0-E49F-490D-98DA-0E27C4924B2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/>
              <a:t>单击此处编辑母版标题样式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 fontAlgn="base"/>
            <a:r>
              <a:rPr lang="zh-CN" altLang="en-US" strike="noStrike" noProof="0"/>
              <a:t>单击此处编辑母版副标题样式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D95AA0-E49F-490D-98DA-0E27C4924B2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9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9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9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9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9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9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9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9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9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9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0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0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0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0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0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0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0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0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0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0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1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1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1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1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1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1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1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1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1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1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2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2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2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2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2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2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grpSp>
          <p:nvGrpSpPr>
            <p:cNvPr id="43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72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  <p:sp>
            <p:nvSpPr>
              <p:cNvPr id="104872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</p:grpSp>
      </p:grpSp>
      <p:sp>
        <p:nvSpPr>
          <p:cNvPr id="104872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04872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04873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3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3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496865B0-DBF8-4414-8878-187273397094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2097186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73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9" grpId="0" build="allAtOnce"/>
    </p:bldLst>
  </p:timing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6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6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6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547B-133A-4DEB-89C5-A6EFAEE0542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57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5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5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6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33E0-9A20-4228-AF95-5AAD0529F18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75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76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7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7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7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AF26-9B95-40A4-B928-2632FE0E94F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67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68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6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70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71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72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73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73EAF-E9AF-4324-B46E-D2316DC8B36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7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68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68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34C1-80BD-493E-9D58-402AE6F40C5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67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6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792DC-59DF-4031-96F2-DBA43284DB4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40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41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4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4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4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F7D37-D33F-46CE-821E-8FFF9357CF2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46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747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4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4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5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13C42-D0F9-4914-8AED-AB759FA134C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52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5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5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5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8465A-786C-4747-BD5E-84815009261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3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3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3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27AA-6AC5-4E19-BA4E-A59EFEC01C8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83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84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85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86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87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04868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04868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lstStyle/>
          <a:p>
            <a:fld id="{22F0DFFC-0AAD-4F89-8553-4597954B179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78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grpSp>
          <p:nvGrpSpPr>
            <p:cNvPr id="5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81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  <p:sp>
            <p:nvSpPr>
              <p:cNvPr id="104881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</p:grpSp>
      </p:grpSp>
      <p:sp>
        <p:nvSpPr>
          <p:cNvPr id="104881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04881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04882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2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2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496865B0-DBF8-4414-8878-187273397094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2097187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82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9" grpId="0" build="allAtOnce"/>
    </p:bldLst>
  </p:timing>
  <p:hf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4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547B-133A-4DEB-89C5-A6EFAEE0542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58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33E0-9A20-4228-AF95-5AAD0529F18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63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64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AF26-9B95-40A4-B928-2632FE0E94F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69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7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72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7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7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7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73EAF-E9AF-4324-B46E-D2316DC8B36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34C1-80BD-493E-9D58-402AE6F40C5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6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792DC-59DF-4031-96F2-DBA43284DB4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77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F7D37-D33F-46CE-821E-8FFF9357CF2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13C42-D0F9-4914-8AED-AB759FA134C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5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8465A-786C-4747-BD5E-84815009261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27AA-6AC5-4E19-BA4E-A59EFEC01C8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29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30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31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lstStyle/>
          <a:p>
            <a:fld id="{22F0DFFC-0AAD-4F89-8553-4597954B179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78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8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9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0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81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grpSp>
          <p:nvGrpSpPr>
            <p:cNvPr id="5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81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  <p:sp>
            <p:nvSpPr>
              <p:cNvPr id="104881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</p:grpSp>
      </p:grpSp>
      <p:sp>
        <p:nvSpPr>
          <p:cNvPr id="104881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04881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04882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2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2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496865B0-DBF8-4414-8878-187273397094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2097187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82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9" grpId="0" build="allAtOnce"/>
    </p:bldLst>
  </p:timing>
  <p:hf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4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547B-133A-4DEB-89C5-A6EFAEE0542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58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33E0-9A20-4228-AF95-5AAD0529F18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63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64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AF26-9B95-40A4-B928-2632FE0E94F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69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7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72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7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7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7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73EAF-E9AF-4324-B46E-D2316DC8B36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34C1-80BD-493E-9D58-402AE6F40C5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6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792DC-59DF-4031-96F2-DBA43284DB4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77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F7D37-D33F-46CE-821E-8FFF9357CF2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13C42-D0F9-4914-8AED-AB759FA134C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5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8465A-786C-4747-BD5E-84815009261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27AA-6AC5-4E19-BA4E-A59EFEC01C8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29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30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31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lstStyle/>
          <a:p>
            <a:fld id="{22F0DFFC-0AAD-4F89-8553-4597954B179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754" name="Picture 2" descr="33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683" y="0"/>
            <a:ext cx="12240684" cy="6884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hf hdr="0" ftr="0" dt="0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hdr="0" ftr="0" dt="0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hdr="0" ftr="0" dt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hdr="0" ftr="0" dt="0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hf hdr="0" ftr="0" dt="0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84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hf hdr="0" ftr="0" dt="0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hf hdr="0" ftr="0" dt="0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hdr="0" ftr="0" dt="0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72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72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hdr="0" ftr="0" dt="0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622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hdr="0" ftr="0" dt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u="none" strike="noStrike" kern="1200" cap="none" spc="0" normalizeH="0">
                <a:solidFill>
                  <a:schemeClr val="bg1"/>
                </a:solidFill>
                <a:uFillTx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9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9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9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9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9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9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9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9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9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9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0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0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0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0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0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0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0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0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0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0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1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1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1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1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1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1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1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1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1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1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2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2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2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2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2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72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grpSp>
          <p:nvGrpSpPr>
            <p:cNvPr id="43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72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  <p:sp>
            <p:nvSpPr>
              <p:cNvPr id="104872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</p:grpSp>
      </p:grpSp>
      <p:sp>
        <p:nvSpPr>
          <p:cNvPr id="104872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04872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04873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3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3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496865B0-DBF8-4414-8878-187273397094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2097186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73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9" grpId="0" build="allAtOnce"/>
    </p:bldLst>
  </p:timing>
  <p:hf hdr="0" ftr="0" dt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6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6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6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547B-133A-4DEB-89C5-A6EFAEE0542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57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5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5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6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33E0-9A20-4228-AF95-5AAD0529F18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75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76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7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7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7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AF26-9B95-40A4-B928-2632FE0E94F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67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68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6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70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71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72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73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73EAF-E9AF-4324-B46E-D2316DC8B36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7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68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68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34C1-80BD-493E-9D58-402AE6F40C5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67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6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792DC-59DF-4031-96F2-DBA43284DB4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40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41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4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4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4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F7D37-D33F-46CE-821E-8FFF9357CF2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46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747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4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4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5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13C42-D0F9-4914-8AED-AB759FA134C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52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5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5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5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8465A-786C-4747-BD5E-84815009261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3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3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3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487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27AA-6AC5-4E19-BA4E-A59EFEC01C8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83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84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85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86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87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04868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04868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lstStyle/>
          <a:p>
            <a:fld id="{22F0DFFC-0AAD-4F89-8553-4597954B179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8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48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0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60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7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0.xml"/><Relationship Id="rId13" Type="http://schemas.openxmlformats.org/officeDocument/2006/relationships/slideLayout" Target="../slideLayouts/slideLayout95.xml"/><Relationship Id="rId3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9.xml"/><Relationship Id="rId12" Type="http://schemas.openxmlformats.org/officeDocument/2006/relationships/slideLayout" Target="../slideLayouts/slideLayout94.xml"/><Relationship Id="rId2" Type="http://schemas.openxmlformats.org/officeDocument/2006/relationships/slideLayout" Target="../slideLayouts/slideLayout84.xml"/><Relationship Id="rId1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93.xml"/><Relationship Id="rId5" Type="http://schemas.openxmlformats.org/officeDocument/2006/relationships/slideLayout" Target="../slideLayouts/slideLayout87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92.xml"/><Relationship Id="rId4" Type="http://schemas.openxmlformats.org/officeDocument/2006/relationships/slideLayout" Target="../slideLayouts/slideLayout86.xml"/><Relationship Id="rId9" Type="http://schemas.openxmlformats.org/officeDocument/2006/relationships/slideLayout" Target="../slideLayouts/slideLayout91.xml"/><Relationship Id="rId1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3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8.xml"/><Relationship Id="rId7" Type="http://schemas.openxmlformats.org/officeDocument/2006/relationships/slideLayout" Target="../slideLayouts/slideLayout102.xml"/><Relationship Id="rId12" Type="http://schemas.openxmlformats.org/officeDocument/2006/relationships/slideLayout" Target="../slideLayouts/slideLayout107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97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96.xml"/><Relationship Id="rId6" Type="http://schemas.openxmlformats.org/officeDocument/2006/relationships/slideLayout" Target="../slideLayouts/slideLayout101.xml"/><Relationship Id="rId11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0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99.xml"/><Relationship Id="rId9" Type="http://schemas.openxmlformats.org/officeDocument/2006/relationships/slideLayout" Target="../slideLayouts/slideLayout104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57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7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7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7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1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1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grpSp>
          <p:nvGrpSpPr>
            <p:cNvPr id="7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1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  <p:sp>
            <p:nvSpPr>
              <p:cNvPr id="104861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</p:grpSp>
      </p:grpSp>
      <p:sp>
        <p:nvSpPr>
          <p:cNvPr id="104861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4861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1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2097152" name="Picture 47" descr="图片5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1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</a:p>
        </p:txBody>
      </p:sp>
      <p:sp>
        <p:nvSpPr>
          <p:cNvPr id="104862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5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6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57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7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7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7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1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1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grpSp>
          <p:nvGrpSpPr>
            <p:cNvPr id="7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1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  <p:sp>
            <p:nvSpPr>
              <p:cNvPr id="104861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</p:grpSp>
      </p:grpSp>
      <p:sp>
        <p:nvSpPr>
          <p:cNvPr id="104861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4861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1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2097152" name="Picture 47" descr="图片5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1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</a:p>
        </p:txBody>
      </p:sp>
      <p:sp>
        <p:nvSpPr>
          <p:cNvPr id="104862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5" grpId="0" build="allAtOnce"/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5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6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WordArt 8"/>
          <p:cNvSpPr>
            <a:spLocks noTextEdit="1"/>
          </p:cNvSpPr>
          <p:nvPr userDrawn="1"/>
        </p:nvSpPr>
        <p:spPr>
          <a:xfrm>
            <a:off x="6669617" y="115888"/>
            <a:ext cx="3746500" cy="2889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37"/>
              </a:avLst>
            </a:prstTxWarp>
            <a:normAutofit fontScale="57500" lnSpcReduction="10000"/>
          </a:bodyPr>
          <a:lstStyle/>
          <a:p>
            <a:pPr algn="ctr" defTabSz="914400"/>
            <a:r>
              <a:rPr lang="zh-CN" altLang="en-US" sz="2400" b="1" spc="480" normalizeH="1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电阻电路的等效变换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9219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3" name="WordArt 8"/>
          <p:cNvSpPr>
            <a:spLocks noTextEdit="1"/>
          </p:cNvSpPr>
          <p:nvPr userDrawn="1"/>
        </p:nvSpPr>
        <p:spPr>
          <a:xfrm>
            <a:off x="6669617" y="115888"/>
            <a:ext cx="3746500" cy="2889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37"/>
              </a:avLst>
            </a:prstTxWarp>
            <a:normAutofit fontScale="57500" lnSpcReduction="10000"/>
          </a:bodyPr>
          <a:lstStyle/>
          <a:p>
            <a:pPr algn="ctr" defTabSz="914400"/>
            <a:r>
              <a:rPr lang="zh-CN" altLang="en-US" sz="2400" b="1" spc="480" normalizeH="1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电阻电路的等效变换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2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2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2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2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3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3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3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3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3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3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3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3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3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3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4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4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4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4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4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4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4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4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4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4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5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5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5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5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5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5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5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5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5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5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6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6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grpSp>
          <p:nvGrpSpPr>
            <p:cNvPr id="2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6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  <p:sp>
            <p:nvSpPr>
              <p:cNvPr id="104866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</p:grpSp>
      </p:grpSp>
      <p:sp>
        <p:nvSpPr>
          <p:cNvPr id="104866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4866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6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2097170" name="Picture 47" descr="图片5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6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</a:p>
        </p:txBody>
      </p:sp>
      <p:sp>
        <p:nvSpPr>
          <p:cNvPr id="104867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5" grpId="0" build="allAtOnce"/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5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6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57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7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7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7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1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1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grpSp>
          <p:nvGrpSpPr>
            <p:cNvPr id="7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1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  <p:sp>
            <p:nvSpPr>
              <p:cNvPr id="104861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</p:grpSp>
      </p:grpSp>
      <p:sp>
        <p:nvSpPr>
          <p:cNvPr id="104861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4861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1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2097152" name="Picture 47" descr="图片5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1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</a:p>
        </p:txBody>
      </p:sp>
      <p:sp>
        <p:nvSpPr>
          <p:cNvPr id="104862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5" grpId="0" build="allAtOnce"/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5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6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57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7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7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7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8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59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0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1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1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grpSp>
          <p:nvGrpSpPr>
            <p:cNvPr id="7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1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  <p:sp>
            <p:nvSpPr>
              <p:cNvPr id="104861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</p:grpSp>
      </p:grpSp>
      <p:sp>
        <p:nvSpPr>
          <p:cNvPr id="104861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4861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1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2097152" name="Picture 47" descr="图片5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1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</a:p>
        </p:txBody>
      </p:sp>
      <p:sp>
        <p:nvSpPr>
          <p:cNvPr id="104862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5" grpId="0" build="allAtOnce"/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5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6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 descr="333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683" y="45085"/>
            <a:ext cx="12240684" cy="6884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2" name="WordArt 8"/>
          <p:cNvSpPr>
            <a:spLocks noChangeArrowheads="1" noChangeShapeType="1" noTextEdit="1"/>
          </p:cNvSpPr>
          <p:nvPr userDrawn="1"/>
        </p:nvSpPr>
        <p:spPr bwMode="auto">
          <a:xfrm>
            <a:off x="5232400" y="90490"/>
            <a:ext cx="5183717" cy="31432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defTabSz="914400" fontAlgn="auto"/>
            <a:r>
              <a:rPr lang="zh-CN" altLang="en-US" sz="2400" b="0" kern="1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一阶电路和二阶电路的时域分析</a:t>
            </a: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2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2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2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2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3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3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3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3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3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3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3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3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3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3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4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4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4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4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4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4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4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4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4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4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5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5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5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5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5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5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5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5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5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5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6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sp>
          <p:nvSpPr>
            <p:cNvPr id="104866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endParaRPr lang="zh-CN" altLang="en-US" sz="1965"/>
            </a:p>
          </p:txBody>
        </p:sp>
        <p:grpSp>
          <p:nvGrpSpPr>
            <p:cNvPr id="2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6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  <p:sp>
            <p:nvSpPr>
              <p:cNvPr id="104866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endParaRPr lang="zh-CN" altLang="en-US" sz="1965"/>
              </a:p>
            </p:txBody>
          </p:sp>
        </p:grpSp>
      </p:grpSp>
      <p:sp>
        <p:nvSpPr>
          <p:cNvPr id="104866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4866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6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2097170" name="Picture 47" descr="图片5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6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</a:p>
        </p:txBody>
      </p:sp>
      <p:sp>
        <p:nvSpPr>
          <p:cNvPr id="104867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5" grpId="0" build="allAtOnce"/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5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6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2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53.xml"/><Relationship Id="rId1" Type="http://schemas.openxmlformats.org/officeDocument/2006/relationships/tags" Target="../tags/tag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1</a:t>
            </a:r>
          </a:p>
        </p:txBody>
      </p:sp>
      <p:sp>
        <p:nvSpPr>
          <p:cNvPr id="46" name="Line 19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6675905" y="1532255"/>
            <a:ext cx="0" cy="1670050"/>
          </a:xfrm>
          <a:prstGeom prst="line">
            <a:avLst/>
          </a:prstGeom>
          <a:noFill/>
          <a:ln w="28575" cap="sq">
            <a:solidFill>
              <a:srgbClr val="FFCC00"/>
            </a:solidFill>
            <a:round/>
            <a:headEnd type="oval" w="med" len="med"/>
            <a:tailEnd type="oval" w="med" len="med"/>
          </a:ln>
          <a:effectLst/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grpSp>
        <p:nvGrpSpPr>
          <p:cNvPr id="47" name="Group 2"/>
          <p:cNvGrpSpPr/>
          <p:nvPr/>
        </p:nvGrpSpPr>
        <p:grpSpPr bwMode="auto">
          <a:xfrm>
            <a:off x="4737100" y="1261745"/>
            <a:ext cx="6779895" cy="1938020"/>
            <a:chOff x="476" y="2040"/>
            <a:chExt cx="4424" cy="1526"/>
          </a:xfrm>
        </p:grpSpPr>
        <p:sp>
          <p:nvSpPr>
            <p:cNvPr id="48" name="Oval 3"/>
            <p:cNvSpPr>
              <a:spLocks noChangeArrowheads="1"/>
            </p:cNvSpPr>
            <p:nvPr/>
          </p:nvSpPr>
          <p:spPr bwMode="auto">
            <a:xfrm>
              <a:off x="609" y="2659"/>
              <a:ext cx="317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99FF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49" name="Text Box 4"/>
            <p:cNvSpPr txBox="1">
              <a:spLocks noChangeArrowheads="1"/>
            </p:cNvSpPr>
            <p:nvPr/>
          </p:nvSpPr>
          <p:spPr bwMode="auto">
            <a:xfrm>
              <a:off x="4538" y="2040"/>
              <a:ext cx="178" cy="83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  <a:buClr>
                  <a:srgbClr val="333399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3200" b="0" i="1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3200" b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" name="Rectangle 5"/>
            <p:cNvSpPr>
              <a:spLocks noChangeArrowheads="1"/>
            </p:cNvSpPr>
            <p:nvPr/>
          </p:nvSpPr>
          <p:spPr bwMode="auto">
            <a:xfrm>
              <a:off x="748" y="2251"/>
              <a:ext cx="4082" cy="1315"/>
            </a:xfrm>
            <a:prstGeom prst="rect">
              <a:avLst/>
            </a:prstGeom>
            <a:noFill/>
            <a:ln w="28575" cap="sq">
              <a:solidFill>
                <a:srgbClr val="FFCC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endParaRPr lang="zh-CN" altLang="en-US" dirty="0"/>
            </a:p>
          </p:txBody>
        </p:sp>
        <p:sp>
          <p:nvSpPr>
            <p:cNvPr id="51" name="Text Box 7"/>
            <p:cNvSpPr txBox="1">
              <a:spLocks noChangeArrowheads="1"/>
            </p:cNvSpPr>
            <p:nvPr/>
          </p:nvSpPr>
          <p:spPr bwMode="auto">
            <a:xfrm>
              <a:off x="1015" y="2360"/>
              <a:ext cx="467" cy="40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92075" tIns="46038" rIns="92075" bIns="46038" anchor="ctr">
              <a:noAutofit/>
            </a:bodyPr>
            <a:lstStyle/>
            <a:p>
              <a:pPr algn="ctr">
                <a:spcBef>
                  <a:spcPct val="50000"/>
                </a:spcBef>
                <a:buClr>
                  <a:srgbClr val="333399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800" b="0" i="1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1Ω</a:t>
              </a:r>
              <a:endParaRPr lang="en-US" altLang="zh-CN" sz="2800" b="0" baseline="-25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" name="Text Box 12"/>
            <p:cNvSpPr txBox="1">
              <a:spLocks noChangeArrowheads="1"/>
            </p:cNvSpPr>
            <p:nvPr/>
          </p:nvSpPr>
          <p:spPr bwMode="auto">
            <a:xfrm>
              <a:off x="476" y="2360"/>
              <a:ext cx="242" cy="29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  <a:buClr>
                  <a:srgbClr val="333399"/>
                </a:buClr>
                <a:buSzPct val="75000"/>
                <a:buFont typeface="Monotype Sorts" pitchFamily="2" charset="2"/>
                <a:buNone/>
              </a:pPr>
              <a:r>
                <a:rPr lang="en-US" altLang="zh-CN" b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53" name="Text Box 13"/>
            <p:cNvSpPr txBox="1">
              <a:spLocks noChangeArrowheads="1"/>
            </p:cNvSpPr>
            <p:nvPr/>
          </p:nvSpPr>
          <p:spPr bwMode="auto">
            <a:xfrm>
              <a:off x="476" y="3041"/>
              <a:ext cx="228" cy="29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  <a:buClr>
                  <a:srgbClr val="333399"/>
                </a:buClr>
                <a:buSzPct val="75000"/>
                <a:buFont typeface="Monotype Sorts" pitchFamily="2" charset="2"/>
                <a:buNone/>
              </a:pPr>
              <a:r>
                <a:rPr lang="en-US" altLang="zh-CN" b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</a:p>
          </p:txBody>
        </p:sp>
        <p:sp>
          <p:nvSpPr>
            <p:cNvPr id="54" name="Text Box 14"/>
            <p:cNvSpPr txBox="1">
              <a:spLocks noChangeArrowheads="1"/>
            </p:cNvSpPr>
            <p:nvPr/>
          </p:nvSpPr>
          <p:spPr bwMode="auto">
            <a:xfrm>
              <a:off x="764" y="2656"/>
              <a:ext cx="648" cy="7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92075" tIns="46038" rIns="92075" bIns="46038" anchor="ctr">
              <a:spAutoFit/>
            </a:bodyPr>
            <a:lstStyle/>
            <a:p>
              <a:pPr indent="0" algn="ctr" fontAlgn="auto">
                <a:spcBef>
                  <a:spcPts val="0"/>
                </a:spcBef>
                <a:buClr>
                  <a:srgbClr val="333399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3200" b="0" i="1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3200" b="0" baseline="-250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  <a:p>
              <a:pPr indent="0" algn="ctr" fontAlgn="auto">
                <a:spcBef>
                  <a:spcPts val="0"/>
                </a:spcBef>
                <a:buClr>
                  <a:srgbClr val="333399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800" b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30V</a:t>
              </a:r>
            </a:p>
          </p:txBody>
        </p:sp>
        <p:sp>
          <p:nvSpPr>
            <p:cNvPr id="55" name="Line 15"/>
            <p:cNvSpPr>
              <a:spLocks noChangeShapeType="1"/>
            </p:cNvSpPr>
            <p:nvPr/>
          </p:nvSpPr>
          <p:spPr bwMode="auto">
            <a:xfrm>
              <a:off x="4150" y="2296"/>
              <a:ext cx="408" cy="0"/>
            </a:xfrm>
            <a:prstGeom prst="line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56" name="Line 18"/>
            <p:cNvSpPr>
              <a:spLocks noChangeShapeType="1"/>
            </p:cNvSpPr>
            <p:nvPr/>
          </p:nvSpPr>
          <p:spPr bwMode="auto">
            <a:xfrm>
              <a:off x="3923" y="2251"/>
              <a:ext cx="0" cy="1315"/>
            </a:xfrm>
            <a:prstGeom prst="line">
              <a:avLst/>
            </a:prstGeom>
            <a:noFill/>
            <a:ln w="28575" cap="sq">
              <a:solidFill>
                <a:srgbClr val="FFCC00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57" name="Line 19"/>
            <p:cNvSpPr>
              <a:spLocks noChangeShapeType="1"/>
            </p:cNvSpPr>
            <p:nvPr/>
          </p:nvSpPr>
          <p:spPr bwMode="auto">
            <a:xfrm>
              <a:off x="2835" y="2251"/>
              <a:ext cx="0" cy="1315"/>
            </a:xfrm>
            <a:prstGeom prst="line">
              <a:avLst/>
            </a:prstGeom>
            <a:noFill/>
            <a:ln w="28575" cap="sq">
              <a:solidFill>
                <a:srgbClr val="FFCC00"/>
              </a:solidFill>
              <a:round/>
              <a:headEnd type="oval" w="med" len="med"/>
              <a:tailEnd type="oval" w="med" len="med"/>
            </a:ln>
            <a:effectLst/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58" name="Rectangle 21"/>
            <p:cNvSpPr>
              <a:spLocks noChangeArrowheads="1"/>
            </p:cNvSpPr>
            <p:nvPr/>
          </p:nvSpPr>
          <p:spPr bwMode="auto">
            <a:xfrm>
              <a:off x="2777" y="27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Rectangle 22"/>
            <p:cNvSpPr>
              <a:spLocks noChangeArrowheads="1"/>
            </p:cNvSpPr>
            <p:nvPr/>
          </p:nvSpPr>
          <p:spPr bwMode="auto">
            <a:xfrm>
              <a:off x="3866" y="27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Rectangle 23"/>
            <p:cNvSpPr>
              <a:spLocks noChangeArrowheads="1"/>
            </p:cNvSpPr>
            <p:nvPr/>
          </p:nvSpPr>
          <p:spPr bwMode="auto">
            <a:xfrm>
              <a:off x="4773" y="27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Rectangle 24"/>
            <p:cNvSpPr>
              <a:spLocks noChangeArrowheads="1"/>
            </p:cNvSpPr>
            <p:nvPr/>
          </p:nvSpPr>
          <p:spPr bwMode="auto">
            <a:xfrm>
              <a:off x="1111" y="218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Rectangle 25"/>
            <p:cNvSpPr>
              <a:spLocks noChangeArrowheads="1"/>
            </p:cNvSpPr>
            <p:nvPr/>
          </p:nvSpPr>
          <p:spPr bwMode="auto">
            <a:xfrm>
              <a:off x="3243" y="218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Rectangle 26"/>
            <p:cNvSpPr>
              <a:spLocks noChangeArrowheads="1"/>
            </p:cNvSpPr>
            <p:nvPr/>
          </p:nvSpPr>
          <p:spPr bwMode="auto">
            <a:xfrm>
              <a:off x="2109" y="218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FF9900">
                    <a:gamma/>
                    <a:shade val="46275"/>
                    <a:invGamma/>
                  </a:srgbClr>
                </a:gs>
                <a:gs pos="50000">
                  <a:srgbClr val="FF9900"/>
                </a:gs>
                <a:gs pos="100000">
                  <a:srgbClr val="FF99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4" name="Text Box 3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73480" y="1826578"/>
            <a:ext cx="3018155" cy="52197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2075" tIns="46038" rIns="92075" bIns="46038" anchor="ctr">
            <a:spAutoFit/>
          </a:bodyPr>
          <a:lstStyle/>
          <a:p>
            <a:pPr algn="l">
              <a:spcBef>
                <a:spcPct val="50000"/>
              </a:spcBef>
              <a:buClr>
                <a:srgbClr val="333399"/>
              </a:buClr>
              <a:buSzPct val="75000"/>
              <a:buFont typeface="Monotype Sorts" pitchFamily="2" charset="2"/>
              <a:buNone/>
            </a:pPr>
            <a:r>
              <a:rPr lang="zh-CN" altLang="en-US" sz="2800" dirty="0">
                <a:solidFill>
                  <a:srgbClr val="FFFF00"/>
                </a:solidFill>
                <a:latin typeface="楷体_GB2312" pitchFamily="49" charset="-122"/>
              </a:rPr>
              <a:t>求左图中电流</a:t>
            </a:r>
            <a:r>
              <a:rPr lang="en-US" altLang="zh-CN" sz="2800" b="1" i="1" dirty="0" err="1">
                <a:solidFill>
                  <a:srgbClr val="FFFFFF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</a:rPr>
              <a:t>。</a:t>
            </a:r>
          </a:p>
        </p:txBody>
      </p:sp>
      <p:grpSp>
        <p:nvGrpSpPr>
          <p:cNvPr id="65" name="Group 56"/>
          <p:cNvGrpSpPr/>
          <p:nvPr/>
        </p:nvGrpSpPr>
        <p:grpSpPr bwMode="auto">
          <a:xfrm>
            <a:off x="6384925" y="2096135"/>
            <a:ext cx="1438276" cy="1096963"/>
            <a:chOff x="2880" y="1872"/>
            <a:chExt cx="906" cy="691"/>
          </a:xfrm>
        </p:grpSpPr>
        <p:sp>
          <p:nvSpPr>
            <p:cNvPr id="66" name="Text Box 6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21" y="1872"/>
              <a:ext cx="565" cy="63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indent="0" fontAlgn="auto">
                <a:spcBef>
                  <a:spcPts val="0"/>
                </a:spcBef>
              </a:pPr>
              <a:r>
                <a:rPr kumimoji="1" lang="en-US" altLang="zh-CN" sz="3200" b="0" i="1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kumimoji="1" lang="en-US" altLang="zh-CN" sz="3200" b="0" i="1" baseline="-250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  <a:p>
              <a:pPr indent="0" fontAlgn="auto">
                <a:spcBef>
                  <a:spcPts val="0"/>
                </a:spcBef>
              </a:pPr>
              <a:r>
                <a:rPr kumimoji="1" lang="en-US" altLang="zh-CN" sz="2800" b="0" i="1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4A</a:t>
              </a:r>
            </a:p>
          </p:txBody>
        </p:sp>
        <p:sp>
          <p:nvSpPr>
            <p:cNvPr id="67" name="Line 9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3061" y="2227"/>
              <a:ext cx="0" cy="336"/>
            </a:xfrm>
            <a:prstGeom prst="line">
              <a:avLst/>
            </a:prstGeom>
            <a:noFill/>
            <a:ln w="63500">
              <a:solidFill>
                <a:srgbClr val="66FFFF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8" name="Group 47"/>
            <p:cNvGrpSpPr/>
            <p:nvPr/>
          </p:nvGrpSpPr>
          <p:grpSpPr bwMode="auto">
            <a:xfrm>
              <a:off x="2880" y="1888"/>
              <a:ext cx="363" cy="363"/>
              <a:chOff x="4785" y="709"/>
              <a:chExt cx="363" cy="363"/>
            </a:xfrm>
          </p:grpSpPr>
          <p:sp>
            <p:nvSpPr>
              <p:cNvPr id="69" name="Oval 48"/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99FF">
                      <a:gamma/>
                      <a:shade val="46275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algn="ctr"/>
                <a:endParaRPr lang="zh-CN" altLang="zh-CN" sz="2400" b="0">
                  <a:ea typeface="仿宋_GB2312" pitchFamily="49" charset="-122"/>
                </a:endParaRPr>
              </a:p>
            </p:txBody>
          </p:sp>
          <p:sp>
            <p:nvSpPr>
              <p:cNvPr id="70" name="Line 49"/>
              <p:cNvSpPr>
                <a:spLocks noChangeShapeType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71" name="Text Box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981190" y="1661795"/>
            <a:ext cx="731520" cy="5245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2075" tIns="46038" rIns="92075" bIns="46038" anchor="ctr">
            <a:noAutofit/>
          </a:bodyPr>
          <a:lstStyle/>
          <a:p>
            <a:pPr algn="ctr">
              <a:spcBef>
                <a:spcPct val="50000"/>
              </a:spcBef>
              <a:buClr>
                <a:srgbClr val="333399"/>
              </a:buClr>
              <a:buSzPct val="75000"/>
              <a:buFont typeface="Monotype Sorts" pitchFamily="2" charset="2"/>
              <a:buNone/>
            </a:pPr>
            <a:r>
              <a:rPr lang="en-US" altLang="zh-CN" sz="2800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sz="2800" b="0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Ω</a:t>
            </a:r>
            <a:endParaRPr lang="en-US" altLang="zh-CN" sz="2800" b="0" baseline="-250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" name="Text Box 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743950" y="1673225"/>
            <a:ext cx="731520" cy="5245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2075" tIns="46038" rIns="92075" bIns="46038" anchor="ctr">
            <a:noAutofit/>
          </a:bodyPr>
          <a:lstStyle/>
          <a:p>
            <a:pPr algn="ctr">
              <a:spcBef>
                <a:spcPct val="50000"/>
              </a:spcBef>
              <a:buClr>
                <a:srgbClr val="333399"/>
              </a:buClr>
              <a:buSzPct val="75000"/>
              <a:buFont typeface="Monotype Sorts" pitchFamily="2" charset="2"/>
              <a:buNone/>
            </a:pPr>
            <a:r>
              <a:rPr lang="en-US" altLang="zh-CN" sz="2800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0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Ω</a:t>
            </a:r>
            <a:endParaRPr lang="en-US" altLang="zh-CN" sz="2800" b="0" baseline="-250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" name="Text 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301990" y="2173605"/>
            <a:ext cx="731520" cy="5245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2075" tIns="46038" rIns="92075" bIns="46038" anchor="ctr">
            <a:noAutofit/>
          </a:bodyPr>
          <a:lstStyle/>
          <a:p>
            <a:pPr algn="ctr">
              <a:spcBef>
                <a:spcPct val="50000"/>
              </a:spcBef>
              <a:buClr>
                <a:srgbClr val="333399"/>
              </a:buClr>
              <a:buSzPct val="75000"/>
              <a:buFont typeface="Monotype Sorts" pitchFamily="2" charset="2"/>
              <a:buNone/>
            </a:pPr>
            <a:r>
              <a:rPr lang="en-US" altLang="zh-CN" sz="2800" b="0" i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4Ω</a:t>
            </a:r>
            <a:endParaRPr lang="en-US" altLang="zh-CN" sz="2800" b="0" baseline="-250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4" name="Text Box 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305925" y="2219960"/>
            <a:ext cx="716280" cy="4984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2075" tIns="46038" rIns="92075" bIns="46038" anchor="ctr">
            <a:noAutofit/>
          </a:bodyPr>
          <a:lstStyle/>
          <a:p>
            <a:pPr algn="ctr">
              <a:spcBef>
                <a:spcPct val="50000"/>
              </a:spcBef>
              <a:buClr>
                <a:srgbClr val="333399"/>
              </a:buClr>
              <a:buSzPct val="75000"/>
              <a:buFont typeface="Monotype Sorts" pitchFamily="2" charset="2"/>
              <a:buNone/>
            </a:pPr>
            <a:r>
              <a:rPr lang="en-US" altLang="zh-CN" sz="2800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800" b="0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Ω</a:t>
            </a:r>
            <a:endParaRPr lang="en-US" altLang="zh-CN" sz="2800" b="0" baseline="-250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5" name="Text Box 7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0605135" y="2204085"/>
            <a:ext cx="731520" cy="5245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2075" tIns="46038" rIns="92075" bIns="46038" anchor="ctr">
            <a:noAutofit/>
          </a:bodyPr>
          <a:lstStyle/>
          <a:p>
            <a:pPr algn="ctr">
              <a:spcBef>
                <a:spcPct val="50000"/>
              </a:spcBef>
              <a:buClr>
                <a:srgbClr val="333399"/>
              </a:buClr>
              <a:buSzPct val="75000"/>
              <a:buFont typeface="Monotype Sorts" pitchFamily="2" charset="2"/>
              <a:buNone/>
            </a:pPr>
            <a:r>
              <a:rPr lang="en-US" altLang="zh-CN" sz="2800" b="0" i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6Ω</a:t>
            </a:r>
            <a:endParaRPr lang="en-US" altLang="zh-CN" sz="2800" b="0" baseline="-250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11399203" y="1517333"/>
            <a:ext cx="0" cy="533400"/>
          </a:xfrm>
          <a:prstGeom prst="line">
            <a:avLst/>
          </a:prstGeom>
          <a:noFill/>
          <a:ln w="63500">
            <a:solidFill>
              <a:srgbClr val="66FFFF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5CF16B6-423C-3B45-24A9-2BEF87CE9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792DC-59DF-4031-96F2-DBA43284DB48}" type="slidenum">
              <a:rPr lang="en-US" altLang="zh-CN" smtClean="0"/>
              <a:t>2</a:t>
            </a:fld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83B536D-6CF9-350B-7806-2CD8E9BDC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980728"/>
            <a:ext cx="7816155" cy="501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265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2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15" y="1052830"/>
            <a:ext cx="8220075" cy="36671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E1246B-A3C9-6DDB-5820-5B641DA95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792DC-59DF-4031-96F2-DBA43284DB48}" type="slidenum">
              <a:rPr lang="en-US" altLang="zh-CN" smtClean="0"/>
              <a:t>4</a:t>
            </a:fld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DB345F9-A986-6B32-BE95-987491693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052736"/>
            <a:ext cx="5600700" cy="46767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5B65BD7-A08F-C74C-B9D2-116E737AF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422" y="1628800"/>
            <a:ext cx="6059718" cy="329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49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3</a:t>
            </a:r>
          </a:p>
        </p:txBody>
      </p:sp>
      <p:pic>
        <p:nvPicPr>
          <p:cNvPr id="2" name="图片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620" y="1340485"/>
            <a:ext cx="9382125" cy="4095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04B8A3E-8910-75EB-DBA2-E65F9364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792DC-59DF-4031-96F2-DBA43284DB48}" type="slidenum">
              <a:rPr lang="en-US" altLang="zh-CN" smtClean="0"/>
              <a:t>6</a:t>
            </a:fld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85A7C91-E4FA-FF3A-934F-D345AA761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680" y="1070273"/>
            <a:ext cx="5196036" cy="471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116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4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705" y="0"/>
            <a:ext cx="83121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088F807-AF9F-64FF-8B2E-560DE389F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792DC-59DF-4031-96F2-DBA43284DB48}" type="slidenum">
              <a:rPr lang="en-US" altLang="zh-CN" smtClean="0"/>
              <a:t>8</a:t>
            </a:fld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5675B80-C855-F288-320A-5FD1883CC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22" y="1009650"/>
            <a:ext cx="5124450" cy="48387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0F5F882-727C-C174-087F-9F28B3ECD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912" y="1533525"/>
            <a:ext cx="663892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13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5</a:t>
            </a:r>
          </a:p>
        </p:txBody>
      </p:sp>
      <p:pic>
        <p:nvPicPr>
          <p:cNvPr id="2" name="图片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50" y="1266825"/>
            <a:ext cx="7162800" cy="4324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D317522-6103-F1E9-EFBB-0D9398A9B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792DC-59DF-4031-96F2-DBA43284DB48}" type="slidenum">
              <a:rPr lang="en-US" altLang="zh-CN" smtClean="0"/>
              <a:t>10</a:t>
            </a:fld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855C62-544C-93CD-DA66-CB2902B6B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616" y="522131"/>
            <a:ext cx="6513959" cy="620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238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42000">
              <a:srgbClr val="6ACCF2"/>
            </a:gs>
            <a:gs pos="100000">
              <a:srgbClr val="2497E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83615" y="1282065"/>
            <a:ext cx="10203815" cy="386651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just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dirty="0">
                <a:solidFill>
                  <a:schemeClr val="tx1"/>
                </a:solidFill>
                <a:latin typeface="思源宋体 CN"/>
                <a:ea typeface="思源宋体 CN"/>
              </a:rPr>
              <a:t>电阻是（）元件，电感是（）的元件，电容是（）的元件。</a:t>
            </a:r>
          </a:p>
          <a:p>
            <a:pPr defTabSz="266700">
              <a:lnSpc>
                <a:spcPct val="200000"/>
              </a:lnSpc>
            </a:pPr>
            <a:r>
              <a:rPr lang="en-US" altLang="zh-CN" sz="3200" dirty="0">
                <a:solidFill>
                  <a:schemeClr val="tx1"/>
                </a:solidFill>
                <a:latin typeface="思源宋体 CN"/>
                <a:ea typeface="思源宋体 CN"/>
              </a:rPr>
              <a:t>A</a:t>
            </a:r>
            <a:r>
              <a:rPr lang="zh-CN" altLang="en-US" sz="3200" dirty="0">
                <a:solidFill>
                  <a:schemeClr val="tx1"/>
                </a:solidFill>
                <a:latin typeface="思源宋体 CN"/>
                <a:ea typeface="思源宋体 CN"/>
              </a:rPr>
              <a:t>、储存电场能量 </a:t>
            </a:r>
            <a:r>
              <a:rPr lang="en-US" altLang="zh-CN" sz="3200" dirty="0">
                <a:solidFill>
                  <a:schemeClr val="tx1"/>
                </a:solidFill>
                <a:latin typeface="思源宋体 CN"/>
                <a:ea typeface="思源宋体 CN"/>
              </a:rPr>
              <a:t>   B</a:t>
            </a:r>
            <a:r>
              <a:rPr lang="zh-CN" altLang="en-US" sz="3200" dirty="0">
                <a:solidFill>
                  <a:schemeClr val="tx1"/>
                </a:solidFill>
                <a:latin typeface="思源宋体 CN"/>
                <a:ea typeface="思源宋体 CN"/>
              </a:rPr>
              <a:t>、储存磁场能量 </a:t>
            </a:r>
            <a:r>
              <a:rPr lang="en-US" altLang="zh-CN" sz="3200" dirty="0">
                <a:solidFill>
                  <a:schemeClr val="tx1"/>
                </a:solidFill>
                <a:latin typeface="思源宋体 CN"/>
                <a:ea typeface="思源宋体 CN"/>
              </a:rPr>
              <a:t>     C</a:t>
            </a:r>
            <a:r>
              <a:rPr lang="zh-CN" altLang="en-US" sz="3200" dirty="0">
                <a:solidFill>
                  <a:schemeClr val="tx1"/>
                </a:solidFill>
                <a:latin typeface="思源宋体 CN"/>
                <a:ea typeface="思源宋体 CN"/>
              </a:rPr>
              <a:t>、耗能</a:t>
            </a:r>
          </a:p>
        </p:txBody>
      </p:sp>
      <p:sp>
        <p:nvSpPr>
          <p:cNvPr id="6" name="矩形 5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bg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6EDC92B-27EF-375F-C2F0-272022BB6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664" y="1844824"/>
            <a:ext cx="5856113" cy="297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46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7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7715" y="980440"/>
            <a:ext cx="10186035" cy="12757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575685" y="2492375"/>
            <a:ext cx="5150485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1D2E2DA-5377-F6E4-25F8-3CC6B4E6C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581620"/>
            <a:ext cx="4680520" cy="52960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0EE4620-EB44-16C8-74C5-564A3C657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181" y="2276872"/>
            <a:ext cx="5005417" cy="238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881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1770" y="980440"/>
            <a:ext cx="11156950" cy="10242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215640" y="2420620"/>
            <a:ext cx="5359400" cy="374396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8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61EAEC3-B6D2-3C23-805E-B9419731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792DC-59DF-4031-96F2-DBA43284DB48}" type="slidenum">
              <a:rPr lang="en-US" altLang="zh-CN" smtClean="0"/>
              <a:t>16</a:t>
            </a:fld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EE1D02-A4C5-B063-A175-AD0D40C6B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60" y="1009650"/>
            <a:ext cx="5334000" cy="48387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39A4303-135E-AA5F-3EF8-1A4190612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032" y="763456"/>
            <a:ext cx="4810125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304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1815" y="908685"/>
            <a:ext cx="10454640" cy="15411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215640" y="2636520"/>
            <a:ext cx="3748405" cy="387540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9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50D67EF-1C83-E3A3-004F-BCF8ABB90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217005"/>
            <a:ext cx="4933950" cy="43243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2E70150-B7C3-E5C3-7E46-B2F3C7F38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16" y="1215802"/>
            <a:ext cx="4676775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618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10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70" y="1124585"/>
            <a:ext cx="8572500" cy="38862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6AB28B0-5397-F8F7-0DF0-26717BFC7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792DC-59DF-4031-96F2-DBA43284DB48}" type="slidenum">
              <a:rPr lang="en-US" altLang="zh-CN" smtClean="0"/>
              <a:t>20</a:t>
            </a:fld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A7D2BCE-0CD9-F205-DFF8-0C27800AC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403927"/>
            <a:ext cx="3629363" cy="435523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E61A05B-8060-010B-4026-9E5E2B3A2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760" y="1123003"/>
            <a:ext cx="3955554" cy="491708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C1E0D6A-B60B-BE60-86CA-AB2833CA6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375" y="1201567"/>
            <a:ext cx="3886640" cy="475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659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724" name="Object 76"/>
          <p:cNvGraphicFramePr>
            <a:graphicFrameLocks noChangeAspect="1"/>
          </p:cNvGraphicFramePr>
          <p:nvPr/>
        </p:nvGraphicFramePr>
        <p:xfrm>
          <a:off x="3503613" y="5013325"/>
          <a:ext cx="3502025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09015" imgH="139700" progId="Equation.3">
                  <p:embed/>
                </p:oleObj>
              </mc:Choice>
              <mc:Fallback>
                <p:oleObj r:id="rId2" imgW="1009015" imgH="1397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03613" y="5013325"/>
                        <a:ext cx="3502025" cy="633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11</a:t>
            </a:r>
          </a:p>
        </p:txBody>
      </p:sp>
      <p:sp>
        <p:nvSpPr>
          <p:cNvPr id="169016" name="Text Box 56"/>
          <p:cNvSpPr txBox="1">
            <a:spLocks noChangeArrowheads="1"/>
          </p:cNvSpPr>
          <p:nvPr/>
        </p:nvSpPr>
        <p:spPr bwMode="auto">
          <a:xfrm>
            <a:off x="407670" y="836295"/>
            <a:ext cx="11252200" cy="1272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800" dirty="0">
                <a:solidFill>
                  <a:schemeClr val="tx1"/>
                </a:solidFill>
                <a:latin typeface="楷体_GB2312" pitchFamily="49" charset="-122"/>
              </a:rPr>
              <a:t>   </a:t>
            </a:r>
            <a:r>
              <a:rPr kumimoji="1" lang="zh-CN" altLang="en-US" sz="3200" dirty="0">
                <a:solidFill>
                  <a:schemeClr val="tx1"/>
                </a:solidFill>
                <a:latin typeface="楷体_GB2312" pitchFamily="49" charset="-122"/>
              </a:rPr>
              <a:t>求图示电路</a:t>
            </a:r>
            <a:r>
              <a:rPr kumimoji="1"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  <a:r>
              <a:rPr kumimoji="1" lang="zh-CN" altLang="en-US" sz="3200" dirty="0">
                <a:solidFill>
                  <a:schemeClr val="tx1"/>
                </a:solidFill>
                <a:latin typeface="楷体_GB2312" pitchFamily="49" charset="-122"/>
              </a:rPr>
              <a:t>闭合后各元件的电压和电流</a:t>
            </a:r>
          </a:p>
          <a:p>
            <a:pPr>
              <a:lnSpc>
                <a:spcPct val="120000"/>
              </a:lnSpc>
            </a:pPr>
            <a:r>
              <a:rPr kumimoji="1" lang="zh-CN" altLang="en-US" sz="3200" dirty="0">
                <a:solidFill>
                  <a:schemeClr val="tx1"/>
                </a:solidFill>
                <a:latin typeface="楷体_GB2312" pitchFamily="49" charset="-122"/>
              </a:rPr>
              <a:t>随时间变化的规律，</a:t>
            </a:r>
            <a:r>
              <a:rPr kumimoji="1" lang="zh-CN" altLang="en-US" sz="3200" dirty="0">
                <a:solidFill>
                  <a:schemeClr val="tx1"/>
                </a:solidFill>
                <a:latin typeface="楷体_GB2312" pitchFamily="49" charset="-122"/>
                <a:sym typeface="+mn-ea"/>
              </a:rPr>
              <a:t>电阻共耗能多少？电容分别释放多少</a:t>
            </a:r>
            <a:r>
              <a:rPr kumimoji="1" lang="zh-CN" altLang="en-US" sz="3200" dirty="0">
                <a:solidFill>
                  <a:schemeClr val="tx1"/>
                </a:solidFill>
                <a:latin typeface="楷体_GB2312" pitchFamily="49" charset="-122"/>
              </a:rPr>
              <a:t>储能？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560" y="2276475"/>
            <a:ext cx="8467725" cy="4000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27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111E9E3-8DCF-2A6E-450F-03DD2C0E7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764704"/>
            <a:ext cx="3432839" cy="570120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1D09CDA-03EC-5E95-6FCE-33FE5A212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784" y="891618"/>
            <a:ext cx="3583542" cy="554663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829217D-D906-926E-9645-B7008DB63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1965" y="1412776"/>
            <a:ext cx="4118691" cy="459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562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12</a:t>
            </a:r>
          </a:p>
        </p:txBody>
      </p:sp>
      <p:sp>
        <p:nvSpPr>
          <p:cNvPr id="54275" name="Text Box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39470" y="1124268"/>
            <a:ext cx="940435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t=0 </a:t>
            </a:r>
            <a:r>
              <a:rPr kumimoji="1" lang="zh-CN" altLang="zh-CN" sz="3200">
                <a:solidFill>
                  <a:schemeClr val="tx1"/>
                </a:solidFill>
                <a:latin typeface="楷体_GB2312" pitchFamily="49" charset="-122"/>
              </a:rPr>
              <a:t>时 </a:t>
            </a:r>
            <a:r>
              <a:rPr kumimoji="1" lang="en-US" altLang="zh-CN" sz="3200">
                <a:solidFill>
                  <a:schemeClr val="tx1"/>
                </a:solidFill>
                <a:latin typeface="楷体_GB2312" pitchFamily="49" charset="-122"/>
              </a:rPr>
              <a:t>,</a:t>
            </a:r>
            <a:r>
              <a:rPr kumimoji="1" lang="zh-CN" altLang="en-US" sz="3200">
                <a:solidFill>
                  <a:schemeClr val="tx1"/>
                </a:solidFill>
                <a:latin typeface="楷体_GB2312" pitchFamily="49" charset="-122"/>
              </a:rPr>
              <a:t>开关</a:t>
            </a:r>
            <a:r>
              <a:rPr kumimoji="1" lang="en-US" altLang="zh-CN" sz="3200" b="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  <a:r>
              <a:rPr kumimoji="1" lang="zh-CN" altLang="en-US" sz="3200">
                <a:solidFill>
                  <a:schemeClr val="tx1"/>
                </a:solidFill>
                <a:latin typeface="楷体_GB2312" pitchFamily="49" charset="-122"/>
              </a:rPr>
              <a:t>打开，求</a:t>
            </a:r>
            <a:r>
              <a:rPr kumimoji="1" lang="en-US" altLang="zh-CN" sz="3200" b="0">
                <a:solidFill>
                  <a:schemeClr val="tx1"/>
                </a:solidFill>
                <a:latin typeface="Times New Roman" panose="02020603050405020304" pitchFamily="18" charset="0"/>
              </a:rPr>
              <a:t>t &gt;0</a:t>
            </a:r>
            <a:r>
              <a:rPr kumimoji="1" lang="zh-CN" altLang="en-US" sz="3200">
                <a:solidFill>
                  <a:schemeClr val="tx1"/>
                </a:solidFill>
                <a:latin typeface="楷体_GB2312" pitchFamily="49" charset="-122"/>
              </a:rPr>
              <a:t>后的</a:t>
            </a:r>
            <a:r>
              <a:rPr kumimoji="1"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i</a:t>
            </a:r>
            <a:r>
              <a:rPr kumimoji="1" lang="en-US" altLang="zh-CN" sz="3200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zh-CN" altLang="en-US" sz="3200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1"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3200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zh-CN" altLang="en-US" sz="3200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840" y="2060575"/>
            <a:ext cx="6343650" cy="37909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DF585B0-AE5A-4B9D-DA25-B54491ECA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792DC-59DF-4031-96F2-DBA43284DB48}" type="slidenum">
              <a:rPr lang="en-US" altLang="zh-CN" smtClean="0"/>
              <a:t>24</a:t>
            </a:fld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3FB106C-0F53-3E4E-C210-0BF124BC6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1196752"/>
            <a:ext cx="6086475" cy="42386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D4786B9-2EB0-7A30-D82D-C2C60CBE6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112" y="1614487"/>
            <a:ext cx="424815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573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62464ef-a37a-4fe6-b54d-0b8752e49583"/>
  <p:tag name="COMMONDATA" val="eyJoZGlkIjoiM2E5MjQxOTg1YTQxNWEzMDIwNDA5MzdiNjRkODFjYm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9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默认设计模板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C30000"/>
      </a:accent1>
      <a:accent2>
        <a:srgbClr val="3B3E4D"/>
      </a:accent2>
      <a:accent3>
        <a:srgbClr val="C30000"/>
      </a:accent3>
      <a:accent4>
        <a:srgbClr val="3B3E4D"/>
      </a:accent4>
      <a:accent5>
        <a:srgbClr val="C30000"/>
      </a:accent5>
      <a:accent6>
        <a:srgbClr val="3B3E4D"/>
      </a:accent6>
      <a:hlink>
        <a:srgbClr val="5FCBFB"/>
      </a:hlink>
      <a:folHlink>
        <a:srgbClr val="B759BC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默认设计模板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C30000"/>
      </a:accent1>
      <a:accent2>
        <a:srgbClr val="3B3E4D"/>
      </a:accent2>
      <a:accent3>
        <a:srgbClr val="C30000"/>
      </a:accent3>
      <a:accent4>
        <a:srgbClr val="3B3E4D"/>
      </a:accent4>
      <a:accent5>
        <a:srgbClr val="C30000"/>
      </a:accent5>
      <a:accent6>
        <a:srgbClr val="3B3E4D"/>
      </a:accent6>
      <a:hlink>
        <a:srgbClr val="5FCBFB"/>
      </a:hlink>
      <a:folHlink>
        <a:srgbClr val="B759BC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3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b="0" dirty="0" smtClean="0">
            <a:solidFill>
              <a:srgbClr val="FF0000"/>
            </a:solidFill>
            <a:latin typeface="华文行楷" panose="02010800040101010101" charset="-122"/>
            <a:ea typeface="华文行楷" panose="02010800040101010101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143</Words>
  <Application>Microsoft Office PowerPoint</Application>
  <PresentationFormat>宽屏</PresentationFormat>
  <Paragraphs>39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9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2" baseType="lpstr">
      <vt:lpstr>Monotype Sorts</vt:lpstr>
      <vt:lpstr>仿宋_GB2312</vt:lpstr>
      <vt:lpstr>华文行楷</vt:lpstr>
      <vt:lpstr>楷体_GB2312</vt:lpstr>
      <vt:lpstr>思源宋体 CN</vt:lpstr>
      <vt:lpstr>Arial</vt:lpstr>
      <vt:lpstr>Times New Roman</vt:lpstr>
      <vt:lpstr>Wingdings</vt:lpstr>
      <vt:lpstr>Beam</vt:lpstr>
      <vt:lpstr>9_Beam</vt:lpstr>
      <vt:lpstr>4_默认设计模板</vt:lpstr>
      <vt:lpstr>7_默认设计模板</vt:lpstr>
      <vt:lpstr>7_Beam</vt:lpstr>
      <vt:lpstr>1_Beam</vt:lpstr>
      <vt:lpstr>3_Beam</vt:lpstr>
      <vt:lpstr>1_默认设计模板</vt:lpstr>
      <vt:lpstr>2_Beam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第1章小测</dc:title>
  <dc:creator>zyz</dc:creator>
  <cp:lastModifiedBy>宇宏 郑</cp:lastModifiedBy>
  <cp:revision>38</cp:revision>
  <dcterms:created xsi:type="dcterms:W3CDTF">2023-03-14T00:54:00Z</dcterms:created>
  <dcterms:modified xsi:type="dcterms:W3CDTF">2026-04-22T05:23:34Z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8B53C019295D4ACBA8714B16F8A325E4_13</vt:lpwstr>
  </property>
  <property fmtid="{D5CDD505-2E9C-101B-9397-08002B2CF9AE}" pid="3" name="KSOProductBuildVer">
    <vt:lpwstr>2052-12.1.0.25225</vt:lpwstr>
  </property>
</Properties>
</file>