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518" r:id="rId3"/>
    <p:sldId id="519" r:id="rId5"/>
    <p:sldId id="833" r:id="rId6"/>
    <p:sldId id="856" r:id="rId7"/>
    <p:sldId id="827" r:id="rId8"/>
    <p:sldId id="778" r:id="rId9"/>
    <p:sldId id="854" r:id="rId10"/>
    <p:sldId id="779" r:id="rId11"/>
    <p:sldId id="780" r:id="rId12"/>
    <p:sldId id="781" r:id="rId13"/>
    <p:sldId id="857" r:id="rId14"/>
    <p:sldId id="784" r:id="rId15"/>
    <p:sldId id="786" r:id="rId16"/>
    <p:sldId id="787" r:id="rId17"/>
    <p:sldId id="788" r:id="rId18"/>
    <p:sldId id="858" r:id="rId19"/>
  </p:sldIdLst>
  <p:sldSz cx="12192000" cy="6858000"/>
  <p:notesSz cx="6792595" cy="992505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 hui" initials="hl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00"/>
    <a:srgbClr val="0000FF"/>
    <a:srgbClr val="FFE1E1"/>
    <a:srgbClr val="EADCF4"/>
    <a:srgbClr val="B6F0CB"/>
    <a:srgbClr val="ECF1F9"/>
    <a:srgbClr val="009EDE"/>
    <a:srgbClr val="61D2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69" autoAdjust="0"/>
    <p:restoredTop sz="89006" autoAdjust="0"/>
  </p:normalViewPr>
  <p:slideViewPr>
    <p:cSldViewPr snapToGrid="0">
      <p:cViewPr>
        <p:scale>
          <a:sx n="77" d="100"/>
          <a:sy n="77" d="100"/>
        </p:scale>
        <p:origin x="408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gs" Target="tags/tag1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596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7745" y="0"/>
            <a:ext cx="2943596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3A6DC-0AB7-4BBF-9004-005A425310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39838"/>
            <a:ext cx="5954713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292" y="4776431"/>
            <a:ext cx="543433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3596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7745" y="9427076"/>
            <a:ext cx="2943596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idu.com/s?rsv_dl=re_dqa_generate&amp;sa=re_dqa_generate&amp;wd=NMOS%E7%AE%A1&amp;rsv_pq=943371c90003188e&amp;oq=MOS%E7%AE%A1%E4%B8%BA%E4%BB%80%E4%B9%88%E4%B8%8D%E8%B0%88%E8%BE%93%E5%85%A5%E7%89%B9%E6%80%A7%3F&amp;rsv_t=611fe2aDQNWpNDJ6rQd3K5047T980CiCypJ0C62NCTvzfYRPzGnGqeRGSo/jez7Rw6S6&amp;tn=baiduhome_pg&amp;ie=utf-8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5" Type="http://schemas.openxmlformats.org/officeDocument/2006/relationships/hyperlink" Target="https://www.baidu.com/s?rsv_dl=re_dqa_generate&amp;sa=re_dqa_generate&amp;wd=PMOS&amp;rsv_pq=943371c90003188e&amp;oq=MOS%E7%AE%A1%E4%B8%BA%E4%BB%80%E4%B9%88%E4%B8%8D%E8%B0%88%E8%BE%93%E5%85%A5%E7%89%B9%E6%80%A7%3F&amp;rsv_t=611fe2aDQNWpNDJ6rQd3K5047T980CiCypJ0C62NCTvzfYRPzGnGqeRGSo/jez7Rw6S6&amp;tn=baiduhome_pg&amp;ie=utf-8" TargetMode="External"/><Relationship Id="rId4" Type="http://schemas.openxmlformats.org/officeDocument/2006/relationships/hyperlink" Target="https://www.baidu.com/s?rsv_dl=re_dqa_generate&amp;sa=re_dqa_generate&amp;wd=NMOS&amp;rsv_pq=943371c90003188e&amp;oq=MOS%E7%AE%A1%E4%B8%BA%E4%BB%80%E4%B9%88%E4%B8%8D%E8%B0%88%E8%BE%93%E5%85%A5%E7%89%B9%E6%80%A7%3F&amp;rsv_t=611fe2aDQNWpNDJ6rQd3K5047T980CiCypJ0C62NCTvzfYRPzGnGqeRGSo/jez7Rw6S6&amp;tn=baiduhome_pg&amp;ie=utf-8" TargetMode="External"/><Relationship Id="rId3" Type="http://schemas.openxmlformats.org/officeDocument/2006/relationships/hyperlink" Target="https://www.baidu.com/s?rsv_dl=re_dqa_generate&amp;sa=re_dqa_generate&amp;wd=NMOS%E7%AE%A1&amp;rsv_pq=943371c90003188e&amp;oq=MOS%E7%AE%A1%E4%B8%BA%E4%BB%80%E4%B9%88%E4%B8%8D%E8%B0%88%E8%BE%93%E5%85%A5%E7%89%B9%E6%80%A7%3F&amp;rsv_t=611fe2aDQNWpNDJ6rQd3K5047T980CiCypJ0C62NCTvzfYRPzGnGqeRGSo/jez7Rw6S6&amp;tn=baiduhome_pg&amp;ie=utf-8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6" Type="http://schemas.openxmlformats.org/officeDocument/2006/relationships/hyperlink" Target="https://www.baidu.com/s?rsv_dl=re_dqa_generate&amp;sa=re_dqa_generate&amp;wd=%E8%BD%AC%E7%A7%BB%E7%89%B9%E6%80%A7%E6%9B%B2%E7%BA%BF&amp;rsv_pq=943371c90003188e&amp;oq=MOS%E7%AE%A1%E4%B8%BA%E4%BB%80%E4%B9%88%E4%B8%8D%E8%B0%88%E8%BE%93%E5%85%A5%E7%89%B9%E6%80%A7%3F&amp;rsv_t=611fe2aDQNWpNDJ6rQd3K5047T980CiCypJ0C62NCTvzfYRPzGnGqeRGSo/jez7Rw6S6&amp;tn=baiduhome_pg&amp;ie=utf-8" TargetMode="External"/><Relationship Id="rId5" Type="http://schemas.openxmlformats.org/officeDocument/2006/relationships/hyperlink" Target="https://www.baidu.com/s?rsv_dl=re_dqa_generate&amp;sa=re_dqa_generate&amp;wd=PMOS&amp;rsv_pq=943371c90003188e&amp;oq=MOS%E7%AE%A1%E4%B8%BA%E4%BB%80%E4%B9%88%E4%B8%8D%E8%B0%88%E8%BE%93%E5%85%A5%E7%89%B9%E6%80%A7%3F&amp;rsv_t=611fe2aDQNWpNDJ6rQd3K5047T980CiCypJ0C62NCTvzfYRPzGnGqeRGSo/jez7Rw6S6&amp;tn=baiduhome_pg&amp;ie=utf-8" TargetMode="External"/><Relationship Id="rId4" Type="http://schemas.openxmlformats.org/officeDocument/2006/relationships/hyperlink" Target="https://www.baidu.com/s?rsv_dl=re_dqa_generate&amp;sa=re_dqa_generate&amp;wd=NMOS&amp;rsv_pq=943371c90003188e&amp;oq=MOS%E7%AE%A1%E4%B8%BA%E4%BB%80%E4%B9%88%E4%B8%8D%E8%B0%88%E8%BE%93%E5%85%A5%E7%89%B9%E6%80%A7%3F&amp;rsv_t=611fe2aDQNWpNDJ6rQd3K5047T980CiCypJ0C62NCTvzfYRPzGnGqeRGSo/jez7Rw6S6&amp;tn=baiduhome_pg&amp;ie=utf-8" TargetMode="External"/><Relationship Id="rId3" Type="http://schemas.openxmlformats.org/officeDocument/2006/relationships/hyperlink" Target="https://www.baidu.com/s?rsv_dl=re_dqa_generate&amp;sa=re_dqa_generate&amp;wd=NMOS%E7%AE%A1&amp;rsv_pq=943371c90003188e&amp;oq=MOS%E7%AE%A1%E4%B8%BA%E4%BB%80%E4%B9%88%E4%B8%8D%E8%B0%88%E8%BE%93%E5%85%A5%E7%89%B9%E6%80%A7%3F&amp;rsv_t=611fe2aDQNWpNDJ6rQd3K5047T980CiCypJ0C62NCTvzfYRPzGnGqeRGSo/jez7Rw6S6&amp;tn=baiduhome_pg&amp;ie=utf-8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effectLst/>
                <a:latin typeface="-apple-system"/>
              </a:rPr>
              <a:t>模电</a:t>
            </a:r>
            <a:r>
              <a:rPr lang="en-US" altLang="zh-CN" b="0" i="0" dirty="0">
                <a:effectLst/>
                <a:latin typeface="-apple-system"/>
              </a:rPr>
              <a:t>|</a:t>
            </a:r>
            <a:r>
              <a:rPr lang="zh-CN" altLang="en-US" b="0" i="0" dirty="0">
                <a:effectLst/>
                <a:latin typeface="-apple-system"/>
              </a:rPr>
              <a:t>模拟电子技术基础</a:t>
            </a:r>
            <a:r>
              <a:rPr lang="en-US" altLang="zh-CN" b="0" i="0" dirty="0">
                <a:effectLst/>
                <a:latin typeface="-apple-system"/>
              </a:rPr>
              <a:t>|</a:t>
            </a:r>
            <a:r>
              <a:rPr lang="zh-CN" altLang="en-US" b="0" i="0" dirty="0">
                <a:effectLst/>
                <a:latin typeface="-apple-system"/>
              </a:rPr>
              <a:t>上海交通大学 郑益慧（讲课质量最好版本）版本</a:t>
            </a:r>
            <a:r>
              <a:rPr lang="en-US" altLang="zh-CN" b="0" i="0" dirty="0">
                <a:effectLst/>
                <a:latin typeface="-apple-system"/>
              </a:rPr>
              <a:t>(b</a:t>
            </a:r>
            <a:r>
              <a:rPr lang="zh-CN" altLang="en-US" b="0" i="0" dirty="0">
                <a:effectLst/>
                <a:latin typeface="-apple-system"/>
              </a:rPr>
              <a:t>站上的推荐</a:t>
            </a:r>
            <a:r>
              <a:rPr lang="en-US" altLang="zh-CN" b="0" i="0" dirty="0">
                <a:effectLst/>
                <a:latin typeface="-apple-system"/>
              </a:rPr>
              <a:t>)</a:t>
            </a:r>
            <a:endParaRPr lang="zh-CN" altLang="en-US" b="0" i="0" dirty="0">
              <a:effectLst/>
              <a:latin typeface="-apple-system"/>
            </a:endParaRP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191919"/>
                </a:solidFill>
                <a:effectLst/>
                <a:latin typeface="PingFang SC"/>
              </a:rPr>
              <a:t>N</a:t>
            </a:r>
            <a:r>
              <a:rPr lang="zh-CN" altLang="en-US" b="0" i="0" dirty="0">
                <a:solidFill>
                  <a:srgbClr val="191919"/>
                </a:solidFill>
                <a:effectLst/>
                <a:latin typeface="PingFang SC"/>
              </a:rPr>
              <a:t>沟道增强型</a:t>
            </a:r>
            <a:r>
              <a:rPr lang="en-US" altLang="zh-CN" b="0" i="0" dirty="0">
                <a:solidFill>
                  <a:srgbClr val="191919"/>
                </a:solidFill>
                <a:effectLst/>
                <a:latin typeface="PingFang SC"/>
              </a:rPr>
              <a:t>MOSFET</a:t>
            </a:r>
            <a:r>
              <a:rPr lang="zh-CN" altLang="en-US" b="0" i="0" dirty="0">
                <a:solidFill>
                  <a:srgbClr val="191919"/>
                </a:solidFill>
                <a:effectLst/>
                <a:latin typeface="PingFang SC"/>
              </a:rPr>
              <a:t>基本上是一种左右对称的拓扑结构，它是在</a:t>
            </a:r>
            <a:r>
              <a:rPr lang="en-US" altLang="zh-CN" b="0" i="0" dirty="0">
                <a:solidFill>
                  <a:srgbClr val="191919"/>
                </a:solidFill>
                <a:effectLst/>
                <a:latin typeface="PingFang SC"/>
              </a:rPr>
              <a:t>P</a:t>
            </a:r>
            <a:r>
              <a:rPr lang="zh-CN" altLang="en-US" b="0" i="0" dirty="0">
                <a:solidFill>
                  <a:srgbClr val="191919"/>
                </a:solidFill>
                <a:effectLst/>
                <a:latin typeface="PingFang SC"/>
              </a:rPr>
              <a:t>型半导体上生成一层</a:t>
            </a:r>
            <a:r>
              <a:rPr lang="en-US" altLang="zh-CN" b="0" i="0" dirty="0">
                <a:solidFill>
                  <a:srgbClr val="191919"/>
                </a:solidFill>
                <a:effectLst/>
                <a:latin typeface="PingFang SC"/>
              </a:rPr>
              <a:t>SiO2 </a:t>
            </a:r>
            <a:r>
              <a:rPr lang="zh-CN" altLang="en-US" b="0" i="0" dirty="0">
                <a:solidFill>
                  <a:srgbClr val="191919"/>
                </a:solidFill>
                <a:effectLst/>
                <a:latin typeface="PingFang SC"/>
              </a:rPr>
              <a:t>薄膜绝缘层，然后用光刻工艺扩散两个高掺杂的</a:t>
            </a:r>
            <a:r>
              <a:rPr lang="en-US" altLang="zh-CN" b="0" i="0" dirty="0">
                <a:solidFill>
                  <a:srgbClr val="191919"/>
                </a:solidFill>
                <a:effectLst/>
                <a:latin typeface="PingFang SC"/>
              </a:rPr>
              <a:t>N</a:t>
            </a:r>
            <a:r>
              <a:rPr lang="zh-CN" altLang="en-US" b="0" i="0" dirty="0">
                <a:solidFill>
                  <a:srgbClr val="191919"/>
                </a:solidFill>
                <a:effectLst/>
                <a:latin typeface="PingFang SC"/>
              </a:rPr>
              <a:t>型区，从</a:t>
            </a:r>
            <a:r>
              <a:rPr lang="en-US" altLang="zh-CN" b="0" i="0" dirty="0">
                <a:solidFill>
                  <a:srgbClr val="191919"/>
                </a:solidFill>
                <a:effectLst/>
                <a:latin typeface="PingFang SC"/>
              </a:rPr>
              <a:t>N</a:t>
            </a:r>
            <a:r>
              <a:rPr lang="zh-CN" altLang="en-US" b="0" i="0" dirty="0">
                <a:solidFill>
                  <a:srgbClr val="191919"/>
                </a:solidFill>
                <a:effectLst/>
                <a:latin typeface="PingFang SC"/>
              </a:rPr>
              <a:t>型区引出电极，一个是漏极</a:t>
            </a:r>
            <a:r>
              <a:rPr lang="en-US" altLang="zh-CN" b="0" i="0" dirty="0">
                <a:solidFill>
                  <a:srgbClr val="191919"/>
                </a:solidFill>
                <a:effectLst/>
                <a:latin typeface="PingFang SC"/>
              </a:rPr>
              <a:t>D</a:t>
            </a:r>
            <a:r>
              <a:rPr lang="zh-CN" altLang="en-US" b="0" i="0" dirty="0">
                <a:solidFill>
                  <a:srgbClr val="191919"/>
                </a:solidFill>
                <a:effectLst/>
                <a:latin typeface="PingFang SC"/>
              </a:rPr>
              <a:t>，一个是源极</a:t>
            </a:r>
            <a:r>
              <a:rPr lang="en-US" altLang="zh-CN" b="0" i="0" dirty="0">
                <a:solidFill>
                  <a:srgbClr val="191919"/>
                </a:solidFill>
                <a:effectLst/>
                <a:latin typeface="PingFang SC"/>
              </a:rPr>
              <a:t>S</a:t>
            </a:r>
            <a:r>
              <a:rPr lang="zh-CN" altLang="en-US" b="0" i="0" dirty="0">
                <a:solidFill>
                  <a:srgbClr val="191919"/>
                </a:solidFill>
                <a:effectLst/>
                <a:latin typeface="PingFang SC"/>
              </a:rPr>
              <a:t>。在源极和漏极之间的绝缘层上镀一层金属铝作为栅极</a:t>
            </a:r>
            <a:r>
              <a:rPr lang="en-US" altLang="zh-CN" b="0" i="0" dirty="0">
                <a:solidFill>
                  <a:srgbClr val="191919"/>
                </a:solidFill>
                <a:effectLst/>
                <a:latin typeface="PingFang SC"/>
              </a:rPr>
              <a:t>G</a:t>
            </a:r>
            <a:r>
              <a:rPr lang="zh-CN" altLang="en-US" b="0" i="0" dirty="0">
                <a:solidFill>
                  <a:srgbClr val="191919"/>
                </a:solidFill>
                <a:effectLst/>
                <a:latin typeface="PingFang SC"/>
              </a:rPr>
              <a:t>。</a:t>
            </a:r>
            <a:endParaRPr lang="en-US" altLang="zh-CN" b="0" i="0" dirty="0">
              <a:solidFill>
                <a:srgbClr val="191919"/>
              </a:solidFill>
              <a:effectLst/>
              <a:latin typeface="PingFang S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P</a:t>
            </a:r>
            <a:r>
              <a:rPr lang="zh-CN" altLang="en-US" sz="12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型半导体称为</a:t>
            </a:r>
            <a:r>
              <a:rPr lang="zh-CN" altLang="en-US" sz="1200" b="1" dirty="0">
                <a:solidFill>
                  <a:srgbClr val="CC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衬底</a:t>
            </a:r>
            <a:r>
              <a:rPr lang="zh-CN" altLang="en-US" sz="1200" b="1" dirty="0">
                <a:solidFill>
                  <a:schemeClr val="bg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，</a:t>
            </a:r>
            <a:r>
              <a:rPr lang="zh-CN" altLang="en-US" sz="12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用符号</a:t>
            </a:r>
            <a:r>
              <a:rPr lang="en-US" altLang="zh-CN" sz="1200" b="1" dirty="0">
                <a:solidFill>
                  <a:srgbClr val="CC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lang="zh-CN" altLang="en-US" sz="12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表示。结合三极管，可以这样理解，栅极可以对应</a:t>
            </a:r>
            <a:r>
              <a:rPr lang="en-US" altLang="zh-CN" sz="12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lang="zh-CN" altLang="en-US" sz="12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基极，源极对应发射极，漏极（载流子的漏出处）对应集电极。耗尽层就是</a:t>
            </a:r>
            <a:r>
              <a:rPr lang="en-US" altLang="zh-CN" sz="12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PN</a:t>
            </a:r>
            <a:r>
              <a:rPr lang="zh-CN" altLang="en-US" sz="12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结。源极和漏极要导电，要冲破</a:t>
            </a:r>
            <a:r>
              <a:rPr lang="en-US" altLang="zh-CN" sz="12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en-US" sz="12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个</a:t>
            </a:r>
            <a:r>
              <a:rPr lang="en-US" altLang="zh-CN" sz="12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PN</a:t>
            </a:r>
            <a:r>
              <a:rPr lang="zh-CN" altLang="en-US" sz="12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结。</a:t>
            </a:r>
            <a:endParaRPr lang="en-US" altLang="zh-CN" sz="12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>
                <a:solidFill>
                  <a:schemeClr val="bg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N</a:t>
            </a:r>
            <a:r>
              <a:rPr lang="zh-CN" altLang="en-US" sz="1200" b="1" dirty="0">
                <a:solidFill>
                  <a:schemeClr val="bg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沟道和</a:t>
            </a:r>
            <a:r>
              <a:rPr lang="en-US" altLang="zh-CN" sz="1200" b="1" dirty="0">
                <a:solidFill>
                  <a:schemeClr val="bg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P</a:t>
            </a:r>
            <a:r>
              <a:rPr lang="zh-CN" altLang="en-US" sz="1200" b="1" dirty="0">
                <a:solidFill>
                  <a:schemeClr val="bg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沟道只有一个区别，就是衬底的电流方向。沟道就是用来导电的。</a:t>
            </a:r>
            <a:endParaRPr lang="zh-CN" altLang="en-US" sz="1200" b="1" dirty="0">
              <a:solidFill>
                <a:schemeClr val="bg2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MOSFET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的输入端是金属栅极，下面是多晶硅层。由于栅极电压是通过电场作用控制沟道中的载流子流动，而不是通过电流直接驱动，因此栅极几乎不消耗电流，这使得其输入电阻非常大。相比之下，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BJT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的输入端是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PN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结，电流需要通过这个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PN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结流动，因此其输入电阻相对较小‌。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此外，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MOSFET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的工作原理也对其高输入电阻有重要影响。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MOSFET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依赖栅极电压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KaTeX_Math"/>
              </a:rPr>
              <a:t>VGS</a:t>
            </a:r>
            <a:r>
              <a:rPr lang="zh-CN" altLang="en-US" b="0" dirty="0">
                <a:solidFill>
                  <a:srgbClr val="333333"/>
                </a:solidFill>
                <a:effectLst/>
                <a:latin typeface="KaTeX_Main"/>
              </a:rPr>
              <a:t>​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控制导通与关闭。当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KaTeX_Math"/>
              </a:rPr>
              <a:t>VGS</a:t>
            </a:r>
            <a:r>
              <a:rPr lang="zh-CN" altLang="en-US" b="0" dirty="0">
                <a:solidFill>
                  <a:srgbClr val="333333"/>
                </a:solidFill>
                <a:effectLst/>
                <a:latin typeface="KaTeX_Main"/>
              </a:rPr>
              <a:t>​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达到阈值电压时，会形成反转层，允许电子（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NMOS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）或空穴（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PMOS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）在源极和漏极之间流动。由于栅极电压是通过电场作用控制沟道中的载流子流动，而不是通过电流直接驱动，这使得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MOSFET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的输入电阻非常高‌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MOS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管是一种电压控制型器件，其工作原理是通过改变栅极与源极之间的电压（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PingFang SC"/>
              </a:rPr>
              <a:t>Vgs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）来控制漏极与源极之间的电流（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Id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）。</a:t>
            </a:r>
            <a:r>
              <a:rPr lang="en-US" altLang="zh-CN" b="0" i="0" u="none" strike="noStrike" dirty="0">
                <a:effectLst/>
                <a:latin typeface="PingFang SC"/>
                <a:hlinkClick r:id="rId3"/>
              </a:rPr>
              <a:t>NMOS</a:t>
            </a:r>
            <a:r>
              <a:rPr lang="zh-CN" altLang="en-US" b="0" i="0" u="none" strike="noStrike" dirty="0">
                <a:effectLst/>
                <a:latin typeface="PingFang SC"/>
                <a:hlinkClick r:id="rId3"/>
              </a:rPr>
              <a:t>管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的栅极与源极之间有一个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PN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结，这个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PN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结在正常工作条件下是反向偏置的，几乎没有栅极电流流过（即栅极电流非常小，可以忽略不计），因此其输入阻抗非常高‌</a:t>
            </a:r>
            <a:b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</a:br>
            <a:b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</a:br>
            <a:b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</a:b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MOS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管是一种电压控制型器件，其工作原理是通过改变栅极与源极之间的电压（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PingFang SC"/>
              </a:rPr>
              <a:t>Vgs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）来控制漏极与源极之间的电流（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Id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）。</a:t>
            </a:r>
            <a:r>
              <a:rPr lang="en-US" altLang="zh-CN" b="0" i="0" u="none" strike="noStrike" dirty="0">
                <a:effectLst/>
                <a:latin typeface="PingFang SC"/>
                <a:hlinkClick r:id="rId3"/>
              </a:rPr>
              <a:t>NMOS</a:t>
            </a:r>
            <a:r>
              <a:rPr lang="zh-CN" altLang="en-US" b="0" i="0" u="none" strike="noStrike" dirty="0">
                <a:effectLst/>
                <a:latin typeface="PingFang SC"/>
                <a:hlinkClick r:id="rId3"/>
              </a:rPr>
              <a:t>管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的栅极与源极之间有一个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PN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结，这个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PN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结在正常工作条件下是反向偏置的，几乎没有栅极电流流过（即栅极电流非常小，可以忽略不计），因此其输入阻抗非常高‌</a:t>
            </a:r>
            <a:r>
              <a:rPr lang="zh-CN" altLang="en-US" b="0" i="0" dirty="0">
                <a:solidFill>
                  <a:srgbClr val="191919"/>
                </a:solidFill>
                <a:effectLst/>
                <a:latin typeface="PingFang SC"/>
              </a:rPr>
              <a:t>。</a:t>
            </a:r>
            <a:endParaRPr lang="en-US" altLang="zh-CN" b="0" i="0" dirty="0">
              <a:solidFill>
                <a:srgbClr val="191919"/>
              </a:solidFill>
              <a:effectLst/>
              <a:latin typeface="PingFang SC"/>
            </a:endParaRPr>
          </a:p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PingFang SC"/>
              </a:rPr>
              <a:t>MOS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管不讨论输入特性的原因是其输入电流理论上为零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‌。输入特性曲线通常描述的是输入电压与输入电流之间的关系。对于电压控制的器件，如双极型晶体管（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BJT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），输入特性曲线展示了基极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-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发射极电压与基极电流之间的关系。然而，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MOS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管（包括</a:t>
            </a:r>
            <a:r>
              <a:rPr lang="en-US" altLang="zh-CN" b="0" i="0" u="none" strike="noStrike" dirty="0">
                <a:effectLst/>
                <a:latin typeface="PingFang SC"/>
                <a:hlinkClick r:id="rId4"/>
              </a:rPr>
              <a:t>NMOS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和</a:t>
            </a:r>
            <a:r>
              <a:rPr lang="en-US" altLang="zh-CN" b="0" i="0" u="none" strike="noStrike" dirty="0">
                <a:effectLst/>
                <a:latin typeface="PingFang SC"/>
                <a:hlinkClick r:id="rId5"/>
              </a:rPr>
              <a:t>PMOS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）的输入电流从理论上讲恒为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，因此不讨论输入特性曲线‌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191919"/>
                </a:solidFill>
                <a:effectLst/>
                <a:latin typeface="PingFang SC"/>
              </a:rPr>
              <a:t>转移特性曲线的斜率</a:t>
            </a:r>
            <a:r>
              <a:rPr lang="en-US" altLang="zh-CN" b="0" i="0" dirty="0">
                <a:solidFill>
                  <a:srgbClr val="191919"/>
                </a:solidFill>
                <a:effectLst/>
                <a:latin typeface="PingFang SC"/>
              </a:rPr>
              <a:t>gm</a:t>
            </a:r>
            <a:r>
              <a:rPr lang="zh-CN" altLang="en-US" b="0" i="0" dirty="0">
                <a:solidFill>
                  <a:srgbClr val="191919"/>
                </a:solidFill>
                <a:effectLst/>
                <a:latin typeface="PingFang SC"/>
              </a:rPr>
              <a:t>的大小反映了栅源电压对漏极电流的控制作用。 </a:t>
            </a:r>
            <a:r>
              <a:rPr lang="en-US" altLang="zh-CN" b="0" i="0" dirty="0">
                <a:solidFill>
                  <a:srgbClr val="191919"/>
                </a:solidFill>
                <a:effectLst/>
                <a:latin typeface="PingFang SC"/>
              </a:rPr>
              <a:t>gm</a:t>
            </a:r>
            <a:r>
              <a:rPr lang="zh-CN" altLang="en-US" b="0" i="0" dirty="0">
                <a:solidFill>
                  <a:srgbClr val="191919"/>
                </a:solidFill>
                <a:effectLst/>
                <a:latin typeface="PingFang SC"/>
              </a:rPr>
              <a:t>的量纲为</a:t>
            </a:r>
            <a:r>
              <a:rPr lang="en-US" altLang="zh-CN" b="0" i="0" dirty="0">
                <a:solidFill>
                  <a:srgbClr val="191919"/>
                </a:solidFill>
                <a:effectLst/>
                <a:latin typeface="PingFang SC"/>
              </a:rPr>
              <a:t>mA/V</a:t>
            </a:r>
            <a:r>
              <a:rPr lang="zh-CN" altLang="en-US" b="0" i="0" dirty="0">
                <a:solidFill>
                  <a:srgbClr val="191919"/>
                </a:solidFill>
                <a:effectLst/>
                <a:latin typeface="PingFang SC"/>
              </a:rPr>
              <a:t>，所以</a:t>
            </a:r>
            <a:r>
              <a:rPr lang="en-US" altLang="zh-CN" b="0" i="0" dirty="0">
                <a:solidFill>
                  <a:srgbClr val="191919"/>
                </a:solidFill>
                <a:effectLst/>
                <a:latin typeface="PingFang SC"/>
              </a:rPr>
              <a:t>gm</a:t>
            </a:r>
            <a:r>
              <a:rPr lang="zh-CN" altLang="en-US" b="0" i="0" dirty="0">
                <a:solidFill>
                  <a:srgbClr val="191919"/>
                </a:solidFill>
                <a:effectLst/>
                <a:latin typeface="PingFang SC"/>
              </a:rPr>
              <a:t>也称为跨导。跨导。</a:t>
            </a:r>
            <a:endParaRPr lang="en-US" altLang="zh-CN" b="0" i="0" dirty="0">
              <a:solidFill>
                <a:srgbClr val="191919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191919"/>
              </a:solidFill>
              <a:effectLst/>
              <a:latin typeface="PingFang SC"/>
            </a:endParaRPr>
          </a:p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MOS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管是一种电压控制型器件，其工作原理是通过改变栅极与源极之间的电压（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PingFang SC"/>
              </a:rPr>
              <a:t>Vgs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）来控制漏极与源极之间的电流（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Id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）。</a:t>
            </a:r>
            <a:r>
              <a:rPr lang="en-US" altLang="zh-CN" b="0" i="0" u="none" strike="noStrike" dirty="0">
                <a:effectLst/>
                <a:latin typeface="PingFang SC"/>
                <a:hlinkClick r:id="rId3"/>
              </a:rPr>
              <a:t>NMOS</a:t>
            </a:r>
            <a:r>
              <a:rPr lang="zh-CN" altLang="en-US" b="0" i="0" u="none" strike="noStrike" dirty="0">
                <a:effectLst/>
                <a:latin typeface="PingFang SC"/>
                <a:hlinkClick r:id="rId3"/>
              </a:rPr>
              <a:t>管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的栅极与源极之间有一个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PN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结，这个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PN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结在正常工作条件下是反向偏置的，几乎没有栅极电流流过（即栅极电流非常小，可以忽略不计），因此其输入阻抗非常高‌</a:t>
            </a:r>
            <a:r>
              <a:rPr lang="zh-CN" altLang="en-US" b="0" i="0" dirty="0">
                <a:solidFill>
                  <a:srgbClr val="191919"/>
                </a:solidFill>
                <a:effectLst/>
                <a:latin typeface="PingFang SC"/>
              </a:rPr>
              <a:t>。</a:t>
            </a:r>
            <a:endParaRPr lang="en-US" altLang="zh-CN" b="0" i="0" dirty="0">
              <a:solidFill>
                <a:srgbClr val="191919"/>
              </a:solidFill>
              <a:effectLst/>
              <a:latin typeface="PingFang SC"/>
            </a:endParaRPr>
          </a:p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PingFang SC"/>
              </a:rPr>
              <a:t>MOS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管不讨论输入特性的原因是其输入电流理论上为零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‌。输入特性曲线通常描述的是输入电压与输入电流之间的关系。对于电压控制的器件，如双极型晶体管（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BJT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），输入特性曲线展示了基极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-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发射极电压与基极电流之间的关系。然而，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MOS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管（包括</a:t>
            </a:r>
            <a:r>
              <a:rPr lang="en-US" altLang="zh-CN" b="0" i="0" u="none" strike="noStrike" dirty="0">
                <a:effectLst/>
                <a:latin typeface="PingFang SC"/>
                <a:hlinkClick r:id="rId4"/>
              </a:rPr>
              <a:t>NMOS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和</a:t>
            </a:r>
            <a:r>
              <a:rPr lang="en-US" altLang="zh-CN" b="0" i="0" u="none" strike="noStrike" dirty="0">
                <a:effectLst/>
                <a:latin typeface="PingFang SC"/>
                <a:hlinkClick r:id="rId5"/>
              </a:rPr>
              <a:t>PMOS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）的输入电流从理论上讲恒为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，因此不讨论输入特性曲线‌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由于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MOS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管的栅极电流几乎为零，输入特性曲线（如果有的话）将是一条几乎平行于电压轴的直线，因为输入电流几乎不随输入电压变化。因此，输入特性曲线对于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MOS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管来说并不具有实际意义。相比之下，</a:t>
            </a:r>
            <a:r>
              <a:rPr lang="zh-CN" altLang="en-US" b="0" i="0" u="none" strike="noStrike" dirty="0">
                <a:effectLst/>
                <a:latin typeface="PingFang SC"/>
                <a:hlinkClick r:id="rId6"/>
              </a:rPr>
              <a:t>转移特性曲线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描述的是漏极电流（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Id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）与栅源电压（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PingFang SC"/>
              </a:rPr>
              <a:t>Vgs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）之间的关系，直接展示了栅源电压如何控制漏极电流，这是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MOS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管最重要的操作特性。在电路分析和设计中，转移特性曲线比输入特性曲线更能反映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MOS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管的实际工作情况‌</a:t>
            </a:r>
            <a:b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</a:br>
            <a:b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</a:b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7" name="Title 1"/>
          <p:cNvSpPr txBox="1"/>
          <p:nvPr userDrawn="1"/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8" name="Title 1"/>
          <p:cNvSpPr txBox="1"/>
          <p:nvPr userDrawn="1"/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pic>
        <p:nvPicPr>
          <p:cNvPr id="9" name="图片 50" descr="E:\常用信件\PPT模板\2023厦大ppt大赛素材-标志性事物\标志性建筑7.jpg标志性建筑7"/>
          <p:cNvPicPr>
            <a:picLocks noChangeAspect="1"/>
          </p:cNvPicPr>
          <p:nvPr userDrawn="1"/>
        </p:nvPicPr>
        <p:blipFill rotWithShape="1">
          <a:blip r:embed="rId2"/>
          <a:srcRect t="13915" b="33302"/>
          <a:stretch>
            <a:fillRect/>
          </a:stretch>
        </p:blipFill>
        <p:spPr>
          <a:xfrm flipH="1">
            <a:off x="-1" y="-27622"/>
            <a:ext cx="12193865" cy="3456622"/>
          </a:xfrm>
          <a:prstGeom prst="rect">
            <a:avLst/>
          </a:prstGeom>
        </p:spPr>
      </p:pic>
      <p:pic>
        <p:nvPicPr>
          <p:cNvPr id="10" name="图片 1"/>
          <p:cNvPicPr>
            <a:picLocks noChangeAspect="1"/>
          </p:cNvPicPr>
          <p:nvPr userDrawn="1"/>
        </p:nvPicPr>
        <p:blipFill>
          <a:blip r:embed="rId3"/>
          <a:srcRect l="22529" t="16560" r="24548" b="12333"/>
          <a:stretch>
            <a:fillRect/>
          </a:stretch>
        </p:blipFill>
        <p:spPr>
          <a:xfrm>
            <a:off x="5105578" y="2503488"/>
            <a:ext cx="1850700" cy="1866072"/>
          </a:xfrm>
          <a:prstGeom prst="ellipse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1377998"/>
            <a:ext cx="10515600" cy="1325563"/>
          </a:xfrm>
        </p:spPr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41"/>
          <p:cNvSpPr/>
          <p:nvPr userDrawn="1"/>
        </p:nvSpPr>
        <p:spPr>
          <a:xfrm>
            <a:off x="-8545" y="3206"/>
            <a:ext cx="2385985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1"/>
          <p:cNvSpPr/>
          <p:nvPr userDrawn="1"/>
        </p:nvSpPr>
        <p:spPr>
          <a:xfrm>
            <a:off x="2377440" y="14063"/>
            <a:ext cx="2385985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科研工作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9706192" y="-5340"/>
            <a:ext cx="2485808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41"/>
          <p:cNvSpPr/>
          <p:nvPr userDrawn="1"/>
        </p:nvSpPr>
        <p:spPr>
          <a:xfrm>
            <a:off x="4763425" y="14063"/>
            <a:ext cx="2485808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教学工作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6" name="矩形 41"/>
          <p:cNvSpPr/>
          <p:nvPr userDrawn="1"/>
        </p:nvSpPr>
        <p:spPr>
          <a:xfrm>
            <a:off x="7249233" y="2360"/>
            <a:ext cx="2485808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公益服务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41"/>
          <p:cNvSpPr/>
          <p:nvPr userDrawn="1"/>
        </p:nvSpPr>
        <p:spPr>
          <a:xfrm>
            <a:off x="-8545" y="3206"/>
            <a:ext cx="2385985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1"/>
          <p:cNvSpPr/>
          <p:nvPr userDrawn="1"/>
        </p:nvSpPr>
        <p:spPr>
          <a:xfrm>
            <a:off x="2377440" y="14063"/>
            <a:ext cx="2385985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科研工作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9706192" y="-5340"/>
            <a:ext cx="2485808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41"/>
          <p:cNvSpPr/>
          <p:nvPr userDrawn="1"/>
        </p:nvSpPr>
        <p:spPr>
          <a:xfrm>
            <a:off x="4763425" y="14063"/>
            <a:ext cx="2485808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教学工作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矩形 41"/>
          <p:cNvSpPr/>
          <p:nvPr userDrawn="1"/>
        </p:nvSpPr>
        <p:spPr>
          <a:xfrm>
            <a:off x="7249233" y="2360"/>
            <a:ext cx="2485808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公益服务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41"/>
          <p:cNvSpPr/>
          <p:nvPr userDrawn="1"/>
        </p:nvSpPr>
        <p:spPr>
          <a:xfrm>
            <a:off x="-8545" y="3206"/>
            <a:ext cx="2385985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1"/>
          <p:cNvSpPr/>
          <p:nvPr userDrawn="1"/>
        </p:nvSpPr>
        <p:spPr>
          <a:xfrm>
            <a:off x="2377440" y="14063"/>
            <a:ext cx="2385985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科研工作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9706192" y="-5340"/>
            <a:ext cx="2485808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41"/>
          <p:cNvSpPr/>
          <p:nvPr userDrawn="1"/>
        </p:nvSpPr>
        <p:spPr>
          <a:xfrm>
            <a:off x="4763425" y="14063"/>
            <a:ext cx="2485808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教学工作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6" name="矩形 41"/>
          <p:cNvSpPr/>
          <p:nvPr userDrawn="1"/>
        </p:nvSpPr>
        <p:spPr>
          <a:xfrm>
            <a:off x="7249233" y="2360"/>
            <a:ext cx="2485808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公益服务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41"/>
          <p:cNvSpPr/>
          <p:nvPr userDrawn="1"/>
        </p:nvSpPr>
        <p:spPr>
          <a:xfrm>
            <a:off x="-8545" y="3206"/>
            <a:ext cx="2385985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1"/>
          <p:cNvSpPr/>
          <p:nvPr userDrawn="1"/>
        </p:nvSpPr>
        <p:spPr>
          <a:xfrm>
            <a:off x="2377440" y="14063"/>
            <a:ext cx="2385985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科研工作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9706192" y="-5340"/>
            <a:ext cx="2485808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41"/>
          <p:cNvSpPr/>
          <p:nvPr userDrawn="1"/>
        </p:nvSpPr>
        <p:spPr>
          <a:xfrm>
            <a:off x="4763425" y="14063"/>
            <a:ext cx="2485808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教学工作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6" name="矩形 41"/>
          <p:cNvSpPr/>
          <p:nvPr userDrawn="1"/>
        </p:nvSpPr>
        <p:spPr>
          <a:xfrm>
            <a:off x="7249233" y="2360"/>
            <a:ext cx="2485808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公益服务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41"/>
          <p:cNvSpPr/>
          <p:nvPr userDrawn="1"/>
        </p:nvSpPr>
        <p:spPr>
          <a:xfrm>
            <a:off x="-8545" y="3206"/>
            <a:ext cx="2385985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1"/>
          <p:cNvSpPr/>
          <p:nvPr userDrawn="1"/>
        </p:nvSpPr>
        <p:spPr>
          <a:xfrm>
            <a:off x="2377440" y="14063"/>
            <a:ext cx="2385985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科研工作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9706192" y="-5340"/>
            <a:ext cx="2485808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41"/>
          <p:cNvSpPr/>
          <p:nvPr userDrawn="1"/>
        </p:nvSpPr>
        <p:spPr>
          <a:xfrm>
            <a:off x="4763425" y="14063"/>
            <a:ext cx="2485808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教学工作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6" name="矩形 41"/>
          <p:cNvSpPr/>
          <p:nvPr userDrawn="1"/>
        </p:nvSpPr>
        <p:spPr>
          <a:xfrm>
            <a:off x="7249233" y="2360"/>
            <a:ext cx="2485808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公益服务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41"/>
          <p:cNvSpPr/>
          <p:nvPr userDrawn="1"/>
        </p:nvSpPr>
        <p:spPr>
          <a:xfrm>
            <a:off x="0" y="0"/>
            <a:ext cx="3073138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 41"/>
          <p:cNvSpPr/>
          <p:nvPr userDrawn="1"/>
        </p:nvSpPr>
        <p:spPr>
          <a:xfrm>
            <a:off x="9169138" y="0"/>
            <a:ext cx="3022862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3073138" y="0"/>
            <a:ext cx="3022862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工作业绩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矩形 41"/>
          <p:cNvSpPr/>
          <p:nvPr userDrawn="1"/>
        </p:nvSpPr>
        <p:spPr>
          <a:xfrm>
            <a:off x="6096000" y="0"/>
            <a:ext cx="3048000" cy="4710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特色成果总结</a:t>
            </a:r>
            <a:endParaRPr lang="en-US" altLang="zh-CN" sz="2000" b="1" kern="1200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7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41"/>
          <p:cNvSpPr/>
          <p:nvPr userDrawn="1"/>
        </p:nvSpPr>
        <p:spPr>
          <a:xfrm>
            <a:off x="-1" y="0"/>
            <a:ext cx="3082566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1"/>
          <p:cNvSpPr/>
          <p:nvPr userDrawn="1"/>
        </p:nvSpPr>
        <p:spPr>
          <a:xfrm>
            <a:off x="6096000" y="13493"/>
            <a:ext cx="3082566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代表性成果及其贡献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 41"/>
          <p:cNvSpPr/>
          <p:nvPr userDrawn="1"/>
        </p:nvSpPr>
        <p:spPr>
          <a:xfrm>
            <a:off x="9178566" y="0"/>
            <a:ext cx="3013434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3082564" y="-1"/>
            <a:ext cx="3013435" cy="4710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公益工作业绩</a:t>
            </a:r>
            <a:endParaRPr lang="zh-CN" altLang="en-US" sz="2000" b="1" kern="1200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41"/>
          <p:cNvSpPr/>
          <p:nvPr userDrawn="1"/>
        </p:nvSpPr>
        <p:spPr>
          <a:xfrm>
            <a:off x="0" y="0"/>
            <a:ext cx="3073138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 41"/>
          <p:cNvSpPr/>
          <p:nvPr userDrawn="1"/>
        </p:nvSpPr>
        <p:spPr>
          <a:xfrm>
            <a:off x="9169138" y="0"/>
            <a:ext cx="3022862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3073138" y="0"/>
            <a:ext cx="3022862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工作业绩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矩形 41"/>
          <p:cNvSpPr/>
          <p:nvPr userDrawn="1"/>
        </p:nvSpPr>
        <p:spPr>
          <a:xfrm>
            <a:off x="6096000" y="0"/>
            <a:ext cx="3048000" cy="4710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教学代表性成果及其贡献</a:t>
            </a:r>
            <a:endParaRPr lang="zh-CN" altLang="en-US" sz="2000" b="1" kern="1200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41"/>
          <p:cNvSpPr/>
          <p:nvPr userDrawn="1"/>
        </p:nvSpPr>
        <p:spPr>
          <a:xfrm>
            <a:off x="-1" y="0"/>
            <a:ext cx="3082566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1"/>
          <p:cNvSpPr/>
          <p:nvPr userDrawn="1"/>
        </p:nvSpPr>
        <p:spPr>
          <a:xfrm>
            <a:off x="6096000" y="13493"/>
            <a:ext cx="3082566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代表性成果及其贡献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 41"/>
          <p:cNvSpPr/>
          <p:nvPr userDrawn="1"/>
        </p:nvSpPr>
        <p:spPr>
          <a:xfrm>
            <a:off x="9178566" y="0"/>
            <a:ext cx="3013434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3082564" y="-1"/>
            <a:ext cx="3013435" cy="4710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教学工作业绩</a:t>
            </a:r>
            <a:endParaRPr lang="zh-CN" altLang="en-US" sz="2000" b="1" kern="1200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41"/>
          <p:cNvSpPr/>
          <p:nvPr userDrawn="1"/>
        </p:nvSpPr>
        <p:spPr>
          <a:xfrm>
            <a:off x="0" y="0"/>
            <a:ext cx="3073138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 41"/>
          <p:cNvSpPr/>
          <p:nvPr userDrawn="1"/>
        </p:nvSpPr>
        <p:spPr>
          <a:xfrm>
            <a:off x="9169138" y="0"/>
            <a:ext cx="3022862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3073138" y="0"/>
            <a:ext cx="3022862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工作业绩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矩形 41"/>
          <p:cNvSpPr/>
          <p:nvPr userDrawn="1"/>
        </p:nvSpPr>
        <p:spPr>
          <a:xfrm>
            <a:off x="6096000" y="0"/>
            <a:ext cx="3048000" cy="4710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科研代表性成果及其贡献</a:t>
            </a:r>
            <a:endParaRPr lang="zh-CN" altLang="en-US" sz="2000" b="1" kern="1200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41"/>
          <p:cNvSpPr/>
          <p:nvPr userDrawn="1"/>
        </p:nvSpPr>
        <p:spPr>
          <a:xfrm>
            <a:off x="-1" y="0"/>
            <a:ext cx="3082566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1"/>
          <p:cNvSpPr/>
          <p:nvPr userDrawn="1"/>
        </p:nvSpPr>
        <p:spPr>
          <a:xfrm>
            <a:off x="6096000" y="13493"/>
            <a:ext cx="3082566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代表性成果及其贡献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 41"/>
          <p:cNvSpPr/>
          <p:nvPr userDrawn="1"/>
        </p:nvSpPr>
        <p:spPr>
          <a:xfrm>
            <a:off x="9178566" y="0"/>
            <a:ext cx="3013434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3082564" y="-1"/>
            <a:ext cx="3013435" cy="4710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科研工作业绩</a:t>
            </a:r>
            <a:endParaRPr lang="zh-CN" altLang="en-US" sz="2000" b="1" kern="1200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41"/>
          <p:cNvSpPr/>
          <p:nvPr userDrawn="1"/>
        </p:nvSpPr>
        <p:spPr>
          <a:xfrm>
            <a:off x="-8546" y="3206"/>
            <a:ext cx="3047071" cy="4710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kern="1200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1"/>
          <p:cNvSpPr/>
          <p:nvPr userDrawn="1"/>
        </p:nvSpPr>
        <p:spPr>
          <a:xfrm>
            <a:off x="3048930" y="-6185"/>
            <a:ext cx="3047070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工作业绩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矩形 41"/>
          <p:cNvSpPr/>
          <p:nvPr userDrawn="1"/>
        </p:nvSpPr>
        <p:spPr>
          <a:xfrm>
            <a:off x="6096977" y="-6185"/>
            <a:ext cx="3047069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代表性成果及其贡献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9139232" y="1552"/>
            <a:ext cx="3057536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41"/>
          <p:cNvSpPr/>
          <p:nvPr userDrawn="1"/>
        </p:nvSpPr>
        <p:spPr>
          <a:xfrm>
            <a:off x="-1" y="1228"/>
            <a:ext cx="3054285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矩形 41"/>
          <p:cNvSpPr/>
          <p:nvPr userDrawn="1"/>
        </p:nvSpPr>
        <p:spPr>
          <a:xfrm>
            <a:off x="3054284" y="-1883"/>
            <a:ext cx="3041716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工作业绩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矩形 41"/>
          <p:cNvSpPr/>
          <p:nvPr userDrawn="1"/>
        </p:nvSpPr>
        <p:spPr>
          <a:xfrm>
            <a:off x="6108568" y="0"/>
            <a:ext cx="3029149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代表性成果及其贡献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矩形 41"/>
          <p:cNvSpPr/>
          <p:nvPr userDrawn="1"/>
        </p:nvSpPr>
        <p:spPr>
          <a:xfrm>
            <a:off x="9150284" y="0"/>
            <a:ext cx="3029148" cy="4710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41"/>
          <p:cNvSpPr/>
          <p:nvPr userDrawn="1"/>
        </p:nvSpPr>
        <p:spPr>
          <a:xfrm>
            <a:off x="-8546" y="3206"/>
            <a:ext cx="3047071" cy="4710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kern="1200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1"/>
          <p:cNvSpPr/>
          <p:nvPr userDrawn="1"/>
        </p:nvSpPr>
        <p:spPr>
          <a:xfrm>
            <a:off x="3048930" y="-6185"/>
            <a:ext cx="3047070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工作业绩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矩形 41"/>
          <p:cNvSpPr/>
          <p:nvPr userDrawn="1"/>
        </p:nvSpPr>
        <p:spPr>
          <a:xfrm>
            <a:off x="6096977" y="-6185"/>
            <a:ext cx="3047069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代表性成果及其贡献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9139232" y="1552"/>
            <a:ext cx="3057536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41"/>
          <p:cNvSpPr/>
          <p:nvPr userDrawn="1"/>
        </p:nvSpPr>
        <p:spPr>
          <a:xfrm>
            <a:off x="-20929" y="-7030"/>
            <a:ext cx="12187232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-155520" y="-7030"/>
            <a:ext cx="12503040" cy="699164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4.jpeg"/><Relationship Id="rId1" Type="http://schemas.openxmlformats.org/officeDocument/2006/relationships/slide" Target="slid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7.emf"/><Relationship Id="rId1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7.emf"/><Relationship Id="rId1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7.emf"/><Relationship Id="rId1" Type="http://schemas.openxmlformats.org/officeDocument/2006/relationships/oleObject" Target="../embeddings/oleObject7.bin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7.emf"/><Relationship Id="rId1" Type="http://schemas.openxmlformats.org/officeDocument/2006/relationships/oleObject" Target="../embeddings/oleObject9.bin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9.emf"/><Relationship Id="rId1" Type="http://schemas.openxmlformats.org/officeDocument/2006/relationships/oleObject" Target="../embeddings/oleObject11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2731582" y="4381059"/>
            <a:ext cx="6440079" cy="7856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MOS/CMOS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54204"/>
            <a:ext cx="12273699" cy="6966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4"/>
          <p:cNvSpPr/>
          <p:nvPr/>
        </p:nvSpPr>
        <p:spPr>
          <a:xfrm>
            <a:off x="-155644" y="-54204"/>
            <a:ext cx="3318235" cy="6966408"/>
          </a:xfrm>
          <a:prstGeom prst="rect">
            <a:avLst/>
          </a:prstGeom>
          <a:solidFill>
            <a:srgbClr val="4246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13"/>
          <p:cNvSpPr/>
          <p:nvPr/>
        </p:nvSpPr>
        <p:spPr>
          <a:xfrm>
            <a:off x="4477160" y="1001098"/>
            <a:ext cx="6690976" cy="4399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indent="0" algn="l" fontAlgn="auto">
              <a:lnSpc>
                <a:spcPct val="25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一、结型场效应管</a:t>
            </a:r>
            <a:endParaRPr lang="en-US" altLang="zh-CN" sz="2800" b="1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lvl="2">
              <a:lnSpc>
                <a:spcPct val="250000"/>
              </a:lnSpc>
            </a:pPr>
            <a:r>
              <a:rPr lang="en-US" altLang="zh-CN" sz="2800" b="1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二、绝缘栅型场效应管（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顺序调换</a:t>
            </a:r>
            <a:r>
              <a:rPr lang="zh-CN" altLang="en-US" sz="2800" b="1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en-US" altLang="zh-CN" sz="2800" b="1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lvl="2">
              <a:lnSpc>
                <a:spcPct val="250000"/>
              </a:lnSpc>
            </a:pPr>
            <a:r>
              <a:rPr lang="zh-CN" altLang="en-US" sz="2800" b="1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三、场效应管的主要参数</a:t>
            </a:r>
            <a:endParaRPr lang="en-US" altLang="zh-CN" sz="2800" b="1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lvl="2">
              <a:lnSpc>
                <a:spcPct val="250000"/>
              </a:lnSpc>
            </a:pPr>
            <a:r>
              <a:rPr lang="zh-CN" altLang="en-US" sz="2800" b="1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四、场效应管与晶体管的比较</a:t>
            </a:r>
            <a:endParaRPr lang="en-US" altLang="zh-CN" sz="2800" b="1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文本框 5"/>
          <p:cNvSpPr txBox="1"/>
          <p:nvPr/>
        </p:nvSpPr>
        <p:spPr>
          <a:xfrm>
            <a:off x="198435" y="1575705"/>
            <a:ext cx="26100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MOS/CMOS</a:t>
            </a:r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</a:t>
            </a:r>
            <a:endParaRPr lang="zh-CN" altLang="en-US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27"/>
          <p:cNvPicPr>
            <a:picLocks noChangeAspect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33" y="5709512"/>
            <a:ext cx="2823368" cy="11484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1052195" y="1042035"/>
            <a:ext cx="5768340" cy="20713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80000"/>
              </a:lnSpc>
              <a:defRPr/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绝缘栅型场效应管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80000"/>
              </a:lnSpc>
              <a:defRPr/>
            </a:pP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——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增强型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MOSFET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1727835" y="3876040"/>
            <a:ext cx="8735695" cy="21272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视频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002CMOS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绝缘栅型场效应管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——N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沟道增强型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MOSFET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4" name="Rectangle 3">
            <a:hlinkClick r:id="rId1" action="ppaction://hlinksldjump"/>
          </p:cNvPr>
          <p:cNvSpPr>
            <a:spLocks noChangeArrowheads="1"/>
          </p:cNvSpPr>
          <p:nvPr/>
        </p:nvSpPr>
        <p:spPr bwMode="auto">
          <a:xfrm>
            <a:off x="287383" y="633108"/>
            <a:ext cx="26019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b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8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1. </a:t>
            </a:r>
            <a:r>
              <a:rPr lang="zh-CN" altLang="en-US" sz="2800" b="1" dirty="0">
                <a:solidFill>
                  <a:srgbClr val="8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结构</a:t>
            </a:r>
            <a:endParaRPr lang="zh-CN" altLang="en-US" sz="28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3" name="Text Box 3" descr="羊皮纸"/>
          <p:cNvSpPr txBox="1">
            <a:spLocks noChangeArrowheads="1"/>
          </p:cNvSpPr>
          <p:nvPr/>
        </p:nvSpPr>
        <p:spPr bwMode="auto">
          <a:xfrm>
            <a:off x="3377424" y="5912862"/>
            <a:ext cx="1371600" cy="556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5000"/>
              </a:lnSpc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剖面图</a:t>
            </a:r>
            <a:endParaRPr kumimoji="1" lang="zh-CN" altLang="en-US" sz="2800" b="1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grpSp>
        <p:nvGrpSpPr>
          <p:cNvPr id="4" name="Group 4"/>
          <p:cNvGrpSpPr/>
          <p:nvPr/>
        </p:nvGrpSpPr>
        <p:grpSpPr bwMode="auto">
          <a:xfrm>
            <a:off x="7632656" y="1225245"/>
            <a:ext cx="3725863" cy="4213223"/>
            <a:chOff x="3502" y="1567"/>
            <a:chExt cx="2347" cy="2654"/>
          </a:xfrm>
        </p:grpSpPr>
        <p:graphicFrame>
          <p:nvGraphicFramePr>
            <p:cNvPr id="5" name="Object 5"/>
            <p:cNvGraphicFramePr>
              <a:graphicFrameLocks noChangeAspect="1"/>
            </p:cNvGraphicFramePr>
            <p:nvPr/>
          </p:nvGraphicFramePr>
          <p:xfrm>
            <a:off x="3502" y="1567"/>
            <a:ext cx="2347" cy="2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Picture2" r:id="rId3" imgW="1134110" imgH="1057910" progId="Word.Picture.8">
                    <p:embed/>
                  </p:oleObj>
                </mc:Choice>
                <mc:Fallback>
                  <p:oleObj name="Picture2" r:id="rId3" imgW="1134110" imgH="1057910" progId="Word.Picture.8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2" y="1567"/>
                          <a:ext cx="2347" cy="219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 Box 6" descr="羊皮纸"/>
            <p:cNvSpPr txBox="1">
              <a:spLocks noChangeArrowheads="1"/>
            </p:cNvSpPr>
            <p:nvPr/>
          </p:nvSpPr>
          <p:spPr bwMode="auto">
            <a:xfrm>
              <a:off x="4334" y="3870"/>
              <a:ext cx="864" cy="3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2"/>
                    <a:srcRect/>
                    <a:tile tx="0" ty="0" sx="100000" sy="100000" flip="none" algn="tl"/>
                  </a:blip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kumimoji="1" lang="zh-CN" altLang="en-US" sz="2800" b="1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符号</a:t>
              </a:r>
              <a:endParaRPr kumimoji="1" lang="zh-CN" altLang="en-US" sz="2800" b="1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33607" y="1225630"/>
          <a:ext cx="6459234" cy="4687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5" imgW="1943100" imgH="1409700" progId="Word.Picture.8">
                  <p:embed/>
                </p:oleObj>
              </mc:Choice>
              <mc:Fallback>
                <p:oleObj name="" r:id="rId5" imgW="1943100" imgH="1409700" progId="Word.Picture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607" y="1225630"/>
                        <a:ext cx="6459234" cy="46872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Group 27"/>
          <p:cNvGrpSpPr/>
          <p:nvPr/>
        </p:nvGrpSpPr>
        <p:grpSpPr>
          <a:xfrm>
            <a:off x="9899049" y="5569924"/>
            <a:ext cx="1805271" cy="1099488"/>
            <a:chOff x="9899049" y="5569924"/>
            <a:chExt cx="1694881" cy="1099488"/>
          </a:xfrm>
        </p:grpSpPr>
        <p:grpSp>
          <p:nvGrpSpPr>
            <p:cNvPr id="12" name="Group 11"/>
            <p:cNvGrpSpPr/>
            <p:nvPr/>
          </p:nvGrpSpPr>
          <p:grpSpPr>
            <a:xfrm rot="16200000">
              <a:off x="10556240" y="5631722"/>
              <a:ext cx="380499" cy="1694881"/>
              <a:chOff x="5659278" y="1796449"/>
              <a:chExt cx="380499" cy="1694881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5664968" y="1796449"/>
                <a:ext cx="374809" cy="988171"/>
                <a:chOff x="5664968" y="1796449"/>
                <a:chExt cx="374809" cy="988171"/>
              </a:xfrm>
            </p:grpSpPr>
            <p:cxnSp>
              <p:nvCxnSpPr>
                <p:cNvPr id="19" name="Straight Connector 18"/>
                <p:cNvCxnSpPr/>
                <p:nvPr/>
              </p:nvCxnSpPr>
              <p:spPr>
                <a:xfrm>
                  <a:off x="5854972" y="1796449"/>
                  <a:ext cx="0" cy="363433"/>
                </a:xfrm>
                <a:prstGeom prst="line">
                  <a:avLst/>
                </a:prstGeom>
                <a:ln w="3810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Isosceles Triangle 19"/>
                <p:cNvSpPr/>
                <p:nvPr/>
              </p:nvSpPr>
              <p:spPr>
                <a:xfrm>
                  <a:off x="5670162" y="2169484"/>
                  <a:ext cx="369615" cy="296880"/>
                </a:xfrm>
                <a:prstGeom prst="triangle">
                  <a:avLst/>
                </a:prstGeom>
                <a:noFill/>
                <a:ln w="3810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1" name="Straight Connector 20"/>
                <p:cNvCxnSpPr/>
                <p:nvPr/>
              </p:nvCxnSpPr>
              <p:spPr>
                <a:xfrm>
                  <a:off x="5849775" y="2480360"/>
                  <a:ext cx="0" cy="304260"/>
                </a:xfrm>
                <a:prstGeom prst="line">
                  <a:avLst/>
                </a:prstGeom>
                <a:ln w="3810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/>
                <p:cNvCxnSpPr/>
                <p:nvPr/>
              </p:nvCxnSpPr>
              <p:spPr>
                <a:xfrm>
                  <a:off x="5664968" y="2159882"/>
                  <a:ext cx="369615" cy="0"/>
                </a:xfrm>
                <a:prstGeom prst="line">
                  <a:avLst/>
                </a:prstGeom>
                <a:ln w="3810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" name="Group 13"/>
              <p:cNvGrpSpPr/>
              <p:nvPr/>
            </p:nvGrpSpPr>
            <p:grpSpPr>
              <a:xfrm rot="10800000">
                <a:off x="5659278" y="2503159"/>
                <a:ext cx="374809" cy="988171"/>
                <a:chOff x="5664968" y="1796449"/>
                <a:chExt cx="374809" cy="988171"/>
              </a:xfrm>
            </p:grpSpPr>
            <p:cxnSp>
              <p:nvCxnSpPr>
                <p:cNvPr id="15" name="Straight Connector 14"/>
                <p:cNvCxnSpPr/>
                <p:nvPr/>
              </p:nvCxnSpPr>
              <p:spPr>
                <a:xfrm>
                  <a:off x="5854972" y="1796449"/>
                  <a:ext cx="0" cy="363433"/>
                </a:xfrm>
                <a:prstGeom prst="line">
                  <a:avLst/>
                </a:prstGeom>
                <a:ln w="3810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Isosceles Triangle 15"/>
                <p:cNvSpPr/>
                <p:nvPr/>
              </p:nvSpPr>
              <p:spPr>
                <a:xfrm>
                  <a:off x="5670162" y="2169484"/>
                  <a:ext cx="369615" cy="296880"/>
                </a:xfrm>
                <a:prstGeom prst="triangle">
                  <a:avLst/>
                </a:prstGeom>
                <a:noFill/>
                <a:ln w="3810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7" name="Straight Connector 16"/>
                <p:cNvCxnSpPr/>
                <p:nvPr/>
              </p:nvCxnSpPr>
              <p:spPr>
                <a:xfrm>
                  <a:off x="5849775" y="2480360"/>
                  <a:ext cx="0" cy="304260"/>
                </a:xfrm>
                <a:prstGeom prst="line">
                  <a:avLst/>
                </a:prstGeom>
                <a:ln w="3810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/>
                <p:cNvCxnSpPr/>
                <p:nvPr/>
              </p:nvCxnSpPr>
              <p:spPr>
                <a:xfrm>
                  <a:off x="5664968" y="2159882"/>
                  <a:ext cx="369615" cy="0"/>
                </a:xfrm>
                <a:prstGeom prst="line">
                  <a:avLst/>
                </a:prstGeom>
                <a:ln w="3810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" name="Straight Connector 23"/>
            <p:cNvCxnSpPr/>
            <p:nvPr/>
          </p:nvCxnSpPr>
          <p:spPr>
            <a:xfrm flipV="1">
              <a:off x="10757889" y="6010471"/>
              <a:ext cx="0" cy="463247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10566645" y="5569924"/>
              <a:ext cx="5395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9620917" y="6212108"/>
            <a:ext cx="539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593931" y="6218751"/>
            <a:ext cx="539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altLang="zh-CN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绝缘栅型场效应管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——N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沟道增强型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MOSFET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655528" y="675914"/>
            <a:ext cx="10669967" cy="1124585"/>
          </a:xfrm>
          <a:prstGeom prst="rect">
            <a:avLst/>
          </a:prstGeom>
          <a:solidFill>
            <a:srgbClr val="EADCF4"/>
          </a:solidFill>
          <a:ln>
            <a:noFill/>
          </a:ln>
          <a:effectLst/>
        </p:spPr>
        <p:txBody>
          <a:bodyPr wrap="square" lIns="92075" tIns="46038" rIns="92075" bIns="46038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>
                <a:srgbClr val="FF0000"/>
              </a:buClr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MOSFET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的栅极是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绝缘的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，所以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i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G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sym typeface="Symbol" panose="05050102010706020507" pitchFamily="18" charset="2"/>
              </a:rPr>
              <a:t>0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sym typeface="Symbol" panose="05050102010706020507" pitchFamily="18" charset="2"/>
              </a:rPr>
              <a:t>，输入电阻很高。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FF0000"/>
              </a:buClr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sym typeface="Symbol" panose="05050102010706020507" pitchFamily="18" charset="2"/>
              </a:rPr>
              <a:t>因此没有栅极电流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anose="0201060903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556385" y="3687445"/>
            <a:ext cx="794702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2857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2857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85750" indent="-28575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742950" indent="-28575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1200150" indent="-28575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657350" indent="-28575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2114550" indent="-28575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当</a:t>
            </a:r>
            <a:r>
              <a:rPr lang="en-US" altLang="zh-CN" sz="2800" b="1" i="1" dirty="0" err="1">
                <a:solidFill>
                  <a:srgbClr val="000000"/>
                </a:solidFill>
                <a:latin typeface="Book Antiqua" panose="02040602050305030304" pitchFamily="18" charset="0"/>
                <a:ea typeface="楷体_GB2312" panose="02010609030101010101" pitchFamily="49" charset="-122"/>
              </a:rPr>
              <a:t>V</a:t>
            </a:r>
            <a:r>
              <a:rPr lang="en-US" altLang="zh-CN" sz="2800" b="1" i="1" baseline="-25000" dirty="0" err="1">
                <a:solidFill>
                  <a:srgbClr val="000000"/>
                </a:solidFill>
                <a:latin typeface="Book Antiqua" panose="02040602050305030304" pitchFamily="18" charset="0"/>
                <a:ea typeface="楷体_GB2312" panose="02010609030101010101" pitchFamily="49" charset="-122"/>
              </a:rPr>
              <a:t>GS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&lt;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V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GS(th)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时，管子截止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556385" y="4209098"/>
            <a:ext cx="8443595" cy="953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2857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2857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85750" indent="-28575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742950" indent="-28575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1200150" indent="-28575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657350" indent="-28575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2114550" indent="-28575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当</a:t>
            </a:r>
            <a:r>
              <a:rPr lang="en-US" altLang="zh-CN" sz="2800" b="1" i="1" dirty="0" err="1">
                <a:solidFill>
                  <a:srgbClr val="000000"/>
                </a:solidFill>
                <a:latin typeface="Book Antiqua" panose="02040602050305030304" pitchFamily="18" charset="0"/>
                <a:ea typeface="楷体_GB2312" panose="02010609030101010101" pitchFamily="49" charset="-122"/>
              </a:rPr>
              <a:t>V</a:t>
            </a:r>
            <a:r>
              <a:rPr lang="en-US" altLang="zh-CN" sz="2800" b="1" i="1" baseline="-25000" dirty="0" err="1">
                <a:solidFill>
                  <a:srgbClr val="000000"/>
                </a:solidFill>
                <a:latin typeface="Book Antiqua" panose="02040602050305030304" pitchFamily="18" charset="0"/>
                <a:ea typeface="楷体_GB2312" panose="02010609030101010101" pitchFamily="49" charset="-122"/>
                <a:sym typeface="+mn-ea"/>
              </a:rPr>
              <a:t>GS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&gt;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V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TN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时，管子导通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sym typeface="+mn-ea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sym typeface="+mn-ea"/>
              </a:rPr>
              <a:t>NMOS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sym typeface="+mn-ea"/>
              </a:rPr>
              <a:t>）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sym typeface="+mn-ea"/>
              </a:rPr>
              <a:t>0.8-1.5V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marL="0" indent="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  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56382" y="4979569"/>
            <a:ext cx="9671959" cy="953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2857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2857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85750" indent="-28575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742950" indent="-28575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1200150" indent="-28575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657350" indent="-28575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2114550" indent="-28575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当</a:t>
            </a:r>
            <a:r>
              <a:rPr lang="en-US" altLang="zh-CN" sz="2800" b="1" i="1" dirty="0" err="1">
                <a:solidFill>
                  <a:srgbClr val="000000"/>
                </a:solidFill>
                <a:latin typeface="Book Antiqua" panose="02040602050305030304" pitchFamily="18" charset="0"/>
                <a:ea typeface="楷体_GB2312" panose="02010609030101010101" pitchFamily="49" charset="-122"/>
              </a:rPr>
              <a:t>V</a:t>
            </a:r>
            <a:r>
              <a:rPr lang="en-US" altLang="zh-CN" sz="2800" b="1" i="1" baseline="-25000" dirty="0" err="1">
                <a:solidFill>
                  <a:srgbClr val="000000"/>
                </a:solidFill>
                <a:latin typeface="Book Antiqua" panose="02040602050305030304" pitchFamily="18" charset="0"/>
                <a:ea typeface="楷体_GB2312" panose="02010609030101010101" pitchFamily="49" charset="-122"/>
                <a:sym typeface="+mn-ea"/>
              </a:rPr>
              <a:t>GS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越大，沟道越宽，在相同的漏源电压</a:t>
            </a:r>
            <a:r>
              <a:rPr lang="en-US" altLang="zh-CN" sz="2800" b="1" i="1" dirty="0" err="1">
                <a:solidFill>
                  <a:srgbClr val="000000"/>
                </a:solidFill>
                <a:latin typeface="Book Antiqua" panose="02040602050305030304" pitchFamily="18" charset="0"/>
                <a:ea typeface="楷体_GB2312" panose="02010609030101010101" pitchFamily="49" charset="-122"/>
              </a:rPr>
              <a:t>V</a:t>
            </a:r>
            <a:r>
              <a:rPr lang="en-US" altLang="zh-CN" sz="2800" b="1" i="1" baseline="-25000" dirty="0" err="1">
                <a:solidFill>
                  <a:srgbClr val="000000"/>
                </a:solidFill>
                <a:latin typeface="Book Antiqua" panose="02040602050305030304" pitchFamily="18" charset="0"/>
                <a:ea typeface="楷体_GB2312" panose="02010609030101010101" pitchFamily="49" charset="-122"/>
              </a:rPr>
              <a:t>DS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anose="02010609030101010101" pitchFamily="49" charset="-122"/>
              </a:rPr>
              <a:t>作用下，漏极电流</a:t>
            </a: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anose="02010609030101010101" pitchFamily="49" charset="-122"/>
              </a:rPr>
              <a:t>I</a:t>
            </a:r>
            <a:r>
              <a:rPr lang="en-US" altLang="zh-CN" sz="2800" b="1" i="1" baseline="-25000" dirty="0">
                <a:solidFill>
                  <a:srgbClr val="000000"/>
                </a:solidFill>
                <a:latin typeface="Book Antiqua" panose="02040602050305030304" pitchFamily="18" charset="0"/>
                <a:ea typeface="楷体_GB2312" panose="02010609030101010101" pitchFamily="49" charset="-122"/>
              </a:rPr>
              <a:t>D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anose="02010609030101010101" pitchFamily="49" charset="-122"/>
              </a:rPr>
              <a:t>越大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558373" y="3068989"/>
            <a:ext cx="10683239" cy="521970"/>
          </a:xfrm>
          <a:prstGeom prst="rect">
            <a:avLst/>
          </a:prstGeom>
          <a:solidFill>
            <a:srgbClr val="EADCF4"/>
          </a:solidFill>
          <a:ln>
            <a:noFill/>
          </a:ln>
          <a:effectLst/>
        </p:spPr>
        <p:txBody>
          <a:bodyPr wrap="square" lIns="92075" tIns="46038" rIns="92075" bIns="46038" anchor="ctr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2857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2857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85750" indent="-28575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742950" indent="-28575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1200150" indent="-28575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657350" indent="-28575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2114550" indent="-28575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spcBef>
                <a:spcPct val="0"/>
              </a:spcBef>
              <a:buClr>
                <a:srgbClr val="FF0000"/>
              </a:buClr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MOSFET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是电压控制电流器件（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VCCS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），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i</a:t>
            </a:r>
            <a:r>
              <a:rPr lang="en-US" altLang="zh-CN" sz="2800" b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D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受</a:t>
            </a:r>
            <a:r>
              <a:rPr lang="en-US" altLang="zh-CN" sz="2800" b="1" i="1" dirty="0" err="1">
                <a:solidFill>
                  <a:srgbClr val="000000"/>
                </a:solidFill>
                <a:latin typeface="Book Antiqua" panose="02040602050305030304" pitchFamily="18" charset="0"/>
                <a:ea typeface="楷体_GB2312" panose="02010609030101010101" pitchFamily="49" charset="-122"/>
              </a:rPr>
              <a:t>V</a:t>
            </a:r>
            <a:r>
              <a:rPr lang="en-US" altLang="zh-CN" sz="2800" b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GS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控制。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 autoUpdateAnimBg="0"/>
      <p:bldP spid="12" grpId="0" bldLvl="0" animBg="1" autoUpdateAnimBg="0"/>
      <p:bldP spid="13" grpId="0" bldLvl="0" animBg="1" autoUpdateAnimBg="0"/>
      <p:bldP spid="14" grpId="0" bldLvl="0" animBg="1" autoUpdateAnimBg="0"/>
      <p:bldP spid="15" grpId="0" bldLvl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1727835" y="3876040"/>
            <a:ext cx="8735695" cy="21272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视频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002CMOS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视频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001CMOS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与三极管的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区别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绝缘栅型场效应管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——I-V 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特性曲线及大信号特性方程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12453" y="824587"/>
            <a:ext cx="4835835" cy="988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buClr>
                <a:srgbClr val="008000"/>
              </a:buClr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0000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由于 </a:t>
            </a:r>
            <a:r>
              <a:rPr lang="en-US" altLang="zh-CN" sz="2600" b="1" dirty="0">
                <a:solidFill>
                  <a:srgbClr val="0000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MOS </a:t>
            </a:r>
            <a:r>
              <a:rPr lang="zh-CN" altLang="en-US" sz="2600" b="1" dirty="0">
                <a:solidFill>
                  <a:srgbClr val="0000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管栅极电流为零，故不讨论输入特性曲线。 </a:t>
            </a:r>
            <a:endParaRPr lang="zh-CN" altLang="en-US" sz="2600" b="1" dirty="0">
              <a:solidFill>
                <a:srgbClr val="0000CC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5" name="Text Box 3"/>
          <p:cNvSpPr>
            <a:spLocks noChangeArrowheads="1"/>
          </p:cNvSpPr>
          <p:nvPr/>
        </p:nvSpPr>
        <p:spPr bwMode="auto">
          <a:xfrm>
            <a:off x="546041" y="2410644"/>
            <a:ext cx="388937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zh-CN" altLang="en-US" sz="2600" b="1" dirty="0">
                <a:solidFill>
                  <a:srgbClr val="FF33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共源组态特性曲线：</a:t>
            </a:r>
            <a:endParaRPr lang="zh-CN" altLang="en-US" sz="2600" b="1" dirty="0">
              <a:solidFill>
                <a:srgbClr val="FF33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6" name="组合 2708"/>
          <p:cNvGrpSpPr/>
          <p:nvPr/>
        </p:nvGrpSpPr>
        <p:grpSpPr bwMode="auto">
          <a:xfrm>
            <a:off x="1258887" y="4570414"/>
            <a:ext cx="7789655" cy="814388"/>
            <a:chOff x="793" y="2879"/>
            <a:chExt cx="4030" cy="513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2381" y="2880"/>
              <a:ext cx="172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 sz="2800" b="1" i="1" dirty="0">
                  <a:solidFill>
                    <a:srgbClr val="0000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I</a:t>
              </a:r>
              <a:r>
                <a:rPr lang="en-US" altLang="zh-CN" sz="2800" b="1" baseline="-25000" dirty="0">
                  <a:solidFill>
                    <a:srgbClr val="0000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D </a:t>
              </a:r>
              <a:r>
                <a:rPr lang="en-US" altLang="zh-CN" sz="2800" b="1" dirty="0">
                  <a:solidFill>
                    <a:srgbClr val="0000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= </a:t>
              </a:r>
              <a:r>
                <a:rPr lang="en-US" altLang="zh-CN" sz="2800" b="1" i="1" dirty="0">
                  <a:solidFill>
                    <a:srgbClr val="0000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f</a:t>
              </a:r>
              <a:r>
                <a:rPr lang="en-US" altLang="zh-CN" sz="2800" b="1" baseline="-25000" dirty="0">
                  <a:solidFill>
                    <a:srgbClr val="0000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</a:t>
              </a:r>
              <a:r>
                <a:rPr lang="en-US" altLang="zh-CN" sz="2800" b="1" dirty="0">
                  <a:solidFill>
                    <a:srgbClr val="0000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(</a:t>
              </a:r>
              <a:r>
                <a:rPr lang="en-IE" altLang="en-US" sz="2800" b="1" i="1" dirty="0">
                  <a:solidFill>
                    <a:srgbClr val="0000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U</a:t>
              </a:r>
              <a:r>
                <a:rPr lang="en-US" altLang="zh-CN" sz="2800" b="1" baseline="-25000" dirty="0">
                  <a:solidFill>
                    <a:srgbClr val="0000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GS </a:t>
              </a:r>
              <a:r>
                <a:rPr lang="en-US" altLang="zh-CN" sz="2800" b="1" dirty="0">
                  <a:solidFill>
                    <a:srgbClr val="0000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)</a:t>
              </a:r>
              <a:endParaRPr lang="en-US" altLang="zh-CN" sz="2800" b="1" dirty="0">
                <a:solidFill>
                  <a:srgbClr val="0000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3560" y="3063"/>
              <a:ext cx="1263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IE" altLang="en-US" sz="2800" b="1" i="1">
                  <a:solidFill>
                    <a:srgbClr val="0000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U</a:t>
              </a:r>
              <a:r>
                <a:rPr lang="en-US" altLang="zh-CN" sz="2800" b="1" baseline="-25000">
                  <a:solidFill>
                    <a:srgbClr val="0000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DS</a:t>
              </a:r>
              <a:r>
                <a:rPr lang="en-US" altLang="zh-CN" sz="2800" b="1">
                  <a:solidFill>
                    <a:srgbClr val="0000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= </a:t>
              </a:r>
              <a:r>
                <a:rPr lang="zh-CN" altLang="en-US" sz="2800" b="1">
                  <a:solidFill>
                    <a:srgbClr val="0000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常数</a:t>
              </a:r>
              <a:endParaRPr lang="zh-CN" altLang="en-US" sz="2800" b="1">
                <a:solidFill>
                  <a:srgbClr val="0000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cxnSp>
          <p:nvCxnSpPr>
            <p:cNvPr id="9" name="Line 7"/>
            <p:cNvCxnSpPr>
              <a:cxnSpLocks noChangeShapeType="1"/>
            </p:cNvCxnSpPr>
            <p:nvPr/>
          </p:nvCxnSpPr>
          <p:spPr bwMode="auto">
            <a:xfrm>
              <a:off x="3560" y="2885"/>
              <a:ext cx="0" cy="409"/>
            </a:xfrm>
            <a:prstGeom prst="line">
              <a:avLst/>
            </a:prstGeom>
            <a:noFill/>
            <a:ln w="25400">
              <a:solidFill>
                <a:srgbClr val="0000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" name="Text Box 8"/>
            <p:cNvSpPr>
              <a:spLocks noChangeArrowheads="1"/>
            </p:cNvSpPr>
            <p:nvPr/>
          </p:nvSpPr>
          <p:spPr bwMode="auto">
            <a:xfrm>
              <a:off x="793" y="2879"/>
              <a:ext cx="132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r>
                <a:rPr lang="zh-CN" altLang="en-US" sz="2800" b="1">
                  <a:solidFill>
                    <a:srgbClr val="0000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转移特性：</a:t>
              </a:r>
              <a:endParaRPr lang="zh-CN" altLang="en-US" sz="2800" b="1">
                <a:solidFill>
                  <a:srgbClr val="0000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</p:grpSp>
      <p:grpSp>
        <p:nvGrpSpPr>
          <p:cNvPr id="11" name="组合 2713"/>
          <p:cNvGrpSpPr/>
          <p:nvPr/>
        </p:nvGrpSpPr>
        <p:grpSpPr bwMode="auto">
          <a:xfrm>
            <a:off x="1258888" y="3714750"/>
            <a:ext cx="7807053" cy="884237"/>
            <a:chOff x="793" y="2340"/>
            <a:chExt cx="4039" cy="557"/>
          </a:xfrm>
        </p:grpSpPr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2381" y="2352"/>
              <a:ext cx="1441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 sz="2800" b="1" i="1" dirty="0">
                  <a:solidFill>
                    <a:srgbClr val="0000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I</a:t>
              </a:r>
              <a:r>
                <a:rPr lang="en-US" altLang="zh-CN" sz="2800" b="1" baseline="-25000" dirty="0">
                  <a:solidFill>
                    <a:srgbClr val="0000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D </a:t>
              </a:r>
              <a:r>
                <a:rPr lang="en-US" altLang="zh-CN" sz="2800" b="1" dirty="0">
                  <a:solidFill>
                    <a:srgbClr val="0000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= </a:t>
              </a:r>
              <a:r>
                <a:rPr lang="en-US" altLang="zh-CN" sz="2800" b="1" i="1" dirty="0">
                  <a:solidFill>
                    <a:srgbClr val="0000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f</a:t>
              </a:r>
              <a:r>
                <a:rPr lang="en-US" altLang="zh-CN" sz="2800" b="1" baseline="-25000" dirty="0">
                  <a:solidFill>
                    <a:srgbClr val="0000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</a:t>
              </a:r>
              <a:r>
                <a:rPr lang="en-US" altLang="zh-CN" sz="2800" b="1" dirty="0">
                  <a:solidFill>
                    <a:srgbClr val="0000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(</a:t>
              </a:r>
              <a:r>
                <a:rPr lang="en-IE" altLang="en-US" sz="2800" b="1" i="1" dirty="0">
                  <a:solidFill>
                    <a:srgbClr val="0000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U</a:t>
              </a:r>
              <a:r>
                <a:rPr lang="en-US" altLang="zh-CN" sz="2800" b="1" baseline="-25000" dirty="0">
                  <a:solidFill>
                    <a:srgbClr val="0000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DS </a:t>
              </a:r>
              <a:r>
                <a:rPr lang="en-US" altLang="zh-CN" sz="2800" b="1" dirty="0">
                  <a:solidFill>
                    <a:srgbClr val="0000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)</a:t>
              </a:r>
              <a:endParaRPr lang="en-US" altLang="zh-CN" sz="2800" b="1" dirty="0">
                <a:solidFill>
                  <a:srgbClr val="0000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3560" y="2568"/>
              <a:ext cx="127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IE" altLang="en-US" sz="2800" b="1" i="1">
                  <a:solidFill>
                    <a:srgbClr val="0000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U</a:t>
              </a:r>
              <a:r>
                <a:rPr lang="en-US" altLang="zh-CN" sz="2800" b="1" baseline="-25000">
                  <a:solidFill>
                    <a:srgbClr val="0000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GS</a:t>
              </a:r>
              <a:r>
                <a:rPr lang="en-US" altLang="zh-CN" sz="2800" b="1">
                  <a:solidFill>
                    <a:srgbClr val="0000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= </a:t>
              </a:r>
              <a:r>
                <a:rPr lang="zh-CN" altLang="en-US" sz="2800" b="1">
                  <a:solidFill>
                    <a:srgbClr val="0000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常数</a:t>
              </a:r>
              <a:endParaRPr lang="zh-CN" altLang="en-US" sz="2800" b="1">
                <a:solidFill>
                  <a:srgbClr val="0000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cxnSp>
          <p:nvCxnSpPr>
            <p:cNvPr id="14" name="Line 12"/>
            <p:cNvCxnSpPr>
              <a:cxnSpLocks noChangeShapeType="1"/>
            </p:cNvCxnSpPr>
            <p:nvPr/>
          </p:nvCxnSpPr>
          <p:spPr bwMode="auto">
            <a:xfrm>
              <a:off x="3560" y="2341"/>
              <a:ext cx="0" cy="384"/>
            </a:xfrm>
            <a:prstGeom prst="line">
              <a:avLst/>
            </a:prstGeom>
            <a:noFill/>
            <a:ln w="25400">
              <a:solidFill>
                <a:srgbClr val="0000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Text Box 13"/>
            <p:cNvSpPr>
              <a:spLocks noChangeArrowheads="1"/>
            </p:cNvSpPr>
            <p:nvPr/>
          </p:nvSpPr>
          <p:spPr bwMode="auto">
            <a:xfrm>
              <a:off x="793" y="2340"/>
              <a:ext cx="132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r>
                <a:rPr lang="zh-CN" altLang="en-US" sz="2800" b="1" dirty="0">
                  <a:solidFill>
                    <a:srgbClr val="0000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输出特性：</a:t>
              </a:r>
              <a:endParaRPr lang="zh-CN" altLang="en-US" sz="2800" b="1" dirty="0">
                <a:solidFill>
                  <a:srgbClr val="0000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</p:grpSp>
      <p:grpSp>
        <p:nvGrpSpPr>
          <p:cNvPr id="17" name="组合 2719"/>
          <p:cNvGrpSpPr/>
          <p:nvPr/>
        </p:nvGrpSpPr>
        <p:grpSpPr bwMode="auto">
          <a:xfrm>
            <a:off x="7636438" y="355115"/>
            <a:ext cx="3889373" cy="3257346"/>
            <a:chOff x="3408" y="576"/>
            <a:chExt cx="1920" cy="1536"/>
          </a:xfrm>
        </p:grpSpPr>
        <p:sp>
          <p:nvSpPr>
            <p:cNvPr id="18" name="Oval 16"/>
            <p:cNvSpPr>
              <a:spLocks noChangeArrowheads="1"/>
            </p:cNvSpPr>
            <p:nvPr/>
          </p:nvSpPr>
          <p:spPr bwMode="auto">
            <a:xfrm>
              <a:off x="3648" y="1536"/>
              <a:ext cx="90" cy="9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ea typeface="黑体" panose="02010609060101010101" pitchFamily="49" charset="-122"/>
              </a:endParaRPr>
            </a:p>
          </p:txBody>
        </p:sp>
        <p:sp>
          <p:nvSpPr>
            <p:cNvPr id="19" name="Oval 17"/>
            <p:cNvSpPr>
              <a:spLocks noChangeArrowheads="1"/>
            </p:cNvSpPr>
            <p:nvPr/>
          </p:nvSpPr>
          <p:spPr bwMode="auto">
            <a:xfrm>
              <a:off x="4944" y="960"/>
              <a:ext cx="91" cy="9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ea typeface="黑体" panose="02010609060101010101" pitchFamily="49" charset="-122"/>
              </a:endParaRPr>
            </a:p>
          </p:txBody>
        </p:sp>
        <p:cxnSp>
          <p:nvCxnSpPr>
            <p:cNvPr id="20" name="Line 18"/>
            <p:cNvCxnSpPr>
              <a:cxnSpLocks noChangeShapeType="1"/>
            </p:cNvCxnSpPr>
            <p:nvPr/>
          </p:nvCxnSpPr>
          <p:spPr bwMode="auto">
            <a:xfrm flipV="1">
              <a:off x="4416" y="1008"/>
              <a:ext cx="52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" name="Oval 19"/>
            <p:cNvSpPr>
              <a:spLocks noChangeArrowheads="1"/>
            </p:cNvSpPr>
            <p:nvPr/>
          </p:nvSpPr>
          <p:spPr bwMode="auto">
            <a:xfrm>
              <a:off x="3648" y="2016"/>
              <a:ext cx="90" cy="9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ea typeface="黑体" panose="02010609060101010101" pitchFamily="49" charset="-122"/>
              </a:endParaRPr>
            </a:p>
          </p:txBody>
        </p:sp>
        <p:sp>
          <p:nvSpPr>
            <p:cNvPr id="22" name="Rectangle 20"/>
            <p:cNvSpPr>
              <a:spLocks noChangeArrowheads="1"/>
            </p:cNvSpPr>
            <p:nvPr/>
          </p:nvSpPr>
          <p:spPr bwMode="auto">
            <a:xfrm>
              <a:off x="3600" y="1584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 sz="2000" b="1">
                  <a:latin typeface="Times New Roman" panose="02020603050405020304" pitchFamily="18" charset="0"/>
                  <a:ea typeface="黑体" panose="02010609060101010101" pitchFamily="49" charset="-122"/>
                </a:rPr>
                <a:t>+</a:t>
              </a:r>
              <a:endParaRPr lang="en-US" altLang="zh-CN" sz="2000" b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cxnSp>
          <p:nvCxnSpPr>
            <p:cNvPr id="23" name="Line 21"/>
            <p:cNvCxnSpPr>
              <a:cxnSpLocks noChangeShapeType="1"/>
            </p:cNvCxnSpPr>
            <p:nvPr/>
          </p:nvCxnSpPr>
          <p:spPr bwMode="auto">
            <a:xfrm>
              <a:off x="3744" y="2064"/>
              <a:ext cx="1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" name="Oval 22"/>
            <p:cNvSpPr>
              <a:spLocks noChangeArrowheads="1"/>
            </p:cNvSpPr>
            <p:nvPr/>
          </p:nvSpPr>
          <p:spPr bwMode="auto">
            <a:xfrm>
              <a:off x="4944" y="2016"/>
              <a:ext cx="90" cy="9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ea typeface="黑体" panose="02010609060101010101" pitchFamily="49" charset="-122"/>
              </a:endParaRPr>
            </a:p>
          </p:txBody>
        </p:sp>
        <p:sp>
          <p:nvSpPr>
            <p:cNvPr id="25" name="Rectangle 23"/>
            <p:cNvSpPr>
              <a:spLocks noChangeArrowheads="1"/>
            </p:cNvSpPr>
            <p:nvPr/>
          </p:nvSpPr>
          <p:spPr bwMode="auto">
            <a:xfrm>
              <a:off x="4512" y="1200"/>
              <a:ext cx="2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</a:rPr>
                <a:t>T</a:t>
              </a:r>
              <a:endParaRPr lang="en-US" altLang="zh-CN" sz="2400" b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cxnSp>
          <p:nvCxnSpPr>
            <p:cNvPr id="26" name="Line 24"/>
            <p:cNvCxnSpPr>
              <a:cxnSpLocks noChangeShapeType="1"/>
            </p:cNvCxnSpPr>
            <p:nvPr/>
          </p:nvCxnSpPr>
          <p:spPr bwMode="auto">
            <a:xfrm flipH="1">
              <a:off x="3744" y="1488"/>
              <a:ext cx="368" cy="0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Line 25"/>
            <p:cNvCxnSpPr>
              <a:cxnSpLocks noChangeShapeType="1"/>
            </p:cNvCxnSpPr>
            <p:nvPr/>
          </p:nvCxnSpPr>
          <p:spPr bwMode="auto">
            <a:xfrm flipH="1">
              <a:off x="4464" y="912"/>
              <a:ext cx="33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" name="Text Box 26"/>
            <p:cNvSpPr>
              <a:spLocks noChangeArrowheads="1"/>
            </p:cNvSpPr>
            <p:nvPr/>
          </p:nvSpPr>
          <p:spPr bwMode="auto">
            <a:xfrm>
              <a:off x="4848" y="1392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</a:rPr>
                <a:t>V</a:t>
              </a:r>
              <a:r>
                <a:rPr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</a:rPr>
                <a:t>DS</a:t>
              </a:r>
              <a:endParaRPr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9" name="Text Box 27"/>
            <p:cNvSpPr>
              <a:spLocks noChangeArrowheads="1"/>
            </p:cNvSpPr>
            <p:nvPr/>
          </p:nvSpPr>
          <p:spPr bwMode="auto">
            <a:xfrm>
              <a:off x="3560" y="1152"/>
              <a:ext cx="6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 i="1">
                  <a:solidFill>
                    <a:srgbClr val="FF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I</a:t>
              </a:r>
              <a:r>
                <a:rPr lang="en-US" altLang="zh-CN" sz="2400" b="1" baseline="-25000">
                  <a:solidFill>
                    <a:srgbClr val="FF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G</a:t>
              </a:r>
              <a:r>
                <a:rPr lang="en-US" altLang="zh-CN" sz="2400" b="1">
                  <a:solidFill>
                    <a:srgbClr val="FF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en-US" altLang="zh-CN" sz="2400" b="1">
                  <a:solidFill>
                    <a:srgbClr val="FF33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 0</a:t>
              </a:r>
              <a:endParaRPr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cxnSp>
          <p:nvCxnSpPr>
            <p:cNvPr id="30" name="Line 28"/>
            <p:cNvCxnSpPr>
              <a:cxnSpLocks noChangeShapeType="1"/>
            </p:cNvCxnSpPr>
            <p:nvPr/>
          </p:nvCxnSpPr>
          <p:spPr bwMode="auto">
            <a:xfrm>
              <a:off x="4512" y="1440"/>
              <a:ext cx="0" cy="2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" name="Text Box 29"/>
            <p:cNvSpPr>
              <a:spLocks noChangeArrowheads="1"/>
            </p:cNvSpPr>
            <p:nvPr/>
          </p:nvSpPr>
          <p:spPr bwMode="auto">
            <a:xfrm>
              <a:off x="3408" y="1632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</a:rPr>
                <a:t>V</a:t>
              </a:r>
              <a:r>
                <a:rPr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</a:rPr>
                <a:t>GS</a:t>
              </a:r>
              <a:endParaRPr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2" name="Text Box 30"/>
            <p:cNvSpPr>
              <a:spLocks noChangeArrowheads="1"/>
            </p:cNvSpPr>
            <p:nvPr/>
          </p:nvSpPr>
          <p:spPr bwMode="auto">
            <a:xfrm>
              <a:off x="4512" y="576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</a:rPr>
                <a:t>I</a:t>
              </a:r>
              <a:r>
                <a:rPr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</a:rPr>
                <a:t>D</a:t>
              </a:r>
              <a:endParaRPr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3" name="Rectangle 31"/>
            <p:cNvSpPr>
              <a:spLocks noChangeArrowheads="1"/>
            </p:cNvSpPr>
            <p:nvPr/>
          </p:nvSpPr>
          <p:spPr bwMode="auto">
            <a:xfrm>
              <a:off x="4896" y="1056"/>
              <a:ext cx="288" cy="10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 sz="20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+</a:t>
              </a:r>
              <a:endParaRPr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000" b="1" dirty="0">
                <a:latin typeface="仿宋_GB2312" panose="02010609030101010101" pitchFamily="49" charset="-122"/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000" b="1" dirty="0">
                <a:latin typeface="仿宋_GB2312" panose="02010609030101010101" pitchFamily="49" charset="-122"/>
                <a:ea typeface="黑体" panose="02010609060101010101" pitchFamily="49" charset="-122"/>
              </a:endParaRPr>
            </a:p>
            <a:p>
              <a:pPr eaLnBrk="0" hangingPunct="0"/>
              <a:r>
                <a:rPr lang="en-US" altLang="zh-CN" sz="2000" b="1" dirty="0">
                  <a:latin typeface="仿宋_GB2312" panose="02010609030101010101" pitchFamily="49" charset="-122"/>
                  <a:ea typeface="黑体" panose="02010609060101010101" pitchFamily="49" charset="-122"/>
                </a:rPr>
                <a:t>-</a:t>
              </a:r>
              <a:endParaRPr lang="en-US" altLang="zh-CN" sz="2000" b="1" dirty="0">
                <a:latin typeface="仿宋_GB2312" panose="0201060903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34" name="Line 32"/>
            <p:cNvCxnSpPr>
              <a:cxnSpLocks noChangeShapeType="1"/>
            </p:cNvCxnSpPr>
            <p:nvPr/>
          </p:nvCxnSpPr>
          <p:spPr bwMode="auto">
            <a:xfrm>
              <a:off x="3744" y="1584"/>
              <a:ext cx="43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" name="Line 33"/>
            <p:cNvCxnSpPr>
              <a:cxnSpLocks noChangeShapeType="1"/>
            </p:cNvCxnSpPr>
            <p:nvPr/>
          </p:nvCxnSpPr>
          <p:spPr bwMode="auto">
            <a:xfrm>
              <a:off x="4176" y="1344"/>
              <a:ext cx="0" cy="24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" name="Line 34"/>
            <p:cNvCxnSpPr>
              <a:cxnSpLocks noChangeShapeType="1"/>
            </p:cNvCxnSpPr>
            <p:nvPr/>
          </p:nvCxnSpPr>
          <p:spPr bwMode="auto">
            <a:xfrm>
              <a:off x="4272" y="1392"/>
              <a:ext cx="0" cy="9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" name="Line 35"/>
            <p:cNvCxnSpPr>
              <a:cxnSpLocks noChangeShapeType="1"/>
            </p:cNvCxnSpPr>
            <p:nvPr/>
          </p:nvCxnSpPr>
          <p:spPr bwMode="auto">
            <a:xfrm>
              <a:off x="4272" y="1536"/>
              <a:ext cx="0" cy="9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" name="Line 36"/>
            <p:cNvCxnSpPr>
              <a:cxnSpLocks noChangeShapeType="1"/>
            </p:cNvCxnSpPr>
            <p:nvPr/>
          </p:nvCxnSpPr>
          <p:spPr bwMode="auto">
            <a:xfrm>
              <a:off x="4272" y="1584"/>
              <a:ext cx="14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" name="Line 37"/>
            <p:cNvCxnSpPr>
              <a:cxnSpLocks noChangeShapeType="1"/>
            </p:cNvCxnSpPr>
            <p:nvPr/>
          </p:nvCxnSpPr>
          <p:spPr bwMode="auto">
            <a:xfrm>
              <a:off x="4272" y="1296"/>
              <a:ext cx="14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" name="Line 38"/>
            <p:cNvCxnSpPr>
              <a:cxnSpLocks noChangeShapeType="1"/>
            </p:cNvCxnSpPr>
            <p:nvPr/>
          </p:nvCxnSpPr>
          <p:spPr bwMode="auto">
            <a:xfrm>
              <a:off x="4272" y="1440"/>
              <a:ext cx="24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" name="Line 39"/>
            <p:cNvCxnSpPr>
              <a:cxnSpLocks noChangeShapeType="1"/>
            </p:cNvCxnSpPr>
            <p:nvPr/>
          </p:nvCxnSpPr>
          <p:spPr bwMode="auto">
            <a:xfrm>
              <a:off x="4272" y="1248"/>
              <a:ext cx="0" cy="9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" name="Line 40"/>
            <p:cNvCxnSpPr>
              <a:cxnSpLocks noChangeShapeType="1"/>
            </p:cNvCxnSpPr>
            <p:nvPr/>
          </p:nvCxnSpPr>
          <p:spPr bwMode="auto">
            <a:xfrm>
              <a:off x="4416" y="1584"/>
              <a:ext cx="0" cy="48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" name="Line 41"/>
            <p:cNvCxnSpPr>
              <a:cxnSpLocks noChangeShapeType="1"/>
            </p:cNvCxnSpPr>
            <p:nvPr/>
          </p:nvCxnSpPr>
          <p:spPr bwMode="auto">
            <a:xfrm>
              <a:off x="4416" y="1008"/>
              <a:ext cx="0" cy="2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Line 42"/>
            <p:cNvCxnSpPr>
              <a:cxnSpLocks noChangeShapeType="1"/>
            </p:cNvCxnSpPr>
            <p:nvPr/>
          </p:nvCxnSpPr>
          <p:spPr bwMode="auto">
            <a:xfrm>
              <a:off x="4416" y="1728"/>
              <a:ext cx="9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" name="Rectangle 43"/>
            <p:cNvSpPr>
              <a:spLocks noChangeArrowheads="1"/>
            </p:cNvSpPr>
            <p:nvPr/>
          </p:nvSpPr>
          <p:spPr bwMode="auto">
            <a:xfrm>
              <a:off x="3600" y="1824"/>
              <a:ext cx="19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latin typeface="仿宋_GB2312" panose="02010609030101010101" pitchFamily="49" charset="-122"/>
                  <a:ea typeface="黑体" panose="02010609060101010101" pitchFamily="49" charset="-122"/>
                </a:rPr>
                <a:t>-</a:t>
              </a:r>
              <a:endParaRPr lang="en-US" altLang="zh-CN" sz="2000" b="1">
                <a:latin typeface="仿宋_GB2312" panose="0201060903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childTnLst>
                                    <p:set>
                                      <p:cBhvr additive="base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childTnLst>
                                    <p:set>
                                      <p:cBhvr additive="base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childTnLst>
                                    <p:set>
                                      <p:cBhvr additive="base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childTnLst>
                                    <p:set>
                                      <p:cBhvr additive="base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绝缘栅型场效应管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——I-V 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特性曲线及大信号特性方程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3" name="Object 16"/>
          <p:cNvGraphicFramePr>
            <a:graphicFrameLocks noChangeAspect="1"/>
          </p:cNvGraphicFramePr>
          <p:nvPr/>
        </p:nvGraphicFramePr>
        <p:xfrm>
          <a:off x="5887234" y="1560507"/>
          <a:ext cx="5932506" cy="46812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图片" r:id="rId1" imgW="2753995" imgH="2177415" progId="Word.Picture.8">
                  <p:embed/>
                </p:oleObj>
              </mc:Choice>
              <mc:Fallback>
                <p:oleObj name="图片" r:id="rId1" imgW="2753995" imgH="2177415" progId="Word.Picture.8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7234" y="1560507"/>
                        <a:ext cx="5932506" cy="46812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69766" y="722977"/>
            <a:ext cx="5826234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）输出特性及大信号特性方程</a:t>
            </a:r>
            <a:endParaRPr lang="zh-CN" altLang="en-US" sz="2800" b="1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6096000" y="689842"/>
          <a:ext cx="2757487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3" imgW="1193800" imgH="279400" progId="Equation.3">
                  <p:embed/>
                </p:oleObj>
              </mc:Choice>
              <mc:Fallback>
                <p:oleObj name="Equation" r:id="rId3" imgW="1193800" imgH="279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689842"/>
                        <a:ext cx="2757487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549910" y="1686560"/>
            <a:ext cx="5041265" cy="233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① 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截止区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algn="just" eaLnBrk="0" hangingPunct="0">
              <a:lnSpc>
                <a:spcPct val="130000"/>
              </a:lnSpc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当</a:t>
            </a:r>
            <a:r>
              <a:rPr kumimoji="1" lang="en-US" altLang="zh-CN" sz="2800" b="1" i="1" dirty="0" err="1">
                <a:solidFill>
                  <a:srgbClr val="000000"/>
                </a:solidFill>
                <a:latin typeface="Book Antiqua" panose="02040602050305030304" pitchFamily="18" charset="0"/>
                <a:ea typeface="楷体_GB2312" panose="02010609030101010101" pitchFamily="49" charset="-122"/>
              </a:rPr>
              <a:t>U</a:t>
            </a:r>
            <a:r>
              <a:rPr kumimoji="1" lang="en-US" altLang="zh-CN" sz="2800" b="1" baseline="-30000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GS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＜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U</a:t>
            </a:r>
            <a:r>
              <a:rPr kumimoji="1" lang="en-IE" altLang="en-US" sz="28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GS(th)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时，导电沟道尚未形成，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                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，为截止工作状态。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136134" y="4277806"/>
            <a:ext cx="5110162" cy="508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sz="2600" b="1" dirty="0">
                <a:solidFill>
                  <a:srgbClr val="00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相当于 </a:t>
            </a:r>
            <a:r>
              <a:rPr lang="en-US" altLang="zh-CN" sz="2600" b="1" dirty="0">
                <a:solidFill>
                  <a:srgbClr val="00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MOS </a:t>
            </a:r>
            <a:r>
              <a:rPr lang="zh-CN" altLang="en-US" sz="2600" b="1" dirty="0">
                <a:solidFill>
                  <a:srgbClr val="00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管三个电极断开。 </a:t>
            </a:r>
            <a:endParaRPr lang="zh-CN" altLang="en-US" sz="2600" b="1" dirty="0">
              <a:solidFill>
                <a:srgbClr val="0033CC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4" name="Rectangle 32"/>
          <p:cNvSpPr>
            <a:spLocks noChangeArrowheads="1"/>
          </p:cNvSpPr>
          <p:nvPr/>
        </p:nvSpPr>
        <p:spPr bwMode="auto">
          <a:xfrm>
            <a:off x="1805001" y="2873862"/>
            <a:ext cx="238558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800" b="1" baseline="-30000" dirty="0">
                <a:latin typeface="Times New Roman" panose="02020603050405020304" pitchFamily="18" charset="0"/>
                <a:ea typeface="黑体" panose="02010609060101010101" pitchFamily="49" charset="-122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 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800" b="1" baseline="-30000" dirty="0">
                <a:latin typeface="Times New Roman" panose="02020603050405020304" pitchFamily="18" charset="0"/>
                <a:ea typeface="黑体" panose="02010609060101010101" pitchFamily="49" charset="-122"/>
              </a:rPr>
              <a:t>D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 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9" grpId="0" animBg="1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绝缘栅型场效应管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——I-V 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特性曲线及大信号特性方程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3" name="Object 16"/>
          <p:cNvGraphicFramePr>
            <a:graphicFrameLocks noChangeAspect="1"/>
          </p:cNvGraphicFramePr>
          <p:nvPr/>
        </p:nvGraphicFramePr>
        <p:xfrm>
          <a:off x="6172200" y="1654953"/>
          <a:ext cx="5932506" cy="46812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图片" r:id="rId1" imgW="2753995" imgH="2177415" progId="Word.Picture.8">
                  <p:embed/>
                </p:oleObj>
              </mc:Choice>
              <mc:Fallback>
                <p:oleObj name="图片" r:id="rId1" imgW="2753995" imgH="2177415" progId="Word.Picture.8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1654953"/>
                        <a:ext cx="5932506" cy="46812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69766" y="722977"/>
            <a:ext cx="5826234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）输出特性及大信号特性方程</a:t>
            </a:r>
            <a:endParaRPr lang="zh-CN" altLang="en-US" sz="2800" b="1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6096000" y="689842"/>
          <a:ext cx="2757487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3" imgW="1193800" imgH="279400" progId="Equation.3">
                  <p:embed/>
                </p:oleObj>
              </mc:Choice>
              <mc:Fallback>
                <p:oleObj name="Equation" r:id="rId3" imgW="1193800" imgH="279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689842"/>
                        <a:ext cx="2757487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069117" y="1145863"/>
            <a:ext cx="3810000" cy="5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② 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可变电阻区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grpSp>
        <p:nvGrpSpPr>
          <p:cNvPr id="14" name="组合 2781"/>
          <p:cNvGrpSpPr/>
          <p:nvPr/>
        </p:nvGrpSpPr>
        <p:grpSpPr bwMode="auto">
          <a:xfrm>
            <a:off x="1171923" y="3143966"/>
            <a:ext cx="3706814" cy="1057276"/>
            <a:chOff x="403" y="1440"/>
            <a:chExt cx="2335" cy="666"/>
          </a:xfrm>
        </p:grpSpPr>
        <p:sp>
          <p:nvSpPr>
            <p:cNvPr id="15" name="Rectangle 33"/>
            <p:cNvSpPr>
              <a:spLocks noChangeArrowheads="1"/>
            </p:cNvSpPr>
            <p:nvPr/>
          </p:nvSpPr>
          <p:spPr bwMode="auto">
            <a:xfrm>
              <a:off x="403" y="1573"/>
              <a:ext cx="74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600" b="1" dirty="0">
                  <a:solidFill>
                    <a:srgbClr val="FF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条件：</a:t>
              </a:r>
              <a:endParaRPr lang="zh-CN" altLang="en-US" sz="26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16" name="Rectangle 34"/>
            <p:cNvSpPr>
              <a:spLocks noChangeArrowheads="1"/>
            </p:cNvSpPr>
            <p:nvPr/>
          </p:nvSpPr>
          <p:spPr bwMode="auto">
            <a:xfrm>
              <a:off x="1200" y="1440"/>
              <a:ext cx="153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 sz="2800" b="1" i="1" dirty="0">
                  <a:solidFill>
                    <a:srgbClr val="0033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V</a:t>
              </a:r>
              <a:r>
                <a:rPr lang="en-US" altLang="zh-CN" sz="2800" b="1" baseline="-30000" dirty="0">
                  <a:solidFill>
                    <a:srgbClr val="0033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GS </a:t>
              </a:r>
              <a:r>
                <a:rPr lang="en-US" altLang="zh-CN" sz="2800" b="1" dirty="0">
                  <a:solidFill>
                    <a:srgbClr val="0033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&gt; </a:t>
              </a:r>
              <a:r>
                <a:rPr lang="en-US" altLang="zh-CN" sz="2800" b="1" i="1" dirty="0">
                  <a:solidFill>
                    <a:srgbClr val="0033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V</a:t>
              </a:r>
              <a:r>
                <a:rPr lang="en-US" altLang="zh-CN" sz="2800" b="1" i="1" baseline="-30000" dirty="0">
                  <a:solidFill>
                    <a:srgbClr val="0033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TN</a:t>
              </a:r>
              <a:r>
                <a:rPr lang="en-US" altLang="zh-CN" sz="2800" b="1" baseline="-30000" dirty="0">
                  <a:solidFill>
                    <a:srgbClr val="0033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</a:t>
              </a:r>
              <a:endParaRPr lang="en-US" altLang="zh-CN" sz="2800" b="1" baseline="-30000" dirty="0">
                <a:solidFill>
                  <a:srgbClr val="00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17" name="Rectangle 35"/>
            <p:cNvSpPr>
              <a:spLocks noChangeArrowheads="1"/>
            </p:cNvSpPr>
            <p:nvPr/>
          </p:nvSpPr>
          <p:spPr bwMode="auto">
            <a:xfrm>
              <a:off x="1200" y="1776"/>
              <a:ext cx="139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800" b="1" i="1" dirty="0">
                  <a:solidFill>
                    <a:srgbClr val="0033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V</a:t>
              </a:r>
              <a:r>
                <a:rPr lang="en-US" altLang="zh-CN" sz="2800" b="1" baseline="-30000" dirty="0">
                  <a:solidFill>
                    <a:srgbClr val="0033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DS</a:t>
              </a:r>
              <a:r>
                <a:rPr lang="en-US" altLang="zh-CN" sz="2800" b="1" dirty="0">
                  <a:solidFill>
                    <a:srgbClr val="0033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&lt; </a:t>
              </a:r>
              <a:r>
                <a:rPr lang="en-US" altLang="zh-CN" sz="2800" b="1" i="1" dirty="0">
                  <a:solidFill>
                    <a:srgbClr val="0033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V</a:t>
              </a:r>
              <a:r>
                <a:rPr lang="en-US" altLang="zh-CN" sz="2800" b="1" baseline="-30000" dirty="0">
                  <a:solidFill>
                    <a:srgbClr val="0033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GS</a:t>
              </a:r>
              <a:r>
                <a:rPr lang="en-US" altLang="zh-CN" sz="2800" b="1" dirty="0">
                  <a:solidFill>
                    <a:srgbClr val="0033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–</a:t>
              </a:r>
              <a:r>
                <a:rPr lang="en-US" altLang="zh-CN" sz="2800" b="1" i="1" dirty="0">
                  <a:solidFill>
                    <a:srgbClr val="0033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V</a:t>
              </a:r>
              <a:r>
                <a:rPr lang="en-US" altLang="zh-CN" sz="2800" b="1" i="1" baseline="-30000" dirty="0">
                  <a:solidFill>
                    <a:srgbClr val="0033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TN</a:t>
              </a:r>
              <a:endParaRPr lang="en-US" altLang="zh-CN" sz="2800" b="1" baseline="-30000" dirty="0">
                <a:solidFill>
                  <a:srgbClr val="00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18" name="AutoShape 36"/>
            <p:cNvSpPr/>
            <p:nvPr/>
          </p:nvSpPr>
          <p:spPr bwMode="auto">
            <a:xfrm>
              <a:off x="1008" y="1584"/>
              <a:ext cx="144" cy="384"/>
            </a:xfrm>
            <a:prstGeom prst="leftBrace">
              <a:avLst>
                <a:gd name="adj1" fmla="val 22210"/>
                <a:gd name="adj2" fmla="val 50000"/>
              </a:avLst>
            </a:prstGeom>
            <a:noFill/>
            <a:ln w="25400">
              <a:solidFill>
                <a:srgbClr val="C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zh-CN" altLang="zh-CN" sz="2400" b="1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绝缘栅型场效应管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——I-V 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特性曲线及大信号特性方程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3" name="Object 16"/>
          <p:cNvGraphicFramePr>
            <a:graphicFrameLocks noChangeAspect="1"/>
          </p:cNvGraphicFramePr>
          <p:nvPr/>
        </p:nvGraphicFramePr>
        <p:xfrm>
          <a:off x="6172200" y="1654953"/>
          <a:ext cx="5932506" cy="46812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图片" r:id="rId1" imgW="2753995" imgH="2177415" progId="Word.Picture.8">
                  <p:embed/>
                </p:oleObj>
              </mc:Choice>
              <mc:Fallback>
                <p:oleObj name="图片" r:id="rId1" imgW="2753995" imgH="2177415" progId="Word.Picture.8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1654953"/>
                        <a:ext cx="5932506" cy="46812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69766" y="722977"/>
            <a:ext cx="5826234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）输出特性及大信号特性方程</a:t>
            </a:r>
            <a:endParaRPr lang="zh-CN" altLang="en-US" sz="2800" b="1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6096000" y="689842"/>
          <a:ext cx="2757487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3" imgW="1193800" imgH="279400" progId="Equation.3">
                  <p:embed/>
                </p:oleObj>
              </mc:Choice>
              <mc:Fallback>
                <p:oleObj name="Equation" r:id="rId3" imgW="1193800" imgH="279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689842"/>
                        <a:ext cx="2757487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069117" y="1145863"/>
            <a:ext cx="3810000" cy="5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②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可变电阻区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314959" y="2116333"/>
            <a:ext cx="5318126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sz="2800" b="1" i="1" dirty="0">
                <a:solidFill>
                  <a:srgbClr val="00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b="1" baseline="-30000" dirty="0">
                <a:solidFill>
                  <a:srgbClr val="00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D</a:t>
            </a:r>
            <a:r>
              <a:rPr lang="en-US" altLang="zh-CN" sz="2800" b="1" dirty="0">
                <a:solidFill>
                  <a:srgbClr val="00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zh-CN" altLang="en-US" sz="2800" b="1" dirty="0">
                <a:solidFill>
                  <a:srgbClr val="00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同时受 </a:t>
            </a:r>
            <a:r>
              <a:rPr lang="en-US" altLang="zh-CN" sz="2800" b="1" i="1" dirty="0">
                <a:solidFill>
                  <a:srgbClr val="00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baseline="-30000" dirty="0">
                <a:solidFill>
                  <a:srgbClr val="00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GS</a:t>
            </a:r>
            <a:r>
              <a:rPr lang="en-US" altLang="zh-CN" sz="2800" b="1" dirty="0">
                <a:solidFill>
                  <a:srgbClr val="00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zh-CN" altLang="en-US" sz="2800" b="1" dirty="0">
                <a:solidFill>
                  <a:srgbClr val="00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与 </a:t>
            </a:r>
            <a:r>
              <a:rPr lang="en-US" altLang="zh-CN" sz="2800" b="1" i="1" dirty="0">
                <a:solidFill>
                  <a:srgbClr val="00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baseline="-30000" dirty="0">
                <a:solidFill>
                  <a:srgbClr val="00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DS</a:t>
            </a:r>
            <a:r>
              <a:rPr lang="en-US" altLang="zh-CN" sz="2800" b="1" dirty="0">
                <a:solidFill>
                  <a:srgbClr val="00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zh-CN" altLang="en-US" sz="2800" b="1" dirty="0">
                <a:solidFill>
                  <a:srgbClr val="00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的控制。</a:t>
            </a:r>
            <a:endParaRPr lang="zh-CN" altLang="en-US" sz="2800" b="1" dirty="0">
              <a:solidFill>
                <a:srgbClr val="0033CC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9" name="Rectangle 6"/>
          <p:cNvSpPr>
            <a:spLocks noChangeArrowheads="1"/>
          </p:cNvSpPr>
          <p:nvPr/>
        </p:nvSpPr>
        <p:spPr bwMode="auto">
          <a:xfrm>
            <a:off x="371927" y="3102724"/>
            <a:ext cx="6121129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当</a:t>
            </a:r>
            <a:r>
              <a:rPr lang="en-US" altLang="zh-CN" sz="2800" b="1" i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baseline="-30000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GS</a:t>
            </a:r>
            <a:r>
              <a:rPr lang="zh-CN" altLang="en-US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为常数时，</a:t>
            </a:r>
            <a:r>
              <a:rPr lang="en-US" altLang="zh-CN" sz="2800" b="1" i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baseline="-30000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DS</a:t>
            </a:r>
            <a:r>
              <a:rPr lang="en-US" altLang="zh-CN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</a:t>
            </a:r>
            <a:r>
              <a:rPr lang="en-US" altLang="zh-CN" sz="2800" b="1" i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b="1" baseline="-30000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D </a:t>
            </a:r>
            <a:r>
              <a:rPr lang="zh-CN" altLang="en-US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近似线性</a:t>
            </a:r>
            <a:r>
              <a:rPr lang="zh-CN" altLang="en-US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</a:t>
            </a:r>
            <a:r>
              <a:rPr lang="zh-CN" altLang="en-US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，表现为一种电阻特性； </a:t>
            </a:r>
            <a:endParaRPr lang="zh-CN" altLang="en-US" sz="2800" b="1" dirty="0">
              <a:solidFill>
                <a:srgbClr val="0066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0" name="Rectangle 30"/>
          <p:cNvSpPr>
            <a:spLocks noChangeArrowheads="1"/>
          </p:cNvSpPr>
          <p:nvPr/>
        </p:nvSpPr>
        <p:spPr bwMode="auto">
          <a:xfrm>
            <a:off x="346226" y="4485676"/>
            <a:ext cx="582623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当</a:t>
            </a:r>
            <a:r>
              <a:rPr lang="en-US" altLang="zh-CN" sz="2800" b="1" i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baseline="-30000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DS</a:t>
            </a:r>
            <a:r>
              <a:rPr lang="zh-CN" altLang="en-US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为常数时，</a:t>
            </a:r>
            <a:r>
              <a:rPr lang="en-US" altLang="zh-CN" sz="2800" b="1" i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baseline="-30000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GS </a:t>
            </a:r>
            <a:r>
              <a:rPr lang="en-US" altLang="zh-CN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</a:t>
            </a:r>
            <a:r>
              <a:rPr lang="en-US" altLang="zh-CN" sz="2800" b="1" i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b="1" baseline="-30000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D </a:t>
            </a:r>
            <a:r>
              <a:rPr lang="en-US" altLang="zh-CN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</a:t>
            </a:r>
            <a:r>
              <a:rPr lang="zh-CN" altLang="en-US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，表现出一种压控电阻的特性。 </a:t>
            </a:r>
            <a:endParaRPr lang="zh-CN" altLang="en-US" sz="2800" b="1" dirty="0">
              <a:solidFill>
                <a:srgbClr val="0066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绝缘栅型场效应管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——I-V 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特性曲线及大信号特性方程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3" name="Object 16"/>
          <p:cNvGraphicFramePr>
            <a:graphicFrameLocks noChangeAspect="1"/>
          </p:cNvGraphicFramePr>
          <p:nvPr/>
        </p:nvGraphicFramePr>
        <p:xfrm>
          <a:off x="5887234" y="1560507"/>
          <a:ext cx="5932506" cy="46812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图片" r:id="rId1" imgW="2753995" imgH="2177415" progId="Word.Picture.8">
                  <p:embed/>
                </p:oleObj>
              </mc:Choice>
              <mc:Fallback>
                <p:oleObj name="图片" r:id="rId1" imgW="2753995" imgH="2177415" progId="Word.Picture.8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7234" y="1560507"/>
                        <a:ext cx="5932506" cy="46812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69766" y="722977"/>
            <a:ext cx="5826234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）输出特性及大信号特性方程</a:t>
            </a:r>
            <a:endParaRPr lang="zh-CN" altLang="en-US" sz="2800" b="1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6096000" y="689842"/>
          <a:ext cx="2757487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3" imgW="1193800" imgH="279400" progId="Equation.3">
                  <p:embed/>
                </p:oleObj>
              </mc:Choice>
              <mc:Fallback>
                <p:oleObj name="Equation" r:id="rId3" imgW="1193800" imgH="279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689842"/>
                        <a:ext cx="2757487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501787" y="1331192"/>
            <a:ext cx="4114800" cy="1133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</a:pPr>
            <a:r>
              <a:rPr kumimoji="1" lang="en-US" altLang="zh-CN" sz="28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③</a:t>
            </a:r>
            <a:r>
              <a:rPr kumimoji="1" lang="en-US" altLang="zh-CN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kumimoji="1"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饱和区</a:t>
            </a:r>
            <a:endParaRPr kumimoji="1" lang="zh-CN" altLang="en-US" sz="28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just">
              <a:lnSpc>
                <a:spcPct val="130000"/>
              </a:lnSpc>
            </a:pPr>
            <a:r>
              <a:rPr kumimoji="1" lang="zh-CN" altLang="en-US" sz="28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（恒流区又称放大区）</a:t>
            </a:r>
            <a:endParaRPr kumimoji="1" lang="zh-CN" altLang="en-US" sz="2800" b="1" i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9" name="组合 2831"/>
          <p:cNvGrpSpPr/>
          <p:nvPr/>
        </p:nvGrpSpPr>
        <p:grpSpPr bwMode="auto">
          <a:xfrm>
            <a:off x="1014358" y="2548740"/>
            <a:ext cx="3813174" cy="1050925"/>
            <a:chOff x="336" y="1440"/>
            <a:chExt cx="2402" cy="662"/>
          </a:xfrm>
        </p:grpSpPr>
        <p:sp>
          <p:nvSpPr>
            <p:cNvPr id="10" name="Rectangle 33"/>
            <p:cNvSpPr>
              <a:spLocks noChangeArrowheads="1"/>
            </p:cNvSpPr>
            <p:nvPr/>
          </p:nvSpPr>
          <p:spPr bwMode="auto">
            <a:xfrm>
              <a:off x="336" y="1600"/>
              <a:ext cx="74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600" b="1">
                  <a:solidFill>
                    <a:srgbClr val="FF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条件：</a:t>
              </a:r>
              <a:endParaRPr lang="zh-CN" altLang="en-US" sz="2600" b="1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11" name="Rectangle 34"/>
            <p:cNvSpPr>
              <a:spLocks noChangeArrowheads="1"/>
            </p:cNvSpPr>
            <p:nvPr/>
          </p:nvSpPr>
          <p:spPr bwMode="auto">
            <a:xfrm>
              <a:off x="1200" y="1440"/>
              <a:ext cx="1538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 sz="2600" b="1" i="1" dirty="0">
                  <a:solidFill>
                    <a:srgbClr val="0033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V</a:t>
              </a:r>
              <a:r>
                <a:rPr lang="en-US" altLang="zh-CN" sz="2600" b="1" baseline="-30000" dirty="0">
                  <a:solidFill>
                    <a:srgbClr val="0033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GS </a:t>
              </a:r>
              <a:r>
                <a:rPr lang="en-US" altLang="zh-CN" sz="2600" b="1" dirty="0">
                  <a:solidFill>
                    <a:srgbClr val="0033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&gt;</a:t>
              </a:r>
              <a:r>
                <a:rPr lang="en-US" altLang="zh-CN" sz="2600" b="1" i="1" dirty="0">
                  <a:solidFill>
                    <a:srgbClr val="0033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V</a:t>
              </a:r>
              <a:r>
                <a:rPr lang="en-US" altLang="zh-CN" sz="2600" b="1" baseline="-30000" dirty="0">
                  <a:solidFill>
                    <a:srgbClr val="0033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GS(</a:t>
              </a:r>
              <a:r>
                <a:rPr lang="en-US" altLang="zh-CN" sz="2600" b="1" baseline="-30000" dirty="0" err="1">
                  <a:solidFill>
                    <a:srgbClr val="0033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th</a:t>
              </a:r>
              <a:r>
                <a:rPr lang="en-US" altLang="zh-CN" sz="2600" b="1" baseline="-30000" dirty="0">
                  <a:solidFill>
                    <a:srgbClr val="0033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) </a:t>
              </a:r>
              <a:endParaRPr lang="en-US" altLang="zh-CN" sz="2600" b="1" baseline="-30000" dirty="0">
                <a:solidFill>
                  <a:srgbClr val="00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12" name="Rectangle 35"/>
            <p:cNvSpPr>
              <a:spLocks noChangeArrowheads="1"/>
            </p:cNvSpPr>
            <p:nvPr/>
          </p:nvSpPr>
          <p:spPr bwMode="auto">
            <a:xfrm>
              <a:off x="1200" y="1792"/>
              <a:ext cx="151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600" b="1" i="1" dirty="0">
                  <a:solidFill>
                    <a:srgbClr val="0033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V</a:t>
              </a:r>
              <a:r>
                <a:rPr lang="en-US" altLang="zh-CN" sz="2600" b="1" baseline="-30000" dirty="0">
                  <a:solidFill>
                    <a:srgbClr val="0033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DS </a:t>
              </a:r>
              <a:r>
                <a:rPr lang="en-US" altLang="zh-CN" sz="2600" b="1" dirty="0">
                  <a:solidFill>
                    <a:srgbClr val="0033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&gt;</a:t>
              </a:r>
              <a:r>
                <a:rPr lang="en-US" altLang="zh-CN" sz="2600" b="1" i="1" dirty="0">
                  <a:solidFill>
                    <a:srgbClr val="0033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V</a:t>
              </a:r>
              <a:r>
                <a:rPr lang="en-US" altLang="zh-CN" sz="2600" b="1" baseline="-30000" dirty="0">
                  <a:solidFill>
                    <a:srgbClr val="0033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GS </a:t>
              </a:r>
              <a:r>
                <a:rPr lang="en-US" altLang="zh-CN" sz="2600" b="1" dirty="0">
                  <a:solidFill>
                    <a:srgbClr val="0033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–</a:t>
              </a:r>
              <a:r>
                <a:rPr lang="en-US" altLang="zh-CN" sz="2600" b="1" i="1" dirty="0">
                  <a:solidFill>
                    <a:srgbClr val="0033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V</a:t>
              </a:r>
              <a:r>
                <a:rPr lang="en-US" altLang="zh-CN" sz="2600" b="1" baseline="-30000" dirty="0">
                  <a:solidFill>
                    <a:srgbClr val="0033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GS(</a:t>
              </a:r>
              <a:r>
                <a:rPr lang="en-US" altLang="zh-CN" sz="2600" b="1" baseline="-30000" dirty="0" err="1">
                  <a:solidFill>
                    <a:srgbClr val="0033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th</a:t>
              </a:r>
              <a:r>
                <a:rPr lang="en-US" altLang="zh-CN" sz="2600" b="1" baseline="-30000" dirty="0">
                  <a:solidFill>
                    <a:srgbClr val="0033CC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)</a:t>
              </a:r>
              <a:endParaRPr lang="en-US" altLang="zh-CN" sz="2600" b="1" baseline="-30000" dirty="0">
                <a:solidFill>
                  <a:srgbClr val="00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13" name="AutoShape 36"/>
            <p:cNvSpPr/>
            <p:nvPr/>
          </p:nvSpPr>
          <p:spPr bwMode="auto">
            <a:xfrm>
              <a:off x="1008" y="1584"/>
              <a:ext cx="144" cy="384"/>
            </a:xfrm>
            <a:prstGeom prst="leftBrace">
              <a:avLst>
                <a:gd name="adj1" fmla="val 22210"/>
                <a:gd name="adj2" fmla="val 50000"/>
              </a:avLst>
            </a:prstGeom>
            <a:noFill/>
            <a:ln w="25400">
              <a:solidFill>
                <a:srgbClr val="33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zh-CN" altLang="zh-CN" sz="2600" b="1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</p:grpSp>
      <p:sp>
        <p:nvSpPr>
          <p:cNvPr id="23" name="Rectangle 4"/>
          <p:cNvSpPr>
            <a:spLocks noChangeArrowheads="1"/>
          </p:cNvSpPr>
          <p:nvPr/>
        </p:nvSpPr>
        <p:spPr bwMode="auto">
          <a:xfrm>
            <a:off x="595285" y="4180010"/>
            <a:ext cx="5671700" cy="54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eaLnBrk="0" hangingPunct="0">
              <a:lnSpc>
                <a:spcPct val="120000"/>
              </a:lnSpc>
            </a:pPr>
            <a:r>
              <a:rPr lang="en-US" altLang="zh-CN" sz="2800" b="1" i="1" dirty="0">
                <a:solidFill>
                  <a:srgbClr val="00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b="1" baseline="-30000" dirty="0">
                <a:solidFill>
                  <a:srgbClr val="00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D</a:t>
            </a:r>
            <a:r>
              <a:rPr lang="zh-CN" altLang="en-US" sz="2800" b="1" dirty="0">
                <a:solidFill>
                  <a:srgbClr val="00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只受</a:t>
            </a:r>
            <a:r>
              <a:rPr lang="en-US" altLang="zh-CN" sz="2800" b="1" i="1" dirty="0">
                <a:solidFill>
                  <a:srgbClr val="00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baseline="-30000" dirty="0">
                <a:solidFill>
                  <a:srgbClr val="00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GS</a:t>
            </a:r>
            <a:r>
              <a:rPr lang="zh-CN" altLang="en-US" sz="2800" b="1" dirty="0">
                <a:solidFill>
                  <a:srgbClr val="00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控制，而与</a:t>
            </a:r>
            <a:r>
              <a:rPr lang="en-US" altLang="zh-CN" sz="2800" b="1" i="1" dirty="0">
                <a:solidFill>
                  <a:srgbClr val="00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baseline="-30000" dirty="0">
                <a:solidFill>
                  <a:srgbClr val="00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DS</a:t>
            </a:r>
            <a:r>
              <a:rPr lang="zh-CN" altLang="en-US" sz="2800" b="1" dirty="0">
                <a:solidFill>
                  <a:srgbClr val="00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近似无关。 </a:t>
            </a:r>
            <a:endParaRPr lang="zh-CN" altLang="en-US" sz="2800" b="1" dirty="0">
              <a:solidFill>
                <a:srgbClr val="0033CC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绝缘栅型场效应管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——I-V 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特性曲线及大信号特性方程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15" name="Object 23"/>
          <p:cNvGraphicFramePr>
            <a:graphicFrameLocks noChangeAspect="1"/>
          </p:cNvGraphicFramePr>
          <p:nvPr/>
        </p:nvGraphicFramePr>
        <p:xfrm>
          <a:off x="4958715" y="894080"/>
          <a:ext cx="5600700" cy="5396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图片" r:id="rId1" imgW="2190750" imgH="2114550" progId="Word.Picture.8">
                  <p:embed/>
                </p:oleObj>
              </mc:Choice>
              <mc:Fallback>
                <p:oleObj name="图片" r:id="rId1" imgW="2190750" imgH="2114550" progId="Word.Picture.8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8715" y="894080"/>
                        <a:ext cx="5600700" cy="53968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384900" y="627076"/>
            <a:ext cx="5029200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）转移特性</a:t>
            </a:r>
            <a:endParaRPr lang="zh-CN" altLang="en-US" sz="2800" b="1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aphicFrame>
        <p:nvGraphicFramePr>
          <p:cNvPr id="17" name="Object 6"/>
          <p:cNvGraphicFramePr>
            <a:graphicFrameLocks noChangeAspect="1"/>
          </p:cNvGraphicFramePr>
          <p:nvPr/>
        </p:nvGraphicFramePr>
        <p:xfrm>
          <a:off x="950913" y="1371600"/>
          <a:ext cx="275590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3" imgW="1193800" imgH="279400" progId="Equation.3">
                  <p:embed/>
                </p:oleObj>
              </mc:Choice>
              <mc:Fallback>
                <p:oleObj name="Equation" r:id="rId3" imgW="1193800" imgH="279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0913" y="1371600"/>
                        <a:ext cx="2755900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85800" y="609600"/>
            <a:ext cx="4119563" cy="54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altLang="zh-CN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临界饱和工作条件</a:t>
            </a:r>
            <a:endParaRPr lang="zh-CN" altLang="en-US" sz="2800" b="1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85800" y="3200400"/>
            <a:ext cx="6330950" cy="54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altLang="zh-CN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非饱和区</a:t>
            </a:r>
            <a:r>
              <a:rPr lang="en-US" altLang="zh-CN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可变电阻区</a:t>
            </a:r>
            <a:r>
              <a:rPr lang="en-US" altLang="zh-CN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)</a:t>
            </a: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工作条件</a:t>
            </a:r>
            <a:endParaRPr lang="zh-CN" altLang="en-US" sz="2800" b="1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495799" y="1295400"/>
            <a:ext cx="43851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|</a:t>
            </a:r>
            <a:r>
              <a:rPr lang="en-US" altLang="zh-CN" sz="2800" b="1" i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baseline="-25000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DS</a:t>
            </a:r>
            <a:r>
              <a:rPr lang="en-US" altLang="zh-CN" sz="2800" b="1" i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|</a:t>
            </a:r>
            <a:r>
              <a:rPr lang="en-US" altLang="zh-CN" sz="2800" b="1" i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= </a:t>
            </a:r>
            <a:r>
              <a:rPr lang="en-US" altLang="zh-CN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|</a:t>
            </a:r>
            <a:r>
              <a:rPr lang="en-US" altLang="zh-CN" sz="2800" b="1" i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V</a:t>
            </a:r>
            <a:r>
              <a:rPr lang="en-US" altLang="zh-CN" sz="2800" b="1" baseline="-25000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GS</a:t>
            </a:r>
            <a:r>
              <a:rPr lang="en-US" altLang="zh-CN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– </a:t>
            </a:r>
            <a:r>
              <a:rPr lang="en-US" altLang="zh-CN" sz="2800" b="1" i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baseline="-25000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GS(</a:t>
            </a:r>
            <a:r>
              <a:rPr lang="en-US" altLang="zh-CN" sz="2800" b="1" baseline="-25000" dirty="0" err="1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th</a:t>
            </a:r>
            <a:r>
              <a:rPr lang="en-US" altLang="zh-CN" sz="2800" b="1" baseline="-25000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) </a:t>
            </a:r>
            <a:r>
              <a:rPr lang="en-US" altLang="zh-CN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|</a:t>
            </a:r>
            <a:endParaRPr lang="en-US" altLang="zh-CN" sz="2800" b="1" dirty="0">
              <a:solidFill>
                <a:srgbClr val="0000FF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447800" y="1295400"/>
            <a:ext cx="391334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|</a:t>
            </a:r>
            <a:r>
              <a:rPr lang="en-US" altLang="zh-CN" sz="2800" b="1" i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baseline="-25000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GS</a:t>
            </a:r>
            <a:r>
              <a:rPr lang="en-US" altLang="zh-CN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| &gt; |</a:t>
            </a:r>
            <a:r>
              <a:rPr lang="en-US" altLang="zh-CN" sz="2800" b="1" i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baseline="-25000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GS(</a:t>
            </a:r>
            <a:r>
              <a:rPr lang="en-US" altLang="zh-CN" sz="2800" b="1" baseline="-25000" dirty="0" err="1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th</a:t>
            </a:r>
            <a:r>
              <a:rPr lang="en-US" altLang="zh-CN" sz="2800" b="1" baseline="-25000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) </a:t>
            </a:r>
            <a:r>
              <a:rPr lang="en-US" altLang="zh-CN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|</a:t>
            </a:r>
            <a:r>
              <a:rPr lang="zh-CN" altLang="en-US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，</a:t>
            </a:r>
            <a:endParaRPr lang="zh-CN" altLang="en-US" sz="2800" b="1" dirty="0">
              <a:solidFill>
                <a:srgbClr val="0066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4495799" y="2555590"/>
            <a:ext cx="4648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|</a:t>
            </a:r>
            <a:r>
              <a:rPr lang="en-US" altLang="zh-CN" sz="2800" b="1" i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baseline="-25000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DS</a:t>
            </a:r>
            <a:r>
              <a:rPr lang="en-US" altLang="zh-CN" sz="2800" b="1" i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| &gt;</a:t>
            </a:r>
            <a:r>
              <a:rPr lang="en-US" altLang="zh-CN" sz="2800" b="1" i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| </a:t>
            </a:r>
            <a:r>
              <a:rPr lang="en-US" altLang="zh-CN" sz="2800" b="1" i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baseline="-25000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GS </a:t>
            </a:r>
            <a:r>
              <a:rPr lang="en-US" altLang="zh-CN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– </a:t>
            </a:r>
            <a:r>
              <a:rPr lang="en-US" altLang="zh-CN" sz="2800" b="1" i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baseline="-25000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GS(</a:t>
            </a:r>
            <a:r>
              <a:rPr lang="en-US" altLang="zh-CN" sz="2800" b="1" baseline="-25000" dirty="0" err="1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th</a:t>
            </a:r>
            <a:r>
              <a:rPr lang="en-US" altLang="zh-CN" sz="2800" b="1" baseline="-25000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) </a:t>
            </a:r>
            <a:r>
              <a:rPr lang="en-US" altLang="zh-CN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|</a:t>
            </a:r>
            <a:endParaRPr lang="en-US" altLang="zh-CN" sz="2800" b="1" dirty="0">
              <a:solidFill>
                <a:srgbClr val="0000FF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1447800" y="3886200"/>
            <a:ext cx="41012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|</a:t>
            </a:r>
            <a:r>
              <a:rPr lang="en-US" altLang="zh-CN" sz="2800" b="1" i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baseline="-25000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GS</a:t>
            </a:r>
            <a:r>
              <a:rPr lang="en-US" altLang="zh-CN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| &gt; |</a:t>
            </a:r>
            <a:r>
              <a:rPr lang="en-US" altLang="zh-CN" sz="2800" b="1" i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baseline="-25000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GS(</a:t>
            </a:r>
            <a:r>
              <a:rPr lang="en-US" altLang="zh-CN" sz="2800" b="1" baseline="-25000" dirty="0" err="1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th</a:t>
            </a:r>
            <a:r>
              <a:rPr lang="en-US" altLang="zh-CN" sz="2800" b="1" baseline="-25000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) </a:t>
            </a:r>
            <a:r>
              <a:rPr lang="en-US" altLang="zh-CN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|</a:t>
            </a:r>
            <a:r>
              <a:rPr lang="en-US" altLang="zh-CN" sz="2800" b="1" i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zh-CN" altLang="en-US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，</a:t>
            </a:r>
            <a:endParaRPr lang="zh-CN" altLang="en-US" sz="2800" b="1" dirty="0">
              <a:solidFill>
                <a:srgbClr val="0066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685800" y="1905000"/>
            <a:ext cx="5414963" cy="54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altLang="zh-CN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饱和区</a:t>
            </a:r>
            <a:r>
              <a:rPr lang="en-US" altLang="zh-CN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放大区</a:t>
            </a:r>
            <a:r>
              <a:rPr lang="en-US" altLang="zh-CN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)</a:t>
            </a: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工作条件</a:t>
            </a:r>
            <a:endParaRPr lang="zh-CN" altLang="en-US" sz="2800" b="1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4495800" y="3886200"/>
            <a:ext cx="48736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|</a:t>
            </a:r>
            <a:r>
              <a:rPr lang="en-US" altLang="zh-CN" sz="2800" b="1" i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baseline="-25000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DS</a:t>
            </a:r>
            <a:r>
              <a:rPr lang="en-US" altLang="zh-CN" sz="2800" b="1" i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|</a:t>
            </a:r>
            <a:r>
              <a:rPr lang="en-US" altLang="zh-CN" sz="2800" b="1" i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&lt;</a:t>
            </a:r>
            <a:r>
              <a:rPr lang="en-US" altLang="zh-CN" sz="2800" b="1" i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|</a:t>
            </a:r>
            <a:r>
              <a:rPr lang="en-US" altLang="zh-CN" sz="2800" b="1" i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V</a:t>
            </a:r>
            <a:r>
              <a:rPr lang="en-US" altLang="zh-CN" sz="2800" b="1" baseline="-25000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GS </a:t>
            </a:r>
            <a:r>
              <a:rPr lang="en-US" altLang="zh-CN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– </a:t>
            </a:r>
            <a:r>
              <a:rPr lang="en-US" altLang="zh-CN" sz="2800" b="1" i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baseline="-25000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GS(</a:t>
            </a:r>
            <a:r>
              <a:rPr lang="en-US" altLang="zh-CN" sz="2800" b="1" baseline="-25000" dirty="0" err="1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th</a:t>
            </a:r>
            <a:r>
              <a:rPr lang="en-US" altLang="zh-CN" sz="2800" b="1" baseline="-25000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) </a:t>
            </a:r>
            <a:r>
              <a:rPr lang="en-US" altLang="zh-CN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|</a:t>
            </a:r>
            <a:endParaRPr lang="en-US" altLang="zh-CN" sz="2800" b="1" dirty="0">
              <a:solidFill>
                <a:srgbClr val="0000FF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447800" y="2590800"/>
            <a:ext cx="376302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|</a:t>
            </a:r>
            <a:r>
              <a:rPr lang="en-US" altLang="zh-CN" sz="2800" b="1" i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baseline="-25000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GS</a:t>
            </a:r>
            <a:r>
              <a:rPr lang="en-US" altLang="zh-CN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| &gt; |</a:t>
            </a:r>
            <a:r>
              <a:rPr lang="en-US" altLang="zh-CN" sz="2800" b="1" i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baseline="-25000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GS(</a:t>
            </a:r>
            <a:r>
              <a:rPr lang="en-US" altLang="zh-CN" sz="2800" b="1" baseline="-25000" dirty="0" err="1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th</a:t>
            </a:r>
            <a:r>
              <a:rPr lang="en-US" altLang="zh-CN" sz="2800" b="1" baseline="-25000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) </a:t>
            </a:r>
            <a:r>
              <a:rPr lang="en-US" altLang="zh-CN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|</a:t>
            </a:r>
            <a:r>
              <a:rPr lang="zh-CN" altLang="en-US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，</a:t>
            </a:r>
            <a:endParaRPr lang="zh-CN" altLang="en-US" sz="2800" b="1" dirty="0">
              <a:solidFill>
                <a:srgbClr val="0066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7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绝缘栅型场效应管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工作区间总结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childTnLst>
                                    <p:set>
                                      <p:cBhvr additive="base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childTnLst>
                                    <p:set>
                                      <p:cBhvr additive="base"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childTnLst>
                                    <p:set>
                                      <p:cBhvr additive="base"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childTnLst>
                                    <p:set>
                                      <p:cBhvr additive="base"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childTnLst>
                                    <p:set>
                                      <p:cBhvr additive="base"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childTnLst>
                                    <p:set>
                                      <p:cBhvr additive="base"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childTnLst>
                                    <p:set>
                                      <p:cBhvr additive="base"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childTnLst>
                                    <p:set>
                                      <p:cBhvr additive="base"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3079"/>
          <p:cNvGrpSpPr/>
          <p:nvPr/>
        </p:nvGrpSpPr>
        <p:grpSpPr bwMode="auto">
          <a:xfrm>
            <a:off x="2338968" y="1150937"/>
            <a:ext cx="1066800" cy="762000"/>
            <a:chOff x="1152" y="1008"/>
            <a:chExt cx="672" cy="480"/>
          </a:xfrm>
        </p:grpSpPr>
        <p:sp>
          <p:nvSpPr>
            <p:cNvPr id="7" name="Oval 4"/>
            <p:cNvSpPr>
              <a:spLocks noChangeArrowheads="1"/>
            </p:cNvSpPr>
            <p:nvPr/>
          </p:nvSpPr>
          <p:spPr bwMode="auto">
            <a:xfrm>
              <a:off x="1344" y="1296"/>
              <a:ext cx="192" cy="192"/>
            </a:xfrm>
            <a:prstGeom prst="ellipse">
              <a:avLst/>
            </a:prstGeom>
            <a:solidFill>
              <a:srgbClr val="CCFFFF"/>
            </a:solidFill>
            <a:ln w="254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ea typeface="黑体" panose="02010609060101010101" pitchFamily="49" charset="-122"/>
              </a:endParaRPr>
            </a:p>
          </p:txBody>
        </p:sp>
        <p:sp>
          <p:nvSpPr>
            <p:cNvPr id="8" name="Text Box 5"/>
            <p:cNvSpPr>
              <a:spLocks noChangeArrowheads="1"/>
            </p:cNvSpPr>
            <p:nvPr/>
          </p:nvSpPr>
          <p:spPr bwMode="auto">
            <a:xfrm>
              <a:off x="1152" y="1152"/>
              <a:ext cx="67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>
                  <a:solidFill>
                    <a:schemeClr val="folHlink"/>
                  </a:solidFill>
                  <a:latin typeface="宋体" panose="02010600030101010101" pitchFamily="2" charset="-122"/>
                  <a:ea typeface="黑体" panose="02010609060101010101" pitchFamily="49" charset="-122"/>
                </a:rPr>
                <a:t>+   -</a:t>
              </a:r>
              <a:r>
                <a:rPr lang="en-US" altLang="zh-CN" sz="2400" b="1">
                  <a:latin typeface="宋体" panose="02010600030101010101" pitchFamily="2" charset="-122"/>
                  <a:ea typeface="黑体" panose="02010609060101010101" pitchFamily="49" charset="-122"/>
                </a:rPr>
                <a:t> </a:t>
              </a:r>
              <a:endParaRPr lang="en-US" altLang="zh-CN" sz="2400" b="1">
                <a:latin typeface="宋体" panose="02010600030101010101" pitchFamily="2" charset="-122"/>
                <a:ea typeface="黑体" panose="02010609060101010101" pitchFamily="49" charset="-122"/>
              </a:endParaRPr>
            </a:p>
          </p:txBody>
        </p:sp>
        <p:cxnSp>
          <p:nvCxnSpPr>
            <p:cNvPr id="9" name="Line 6"/>
            <p:cNvCxnSpPr>
              <a:cxnSpLocks noChangeShapeType="1"/>
            </p:cNvCxnSpPr>
            <p:nvPr/>
          </p:nvCxnSpPr>
          <p:spPr bwMode="auto">
            <a:xfrm>
              <a:off x="1152" y="1392"/>
              <a:ext cx="57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1248" y="1008"/>
              <a:ext cx="4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 i="1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V</a:t>
              </a:r>
              <a:r>
                <a:rPr lang="en-US" altLang="zh-CN" sz="2400" b="1" baseline="-25000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GS</a:t>
              </a:r>
              <a:endParaRPr lang="en-US" altLang="zh-CN" sz="2400" b="1" baseline="-250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11" name="组合 3084"/>
          <p:cNvGrpSpPr/>
          <p:nvPr/>
        </p:nvGrpSpPr>
        <p:grpSpPr bwMode="auto">
          <a:xfrm>
            <a:off x="2262768" y="617537"/>
            <a:ext cx="2209800" cy="1066800"/>
            <a:chOff x="1104" y="672"/>
            <a:chExt cx="1392" cy="672"/>
          </a:xfrm>
        </p:grpSpPr>
        <p:sp>
          <p:nvSpPr>
            <p:cNvPr id="12" name="Oval 9"/>
            <p:cNvSpPr>
              <a:spLocks noChangeArrowheads="1"/>
            </p:cNvSpPr>
            <p:nvPr/>
          </p:nvSpPr>
          <p:spPr bwMode="auto">
            <a:xfrm>
              <a:off x="1776" y="960"/>
              <a:ext cx="192" cy="192"/>
            </a:xfrm>
            <a:prstGeom prst="ellipse">
              <a:avLst/>
            </a:prstGeom>
            <a:solidFill>
              <a:srgbClr val="CCFFFF"/>
            </a:solidFill>
            <a:ln w="254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ea typeface="黑体" panose="02010609060101010101" pitchFamily="49" charset="-122"/>
              </a:endParaRPr>
            </a:p>
          </p:txBody>
        </p:sp>
        <p:sp>
          <p:nvSpPr>
            <p:cNvPr id="13" name="Text Box 10"/>
            <p:cNvSpPr>
              <a:spLocks noChangeArrowheads="1"/>
            </p:cNvSpPr>
            <p:nvPr/>
          </p:nvSpPr>
          <p:spPr bwMode="auto">
            <a:xfrm>
              <a:off x="1632" y="672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 i="1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V</a:t>
              </a:r>
              <a:r>
                <a:rPr lang="en-US" altLang="zh-CN" sz="2400" b="1" baseline="-25000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DS</a:t>
              </a:r>
              <a:endParaRPr lang="en-US" altLang="zh-CN" sz="2400" b="1" baseline="-250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cxnSp>
          <p:nvCxnSpPr>
            <p:cNvPr id="14" name="Line 11"/>
            <p:cNvCxnSpPr>
              <a:cxnSpLocks noChangeShapeType="1"/>
            </p:cNvCxnSpPr>
            <p:nvPr/>
          </p:nvCxnSpPr>
          <p:spPr bwMode="auto">
            <a:xfrm flipV="1">
              <a:off x="1104" y="1056"/>
              <a:ext cx="0" cy="2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Line 12"/>
            <p:cNvCxnSpPr>
              <a:cxnSpLocks noChangeShapeType="1"/>
            </p:cNvCxnSpPr>
            <p:nvPr/>
          </p:nvCxnSpPr>
          <p:spPr bwMode="auto">
            <a:xfrm flipV="1">
              <a:off x="2496" y="1056"/>
              <a:ext cx="0" cy="24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Line 13"/>
            <p:cNvCxnSpPr>
              <a:cxnSpLocks noChangeShapeType="1"/>
            </p:cNvCxnSpPr>
            <p:nvPr/>
          </p:nvCxnSpPr>
          <p:spPr bwMode="auto">
            <a:xfrm>
              <a:off x="1104" y="1056"/>
              <a:ext cx="139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" name="Text Box 14"/>
            <p:cNvSpPr>
              <a:spLocks noChangeArrowheads="1"/>
            </p:cNvSpPr>
            <p:nvPr/>
          </p:nvSpPr>
          <p:spPr bwMode="auto">
            <a:xfrm>
              <a:off x="1584" y="816"/>
              <a:ext cx="67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>
                  <a:solidFill>
                    <a:schemeClr val="folHlink"/>
                  </a:solidFill>
                  <a:latin typeface="宋体" panose="02010600030101010101" pitchFamily="2" charset="-122"/>
                  <a:ea typeface="黑体" panose="02010609060101010101" pitchFamily="49" charset="-122"/>
                </a:rPr>
                <a:t>+   -</a:t>
              </a:r>
              <a:r>
                <a:rPr lang="en-US" altLang="zh-CN" sz="2400" b="1">
                  <a:solidFill>
                    <a:schemeClr val="accent2"/>
                  </a:solidFill>
                  <a:latin typeface="宋体" panose="02010600030101010101" pitchFamily="2" charset="-122"/>
                  <a:ea typeface="黑体" panose="02010609060101010101" pitchFamily="49" charset="-122"/>
                </a:rPr>
                <a:t> </a:t>
              </a:r>
              <a:endParaRPr lang="en-US" altLang="zh-CN" sz="2400" b="1">
                <a:solidFill>
                  <a:schemeClr val="accent2"/>
                </a:solidFill>
                <a:latin typeface="宋体" panose="02010600030101010101" pitchFamily="2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8" name="组合 3091"/>
          <p:cNvGrpSpPr/>
          <p:nvPr/>
        </p:nvGrpSpPr>
        <p:grpSpPr bwMode="auto">
          <a:xfrm>
            <a:off x="6453768" y="1581363"/>
            <a:ext cx="2286000" cy="2057400"/>
            <a:chOff x="144" y="2160"/>
            <a:chExt cx="1440" cy="1296"/>
          </a:xfrm>
        </p:grpSpPr>
        <p:grpSp>
          <p:nvGrpSpPr>
            <p:cNvPr id="19" name="组合 3092"/>
            <p:cNvGrpSpPr/>
            <p:nvPr/>
          </p:nvGrpSpPr>
          <p:grpSpPr bwMode="auto">
            <a:xfrm>
              <a:off x="384" y="2256"/>
              <a:ext cx="864" cy="1104"/>
              <a:chOff x="336" y="2016"/>
              <a:chExt cx="864" cy="1104"/>
            </a:xfrm>
          </p:grpSpPr>
          <p:cxnSp>
            <p:nvCxnSpPr>
              <p:cNvPr id="24" name="Line 17"/>
              <p:cNvCxnSpPr>
                <a:cxnSpLocks noChangeShapeType="1"/>
              </p:cNvCxnSpPr>
              <p:nvPr/>
            </p:nvCxnSpPr>
            <p:spPr bwMode="auto">
              <a:xfrm>
                <a:off x="432" y="2688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" name="Line 18"/>
              <p:cNvCxnSpPr>
                <a:cxnSpLocks noChangeShapeType="1"/>
              </p:cNvCxnSpPr>
              <p:nvPr/>
            </p:nvCxnSpPr>
            <p:spPr bwMode="auto">
              <a:xfrm>
                <a:off x="672" y="2448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6" name="Line 19"/>
              <p:cNvCxnSpPr>
                <a:cxnSpLocks noChangeShapeType="1"/>
              </p:cNvCxnSpPr>
              <p:nvPr/>
            </p:nvCxnSpPr>
            <p:spPr bwMode="auto">
              <a:xfrm>
                <a:off x="768" y="2496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7" name="Line 20"/>
              <p:cNvCxnSpPr>
                <a:cxnSpLocks noChangeShapeType="1"/>
              </p:cNvCxnSpPr>
              <p:nvPr/>
            </p:nvCxnSpPr>
            <p:spPr bwMode="auto">
              <a:xfrm>
                <a:off x="768" y="2640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8" name="Line 21"/>
              <p:cNvCxnSpPr>
                <a:cxnSpLocks noChangeShapeType="1"/>
              </p:cNvCxnSpPr>
              <p:nvPr/>
            </p:nvCxnSpPr>
            <p:spPr bwMode="auto">
              <a:xfrm>
                <a:off x="768" y="2688"/>
                <a:ext cx="144" cy="0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" name="Line 22"/>
              <p:cNvCxnSpPr>
                <a:cxnSpLocks noChangeShapeType="1"/>
              </p:cNvCxnSpPr>
              <p:nvPr/>
            </p:nvCxnSpPr>
            <p:spPr bwMode="auto">
              <a:xfrm>
                <a:off x="768" y="2400"/>
                <a:ext cx="144" cy="0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" name="Line 23"/>
              <p:cNvCxnSpPr>
                <a:cxnSpLocks noChangeShapeType="1"/>
              </p:cNvCxnSpPr>
              <p:nvPr/>
            </p:nvCxnSpPr>
            <p:spPr bwMode="auto">
              <a:xfrm>
                <a:off x="768" y="2544"/>
                <a:ext cx="336" cy="0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  <a:head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" name="Line 24"/>
              <p:cNvCxnSpPr>
                <a:cxnSpLocks noChangeShapeType="1"/>
              </p:cNvCxnSpPr>
              <p:nvPr/>
            </p:nvCxnSpPr>
            <p:spPr bwMode="auto">
              <a:xfrm>
                <a:off x="768" y="2352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2" name="Oval 25"/>
              <p:cNvSpPr>
                <a:spLocks noChangeArrowheads="1"/>
              </p:cNvSpPr>
              <p:nvPr/>
            </p:nvSpPr>
            <p:spPr bwMode="auto">
              <a:xfrm>
                <a:off x="1104" y="2496"/>
                <a:ext cx="96" cy="96"/>
              </a:xfrm>
              <a:prstGeom prst="ellipse">
                <a:avLst/>
              </a:prstGeom>
              <a:noFill/>
              <a:ln w="25400">
                <a:solidFill>
                  <a:srgbClr val="0000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黑体" panose="02010609060101010101" pitchFamily="49" charset="-122"/>
                </a:endParaRPr>
              </a:p>
            </p:txBody>
          </p:sp>
          <p:sp>
            <p:nvSpPr>
              <p:cNvPr id="33" name="Oval 26"/>
              <p:cNvSpPr>
                <a:spLocks noChangeArrowheads="1"/>
              </p:cNvSpPr>
              <p:nvPr/>
            </p:nvSpPr>
            <p:spPr bwMode="auto">
              <a:xfrm>
                <a:off x="336" y="2640"/>
                <a:ext cx="96" cy="96"/>
              </a:xfrm>
              <a:prstGeom prst="ellipse">
                <a:avLst/>
              </a:prstGeom>
              <a:noFill/>
              <a:ln w="25400">
                <a:solidFill>
                  <a:srgbClr val="0000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黑体" panose="02010609060101010101" pitchFamily="49" charset="-122"/>
                </a:endParaRPr>
              </a:p>
            </p:txBody>
          </p:sp>
          <p:cxnSp>
            <p:nvCxnSpPr>
              <p:cNvPr id="34" name="Line 27"/>
              <p:cNvCxnSpPr>
                <a:cxnSpLocks noChangeShapeType="1"/>
              </p:cNvCxnSpPr>
              <p:nvPr/>
            </p:nvCxnSpPr>
            <p:spPr bwMode="auto">
              <a:xfrm>
                <a:off x="912" y="2688"/>
                <a:ext cx="0" cy="336"/>
              </a:xfrm>
              <a:prstGeom prst="line">
                <a:avLst/>
              </a:prstGeom>
              <a:noFill/>
              <a:ln w="25400">
                <a:solidFill>
                  <a:srgbClr val="0000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5" name="Line 28"/>
              <p:cNvCxnSpPr>
                <a:cxnSpLocks noChangeShapeType="1"/>
              </p:cNvCxnSpPr>
              <p:nvPr/>
            </p:nvCxnSpPr>
            <p:spPr bwMode="auto">
              <a:xfrm>
                <a:off x="912" y="2112"/>
                <a:ext cx="0" cy="288"/>
              </a:xfrm>
              <a:prstGeom prst="line">
                <a:avLst/>
              </a:prstGeom>
              <a:noFill/>
              <a:ln w="25400">
                <a:solidFill>
                  <a:srgbClr val="0000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6" name="Oval 29"/>
              <p:cNvSpPr>
                <a:spLocks noChangeArrowheads="1"/>
              </p:cNvSpPr>
              <p:nvPr/>
            </p:nvSpPr>
            <p:spPr bwMode="auto">
              <a:xfrm>
                <a:off x="864" y="3024"/>
                <a:ext cx="96" cy="96"/>
              </a:xfrm>
              <a:prstGeom prst="ellipse">
                <a:avLst/>
              </a:prstGeom>
              <a:noFill/>
              <a:ln w="25400">
                <a:solidFill>
                  <a:srgbClr val="0000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黑体" panose="02010609060101010101" pitchFamily="49" charset="-122"/>
                </a:endParaRPr>
              </a:p>
            </p:txBody>
          </p:sp>
          <p:sp>
            <p:nvSpPr>
              <p:cNvPr id="37" name="Oval 30"/>
              <p:cNvSpPr>
                <a:spLocks noChangeArrowheads="1"/>
              </p:cNvSpPr>
              <p:nvPr/>
            </p:nvSpPr>
            <p:spPr bwMode="auto">
              <a:xfrm>
                <a:off x="864" y="2016"/>
                <a:ext cx="96" cy="96"/>
              </a:xfrm>
              <a:prstGeom prst="ellipse">
                <a:avLst/>
              </a:prstGeom>
              <a:noFill/>
              <a:ln w="25400">
                <a:solidFill>
                  <a:srgbClr val="0000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20" name="Text Box 31"/>
            <p:cNvSpPr>
              <a:spLocks noChangeArrowheads="1"/>
            </p:cNvSpPr>
            <p:nvPr/>
          </p:nvSpPr>
          <p:spPr bwMode="auto">
            <a:xfrm>
              <a:off x="672" y="316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S</a:t>
              </a:r>
              <a:endParaRPr lang="en-US" altLang="zh-CN" sz="2400" b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1" name="Text Box 32"/>
            <p:cNvSpPr>
              <a:spLocks noChangeArrowheads="1"/>
            </p:cNvSpPr>
            <p:nvPr/>
          </p:nvSpPr>
          <p:spPr bwMode="auto">
            <a:xfrm>
              <a:off x="144" y="2784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G</a:t>
              </a:r>
              <a:endParaRPr lang="en-US" altLang="zh-CN" sz="2400" b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2" name="Text Box 33"/>
            <p:cNvSpPr>
              <a:spLocks noChangeArrowheads="1"/>
            </p:cNvSpPr>
            <p:nvPr/>
          </p:nvSpPr>
          <p:spPr bwMode="auto">
            <a:xfrm>
              <a:off x="1248" y="2640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B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3" name="Text Box 34"/>
            <p:cNvSpPr>
              <a:spLocks noChangeArrowheads="1"/>
            </p:cNvSpPr>
            <p:nvPr/>
          </p:nvSpPr>
          <p:spPr bwMode="auto">
            <a:xfrm>
              <a:off x="672" y="2160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D</a:t>
              </a:r>
              <a:endParaRPr lang="en-US" altLang="zh-CN" sz="2400" b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38" name="组合 3111"/>
          <p:cNvGrpSpPr/>
          <p:nvPr/>
        </p:nvGrpSpPr>
        <p:grpSpPr bwMode="auto">
          <a:xfrm>
            <a:off x="1213431" y="1455737"/>
            <a:ext cx="3868738" cy="2386013"/>
            <a:chOff x="683" y="1200"/>
            <a:chExt cx="2437" cy="1503"/>
          </a:xfrm>
        </p:grpSpPr>
        <p:cxnSp>
          <p:nvCxnSpPr>
            <p:cNvPr id="39" name="Line 36"/>
            <p:cNvCxnSpPr>
              <a:cxnSpLocks noChangeShapeType="1"/>
            </p:cNvCxnSpPr>
            <p:nvPr/>
          </p:nvCxnSpPr>
          <p:spPr bwMode="auto">
            <a:xfrm>
              <a:off x="683" y="1392"/>
              <a:ext cx="6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40" name="组合 3113"/>
            <p:cNvGrpSpPr/>
            <p:nvPr/>
          </p:nvGrpSpPr>
          <p:grpSpPr bwMode="auto">
            <a:xfrm>
              <a:off x="915" y="1200"/>
              <a:ext cx="2205" cy="1503"/>
              <a:chOff x="675" y="1200"/>
              <a:chExt cx="2205" cy="1503"/>
            </a:xfrm>
          </p:grpSpPr>
          <p:sp>
            <p:nvSpPr>
              <p:cNvPr id="41" name="Rectangle 38"/>
              <p:cNvSpPr>
                <a:spLocks noChangeArrowheads="1"/>
              </p:cNvSpPr>
              <p:nvPr/>
            </p:nvSpPr>
            <p:spPr bwMode="auto">
              <a:xfrm>
                <a:off x="675" y="1728"/>
                <a:ext cx="2205" cy="672"/>
              </a:xfrm>
              <a:prstGeom prst="rect">
                <a:avLst/>
              </a:prstGeom>
              <a:solidFill>
                <a:srgbClr val="FFCCFF"/>
              </a:solidFill>
              <a:ln w="25400">
                <a:solidFill>
                  <a:srgbClr val="000000"/>
                </a:solidFill>
                <a:miter lim="800000"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>
                  <a:ea typeface="黑体" panose="02010609060101010101" pitchFamily="49" charset="-122"/>
                </a:endParaRPr>
              </a:p>
            </p:txBody>
          </p:sp>
          <p:sp>
            <p:nvSpPr>
              <p:cNvPr id="42" name="Text Box 39"/>
              <p:cNvSpPr>
                <a:spLocks noChangeArrowheads="1"/>
              </p:cNvSpPr>
              <p:nvPr/>
            </p:nvSpPr>
            <p:spPr bwMode="auto">
              <a:xfrm>
                <a:off x="1680" y="2160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  <a:ea typeface="黑体" panose="02010609060101010101" pitchFamily="49" charset="-122"/>
                  </a:rPr>
                  <a:t>N</a:t>
                </a:r>
                <a:endParaRPr lang="en-US" altLang="zh-CN" b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5" name="Rectangle 44" descr="宽下对角线"/>
              <p:cNvSpPr>
                <a:spLocks noChangeArrowheads="1"/>
              </p:cNvSpPr>
              <p:nvPr/>
            </p:nvSpPr>
            <p:spPr bwMode="auto">
              <a:xfrm>
                <a:off x="816" y="1728"/>
                <a:ext cx="96" cy="288"/>
              </a:xfrm>
              <a:prstGeom prst="rect">
                <a:avLst/>
              </a:prstGeom>
              <a:pattFill prst="wdDnDiag">
                <a:fgClr>
                  <a:srgbClr val="FF99FF"/>
                </a:fgClr>
                <a:bgClr>
                  <a:srgbClr val="FFFFFF"/>
                </a:bgClr>
              </a:patt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黑体" panose="02010609060101010101" pitchFamily="49" charset="-122"/>
                </a:endParaRPr>
              </a:p>
            </p:txBody>
          </p:sp>
          <p:sp>
            <p:nvSpPr>
              <p:cNvPr id="46" name="Rectangle 45" descr="宽下对角线"/>
              <p:cNvSpPr>
                <a:spLocks noChangeArrowheads="1"/>
              </p:cNvSpPr>
              <p:nvPr/>
            </p:nvSpPr>
            <p:spPr bwMode="auto">
              <a:xfrm>
                <a:off x="1296" y="1728"/>
                <a:ext cx="96" cy="384"/>
              </a:xfrm>
              <a:prstGeom prst="rect">
                <a:avLst/>
              </a:prstGeom>
              <a:pattFill prst="wdDnDiag">
                <a:fgClr>
                  <a:srgbClr val="FF99FF"/>
                </a:fgClr>
                <a:bgClr>
                  <a:srgbClr val="FFFFFF"/>
                </a:bgClr>
              </a:patt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黑体" panose="02010609060101010101" pitchFamily="49" charset="-122"/>
                </a:endParaRPr>
              </a:p>
            </p:txBody>
          </p:sp>
          <p:sp>
            <p:nvSpPr>
              <p:cNvPr id="47" name="Rectangle 46" descr="宽下对角线"/>
              <p:cNvSpPr>
                <a:spLocks noChangeArrowheads="1"/>
              </p:cNvSpPr>
              <p:nvPr/>
            </p:nvSpPr>
            <p:spPr bwMode="auto">
              <a:xfrm>
                <a:off x="816" y="2016"/>
                <a:ext cx="480" cy="96"/>
              </a:xfrm>
              <a:prstGeom prst="rect">
                <a:avLst/>
              </a:prstGeom>
              <a:pattFill prst="wdDnDiag">
                <a:fgClr>
                  <a:srgbClr val="FF99FF"/>
                </a:fgClr>
                <a:bgClr>
                  <a:srgbClr val="FFFFFF"/>
                </a:bgClr>
              </a:patt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黑体" panose="02010609060101010101" pitchFamily="49" charset="-122"/>
                </a:endParaRPr>
              </a:p>
            </p:txBody>
          </p:sp>
          <p:sp>
            <p:nvSpPr>
              <p:cNvPr id="48" name="Rectangle 47" descr="宽下对角线"/>
              <p:cNvSpPr>
                <a:spLocks noChangeArrowheads="1"/>
              </p:cNvSpPr>
              <p:nvPr/>
            </p:nvSpPr>
            <p:spPr bwMode="auto">
              <a:xfrm>
                <a:off x="2640" y="1728"/>
                <a:ext cx="96" cy="288"/>
              </a:xfrm>
              <a:prstGeom prst="rect">
                <a:avLst/>
              </a:prstGeom>
              <a:pattFill prst="wdDnDiag">
                <a:fgClr>
                  <a:srgbClr val="FF99FF"/>
                </a:fgClr>
                <a:bgClr>
                  <a:srgbClr val="FFFFFF"/>
                </a:bgClr>
              </a:patt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黑体" panose="02010609060101010101" pitchFamily="49" charset="-122"/>
                </a:endParaRPr>
              </a:p>
            </p:txBody>
          </p:sp>
          <p:sp>
            <p:nvSpPr>
              <p:cNvPr id="49" name="Rectangle 48" descr="宽下对角线"/>
              <p:cNvSpPr>
                <a:spLocks noChangeArrowheads="1"/>
              </p:cNvSpPr>
              <p:nvPr/>
            </p:nvSpPr>
            <p:spPr bwMode="auto">
              <a:xfrm>
                <a:off x="2208" y="2016"/>
                <a:ext cx="528" cy="96"/>
              </a:xfrm>
              <a:prstGeom prst="rect">
                <a:avLst/>
              </a:prstGeom>
              <a:pattFill prst="wdDnDiag">
                <a:fgClr>
                  <a:srgbClr val="FF99FF"/>
                </a:fgClr>
                <a:bgClr>
                  <a:srgbClr val="FFFFFF"/>
                </a:bgClr>
              </a:patt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黑体" panose="02010609060101010101" pitchFamily="49" charset="-122"/>
                </a:endParaRPr>
              </a:p>
            </p:txBody>
          </p:sp>
          <p:sp>
            <p:nvSpPr>
              <p:cNvPr id="50" name="Rectangle 49" descr="宽上对角线"/>
              <p:cNvSpPr>
                <a:spLocks noChangeArrowheads="1"/>
              </p:cNvSpPr>
              <p:nvPr/>
            </p:nvSpPr>
            <p:spPr bwMode="auto">
              <a:xfrm>
                <a:off x="675" y="1632"/>
                <a:ext cx="2205" cy="87"/>
              </a:xfrm>
              <a:prstGeom prst="rect">
                <a:avLst/>
              </a:prstGeom>
              <a:pattFill prst="wdUpDiag">
                <a:fgClr>
                  <a:srgbClr val="FFCC99"/>
                </a:fgClr>
                <a:bgClr>
                  <a:srgbClr val="FFFFFF"/>
                </a:bgClr>
              </a:pattFill>
              <a:ln w="254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ea typeface="黑体" panose="02010609060101010101" pitchFamily="49" charset="-122"/>
                </a:endParaRPr>
              </a:p>
            </p:txBody>
          </p:sp>
          <p:cxnSp>
            <p:nvCxnSpPr>
              <p:cNvPr id="51" name="Line 50"/>
              <p:cNvCxnSpPr>
                <a:cxnSpLocks noChangeShapeType="1"/>
              </p:cNvCxnSpPr>
              <p:nvPr/>
            </p:nvCxnSpPr>
            <p:spPr bwMode="auto">
              <a:xfrm>
                <a:off x="816" y="1728"/>
                <a:ext cx="0" cy="38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" name="Line 51"/>
              <p:cNvCxnSpPr>
                <a:cxnSpLocks noChangeShapeType="1"/>
              </p:cNvCxnSpPr>
              <p:nvPr/>
            </p:nvCxnSpPr>
            <p:spPr bwMode="auto">
              <a:xfrm>
                <a:off x="864" y="2112"/>
                <a:ext cx="528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3" name="Line 52"/>
              <p:cNvCxnSpPr>
                <a:cxnSpLocks noChangeShapeType="1"/>
              </p:cNvCxnSpPr>
              <p:nvPr/>
            </p:nvCxnSpPr>
            <p:spPr bwMode="auto">
              <a:xfrm>
                <a:off x="1392" y="1728"/>
                <a:ext cx="0" cy="38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4" name="Line 53"/>
              <p:cNvCxnSpPr>
                <a:cxnSpLocks noChangeShapeType="1"/>
              </p:cNvCxnSpPr>
              <p:nvPr/>
            </p:nvCxnSpPr>
            <p:spPr bwMode="auto">
              <a:xfrm>
                <a:off x="2160" y="1728"/>
                <a:ext cx="0" cy="38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5" name="Line 54"/>
              <p:cNvCxnSpPr>
                <a:cxnSpLocks noChangeShapeType="1"/>
              </p:cNvCxnSpPr>
              <p:nvPr/>
            </p:nvCxnSpPr>
            <p:spPr bwMode="auto">
              <a:xfrm>
                <a:off x="2160" y="2112"/>
                <a:ext cx="576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6" name="Line 55"/>
              <p:cNvCxnSpPr>
                <a:cxnSpLocks noChangeShapeType="1"/>
              </p:cNvCxnSpPr>
              <p:nvPr/>
            </p:nvCxnSpPr>
            <p:spPr bwMode="auto">
              <a:xfrm>
                <a:off x="2736" y="1728"/>
                <a:ext cx="0" cy="38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57" name="Rectangle 56"/>
              <p:cNvSpPr>
                <a:spLocks noChangeArrowheads="1"/>
              </p:cNvSpPr>
              <p:nvPr/>
            </p:nvSpPr>
            <p:spPr bwMode="auto">
              <a:xfrm>
                <a:off x="912" y="1728"/>
                <a:ext cx="384" cy="288"/>
              </a:xfrm>
              <a:prstGeom prst="rect">
                <a:avLst/>
              </a:prstGeom>
              <a:solidFill>
                <a:srgbClr val="FFFFCC"/>
              </a:solidFill>
              <a:ln w="254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ea typeface="黑体" panose="02010609060101010101" pitchFamily="49" charset="-122"/>
                </a:endParaRPr>
              </a:p>
            </p:txBody>
          </p:sp>
          <p:sp>
            <p:nvSpPr>
              <p:cNvPr id="58" name="Rectangle 57"/>
              <p:cNvSpPr>
                <a:spLocks noChangeArrowheads="1"/>
              </p:cNvSpPr>
              <p:nvPr/>
            </p:nvSpPr>
            <p:spPr bwMode="auto">
              <a:xfrm>
                <a:off x="2256" y="1728"/>
                <a:ext cx="384" cy="288"/>
              </a:xfrm>
              <a:prstGeom prst="rect">
                <a:avLst/>
              </a:prstGeom>
              <a:solidFill>
                <a:srgbClr val="FFFFCC"/>
              </a:solidFill>
              <a:ln w="254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ea typeface="黑体" panose="02010609060101010101" pitchFamily="49" charset="-122"/>
                </a:endParaRPr>
              </a:p>
            </p:txBody>
          </p:sp>
          <p:grpSp>
            <p:nvGrpSpPr>
              <p:cNvPr id="59" name="组合 3134"/>
              <p:cNvGrpSpPr/>
              <p:nvPr/>
            </p:nvGrpSpPr>
            <p:grpSpPr bwMode="auto">
              <a:xfrm>
                <a:off x="864" y="1680"/>
                <a:ext cx="480" cy="279"/>
                <a:chOff x="4080" y="2496"/>
                <a:chExt cx="480" cy="279"/>
              </a:xfrm>
            </p:grpSpPr>
            <p:sp>
              <p:nvSpPr>
                <p:cNvPr id="81" name="Text Box 59"/>
                <p:cNvSpPr>
                  <a:spLocks noChangeArrowheads="1"/>
                </p:cNvSpPr>
                <p:nvPr/>
              </p:nvSpPr>
              <p:spPr bwMode="auto">
                <a:xfrm>
                  <a:off x="4080" y="2544"/>
                  <a:ext cx="432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 altLang="zh-CN" b="1">
                      <a:latin typeface="Times New Roman" panose="02020603050405020304" pitchFamily="18" charset="0"/>
                      <a:ea typeface="黑体" panose="02010609060101010101" pitchFamily="49" charset="-122"/>
                    </a:rPr>
                    <a:t>P</a:t>
                  </a:r>
                  <a:endParaRPr lang="en-US" altLang="zh-CN" b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2" name="Text Box 60"/>
                <p:cNvSpPr>
                  <a:spLocks noChangeArrowheads="1"/>
                </p:cNvSpPr>
                <p:nvPr/>
              </p:nvSpPr>
              <p:spPr bwMode="auto">
                <a:xfrm>
                  <a:off x="4272" y="2496"/>
                  <a:ext cx="288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b="1">
                      <a:latin typeface="Times New Roman" panose="02020603050405020304" pitchFamily="18" charset="0"/>
                      <a:ea typeface="黑体" panose="02010609060101010101" pitchFamily="49" charset="-122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61" name="Rectangle 62"/>
              <p:cNvSpPr>
                <a:spLocks noChangeArrowheads="1"/>
              </p:cNvSpPr>
              <p:nvPr/>
            </p:nvSpPr>
            <p:spPr bwMode="auto">
              <a:xfrm>
                <a:off x="1056" y="1632"/>
                <a:ext cx="96" cy="96"/>
              </a:xfrm>
              <a:prstGeom prst="rect">
                <a:avLst/>
              </a:prstGeom>
              <a:solidFill>
                <a:srgbClr val="000000"/>
              </a:solidFill>
              <a:ln w="254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ea typeface="黑体" panose="02010609060101010101" pitchFamily="49" charset="-122"/>
                </a:endParaRPr>
              </a:p>
            </p:txBody>
          </p:sp>
          <p:sp>
            <p:nvSpPr>
              <p:cNvPr id="62" name="Rectangle 63"/>
              <p:cNvSpPr>
                <a:spLocks noChangeArrowheads="1"/>
              </p:cNvSpPr>
              <p:nvPr/>
            </p:nvSpPr>
            <p:spPr bwMode="auto">
              <a:xfrm>
                <a:off x="2448" y="1632"/>
                <a:ext cx="96" cy="96"/>
              </a:xfrm>
              <a:prstGeom prst="rect">
                <a:avLst/>
              </a:prstGeom>
              <a:solidFill>
                <a:srgbClr val="000000"/>
              </a:solidFill>
              <a:ln w="254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ea typeface="黑体" panose="02010609060101010101" pitchFamily="49" charset="-122"/>
                </a:endParaRPr>
              </a:p>
            </p:txBody>
          </p:sp>
          <p:sp>
            <p:nvSpPr>
              <p:cNvPr id="63" name="Rectangle 64"/>
              <p:cNvSpPr>
                <a:spLocks noChangeArrowheads="1"/>
              </p:cNvSpPr>
              <p:nvPr/>
            </p:nvSpPr>
            <p:spPr bwMode="auto">
              <a:xfrm>
                <a:off x="1248" y="1584"/>
                <a:ext cx="1104" cy="48"/>
              </a:xfrm>
              <a:prstGeom prst="rect">
                <a:avLst/>
              </a:prstGeom>
              <a:solidFill>
                <a:srgbClr val="000000"/>
              </a:solidFill>
              <a:ln w="254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ea typeface="黑体" panose="02010609060101010101" pitchFamily="49" charset="-122"/>
                </a:endParaRPr>
              </a:p>
            </p:txBody>
          </p:sp>
          <p:cxnSp>
            <p:nvCxnSpPr>
              <p:cNvPr id="64" name="Line 65"/>
              <p:cNvCxnSpPr>
                <a:cxnSpLocks noChangeShapeType="1"/>
              </p:cNvCxnSpPr>
              <p:nvPr/>
            </p:nvCxnSpPr>
            <p:spPr bwMode="auto">
              <a:xfrm>
                <a:off x="1776" y="1440"/>
                <a:ext cx="0" cy="14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65" name="Oval 66"/>
              <p:cNvSpPr>
                <a:spLocks noChangeArrowheads="1"/>
              </p:cNvSpPr>
              <p:nvPr/>
            </p:nvSpPr>
            <p:spPr bwMode="auto">
              <a:xfrm>
                <a:off x="1728" y="1344"/>
                <a:ext cx="96" cy="96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黑体" panose="02010609060101010101" pitchFamily="49" charset="-122"/>
                </a:endParaRPr>
              </a:p>
            </p:txBody>
          </p:sp>
          <p:cxnSp>
            <p:nvCxnSpPr>
              <p:cNvPr id="66" name="Line 67"/>
              <p:cNvCxnSpPr>
                <a:cxnSpLocks noChangeShapeType="1"/>
              </p:cNvCxnSpPr>
              <p:nvPr/>
            </p:nvCxnSpPr>
            <p:spPr bwMode="auto">
              <a:xfrm>
                <a:off x="1104" y="1440"/>
                <a:ext cx="0" cy="19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67" name="Oval 68"/>
              <p:cNvSpPr>
                <a:spLocks noChangeArrowheads="1"/>
              </p:cNvSpPr>
              <p:nvPr/>
            </p:nvSpPr>
            <p:spPr bwMode="auto">
              <a:xfrm>
                <a:off x="1056" y="1344"/>
                <a:ext cx="96" cy="96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黑体" panose="02010609060101010101" pitchFamily="49" charset="-122"/>
                </a:endParaRPr>
              </a:p>
            </p:txBody>
          </p:sp>
          <p:cxnSp>
            <p:nvCxnSpPr>
              <p:cNvPr id="68" name="Line 69"/>
              <p:cNvCxnSpPr>
                <a:cxnSpLocks noChangeShapeType="1"/>
              </p:cNvCxnSpPr>
              <p:nvPr/>
            </p:nvCxnSpPr>
            <p:spPr bwMode="auto">
              <a:xfrm>
                <a:off x="2496" y="1392"/>
                <a:ext cx="0" cy="24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69" name="Oval 70"/>
              <p:cNvSpPr>
                <a:spLocks noChangeArrowheads="1"/>
              </p:cNvSpPr>
              <p:nvPr/>
            </p:nvSpPr>
            <p:spPr bwMode="auto">
              <a:xfrm>
                <a:off x="2448" y="1296"/>
                <a:ext cx="96" cy="96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黑体" panose="02010609060101010101" pitchFamily="49" charset="-122"/>
                </a:endParaRPr>
              </a:p>
            </p:txBody>
          </p:sp>
          <p:cxnSp>
            <p:nvCxnSpPr>
              <p:cNvPr id="70" name="Line 71"/>
              <p:cNvCxnSpPr>
                <a:cxnSpLocks noChangeShapeType="1"/>
              </p:cNvCxnSpPr>
              <p:nvPr/>
            </p:nvCxnSpPr>
            <p:spPr bwMode="auto">
              <a:xfrm>
                <a:off x="1776" y="2400"/>
                <a:ext cx="0" cy="14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1" name="Oval 72"/>
              <p:cNvSpPr>
                <a:spLocks noChangeArrowheads="1"/>
              </p:cNvSpPr>
              <p:nvPr/>
            </p:nvSpPr>
            <p:spPr bwMode="auto">
              <a:xfrm>
                <a:off x="1729" y="2539"/>
                <a:ext cx="96" cy="96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黑体" panose="02010609060101010101" pitchFamily="49" charset="-122"/>
                </a:endParaRPr>
              </a:p>
            </p:txBody>
          </p:sp>
          <p:sp>
            <p:nvSpPr>
              <p:cNvPr id="72" name="Text Box 73"/>
              <p:cNvSpPr>
                <a:spLocks noChangeArrowheads="1"/>
              </p:cNvSpPr>
              <p:nvPr/>
            </p:nvSpPr>
            <p:spPr bwMode="auto">
              <a:xfrm>
                <a:off x="864" y="1200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  <a:ea typeface="黑体" panose="02010609060101010101" pitchFamily="49" charset="-122"/>
                  </a:rPr>
                  <a:t>S</a:t>
                </a:r>
                <a:endParaRPr lang="en-US" altLang="zh-CN" b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73" name="Text Box 74"/>
              <p:cNvSpPr>
                <a:spLocks noChangeArrowheads="1"/>
              </p:cNvSpPr>
              <p:nvPr/>
            </p:nvSpPr>
            <p:spPr bwMode="auto">
              <a:xfrm>
                <a:off x="1824" y="1200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  <a:ea typeface="黑体" panose="02010609060101010101" pitchFamily="49" charset="-122"/>
                  </a:rPr>
                  <a:t>G</a:t>
                </a:r>
                <a:endParaRPr lang="en-US" altLang="zh-CN" b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74" name="Text Box 75"/>
              <p:cNvSpPr>
                <a:spLocks noChangeArrowheads="1"/>
              </p:cNvSpPr>
              <p:nvPr/>
            </p:nvSpPr>
            <p:spPr bwMode="auto">
              <a:xfrm>
                <a:off x="2544" y="1200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  <a:ea typeface="黑体" panose="02010609060101010101" pitchFamily="49" charset="-122"/>
                  </a:rPr>
                  <a:t>D</a:t>
                </a:r>
                <a:endParaRPr lang="en-US" altLang="zh-CN" b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75" name="Text Box 76"/>
              <p:cNvSpPr>
                <a:spLocks noChangeArrowheads="1"/>
              </p:cNvSpPr>
              <p:nvPr/>
            </p:nvSpPr>
            <p:spPr bwMode="auto">
              <a:xfrm>
                <a:off x="1810" y="2472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B</a:t>
                </a:r>
                <a:endParaRPr lang="en-US" altLang="zh-CN" b="1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cxnSp>
            <p:nvCxnSpPr>
              <p:cNvPr id="76" name="Line 77"/>
              <p:cNvCxnSpPr>
                <a:cxnSpLocks noChangeShapeType="1"/>
              </p:cNvCxnSpPr>
              <p:nvPr/>
            </p:nvCxnSpPr>
            <p:spPr bwMode="auto">
              <a:xfrm>
                <a:off x="1248" y="1728"/>
                <a:ext cx="1056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7" name="Rectangle 78" descr="宽下对角线"/>
              <p:cNvSpPr>
                <a:spLocks noChangeArrowheads="1"/>
              </p:cNvSpPr>
              <p:nvPr/>
            </p:nvSpPr>
            <p:spPr bwMode="auto">
              <a:xfrm>
                <a:off x="2160" y="1728"/>
                <a:ext cx="96" cy="384"/>
              </a:xfrm>
              <a:prstGeom prst="rect">
                <a:avLst/>
              </a:prstGeom>
              <a:pattFill prst="wdDnDiag">
                <a:fgClr>
                  <a:srgbClr val="FF99FF"/>
                </a:fgClr>
                <a:bgClr>
                  <a:srgbClr val="FFFFFF"/>
                </a:bgClr>
              </a:patt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黑体" panose="02010609060101010101" pitchFamily="49" charset="-122"/>
                </a:endParaRPr>
              </a:p>
            </p:txBody>
          </p:sp>
          <p:grpSp>
            <p:nvGrpSpPr>
              <p:cNvPr id="78" name="组合 3155"/>
              <p:cNvGrpSpPr/>
              <p:nvPr/>
            </p:nvGrpSpPr>
            <p:grpSpPr bwMode="auto">
              <a:xfrm>
                <a:off x="2208" y="1680"/>
                <a:ext cx="480" cy="279"/>
                <a:chOff x="4080" y="2496"/>
                <a:chExt cx="480" cy="279"/>
              </a:xfrm>
            </p:grpSpPr>
            <p:sp>
              <p:nvSpPr>
                <p:cNvPr id="79" name="Text Box 80"/>
                <p:cNvSpPr>
                  <a:spLocks noChangeArrowheads="1"/>
                </p:cNvSpPr>
                <p:nvPr/>
              </p:nvSpPr>
              <p:spPr bwMode="auto">
                <a:xfrm>
                  <a:off x="4080" y="2544"/>
                  <a:ext cx="432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 altLang="zh-CN" b="1">
                      <a:latin typeface="Times New Roman" panose="02020603050405020304" pitchFamily="18" charset="0"/>
                      <a:ea typeface="黑体" panose="02010609060101010101" pitchFamily="49" charset="-122"/>
                    </a:rPr>
                    <a:t>P</a:t>
                  </a:r>
                  <a:endParaRPr lang="en-US" altLang="zh-CN" b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" name="Text Box 81"/>
                <p:cNvSpPr>
                  <a:spLocks noChangeArrowheads="1"/>
                </p:cNvSpPr>
                <p:nvPr/>
              </p:nvSpPr>
              <p:spPr bwMode="auto">
                <a:xfrm>
                  <a:off x="4272" y="2496"/>
                  <a:ext cx="288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b="1">
                      <a:latin typeface="Times New Roman" panose="02020603050405020304" pitchFamily="18" charset="0"/>
                      <a:ea typeface="黑体" panose="02010609060101010101" pitchFamily="49" charset="-122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</p:grpSp>
      </p:grpSp>
      <p:sp>
        <p:nvSpPr>
          <p:cNvPr id="85" name="Text Box 82"/>
          <p:cNvSpPr>
            <a:spLocks noChangeArrowheads="1"/>
          </p:cNvSpPr>
          <p:nvPr/>
        </p:nvSpPr>
        <p:spPr bwMode="auto">
          <a:xfrm>
            <a:off x="1460157" y="4264033"/>
            <a:ext cx="9092513" cy="508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P</a:t>
            </a:r>
            <a:r>
              <a:rPr lang="zh-CN" altLang="en-US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沟道增强型</a:t>
            </a:r>
            <a:r>
              <a:rPr lang="en-US" altLang="zh-CN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MOS</a:t>
            </a:r>
            <a:r>
              <a:rPr lang="zh-CN" altLang="en-US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管与</a:t>
            </a:r>
            <a:r>
              <a:rPr lang="en-US" altLang="zh-CN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N</a:t>
            </a:r>
            <a:r>
              <a:rPr lang="zh-CN" altLang="en-US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沟道 增强型</a:t>
            </a:r>
            <a:r>
              <a:rPr lang="en-US" altLang="zh-CN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MOS</a:t>
            </a:r>
            <a:r>
              <a:rPr lang="zh-CN" altLang="en-US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管工作原理相似。</a:t>
            </a:r>
            <a:endParaRPr lang="zh-CN" altLang="en-US" sz="2800" b="1" dirty="0">
              <a:solidFill>
                <a:srgbClr val="0066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86" name="Rectangle 83"/>
          <p:cNvSpPr>
            <a:spLocks noChangeArrowheads="1"/>
          </p:cNvSpPr>
          <p:nvPr/>
        </p:nvSpPr>
        <p:spPr bwMode="auto">
          <a:xfrm>
            <a:off x="3727237" y="6187450"/>
            <a:ext cx="42719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chemeClr val="folHlink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即</a:t>
            </a:r>
            <a:r>
              <a:rPr lang="en-US" altLang="zh-CN" sz="2800" b="1" i="1" dirty="0">
                <a:solidFill>
                  <a:schemeClr val="folHlink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baseline="-25000" dirty="0">
                <a:solidFill>
                  <a:schemeClr val="folHlink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DS</a:t>
            </a:r>
            <a:r>
              <a:rPr lang="en-US" altLang="zh-CN" sz="2800" b="1" dirty="0">
                <a:solidFill>
                  <a:schemeClr val="folHlink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&lt; 0 </a:t>
            </a:r>
            <a:r>
              <a:rPr lang="zh-CN" altLang="en-US" sz="2800" b="1" dirty="0">
                <a:solidFill>
                  <a:schemeClr val="folHlink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、</a:t>
            </a:r>
            <a:r>
              <a:rPr lang="en-US" altLang="zh-CN" sz="2800" b="1" i="1" dirty="0">
                <a:solidFill>
                  <a:schemeClr val="folHlink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baseline="-25000" dirty="0">
                <a:solidFill>
                  <a:schemeClr val="folHlink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GS</a:t>
            </a:r>
            <a:r>
              <a:rPr lang="en-US" altLang="zh-CN" sz="2800" b="1" dirty="0">
                <a:solidFill>
                  <a:schemeClr val="folHlink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&lt; 0</a:t>
            </a:r>
            <a:endParaRPr lang="en-US" altLang="zh-CN" sz="2800" b="1" dirty="0">
              <a:solidFill>
                <a:schemeClr val="folHlink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87" name="Rectangle 84"/>
          <p:cNvSpPr>
            <a:spLocks noChangeArrowheads="1"/>
          </p:cNvSpPr>
          <p:nvPr/>
        </p:nvSpPr>
        <p:spPr bwMode="auto">
          <a:xfrm>
            <a:off x="3687549" y="5615950"/>
            <a:ext cx="6294438" cy="508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 dirty="0">
                <a:solidFill>
                  <a:schemeClr val="folHlink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外加电压极性相反、电流</a:t>
            </a:r>
            <a:r>
              <a:rPr lang="en-US" altLang="zh-CN" sz="2800" b="1" i="1" dirty="0">
                <a:solidFill>
                  <a:schemeClr val="folHlink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b="1" baseline="-25000" dirty="0">
                <a:solidFill>
                  <a:schemeClr val="folHlink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D</a:t>
            </a:r>
            <a:r>
              <a:rPr lang="zh-CN" altLang="en-US" sz="2800" b="1" dirty="0">
                <a:solidFill>
                  <a:schemeClr val="folHlink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流向相反。</a:t>
            </a:r>
            <a:endParaRPr lang="zh-CN" altLang="en-US" sz="2800" b="1" dirty="0">
              <a:solidFill>
                <a:schemeClr val="folHlink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88" name="Rectangle 85"/>
          <p:cNvSpPr>
            <a:spLocks noChangeArrowheads="1"/>
          </p:cNvSpPr>
          <p:nvPr/>
        </p:nvSpPr>
        <p:spPr bwMode="auto">
          <a:xfrm>
            <a:off x="2011149" y="5069850"/>
            <a:ext cx="19880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>
                <a:solidFill>
                  <a:srgbClr val="FF33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不同之处：</a:t>
            </a:r>
            <a:endParaRPr lang="zh-CN" altLang="en-US" sz="2800" b="1">
              <a:solidFill>
                <a:srgbClr val="FF33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89" name="Rectangle 86"/>
          <p:cNvSpPr>
            <a:spLocks noChangeArrowheads="1"/>
          </p:cNvSpPr>
          <p:nvPr/>
        </p:nvSpPr>
        <p:spPr bwMode="auto">
          <a:xfrm>
            <a:off x="3687549" y="5044450"/>
            <a:ext cx="6294438" cy="508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 dirty="0">
                <a:solidFill>
                  <a:schemeClr val="folHlink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电路符号中的箭头方向相反。</a:t>
            </a:r>
            <a:endParaRPr lang="zh-CN" altLang="en-US" sz="2800" b="1" dirty="0">
              <a:solidFill>
                <a:schemeClr val="folHlink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90" name="组合 3163"/>
          <p:cNvGrpSpPr/>
          <p:nvPr/>
        </p:nvGrpSpPr>
        <p:grpSpPr bwMode="auto">
          <a:xfrm>
            <a:off x="7977768" y="1733763"/>
            <a:ext cx="496888" cy="533400"/>
            <a:chOff x="4656" y="1296"/>
            <a:chExt cx="313" cy="336"/>
          </a:xfrm>
        </p:grpSpPr>
        <p:cxnSp>
          <p:nvCxnSpPr>
            <p:cNvPr id="91" name="Line 88"/>
            <p:cNvCxnSpPr>
              <a:cxnSpLocks noChangeShapeType="1"/>
            </p:cNvCxnSpPr>
            <p:nvPr/>
          </p:nvCxnSpPr>
          <p:spPr bwMode="auto">
            <a:xfrm flipV="1">
              <a:off x="4656" y="1344"/>
              <a:ext cx="0" cy="28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2" name="Rectangle 89"/>
            <p:cNvSpPr>
              <a:spLocks noChangeArrowheads="1"/>
            </p:cNvSpPr>
            <p:nvPr/>
          </p:nvSpPr>
          <p:spPr bwMode="auto">
            <a:xfrm>
              <a:off x="4656" y="1296"/>
              <a:ext cx="31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800" b="1" i="1">
                  <a:solidFill>
                    <a:srgbClr val="FF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I</a:t>
              </a:r>
              <a:r>
                <a:rPr lang="en-US" altLang="zh-CN" sz="2800" b="1" baseline="-25000">
                  <a:solidFill>
                    <a:srgbClr val="FF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D</a:t>
              </a:r>
              <a:endParaRPr lang="en-US" altLang="zh-CN" sz="2800" b="1" baseline="-250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93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绝缘栅型场效应管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——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沟道增强型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MOSFET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96" name="Straight Connector 95"/>
          <p:cNvCxnSpPr/>
          <p:nvPr/>
        </p:nvCxnSpPr>
        <p:spPr>
          <a:xfrm>
            <a:off x="1213431" y="1760537"/>
            <a:ext cx="0" cy="18970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Straight Connector 97"/>
          <p:cNvCxnSpPr>
            <a:endCxn id="71" idx="2"/>
          </p:cNvCxnSpPr>
          <p:nvPr/>
        </p:nvCxnSpPr>
        <p:spPr>
          <a:xfrm>
            <a:off x="1213431" y="3657599"/>
            <a:ext cx="2041525" cy="1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0" fill="hold" nodeType="clickEffect">
                                  <p:childTnLst>
                                    <p:set>
                                      <p:cBhvr additive="base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childTnLst>
                                    <p:set>
                                      <p:cBhvr additive="base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2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childTnLst>
                                    <p:set>
                                      <p:cBhvr additive="base"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2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childTnLst>
                                    <p:set>
                                      <p:cBhvr additive="base"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3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childTnLst>
                                    <p:set>
                                      <p:cBhvr additive="base"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3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childTnLst>
                                    <p:set>
                                      <p:cBhvr additive="base"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4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childTnLst>
                                    <p:set>
                                      <p:cBhvr additive="base"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childTnLst>
                                    <p:set>
                                      <p:cBhvr additive="base"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childTnLst>
                                    <p:set>
                                      <p:cBhvr additive="base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5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86" grpId="0" animBg="1"/>
      <p:bldP spid="87" grpId="0" animBg="1"/>
      <p:bldP spid="88" grpId="0" animBg="1"/>
      <p:bldP spid="8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1727835" y="3876040"/>
            <a:ext cx="8735695" cy="21272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视频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001CMOS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与三极管的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区别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WY3YTgwYjBkZTEwOWQ3MWQ3N2E0NjBmNzcyNDg0MjM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1304</Words>
  <Application>WPS 演示</Application>
  <PresentationFormat>Widescreen</PresentationFormat>
  <Paragraphs>208</Paragraphs>
  <Slides>16</Slides>
  <Notes>219</Notes>
  <HiddenSlides>0</HiddenSlides>
  <MMClips>4</MMClips>
  <ScaleCrop>false</ScaleCrop>
  <HeadingPairs>
    <vt:vector size="8" baseType="variant">
      <vt:variant>
        <vt:lpstr>已用的字体</vt:lpstr>
      </vt:variant>
      <vt:variant>
        <vt:i4>30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12</vt:i4>
      </vt:variant>
      <vt:variant>
        <vt:lpstr>幻灯片标题</vt:lpstr>
      </vt:variant>
      <vt:variant>
        <vt:i4>16</vt:i4>
      </vt:variant>
    </vt:vector>
  </HeadingPairs>
  <TitlesOfParts>
    <vt:vector size="59" baseType="lpstr">
      <vt:lpstr>Arial</vt:lpstr>
      <vt:lpstr>宋体</vt:lpstr>
      <vt:lpstr>Wingdings</vt:lpstr>
      <vt:lpstr>微软雅黑</vt:lpstr>
      <vt:lpstr>-apple-system</vt:lpstr>
      <vt:lpstr>Segoe Print</vt:lpstr>
      <vt:lpstr>Calibri</vt:lpstr>
      <vt:lpstr>楷体_GB2312</vt:lpstr>
      <vt:lpstr>新宋体</vt:lpstr>
      <vt:lpstr>Times New Roman</vt:lpstr>
      <vt:lpstr>PingFang SC</vt:lpstr>
      <vt:lpstr>Symbol</vt:lpstr>
      <vt:lpstr>Book Antiqua</vt:lpstr>
      <vt:lpstr>KaTeX_Math</vt:lpstr>
      <vt:lpstr>KaTeX_Main</vt:lpstr>
      <vt:lpstr>黑体</vt:lpstr>
      <vt:lpstr>等线</vt:lpstr>
      <vt:lpstr>等线 Light</vt:lpstr>
      <vt:lpstr>Arial Unicode MS</vt:lpstr>
      <vt:lpstr>仿宋_GB2312</vt:lpstr>
      <vt:lpstr>华康简宋</vt:lpstr>
      <vt:lpstr>华文宋体</vt:lpstr>
      <vt:lpstr>Arial Narrow</vt:lpstr>
      <vt:lpstr>华康简宋</vt:lpstr>
      <vt:lpstr>Tahoma</vt:lpstr>
      <vt:lpstr>KSOF3FB35F8F</vt:lpstr>
      <vt:lpstr>KSOF3FCF8E91</vt:lpstr>
      <vt:lpstr>仿宋</vt:lpstr>
      <vt:lpstr>KSOFE4500885</vt:lpstr>
      <vt:lpstr>KSOF3FA5480E</vt:lpstr>
      <vt:lpstr>Office Theme</vt:lpstr>
      <vt:lpstr>Word.Picture.8</vt:lpstr>
      <vt:lpstr>Equation.3</vt:lpstr>
      <vt:lpstr>Word.Picture.8</vt:lpstr>
      <vt:lpstr>Equation.3</vt:lpstr>
      <vt:lpstr>Word.Picture.8</vt:lpstr>
      <vt:lpstr>Word.Picture.8</vt:lpstr>
      <vt:lpstr>Equation.3</vt:lpstr>
      <vt:lpstr>Word.Picture.8</vt:lpstr>
      <vt:lpstr>Equation.3</vt:lpstr>
      <vt:lpstr>Word.Picture.8</vt:lpstr>
      <vt:lpstr>Equation.3</vt:lpstr>
      <vt:lpstr>Word.Picture.8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 hui</dc:creator>
  <cp:lastModifiedBy>苏为</cp:lastModifiedBy>
  <cp:revision>252</cp:revision>
  <cp:lastPrinted>2024-10-09T04:03:00Z</cp:lastPrinted>
  <dcterms:created xsi:type="dcterms:W3CDTF">2024-09-30T08:30:00Z</dcterms:created>
  <dcterms:modified xsi:type="dcterms:W3CDTF">2026-05-18T11:12:58Z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DDD0EBA4933B4E42BE2EA9EF0D16EDEE_13</vt:lpwstr>
  </property>
  <property fmtid="{D5CDD505-2E9C-101B-9397-08002B2CF9AE}" pid="3" name="KSOProductBuildVer">
    <vt:lpwstr>2052-12.1.0.26375</vt:lpwstr>
  </property>
</Properties>
</file>