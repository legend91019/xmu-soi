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73" r:id="rId3"/>
    <p:sldId id="289" r:id="rId4"/>
    <p:sldId id="363" r:id="rId5"/>
    <p:sldId id="290" r:id="rId6"/>
    <p:sldId id="291" r:id="rId7"/>
    <p:sldId id="292" r:id="rId8"/>
    <p:sldId id="521" r:id="rId9"/>
    <p:sldId id="293" r:id="rId10"/>
    <p:sldId id="374" r:id="rId11"/>
    <p:sldId id="294" r:id="rId12"/>
    <p:sldId id="295" r:id="rId13"/>
    <p:sldId id="547" r:id="rId14"/>
    <p:sldId id="296" r:id="rId15"/>
    <p:sldId id="297" r:id="rId16"/>
    <p:sldId id="364" r:id="rId17"/>
    <p:sldId id="298" r:id="rId18"/>
    <p:sldId id="299" r:id="rId19"/>
    <p:sldId id="300" r:id="rId20"/>
    <p:sldId id="301" r:id="rId21"/>
    <p:sldId id="365" r:id="rId22"/>
    <p:sldId id="303" r:id="rId23"/>
    <p:sldId id="304" r:id="rId24"/>
    <p:sldId id="366" r:id="rId25"/>
    <p:sldId id="305" r:id="rId26"/>
    <p:sldId id="306" r:id="rId27"/>
    <p:sldId id="352" r:id="rId28"/>
    <p:sldId id="367" r:id="rId29"/>
    <p:sldId id="307" r:id="rId30"/>
    <p:sldId id="345" r:id="rId31"/>
    <p:sldId id="368" r:id="rId32"/>
    <p:sldId id="308" r:id="rId33"/>
    <p:sldId id="309" r:id="rId34"/>
    <p:sldId id="520" r:id="rId35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CCFF"/>
    <a:srgbClr val="FF3300"/>
    <a:srgbClr val="FFFF00"/>
    <a:srgbClr val="FF9900"/>
    <a:srgbClr val="FF00FF"/>
    <a:srgbClr val="00FF00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378"/>
  </p:normalViewPr>
  <p:slideViewPr>
    <p:cSldViewPr showGuides="1">
      <p:cViewPr varScale="1">
        <p:scale>
          <a:sx n="67" d="100"/>
          <a:sy n="67" d="100"/>
        </p:scale>
        <p:origin x="1263" y="45"/>
      </p:cViewPr>
      <p:guideLst>
        <p:guide orient="horz" pos="2232"/>
        <p:guide pos="283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0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6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.w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e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6.emf"/><Relationship Id="rId4" Type="http://schemas.openxmlformats.org/officeDocument/2006/relationships/image" Target="../media/image35.emf"/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43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59.emf"/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64.emf"/><Relationship Id="rId4" Type="http://schemas.openxmlformats.org/officeDocument/2006/relationships/image" Target="../media/image63.emf"/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8.emf"/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72.emf"/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image" Target="../media/image69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emf"/><Relationship Id="rId4" Type="http://schemas.openxmlformats.org/officeDocument/2006/relationships/image" Target="../media/image76.emf"/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7" Type="http://schemas.openxmlformats.org/officeDocument/2006/relationships/image" Target="../media/image84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emf"/><Relationship Id="rId8" Type="http://schemas.openxmlformats.org/officeDocument/2006/relationships/image" Target="../media/image93.emf"/><Relationship Id="rId7" Type="http://schemas.openxmlformats.org/officeDocument/2006/relationships/image" Target="../media/image92.emf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0" Type="http://schemas.openxmlformats.org/officeDocument/2006/relationships/image" Target="../media/image95.emf"/><Relationship Id="rId1" Type="http://schemas.openxmlformats.org/officeDocument/2006/relationships/image" Target="../media/image86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4.emf"/><Relationship Id="rId5" Type="http://schemas.openxmlformats.org/officeDocument/2006/relationships/image" Target="../media/image103.emf"/><Relationship Id="rId4" Type="http://schemas.openxmlformats.org/officeDocument/2006/relationships/image" Target="../media/image102.emf"/><Relationship Id="rId3" Type="http://schemas.openxmlformats.org/officeDocument/2006/relationships/image" Target="../media/image101.emf"/><Relationship Id="rId2" Type="http://schemas.openxmlformats.org/officeDocument/2006/relationships/image" Target="../media/image100.emf"/><Relationship Id="rId1" Type="http://schemas.openxmlformats.org/officeDocument/2006/relationships/image" Target="../media/image99.e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0.emf"/><Relationship Id="rId5" Type="http://schemas.openxmlformats.org/officeDocument/2006/relationships/image" Target="../media/image109.emf"/><Relationship Id="rId4" Type="http://schemas.openxmlformats.org/officeDocument/2006/relationships/image" Target="../media/image108.emf"/><Relationship Id="rId3" Type="http://schemas.openxmlformats.org/officeDocument/2006/relationships/image" Target="../media/image107.emf"/><Relationship Id="rId2" Type="http://schemas.openxmlformats.org/officeDocument/2006/relationships/image" Target="../media/image106.emf"/><Relationship Id="rId1" Type="http://schemas.openxmlformats.org/officeDocument/2006/relationships/image" Target="../media/image105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1731E-DBF6-485C-88ED-5BE93C7C9E08}" type="datetimeFigureOut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1DA160-C6F2-40DB-9B50-C38357EC72EE}" type="slidenum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7.e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4.e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.e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8.emf"/><Relationship Id="rId1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3.jpeg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8.e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emf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e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e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0.e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4.emf"/><Relationship Id="rId15" Type="http://schemas.openxmlformats.org/officeDocument/2006/relationships/vmlDrawing" Target="../drawings/vmlDrawing7.v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9.wmf"/><Relationship Id="rId12" Type="http://schemas.openxmlformats.org/officeDocument/2006/relationships/oleObject" Target="../embeddings/oleObject26.bin"/><Relationship Id="rId11" Type="http://schemas.openxmlformats.org/officeDocument/2006/relationships/tags" Target="../tags/tag2.xml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8.bin"/><Relationship Id="rId3" Type="http://schemas.openxmlformats.org/officeDocument/2006/relationships/tags" Target="../tags/tag3.xml"/><Relationship Id="rId2" Type="http://schemas.openxmlformats.org/officeDocument/2006/relationships/image" Target="../media/image30.emf"/><Relationship Id="rId1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5.e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3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2.e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6.emf"/><Relationship Id="rId1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0.e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8.e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7.e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3.e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2.e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41.emf"/><Relationship Id="rId1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e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4.emf"/><Relationship Id="rId1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3.bin"/><Relationship Id="rId2" Type="http://schemas.openxmlformats.org/officeDocument/2006/relationships/tags" Target="../tags/tag4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47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8.wmf"/><Relationship Id="rId2" Type="http://schemas.openxmlformats.org/officeDocument/2006/relationships/oleObject" Target="../embeddings/oleObject44.bin"/><Relationship Id="rId1" Type="http://schemas.openxmlformats.org/officeDocument/2006/relationships/tags" Target="../tags/tag5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0.jpeg"/><Relationship Id="rId3" Type="http://schemas.openxmlformats.org/officeDocument/2006/relationships/image" Target="../media/image3.jpeg"/><Relationship Id="rId2" Type="http://schemas.openxmlformats.org/officeDocument/2006/relationships/image" Target="../media/image49.wmf"/><Relationship Id="rId1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4.e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53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2.e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51.e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5.emf"/><Relationship Id="rId1" Type="http://schemas.openxmlformats.org/officeDocument/2006/relationships/oleObject" Target="../embeddings/oleObject4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9.e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7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6.e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51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63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2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1.e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0.emf"/><Relationship Id="rId12" Type="http://schemas.openxmlformats.org/officeDocument/2006/relationships/vmlDrawing" Target="../drawings/vmlDrawing17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64.emf"/><Relationship Id="rId1" Type="http://schemas.openxmlformats.org/officeDocument/2006/relationships/oleObject" Target="../embeddings/oleObject5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8.e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6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5.e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60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72.e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71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70.e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9.wmf"/><Relationship Id="rId11" Type="http://schemas.openxmlformats.org/officeDocument/2006/relationships/vmlDrawing" Target="../drawings/vmlDrawing19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6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6.e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5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4.e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73.e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7.emf"/><Relationship Id="rId1" Type="http://schemas.openxmlformats.org/officeDocument/2006/relationships/oleObject" Target="../embeddings/oleObject6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81.e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80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9.emf"/><Relationship Id="rId3" Type="http://schemas.openxmlformats.org/officeDocument/2006/relationships/oleObject" Target="../embeddings/oleObject74.bin"/><Relationship Id="rId2" Type="http://schemas.openxmlformats.org/officeDocument/2006/relationships/image" Target="../media/image78.e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85.e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84.e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83.e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82.emf"/><Relationship Id="rId1" Type="http://schemas.openxmlformats.org/officeDocument/2006/relationships/oleObject" Target="../embeddings/oleObject73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5.bin"/><Relationship Id="rId8" Type="http://schemas.openxmlformats.org/officeDocument/2006/relationships/image" Target="../media/image89.emf"/><Relationship Id="rId7" Type="http://schemas.openxmlformats.org/officeDocument/2006/relationships/oleObject" Target="../embeddings/oleObject84.bin"/><Relationship Id="rId6" Type="http://schemas.openxmlformats.org/officeDocument/2006/relationships/image" Target="../media/image88.e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7.emf"/><Relationship Id="rId3" Type="http://schemas.openxmlformats.org/officeDocument/2006/relationships/oleObject" Target="../embeddings/oleObject82.bin"/><Relationship Id="rId22" Type="http://schemas.openxmlformats.org/officeDocument/2006/relationships/vmlDrawing" Target="../drawings/vmlDrawing22.v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95.emf"/><Relationship Id="rId2" Type="http://schemas.openxmlformats.org/officeDocument/2006/relationships/image" Target="../media/image86.emf"/><Relationship Id="rId19" Type="http://schemas.openxmlformats.org/officeDocument/2006/relationships/oleObject" Target="../embeddings/oleObject90.bin"/><Relationship Id="rId18" Type="http://schemas.openxmlformats.org/officeDocument/2006/relationships/image" Target="../media/image94.emf"/><Relationship Id="rId17" Type="http://schemas.openxmlformats.org/officeDocument/2006/relationships/oleObject" Target="../embeddings/oleObject89.bin"/><Relationship Id="rId16" Type="http://schemas.openxmlformats.org/officeDocument/2006/relationships/image" Target="../media/image93.emf"/><Relationship Id="rId15" Type="http://schemas.openxmlformats.org/officeDocument/2006/relationships/oleObject" Target="../embeddings/oleObject88.bin"/><Relationship Id="rId14" Type="http://schemas.openxmlformats.org/officeDocument/2006/relationships/image" Target="../media/image92.emf"/><Relationship Id="rId13" Type="http://schemas.openxmlformats.org/officeDocument/2006/relationships/oleObject" Target="../embeddings/oleObject87.bin"/><Relationship Id="rId12" Type="http://schemas.openxmlformats.org/officeDocument/2006/relationships/image" Target="../media/image91.emf"/><Relationship Id="rId11" Type="http://schemas.openxmlformats.org/officeDocument/2006/relationships/oleObject" Target="../embeddings/oleObject86.bin"/><Relationship Id="rId10" Type="http://schemas.openxmlformats.org/officeDocument/2006/relationships/image" Target="../media/image90.emf"/><Relationship Id="rId1" Type="http://schemas.openxmlformats.org/officeDocument/2006/relationships/oleObject" Target="../embeddings/oleObject8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97.emf"/><Relationship Id="rId3" Type="http://schemas.openxmlformats.org/officeDocument/2006/relationships/oleObject" Target="../embeddings/oleObject92.bin"/><Relationship Id="rId2" Type="http://schemas.openxmlformats.org/officeDocument/2006/relationships/image" Target="../media/image96.emf"/><Relationship Id="rId1" Type="http://schemas.openxmlformats.org/officeDocument/2006/relationships/oleObject" Target="../embeddings/oleObject9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102.e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100.e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9.emf"/><Relationship Id="rId14" Type="http://schemas.openxmlformats.org/officeDocument/2006/relationships/vmlDrawing" Target="../drawings/vmlDrawing24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04.e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103.emf"/><Relationship Id="rId1" Type="http://schemas.openxmlformats.org/officeDocument/2006/relationships/oleObject" Target="../embeddings/oleObject9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108.e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107.e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6.emf"/><Relationship Id="rId3" Type="http://schemas.openxmlformats.org/officeDocument/2006/relationships/oleObject" Target="../embeddings/oleObject101.bin"/><Relationship Id="rId2" Type="http://schemas.openxmlformats.org/officeDocument/2006/relationships/image" Target="../media/image105.emf"/><Relationship Id="rId14" Type="http://schemas.openxmlformats.org/officeDocument/2006/relationships/vmlDrawing" Target="../drawings/vmlDrawing25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10.e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109.emf"/><Relationship Id="rId1" Type="http://schemas.openxmlformats.org/officeDocument/2006/relationships/oleObject" Target="../embeddings/oleObject100.bin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6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3.emf"/><Relationship Id="rId4" Type="http://schemas.openxmlformats.org/officeDocument/2006/relationships/oleObject" Target="../embeddings/oleObject107.bin"/><Relationship Id="rId3" Type="http://schemas.openxmlformats.org/officeDocument/2006/relationships/image" Target="../media/image112.emf"/><Relationship Id="rId2" Type="http://schemas.openxmlformats.org/officeDocument/2006/relationships/oleObject" Target="../embeddings/oleObject106.bin"/><Relationship Id="rId1" Type="http://schemas.openxmlformats.org/officeDocument/2006/relationships/image" Target="../media/image111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7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6.emf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115.emf"/><Relationship Id="rId4" Type="http://schemas.openxmlformats.org/officeDocument/2006/relationships/oleObject" Target="../embeddings/oleObject109.bin"/><Relationship Id="rId3" Type="http://schemas.openxmlformats.org/officeDocument/2006/relationships/image" Target="../media/image114.emf"/><Relationship Id="rId2" Type="http://schemas.openxmlformats.org/officeDocument/2006/relationships/oleObject" Target="../embeddings/oleObject108.bin"/><Relationship Id="rId1" Type="http://schemas.openxmlformats.org/officeDocument/2006/relationships/image" Target="../media/image111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8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8.emf"/><Relationship Id="rId3" Type="http://schemas.openxmlformats.org/officeDocument/2006/relationships/oleObject" Target="../embeddings/oleObject112.bin"/><Relationship Id="rId2" Type="http://schemas.openxmlformats.org/officeDocument/2006/relationships/image" Target="../media/image117.emf"/><Relationship Id="rId1" Type="http://schemas.openxmlformats.org/officeDocument/2006/relationships/oleObject" Target="../embeddings/oleObject111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12" name="Text Box 2"/>
          <p:cNvSpPr txBox="1"/>
          <p:nvPr/>
        </p:nvSpPr>
        <p:spPr>
          <a:xfrm>
            <a:off x="3347720" y="1251585"/>
            <a:ext cx="43484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</a:t>
            </a:r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章 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2348865"/>
            <a:ext cx="70434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一阶电路和二阶电路的时域分析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4" name="Text Box 4"/>
          <p:cNvSpPr txBox="1"/>
          <p:nvPr/>
        </p:nvSpPr>
        <p:spPr>
          <a:xfrm>
            <a:off x="3348038" y="1196975"/>
            <a:ext cx="5545137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动态元件初始能量为零，由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电路中外加激励作用所产生的响应。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5321300" y="3213100"/>
          <a:ext cx="287655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1" imgW="1080135" imgH="348615" progId="Equation.3">
                  <p:embed/>
                </p:oleObj>
              </mc:Choice>
              <mc:Fallback>
                <p:oleObj name="" r:id="rId1" imgW="1080135" imgH="34861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21300" y="3213100"/>
                        <a:ext cx="2876550" cy="1135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Text Box 6"/>
          <p:cNvSpPr txBox="1"/>
          <p:nvPr/>
        </p:nvSpPr>
        <p:spPr>
          <a:xfrm>
            <a:off x="4067175" y="3429000"/>
            <a:ext cx="23034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方程：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6610" name="Rectangle 50"/>
          <p:cNvSpPr/>
          <p:nvPr/>
        </p:nvSpPr>
        <p:spPr>
          <a:xfrm>
            <a:off x="1042988" y="473710"/>
            <a:ext cx="7056437" cy="70675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7.3 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一阶电路的零状态响应         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6612" name="Text Box 52"/>
          <p:cNvSpPr txBox="1"/>
          <p:nvPr/>
        </p:nvSpPr>
        <p:spPr>
          <a:xfrm>
            <a:off x="4716146" y="4507072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解答形式为：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6613" name="Object 53"/>
          <p:cNvGraphicFramePr>
            <a:graphicFrameLocks noChangeAspect="1"/>
          </p:cNvGraphicFramePr>
          <p:nvPr/>
        </p:nvGraphicFramePr>
        <p:xfrm>
          <a:off x="4948238" y="4941888"/>
          <a:ext cx="2519362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722630" imgH="147955" progId="Equation.3">
                  <p:embed/>
                </p:oleObj>
              </mc:Choice>
              <mc:Fallback>
                <p:oleObj name="" r:id="rId3" imgW="722630" imgH="147955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48238" y="4941888"/>
                        <a:ext cx="2519362" cy="70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16" name="Text Box 56"/>
          <p:cNvSpPr txBox="1"/>
          <p:nvPr/>
        </p:nvSpPr>
        <p:spPr>
          <a:xfrm>
            <a:off x="539750" y="2749074"/>
            <a:ext cx="427355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电路的零状态响应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6617" name="Text Box 57"/>
          <p:cNvSpPr txBox="1"/>
          <p:nvPr/>
        </p:nvSpPr>
        <p:spPr>
          <a:xfrm>
            <a:off x="539750" y="1341438"/>
            <a:ext cx="2089150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零状态响应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6618" name="AutoShape 58"/>
          <p:cNvSpPr/>
          <p:nvPr/>
        </p:nvSpPr>
        <p:spPr>
          <a:xfrm>
            <a:off x="2771775" y="1557338"/>
            <a:ext cx="576263" cy="144462"/>
          </a:xfrm>
          <a:prstGeom prst="rightArrow">
            <a:avLst>
              <a:gd name="adj1" fmla="val 50000"/>
              <a:gd name="adj2" fmla="val 9972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6619" name="AutoShape 59"/>
          <p:cNvSpPr/>
          <p:nvPr/>
        </p:nvSpPr>
        <p:spPr>
          <a:xfrm>
            <a:off x="2555875" y="5949950"/>
            <a:ext cx="2952750" cy="574675"/>
          </a:xfrm>
          <a:prstGeom prst="wedgeRoundRectCallout">
            <a:avLst>
              <a:gd name="adj1" fmla="val 74569"/>
              <a:gd name="adj2" fmla="val -124861"/>
              <a:gd name="adj3" fmla="val 16667"/>
            </a:avLst>
          </a:prstGeom>
          <a:solidFill>
            <a:srgbClr val="00CCFF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非齐次方程特解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6620" name="AutoShape 60"/>
          <p:cNvSpPr/>
          <p:nvPr/>
        </p:nvSpPr>
        <p:spPr>
          <a:xfrm>
            <a:off x="7812088" y="4292600"/>
            <a:ext cx="1079500" cy="1512888"/>
          </a:xfrm>
          <a:prstGeom prst="wedgeRoundRectCallout">
            <a:avLst>
              <a:gd name="adj1" fmla="val -97352"/>
              <a:gd name="adj2" fmla="val 18102"/>
              <a:gd name="adj3" fmla="val 16667"/>
            </a:avLst>
          </a:prstGeom>
          <a:solidFill>
            <a:srgbClr val="00CCFF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齐次方程通解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6635" name="Group 75"/>
          <p:cNvGrpSpPr/>
          <p:nvPr/>
        </p:nvGrpSpPr>
        <p:grpSpPr>
          <a:xfrm>
            <a:off x="500063" y="3429000"/>
            <a:ext cx="3629025" cy="2463801"/>
            <a:chOff x="2991" y="2251"/>
            <a:chExt cx="2286" cy="1552"/>
          </a:xfrm>
        </p:grpSpPr>
        <p:sp>
          <p:nvSpPr>
            <p:cNvPr id="57364" name="Line 76"/>
            <p:cNvSpPr/>
            <p:nvPr/>
          </p:nvSpPr>
          <p:spPr>
            <a:xfrm flipH="1" flipV="1">
              <a:off x="4966" y="3158"/>
              <a:ext cx="1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5" name="Line 77"/>
            <p:cNvSpPr/>
            <p:nvPr/>
          </p:nvSpPr>
          <p:spPr>
            <a:xfrm flipV="1">
              <a:off x="4966" y="2705"/>
              <a:ext cx="0" cy="32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66" name="Oval 78"/>
            <p:cNvSpPr/>
            <p:nvPr/>
          </p:nvSpPr>
          <p:spPr>
            <a:xfrm>
              <a:off x="3061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7367" name="Group 79"/>
            <p:cNvGrpSpPr/>
            <p:nvPr/>
          </p:nvGrpSpPr>
          <p:grpSpPr>
            <a:xfrm>
              <a:off x="3969" y="3066"/>
              <a:ext cx="263" cy="355"/>
              <a:chOff x="1872" y="481"/>
              <a:chExt cx="240" cy="287"/>
            </a:xfrm>
          </p:grpSpPr>
          <p:sp>
            <p:nvSpPr>
              <p:cNvPr id="57396" name="Line 80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FFFF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57397" name="Text Box 81"/>
              <p:cNvSpPr txBox="1"/>
              <p:nvPr/>
            </p:nvSpPr>
            <p:spPr>
              <a:xfrm>
                <a:off x="1884" y="481"/>
                <a:ext cx="162" cy="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7368" name="Line 82"/>
            <p:cNvSpPr/>
            <p:nvPr/>
          </p:nvSpPr>
          <p:spPr>
            <a:xfrm flipH="1">
              <a:off x="3814" y="2456"/>
              <a:ext cx="158" cy="17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7369" name="Text Box 83"/>
            <p:cNvSpPr txBox="1"/>
            <p:nvPr/>
          </p:nvSpPr>
          <p:spPr>
            <a:xfrm>
              <a:off x="2991" y="2340"/>
              <a:ext cx="6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7370" name="Text Box 84"/>
            <p:cNvSpPr txBox="1"/>
            <p:nvPr/>
          </p:nvSpPr>
          <p:spPr>
            <a:xfrm>
              <a:off x="3470" y="2885"/>
              <a:ext cx="35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57371" name="Group 85"/>
            <p:cNvGrpSpPr/>
            <p:nvPr/>
          </p:nvGrpSpPr>
          <p:grpSpPr>
            <a:xfrm>
              <a:off x="3970" y="2654"/>
              <a:ext cx="648" cy="384"/>
              <a:chOff x="819" y="776"/>
              <a:chExt cx="591" cy="309"/>
            </a:xfrm>
          </p:grpSpPr>
          <p:grpSp>
            <p:nvGrpSpPr>
              <p:cNvPr id="57392" name="Group 86"/>
              <p:cNvGrpSpPr/>
              <p:nvPr/>
            </p:nvGrpSpPr>
            <p:grpSpPr>
              <a:xfrm>
                <a:off x="819" y="776"/>
                <a:ext cx="591" cy="271"/>
                <a:chOff x="819" y="776"/>
                <a:chExt cx="591" cy="271"/>
              </a:xfrm>
            </p:grpSpPr>
            <p:sp>
              <p:nvSpPr>
                <p:cNvPr id="57394" name="Text Box 87"/>
                <p:cNvSpPr txBox="1"/>
                <p:nvPr/>
              </p:nvSpPr>
              <p:spPr>
                <a:xfrm>
                  <a:off x="819" y="778"/>
                  <a:ext cx="220" cy="26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395" name="Text Box 88"/>
                <p:cNvSpPr txBox="1"/>
                <p:nvPr/>
              </p:nvSpPr>
              <p:spPr>
                <a:xfrm>
                  <a:off x="1203" y="776"/>
                  <a:ext cx="207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7393" name="Text Box 89"/>
              <p:cNvSpPr txBox="1"/>
              <p:nvPr/>
            </p:nvSpPr>
            <p:spPr>
              <a:xfrm>
                <a:off x="976" y="815"/>
                <a:ext cx="295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7372" name="Line 90"/>
            <p:cNvSpPr/>
            <p:nvPr/>
          </p:nvSpPr>
          <p:spPr>
            <a:xfrm>
              <a:off x="3969" y="2704"/>
              <a:ext cx="10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7373" name="Line 91"/>
            <p:cNvSpPr/>
            <p:nvPr/>
          </p:nvSpPr>
          <p:spPr>
            <a:xfrm>
              <a:off x="3243" y="2704"/>
              <a:ext cx="36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7374" name="Line 92"/>
            <p:cNvSpPr/>
            <p:nvPr/>
          </p:nvSpPr>
          <p:spPr>
            <a:xfrm>
              <a:off x="3243" y="2704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5" name="Text Box 93"/>
            <p:cNvSpPr txBox="1"/>
            <p:nvPr/>
          </p:nvSpPr>
          <p:spPr>
            <a:xfrm>
              <a:off x="5012" y="2658"/>
              <a:ext cx="2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57376" name="Group 94"/>
            <p:cNvGrpSpPr/>
            <p:nvPr/>
          </p:nvGrpSpPr>
          <p:grpSpPr>
            <a:xfrm>
              <a:off x="4520" y="2703"/>
              <a:ext cx="326" cy="804"/>
              <a:chOff x="1988" y="731"/>
              <a:chExt cx="297" cy="649"/>
            </a:xfrm>
          </p:grpSpPr>
          <p:grpSp>
            <p:nvGrpSpPr>
              <p:cNvPr id="57388" name="Group 95"/>
              <p:cNvGrpSpPr/>
              <p:nvPr/>
            </p:nvGrpSpPr>
            <p:grpSpPr>
              <a:xfrm>
                <a:off x="2067" y="731"/>
                <a:ext cx="218" cy="649"/>
                <a:chOff x="1635" y="1259"/>
                <a:chExt cx="218" cy="649"/>
              </a:xfrm>
            </p:grpSpPr>
            <p:sp>
              <p:nvSpPr>
                <p:cNvPr id="57390" name="Text Box 96"/>
                <p:cNvSpPr txBox="1"/>
                <p:nvPr/>
              </p:nvSpPr>
              <p:spPr>
                <a:xfrm>
                  <a:off x="1635" y="1259"/>
                  <a:ext cx="218" cy="2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7391" name="Text Box 97"/>
                <p:cNvSpPr txBox="1"/>
                <p:nvPr/>
              </p:nvSpPr>
              <p:spPr>
                <a:xfrm>
                  <a:off x="1635" y="1642"/>
                  <a:ext cx="203" cy="26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7389" name="Text Box 98"/>
              <p:cNvSpPr txBox="1"/>
              <p:nvPr/>
            </p:nvSpPr>
            <p:spPr>
              <a:xfrm>
                <a:off x="1988" y="913"/>
                <a:ext cx="290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7377" name="Group 99"/>
            <p:cNvGrpSpPr/>
            <p:nvPr/>
          </p:nvGrpSpPr>
          <p:grpSpPr>
            <a:xfrm>
              <a:off x="4830" y="3022"/>
              <a:ext cx="317" cy="136"/>
              <a:chOff x="1824" y="1680"/>
              <a:chExt cx="192" cy="96"/>
            </a:xfrm>
          </p:grpSpPr>
          <p:sp>
            <p:nvSpPr>
              <p:cNvPr id="57386" name="Line 100"/>
              <p:cNvSpPr/>
              <p:nvPr/>
            </p:nvSpPr>
            <p:spPr>
              <a:xfrm>
                <a:off x="1824" y="1680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7387" name="Line 101"/>
              <p:cNvSpPr/>
              <p:nvPr/>
            </p:nvSpPr>
            <p:spPr>
              <a:xfrm>
                <a:off x="1824" y="1776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7378" name="Line 102"/>
            <p:cNvSpPr/>
            <p:nvPr/>
          </p:nvSpPr>
          <p:spPr>
            <a:xfrm flipH="1" flipV="1">
              <a:off x="3651" y="2568"/>
              <a:ext cx="293" cy="11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79" name="Line 103"/>
            <p:cNvSpPr/>
            <p:nvPr/>
          </p:nvSpPr>
          <p:spPr>
            <a:xfrm>
              <a:off x="3243" y="3475"/>
              <a:ext cx="17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7380" name="Text Box 104"/>
            <p:cNvSpPr txBox="1"/>
            <p:nvPr/>
          </p:nvSpPr>
          <p:spPr>
            <a:xfrm>
              <a:off x="4196" y="2251"/>
              <a:ext cx="2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7381" name="Text Box 105"/>
            <p:cNvSpPr txBox="1"/>
            <p:nvPr/>
          </p:nvSpPr>
          <p:spPr>
            <a:xfrm>
              <a:off x="3334" y="3474"/>
              <a:ext cx="136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7382" name="Rectangle 106"/>
            <p:cNvSpPr/>
            <p:nvPr/>
          </p:nvSpPr>
          <p:spPr>
            <a:xfrm>
              <a:off x="4150" y="261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7383" name="Group 107"/>
            <p:cNvGrpSpPr/>
            <p:nvPr/>
          </p:nvGrpSpPr>
          <p:grpSpPr>
            <a:xfrm>
              <a:off x="3381" y="2658"/>
              <a:ext cx="240" cy="804"/>
              <a:chOff x="1635" y="1259"/>
              <a:chExt cx="218" cy="649"/>
            </a:xfrm>
          </p:grpSpPr>
          <p:sp>
            <p:nvSpPr>
              <p:cNvPr id="57384" name="Text Box 108"/>
              <p:cNvSpPr txBox="1"/>
              <p:nvPr/>
            </p:nvSpPr>
            <p:spPr>
              <a:xfrm>
                <a:off x="1635" y="1259"/>
                <a:ext cx="218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57385" name="Text Box 109"/>
              <p:cNvSpPr txBox="1"/>
              <p:nvPr/>
            </p:nvSpPr>
            <p:spPr>
              <a:xfrm>
                <a:off x="1637" y="1642"/>
                <a:ext cx="203" cy="2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66670" name="AutoShape 110" descr="羊皮纸"/>
          <p:cNvSpPr/>
          <p:nvPr/>
        </p:nvSpPr>
        <p:spPr>
          <a:xfrm>
            <a:off x="4787900" y="2420938"/>
            <a:ext cx="4140200" cy="576262"/>
          </a:xfrm>
          <a:prstGeom prst="wedgeRoundRectCallout">
            <a:avLst>
              <a:gd name="adj1" fmla="val 1148"/>
              <a:gd name="adj2" fmla="val 146144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非齐次线性常微分方程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6564" grpId="0"/>
      <p:bldP spid="66566" grpId="0"/>
      <p:bldP spid="66610" grpId="0"/>
      <p:bldP spid="66612" grpId="0"/>
      <p:bldP spid="66616" grpId="0"/>
      <p:bldP spid="66617" grpId="0" animBg="1"/>
      <p:bldP spid="66618" grpId="0" animBg="1"/>
      <p:bldP spid="66619" grpId="0" animBg="1"/>
      <p:bldP spid="66620" grpId="0" animBg="1"/>
      <p:bldP spid="6667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Text Box 2"/>
          <p:cNvSpPr txBox="1"/>
          <p:nvPr/>
        </p:nvSpPr>
        <p:spPr>
          <a:xfrm>
            <a:off x="827088" y="2275047"/>
            <a:ext cx="733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与输入激励的变化规律有关，为电路的稳态解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16739" name="Object 3"/>
          <p:cNvGraphicFramePr>
            <a:graphicFrameLocks noChangeAspect="1"/>
          </p:cNvGraphicFramePr>
          <p:nvPr/>
        </p:nvGraphicFramePr>
        <p:xfrm>
          <a:off x="6030913" y="3716338"/>
          <a:ext cx="24796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661670" imgH="252730" progId="Equation.3">
                  <p:embed/>
                </p:oleObj>
              </mc:Choice>
              <mc:Fallback>
                <p:oleObj name="" r:id="rId1" imgW="661670" imgH="25273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30913" y="3716338"/>
                        <a:ext cx="247967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0" name="Text Box 4"/>
          <p:cNvSpPr txBox="1"/>
          <p:nvPr/>
        </p:nvSpPr>
        <p:spPr>
          <a:xfrm>
            <a:off x="971550" y="4940459"/>
            <a:ext cx="669607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变化规律由电路参数和结构决定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6772" name="Group 36"/>
          <p:cNvGrpSpPr/>
          <p:nvPr/>
        </p:nvGrpSpPr>
        <p:grpSpPr>
          <a:xfrm>
            <a:off x="984250" y="3775075"/>
            <a:ext cx="4738688" cy="1096963"/>
            <a:chOff x="620" y="2378"/>
            <a:chExt cx="2985" cy="691"/>
          </a:xfrm>
        </p:grpSpPr>
        <p:sp>
          <p:nvSpPr>
            <p:cNvPr id="58397" name="Text Box 10"/>
            <p:cNvSpPr txBox="1"/>
            <p:nvPr/>
          </p:nvSpPr>
          <p:spPr>
            <a:xfrm>
              <a:off x="2426" y="2522"/>
              <a:ext cx="117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的通解</a:t>
              </a:r>
              <a:endParaRPr lang="zh-CN" altLang="en-US" i="1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58398" name="Object 11"/>
            <p:cNvGraphicFramePr>
              <a:graphicFrameLocks noChangeAspect="1"/>
            </p:cNvGraphicFramePr>
            <p:nvPr/>
          </p:nvGraphicFramePr>
          <p:xfrm>
            <a:off x="620" y="2378"/>
            <a:ext cx="1642" cy="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3" imgW="1010285" imgH="348615" progId="Equation.3">
                    <p:embed/>
                  </p:oleObj>
                </mc:Choice>
                <mc:Fallback>
                  <p:oleObj name="" r:id="rId3" imgW="1010285" imgH="34861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0" y="2378"/>
                          <a:ext cx="1642" cy="6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48" name="Object 12"/>
          <p:cNvGraphicFramePr>
            <a:graphicFrameLocks noChangeAspect="1"/>
          </p:cNvGraphicFramePr>
          <p:nvPr/>
        </p:nvGraphicFramePr>
        <p:xfrm>
          <a:off x="6389688" y="1412875"/>
          <a:ext cx="16224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443865" imgH="147955" progId="Equation.3">
                  <p:embed/>
                </p:oleObj>
              </mc:Choice>
              <mc:Fallback>
                <p:oleObj name="" r:id="rId5" imgW="443865" imgH="147955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89688" y="1412875"/>
                        <a:ext cx="1622425" cy="706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771" name="Group 35"/>
          <p:cNvGrpSpPr/>
          <p:nvPr/>
        </p:nvGrpSpPr>
        <p:grpSpPr>
          <a:xfrm>
            <a:off x="782638" y="2924175"/>
            <a:ext cx="7173912" cy="685800"/>
            <a:chOff x="493" y="1842"/>
            <a:chExt cx="4519" cy="432"/>
          </a:xfrm>
        </p:grpSpPr>
        <p:sp>
          <p:nvSpPr>
            <p:cNvPr id="58394" name="Text Box 15"/>
            <p:cNvSpPr txBox="1"/>
            <p:nvPr/>
          </p:nvSpPr>
          <p:spPr>
            <a:xfrm>
              <a:off x="1519" y="1932"/>
              <a:ext cx="349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通解（自由分量，暂态分量）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58395" name="Object 16"/>
            <p:cNvGraphicFramePr>
              <a:graphicFrameLocks noChangeAspect="1"/>
            </p:cNvGraphicFramePr>
            <p:nvPr/>
          </p:nvGraphicFramePr>
          <p:xfrm>
            <a:off x="493" y="1842"/>
            <a:ext cx="51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7" imgW="104775" imgH="147955" progId="Equation.3">
                    <p:embed/>
                  </p:oleObj>
                </mc:Choice>
                <mc:Fallback>
                  <p:oleObj name="" r:id="rId7" imgW="104775" imgH="147955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3" y="1842"/>
                          <a:ext cx="510" cy="432"/>
                        </a:xfrm>
                        <a:prstGeom prst="rect">
                          <a:avLst/>
                        </a:prstGeom>
                        <a:solidFill>
                          <a:srgbClr val="FF99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6" name="AutoShape 17"/>
            <p:cNvSpPr/>
            <p:nvPr/>
          </p:nvSpPr>
          <p:spPr>
            <a:xfrm>
              <a:off x="1156" y="2069"/>
              <a:ext cx="318" cy="91"/>
            </a:xfrm>
            <a:prstGeom prst="rightArrow">
              <a:avLst>
                <a:gd name="adj1" fmla="val 50000"/>
                <a:gd name="adj2" fmla="val 87362"/>
              </a:avLst>
            </a:prstGeom>
            <a:solidFill>
              <a:srgbClr val="0099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6754" name="Group 18"/>
          <p:cNvGrpSpPr/>
          <p:nvPr/>
        </p:nvGrpSpPr>
        <p:grpSpPr>
          <a:xfrm>
            <a:off x="850900" y="620713"/>
            <a:ext cx="4459288" cy="682625"/>
            <a:chOff x="355" y="153"/>
            <a:chExt cx="2809" cy="430"/>
          </a:xfrm>
        </p:grpSpPr>
        <p:sp>
          <p:nvSpPr>
            <p:cNvPr id="58391" name="Text Box 19"/>
            <p:cNvSpPr txBox="1"/>
            <p:nvPr/>
          </p:nvSpPr>
          <p:spPr>
            <a:xfrm>
              <a:off x="1247" y="190"/>
              <a:ext cx="191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特解（强制分量）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58392" name="Object 20"/>
            <p:cNvGraphicFramePr>
              <a:graphicFrameLocks noChangeAspect="1"/>
            </p:cNvGraphicFramePr>
            <p:nvPr/>
          </p:nvGraphicFramePr>
          <p:xfrm>
            <a:off x="355" y="153"/>
            <a:ext cx="453" cy="4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7" name="" r:id="rId9" imgW="104775" imgH="147955" progId="Equation.3">
                    <p:embed/>
                  </p:oleObj>
                </mc:Choice>
                <mc:Fallback>
                  <p:oleObj name="" r:id="rId9" imgW="104775" imgH="147955" progId="Equation.3">
                    <p:embed/>
                    <p:pic>
                      <p:nvPicPr>
                        <p:cNvPr id="0" name="图片 3196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5" y="153"/>
                          <a:ext cx="453" cy="430"/>
                        </a:xfrm>
                        <a:prstGeom prst="rect">
                          <a:avLst/>
                        </a:prstGeom>
                        <a:solidFill>
                          <a:srgbClr val="FF99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3" name="AutoShape 21"/>
            <p:cNvSpPr/>
            <p:nvPr/>
          </p:nvSpPr>
          <p:spPr>
            <a:xfrm>
              <a:off x="884" y="346"/>
              <a:ext cx="318" cy="90"/>
            </a:xfrm>
            <a:prstGeom prst="rightArrow">
              <a:avLst>
                <a:gd name="adj1" fmla="val 50000"/>
                <a:gd name="adj2" fmla="val 88333"/>
              </a:avLst>
            </a:prstGeom>
            <a:solidFill>
              <a:srgbClr val="0099FF"/>
            </a:solidFill>
            <a:ln w="9525" cap="flat" cmpd="sng">
              <a:solidFill>
                <a:srgbClr val="00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16758" name="Line 22"/>
          <p:cNvSpPr/>
          <p:nvPr/>
        </p:nvSpPr>
        <p:spPr>
          <a:xfrm>
            <a:off x="5580063" y="1773238"/>
            <a:ext cx="6477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6759" name="Line 23"/>
          <p:cNvSpPr/>
          <p:nvPr/>
        </p:nvSpPr>
        <p:spPr>
          <a:xfrm>
            <a:off x="5292725" y="4365625"/>
            <a:ext cx="6477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16770" name="Group 34"/>
          <p:cNvGrpSpPr/>
          <p:nvPr/>
        </p:nvGrpSpPr>
        <p:grpSpPr>
          <a:xfrm>
            <a:off x="1084263" y="1182688"/>
            <a:ext cx="4783137" cy="1063625"/>
            <a:chOff x="683" y="745"/>
            <a:chExt cx="3013" cy="670"/>
          </a:xfrm>
        </p:grpSpPr>
        <p:graphicFrame>
          <p:nvGraphicFramePr>
            <p:cNvPr id="58389" name="Object 26"/>
            <p:cNvGraphicFramePr>
              <a:graphicFrameLocks noChangeAspect="1"/>
            </p:cNvGraphicFramePr>
            <p:nvPr/>
          </p:nvGraphicFramePr>
          <p:xfrm>
            <a:off x="683" y="745"/>
            <a:ext cx="1695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11" imgW="1080135" imgH="348615" progId="Equation.3">
                    <p:embed/>
                  </p:oleObj>
                </mc:Choice>
                <mc:Fallback>
                  <p:oleObj name="" r:id="rId11" imgW="1080135" imgH="348615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83" y="745"/>
                          <a:ext cx="1695" cy="6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0" name="Text Box 27"/>
            <p:cNvSpPr txBox="1"/>
            <p:nvPr/>
          </p:nvSpPr>
          <p:spPr>
            <a:xfrm>
              <a:off x="2472" y="935"/>
              <a:ext cx="12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的特解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16738" grpId="0"/>
      <p:bldP spid="11674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45" name="Text Box 9"/>
          <p:cNvSpPr txBox="1"/>
          <p:nvPr/>
        </p:nvSpPr>
        <p:spPr>
          <a:xfrm>
            <a:off x="684213" y="778034"/>
            <a:ext cx="1150937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全解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5546" name="Text Box 10"/>
          <p:cNvSpPr txBox="1"/>
          <p:nvPr/>
        </p:nvSpPr>
        <p:spPr>
          <a:xfrm>
            <a:off x="900113" y="2276475"/>
            <a:ext cx="43211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)=A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5547" name="Text Box 11"/>
          <p:cNvSpPr txBox="1"/>
          <p:nvPr/>
        </p:nvSpPr>
        <p:spPr>
          <a:xfrm>
            <a:off x="4932363" y="2349500"/>
            <a:ext cx="27352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A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5548" name="Text Box 12"/>
          <p:cNvSpPr txBox="1"/>
          <p:nvPr/>
        </p:nvSpPr>
        <p:spPr>
          <a:xfrm>
            <a:off x="1403350" y="1555274"/>
            <a:ext cx="6985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由初始条件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)=0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定积分常数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endParaRPr lang="en-US" altLang="zh-CN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5561" name="Object 25"/>
          <p:cNvGraphicFramePr>
            <a:graphicFrameLocks noChangeAspect="1"/>
          </p:cNvGraphicFramePr>
          <p:nvPr/>
        </p:nvGraphicFramePr>
        <p:xfrm>
          <a:off x="2233613" y="476250"/>
          <a:ext cx="59705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1741805" imgH="252730" progId="Equation.3">
                  <p:embed/>
                </p:oleObj>
              </mc:Choice>
              <mc:Fallback>
                <p:oleObj name="" r:id="rId1" imgW="1741805" imgH="25273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33613" y="476250"/>
                        <a:ext cx="5970587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0" name="Line 34"/>
          <p:cNvSpPr/>
          <p:nvPr/>
        </p:nvSpPr>
        <p:spPr>
          <a:xfrm>
            <a:off x="4140200" y="2636838"/>
            <a:ext cx="6477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5585" name="Object 49"/>
          <p:cNvGraphicFramePr>
            <a:graphicFrameLocks noChangeAspect="1"/>
          </p:cNvGraphicFramePr>
          <p:nvPr/>
        </p:nvGraphicFramePr>
        <p:xfrm>
          <a:off x="768350" y="3141663"/>
          <a:ext cx="7634288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3" imgW="2543175" imgH="252730" progId="Equation.3">
                  <p:embed/>
                </p:oleObj>
              </mc:Choice>
              <mc:Fallback>
                <p:oleObj name="" r:id="rId3" imgW="2543175" imgH="25273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8350" y="3141663"/>
                        <a:ext cx="7634288" cy="1036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86" name="Text Box 50"/>
          <p:cNvSpPr txBox="1"/>
          <p:nvPr/>
        </p:nvSpPr>
        <p:spPr>
          <a:xfrm>
            <a:off x="539750" y="4724400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从以上式子可以得出：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5587" name="Object 51"/>
          <p:cNvGraphicFramePr>
            <a:graphicFrameLocks noChangeAspect="1"/>
          </p:cNvGraphicFramePr>
          <p:nvPr/>
        </p:nvGraphicFramePr>
        <p:xfrm>
          <a:off x="4398963" y="4421188"/>
          <a:ext cx="31115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5" imgW="1219200" imgH="348615" progId="Equation.3">
                  <p:embed/>
                </p:oleObj>
              </mc:Choice>
              <mc:Fallback>
                <p:oleObj name="" r:id="rId5" imgW="1219200" imgH="348615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8963" y="4421188"/>
                        <a:ext cx="3111500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65545" grpId="0" animBg="1"/>
      <p:bldP spid="65546" grpId="0" build="p"/>
      <p:bldP spid="65547" grpId="0" build="p"/>
      <p:bldP spid="65548" grpId="0" build="p"/>
      <p:bldP spid="655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4522" name="Group 10"/>
          <p:cNvGrpSpPr/>
          <p:nvPr/>
        </p:nvGrpSpPr>
        <p:grpSpPr>
          <a:xfrm>
            <a:off x="746125" y="4724400"/>
            <a:ext cx="2746375" cy="749468"/>
            <a:chOff x="477" y="2295"/>
            <a:chExt cx="1730" cy="427"/>
          </a:xfrm>
        </p:grpSpPr>
        <p:sp>
          <p:nvSpPr>
            <p:cNvPr id="60460" name="Freeform 11"/>
            <p:cNvSpPr/>
            <p:nvPr/>
          </p:nvSpPr>
          <p:spPr>
            <a:xfrm>
              <a:off x="863" y="2295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61" name="Text Box 12"/>
            <p:cNvSpPr txBox="1"/>
            <p:nvPr/>
          </p:nvSpPr>
          <p:spPr>
            <a:xfrm>
              <a:off x="477" y="2460"/>
              <a:ext cx="388" cy="2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62" name="Rectangle 13"/>
            <p:cNvSpPr/>
            <p:nvPr/>
          </p:nvSpPr>
          <p:spPr>
            <a:xfrm>
              <a:off x="1399" y="2320"/>
              <a:ext cx="368" cy="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24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‘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4526" name="Group 14"/>
          <p:cNvGrpSpPr/>
          <p:nvPr/>
        </p:nvGrpSpPr>
        <p:grpSpPr>
          <a:xfrm>
            <a:off x="766763" y="3373438"/>
            <a:ext cx="2741613" cy="765175"/>
            <a:chOff x="528" y="1534"/>
            <a:chExt cx="1727" cy="482"/>
          </a:xfrm>
        </p:grpSpPr>
        <p:sp>
          <p:nvSpPr>
            <p:cNvPr id="60457" name="Line 15"/>
            <p:cNvSpPr/>
            <p:nvPr/>
          </p:nvSpPr>
          <p:spPr>
            <a:xfrm>
              <a:off x="863" y="1871"/>
              <a:ext cx="139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8" name="Rectangle 16"/>
            <p:cNvSpPr/>
            <p:nvPr/>
          </p:nvSpPr>
          <p:spPr>
            <a:xfrm>
              <a:off x="1611" y="1534"/>
              <a:ext cx="396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24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“</a:t>
              </a:r>
              <a:endParaRPr lang="en-US" altLang="zh-CN" sz="24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59" name="Text Box 17"/>
            <p:cNvSpPr txBox="1"/>
            <p:nvPr/>
          </p:nvSpPr>
          <p:spPr>
            <a:xfrm>
              <a:off x="528" y="1726"/>
              <a:ext cx="324" cy="29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4571" name="Group 59"/>
          <p:cNvGrpSpPr/>
          <p:nvPr/>
        </p:nvGrpSpPr>
        <p:grpSpPr>
          <a:xfrm>
            <a:off x="5086350" y="3468688"/>
            <a:ext cx="3152775" cy="2049463"/>
            <a:chOff x="3204" y="2185"/>
            <a:chExt cx="1986" cy="1291"/>
          </a:xfrm>
        </p:grpSpPr>
        <p:sp>
          <p:nvSpPr>
            <p:cNvPr id="60448" name="Line 22"/>
            <p:cNvSpPr/>
            <p:nvPr/>
          </p:nvSpPr>
          <p:spPr>
            <a:xfrm>
              <a:off x="3357" y="3163"/>
              <a:ext cx="1637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9" name="Line 23"/>
            <p:cNvSpPr/>
            <p:nvPr/>
          </p:nvSpPr>
          <p:spPr>
            <a:xfrm flipV="1">
              <a:off x="3515" y="2286"/>
              <a:ext cx="0" cy="119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0" name="Freeform 24"/>
            <p:cNvSpPr/>
            <p:nvPr/>
          </p:nvSpPr>
          <p:spPr>
            <a:xfrm>
              <a:off x="3515" y="2536"/>
              <a:ext cx="1321" cy="5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3" y="3651"/>
                </a:cxn>
                <a:cxn ang="0">
                  <a:pos x="1107" y="6375"/>
                </a:cxn>
                <a:cxn ang="0">
                  <a:pos x="2623" y="8184"/>
                </a:cxn>
                <a:cxn ang="0">
                  <a:pos x="3452" y="8394"/>
                </a:cxn>
              </a:cxnLst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51" name="Text Box 25"/>
            <p:cNvSpPr txBox="1"/>
            <p:nvPr/>
          </p:nvSpPr>
          <p:spPr>
            <a:xfrm>
              <a:off x="5012" y="3061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52" name="Text Box 26"/>
            <p:cNvSpPr txBox="1"/>
            <p:nvPr/>
          </p:nvSpPr>
          <p:spPr>
            <a:xfrm>
              <a:off x="3528" y="2185"/>
              <a:ext cx="30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60453" name="Object 27"/>
            <p:cNvGraphicFramePr>
              <a:graphicFrameLocks noChangeAspect="1"/>
            </p:cNvGraphicFramePr>
            <p:nvPr/>
          </p:nvGraphicFramePr>
          <p:xfrm>
            <a:off x="3204" y="2205"/>
            <a:ext cx="261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" name="" r:id="rId1" imgW="165735" imgH="348615" progId="Equation.3">
                    <p:embed/>
                  </p:oleObj>
                </mc:Choice>
                <mc:Fallback>
                  <p:oleObj name="" r:id="rId1" imgW="165735" imgH="348615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04" y="2205"/>
                          <a:ext cx="261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54" name="Text Box 28"/>
            <p:cNvSpPr txBox="1"/>
            <p:nvPr/>
          </p:nvSpPr>
          <p:spPr>
            <a:xfrm>
              <a:off x="3253" y="3125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55" name="Line 29"/>
            <p:cNvSpPr/>
            <p:nvPr/>
          </p:nvSpPr>
          <p:spPr>
            <a:xfrm flipH="1">
              <a:off x="3274" y="3147"/>
              <a:ext cx="231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6" name="Line 30"/>
            <p:cNvSpPr/>
            <p:nvPr/>
          </p:nvSpPr>
          <p:spPr>
            <a:xfrm flipV="1">
              <a:off x="3505" y="2553"/>
              <a:ext cx="0" cy="59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543" name="Group 31"/>
          <p:cNvGrpSpPr/>
          <p:nvPr/>
        </p:nvGrpSpPr>
        <p:grpSpPr>
          <a:xfrm>
            <a:off x="917575" y="3371654"/>
            <a:ext cx="3719513" cy="2144909"/>
            <a:chOff x="623" y="1533"/>
            <a:chExt cx="2134" cy="1202"/>
          </a:xfrm>
        </p:grpSpPr>
        <p:sp>
          <p:nvSpPr>
            <p:cNvPr id="60443" name="Line 32"/>
            <p:cNvSpPr/>
            <p:nvPr/>
          </p:nvSpPr>
          <p:spPr>
            <a:xfrm>
              <a:off x="623" y="2255"/>
              <a:ext cx="1968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4" name="Line 33"/>
            <p:cNvSpPr/>
            <p:nvPr/>
          </p:nvSpPr>
          <p:spPr>
            <a:xfrm flipV="1">
              <a:off x="863" y="1631"/>
              <a:ext cx="0" cy="110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5" name="Text Box 34"/>
            <p:cNvSpPr txBox="1"/>
            <p:nvPr/>
          </p:nvSpPr>
          <p:spPr>
            <a:xfrm>
              <a:off x="2595" y="2109"/>
              <a:ext cx="162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46" name="Text Box 35"/>
            <p:cNvSpPr txBox="1"/>
            <p:nvPr/>
          </p:nvSpPr>
          <p:spPr>
            <a:xfrm>
              <a:off x="897" y="1533"/>
              <a:ext cx="295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0447" name="Text Box 36"/>
            <p:cNvSpPr txBox="1"/>
            <p:nvPr/>
          </p:nvSpPr>
          <p:spPr>
            <a:xfrm>
              <a:off x="688" y="2218"/>
              <a:ext cx="207" cy="29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64549" name="Text Box 37"/>
          <p:cNvSpPr txBox="1"/>
          <p:nvPr/>
        </p:nvSpPr>
        <p:spPr>
          <a:xfrm>
            <a:off x="755650" y="1122045"/>
            <a:ext cx="7920038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电压、电流是随时间按同一指数规律变化的函数；电容电压由两部分构成：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4551" name="AutoShape 39" descr="羊皮纸"/>
          <p:cNvSpPr/>
          <p:nvPr/>
        </p:nvSpPr>
        <p:spPr>
          <a:xfrm>
            <a:off x="3419475" y="5013325"/>
            <a:ext cx="1079500" cy="1079500"/>
          </a:xfrm>
          <a:prstGeom prst="wedgeRoundRectCallout">
            <a:avLst>
              <a:gd name="adj1" fmla="val -172352"/>
              <a:gd name="adj2" fmla="val -125884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连续函数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4552" name="AutoShape 40" descr="羊皮纸"/>
          <p:cNvSpPr/>
          <p:nvPr/>
        </p:nvSpPr>
        <p:spPr>
          <a:xfrm>
            <a:off x="7597775" y="3860800"/>
            <a:ext cx="1077913" cy="720725"/>
          </a:xfrm>
          <a:prstGeom prst="wedgeRoundRectCallout">
            <a:avLst>
              <a:gd name="adj1" fmla="val -218778"/>
              <a:gd name="adj2" fmla="val -14977"/>
              <a:gd name="adj3" fmla="val 16667"/>
            </a:avLst>
          </a:prstGeom>
          <a:blipFill rotWithShape="1">
            <a:blip r:embed="rId3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跃变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4553" name="Text Box 41"/>
          <p:cNvSpPr txBox="1"/>
          <p:nvPr/>
        </p:nvSpPr>
        <p:spPr>
          <a:xfrm>
            <a:off x="611188" y="2420938"/>
            <a:ext cx="3889375" cy="52197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稳态分量（强制分量）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4554" name="Text Box 42"/>
          <p:cNvSpPr txBox="1"/>
          <p:nvPr/>
        </p:nvSpPr>
        <p:spPr>
          <a:xfrm>
            <a:off x="5076825" y="2420938"/>
            <a:ext cx="3889375" cy="52197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暂态分量（自由分量）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4568" name="Group 56"/>
          <p:cNvGrpSpPr/>
          <p:nvPr/>
        </p:nvGrpSpPr>
        <p:grpSpPr>
          <a:xfrm>
            <a:off x="611188" y="404813"/>
            <a:ext cx="1643063" cy="850900"/>
            <a:chOff x="385" y="3022"/>
            <a:chExt cx="1035" cy="536"/>
          </a:xfrm>
        </p:grpSpPr>
        <p:pic>
          <p:nvPicPr>
            <p:cNvPr id="60437" name="Picture 57" descr="1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0438" name="Text Box 58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4530" name="Group 18"/>
          <p:cNvGrpSpPr/>
          <p:nvPr/>
        </p:nvGrpSpPr>
        <p:grpSpPr>
          <a:xfrm>
            <a:off x="900113" y="3933825"/>
            <a:ext cx="2565400" cy="762000"/>
            <a:chOff x="591" y="1919"/>
            <a:chExt cx="1616" cy="344"/>
          </a:xfrm>
        </p:grpSpPr>
        <p:sp>
          <p:nvSpPr>
            <p:cNvPr id="60435" name="Freeform 19"/>
            <p:cNvSpPr/>
            <p:nvPr/>
          </p:nvSpPr>
          <p:spPr>
            <a:xfrm>
              <a:off x="863" y="1919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36" name="Line 20"/>
            <p:cNvSpPr/>
            <p:nvPr/>
          </p:nvSpPr>
          <p:spPr>
            <a:xfrm>
              <a:off x="591" y="2246"/>
              <a:ext cx="272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572" name="Text Box 60"/>
          <p:cNvSpPr txBox="1"/>
          <p:nvPr/>
        </p:nvSpPr>
        <p:spPr>
          <a:xfrm>
            <a:off x="4572000" y="2276475"/>
            <a:ext cx="6477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endParaRPr lang="en-US" altLang="zh-CN" sz="40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4549" grpId="0"/>
      <p:bldP spid="64551" grpId="0" animBg="1"/>
      <p:bldP spid="64552" grpId="0" animBg="1"/>
      <p:bldP spid="64553" grpId="0" animBg="1"/>
      <p:bldP spid="64554" grpId="0" animBg="1"/>
      <p:bldP spid="645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2" name="Text Box 4"/>
          <p:cNvSpPr txBox="1"/>
          <p:nvPr/>
        </p:nvSpPr>
        <p:spPr>
          <a:xfrm>
            <a:off x="395288" y="472758"/>
            <a:ext cx="8318500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响应变化的快慢，由时间常数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＝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决定；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大，充电慢，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小充电就快。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3493" name="Text Box 5"/>
          <p:cNvSpPr txBox="1"/>
          <p:nvPr/>
        </p:nvSpPr>
        <p:spPr>
          <a:xfrm>
            <a:off x="395288" y="1555909"/>
            <a:ext cx="5507037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响应与外加激励成线性关系；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3495" name="Text Box 7"/>
          <p:cNvSpPr txBox="1"/>
          <p:nvPr/>
        </p:nvSpPr>
        <p:spPr>
          <a:xfrm>
            <a:off x="395288" y="2203609"/>
            <a:ext cx="2449512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 startAt="4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能量关系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3540" name="Group 52"/>
          <p:cNvGrpSpPr/>
          <p:nvPr/>
        </p:nvGrpSpPr>
        <p:grpSpPr>
          <a:xfrm>
            <a:off x="468313" y="4365625"/>
            <a:ext cx="3833812" cy="1011238"/>
            <a:chOff x="295" y="1842"/>
            <a:chExt cx="2415" cy="637"/>
          </a:xfrm>
        </p:grpSpPr>
        <p:graphicFrame>
          <p:nvGraphicFramePr>
            <p:cNvPr id="61484" name="Object 10"/>
            <p:cNvGraphicFramePr>
              <a:graphicFrameLocks noChangeAspect="1"/>
            </p:cNvGraphicFramePr>
            <p:nvPr/>
          </p:nvGraphicFramePr>
          <p:xfrm>
            <a:off x="1927" y="1842"/>
            <a:ext cx="783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3" name="" r:id="rId1" imgW="435610" imgH="348615" progId="Equation.3">
                    <p:embed/>
                  </p:oleObj>
                </mc:Choice>
                <mc:Fallback>
                  <p:oleObj name="" r:id="rId1" imgW="435610" imgH="348615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27" y="1842"/>
                          <a:ext cx="783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5" name="Text Box 11"/>
            <p:cNvSpPr txBox="1"/>
            <p:nvPr/>
          </p:nvSpPr>
          <p:spPr>
            <a:xfrm>
              <a:off x="295" y="1978"/>
              <a:ext cx="185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电容储存能量：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3541" name="Group 53"/>
          <p:cNvGrpSpPr/>
          <p:nvPr/>
        </p:nvGrpSpPr>
        <p:grpSpPr>
          <a:xfrm>
            <a:off x="468313" y="2781300"/>
            <a:ext cx="6169025" cy="781050"/>
            <a:chOff x="340" y="2478"/>
            <a:chExt cx="3886" cy="492"/>
          </a:xfrm>
        </p:grpSpPr>
        <p:sp>
          <p:nvSpPr>
            <p:cNvPr id="61482" name="Text Box 13"/>
            <p:cNvSpPr txBox="1"/>
            <p:nvPr/>
          </p:nvSpPr>
          <p:spPr>
            <a:xfrm>
              <a:off x="340" y="2507"/>
              <a:ext cx="16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电源提供能量：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61483" name="Object 14"/>
            <p:cNvGraphicFramePr>
              <a:graphicFrameLocks noChangeAspect="1"/>
            </p:cNvGraphicFramePr>
            <p:nvPr/>
          </p:nvGraphicFramePr>
          <p:xfrm>
            <a:off x="1954" y="2478"/>
            <a:ext cx="2272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5" name="" r:id="rId3" imgW="1367155" imgH="243840" progId="Equation.3">
                    <p:embed/>
                  </p:oleObj>
                </mc:Choice>
                <mc:Fallback>
                  <p:oleObj name="" r:id="rId3" imgW="1367155" imgH="24384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54" y="2478"/>
                          <a:ext cx="2272" cy="4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7092950" y="4251325"/>
          <a:ext cx="16097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5" imgW="522605" imgH="348615" progId="Equation.3">
                  <p:embed/>
                </p:oleObj>
              </mc:Choice>
              <mc:Fallback>
                <p:oleObj name="" r:id="rId5" imgW="522605" imgH="34861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92950" y="4251325"/>
                        <a:ext cx="1609725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542" name="Group 54"/>
          <p:cNvGrpSpPr/>
          <p:nvPr/>
        </p:nvGrpSpPr>
        <p:grpSpPr>
          <a:xfrm>
            <a:off x="468313" y="3500438"/>
            <a:ext cx="7253287" cy="1046162"/>
            <a:chOff x="249" y="3022"/>
            <a:chExt cx="4569" cy="659"/>
          </a:xfrm>
        </p:grpSpPr>
        <p:sp>
          <p:nvSpPr>
            <p:cNvPr id="61480" name="Text Box 15"/>
            <p:cNvSpPr txBox="1"/>
            <p:nvPr/>
          </p:nvSpPr>
          <p:spPr>
            <a:xfrm>
              <a:off x="249" y="3157"/>
              <a:ext cx="172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电阻消耗能量：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61481" name="Object 16"/>
            <p:cNvGraphicFramePr>
              <a:graphicFrameLocks noChangeAspect="1"/>
            </p:cNvGraphicFramePr>
            <p:nvPr/>
          </p:nvGraphicFramePr>
          <p:xfrm>
            <a:off x="1883" y="3022"/>
            <a:ext cx="2935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4" name="" r:id="rId7" imgW="1784985" imgH="348615" progId="Equation.3">
                    <p:embed/>
                  </p:oleObj>
                </mc:Choice>
                <mc:Fallback>
                  <p:oleObj name="" r:id="rId7" imgW="1784985" imgH="348615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83" y="3022"/>
                          <a:ext cx="2935" cy="6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526" name="Text Box 38" descr="新闻纸"/>
          <p:cNvSpPr txBox="1"/>
          <p:nvPr/>
        </p:nvSpPr>
        <p:spPr>
          <a:xfrm>
            <a:off x="1331913" y="5297171"/>
            <a:ext cx="7489825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电源提供的能量一半消耗在电阻上，一半转换成电场能量储存在电容中。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3561" name="Group 73"/>
          <p:cNvGrpSpPr/>
          <p:nvPr/>
        </p:nvGrpSpPr>
        <p:grpSpPr>
          <a:xfrm>
            <a:off x="323850" y="5157788"/>
            <a:ext cx="1643063" cy="850900"/>
            <a:chOff x="385" y="3022"/>
            <a:chExt cx="1035" cy="536"/>
          </a:xfrm>
        </p:grpSpPr>
        <p:pic>
          <p:nvPicPr>
            <p:cNvPr id="61474" name="Picture 74" descr="1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75" name="Text Box 75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3567" name="Group 79"/>
          <p:cNvGrpSpPr/>
          <p:nvPr/>
        </p:nvGrpSpPr>
        <p:grpSpPr>
          <a:xfrm>
            <a:off x="5362576" y="1195387"/>
            <a:ext cx="3230563" cy="1616076"/>
            <a:chOff x="3378" y="753"/>
            <a:chExt cx="2035" cy="1018"/>
          </a:xfrm>
        </p:grpSpPr>
        <p:sp>
          <p:nvSpPr>
            <p:cNvPr id="61457" name="Oval 56"/>
            <p:cNvSpPr/>
            <p:nvPr/>
          </p:nvSpPr>
          <p:spPr>
            <a:xfrm>
              <a:off x="3710" y="104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458" name="Line 57"/>
            <p:cNvSpPr/>
            <p:nvPr/>
          </p:nvSpPr>
          <p:spPr>
            <a:xfrm flipV="1">
              <a:off x="3878" y="890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59" name="Line 58"/>
            <p:cNvSpPr/>
            <p:nvPr/>
          </p:nvSpPr>
          <p:spPr>
            <a:xfrm>
              <a:off x="5057" y="89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60" name="Line 59"/>
            <p:cNvSpPr/>
            <p:nvPr/>
          </p:nvSpPr>
          <p:spPr>
            <a:xfrm flipH="1">
              <a:off x="5057" y="134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61" name="Rectangle 60"/>
            <p:cNvSpPr/>
            <p:nvPr/>
          </p:nvSpPr>
          <p:spPr>
            <a:xfrm>
              <a:off x="4436" y="81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462" name="Line 61"/>
            <p:cNvSpPr/>
            <p:nvPr/>
          </p:nvSpPr>
          <p:spPr>
            <a:xfrm flipH="1" flipV="1">
              <a:off x="3878" y="890"/>
              <a:ext cx="13" cy="88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63" name="Line 65"/>
            <p:cNvSpPr/>
            <p:nvPr/>
          </p:nvSpPr>
          <p:spPr>
            <a:xfrm flipV="1">
              <a:off x="3878" y="1752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64" name="Text Box 66"/>
            <p:cNvSpPr txBox="1"/>
            <p:nvPr/>
          </p:nvSpPr>
          <p:spPr>
            <a:xfrm>
              <a:off x="4559" y="889"/>
              <a:ext cx="2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1465" name="Text Box 67"/>
            <p:cNvSpPr txBox="1"/>
            <p:nvPr/>
          </p:nvSpPr>
          <p:spPr>
            <a:xfrm>
              <a:off x="5148" y="1116"/>
              <a:ext cx="26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1466" name="AutoShape 68"/>
            <p:cNvSpPr/>
            <p:nvPr/>
          </p:nvSpPr>
          <p:spPr>
            <a:xfrm>
              <a:off x="4195" y="1117"/>
              <a:ext cx="384" cy="177"/>
            </a:xfrm>
            <a:custGeom>
              <a:avLst/>
              <a:gdLst>
                <a:gd name="txL" fmla="*/ 0 w 21600"/>
                <a:gd name="txT" fmla="*/ 17329 h 21600"/>
                <a:gd name="txR" fmla="*/ 18506 w 21600"/>
                <a:gd name="txB" fmla="*/ 21600 h 21600"/>
              </a:gdLst>
              <a:ahLst/>
              <a:cxnLst>
                <a:cxn ang="17694720">
                  <a:pos x="0" y="0"/>
                </a:cxn>
                <a:cxn ang="11796480">
                  <a:pos x="0" y="0"/>
                </a:cxn>
                <a:cxn ang="11796480">
                  <a:pos x="0" y="0"/>
                </a:cxn>
                <a:cxn ang="589824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>
                  <a:moveTo>
                    <a:pt x="16707" y="0"/>
                  </a:moveTo>
                  <a:lnTo>
                    <a:pt x="11813" y="7200"/>
                  </a:lnTo>
                  <a:lnTo>
                    <a:pt x="14899" y="7200"/>
                  </a:lnTo>
                  <a:lnTo>
                    <a:pt x="14899" y="17382"/>
                  </a:lnTo>
                  <a:lnTo>
                    <a:pt x="0" y="17382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6707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467" name="AutoShape 69"/>
            <p:cNvSpPr/>
            <p:nvPr/>
          </p:nvSpPr>
          <p:spPr>
            <a:xfrm>
              <a:off x="4195" y="1344"/>
              <a:ext cx="576" cy="90"/>
            </a:xfrm>
            <a:prstGeom prst="rightArrow">
              <a:avLst>
                <a:gd name="adj1" fmla="val 50000"/>
                <a:gd name="adj2" fmla="val 160000"/>
              </a:avLst>
            </a:prstGeom>
            <a:solidFill>
              <a:srgbClr val="00FFFF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1468" name="Text Box 70"/>
            <p:cNvSpPr txBox="1"/>
            <p:nvPr/>
          </p:nvSpPr>
          <p:spPr>
            <a:xfrm>
              <a:off x="3565" y="753"/>
              <a:ext cx="2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1469" name="Text Box 71"/>
            <p:cNvSpPr txBox="1"/>
            <p:nvPr/>
          </p:nvSpPr>
          <p:spPr>
            <a:xfrm>
              <a:off x="3566" y="1434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470" name="Text Box 72"/>
            <p:cNvSpPr txBox="1"/>
            <p:nvPr/>
          </p:nvSpPr>
          <p:spPr>
            <a:xfrm>
              <a:off x="3378" y="1071"/>
              <a:ext cx="35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1471" name="Group 76"/>
            <p:cNvGrpSpPr/>
            <p:nvPr/>
          </p:nvGrpSpPr>
          <p:grpSpPr>
            <a:xfrm>
              <a:off x="4921" y="1253"/>
              <a:ext cx="240" cy="93"/>
              <a:chOff x="3787" y="2478"/>
              <a:chExt cx="240" cy="93"/>
            </a:xfrm>
          </p:grpSpPr>
          <p:sp>
            <p:nvSpPr>
              <p:cNvPr id="61472" name="Line 77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73" name="Line 78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3492" grpId="0"/>
      <p:bldP spid="63493" grpId="0"/>
      <p:bldP spid="63495" grpId="0"/>
      <p:bldP spid="635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97" name="Text Box 33"/>
          <p:cNvSpPr txBox="1"/>
          <p:nvPr/>
        </p:nvSpPr>
        <p:spPr>
          <a:xfrm>
            <a:off x="395288" y="474186"/>
            <a:ext cx="649287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2498" name="Text Box 34"/>
          <p:cNvSpPr txBox="1"/>
          <p:nvPr/>
        </p:nvSpPr>
        <p:spPr>
          <a:xfrm>
            <a:off x="1258888" y="401321"/>
            <a:ext cx="7489825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闭合，已知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电容电压和电流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(2)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＝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80V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时的充电时间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2573" name="Group 109"/>
          <p:cNvGrpSpPr/>
          <p:nvPr/>
        </p:nvGrpSpPr>
        <p:grpSpPr>
          <a:xfrm>
            <a:off x="2478088" y="2132648"/>
            <a:ext cx="3544887" cy="1960563"/>
            <a:chOff x="3368" y="844"/>
            <a:chExt cx="2233" cy="1235"/>
          </a:xfrm>
        </p:grpSpPr>
        <p:sp>
          <p:nvSpPr>
            <p:cNvPr id="62481" name="Oval 85"/>
            <p:cNvSpPr/>
            <p:nvPr/>
          </p:nvSpPr>
          <p:spPr>
            <a:xfrm>
              <a:off x="3368" y="13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2482" name="Line 86"/>
            <p:cNvSpPr/>
            <p:nvPr/>
          </p:nvSpPr>
          <p:spPr>
            <a:xfrm>
              <a:off x="5057" y="1181"/>
              <a:ext cx="0" cy="3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3" name="Line 87"/>
            <p:cNvSpPr/>
            <p:nvPr/>
          </p:nvSpPr>
          <p:spPr>
            <a:xfrm>
              <a:off x="5057" y="168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4" name="Line 88"/>
            <p:cNvSpPr/>
            <p:nvPr/>
          </p:nvSpPr>
          <p:spPr>
            <a:xfrm flipV="1">
              <a:off x="3550" y="1181"/>
              <a:ext cx="0" cy="8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485" name="Group 89"/>
            <p:cNvGrpSpPr/>
            <p:nvPr/>
          </p:nvGrpSpPr>
          <p:grpSpPr>
            <a:xfrm>
              <a:off x="4921" y="1589"/>
              <a:ext cx="272" cy="91"/>
              <a:chOff x="1296" y="2112"/>
              <a:chExt cx="192" cy="48"/>
            </a:xfrm>
          </p:grpSpPr>
          <p:sp>
            <p:nvSpPr>
              <p:cNvPr id="62503" name="Line 90"/>
              <p:cNvSpPr/>
              <p:nvPr/>
            </p:nvSpPr>
            <p:spPr>
              <a:xfrm>
                <a:off x="1296" y="2112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4" name="Line 91"/>
              <p:cNvSpPr/>
              <p:nvPr/>
            </p:nvSpPr>
            <p:spPr>
              <a:xfrm>
                <a:off x="1296" y="2160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2486" name="Line 92"/>
            <p:cNvSpPr/>
            <p:nvPr/>
          </p:nvSpPr>
          <p:spPr>
            <a:xfrm>
              <a:off x="3560" y="2043"/>
              <a:ext cx="150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7" name="Text Box 93"/>
            <p:cNvSpPr txBox="1"/>
            <p:nvPr/>
          </p:nvSpPr>
          <p:spPr>
            <a:xfrm>
              <a:off x="4296" y="844"/>
              <a:ext cx="62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488" name="Text Box 94"/>
            <p:cNvSpPr txBox="1"/>
            <p:nvPr/>
          </p:nvSpPr>
          <p:spPr>
            <a:xfrm>
              <a:off x="4333" y="1452"/>
              <a:ext cx="59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89" name="Text Box 95"/>
            <p:cNvSpPr txBox="1"/>
            <p:nvPr/>
          </p:nvSpPr>
          <p:spPr>
            <a:xfrm>
              <a:off x="5103" y="1226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90" name="Text Box 96"/>
            <p:cNvSpPr txBox="1"/>
            <p:nvPr/>
          </p:nvSpPr>
          <p:spPr>
            <a:xfrm>
              <a:off x="5079" y="175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2491" name="Text Box 97"/>
            <p:cNvSpPr txBox="1"/>
            <p:nvPr/>
          </p:nvSpPr>
          <p:spPr>
            <a:xfrm>
              <a:off x="3697" y="1433"/>
              <a:ext cx="61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92" name="Line 98"/>
            <p:cNvSpPr/>
            <p:nvPr/>
          </p:nvSpPr>
          <p:spPr>
            <a:xfrm>
              <a:off x="3560" y="1181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2493" name="Line 99"/>
            <p:cNvSpPr/>
            <p:nvPr/>
          </p:nvSpPr>
          <p:spPr>
            <a:xfrm>
              <a:off x="4150" y="1181"/>
              <a:ext cx="9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2494" name="Line 100"/>
            <p:cNvSpPr/>
            <p:nvPr/>
          </p:nvSpPr>
          <p:spPr>
            <a:xfrm flipV="1">
              <a:off x="3878" y="1045"/>
              <a:ext cx="317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5" name="Line 101"/>
            <p:cNvSpPr/>
            <p:nvPr/>
          </p:nvSpPr>
          <p:spPr>
            <a:xfrm>
              <a:off x="3833" y="909"/>
              <a:ext cx="182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496" name="Text Box 102"/>
            <p:cNvSpPr txBox="1"/>
            <p:nvPr/>
          </p:nvSpPr>
          <p:spPr>
            <a:xfrm>
              <a:off x="3620" y="863"/>
              <a:ext cx="2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" name="Text Box 103"/>
            <p:cNvSpPr txBox="1"/>
            <p:nvPr/>
          </p:nvSpPr>
          <p:spPr>
            <a:xfrm>
              <a:off x="3651" y="1161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" name="Text Box 104"/>
            <p:cNvSpPr txBox="1"/>
            <p:nvPr/>
          </p:nvSpPr>
          <p:spPr>
            <a:xfrm>
              <a:off x="3560" y="1706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Text Box 105"/>
            <p:cNvSpPr txBox="1"/>
            <p:nvPr/>
          </p:nvSpPr>
          <p:spPr>
            <a:xfrm>
              <a:off x="5193" y="1453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500" name="Line 106"/>
            <p:cNvSpPr/>
            <p:nvPr/>
          </p:nvSpPr>
          <p:spPr>
            <a:xfrm>
              <a:off x="4195" y="1272"/>
              <a:ext cx="22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501" name="Text Box 107"/>
            <p:cNvSpPr txBox="1"/>
            <p:nvPr/>
          </p:nvSpPr>
          <p:spPr>
            <a:xfrm>
              <a:off x="3969" y="1135"/>
              <a:ext cx="1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502" name="Rectangle 108"/>
            <p:cNvSpPr/>
            <p:nvPr/>
          </p:nvSpPr>
          <p:spPr>
            <a:xfrm>
              <a:off x="4468" y="113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4575" y="1772920"/>
            <a:ext cx="7194550" cy="4391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62497" grpId="0"/>
      <p:bldP spid="624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99" name="Text Box 35"/>
          <p:cNvSpPr txBox="1"/>
          <p:nvPr/>
        </p:nvSpPr>
        <p:spPr>
          <a:xfrm>
            <a:off x="395288" y="1482249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2529" name="Text Box 65"/>
          <p:cNvSpPr txBox="1"/>
          <p:nvPr/>
        </p:nvSpPr>
        <p:spPr>
          <a:xfrm>
            <a:off x="1042988" y="1412875"/>
            <a:ext cx="3887787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(1)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这是一个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电路零状态响应问题，有：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2530" name="Object 66"/>
          <p:cNvGraphicFramePr>
            <a:graphicFrameLocks noChangeAspect="1"/>
          </p:cNvGraphicFramePr>
          <p:nvPr/>
        </p:nvGraphicFramePr>
        <p:xfrm>
          <a:off x="596900" y="3284538"/>
          <a:ext cx="68548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1" imgW="2525395" imgH="252730" progId="Equation.3">
                  <p:embed/>
                </p:oleObj>
              </mc:Choice>
              <mc:Fallback>
                <p:oleObj name="" r:id="rId1" imgW="2525395" imgH="25273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6900" y="3284538"/>
                        <a:ext cx="6854825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2" name="Object 68"/>
          <p:cNvGraphicFramePr>
            <a:graphicFrameLocks noChangeAspect="1"/>
          </p:cNvGraphicFramePr>
          <p:nvPr/>
        </p:nvGraphicFramePr>
        <p:xfrm>
          <a:off x="579438" y="2636838"/>
          <a:ext cx="45275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" imgW="1889760" imgH="139065" progId="Equation.3">
                  <p:embed/>
                </p:oleObj>
              </mc:Choice>
              <mc:Fallback>
                <p:oleObj name="" r:id="rId3" imgW="1889760" imgH="139065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9438" y="2636838"/>
                        <a:ext cx="4527550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33" name="Object 69"/>
          <p:cNvGraphicFramePr>
            <a:graphicFrameLocks noChangeAspect="1"/>
          </p:cNvGraphicFramePr>
          <p:nvPr/>
        </p:nvGraphicFramePr>
        <p:xfrm>
          <a:off x="625475" y="4149725"/>
          <a:ext cx="49974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5" imgW="1985645" imgH="348615" progId="Equation.3">
                  <p:embed/>
                </p:oleObj>
              </mc:Choice>
              <mc:Fallback>
                <p:oleObj name="" r:id="rId5" imgW="1985645" imgH="348615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5475" y="4149725"/>
                        <a:ext cx="4997450" cy="1025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34" name="Text Box 70"/>
          <p:cNvSpPr txBox="1"/>
          <p:nvPr/>
        </p:nvSpPr>
        <p:spPr>
          <a:xfrm>
            <a:off x="539750" y="5156359"/>
            <a:ext cx="6989763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(2)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设经过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秒，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＝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80V</a:t>
            </a:r>
            <a:endParaRPr lang="en-US" altLang="zh-CN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2535" name="Object 71"/>
          <p:cNvGraphicFramePr>
            <a:graphicFrameLocks noChangeAspect="1"/>
          </p:cNvGraphicFramePr>
          <p:nvPr/>
        </p:nvGraphicFramePr>
        <p:xfrm>
          <a:off x="841375" y="5805488"/>
          <a:ext cx="58023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7" imgW="2089785" imgH="173990" progId="Equation.3">
                  <p:embed/>
                </p:oleObj>
              </mc:Choice>
              <mc:Fallback>
                <p:oleObj name="" r:id="rId7" imgW="2089785" imgH="17399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41375" y="5805488"/>
                        <a:ext cx="5802313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573" name="Group 109"/>
          <p:cNvGrpSpPr/>
          <p:nvPr/>
        </p:nvGrpSpPr>
        <p:grpSpPr>
          <a:xfrm>
            <a:off x="5364163" y="1411288"/>
            <a:ext cx="3544887" cy="1960563"/>
            <a:chOff x="3368" y="844"/>
            <a:chExt cx="2233" cy="1235"/>
          </a:xfrm>
        </p:grpSpPr>
        <p:sp>
          <p:nvSpPr>
            <p:cNvPr id="62481" name="Oval 85"/>
            <p:cNvSpPr/>
            <p:nvPr/>
          </p:nvSpPr>
          <p:spPr>
            <a:xfrm>
              <a:off x="3368" y="136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2482" name="Line 86"/>
            <p:cNvSpPr/>
            <p:nvPr/>
          </p:nvSpPr>
          <p:spPr>
            <a:xfrm>
              <a:off x="5057" y="1181"/>
              <a:ext cx="0" cy="3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3" name="Line 87"/>
            <p:cNvSpPr/>
            <p:nvPr/>
          </p:nvSpPr>
          <p:spPr>
            <a:xfrm>
              <a:off x="5057" y="1680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4" name="Line 88"/>
            <p:cNvSpPr/>
            <p:nvPr/>
          </p:nvSpPr>
          <p:spPr>
            <a:xfrm flipV="1">
              <a:off x="3550" y="1181"/>
              <a:ext cx="0" cy="8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485" name="Group 89"/>
            <p:cNvGrpSpPr/>
            <p:nvPr/>
          </p:nvGrpSpPr>
          <p:grpSpPr>
            <a:xfrm>
              <a:off x="4921" y="1589"/>
              <a:ext cx="272" cy="91"/>
              <a:chOff x="1296" y="2112"/>
              <a:chExt cx="192" cy="48"/>
            </a:xfrm>
          </p:grpSpPr>
          <p:sp>
            <p:nvSpPr>
              <p:cNvPr id="62503" name="Line 90"/>
              <p:cNvSpPr/>
              <p:nvPr/>
            </p:nvSpPr>
            <p:spPr>
              <a:xfrm>
                <a:off x="1296" y="2112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4" name="Line 91"/>
              <p:cNvSpPr/>
              <p:nvPr/>
            </p:nvSpPr>
            <p:spPr>
              <a:xfrm>
                <a:off x="1296" y="2160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2486" name="Line 92"/>
            <p:cNvSpPr/>
            <p:nvPr/>
          </p:nvSpPr>
          <p:spPr>
            <a:xfrm>
              <a:off x="3560" y="2043"/>
              <a:ext cx="150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87" name="Text Box 93"/>
            <p:cNvSpPr txBox="1"/>
            <p:nvPr/>
          </p:nvSpPr>
          <p:spPr>
            <a:xfrm>
              <a:off x="4296" y="844"/>
              <a:ext cx="62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2488" name="Text Box 94"/>
            <p:cNvSpPr txBox="1"/>
            <p:nvPr/>
          </p:nvSpPr>
          <p:spPr>
            <a:xfrm>
              <a:off x="4333" y="1452"/>
              <a:ext cx="59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89" name="Text Box 95"/>
            <p:cNvSpPr txBox="1"/>
            <p:nvPr/>
          </p:nvSpPr>
          <p:spPr>
            <a:xfrm>
              <a:off x="5103" y="1226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90" name="Text Box 96"/>
            <p:cNvSpPr txBox="1"/>
            <p:nvPr/>
          </p:nvSpPr>
          <p:spPr>
            <a:xfrm>
              <a:off x="5079" y="1752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2491" name="Text Box 97"/>
            <p:cNvSpPr txBox="1"/>
            <p:nvPr/>
          </p:nvSpPr>
          <p:spPr>
            <a:xfrm>
              <a:off x="3697" y="1433"/>
              <a:ext cx="61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492" name="Line 98"/>
            <p:cNvSpPr/>
            <p:nvPr/>
          </p:nvSpPr>
          <p:spPr>
            <a:xfrm>
              <a:off x="3560" y="1181"/>
              <a:ext cx="3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2493" name="Line 99"/>
            <p:cNvSpPr/>
            <p:nvPr/>
          </p:nvSpPr>
          <p:spPr>
            <a:xfrm>
              <a:off x="4150" y="1181"/>
              <a:ext cx="9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2494" name="Line 100"/>
            <p:cNvSpPr/>
            <p:nvPr/>
          </p:nvSpPr>
          <p:spPr>
            <a:xfrm flipV="1">
              <a:off x="3878" y="1045"/>
              <a:ext cx="317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5" name="Line 101"/>
            <p:cNvSpPr/>
            <p:nvPr/>
          </p:nvSpPr>
          <p:spPr>
            <a:xfrm>
              <a:off x="3833" y="909"/>
              <a:ext cx="182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496" name="Text Box 102"/>
            <p:cNvSpPr txBox="1"/>
            <p:nvPr/>
          </p:nvSpPr>
          <p:spPr>
            <a:xfrm>
              <a:off x="3620" y="863"/>
              <a:ext cx="24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" name="Text Box 103"/>
            <p:cNvSpPr txBox="1"/>
            <p:nvPr/>
          </p:nvSpPr>
          <p:spPr>
            <a:xfrm>
              <a:off x="3651" y="1161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" name="Text Box 104"/>
            <p:cNvSpPr txBox="1"/>
            <p:nvPr/>
          </p:nvSpPr>
          <p:spPr>
            <a:xfrm>
              <a:off x="3560" y="1706"/>
              <a:ext cx="31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" name="Text Box 105"/>
            <p:cNvSpPr txBox="1"/>
            <p:nvPr/>
          </p:nvSpPr>
          <p:spPr>
            <a:xfrm>
              <a:off x="5193" y="1453"/>
              <a:ext cx="4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500" name="Line 106"/>
            <p:cNvSpPr/>
            <p:nvPr/>
          </p:nvSpPr>
          <p:spPr>
            <a:xfrm>
              <a:off x="4195" y="1272"/>
              <a:ext cx="22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2501" name="Text Box 107"/>
            <p:cNvSpPr txBox="1"/>
            <p:nvPr/>
          </p:nvSpPr>
          <p:spPr>
            <a:xfrm>
              <a:off x="3969" y="1135"/>
              <a:ext cx="1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2502" name="Rectangle 108"/>
            <p:cNvSpPr/>
            <p:nvPr/>
          </p:nvSpPr>
          <p:spPr>
            <a:xfrm>
              <a:off x="4468" y="113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2499" grpId="0" animBg="1"/>
      <p:bldP spid="62529" grpId="0"/>
      <p:bldP spid="625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Text Box 2"/>
          <p:cNvSpPr txBox="1"/>
          <p:nvPr/>
        </p:nvSpPr>
        <p:spPr>
          <a:xfrm>
            <a:off x="468313" y="549275"/>
            <a:ext cx="46085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电路的零状态响应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784225" y="1757363"/>
          <a:ext cx="25241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" imgW="975360" imgH="382905" progId="Equation.3">
                  <p:embed/>
                </p:oleObj>
              </mc:Choice>
              <mc:Fallback>
                <p:oleObj name="" r:id="rId1" imgW="975360" imgH="38290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4225" y="1757363"/>
                        <a:ext cx="2524125" cy="1190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4" name="Rectangle 6"/>
          <p:cNvSpPr/>
          <p:nvPr/>
        </p:nvSpPr>
        <p:spPr>
          <a:xfrm>
            <a:off x="685800" y="1195547"/>
            <a:ext cx="466407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，电路方程为：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755650" y="2852738"/>
          <a:ext cx="2179638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3" imgW="592455" imgH="147955" progId="Equation.3">
                  <p:embed/>
                </p:oleObj>
              </mc:Choice>
              <mc:Fallback>
                <p:oleObj name="" r:id="rId3" imgW="592455" imgH="147955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2852738"/>
                        <a:ext cx="2179638" cy="681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958" name="Group 70"/>
          <p:cNvGrpSpPr/>
          <p:nvPr/>
        </p:nvGrpSpPr>
        <p:grpSpPr>
          <a:xfrm>
            <a:off x="5378450" y="3751262"/>
            <a:ext cx="3530600" cy="2095501"/>
            <a:chOff x="3388" y="2363"/>
            <a:chExt cx="2224" cy="1320"/>
          </a:xfrm>
        </p:grpSpPr>
        <p:sp>
          <p:nvSpPr>
            <p:cNvPr id="63541" name="Line 9"/>
            <p:cNvSpPr/>
            <p:nvPr/>
          </p:nvSpPr>
          <p:spPr>
            <a:xfrm>
              <a:off x="3470" y="3203"/>
              <a:ext cx="1968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42" name="Line 10"/>
            <p:cNvSpPr/>
            <p:nvPr/>
          </p:nvSpPr>
          <p:spPr>
            <a:xfrm flipV="1">
              <a:off x="3710" y="2579"/>
              <a:ext cx="0" cy="1104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43" name="Freeform 11"/>
            <p:cNvSpPr/>
            <p:nvPr/>
          </p:nvSpPr>
          <p:spPr>
            <a:xfrm>
              <a:off x="3710" y="2867"/>
              <a:ext cx="1344" cy="344"/>
            </a:xfrm>
            <a:custGeom>
              <a:avLst/>
              <a:gdLst/>
              <a:ahLst/>
              <a:cxnLst>
                <a:cxn ang="0">
                  <a:pos x="0" y="344"/>
                </a:cxn>
                <a:cxn ang="0">
                  <a:pos x="288" y="152"/>
                </a:cxn>
                <a:cxn ang="0">
                  <a:pos x="624" y="56"/>
                </a:cxn>
                <a:cxn ang="0">
                  <a:pos x="1104" y="8"/>
                </a:cxn>
                <a:cxn ang="0">
                  <a:pos x="1344" y="8"/>
                </a:cxn>
              </a:cxnLst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3544" name="Text Box 12"/>
            <p:cNvSpPr txBox="1"/>
            <p:nvPr/>
          </p:nvSpPr>
          <p:spPr>
            <a:xfrm>
              <a:off x="5434" y="3039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3545" name="Line 15"/>
            <p:cNvSpPr/>
            <p:nvPr/>
          </p:nvSpPr>
          <p:spPr>
            <a:xfrm>
              <a:off x="3438" y="3194"/>
              <a:ext cx="272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46" name="Text Box 20"/>
            <p:cNvSpPr txBox="1"/>
            <p:nvPr/>
          </p:nvSpPr>
          <p:spPr>
            <a:xfrm>
              <a:off x="3622" y="2363"/>
              <a:ext cx="4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63547" name="Object 21"/>
            <p:cNvGraphicFramePr>
              <a:graphicFrameLocks noChangeAspect="1"/>
            </p:cNvGraphicFramePr>
            <p:nvPr/>
          </p:nvGraphicFramePr>
          <p:xfrm>
            <a:off x="3388" y="2523"/>
            <a:ext cx="257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6" name="" r:id="rId5" imgW="165735" imgH="348615" progId="Equation.3">
                    <p:embed/>
                  </p:oleObj>
                </mc:Choice>
                <mc:Fallback>
                  <p:oleObj name="" r:id="rId5" imgW="165735" imgH="348615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88" y="2523"/>
                          <a:ext cx="257" cy="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48" name="Text Box 25"/>
            <p:cNvSpPr txBox="1"/>
            <p:nvPr/>
          </p:nvSpPr>
          <p:spPr>
            <a:xfrm>
              <a:off x="3459" y="3179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3549" name="Line 27"/>
            <p:cNvSpPr/>
            <p:nvPr/>
          </p:nvSpPr>
          <p:spPr>
            <a:xfrm flipH="1">
              <a:off x="3710" y="2848"/>
              <a:ext cx="1318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dashDot"/>
              <a:headEnd type="none" w="med" len="med"/>
              <a:tailEnd type="none" w="med" len="med"/>
            </a:ln>
          </p:spPr>
        </p:sp>
      </p:grpSp>
      <p:graphicFrame>
        <p:nvGraphicFramePr>
          <p:cNvPr id="165916" name="Object 28"/>
          <p:cNvGraphicFramePr>
            <a:graphicFrameLocks noChangeAspect="1"/>
          </p:cNvGraphicFramePr>
          <p:nvPr/>
        </p:nvGraphicFramePr>
        <p:xfrm>
          <a:off x="784225" y="3716338"/>
          <a:ext cx="36464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7" imgW="1393190" imgH="348615" progId="Equation.3">
                  <p:embed/>
                </p:oleObj>
              </mc:Choice>
              <mc:Fallback>
                <p:oleObj name="" r:id="rId7" imgW="1393190" imgH="348615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4225" y="3716338"/>
                        <a:ext cx="3646488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7" name="Object 29"/>
          <p:cNvGraphicFramePr>
            <a:graphicFrameLocks noChangeAspect="1"/>
          </p:cNvGraphicFramePr>
          <p:nvPr/>
        </p:nvGraphicFramePr>
        <p:xfrm>
          <a:off x="3087688" y="2708275"/>
          <a:ext cx="210185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9" imgW="775335" imgH="348615" progId="Equation.3">
                  <p:embed/>
                </p:oleObj>
              </mc:Choice>
              <mc:Fallback>
                <p:oleObj name="" r:id="rId9" imgW="775335" imgH="34861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87688" y="2708275"/>
                        <a:ext cx="2101850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5924" name="Group 36"/>
          <p:cNvGrpSpPr/>
          <p:nvPr/>
        </p:nvGrpSpPr>
        <p:grpSpPr>
          <a:xfrm>
            <a:off x="5716588" y="906463"/>
            <a:ext cx="2938463" cy="2135188"/>
            <a:chOff x="3035" y="2095"/>
            <a:chExt cx="1851" cy="1345"/>
          </a:xfrm>
        </p:grpSpPr>
        <p:sp>
          <p:nvSpPr>
            <p:cNvPr id="63504" name="Oval 37"/>
            <p:cNvSpPr/>
            <p:nvPr/>
          </p:nvSpPr>
          <p:spPr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3505" name="Group 38"/>
            <p:cNvGrpSpPr/>
            <p:nvPr/>
          </p:nvGrpSpPr>
          <p:grpSpPr>
            <a:xfrm>
              <a:off x="4241" y="2133"/>
              <a:ext cx="275" cy="351"/>
              <a:chOff x="1830" y="479"/>
              <a:chExt cx="282" cy="289"/>
            </a:xfrm>
          </p:grpSpPr>
          <p:sp>
            <p:nvSpPr>
              <p:cNvPr id="63535" name="Line 39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3536" name="Text Box 40"/>
              <p:cNvSpPr txBox="1"/>
              <p:nvPr/>
            </p:nvSpPr>
            <p:spPr>
              <a:xfrm>
                <a:off x="1830" y="479"/>
                <a:ext cx="271" cy="27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3506" name="Text Box 41"/>
            <p:cNvSpPr txBox="1"/>
            <p:nvPr/>
          </p:nvSpPr>
          <p:spPr>
            <a:xfrm>
              <a:off x="3035" y="2095"/>
              <a:ext cx="71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3507" name="Text Box 42"/>
            <p:cNvSpPr txBox="1"/>
            <p:nvPr/>
          </p:nvSpPr>
          <p:spPr>
            <a:xfrm>
              <a:off x="3423" y="2749"/>
              <a:ext cx="3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3508" name="Group 43"/>
            <p:cNvGrpSpPr/>
            <p:nvPr/>
          </p:nvGrpSpPr>
          <p:grpSpPr>
            <a:xfrm>
              <a:off x="3778" y="2454"/>
              <a:ext cx="602" cy="383"/>
              <a:chOff x="804" y="773"/>
              <a:chExt cx="618" cy="315"/>
            </a:xfrm>
          </p:grpSpPr>
          <p:grpSp>
            <p:nvGrpSpPr>
              <p:cNvPr id="63531" name="Group 44"/>
              <p:cNvGrpSpPr/>
              <p:nvPr/>
            </p:nvGrpSpPr>
            <p:grpSpPr>
              <a:xfrm>
                <a:off x="804" y="773"/>
                <a:ext cx="618" cy="277"/>
                <a:chOff x="804" y="773"/>
                <a:chExt cx="618" cy="277"/>
              </a:xfrm>
            </p:grpSpPr>
            <p:sp>
              <p:nvSpPr>
                <p:cNvPr id="63533" name="Text Box 45"/>
                <p:cNvSpPr txBox="1"/>
                <p:nvPr/>
              </p:nvSpPr>
              <p:spPr>
                <a:xfrm>
                  <a:off x="804" y="775"/>
                  <a:ext cx="249" cy="273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3534" name="Text Box 46"/>
                <p:cNvSpPr txBox="1"/>
                <p:nvPr/>
              </p:nvSpPr>
              <p:spPr>
                <a:xfrm>
                  <a:off x="1189" y="773"/>
                  <a:ext cx="233" cy="27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3532" name="Text Box 47"/>
              <p:cNvSpPr txBox="1"/>
              <p:nvPr/>
            </p:nvSpPr>
            <p:spPr>
              <a:xfrm>
                <a:off x="958" y="812"/>
                <a:ext cx="332" cy="27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3509" name="Text Box 48"/>
            <p:cNvSpPr txBox="1"/>
            <p:nvPr/>
          </p:nvSpPr>
          <p:spPr>
            <a:xfrm>
              <a:off x="4646" y="277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3510" name="Group 49"/>
            <p:cNvGrpSpPr/>
            <p:nvPr/>
          </p:nvGrpSpPr>
          <p:grpSpPr>
            <a:xfrm>
              <a:off x="4243" y="2522"/>
              <a:ext cx="318" cy="796"/>
              <a:chOff x="1973" y="729"/>
              <a:chExt cx="327" cy="656"/>
            </a:xfrm>
          </p:grpSpPr>
          <p:grpSp>
            <p:nvGrpSpPr>
              <p:cNvPr id="63527" name="Group 50"/>
              <p:cNvGrpSpPr/>
              <p:nvPr/>
            </p:nvGrpSpPr>
            <p:grpSpPr>
              <a:xfrm>
                <a:off x="2053" y="729"/>
                <a:ext cx="247" cy="656"/>
                <a:chOff x="1621" y="1257"/>
                <a:chExt cx="247" cy="656"/>
              </a:xfrm>
            </p:grpSpPr>
            <p:sp>
              <p:nvSpPr>
                <p:cNvPr id="63529" name="Text Box 51"/>
                <p:cNvSpPr txBox="1"/>
                <p:nvPr/>
              </p:nvSpPr>
              <p:spPr>
                <a:xfrm>
                  <a:off x="1621" y="1257"/>
                  <a:ext cx="247" cy="27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3530" name="Text Box 52"/>
                <p:cNvSpPr txBox="1"/>
                <p:nvPr/>
              </p:nvSpPr>
              <p:spPr>
                <a:xfrm>
                  <a:off x="1623" y="1641"/>
                  <a:ext cx="231" cy="27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3528" name="Text Box 53"/>
              <p:cNvSpPr txBox="1"/>
              <p:nvPr/>
            </p:nvSpPr>
            <p:spPr>
              <a:xfrm>
                <a:off x="1973" y="910"/>
                <a:ext cx="319" cy="27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3511" name="Line 54"/>
            <p:cNvSpPr/>
            <p:nvPr/>
          </p:nvSpPr>
          <p:spPr>
            <a:xfrm>
              <a:off x="3833" y="2523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3512" name="Line 55"/>
            <p:cNvSpPr/>
            <p:nvPr/>
          </p:nvSpPr>
          <p:spPr>
            <a:xfrm>
              <a:off x="3243" y="2523"/>
              <a:ext cx="3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3513" name="Line 56"/>
            <p:cNvSpPr/>
            <p:nvPr/>
          </p:nvSpPr>
          <p:spPr>
            <a:xfrm>
              <a:off x="4558" y="3113"/>
              <a:ext cx="0" cy="2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4" name="Line 57"/>
            <p:cNvSpPr/>
            <p:nvPr/>
          </p:nvSpPr>
          <p:spPr>
            <a:xfrm>
              <a:off x="3243" y="2523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5" name="Line 58"/>
            <p:cNvSpPr/>
            <p:nvPr/>
          </p:nvSpPr>
          <p:spPr>
            <a:xfrm>
              <a:off x="3243" y="3385"/>
              <a:ext cx="131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6" name="Line 59"/>
            <p:cNvSpPr/>
            <p:nvPr/>
          </p:nvSpPr>
          <p:spPr>
            <a:xfrm>
              <a:off x="4558" y="2523"/>
              <a:ext cx="0" cy="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7" name="Text Box 60"/>
            <p:cNvSpPr txBox="1"/>
            <p:nvPr/>
          </p:nvSpPr>
          <p:spPr>
            <a:xfrm>
              <a:off x="3965" y="2140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3518" name="Line 61"/>
            <p:cNvSpPr/>
            <p:nvPr/>
          </p:nvSpPr>
          <p:spPr>
            <a:xfrm flipH="1" flipV="1">
              <a:off x="3560" y="2432"/>
              <a:ext cx="278" cy="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9" name="Line 62"/>
            <p:cNvSpPr/>
            <p:nvPr/>
          </p:nvSpPr>
          <p:spPr>
            <a:xfrm flipH="1">
              <a:off x="3742" y="2251"/>
              <a:ext cx="140" cy="23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3520" name="Rectangle 63"/>
            <p:cNvSpPr/>
            <p:nvPr/>
          </p:nvSpPr>
          <p:spPr>
            <a:xfrm>
              <a:off x="3923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3521" name="Group 64"/>
            <p:cNvGrpSpPr/>
            <p:nvPr/>
          </p:nvGrpSpPr>
          <p:grpSpPr>
            <a:xfrm rot="5400000">
              <a:off x="4104" y="2613"/>
              <a:ext cx="499" cy="590"/>
              <a:chOff x="476" y="663"/>
              <a:chExt cx="771" cy="862"/>
            </a:xfrm>
          </p:grpSpPr>
          <p:sp>
            <p:nvSpPr>
              <p:cNvPr id="63524" name="AutoShape 65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3525" name="AutoShape 66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3526" name="AutoShape 67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3522" name="Text Box 68"/>
            <p:cNvSpPr txBox="1"/>
            <p:nvPr/>
          </p:nvSpPr>
          <p:spPr>
            <a:xfrm>
              <a:off x="3288" y="2478"/>
              <a:ext cx="31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3523" name="Text Box 69"/>
            <p:cNvSpPr txBox="1"/>
            <p:nvPr/>
          </p:nvSpPr>
          <p:spPr>
            <a:xfrm>
              <a:off x="3334" y="311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" name="对象 1"/>
          <p:cNvGraphicFramePr/>
          <p:nvPr>
            <p:custDataLst>
              <p:tags r:id="rId11"/>
            </p:custDataLst>
          </p:nvPr>
        </p:nvGraphicFramePr>
        <p:xfrm>
          <a:off x="827405" y="4941570"/>
          <a:ext cx="4281805" cy="1255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2" imgW="3839210" imgH="1230630" progId="Equation.KSEE3">
                  <p:embed/>
                </p:oleObj>
              </mc:Choice>
              <mc:Fallback>
                <p:oleObj name="" r:id="rId12" imgW="3839210" imgH="123063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7405" y="4941570"/>
                        <a:ext cx="4281805" cy="125539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65890" grpId="0"/>
      <p:bldP spid="1658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1203325" y="3052763"/>
          <a:ext cx="3448050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" imgW="1149350" imgH="348615" progId="Equation.3">
                  <p:embed/>
                </p:oleObj>
              </mc:Choice>
              <mc:Fallback>
                <p:oleObj name="" r:id="rId1" imgW="1149350" imgH="348615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3325" y="3052763"/>
                        <a:ext cx="3448050" cy="1179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62" name="Group 122"/>
          <p:cNvGrpSpPr/>
          <p:nvPr/>
        </p:nvGrpSpPr>
        <p:grpSpPr>
          <a:xfrm>
            <a:off x="5435600" y="2868612"/>
            <a:ext cx="3162300" cy="2000251"/>
            <a:chOff x="3424" y="1807"/>
            <a:chExt cx="1992" cy="1260"/>
          </a:xfrm>
        </p:grpSpPr>
        <p:sp>
          <p:nvSpPr>
            <p:cNvPr id="64560" name="Text Box 59"/>
            <p:cNvSpPr txBox="1"/>
            <p:nvPr/>
          </p:nvSpPr>
          <p:spPr>
            <a:xfrm>
              <a:off x="3930" y="1807"/>
              <a:ext cx="31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61" name="Text Box 60"/>
            <p:cNvSpPr txBox="1"/>
            <p:nvPr/>
          </p:nvSpPr>
          <p:spPr>
            <a:xfrm>
              <a:off x="3553" y="2018"/>
              <a:ext cx="3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62" name="Line 62"/>
            <p:cNvSpPr/>
            <p:nvPr/>
          </p:nvSpPr>
          <p:spPr>
            <a:xfrm>
              <a:off x="3424" y="2659"/>
              <a:ext cx="1806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63" name="Line 63"/>
            <p:cNvSpPr/>
            <p:nvPr/>
          </p:nvSpPr>
          <p:spPr>
            <a:xfrm flipV="1">
              <a:off x="3878" y="1987"/>
              <a:ext cx="8" cy="108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64" name="Freeform 64"/>
            <p:cNvSpPr/>
            <p:nvPr/>
          </p:nvSpPr>
          <p:spPr>
            <a:xfrm>
              <a:off x="3886" y="2179"/>
              <a:ext cx="1200" cy="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192"/>
                </a:cxn>
                <a:cxn ang="0">
                  <a:pos x="384" y="336"/>
                </a:cxn>
                <a:cxn ang="0">
                  <a:pos x="912" y="432"/>
                </a:cxn>
                <a:cxn ang="0">
                  <a:pos x="1200" y="442"/>
                </a:cxn>
              </a:cxnLst>
              <a:pathLst>
                <a:path w="1200" h="450">
                  <a:moveTo>
                    <a:pt x="0" y="0"/>
                  </a:moveTo>
                  <a:cubicBezTo>
                    <a:pt x="40" y="68"/>
                    <a:pt x="80" y="136"/>
                    <a:pt x="144" y="192"/>
                  </a:cubicBezTo>
                  <a:cubicBezTo>
                    <a:pt x="208" y="248"/>
                    <a:pt x="256" y="296"/>
                    <a:pt x="384" y="336"/>
                  </a:cubicBezTo>
                  <a:cubicBezTo>
                    <a:pt x="512" y="376"/>
                    <a:pt x="776" y="414"/>
                    <a:pt x="912" y="432"/>
                  </a:cubicBezTo>
                  <a:cubicBezTo>
                    <a:pt x="1048" y="450"/>
                    <a:pt x="1140" y="440"/>
                    <a:pt x="1200" y="44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565" name="Text Box 65"/>
            <p:cNvSpPr txBox="1"/>
            <p:nvPr/>
          </p:nvSpPr>
          <p:spPr>
            <a:xfrm>
              <a:off x="5238" y="2543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66" name="Text Box 68"/>
            <p:cNvSpPr txBox="1"/>
            <p:nvPr/>
          </p:nvSpPr>
          <p:spPr>
            <a:xfrm>
              <a:off x="3638" y="2591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67" name="Line 69"/>
            <p:cNvSpPr/>
            <p:nvPr/>
          </p:nvSpPr>
          <p:spPr>
            <a:xfrm flipH="1">
              <a:off x="3667" y="2647"/>
              <a:ext cx="210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68" name="Line 70"/>
            <p:cNvSpPr/>
            <p:nvPr/>
          </p:nvSpPr>
          <p:spPr>
            <a:xfrm flipV="1">
              <a:off x="3877" y="2192"/>
              <a:ext cx="0" cy="455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69" name="Line 72"/>
            <p:cNvSpPr/>
            <p:nvPr/>
          </p:nvSpPr>
          <p:spPr>
            <a:xfrm rot="-2533965">
              <a:off x="3875" y="2167"/>
              <a:ext cx="37" cy="2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28" name="Group 88"/>
          <p:cNvGrpSpPr/>
          <p:nvPr/>
        </p:nvGrpSpPr>
        <p:grpSpPr>
          <a:xfrm>
            <a:off x="5716588" y="619125"/>
            <a:ext cx="2938463" cy="2135188"/>
            <a:chOff x="3035" y="2095"/>
            <a:chExt cx="1851" cy="1345"/>
          </a:xfrm>
        </p:grpSpPr>
        <p:sp>
          <p:nvSpPr>
            <p:cNvPr id="64523" name="Oval 89"/>
            <p:cNvSpPr/>
            <p:nvPr/>
          </p:nvSpPr>
          <p:spPr>
            <a:xfrm>
              <a:off x="306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4524" name="Group 90"/>
            <p:cNvGrpSpPr/>
            <p:nvPr/>
          </p:nvGrpSpPr>
          <p:grpSpPr>
            <a:xfrm>
              <a:off x="4245" y="2133"/>
              <a:ext cx="271" cy="351"/>
              <a:chOff x="1834" y="479"/>
              <a:chExt cx="278" cy="289"/>
            </a:xfrm>
          </p:grpSpPr>
          <p:sp>
            <p:nvSpPr>
              <p:cNvPr id="64554" name="Line 91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4555" name="Text Box 92"/>
              <p:cNvSpPr txBox="1"/>
              <p:nvPr/>
            </p:nvSpPr>
            <p:spPr>
              <a:xfrm>
                <a:off x="1834" y="479"/>
                <a:ext cx="263" cy="27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4525" name="Text Box 93"/>
            <p:cNvSpPr txBox="1"/>
            <p:nvPr/>
          </p:nvSpPr>
          <p:spPr>
            <a:xfrm>
              <a:off x="3035" y="2095"/>
              <a:ext cx="71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t=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26" name="Text Box 94"/>
            <p:cNvSpPr txBox="1"/>
            <p:nvPr/>
          </p:nvSpPr>
          <p:spPr>
            <a:xfrm>
              <a:off x="3423" y="2749"/>
              <a:ext cx="3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4527" name="Group 95"/>
            <p:cNvGrpSpPr/>
            <p:nvPr/>
          </p:nvGrpSpPr>
          <p:grpSpPr>
            <a:xfrm>
              <a:off x="3778" y="2454"/>
              <a:ext cx="602" cy="383"/>
              <a:chOff x="804" y="773"/>
              <a:chExt cx="618" cy="315"/>
            </a:xfrm>
          </p:grpSpPr>
          <p:grpSp>
            <p:nvGrpSpPr>
              <p:cNvPr id="64550" name="Group 96"/>
              <p:cNvGrpSpPr/>
              <p:nvPr/>
            </p:nvGrpSpPr>
            <p:grpSpPr>
              <a:xfrm>
                <a:off x="804" y="773"/>
                <a:ext cx="618" cy="277"/>
                <a:chOff x="804" y="773"/>
                <a:chExt cx="618" cy="277"/>
              </a:xfrm>
            </p:grpSpPr>
            <p:sp>
              <p:nvSpPr>
                <p:cNvPr id="64552" name="Text Box 97"/>
                <p:cNvSpPr txBox="1"/>
                <p:nvPr/>
              </p:nvSpPr>
              <p:spPr>
                <a:xfrm>
                  <a:off x="804" y="775"/>
                  <a:ext cx="249" cy="273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4553" name="Text Box 98"/>
                <p:cNvSpPr txBox="1"/>
                <p:nvPr/>
              </p:nvSpPr>
              <p:spPr>
                <a:xfrm>
                  <a:off x="1189" y="773"/>
                  <a:ext cx="233" cy="27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4551" name="Text Box 99"/>
              <p:cNvSpPr txBox="1"/>
              <p:nvPr/>
            </p:nvSpPr>
            <p:spPr>
              <a:xfrm>
                <a:off x="958" y="812"/>
                <a:ext cx="332" cy="27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4528" name="Text Box 100"/>
            <p:cNvSpPr txBox="1"/>
            <p:nvPr/>
          </p:nvSpPr>
          <p:spPr>
            <a:xfrm>
              <a:off x="4646" y="277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4529" name="Group 101"/>
            <p:cNvGrpSpPr/>
            <p:nvPr/>
          </p:nvGrpSpPr>
          <p:grpSpPr>
            <a:xfrm>
              <a:off x="4247" y="2522"/>
              <a:ext cx="314" cy="796"/>
              <a:chOff x="1977" y="729"/>
              <a:chExt cx="323" cy="656"/>
            </a:xfrm>
          </p:grpSpPr>
          <p:grpSp>
            <p:nvGrpSpPr>
              <p:cNvPr id="64546" name="Group 102"/>
              <p:cNvGrpSpPr/>
              <p:nvPr/>
            </p:nvGrpSpPr>
            <p:grpSpPr>
              <a:xfrm>
                <a:off x="2053" y="729"/>
                <a:ext cx="247" cy="656"/>
                <a:chOff x="1621" y="1257"/>
                <a:chExt cx="247" cy="656"/>
              </a:xfrm>
            </p:grpSpPr>
            <p:sp>
              <p:nvSpPr>
                <p:cNvPr id="64548" name="Text Box 103"/>
                <p:cNvSpPr txBox="1"/>
                <p:nvPr/>
              </p:nvSpPr>
              <p:spPr>
                <a:xfrm>
                  <a:off x="1621" y="1257"/>
                  <a:ext cx="247" cy="27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4549" name="Text Box 104"/>
                <p:cNvSpPr txBox="1"/>
                <p:nvPr/>
              </p:nvSpPr>
              <p:spPr>
                <a:xfrm>
                  <a:off x="1623" y="1641"/>
                  <a:ext cx="231" cy="27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4547" name="Text Box 105"/>
              <p:cNvSpPr txBox="1"/>
              <p:nvPr/>
            </p:nvSpPr>
            <p:spPr>
              <a:xfrm>
                <a:off x="1977" y="910"/>
                <a:ext cx="311" cy="27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4530" name="Line 106"/>
            <p:cNvSpPr/>
            <p:nvPr/>
          </p:nvSpPr>
          <p:spPr>
            <a:xfrm>
              <a:off x="3833" y="2523"/>
              <a:ext cx="7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4531" name="Line 107"/>
            <p:cNvSpPr/>
            <p:nvPr/>
          </p:nvSpPr>
          <p:spPr>
            <a:xfrm>
              <a:off x="3243" y="2523"/>
              <a:ext cx="34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4532" name="Line 108"/>
            <p:cNvSpPr/>
            <p:nvPr/>
          </p:nvSpPr>
          <p:spPr>
            <a:xfrm>
              <a:off x="4558" y="3113"/>
              <a:ext cx="0" cy="29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3" name="Line 109"/>
            <p:cNvSpPr/>
            <p:nvPr/>
          </p:nvSpPr>
          <p:spPr>
            <a:xfrm>
              <a:off x="3243" y="2523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4" name="Line 110"/>
            <p:cNvSpPr/>
            <p:nvPr/>
          </p:nvSpPr>
          <p:spPr>
            <a:xfrm>
              <a:off x="3243" y="3385"/>
              <a:ext cx="131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5" name="Line 111"/>
            <p:cNvSpPr/>
            <p:nvPr/>
          </p:nvSpPr>
          <p:spPr>
            <a:xfrm>
              <a:off x="4558" y="2523"/>
              <a:ext cx="0" cy="17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6" name="Text Box 112"/>
            <p:cNvSpPr txBox="1"/>
            <p:nvPr/>
          </p:nvSpPr>
          <p:spPr>
            <a:xfrm>
              <a:off x="3965" y="2140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37" name="Line 113"/>
            <p:cNvSpPr/>
            <p:nvPr/>
          </p:nvSpPr>
          <p:spPr>
            <a:xfrm flipH="1" flipV="1">
              <a:off x="3560" y="2432"/>
              <a:ext cx="278" cy="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38" name="Line 114"/>
            <p:cNvSpPr/>
            <p:nvPr/>
          </p:nvSpPr>
          <p:spPr>
            <a:xfrm flipH="1">
              <a:off x="3742" y="2251"/>
              <a:ext cx="140" cy="233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539" name="Rectangle 115"/>
            <p:cNvSpPr/>
            <p:nvPr/>
          </p:nvSpPr>
          <p:spPr>
            <a:xfrm>
              <a:off x="3923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4540" name="Group 116"/>
            <p:cNvGrpSpPr/>
            <p:nvPr/>
          </p:nvGrpSpPr>
          <p:grpSpPr>
            <a:xfrm rot="5400000">
              <a:off x="4104" y="2613"/>
              <a:ext cx="499" cy="590"/>
              <a:chOff x="476" y="663"/>
              <a:chExt cx="771" cy="862"/>
            </a:xfrm>
          </p:grpSpPr>
          <p:sp>
            <p:nvSpPr>
              <p:cNvPr id="64543" name="AutoShape 117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544" name="AutoShape 118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4545" name="AutoShape 119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4541" name="Text Box 120"/>
            <p:cNvSpPr txBox="1"/>
            <p:nvPr/>
          </p:nvSpPr>
          <p:spPr>
            <a:xfrm>
              <a:off x="3288" y="2478"/>
              <a:ext cx="31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4542" name="Text Box 121"/>
            <p:cNvSpPr txBox="1"/>
            <p:nvPr/>
          </p:nvSpPr>
          <p:spPr>
            <a:xfrm>
              <a:off x="3334" y="3113"/>
              <a:ext cx="31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—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" name="对象 1"/>
          <p:cNvGraphicFramePr/>
          <p:nvPr>
            <p:custDataLst>
              <p:tags r:id="rId3"/>
            </p:custDataLst>
          </p:nvPr>
        </p:nvGraphicFramePr>
        <p:xfrm>
          <a:off x="1210945" y="981075"/>
          <a:ext cx="4070985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4" imgW="3173730" imgH="1200150" progId="Equation.KSEE3">
                  <p:embed/>
                </p:oleObj>
              </mc:Choice>
              <mc:Fallback>
                <p:oleObj name="" r:id="rId4" imgW="3173730" imgH="120015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0945" y="981075"/>
                        <a:ext cx="4070985" cy="1663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20" name="Text Box 4"/>
          <p:cNvSpPr txBox="1"/>
          <p:nvPr/>
        </p:nvSpPr>
        <p:spPr>
          <a:xfrm>
            <a:off x="323850" y="474186"/>
            <a:ext cx="1079500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21" name="Text Box 5"/>
          <p:cNvSpPr txBox="1"/>
          <p:nvPr/>
        </p:nvSpPr>
        <p:spPr>
          <a:xfrm>
            <a:off x="1187450" y="474821"/>
            <a:ext cx="77406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打开，求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的变化规律。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22" name="Text Box 6"/>
          <p:cNvSpPr txBox="1"/>
          <p:nvPr/>
        </p:nvSpPr>
        <p:spPr>
          <a:xfrm>
            <a:off x="395288" y="3211037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23" name="Text Box 7"/>
          <p:cNvSpPr txBox="1"/>
          <p:nvPr/>
        </p:nvSpPr>
        <p:spPr>
          <a:xfrm>
            <a:off x="1150938" y="3284538"/>
            <a:ext cx="79930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电路零状态响应问题，先化简电路，有：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0516" name="Object 100"/>
          <p:cNvGraphicFramePr>
            <a:graphicFrameLocks noChangeAspect="1"/>
          </p:cNvGraphicFramePr>
          <p:nvPr/>
        </p:nvGraphicFramePr>
        <p:xfrm>
          <a:off x="1273175" y="3933825"/>
          <a:ext cx="46529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1" imgW="1776730" imgH="173990" progId="Equation.3">
                  <p:embed/>
                </p:oleObj>
              </mc:Choice>
              <mc:Fallback>
                <p:oleObj name="" r:id="rId1" imgW="1776730" imgH="17399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73175" y="3933825"/>
                        <a:ext cx="4652963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8" name="Object 102"/>
          <p:cNvGraphicFramePr>
            <a:graphicFrameLocks noChangeAspect="1"/>
          </p:cNvGraphicFramePr>
          <p:nvPr/>
        </p:nvGraphicFramePr>
        <p:xfrm>
          <a:off x="1362075" y="4508500"/>
          <a:ext cx="46101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3" imgW="1645920" imgH="173990" progId="Equation.3">
                  <p:embed/>
                </p:oleObj>
              </mc:Choice>
              <mc:Fallback>
                <p:oleObj name="" r:id="rId3" imgW="1645920" imgH="17399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62075" y="4508500"/>
                        <a:ext cx="46101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570" name="Group 154"/>
          <p:cNvGrpSpPr/>
          <p:nvPr/>
        </p:nvGrpSpPr>
        <p:grpSpPr>
          <a:xfrm>
            <a:off x="5148263" y="1773238"/>
            <a:ext cx="1223962" cy="719137"/>
            <a:chOff x="3651" y="1071"/>
            <a:chExt cx="771" cy="453"/>
          </a:xfrm>
        </p:grpSpPr>
        <p:sp>
          <p:nvSpPr>
            <p:cNvPr id="65617" name="AutoShape 61"/>
            <p:cNvSpPr/>
            <p:nvPr/>
          </p:nvSpPr>
          <p:spPr>
            <a:xfrm rot="-5400000">
              <a:off x="3878" y="1206"/>
              <a:ext cx="135" cy="500"/>
            </a:xfrm>
            <a:prstGeom prst="downArrow">
              <a:avLst>
                <a:gd name="adj1" fmla="val 50000"/>
                <a:gd name="adj2" fmla="val 92592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618" name="Text Box 105"/>
            <p:cNvSpPr txBox="1"/>
            <p:nvPr/>
          </p:nvSpPr>
          <p:spPr>
            <a:xfrm>
              <a:off x="3651" y="1071"/>
              <a:ext cx="7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u="sng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&gt;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60594" name="Object 178"/>
          <p:cNvGraphicFramePr>
            <a:graphicFrameLocks noChangeAspect="1"/>
          </p:cNvGraphicFramePr>
          <p:nvPr/>
        </p:nvGraphicFramePr>
        <p:xfrm>
          <a:off x="1187450" y="5173663"/>
          <a:ext cx="21431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5" imgW="731520" imgH="147955" progId="Equation.3">
                  <p:embed/>
                </p:oleObj>
              </mc:Choice>
              <mc:Fallback>
                <p:oleObj name="" r:id="rId5" imgW="731520" imgH="147955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173663"/>
                        <a:ext cx="214312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95" name="Object 179"/>
          <p:cNvGraphicFramePr>
            <a:graphicFrameLocks noChangeAspect="1"/>
          </p:cNvGraphicFramePr>
          <p:nvPr/>
        </p:nvGraphicFramePr>
        <p:xfrm>
          <a:off x="3924300" y="5084763"/>
          <a:ext cx="36004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7" imgW="1280160" imgH="173990" progId="Equation.3">
                  <p:embed/>
                </p:oleObj>
              </mc:Choice>
              <mc:Fallback>
                <p:oleObj name="" r:id="rId7" imgW="1280160" imgH="17399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24300" y="5084763"/>
                        <a:ext cx="3600450" cy="579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96" name="Object 180"/>
          <p:cNvGraphicFramePr>
            <a:graphicFrameLocks noChangeAspect="1"/>
          </p:cNvGraphicFramePr>
          <p:nvPr/>
        </p:nvGraphicFramePr>
        <p:xfrm>
          <a:off x="1187450" y="5734050"/>
          <a:ext cx="60658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9" imgW="2089785" imgH="182880" progId="Equation.3">
                  <p:embed/>
                </p:oleObj>
              </mc:Choice>
              <mc:Fallback>
                <p:oleObj name="" r:id="rId9" imgW="2089785" imgH="18288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5734050"/>
                        <a:ext cx="6065838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612" name="Group 196"/>
          <p:cNvGrpSpPr/>
          <p:nvPr/>
        </p:nvGrpSpPr>
        <p:grpSpPr>
          <a:xfrm>
            <a:off x="180975" y="906463"/>
            <a:ext cx="4751388" cy="2119313"/>
            <a:chOff x="114" y="571"/>
            <a:chExt cx="2993" cy="1335"/>
          </a:xfrm>
        </p:grpSpPr>
        <p:sp>
          <p:nvSpPr>
            <p:cNvPr id="65576" name="Line 120"/>
            <p:cNvSpPr/>
            <p:nvPr/>
          </p:nvSpPr>
          <p:spPr>
            <a:xfrm>
              <a:off x="612" y="909"/>
              <a:ext cx="0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77" name="Line 122"/>
            <p:cNvSpPr/>
            <p:nvPr/>
          </p:nvSpPr>
          <p:spPr>
            <a:xfrm>
              <a:off x="1610" y="1544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78" name="Text Box 123"/>
            <p:cNvSpPr txBox="1"/>
            <p:nvPr/>
          </p:nvSpPr>
          <p:spPr>
            <a:xfrm>
              <a:off x="1353" y="1517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79" name="Text Box 124"/>
            <p:cNvSpPr txBox="1"/>
            <p:nvPr/>
          </p:nvSpPr>
          <p:spPr>
            <a:xfrm>
              <a:off x="1042" y="1206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0" name="Text Box 125"/>
            <p:cNvSpPr txBox="1"/>
            <p:nvPr/>
          </p:nvSpPr>
          <p:spPr>
            <a:xfrm>
              <a:off x="1733" y="93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1" name="Text Box 126"/>
            <p:cNvSpPr txBox="1"/>
            <p:nvPr/>
          </p:nvSpPr>
          <p:spPr>
            <a:xfrm>
              <a:off x="1733" y="1524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2" name="Text Box 127"/>
            <p:cNvSpPr txBox="1"/>
            <p:nvPr/>
          </p:nvSpPr>
          <p:spPr>
            <a:xfrm>
              <a:off x="1778" y="1199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3" name="Text Box 128"/>
            <p:cNvSpPr txBox="1"/>
            <p:nvPr/>
          </p:nvSpPr>
          <p:spPr>
            <a:xfrm>
              <a:off x="1325" y="1161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4" name="Text Box 129"/>
            <p:cNvSpPr txBox="1"/>
            <p:nvPr/>
          </p:nvSpPr>
          <p:spPr>
            <a:xfrm>
              <a:off x="1154" y="571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85" name="Line 130"/>
            <p:cNvSpPr/>
            <p:nvPr/>
          </p:nvSpPr>
          <p:spPr>
            <a:xfrm flipH="1" flipV="1">
              <a:off x="612" y="909"/>
              <a:ext cx="24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6" name="Line 131"/>
            <p:cNvSpPr/>
            <p:nvPr/>
          </p:nvSpPr>
          <p:spPr>
            <a:xfrm>
              <a:off x="612" y="1906"/>
              <a:ext cx="245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7" name="Line 133"/>
            <p:cNvSpPr/>
            <p:nvPr/>
          </p:nvSpPr>
          <p:spPr>
            <a:xfrm>
              <a:off x="1687" y="909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5588" name="Line 134"/>
            <p:cNvSpPr/>
            <p:nvPr/>
          </p:nvSpPr>
          <p:spPr>
            <a:xfrm>
              <a:off x="1028" y="909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89" name="Line 135"/>
            <p:cNvSpPr/>
            <p:nvPr/>
          </p:nvSpPr>
          <p:spPr>
            <a:xfrm flipV="1">
              <a:off x="1028" y="1453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0" name="Text Box 136"/>
            <p:cNvSpPr txBox="1"/>
            <p:nvPr/>
          </p:nvSpPr>
          <p:spPr>
            <a:xfrm>
              <a:off x="1855" y="571"/>
              <a:ext cx="51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80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91" name="Text Box 137"/>
            <p:cNvSpPr txBox="1"/>
            <p:nvPr/>
          </p:nvSpPr>
          <p:spPr>
            <a:xfrm>
              <a:off x="114" y="1025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92" name="Line 138"/>
            <p:cNvSpPr/>
            <p:nvPr/>
          </p:nvSpPr>
          <p:spPr>
            <a:xfrm>
              <a:off x="1028" y="1135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5593" name="Line 139"/>
            <p:cNvSpPr/>
            <p:nvPr/>
          </p:nvSpPr>
          <p:spPr>
            <a:xfrm flipV="1">
              <a:off x="938" y="1181"/>
              <a:ext cx="227" cy="18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5594" name="Line 140"/>
            <p:cNvSpPr/>
            <p:nvPr/>
          </p:nvSpPr>
          <p:spPr>
            <a:xfrm flipH="1">
              <a:off x="3062" y="909"/>
              <a:ext cx="0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95" name="Line 141"/>
            <p:cNvSpPr/>
            <p:nvPr/>
          </p:nvSpPr>
          <p:spPr>
            <a:xfrm>
              <a:off x="2472" y="909"/>
              <a:ext cx="0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5596" name="Line 143"/>
            <p:cNvSpPr/>
            <p:nvPr/>
          </p:nvSpPr>
          <p:spPr>
            <a:xfrm flipV="1">
              <a:off x="612" y="1026"/>
              <a:ext cx="0" cy="363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97" name="Text Box 144"/>
            <p:cNvSpPr txBox="1"/>
            <p:nvPr/>
          </p:nvSpPr>
          <p:spPr>
            <a:xfrm rot="-5400000">
              <a:off x="1956" y="1173"/>
              <a:ext cx="62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98" name="Text Box 145"/>
            <p:cNvSpPr txBox="1"/>
            <p:nvPr/>
          </p:nvSpPr>
          <p:spPr>
            <a:xfrm rot="-5400000">
              <a:off x="2500" y="1173"/>
              <a:ext cx="62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300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99" name="Rectangle 146"/>
            <p:cNvSpPr/>
            <p:nvPr/>
          </p:nvSpPr>
          <p:spPr>
            <a:xfrm rot="5400000">
              <a:off x="2302" y="126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600" name="Rectangle 147"/>
            <p:cNvSpPr/>
            <p:nvPr/>
          </p:nvSpPr>
          <p:spPr>
            <a:xfrm rot="5400000">
              <a:off x="2890" y="1261"/>
              <a:ext cx="29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601" name="Rectangle 148"/>
            <p:cNvSpPr/>
            <p:nvPr/>
          </p:nvSpPr>
          <p:spPr>
            <a:xfrm>
              <a:off x="1948" y="86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5602" name="Rectangle 149"/>
            <p:cNvSpPr/>
            <p:nvPr/>
          </p:nvSpPr>
          <p:spPr>
            <a:xfrm>
              <a:off x="1223" y="86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5603" name="Group 150"/>
            <p:cNvGrpSpPr/>
            <p:nvPr/>
          </p:nvGrpSpPr>
          <p:grpSpPr>
            <a:xfrm rot="5400000">
              <a:off x="1233" y="1044"/>
              <a:ext cx="499" cy="590"/>
              <a:chOff x="476" y="663"/>
              <a:chExt cx="771" cy="862"/>
            </a:xfrm>
          </p:grpSpPr>
          <p:sp>
            <p:nvSpPr>
              <p:cNvPr id="65608" name="AutoShape 15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5609" name="AutoShape 15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5610" name="AutoShape 15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5604" name="Line 181"/>
            <p:cNvSpPr/>
            <p:nvPr/>
          </p:nvSpPr>
          <p:spPr>
            <a:xfrm>
              <a:off x="1697" y="1570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pSp>
          <p:nvGrpSpPr>
            <p:cNvPr id="65605" name="Group 195"/>
            <p:cNvGrpSpPr/>
            <p:nvPr/>
          </p:nvGrpSpPr>
          <p:grpSpPr>
            <a:xfrm>
              <a:off x="431" y="1344"/>
              <a:ext cx="363" cy="363"/>
              <a:chOff x="431" y="1389"/>
              <a:chExt cx="363" cy="363"/>
            </a:xfrm>
          </p:grpSpPr>
          <p:sp>
            <p:nvSpPr>
              <p:cNvPr id="65606" name="Oval 121"/>
              <p:cNvSpPr/>
              <p:nvPr/>
            </p:nvSpPr>
            <p:spPr>
              <a:xfrm>
                <a:off x="431" y="138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607" name="Line 142"/>
              <p:cNvSpPr/>
              <p:nvPr/>
            </p:nvSpPr>
            <p:spPr>
              <a:xfrm>
                <a:off x="431" y="1570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0614" name="Group 198"/>
          <p:cNvGrpSpPr/>
          <p:nvPr/>
        </p:nvGrpSpPr>
        <p:grpSpPr>
          <a:xfrm>
            <a:off x="5653088" y="1339850"/>
            <a:ext cx="3486150" cy="1544638"/>
            <a:chOff x="3561" y="844"/>
            <a:chExt cx="2196" cy="973"/>
          </a:xfrm>
        </p:grpSpPr>
        <p:sp>
          <p:nvSpPr>
            <p:cNvPr id="65553" name="Line 156"/>
            <p:cNvSpPr/>
            <p:nvPr/>
          </p:nvSpPr>
          <p:spPr>
            <a:xfrm>
              <a:off x="4061" y="864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4" name="Line 158"/>
            <p:cNvSpPr/>
            <p:nvPr/>
          </p:nvSpPr>
          <p:spPr>
            <a:xfrm>
              <a:off x="4605" y="1454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55" name="Text Box 159"/>
            <p:cNvSpPr txBox="1"/>
            <p:nvPr/>
          </p:nvSpPr>
          <p:spPr>
            <a:xfrm>
              <a:off x="4348" y="1381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56" name="Text Box 160"/>
            <p:cNvSpPr txBox="1"/>
            <p:nvPr/>
          </p:nvSpPr>
          <p:spPr>
            <a:xfrm>
              <a:off x="4741" y="84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57" name="Text Box 161"/>
            <p:cNvSpPr txBox="1"/>
            <p:nvPr/>
          </p:nvSpPr>
          <p:spPr>
            <a:xfrm>
              <a:off x="4741" y="1434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58" name="Text Box 162"/>
            <p:cNvSpPr txBox="1"/>
            <p:nvPr/>
          </p:nvSpPr>
          <p:spPr>
            <a:xfrm>
              <a:off x="4787" y="1109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59" name="Text Box 163"/>
            <p:cNvSpPr txBox="1"/>
            <p:nvPr/>
          </p:nvSpPr>
          <p:spPr>
            <a:xfrm>
              <a:off x="4289" y="1090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60" name="Line 164"/>
            <p:cNvSpPr/>
            <p:nvPr/>
          </p:nvSpPr>
          <p:spPr>
            <a:xfrm flipH="1" flipV="1">
              <a:off x="4061" y="864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1" name="Line 165"/>
            <p:cNvSpPr/>
            <p:nvPr/>
          </p:nvSpPr>
          <p:spPr>
            <a:xfrm>
              <a:off x="4061" y="1817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2" name="Line 166"/>
            <p:cNvSpPr/>
            <p:nvPr/>
          </p:nvSpPr>
          <p:spPr>
            <a:xfrm flipV="1">
              <a:off x="4696" y="1499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5563" name="Line 167"/>
            <p:cNvSpPr/>
            <p:nvPr/>
          </p:nvSpPr>
          <p:spPr>
            <a:xfrm>
              <a:off x="4696" y="864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5564" name="Text Box 168"/>
            <p:cNvSpPr txBox="1"/>
            <p:nvPr/>
          </p:nvSpPr>
          <p:spPr>
            <a:xfrm>
              <a:off x="3561" y="925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65" name="Line 169"/>
            <p:cNvSpPr/>
            <p:nvPr/>
          </p:nvSpPr>
          <p:spPr>
            <a:xfrm flipH="1">
              <a:off x="5286" y="864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6" name="Line 171"/>
            <p:cNvSpPr/>
            <p:nvPr/>
          </p:nvSpPr>
          <p:spPr>
            <a:xfrm flipV="1">
              <a:off x="4059" y="936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5567" name="Text Box 172"/>
            <p:cNvSpPr txBox="1"/>
            <p:nvPr/>
          </p:nvSpPr>
          <p:spPr>
            <a:xfrm>
              <a:off x="5367" y="1117"/>
              <a:ext cx="3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eq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5568" name="Rectangle 173"/>
            <p:cNvSpPr/>
            <p:nvPr/>
          </p:nvSpPr>
          <p:spPr>
            <a:xfrm rot="5400000">
              <a:off x="5160" y="121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5569" name="Group 174"/>
            <p:cNvGrpSpPr/>
            <p:nvPr/>
          </p:nvGrpSpPr>
          <p:grpSpPr>
            <a:xfrm rot="5400000">
              <a:off x="4242" y="1000"/>
              <a:ext cx="499" cy="590"/>
              <a:chOff x="476" y="663"/>
              <a:chExt cx="771" cy="862"/>
            </a:xfrm>
          </p:grpSpPr>
          <p:sp>
            <p:nvSpPr>
              <p:cNvPr id="65573" name="AutoShape 175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5574" name="AutoShape 176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5575" name="AutoShape 177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65570" name="Group 197"/>
            <p:cNvGrpSpPr/>
            <p:nvPr/>
          </p:nvGrpSpPr>
          <p:grpSpPr>
            <a:xfrm>
              <a:off x="3879" y="1253"/>
              <a:ext cx="363" cy="363"/>
              <a:chOff x="3879" y="1117"/>
              <a:chExt cx="363" cy="363"/>
            </a:xfrm>
          </p:grpSpPr>
          <p:sp>
            <p:nvSpPr>
              <p:cNvPr id="65571" name="Oval 157"/>
              <p:cNvSpPr/>
              <p:nvPr/>
            </p:nvSpPr>
            <p:spPr>
              <a:xfrm>
                <a:off x="3879" y="1117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5572" name="Line 170"/>
              <p:cNvSpPr/>
              <p:nvPr/>
            </p:nvSpPr>
            <p:spPr>
              <a:xfrm>
                <a:off x="3879" y="1318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0420" grpId="0"/>
      <p:bldP spid="60421" grpId="0"/>
      <p:bldP spid="60422" grpId="0" animBg="1"/>
      <p:bldP spid="604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6" name="Text Box 4"/>
          <p:cNvSpPr txBox="1"/>
          <p:nvPr/>
        </p:nvSpPr>
        <p:spPr>
          <a:xfrm>
            <a:off x="179388" y="547211"/>
            <a:ext cx="100806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1042988" y="474821"/>
            <a:ext cx="7885112" cy="60769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打开，求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及电流源的电压。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59535" name="Group 143"/>
          <p:cNvGrpSpPr/>
          <p:nvPr/>
        </p:nvGrpSpPr>
        <p:grpSpPr>
          <a:xfrm>
            <a:off x="5795963" y="1484313"/>
            <a:ext cx="2951162" cy="1512887"/>
            <a:chOff x="2971" y="2341"/>
            <a:chExt cx="1859" cy="953"/>
          </a:xfrm>
        </p:grpSpPr>
        <p:sp>
          <p:nvSpPr>
            <p:cNvPr id="66618" name="Oval 144"/>
            <p:cNvSpPr/>
            <p:nvPr/>
          </p:nvSpPr>
          <p:spPr>
            <a:xfrm>
              <a:off x="297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19" name="Line 145"/>
            <p:cNvSpPr/>
            <p:nvPr/>
          </p:nvSpPr>
          <p:spPr>
            <a:xfrm>
              <a:off x="4286" y="2976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620" name="Text Box 146"/>
            <p:cNvSpPr txBox="1"/>
            <p:nvPr/>
          </p:nvSpPr>
          <p:spPr>
            <a:xfrm>
              <a:off x="3984" y="2904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1" name="Text Box 147"/>
            <p:cNvSpPr txBox="1"/>
            <p:nvPr/>
          </p:nvSpPr>
          <p:spPr>
            <a:xfrm>
              <a:off x="4474" y="2367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2" name="Text Box 148"/>
            <p:cNvSpPr txBox="1"/>
            <p:nvPr/>
          </p:nvSpPr>
          <p:spPr>
            <a:xfrm>
              <a:off x="4476" y="2866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3" name="Text Box 149"/>
            <p:cNvSpPr txBox="1"/>
            <p:nvPr/>
          </p:nvSpPr>
          <p:spPr>
            <a:xfrm>
              <a:off x="4453" y="2586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4" name="Text Box 150"/>
            <p:cNvSpPr txBox="1"/>
            <p:nvPr/>
          </p:nvSpPr>
          <p:spPr>
            <a:xfrm>
              <a:off x="3969" y="2639"/>
              <a:ext cx="4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5" name="Line 151"/>
            <p:cNvSpPr/>
            <p:nvPr/>
          </p:nvSpPr>
          <p:spPr>
            <a:xfrm flipH="1" flipV="1">
              <a:off x="3152" y="2387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6" name="Line 152"/>
            <p:cNvSpPr/>
            <p:nvPr/>
          </p:nvSpPr>
          <p:spPr>
            <a:xfrm>
              <a:off x="3152" y="3294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7" name="Line 153"/>
            <p:cNvSpPr/>
            <p:nvPr/>
          </p:nvSpPr>
          <p:spPr>
            <a:xfrm flipV="1">
              <a:off x="4377" y="302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8" name="Line 154"/>
            <p:cNvSpPr/>
            <p:nvPr/>
          </p:nvSpPr>
          <p:spPr>
            <a:xfrm>
              <a:off x="4377" y="2387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9" name="Line 155"/>
            <p:cNvSpPr/>
            <p:nvPr/>
          </p:nvSpPr>
          <p:spPr>
            <a:xfrm>
              <a:off x="3152" y="2387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30" name="Text Box 156"/>
            <p:cNvSpPr txBox="1"/>
            <p:nvPr/>
          </p:nvSpPr>
          <p:spPr>
            <a:xfrm>
              <a:off x="3276" y="2684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o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1" name="Text Box 157"/>
            <p:cNvSpPr txBox="1"/>
            <p:nvPr/>
          </p:nvSpPr>
          <p:spPr>
            <a:xfrm>
              <a:off x="3588" y="2412"/>
              <a:ext cx="3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eq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2" name="Text Box 158"/>
            <p:cNvSpPr txBox="1"/>
            <p:nvPr/>
          </p:nvSpPr>
          <p:spPr>
            <a:xfrm>
              <a:off x="3288" y="2412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3" name="Text Box 159"/>
            <p:cNvSpPr txBox="1"/>
            <p:nvPr/>
          </p:nvSpPr>
          <p:spPr>
            <a:xfrm>
              <a:off x="3243" y="2957"/>
              <a:ext cx="2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6634" name="Group 160"/>
            <p:cNvGrpSpPr/>
            <p:nvPr/>
          </p:nvGrpSpPr>
          <p:grpSpPr>
            <a:xfrm rot="5400000">
              <a:off x="3923" y="2522"/>
              <a:ext cx="499" cy="590"/>
              <a:chOff x="476" y="663"/>
              <a:chExt cx="771" cy="862"/>
            </a:xfrm>
          </p:grpSpPr>
          <p:sp>
            <p:nvSpPr>
              <p:cNvPr id="66636" name="AutoShape 16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37" name="AutoShape 16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38" name="AutoShape 16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6635" name="Rectangle 164"/>
            <p:cNvSpPr/>
            <p:nvPr/>
          </p:nvSpPr>
          <p:spPr>
            <a:xfrm>
              <a:off x="3581" y="234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9557" name="Group 165"/>
          <p:cNvGrpSpPr/>
          <p:nvPr/>
        </p:nvGrpSpPr>
        <p:grpSpPr>
          <a:xfrm>
            <a:off x="4787900" y="1773238"/>
            <a:ext cx="1223963" cy="719137"/>
            <a:chOff x="3651" y="1071"/>
            <a:chExt cx="771" cy="453"/>
          </a:xfrm>
        </p:grpSpPr>
        <p:sp>
          <p:nvSpPr>
            <p:cNvPr id="66616" name="AutoShape 166"/>
            <p:cNvSpPr/>
            <p:nvPr/>
          </p:nvSpPr>
          <p:spPr>
            <a:xfrm rot="-5400000">
              <a:off x="3878" y="1206"/>
              <a:ext cx="135" cy="500"/>
            </a:xfrm>
            <a:prstGeom prst="downArrow">
              <a:avLst>
                <a:gd name="adj1" fmla="val 50000"/>
                <a:gd name="adj2" fmla="val 92592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17" name="Text Box 167"/>
            <p:cNvSpPr txBox="1"/>
            <p:nvPr/>
          </p:nvSpPr>
          <p:spPr>
            <a:xfrm>
              <a:off x="3651" y="1071"/>
              <a:ext cx="7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u="sng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&gt;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9574" name="Group 182"/>
          <p:cNvGrpSpPr/>
          <p:nvPr/>
        </p:nvGrpSpPr>
        <p:grpSpPr>
          <a:xfrm>
            <a:off x="354013" y="1050925"/>
            <a:ext cx="4414838" cy="2178050"/>
            <a:chOff x="223" y="662"/>
            <a:chExt cx="2781" cy="1372"/>
          </a:xfrm>
        </p:grpSpPr>
        <p:sp>
          <p:nvSpPr>
            <p:cNvPr id="66579" name="Line 109"/>
            <p:cNvSpPr/>
            <p:nvPr/>
          </p:nvSpPr>
          <p:spPr>
            <a:xfrm>
              <a:off x="612" y="100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0" name="Line 111"/>
            <p:cNvSpPr/>
            <p:nvPr/>
          </p:nvSpPr>
          <p:spPr>
            <a:xfrm flipV="1">
              <a:off x="2582" y="100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1" name="Line 112"/>
            <p:cNvSpPr/>
            <p:nvPr/>
          </p:nvSpPr>
          <p:spPr>
            <a:xfrm>
              <a:off x="2491" y="1589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2" name="Text Box 113"/>
            <p:cNvSpPr txBox="1"/>
            <p:nvPr/>
          </p:nvSpPr>
          <p:spPr>
            <a:xfrm>
              <a:off x="2221" y="1498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3" name="Text Box 114"/>
            <p:cNvSpPr txBox="1"/>
            <p:nvPr/>
          </p:nvSpPr>
          <p:spPr>
            <a:xfrm>
              <a:off x="1120" y="1253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4" name="Text Box 115"/>
            <p:cNvSpPr txBox="1"/>
            <p:nvPr/>
          </p:nvSpPr>
          <p:spPr>
            <a:xfrm>
              <a:off x="2582" y="1025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5" name="Text Box 116"/>
            <p:cNvSpPr txBox="1"/>
            <p:nvPr/>
          </p:nvSpPr>
          <p:spPr>
            <a:xfrm>
              <a:off x="2582" y="1660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6" name="Text Box 117"/>
            <p:cNvSpPr txBox="1"/>
            <p:nvPr/>
          </p:nvSpPr>
          <p:spPr>
            <a:xfrm>
              <a:off x="2627" y="1335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7" name="Text Box 118"/>
            <p:cNvSpPr txBox="1"/>
            <p:nvPr/>
          </p:nvSpPr>
          <p:spPr>
            <a:xfrm>
              <a:off x="2083" y="12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8" name="Line 119"/>
            <p:cNvSpPr/>
            <p:nvPr/>
          </p:nvSpPr>
          <p:spPr>
            <a:xfrm flipH="1" flipV="1">
              <a:off x="612" y="1000"/>
              <a:ext cx="19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9" name="Line 120"/>
            <p:cNvSpPr/>
            <p:nvPr/>
          </p:nvSpPr>
          <p:spPr>
            <a:xfrm>
              <a:off x="586" y="1952"/>
              <a:ext cx="20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0" name="Line 121"/>
            <p:cNvSpPr/>
            <p:nvPr/>
          </p:nvSpPr>
          <p:spPr>
            <a:xfrm flipV="1">
              <a:off x="2582" y="168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1" name="Line 122"/>
            <p:cNvSpPr/>
            <p:nvPr/>
          </p:nvSpPr>
          <p:spPr>
            <a:xfrm>
              <a:off x="1130" y="1001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2" name="Line 123"/>
            <p:cNvSpPr/>
            <p:nvPr/>
          </p:nvSpPr>
          <p:spPr>
            <a:xfrm flipV="1">
              <a:off x="1130" y="154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3" name="Text Box 124"/>
            <p:cNvSpPr txBox="1"/>
            <p:nvPr/>
          </p:nvSpPr>
          <p:spPr>
            <a:xfrm>
              <a:off x="1964" y="662"/>
              <a:ext cx="51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94" name="Text Box 125"/>
            <p:cNvSpPr txBox="1"/>
            <p:nvPr/>
          </p:nvSpPr>
          <p:spPr>
            <a:xfrm>
              <a:off x="223" y="1106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95" name="Line 126"/>
            <p:cNvSpPr/>
            <p:nvPr/>
          </p:nvSpPr>
          <p:spPr>
            <a:xfrm>
              <a:off x="1130" y="1227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6596" name="Line 127"/>
            <p:cNvSpPr/>
            <p:nvPr/>
          </p:nvSpPr>
          <p:spPr>
            <a:xfrm flipV="1">
              <a:off x="994" y="1273"/>
              <a:ext cx="227" cy="18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6597" name="Line 128"/>
            <p:cNvSpPr/>
            <p:nvPr/>
          </p:nvSpPr>
          <p:spPr>
            <a:xfrm>
              <a:off x="1856" y="100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6598" name="Line 130"/>
            <p:cNvSpPr/>
            <p:nvPr/>
          </p:nvSpPr>
          <p:spPr>
            <a:xfrm flipV="1">
              <a:off x="612" y="1090"/>
              <a:ext cx="0" cy="344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9" name="Text Box 131"/>
            <p:cNvSpPr txBox="1"/>
            <p:nvPr/>
          </p:nvSpPr>
          <p:spPr>
            <a:xfrm>
              <a:off x="1284" y="1343"/>
              <a:ext cx="51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0" name="Text Box 132"/>
            <p:cNvSpPr txBox="1"/>
            <p:nvPr/>
          </p:nvSpPr>
          <p:spPr>
            <a:xfrm>
              <a:off x="1246" y="66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1" name="Text Box 133"/>
            <p:cNvSpPr txBox="1"/>
            <p:nvPr/>
          </p:nvSpPr>
          <p:spPr>
            <a:xfrm>
              <a:off x="1429" y="93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2" name="Text Box 134"/>
            <p:cNvSpPr txBox="1"/>
            <p:nvPr/>
          </p:nvSpPr>
          <p:spPr>
            <a:xfrm>
              <a:off x="677" y="1705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3" name="Text Box 135"/>
            <p:cNvSpPr txBox="1"/>
            <p:nvPr/>
          </p:nvSpPr>
          <p:spPr>
            <a:xfrm>
              <a:off x="708" y="1335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4" name="Rectangle 136"/>
            <p:cNvSpPr/>
            <p:nvPr/>
          </p:nvSpPr>
          <p:spPr>
            <a:xfrm>
              <a:off x="2083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05" name="Rectangle 137"/>
            <p:cNvSpPr/>
            <p:nvPr/>
          </p:nvSpPr>
          <p:spPr>
            <a:xfrm>
              <a:off x="1312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6606" name="Group 138"/>
            <p:cNvGrpSpPr/>
            <p:nvPr/>
          </p:nvGrpSpPr>
          <p:grpSpPr>
            <a:xfrm rot="5400000">
              <a:off x="2128" y="1181"/>
              <a:ext cx="499" cy="590"/>
              <a:chOff x="476" y="663"/>
              <a:chExt cx="771" cy="862"/>
            </a:xfrm>
          </p:grpSpPr>
          <p:sp>
            <p:nvSpPr>
              <p:cNvPr id="66611" name="AutoShape 139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12" name="AutoShape 140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13" name="AutoShape 141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6607" name="Rectangle 142"/>
            <p:cNvSpPr/>
            <p:nvPr/>
          </p:nvSpPr>
          <p:spPr>
            <a:xfrm rot="5400000">
              <a:off x="1685" y="144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6608" name="Group 181"/>
            <p:cNvGrpSpPr/>
            <p:nvPr/>
          </p:nvGrpSpPr>
          <p:grpSpPr>
            <a:xfrm>
              <a:off x="430" y="1434"/>
              <a:ext cx="363" cy="363"/>
              <a:chOff x="405" y="1298"/>
              <a:chExt cx="363" cy="363"/>
            </a:xfrm>
          </p:grpSpPr>
          <p:sp>
            <p:nvSpPr>
              <p:cNvPr id="66609" name="Oval 110"/>
              <p:cNvSpPr/>
              <p:nvPr/>
            </p:nvSpPr>
            <p:spPr>
              <a:xfrm>
                <a:off x="405" y="1298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610" name="Line 129"/>
              <p:cNvSpPr/>
              <p:nvPr/>
            </p:nvSpPr>
            <p:spPr>
              <a:xfrm>
                <a:off x="405" y="1499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59396" grpId="0"/>
      <p:bldP spid="593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6" name="Text Box 4"/>
          <p:cNvSpPr txBox="1"/>
          <p:nvPr/>
        </p:nvSpPr>
        <p:spPr>
          <a:xfrm>
            <a:off x="179388" y="547211"/>
            <a:ext cx="100806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1042988" y="474821"/>
            <a:ext cx="7885112" cy="60769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打开，求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及电流源的电压。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9398" name="Text Box 6"/>
          <p:cNvSpPr txBox="1"/>
          <p:nvPr/>
        </p:nvSpPr>
        <p:spPr>
          <a:xfrm>
            <a:off x="395288" y="3355499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9399" name="Text Box 7"/>
          <p:cNvSpPr txBox="1"/>
          <p:nvPr/>
        </p:nvSpPr>
        <p:spPr>
          <a:xfrm>
            <a:off x="1042988" y="3357563"/>
            <a:ext cx="7850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电路零状态响应问题，先化简电路，有：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9480" name="Object 88"/>
          <p:cNvGraphicFramePr>
            <a:graphicFrameLocks noChangeAspect="1"/>
          </p:cNvGraphicFramePr>
          <p:nvPr/>
        </p:nvGraphicFramePr>
        <p:xfrm>
          <a:off x="933450" y="3933825"/>
          <a:ext cx="32781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1" imgW="1228090" imgH="173990" progId="Equation.3">
                  <p:embed/>
                </p:oleObj>
              </mc:Choice>
              <mc:Fallback>
                <p:oleObj name="" r:id="rId1" imgW="1228090" imgH="17399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33450" y="3933825"/>
                        <a:ext cx="3278188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81" name="Object 89"/>
          <p:cNvGraphicFramePr>
            <a:graphicFrameLocks noChangeAspect="1"/>
          </p:cNvGraphicFramePr>
          <p:nvPr/>
        </p:nvGraphicFramePr>
        <p:xfrm>
          <a:off x="4948238" y="3933825"/>
          <a:ext cx="3136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3" imgW="1114425" imgH="147955" progId="Equation.3">
                  <p:embed/>
                </p:oleObj>
              </mc:Choice>
              <mc:Fallback>
                <p:oleObj name="" r:id="rId3" imgW="1114425" imgH="147955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48238" y="3933825"/>
                        <a:ext cx="3136900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82" name="Object 90"/>
          <p:cNvGraphicFramePr>
            <a:graphicFrameLocks noChangeAspect="1"/>
          </p:cNvGraphicFramePr>
          <p:nvPr/>
        </p:nvGraphicFramePr>
        <p:xfrm>
          <a:off x="855663" y="4508500"/>
          <a:ext cx="39814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5" imgW="1497965" imgH="173990" progId="Equation.3">
                  <p:embed/>
                </p:oleObj>
              </mc:Choice>
              <mc:Fallback>
                <p:oleObj name="" r:id="rId5" imgW="1497965" imgH="17399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55663" y="4508500"/>
                        <a:ext cx="3981450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535" name="Group 143"/>
          <p:cNvGrpSpPr/>
          <p:nvPr/>
        </p:nvGrpSpPr>
        <p:grpSpPr>
          <a:xfrm>
            <a:off x="5795963" y="1484313"/>
            <a:ext cx="2951162" cy="1512887"/>
            <a:chOff x="2971" y="2341"/>
            <a:chExt cx="1859" cy="953"/>
          </a:xfrm>
        </p:grpSpPr>
        <p:sp>
          <p:nvSpPr>
            <p:cNvPr id="66618" name="Oval 144"/>
            <p:cNvSpPr/>
            <p:nvPr/>
          </p:nvSpPr>
          <p:spPr>
            <a:xfrm>
              <a:off x="2971" y="270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19" name="Line 145"/>
            <p:cNvSpPr/>
            <p:nvPr/>
          </p:nvSpPr>
          <p:spPr>
            <a:xfrm>
              <a:off x="4286" y="2976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620" name="Text Box 146"/>
            <p:cNvSpPr txBox="1"/>
            <p:nvPr/>
          </p:nvSpPr>
          <p:spPr>
            <a:xfrm>
              <a:off x="3984" y="2904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1" name="Text Box 147"/>
            <p:cNvSpPr txBox="1"/>
            <p:nvPr/>
          </p:nvSpPr>
          <p:spPr>
            <a:xfrm>
              <a:off x="4474" y="2367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2" name="Text Box 148"/>
            <p:cNvSpPr txBox="1"/>
            <p:nvPr/>
          </p:nvSpPr>
          <p:spPr>
            <a:xfrm>
              <a:off x="4476" y="2866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3" name="Text Box 149"/>
            <p:cNvSpPr txBox="1"/>
            <p:nvPr/>
          </p:nvSpPr>
          <p:spPr>
            <a:xfrm>
              <a:off x="4453" y="2586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4" name="Text Box 150"/>
            <p:cNvSpPr txBox="1"/>
            <p:nvPr/>
          </p:nvSpPr>
          <p:spPr>
            <a:xfrm>
              <a:off x="3969" y="2639"/>
              <a:ext cx="4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25" name="Line 151"/>
            <p:cNvSpPr/>
            <p:nvPr/>
          </p:nvSpPr>
          <p:spPr>
            <a:xfrm flipH="1" flipV="1">
              <a:off x="3152" y="2387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6" name="Line 152"/>
            <p:cNvSpPr/>
            <p:nvPr/>
          </p:nvSpPr>
          <p:spPr>
            <a:xfrm>
              <a:off x="3152" y="3294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7" name="Line 153"/>
            <p:cNvSpPr/>
            <p:nvPr/>
          </p:nvSpPr>
          <p:spPr>
            <a:xfrm flipV="1">
              <a:off x="4377" y="3022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8" name="Line 154"/>
            <p:cNvSpPr/>
            <p:nvPr/>
          </p:nvSpPr>
          <p:spPr>
            <a:xfrm>
              <a:off x="4377" y="2387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29" name="Line 155"/>
            <p:cNvSpPr/>
            <p:nvPr/>
          </p:nvSpPr>
          <p:spPr>
            <a:xfrm>
              <a:off x="3152" y="2387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630" name="Text Box 156"/>
            <p:cNvSpPr txBox="1"/>
            <p:nvPr/>
          </p:nvSpPr>
          <p:spPr>
            <a:xfrm>
              <a:off x="3276" y="2684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o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1" name="Text Box 157"/>
            <p:cNvSpPr txBox="1"/>
            <p:nvPr/>
          </p:nvSpPr>
          <p:spPr>
            <a:xfrm>
              <a:off x="3588" y="2412"/>
              <a:ext cx="3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eq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2" name="Text Box 158"/>
            <p:cNvSpPr txBox="1"/>
            <p:nvPr/>
          </p:nvSpPr>
          <p:spPr>
            <a:xfrm>
              <a:off x="3288" y="2412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33" name="Text Box 159"/>
            <p:cNvSpPr txBox="1"/>
            <p:nvPr/>
          </p:nvSpPr>
          <p:spPr>
            <a:xfrm>
              <a:off x="3243" y="2957"/>
              <a:ext cx="2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6634" name="Group 160"/>
            <p:cNvGrpSpPr/>
            <p:nvPr/>
          </p:nvGrpSpPr>
          <p:grpSpPr>
            <a:xfrm rot="5400000">
              <a:off x="3923" y="2522"/>
              <a:ext cx="499" cy="590"/>
              <a:chOff x="476" y="663"/>
              <a:chExt cx="771" cy="862"/>
            </a:xfrm>
          </p:grpSpPr>
          <p:sp>
            <p:nvSpPr>
              <p:cNvPr id="66636" name="AutoShape 16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37" name="AutoShape 16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38" name="AutoShape 16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6635" name="Rectangle 164"/>
            <p:cNvSpPr/>
            <p:nvPr/>
          </p:nvSpPr>
          <p:spPr>
            <a:xfrm>
              <a:off x="3581" y="234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9557" name="Group 165"/>
          <p:cNvGrpSpPr/>
          <p:nvPr/>
        </p:nvGrpSpPr>
        <p:grpSpPr>
          <a:xfrm>
            <a:off x="4787900" y="1773238"/>
            <a:ext cx="1223963" cy="719137"/>
            <a:chOff x="3651" y="1071"/>
            <a:chExt cx="771" cy="453"/>
          </a:xfrm>
        </p:grpSpPr>
        <p:sp>
          <p:nvSpPr>
            <p:cNvPr id="66616" name="AutoShape 166"/>
            <p:cNvSpPr/>
            <p:nvPr/>
          </p:nvSpPr>
          <p:spPr>
            <a:xfrm rot="-5400000">
              <a:off x="3878" y="1206"/>
              <a:ext cx="135" cy="500"/>
            </a:xfrm>
            <a:prstGeom prst="downArrow">
              <a:avLst>
                <a:gd name="adj1" fmla="val 50000"/>
                <a:gd name="adj2" fmla="val 92592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17" name="Text Box 167"/>
            <p:cNvSpPr txBox="1"/>
            <p:nvPr/>
          </p:nvSpPr>
          <p:spPr>
            <a:xfrm>
              <a:off x="3651" y="1071"/>
              <a:ext cx="77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</a:t>
              </a:r>
              <a:r>
                <a:rPr lang="en-US" altLang="zh-CN" b="0" u="sng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&gt;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59560" name="Object 168"/>
          <p:cNvGraphicFramePr>
            <a:graphicFrameLocks noChangeAspect="1"/>
          </p:cNvGraphicFramePr>
          <p:nvPr/>
        </p:nvGraphicFramePr>
        <p:xfrm>
          <a:off x="5089525" y="4437063"/>
          <a:ext cx="35448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7" imgW="1254125" imgH="173990" progId="Equation.3">
                  <p:embed/>
                </p:oleObj>
              </mc:Choice>
              <mc:Fallback>
                <p:oleObj name="" r:id="rId7" imgW="1254125" imgH="17399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89525" y="4437063"/>
                        <a:ext cx="3544888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561" name="Object 169"/>
          <p:cNvGraphicFramePr>
            <a:graphicFrameLocks noChangeAspect="1"/>
          </p:cNvGraphicFramePr>
          <p:nvPr/>
        </p:nvGraphicFramePr>
        <p:xfrm>
          <a:off x="900113" y="5084763"/>
          <a:ext cx="30241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9" imgW="1088390" imgH="173990" progId="Equation.3">
                  <p:embed/>
                </p:oleObj>
              </mc:Choice>
              <mc:Fallback>
                <p:oleObj name="" r:id="rId9" imgW="1088390" imgH="17399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5084763"/>
                        <a:ext cx="3024187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562" name="Object 170"/>
          <p:cNvGraphicFramePr>
            <a:graphicFrameLocks noChangeAspect="1"/>
          </p:cNvGraphicFramePr>
          <p:nvPr/>
        </p:nvGraphicFramePr>
        <p:xfrm>
          <a:off x="4427538" y="5013325"/>
          <a:ext cx="44132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1" imgW="1532890" imgH="173990" progId="Equation.3">
                  <p:embed/>
                </p:oleObj>
              </mc:Choice>
              <mc:Fallback>
                <p:oleObj name="" r:id="rId11" imgW="1532890" imgH="17399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27538" y="5013325"/>
                        <a:ext cx="4413250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563" name="Object 171"/>
          <p:cNvGraphicFramePr>
            <a:graphicFrameLocks noChangeAspect="1"/>
          </p:cNvGraphicFramePr>
          <p:nvPr/>
        </p:nvGraphicFramePr>
        <p:xfrm>
          <a:off x="827088" y="5805488"/>
          <a:ext cx="61690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13" imgW="2229485" imgH="173990" progId="Equation.3">
                  <p:embed/>
                </p:oleObj>
              </mc:Choice>
              <mc:Fallback>
                <p:oleObj name="" r:id="rId13" imgW="2229485" imgH="17399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805488"/>
                        <a:ext cx="6169025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574" name="Group 182"/>
          <p:cNvGrpSpPr/>
          <p:nvPr/>
        </p:nvGrpSpPr>
        <p:grpSpPr>
          <a:xfrm>
            <a:off x="354013" y="1050925"/>
            <a:ext cx="4414838" cy="2178050"/>
            <a:chOff x="223" y="662"/>
            <a:chExt cx="2781" cy="1372"/>
          </a:xfrm>
        </p:grpSpPr>
        <p:sp>
          <p:nvSpPr>
            <p:cNvPr id="66579" name="Line 109"/>
            <p:cNvSpPr/>
            <p:nvPr/>
          </p:nvSpPr>
          <p:spPr>
            <a:xfrm>
              <a:off x="612" y="100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0" name="Line 111"/>
            <p:cNvSpPr/>
            <p:nvPr/>
          </p:nvSpPr>
          <p:spPr>
            <a:xfrm flipV="1">
              <a:off x="2582" y="100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1" name="Line 112"/>
            <p:cNvSpPr/>
            <p:nvPr/>
          </p:nvSpPr>
          <p:spPr>
            <a:xfrm>
              <a:off x="2491" y="1589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2" name="Text Box 113"/>
            <p:cNvSpPr txBox="1"/>
            <p:nvPr/>
          </p:nvSpPr>
          <p:spPr>
            <a:xfrm>
              <a:off x="2221" y="1498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3" name="Text Box 114"/>
            <p:cNvSpPr txBox="1"/>
            <p:nvPr/>
          </p:nvSpPr>
          <p:spPr>
            <a:xfrm>
              <a:off x="1120" y="1253"/>
              <a:ext cx="2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K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4" name="Text Box 115"/>
            <p:cNvSpPr txBox="1"/>
            <p:nvPr/>
          </p:nvSpPr>
          <p:spPr>
            <a:xfrm>
              <a:off x="2582" y="1025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5" name="Text Box 116"/>
            <p:cNvSpPr txBox="1"/>
            <p:nvPr/>
          </p:nvSpPr>
          <p:spPr>
            <a:xfrm>
              <a:off x="2582" y="1660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6" name="Text Box 117"/>
            <p:cNvSpPr txBox="1"/>
            <p:nvPr/>
          </p:nvSpPr>
          <p:spPr>
            <a:xfrm>
              <a:off x="2627" y="1335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7" name="Text Box 118"/>
            <p:cNvSpPr txBox="1"/>
            <p:nvPr/>
          </p:nvSpPr>
          <p:spPr>
            <a:xfrm>
              <a:off x="2083" y="1226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88" name="Line 119"/>
            <p:cNvSpPr/>
            <p:nvPr/>
          </p:nvSpPr>
          <p:spPr>
            <a:xfrm flipH="1" flipV="1">
              <a:off x="612" y="1000"/>
              <a:ext cx="199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9" name="Line 120"/>
            <p:cNvSpPr/>
            <p:nvPr/>
          </p:nvSpPr>
          <p:spPr>
            <a:xfrm>
              <a:off x="586" y="1952"/>
              <a:ext cx="20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0" name="Line 121"/>
            <p:cNvSpPr/>
            <p:nvPr/>
          </p:nvSpPr>
          <p:spPr>
            <a:xfrm flipV="1">
              <a:off x="2582" y="168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1" name="Line 122"/>
            <p:cNvSpPr/>
            <p:nvPr/>
          </p:nvSpPr>
          <p:spPr>
            <a:xfrm>
              <a:off x="1130" y="1001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2" name="Line 123"/>
            <p:cNvSpPr/>
            <p:nvPr/>
          </p:nvSpPr>
          <p:spPr>
            <a:xfrm flipV="1">
              <a:off x="1130" y="1544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3" name="Text Box 124"/>
            <p:cNvSpPr txBox="1"/>
            <p:nvPr/>
          </p:nvSpPr>
          <p:spPr>
            <a:xfrm>
              <a:off x="1964" y="662"/>
              <a:ext cx="51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94" name="Text Box 125"/>
            <p:cNvSpPr txBox="1"/>
            <p:nvPr/>
          </p:nvSpPr>
          <p:spPr>
            <a:xfrm>
              <a:off x="223" y="1106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595" name="Line 126"/>
            <p:cNvSpPr/>
            <p:nvPr/>
          </p:nvSpPr>
          <p:spPr>
            <a:xfrm>
              <a:off x="1130" y="1227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6596" name="Line 127"/>
            <p:cNvSpPr/>
            <p:nvPr/>
          </p:nvSpPr>
          <p:spPr>
            <a:xfrm flipV="1">
              <a:off x="994" y="1273"/>
              <a:ext cx="227" cy="18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66597" name="Line 128"/>
            <p:cNvSpPr/>
            <p:nvPr/>
          </p:nvSpPr>
          <p:spPr>
            <a:xfrm>
              <a:off x="1856" y="1000"/>
              <a:ext cx="0" cy="95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66598" name="Line 130"/>
            <p:cNvSpPr/>
            <p:nvPr/>
          </p:nvSpPr>
          <p:spPr>
            <a:xfrm flipV="1">
              <a:off x="612" y="1090"/>
              <a:ext cx="0" cy="344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9" name="Text Box 131"/>
            <p:cNvSpPr txBox="1"/>
            <p:nvPr/>
          </p:nvSpPr>
          <p:spPr>
            <a:xfrm>
              <a:off x="1284" y="1343"/>
              <a:ext cx="51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0" name="Text Box 132"/>
            <p:cNvSpPr txBox="1"/>
            <p:nvPr/>
          </p:nvSpPr>
          <p:spPr>
            <a:xfrm>
              <a:off x="1246" y="66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1" name="Text Box 133"/>
            <p:cNvSpPr txBox="1"/>
            <p:nvPr/>
          </p:nvSpPr>
          <p:spPr>
            <a:xfrm>
              <a:off x="1429" y="93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2" name="Text Box 134"/>
            <p:cNvSpPr txBox="1"/>
            <p:nvPr/>
          </p:nvSpPr>
          <p:spPr>
            <a:xfrm>
              <a:off x="677" y="1705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3" name="Text Box 135"/>
            <p:cNvSpPr txBox="1"/>
            <p:nvPr/>
          </p:nvSpPr>
          <p:spPr>
            <a:xfrm>
              <a:off x="708" y="1335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6604" name="Rectangle 136"/>
            <p:cNvSpPr/>
            <p:nvPr/>
          </p:nvSpPr>
          <p:spPr>
            <a:xfrm>
              <a:off x="2083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605" name="Rectangle 137"/>
            <p:cNvSpPr/>
            <p:nvPr/>
          </p:nvSpPr>
          <p:spPr>
            <a:xfrm>
              <a:off x="1312" y="954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6606" name="Group 138"/>
            <p:cNvGrpSpPr/>
            <p:nvPr/>
          </p:nvGrpSpPr>
          <p:grpSpPr>
            <a:xfrm rot="5400000">
              <a:off x="2128" y="1181"/>
              <a:ext cx="499" cy="590"/>
              <a:chOff x="476" y="663"/>
              <a:chExt cx="771" cy="862"/>
            </a:xfrm>
          </p:grpSpPr>
          <p:sp>
            <p:nvSpPr>
              <p:cNvPr id="66611" name="AutoShape 139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12" name="AutoShape 140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6613" name="AutoShape 141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66607" name="Rectangle 142"/>
            <p:cNvSpPr/>
            <p:nvPr/>
          </p:nvSpPr>
          <p:spPr>
            <a:xfrm rot="5400000">
              <a:off x="1685" y="144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6608" name="Group 181"/>
            <p:cNvGrpSpPr/>
            <p:nvPr/>
          </p:nvGrpSpPr>
          <p:grpSpPr>
            <a:xfrm>
              <a:off x="430" y="1434"/>
              <a:ext cx="363" cy="363"/>
              <a:chOff x="405" y="1298"/>
              <a:chExt cx="363" cy="363"/>
            </a:xfrm>
          </p:grpSpPr>
          <p:sp>
            <p:nvSpPr>
              <p:cNvPr id="66609" name="Oval 110"/>
              <p:cNvSpPr/>
              <p:nvPr/>
            </p:nvSpPr>
            <p:spPr>
              <a:xfrm>
                <a:off x="405" y="1298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6610" name="Line 129"/>
              <p:cNvSpPr/>
              <p:nvPr/>
            </p:nvSpPr>
            <p:spPr>
              <a:xfrm>
                <a:off x="405" y="1499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59396" grpId="0"/>
      <p:bldP spid="59397" grpId="0"/>
      <p:bldP spid="59398" grpId="0" animBg="1"/>
      <p:bldP spid="5939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2" name="Rectangle 4"/>
          <p:cNvSpPr/>
          <p:nvPr/>
        </p:nvSpPr>
        <p:spPr>
          <a:xfrm>
            <a:off x="1331913" y="476250"/>
            <a:ext cx="5976937" cy="676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7.4 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一阶电路的全响应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8373" name="Text Box 5"/>
          <p:cNvSpPr txBox="1"/>
          <p:nvPr/>
        </p:nvSpPr>
        <p:spPr>
          <a:xfrm>
            <a:off x="2771775" y="1125538"/>
            <a:ext cx="6049963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电路的初始状态不为零，同时又有外加激励源作用时电路中产生的响应。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/>
        </p:nvGraphicFramePr>
        <p:xfrm>
          <a:off x="4603750" y="2838450"/>
          <a:ext cx="317658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" imgW="1088390" imgH="348615" progId="Equation.3">
                  <p:embed/>
                </p:oleObj>
              </mc:Choice>
              <mc:Fallback>
                <p:oleObj name="" r:id="rId1" imgW="1088390" imgH="348615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03750" y="2838450"/>
                        <a:ext cx="3176588" cy="1090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20" name="Text Box 52"/>
          <p:cNvSpPr txBox="1"/>
          <p:nvPr/>
        </p:nvSpPr>
        <p:spPr>
          <a:xfrm>
            <a:off x="2843213" y="2276475"/>
            <a:ext cx="6048375" cy="521970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以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电路为例，电路微分方程：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8428" name="Text Box 60"/>
          <p:cNvSpPr txBox="1"/>
          <p:nvPr/>
        </p:nvSpPr>
        <p:spPr>
          <a:xfrm>
            <a:off x="539750" y="2202974"/>
            <a:ext cx="216058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全响应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8434" name="Text Box 66"/>
          <p:cNvSpPr txBox="1"/>
          <p:nvPr/>
        </p:nvSpPr>
        <p:spPr>
          <a:xfrm>
            <a:off x="539750" y="1412875"/>
            <a:ext cx="1439863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全响应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8435" name="AutoShape 67"/>
          <p:cNvSpPr/>
          <p:nvPr/>
        </p:nvSpPr>
        <p:spPr>
          <a:xfrm>
            <a:off x="2124075" y="1628775"/>
            <a:ext cx="576263" cy="215900"/>
          </a:xfrm>
          <a:prstGeom prst="rightArrow">
            <a:avLst>
              <a:gd name="adj1" fmla="val 50000"/>
              <a:gd name="adj2" fmla="val 66727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58453" name="Group 85"/>
          <p:cNvGrpSpPr/>
          <p:nvPr/>
        </p:nvGrpSpPr>
        <p:grpSpPr>
          <a:xfrm>
            <a:off x="468313" y="2922528"/>
            <a:ext cx="3559193" cy="2119372"/>
            <a:chOff x="2789" y="2095"/>
            <a:chExt cx="2242" cy="1335"/>
          </a:xfrm>
        </p:grpSpPr>
        <p:sp>
          <p:nvSpPr>
            <p:cNvPr id="67607" name="Line 86"/>
            <p:cNvSpPr/>
            <p:nvPr/>
          </p:nvSpPr>
          <p:spPr>
            <a:xfrm flipV="1">
              <a:off x="4513" y="3067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08" name="Oval 87"/>
            <p:cNvSpPr/>
            <p:nvPr/>
          </p:nvSpPr>
          <p:spPr>
            <a:xfrm>
              <a:off x="2789" y="2795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67609" name="Group 88"/>
            <p:cNvGrpSpPr/>
            <p:nvPr/>
          </p:nvGrpSpPr>
          <p:grpSpPr>
            <a:xfrm>
              <a:off x="3561" y="3039"/>
              <a:ext cx="237" cy="331"/>
              <a:chOff x="1872" y="454"/>
              <a:chExt cx="240" cy="321"/>
            </a:xfrm>
          </p:grpSpPr>
          <p:sp>
            <p:nvSpPr>
              <p:cNvPr id="67636" name="Line 89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67637" name="Text Box 90"/>
              <p:cNvSpPr txBox="1"/>
              <p:nvPr/>
            </p:nvSpPr>
            <p:spPr>
              <a:xfrm>
                <a:off x="1875" y="454"/>
                <a:ext cx="180" cy="32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67610" name="Group 91"/>
            <p:cNvGrpSpPr/>
            <p:nvPr/>
          </p:nvGrpSpPr>
          <p:grpSpPr>
            <a:xfrm>
              <a:off x="3270" y="2095"/>
              <a:ext cx="689" cy="363"/>
              <a:chOff x="1123" y="898"/>
              <a:chExt cx="699" cy="350"/>
            </a:xfrm>
          </p:grpSpPr>
          <p:sp>
            <p:nvSpPr>
              <p:cNvPr id="67634" name="Line 92"/>
              <p:cNvSpPr/>
              <p:nvPr/>
            </p:nvSpPr>
            <p:spPr>
              <a:xfrm flipH="1">
                <a:off x="1200" y="1104"/>
                <a:ext cx="144" cy="14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7635" name="Text Box 93"/>
              <p:cNvSpPr txBox="1"/>
              <p:nvPr/>
            </p:nvSpPr>
            <p:spPr>
              <a:xfrm>
                <a:off x="1123" y="898"/>
                <a:ext cx="699" cy="31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S(</a:t>
                </a: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=0)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7611" name="Text Box 94"/>
            <p:cNvSpPr txBox="1"/>
            <p:nvPr/>
          </p:nvSpPr>
          <p:spPr>
            <a:xfrm>
              <a:off x="3137" y="2820"/>
              <a:ext cx="3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7612" name="Group 95"/>
            <p:cNvGrpSpPr/>
            <p:nvPr/>
          </p:nvGrpSpPr>
          <p:grpSpPr>
            <a:xfrm>
              <a:off x="3734" y="2545"/>
              <a:ext cx="606" cy="374"/>
              <a:chOff x="807" y="751"/>
              <a:chExt cx="613" cy="361"/>
            </a:xfrm>
          </p:grpSpPr>
          <p:grpSp>
            <p:nvGrpSpPr>
              <p:cNvPr id="67630" name="Group 96"/>
              <p:cNvGrpSpPr/>
              <p:nvPr/>
            </p:nvGrpSpPr>
            <p:grpSpPr>
              <a:xfrm>
                <a:off x="807" y="751"/>
                <a:ext cx="613" cy="323"/>
                <a:chOff x="807" y="751"/>
                <a:chExt cx="613" cy="323"/>
              </a:xfrm>
            </p:grpSpPr>
            <p:sp>
              <p:nvSpPr>
                <p:cNvPr id="67632" name="Text Box 97"/>
                <p:cNvSpPr txBox="1"/>
                <p:nvPr/>
              </p:nvSpPr>
              <p:spPr>
                <a:xfrm>
                  <a:off x="807" y="753"/>
                  <a:ext cx="244" cy="319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7633" name="Text Box 98"/>
                <p:cNvSpPr txBox="1"/>
                <p:nvPr/>
              </p:nvSpPr>
              <p:spPr>
                <a:xfrm>
                  <a:off x="1191" y="751"/>
                  <a:ext cx="229" cy="323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7631" name="Text Box 99"/>
              <p:cNvSpPr txBox="1"/>
              <p:nvPr/>
            </p:nvSpPr>
            <p:spPr>
              <a:xfrm>
                <a:off x="964" y="789"/>
                <a:ext cx="319" cy="32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7613" name="Line 100"/>
            <p:cNvSpPr/>
            <p:nvPr/>
          </p:nvSpPr>
          <p:spPr>
            <a:xfrm>
              <a:off x="3515" y="2568"/>
              <a:ext cx="99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67614" name="Line 101"/>
            <p:cNvSpPr/>
            <p:nvPr/>
          </p:nvSpPr>
          <p:spPr>
            <a:xfrm>
              <a:off x="2971" y="2568"/>
              <a:ext cx="3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67615" name="Line 102"/>
            <p:cNvSpPr/>
            <p:nvPr/>
          </p:nvSpPr>
          <p:spPr>
            <a:xfrm>
              <a:off x="2971" y="2568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16" name="Text Box 103"/>
            <p:cNvSpPr txBox="1"/>
            <p:nvPr/>
          </p:nvSpPr>
          <p:spPr>
            <a:xfrm>
              <a:off x="4105" y="2885"/>
              <a:ext cx="26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7617" name="Group 104"/>
            <p:cNvGrpSpPr/>
            <p:nvPr/>
          </p:nvGrpSpPr>
          <p:grpSpPr>
            <a:xfrm>
              <a:off x="4703" y="2639"/>
              <a:ext cx="328" cy="725"/>
              <a:chOff x="1968" y="706"/>
              <a:chExt cx="332" cy="700"/>
            </a:xfrm>
          </p:grpSpPr>
          <p:grpSp>
            <p:nvGrpSpPr>
              <p:cNvPr id="67626" name="Group 105"/>
              <p:cNvGrpSpPr/>
              <p:nvPr/>
            </p:nvGrpSpPr>
            <p:grpSpPr>
              <a:xfrm>
                <a:off x="2055" y="706"/>
                <a:ext cx="245" cy="700"/>
                <a:chOff x="1623" y="1234"/>
                <a:chExt cx="245" cy="700"/>
              </a:xfrm>
            </p:grpSpPr>
            <p:sp>
              <p:nvSpPr>
                <p:cNvPr id="67628" name="Text Box 106"/>
                <p:cNvSpPr txBox="1"/>
                <p:nvPr/>
              </p:nvSpPr>
              <p:spPr>
                <a:xfrm>
                  <a:off x="1623" y="1234"/>
                  <a:ext cx="245" cy="31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67629" name="Text Box 107"/>
                <p:cNvSpPr txBox="1"/>
                <p:nvPr/>
              </p:nvSpPr>
              <p:spPr>
                <a:xfrm>
                  <a:off x="1624" y="1617"/>
                  <a:ext cx="230" cy="31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67627" name="Text Box 108"/>
              <p:cNvSpPr txBox="1"/>
              <p:nvPr/>
            </p:nvSpPr>
            <p:spPr>
              <a:xfrm>
                <a:off x="1968" y="887"/>
                <a:ext cx="326" cy="31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67618" name="Group 109"/>
            <p:cNvGrpSpPr/>
            <p:nvPr/>
          </p:nvGrpSpPr>
          <p:grpSpPr>
            <a:xfrm>
              <a:off x="4377" y="2976"/>
              <a:ext cx="318" cy="91"/>
              <a:chOff x="1824" y="1680"/>
              <a:chExt cx="192" cy="96"/>
            </a:xfrm>
          </p:grpSpPr>
          <p:sp>
            <p:nvSpPr>
              <p:cNvPr id="67624" name="Line 110"/>
              <p:cNvSpPr/>
              <p:nvPr/>
            </p:nvSpPr>
            <p:spPr>
              <a:xfrm>
                <a:off x="1824" y="168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7625" name="Line 111"/>
              <p:cNvSpPr/>
              <p:nvPr/>
            </p:nvSpPr>
            <p:spPr>
              <a:xfrm>
                <a:off x="1824" y="177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7619" name="Line 112"/>
            <p:cNvSpPr/>
            <p:nvPr/>
          </p:nvSpPr>
          <p:spPr>
            <a:xfrm flipV="1">
              <a:off x="4513" y="2568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0" name="Line 113"/>
            <p:cNvSpPr/>
            <p:nvPr/>
          </p:nvSpPr>
          <p:spPr>
            <a:xfrm flipH="1" flipV="1">
              <a:off x="3288" y="2432"/>
              <a:ext cx="227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1" name="Line 114"/>
            <p:cNvSpPr/>
            <p:nvPr/>
          </p:nvSpPr>
          <p:spPr>
            <a:xfrm>
              <a:off x="2971" y="3430"/>
              <a:ext cx="156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22" name="Text Box 115"/>
            <p:cNvSpPr txBox="1"/>
            <p:nvPr/>
          </p:nvSpPr>
          <p:spPr>
            <a:xfrm>
              <a:off x="3919" y="2231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7623" name="Rectangle 116"/>
            <p:cNvSpPr/>
            <p:nvPr/>
          </p:nvSpPr>
          <p:spPr>
            <a:xfrm>
              <a:off x="3878" y="252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8485" name="Text Box 117"/>
          <p:cNvSpPr txBox="1"/>
          <p:nvPr/>
        </p:nvSpPr>
        <p:spPr>
          <a:xfrm>
            <a:off x="4356100" y="3860800"/>
            <a:ext cx="45005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解答为：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'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 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"</a:t>
            </a:r>
            <a:endParaRPr lang="en-US" altLang="zh-CN" sz="3200" b="0" i="1" baseline="30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58486" name="Group 118"/>
          <p:cNvGrpSpPr/>
          <p:nvPr/>
        </p:nvGrpSpPr>
        <p:grpSpPr>
          <a:xfrm>
            <a:off x="4356100" y="4652963"/>
            <a:ext cx="3240088" cy="1368425"/>
            <a:chOff x="476" y="2568"/>
            <a:chExt cx="2041" cy="862"/>
          </a:xfrm>
        </p:grpSpPr>
        <p:sp>
          <p:nvSpPr>
            <p:cNvPr id="67602" name="Text Box 119"/>
            <p:cNvSpPr txBox="1"/>
            <p:nvPr/>
          </p:nvSpPr>
          <p:spPr>
            <a:xfrm>
              <a:off x="521" y="2614"/>
              <a:ext cx="185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特解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' 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U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67603" name="Group 120"/>
            <p:cNvGrpSpPr/>
            <p:nvPr/>
          </p:nvGrpSpPr>
          <p:grpSpPr>
            <a:xfrm>
              <a:off x="476" y="2840"/>
              <a:ext cx="2041" cy="590"/>
              <a:chOff x="3552" y="2688"/>
              <a:chExt cx="1824" cy="525"/>
            </a:xfrm>
          </p:grpSpPr>
          <p:sp>
            <p:nvSpPr>
              <p:cNvPr id="67605" name="Text Box 121"/>
              <p:cNvSpPr txBox="1"/>
              <p:nvPr/>
            </p:nvSpPr>
            <p:spPr>
              <a:xfrm>
                <a:off x="3552" y="2880"/>
                <a:ext cx="1824" cy="2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2" charset="-122"/>
                  </a:rPr>
                  <a:t>通解</a:t>
                </a:r>
                <a:endParaRPr lang="zh-CN" altLang="en-US" i="1" dirty="0"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67606" name="Object 122"/>
              <p:cNvGraphicFramePr>
                <a:graphicFrameLocks noChangeAspect="1"/>
              </p:cNvGraphicFramePr>
              <p:nvPr/>
            </p:nvGraphicFramePr>
            <p:xfrm>
              <a:off x="4272" y="2688"/>
              <a:ext cx="1056" cy="5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2" name="" r:id="rId3" imgW="583565" imgH="252730" progId="Equation.3">
                      <p:embed/>
                    </p:oleObj>
                  </mc:Choice>
                  <mc:Fallback>
                    <p:oleObj name="" r:id="rId3" imgW="583565" imgH="252730" progId="Equation.3">
                      <p:embed/>
                      <p:pic>
                        <p:nvPicPr>
                          <p:cNvPr id="0" name="图片 3231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FFFF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72" y="2688"/>
                            <a:ext cx="1056" cy="52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7604" name="AutoShape 123"/>
            <p:cNvSpPr/>
            <p:nvPr/>
          </p:nvSpPr>
          <p:spPr>
            <a:xfrm>
              <a:off x="476" y="2568"/>
              <a:ext cx="45" cy="771"/>
            </a:xfrm>
            <a:prstGeom prst="leftBrace">
              <a:avLst>
                <a:gd name="adj1" fmla="val 142777"/>
                <a:gd name="adj2" fmla="val 50000"/>
              </a:avLst>
            </a:prstGeom>
            <a:noFill/>
            <a:ln w="2857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8492" name="Text Box 124"/>
          <p:cNvSpPr txBox="1"/>
          <p:nvPr/>
        </p:nvSpPr>
        <p:spPr>
          <a:xfrm>
            <a:off x="2411413" y="5300663"/>
            <a:ext cx="13131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RC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8372" grpId="0"/>
      <p:bldP spid="58373" grpId="0" build="p"/>
      <p:bldP spid="58420" grpId="0" advAuto="1000" build="p"/>
      <p:bldP spid="58428" grpId="0"/>
      <p:bldP spid="58434" grpId="0" animBg="1"/>
      <p:bldP spid="58435" grpId="0" animBg="1"/>
      <p:bldP spid="58485" grpId="0" build="p"/>
      <p:bldP spid="5849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79" name="Text Box 47"/>
          <p:cNvSpPr txBox="1"/>
          <p:nvPr/>
        </p:nvSpPr>
        <p:spPr>
          <a:xfrm>
            <a:off x="3348038" y="618649"/>
            <a:ext cx="381635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891" name="Text Box 59"/>
          <p:cNvSpPr txBox="1"/>
          <p:nvPr/>
        </p:nvSpPr>
        <p:spPr>
          <a:xfrm>
            <a:off x="1116013" y="1268413"/>
            <a:ext cx="33115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A+U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892" name="Text Box 60"/>
          <p:cNvSpPr txBox="1"/>
          <p:nvPr/>
        </p:nvSpPr>
        <p:spPr>
          <a:xfrm>
            <a:off x="4859338" y="1268413"/>
            <a:ext cx="25209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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A=U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 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893" name="Text Box 61"/>
          <p:cNvSpPr txBox="1"/>
          <p:nvPr/>
        </p:nvSpPr>
        <p:spPr>
          <a:xfrm>
            <a:off x="755650" y="690721"/>
            <a:ext cx="290830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由初始值定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endParaRPr lang="en-US" altLang="zh-CN" b="0" i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902" name="AutoShape 70" descr="羊皮纸"/>
          <p:cNvSpPr/>
          <p:nvPr/>
        </p:nvSpPr>
        <p:spPr>
          <a:xfrm>
            <a:off x="971550" y="3500438"/>
            <a:ext cx="3167063" cy="576262"/>
          </a:xfrm>
          <a:prstGeom prst="wedgeRectCallout">
            <a:avLst>
              <a:gd name="adj1" fmla="val 46843"/>
              <a:gd name="adj2" fmla="val -134847"/>
            </a:avLst>
          </a:prstGeom>
          <a:blipFill rotWithShape="1">
            <a:blip r:embed="rId1"/>
          </a:blipFill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强制分量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稳态解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0903" name="AutoShape 71" descr="羊皮纸"/>
          <p:cNvSpPr/>
          <p:nvPr/>
        </p:nvSpPr>
        <p:spPr>
          <a:xfrm>
            <a:off x="5435600" y="3500438"/>
            <a:ext cx="3097213" cy="504825"/>
          </a:xfrm>
          <a:prstGeom prst="wedgeRectCallout">
            <a:avLst>
              <a:gd name="adj1" fmla="val -40620"/>
              <a:gd name="adj2" fmla="val -122014"/>
            </a:avLst>
          </a:prstGeom>
          <a:blipFill rotWithShape="1">
            <a:blip r:embed="rId1"/>
          </a:blipFill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自由分量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暂态解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2"/>
            </p:custDataLst>
          </p:nvPr>
        </p:nvGraphicFramePr>
        <p:xfrm>
          <a:off x="1047750" y="2061210"/>
          <a:ext cx="7485380" cy="949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306310" imgH="1022350" progId="Equation.KSEE3">
                  <p:embed/>
                </p:oleObj>
              </mc:Choice>
              <mc:Fallback>
                <p:oleObj name="" r:id="rId3" imgW="7306310" imgH="1022350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7750" y="2061210"/>
                        <a:ext cx="7485380" cy="949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20879" grpId="0" advAuto="1000" build="p"/>
      <p:bldP spid="120891" grpId="0"/>
      <p:bldP spid="120892" grpId="0"/>
      <p:bldP spid="120893" grpId="0"/>
      <p:bldP spid="120902" grpId="0" animBg="1"/>
      <p:bldP spid="12090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2"/>
          <p:cNvSpPr txBox="1"/>
          <p:nvPr/>
        </p:nvSpPr>
        <p:spPr>
          <a:xfrm>
            <a:off x="684213" y="588486"/>
            <a:ext cx="511175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全响应的两种分解方式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57388" name="Group 44"/>
          <p:cNvGrpSpPr/>
          <p:nvPr/>
        </p:nvGrpSpPr>
        <p:grpSpPr>
          <a:xfrm>
            <a:off x="2411413" y="4473575"/>
            <a:ext cx="4392612" cy="1116013"/>
            <a:chOff x="1694" y="3104"/>
            <a:chExt cx="2637" cy="702"/>
          </a:xfrm>
        </p:grpSpPr>
        <p:grpSp>
          <p:nvGrpSpPr>
            <p:cNvPr id="69669" name="Group 14"/>
            <p:cNvGrpSpPr/>
            <p:nvPr/>
          </p:nvGrpSpPr>
          <p:grpSpPr>
            <a:xfrm>
              <a:off x="2318" y="3104"/>
              <a:ext cx="1347" cy="632"/>
              <a:chOff x="1776" y="3352"/>
              <a:chExt cx="1347" cy="632"/>
            </a:xfrm>
          </p:grpSpPr>
          <p:sp>
            <p:nvSpPr>
              <p:cNvPr id="69674" name="Freeform 15"/>
              <p:cNvSpPr/>
              <p:nvPr/>
            </p:nvSpPr>
            <p:spPr>
              <a:xfrm>
                <a:off x="1776" y="3352"/>
                <a:ext cx="1347" cy="632"/>
              </a:xfrm>
              <a:custGeom>
                <a:avLst/>
                <a:gdLst/>
                <a:ahLst/>
                <a:cxnLst>
                  <a:cxn ang="0">
                    <a:pos x="0" y="276882"/>
                  </a:cxn>
                  <a:cxn ang="0">
                    <a:pos x="299" y="122281"/>
                  </a:cxn>
                  <a:cxn ang="0">
                    <a:pos x="635" y="45070"/>
                  </a:cxn>
                  <a:cxn ang="0">
                    <a:pos x="1129" y="6653"/>
                  </a:cxn>
                  <a:cxn ang="0">
                    <a:pos x="1377" y="6653"/>
                  </a:cxn>
                </a:cxnLst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 cap="flat" cmpd="sng">
                <a:solidFill>
                  <a:srgbClr val="00FF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9675" name="Rectangle 16"/>
              <p:cNvSpPr/>
              <p:nvPr/>
            </p:nvSpPr>
            <p:spPr>
              <a:xfrm>
                <a:off x="2314" y="3378"/>
                <a:ext cx="367" cy="32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r>
                  <a:rPr lang="en-US" altLang="zh-CN" b="0" i="1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"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69670" name="Group 17"/>
            <p:cNvGrpSpPr/>
            <p:nvPr/>
          </p:nvGrpSpPr>
          <p:grpSpPr>
            <a:xfrm>
              <a:off x="1694" y="3476"/>
              <a:ext cx="621" cy="330"/>
              <a:chOff x="1152" y="3484"/>
              <a:chExt cx="621" cy="330"/>
            </a:xfrm>
          </p:grpSpPr>
          <p:sp>
            <p:nvSpPr>
              <p:cNvPr id="69672" name="Text Box 18"/>
              <p:cNvSpPr txBox="1"/>
              <p:nvPr/>
            </p:nvSpPr>
            <p:spPr>
              <a:xfrm>
                <a:off x="1401" y="3484"/>
                <a:ext cx="372" cy="3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-</a:t>
                </a:r>
                <a:r>
                  <a:rPr lang="en-US" altLang="zh-CN" sz="24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S</a:t>
                </a:r>
                <a:endPara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69673" name="Text Box 19"/>
              <p:cNvSpPr txBox="1"/>
              <p:nvPr/>
            </p:nvSpPr>
            <p:spPr>
              <a:xfrm>
                <a:off x="1152" y="3501"/>
                <a:ext cx="310" cy="29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/>
                <a:r>
                  <a:rPr lang="en-US" altLang="zh-CN" sz="24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0</a:t>
                </a:r>
                <a:endPara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9671" name="AutoShape 20" descr="蓝色面巾纸"/>
            <p:cNvSpPr/>
            <p:nvPr/>
          </p:nvSpPr>
          <p:spPr>
            <a:xfrm>
              <a:off x="3515" y="3566"/>
              <a:ext cx="816" cy="240"/>
            </a:xfrm>
            <a:prstGeom prst="wedgeRectCallout">
              <a:avLst>
                <a:gd name="adj1" fmla="val -30148"/>
                <a:gd name="adj2" fmla="val -191667"/>
              </a:avLst>
            </a:prstGeom>
            <a:blipFill rotWithShape="1">
              <a:blip r:embed="rId1"/>
            </a:blipFill>
            <a:ln w="2857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暂态解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7387" name="Group 43"/>
          <p:cNvGrpSpPr/>
          <p:nvPr/>
        </p:nvGrpSpPr>
        <p:grpSpPr>
          <a:xfrm>
            <a:off x="2875012" y="2543175"/>
            <a:ext cx="3486052" cy="1081088"/>
            <a:chOff x="1986" y="1888"/>
            <a:chExt cx="2130" cy="681"/>
          </a:xfrm>
        </p:grpSpPr>
        <p:sp>
          <p:nvSpPr>
            <p:cNvPr id="69665" name="Line 23"/>
            <p:cNvSpPr/>
            <p:nvPr/>
          </p:nvSpPr>
          <p:spPr>
            <a:xfrm>
              <a:off x="2316" y="2394"/>
              <a:ext cx="1392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9666" name="Rectangle 24"/>
            <p:cNvSpPr/>
            <p:nvPr/>
          </p:nvSpPr>
          <p:spPr>
            <a:xfrm>
              <a:off x="3773" y="2201"/>
              <a:ext cx="343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24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2400" b="0" i="1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'</a:t>
              </a:r>
              <a:endParaRPr lang="en-US" altLang="zh-CN" sz="2400" b="0" i="1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9667" name="Text Box 25"/>
            <p:cNvSpPr txBox="1"/>
            <p:nvPr/>
          </p:nvSpPr>
          <p:spPr>
            <a:xfrm>
              <a:off x="1986" y="2249"/>
              <a:ext cx="314" cy="29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24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sz="24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69668" name="AutoShape 26" descr="羊皮纸"/>
            <p:cNvSpPr/>
            <p:nvPr/>
          </p:nvSpPr>
          <p:spPr>
            <a:xfrm>
              <a:off x="3107" y="1888"/>
              <a:ext cx="816" cy="240"/>
            </a:xfrm>
            <a:prstGeom prst="wedgeRectCallout">
              <a:avLst>
                <a:gd name="adj1" fmla="val -76347"/>
                <a:gd name="adj2" fmla="val 145833"/>
              </a:avLst>
            </a:prstGeom>
            <a:blipFill rotWithShape="1">
              <a:blip r:embed="rId2"/>
            </a:blipFill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稳态解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7389" name="Group 45"/>
          <p:cNvGrpSpPr/>
          <p:nvPr/>
        </p:nvGrpSpPr>
        <p:grpSpPr>
          <a:xfrm>
            <a:off x="2854615" y="3406775"/>
            <a:ext cx="4165310" cy="885825"/>
            <a:chOff x="1972" y="2432"/>
            <a:chExt cx="2404" cy="480"/>
          </a:xfrm>
        </p:grpSpPr>
        <p:grpSp>
          <p:nvGrpSpPr>
            <p:cNvPr id="69658" name="Group 28"/>
            <p:cNvGrpSpPr/>
            <p:nvPr/>
          </p:nvGrpSpPr>
          <p:grpSpPr>
            <a:xfrm>
              <a:off x="1972" y="2432"/>
              <a:ext cx="1681" cy="480"/>
              <a:chOff x="1439" y="2688"/>
              <a:chExt cx="1681" cy="480"/>
            </a:xfrm>
          </p:grpSpPr>
          <p:grpSp>
            <p:nvGrpSpPr>
              <p:cNvPr id="69660" name="Group 29"/>
              <p:cNvGrpSpPr/>
              <p:nvPr/>
            </p:nvGrpSpPr>
            <p:grpSpPr>
              <a:xfrm>
                <a:off x="1488" y="2688"/>
                <a:ext cx="1632" cy="480"/>
                <a:chOff x="1488" y="2688"/>
                <a:chExt cx="1632" cy="480"/>
              </a:xfrm>
            </p:grpSpPr>
            <p:sp>
              <p:nvSpPr>
                <p:cNvPr id="69663" name="Freeform 30"/>
                <p:cNvSpPr/>
                <p:nvPr/>
              </p:nvSpPr>
              <p:spPr>
                <a:xfrm>
                  <a:off x="1776" y="2688"/>
                  <a:ext cx="1344" cy="480"/>
                </a:xfrm>
                <a:custGeom>
                  <a:avLst/>
                  <a:gdLst/>
                  <a:ahLst/>
                  <a:cxnLst>
                    <a:cxn ang="0">
                      <a:pos x="0" y="13441"/>
                    </a:cxn>
                    <a:cxn ang="0">
                      <a:pos x="288" y="5936"/>
                    </a:cxn>
                    <a:cxn ang="0">
                      <a:pos x="624" y="2185"/>
                    </a:cxn>
                    <a:cxn ang="0">
                      <a:pos x="1104" y="296"/>
                    </a:cxn>
                    <a:cxn ang="0">
                      <a:pos x="1344" y="296"/>
                    </a:cxn>
                  </a:cxnLst>
                  <a:pathLst>
                    <a:path w="1344" h="344">
                      <a:moveTo>
                        <a:pt x="0" y="344"/>
                      </a:moveTo>
                      <a:cubicBezTo>
                        <a:pt x="92" y="272"/>
                        <a:pt x="184" y="200"/>
                        <a:pt x="288" y="152"/>
                      </a:cubicBezTo>
                      <a:cubicBezTo>
                        <a:pt x="392" y="104"/>
                        <a:pt x="488" y="80"/>
                        <a:pt x="624" y="56"/>
                      </a:cubicBezTo>
                      <a:cubicBezTo>
                        <a:pt x="760" y="32"/>
                        <a:pt x="984" y="16"/>
                        <a:pt x="1104" y="8"/>
                      </a:cubicBezTo>
                      <a:cubicBezTo>
                        <a:pt x="1224" y="0"/>
                        <a:pt x="1304" y="8"/>
                        <a:pt x="1344" y="8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33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9664" name="Line 31"/>
                <p:cNvSpPr/>
                <p:nvPr/>
              </p:nvSpPr>
              <p:spPr>
                <a:xfrm>
                  <a:off x="1488" y="3168"/>
                  <a:ext cx="272" cy="0"/>
                </a:xfrm>
                <a:prstGeom prst="line">
                  <a:avLst/>
                </a:prstGeom>
                <a:ln w="28575" cap="flat" cmpd="sng">
                  <a:solidFill>
                    <a:srgbClr val="FF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9661" name="Text Box 32"/>
              <p:cNvSpPr txBox="1"/>
              <p:nvPr/>
            </p:nvSpPr>
            <p:spPr>
              <a:xfrm>
                <a:off x="1439" y="2835"/>
                <a:ext cx="320" cy="28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0</a:t>
                </a:r>
                <a:endPara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69662" name="Text Box 33"/>
              <p:cNvSpPr txBox="1"/>
              <p:nvPr/>
            </p:nvSpPr>
            <p:spPr>
              <a:xfrm>
                <a:off x="2166" y="2787"/>
                <a:ext cx="268" cy="28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9659" name="AutoShape 34"/>
            <p:cNvSpPr/>
            <p:nvPr/>
          </p:nvSpPr>
          <p:spPr>
            <a:xfrm>
              <a:off x="3560" y="2659"/>
              <a:ext cx="816" cy="240"/>
            </a:xfrm>
            <a:prstGeom prst="wedgeRectCallout">
              <a:avLst>
                <a:gd name="adj1" fmla="val -78556"/>
                <a:gd name="adj2" fmla="val -122083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全解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7379" name="Group 35"/>
          <p:cNvGrpSpPr/>
          <p:nvPr/>
        </p:nvGrpSpPr>
        <p:grpSpPr>
          <a:xfrm>
            <a:off x="2987675" y="2490597"/>
            <a:ext cx="3798888" cy="3675253"/>
            <a:chOff x="1575" y="1725"/>
            <a:chExt cx="2127" cy="2067"/>
          </a:xfrm>
        </p:grpSpPr>
        <p:grpSp>
          <p:nvGrpSpPr>
            <p:cNvPr id="69652" name="Group 36"/>
            <p:cNvGrpSpPr/>
            <p:nvPr/>
          </p:nvGrpSpPr>
          <p:grpSpPr>
            <a:xfrm>
              <a:off x="1575" y="1725"/>
              <a:ext cx="2127" cy="2067"/>
              <a:chOff x="1539" y="2109"/>
              <a:chExt cx="2127" cy="2067"/>
            </a:xfrm>
          </p:grpSpPr>
          <p:sp>
            <p:nvSpPr>
              <p:cNvPr id="69654" name="Line 37"/>
              <p:cNvSpPr/>
              <p:nvPr/>
            </p:nvSpPr>
            <p:spPr>
              <a:xfrm>
                <a:off x="1539" y="3312"/>
                <a:ext cx="1968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9655" name="Line 38"/>
              <p:cNvSpPr/>
              <p:nvPr/>
            </p:nvSpPr>
            <p:spPr>
              <a:xfrm flipV="1">
                <a:off x="1776" y="2256"/>
                <a:ext cx="0" cy="192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9656" name="Text Box 39"/>
              <p:cNvSpPr txBox="1"/>
              <p:nvPr/>
            </p:nvSpPr>
            <p:spPr>
              <a:xfrm>
                <a:off x="3516" y="3182"/>
                <a:ext cx="150" cy="25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24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t</a:t>
                </a:r>
                <a:endPara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69657" name="Text Box 40"/>
              <p:cNvSpPr txBox="1"/>
              <p:nvPr/>
            </p:nvSpPr>
            <p:spPr>
              <a:xfrm>
                <a:off x="1834" y="2109"/>
                <a:ext cx="260" cy="29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69653" name="Text Box 41"/>
            <p:cNvSpPr txBox="1"/>
            <p:nvPr/>
          </p:nvSpPr>
          <p:spPr>
            <a:xfrm>
              <a:off x="1602" y="2950"/>
              <a:ext cx="188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57386" name="Text Box 42"/>
          <p:cNvSpPr txBox="1"/>
          <p:nvPr/>
        </p:nvSpPr>
        <p:spPr>
          <a:xfrm>
            <a:off x="539750" y="1842612"/>
            <a:ext cx="835183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全响应</a:t>
            </a:r>
            <a:r>
              <a:rPr lang="zh-CN" altLang="en-US" dirty="0">
                <a:solidFill>
                  <a:srgbClr val="0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dirty="0">
                <a:solidFill>
                  <a:srgbClr val="0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dirty="0">
                <a:solidFill>
                  <a:srgbClr val="0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强制分量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稳态解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3200" dirty="0">
                <a:solidFill>
                  <a:srgbClr val="00FF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自由分量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暂态解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7390" name="Text Box 46"/>
          <p:cNvSpPr txBox="1"/>
          <p:nvPr/>
        </p:nvSpPr>
        <p:spPr>
          <a:xfrm>
            <a:off x="539750" y="1268413"/>
            <a:ext cx="61198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spcBef>
                <a:spcPct val="50000"/>
              </a:spcBef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着眼于电路的两种工作状态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7391" name="Text Box 47"/>
          <p:cNvSpPr txBox="1"/>
          <p:nvPr/>
        </p:nvSpPr>
        <p:spPr>
          <a:xfrm>
            <a:off x="6011863" y="1341438"/>
            <a:ext cx="27368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物理概念清晰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7404" name="Line 60"/>
          <p:cNvSpPr/>
          <p:nvPr/>
        </p:nvSpPr>
        <p:spPr>
          <a:xfrm>
            <a:off x="5508625" y="1628775"/>
            <a:ext cx="503238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7346" grpId="0"/>
      <p:bldP spid="57386" grpId="0" build="p"/>
      <p:bldP spid="57390" grpId="0"/>
      <p:bldP spid="573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454" name="Text Box 134"/>
          <p:cNvSpPr txBox="1"/>
          <p:nvPr/>
        </p:nvSpPr>
        <p:spPr>
          <a:xfrm>
            <a:off x="1116013" y="2994660"/>
            <a:ext cx="6476365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全响应 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零状态响应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零输入响应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6501" name="Text Box 181"/>
          <p:cNvSpPr txBox="1"/>
          <p:nvPr/>
        </p:nvSpPr>
        <p:spPr>
          <a:xfrm>
            <a:off x="539750" y="474821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着眼于因果关系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6503" name="Text Box 183"/>
          <p:cNvSpPr txBox="1"/>
          <p:nvPr/>
        </p:nvSpPr>
        <p:spPr>
          <a:xfrm>
            <a:off x="4572000" y="476250"/>
            <a:ext cx="33845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便于叠加计算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6516" name="Line 196"/>
          <p:cNvSpPr/>
          <p:nvPr/>
        </p:nvSpPr>
        <p:spPr>
          <a:xfrm>
            <a:off x="3851275" y="765175"/>
            <a:ext cx="6477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6456" name="AutoShape 136"/>
          <p:cNvSpPr/>
          <p:nvPr/>
        </p:nvSpPr>
        <p:spPr>
          <a:xfrm>
            <a:off x="6443663" y="2420938"/>
            <a:ext cx="2016125" cy="647700"/>
          </a:xfrm>
          <a:prstGeom prst="wedgeRectCallout">
            <a:avLst>
              <a:gd name="adj1" fmla="val -98741"/>
              <a:gd name="adj2" fmla="val -140685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零输入响应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6455" name="AutoShape 135"/>
          <p:cNvSpPr/>
          <p:nvPr/>
        </p:nvSpPr>
        <p:spPr>
          <a:xfrm>
            <a:off x="971550" y="2349500"/>
            <a:ext cx="2016125" cy="576263"/>
          </a:xfrm>
          <a:prstGeom prst="wedgeRectCallout">
            <a:avLst>
              <a:gd name="adj1" fmla="val 55120"/>
              <a:gd name="adj2" fmla="val -138431"/>
            </a:avLst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零状态响应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56517" name="Group 197"/>
          <p:cNvGrpSpPr/>
          <p:nvPr/>
        </p:nvGrpSpPr>
        <p:grpSpPr>
          <a:xfrm>
            <a:off x="395288" y="3787457"/>
            <a:ext cx="2592387" cy="2310130"/>
            <a:chOff x="2653" y="2095"/>
            <a:chExt cx="1633" cy="1455"/>
          </a:xfrm>
        </p:grpSpPr>
        <p:sp>
          <p:nvSpPr>
            <p:cNvPr id="70720" name="Oval 198"/>
            <p:cNvSpPr/>
            <p:nvPr/>
          </p:nvSpPr>
          <p:spPr>
            <a:xfrm>
              <a:off x="2653" y="265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0721" name="Line 199"/>
            <p:cNvSpPr/>
            <p:nvPr/>
          </p:nvSpPr>
          <p:spPr>
            <a:xfrm>
              <a:off x="2835" y="2523"/>
              <a:ext cx="0" cy="7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22" name="Line 200"/>
            <p:cNvSpPr/>
            <p:nvPr/>
          </p:nvSpPr>
          <p:spPr>
            <a:xfrm flipV="1">
              <a:off x="4105" y="2519"/>
              <a:ext cx="0" cy="23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23" name="Line 201"/>
            <p:cNvSpPr/>
            <p:nvPr/>
          </p:nvSpPr>
          <p:spPr>
            <a:xfrm flipV="1">
              <a:off x="4105" y="2870"/>
              <a:ext cx="0" cy="3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0724" name="Group 202"/>
            <p:cNvGrpSpPr/>
            <p:nvPr/>
          </p:nvGrpSpPr>
          <p:grpSpPr>
            <a:xfrm>
              <a:off x="3043" y="2095"/>
              <a:ext cx="689" cy="396"/>
              <a:chOff x="984" y="918"/>
              <a:chExt cx="977" cy="330"/>
            </a:xfrm>
          </p:grpSpPr>
          <p:sp>
            <p:nvSpPr>
              <p:cNvPr id="70740" name="Line 203"/>
              <p:cNvSpPr/>
              <p:nvPr/>
            </p:nvSpPr>
            <p:spPr>
              <a:xfrm flipH="1">
                <a:off x="1200" y="1104"/>
                <a:ext cx="144" cy="14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41" name="Text Box 204"/>
              <p:cNvSpPr txBox="1"/>
              <p:nvPr/>
            </p:nvSpPr>
            <p:spPr>
              <a:xfrm>
                <a:off x="984" y="918"/>
                <a:ext cx="977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S(</a:t>
                </a: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=0)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0725" name="Text Box 205"/>
            <p:cNvSpPr txBox="1"/>
            <p:nvPr/>
          </p:nvSpPr>
          <p:spPr>
            <a:xfrm>
              <a:off x="3004" y="2684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26" name="Line 206"/>
            <p:cNvSpPr/>
            <p:nvPr/>
          </p:nvSpPr>
          <p:spPr>
            <a:xfrm>
              <a:off x="3288" y="2523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0727" name="Line 207"/>
            <p:cNvSpPr/>
            <p:nvPr/>
          </p:nvSpPr>
          <p:spPr>
            <a:xfrm>
              <a:off x="2835" y="2523"/>
              <a:ext cx="23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0728" name="Text Box 208"/>
            <p:cNvSpPr txBox="1"/>
            <p:nvPr/>
          </p:nvSpPr>
          <p:spPr>
            <a:xfrm>
              <a:off x="3696" y="2730"/>
              <a:ext cx="2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70729" name="Group 209"/>
            <p:cNvGrpSpPr/>
            <p:nvPr/>
          </p:nvGrpSpPr>
          <p:grpSpPr>
            <a:xfrm>
              <a:off x="2918" y="2480"/>
              <a:ext cx="240" cy="790"/>
              <a:chOff x="1575" y="1255"/>
              <a:chExt cx="340" cy="659"/>
            </a:xfrm>
          </p:grpSpPr>
          <p:sp>
            <p:nvSpPr>
              <p:cNvPr id="70738" name="Text Box 210"/>
              <p:cNvSpPr txBox="1"/>
              <p:nvPr/>
            </p:nvSpPr>
            <p:spPr>
              <a:xfrm>
                <a:off x="1575" y="1255"/>
                <a:ext cx="340" cy="2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70739" name="Text Box 211"/>
              <p:cNvSpPr txBox="1"/>
              <p:nvPr/>
            </p:nvSpPr>
            <p:spPr>
              <a:xfrm>
                <a:off x="1576" y="1639"/>
                <a:ext cx="317" cy="2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0730" name="Group 212"/>
            <p:cNvGrpSpPr/>
            <p:nvPr/>
          </p:nvGrpSpPr>
          <p:grpSpPr>
            <a:xfrm>
              <a:off x="3969" y="2750"/>
              <a:ext cx="317" cy="136"/>
              <a:chOff x="1824" y="1680"/>
              <a:chExt cx="192" cy="96"/>
            </a:xfrm>
          </p:grpSpPr>
          <p:sp>
            <p:nvSpPr>
              <p:cNvPr id="70736" name="Line 213"/>
              <p:cNvSpPr/>
              <p:nvPr/>
            </p:nvSpPr>
            <p:spPr>
              <a:xfrm>
                <a:off x="1824" y="168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37" name="Line 214"/>
              <p:cNvSpPr/>
              <p:nvPr/>
            </p:nvSpPr>
            <p:spPr>
              <a:xfrm>
                <a:off x="1824" y="177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0731" name="Line 215"/>
            <p:cNvSpPr/>
            <p:nvPr/>
          </p:nvSpPr>
          <p:spPr>
            <a:xfrm flipH="1" flipV="1">
              <a:off x="3016" y="2387"/>
              <a:ext cx="272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32" name="Line 216"/>
            <p:cNvSpPr/>
            <p:nvPr/>
          </p:nvSpPr>
          <p:spPr>
            <a:xfrm>
              <a:off x="2835" y="3249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33" name="Text Box 217"/>
            <p:cNvSpPr txBox="1"/>
            <p:nvPr/>
          </p:nvSpPr>
          <p:spPr>
            <a:xfrm>
              <a:off x="3651" y="2204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34" name="Text Box 218"/>
            <p:cNvSpPr txBox="1"/>
            <p:nvPr/>
          </p:nvSpPr>
          <p:spPr>
            <a:xfrm>
              <a:off x="2927" y="3221"/>
              <a:ext cx="112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35" name="Rectangle 219"/>
            <p:cNvSpPr/>
            <p:nvPr/>
          </p:nvSpPr>
          <p:spPr>
            <a:xfrm>
              <a:off x="3560" y="247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6563" name="Group 243"/>
          <p:cNvGrpSpPr/>
          <p:nvPr/>
        </p:nvGrpSpPr>
        <p:grpSpPr>
          <a:xfrm>
            <a:off x="6084888" y="3714432"/>
            <a:ext cx="2776537" cy="2310130"/>
            <a:chOff x="2900" y="2114"/>
            <a:chExt cx="1749" cy="1455"/>
          </a:xfrm>
        </p:grpSpPr>
        <p:sp>
          <p:nvSpPr>
            <p:cNvPr id="70698" name="Text Box 244"/>
            <p:cNvSpPr txBox="1"/>
            <p:nvPr/>
          </p:nvSpPr>
          <p:spPr>
            <a:xfrm>
              <a:off x="2900" y="2659"/>
              <a:ext cx="298" cy="44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4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400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699" name="Line 245"/>
            <p:cNvSpPr/>
            <p:nvPr/>
          </p:nvSpPr>
          <p:spPr>
            <a:xfrm>
              <a:off x="3198" y="2542"/>
              <a:ext cx="0" cy="7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0" name="Line 246"/>
            <p:cNvSpPr/>
            <p:nvPr/>
          </p:nvSpPr>
          <p:spPr>
            <a:xfrm flipV="1">
              <a:off x="4468" y="2538"/>
              <a:ext cx="0" cy="23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01" name="Line 247"/>
            <p:cNvSpPr/>
            <p:nvPr/>
          </p:nvSpPr>
          <p:spPr>
            <a:xfrm flipV="1">
              <a:off x="4468" y="2889"/>
              <a:ext cx="0" cy="3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0702" name="Group 248"/>
            <p:cNvGrpSpPr/>
            <p:nvPr/>
          </p:nvGrpSpPr>
          <p:grpSpPr>
            <a:xfrm>
              <a:off x="3406" y="2114"/>
              <a:ext cx="689" cy="396"/>
              <a:chOff x="984" y="918"/>
              <a:chExt cx="977" cy="330"/>
            </a:xfrm>
          </p:grpSpPr>
          <p:sp>
            <p:nvSpPr>
              <p:cNvPr id="70718" name="Line 249"/>
              <p:cNvSpPr/>
              <p:nvPr/>
            </p:nvSpPr>
            <p:spPr>
              <a:xfrm flipH="1">
                <a:off x="1200" y="1104"/>
                <a:ext cx="144" cy="144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0719" name="Text Box 250"/>
              <p:cNvSpPr txBox="1"/>
              <p:nvPr/>
            </p:nvSpPr>
            <p:spPr>
              <a:xfrm>
                <a:off x="984" y="918"/>
                <a:ext cx="977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S(</a:t>
                </a: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t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=0)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0703" name="Text Box 251"/>
            <p:cNvSpPr txBox="1"/>
            <p:nvPr/>
          </p:nvSpPr>
          <p:spPr>
            <a:xfrm>
              <a:off x="3367" y="2703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04" name="Line 252"/>
            <p:cNvSpPr/>
            <p:nvPr/>
          </p:nvSpPr>
          <p:spPr>
            <a:xfrm>
              <a:off x="3651" y="2542"/>
              <a:ext cx="81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0705" name="Line 253"/>
            <p:cNvSpPr/>
            <p:nvPr/>
          </p:nvSpPr>
          <p:spPr>
            <a:xfrm>
              <a:off x="3198" y="2542"/>
              <a:ext cx="23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0706" name="Text Box 254"/>
            <p:cNvSpPr txBox="1"/>
            <p:nvPr/>
          </p:nvSpPr>
          <p:spPr>
            <a:xfrm>
              <a:off x="4059" y="2749"/>
              <a:ext cx="24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70707" name="Group 255"/>
            <p:cNvGrpSpPr/>
            <p:nvPr/>
          </p:nvGrpSpPr>
          <p:grpSpPr>
            <a:xfrm>
              <a:off x="3281" y="2499"/>
              <a:ext cx="240" cy="790"/>
              <a:chOff x="1575" y="1255"/>
              <a:chExt cx="340" cy="659"/>
            </a:xfrm>
          </p:grpSpPr>
          <p:sp>
            <p:nvSpPr>
              <p:cNvPr id="70716" name="Text Box 256"/>
              <p:cNvSpPr txBox="1"/>
              <p:nvPr/>
            </p:nvSpPr>
            <p:spPr>
              <a:xfrm>
                <a:off x="1575" y="1255"/>
                <a:ext cx="340" cy="2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+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70717" name="Text Box 257"/>
              <p:cNvSpPr txBox="1"/>
              <p:nvPr/>
            </p:nvSpPr>
            <p:spPr>
              <a:xfrm>
                <a:off x="1576" y="1639"/>
                <a:ext cx="317" cy="27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–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70708" name="Group 258"/>
            <p:cNvGrpSpPr/>
            <p:nvPr/>
          </p:nvGrpSpPr>
          <p:grpSpPr>
            <a:xfrm>
              <a:off x="4332" y="2769"/>
              <a:ext cx="317" cy="136"/>
              <a:chOff x="1824" y="1680"/>
              <a:chExt cx="192" cy="96"/>
            </a:xfrm>
          </p:grpSpPr>
          <p:sp>
            <p:nvSpPr>
              <p:cNvPr id="70714" name="Line 259"/>
              <p:cNvSpPr/>
              <p:nvPr/>
            </p:nvSpPr>
            <p:spPr>
              <a:xfrm>
                <a:off x="1824" y="1680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715" name="Line 260"/>
              <p:cNvSpPr/>
              <p:nvPr/>
            </p:nvSpPr>
            <p:spPr>
              <a:xfrm>
                <a:off x="1824" y="177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0709" name="Line 261"/>
            <p:cNvSpPr/>
            <p:nvPr/>
          </p:nvSpPr>
          <p:spPr>
            <a:xfrm flipH="1" flipV="1">
              <a:off x="3379" y="2406"/>
              <a:ext cx="272" cy="13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0" name="Line 262"/>
            <p:cNvSpPr/>
            <p:nvPr/>
          </p:nvSpPr>
          <p:spPr>
            <a:xfrm>
              <a:off x="3198" y="3268"/>
              <a:ext cx="127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711" name="Text Box 263"/>
            <p:cNvSpPr txBox="1"/>
            <p:nvPr/>
          </p:nvSpPr>
          <p:spPr>
            <a:xfrm>
              <a:off x="4014" y="2223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12" name="Text Box 264"/>
            <p:cNvSpPr txBox="1"/>
            <p:nvPr/>
          </p:nvSpPr>
          <p:spPr>
            <a:xfrm>
              <a:off x="3290" y="3240"/>
              <a:ext cx="112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0713" name="Rectangle 265"/>
            <p:cNvSpPr/>
            <p:nvPr/>
          </p:nvSpPr>
          <p:spPr>
            <a:xfrm>
              <a:off x="3923" y="249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6588" name="Group 268"/>
          <p:cNvGrpSpPr/>
          <p:nvPr/>
        </p:nvGrpSpPr>
        <p:grpSpPr>
          <a:xfrm>
            <a:off x="3059113" y="3787457"/>
            <a:ext cx="2952750" cy="2310130"/>
            <a:chOff x="1927" y="2386"/>
            <a:chExt cx="1860" cy="1455"/>
          </a:xfrm>
        </p:grpSpPr>
        <p:grpSp>
          <p:nvGrpSpPr>
            <p:cNvPr id="70673" name="Group 220"/>
            <p:cNvGrpSpPr/>
            <p:nvPr/>
          </p:nvGrpSpPr>
          <p:grpSpPr>
            <a:xfrm>
              <a:off x="2154" y="2386"/>
              <a:ext cx="1633" cy="1455"/>
              <a:chOff x="2653" y="2095"/>
              <a:chExt cx="1633" cy="1455"/>
            </a:xfrm>
          </p:grpSpPr>
          <p:sp>
            <p:nvSpPr>
              <p:cNvPr id="70676" name="Oval 221"/>
              <p:cNvSpPr/>
              <p:nvPr/>
            </p:nvSpPr>
            <p:spPr>
              <a:xfrm>
                <a:off x="2653" y="2659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0677" name="Line 222"/>
              <p:cNvSpPr/>
              <p:nvPr/>
            </p:nvSpPr>
            <p:spPr>
              <a:xfrm>
                <a:off x="2835" y="2523"/>
                <a:ext cx="0" cy="72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678" name="Line 223"/>
              <p:cNvSpPr/>
              <p:nvPr/>
            </p:nvSpPr>
            <p:spPr>
              <a:xfrm flipV="1">
                <a:off x="4105" y="2519"/>
                <a:ext cx="0" cy="231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679" name="Line 224"/>
              <p:cNvSpPr/>
              <p:nvPr/>
            </p:nvSpPr>
            <p:spPr>
              <a:xfrm flipV="1">
                <a:off x="4105" y="2870"/>
                <a:ext cx="0" cy="379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70680" name="Group 225"/>
              <p:cNvGrpSpPr/>
              <p:nvPr/>
            </p:nvGrpSpPr>
            <p:grpSpPr>
              <a:xfrm>
                <a:off x="3043" y="2095"/>
                <a:ext cx="689" cy="396"/>
                <a:chOff x="984" y="918"/>
                <a:chExt cx="977" cy="330"/>
              </a:xfrm>
            </p:grpSpPr>
            <p:sp>
              <p:nvSpPr>
                <p:cNvPr id="70696" name="Line 226"/>
                <p:cNvSpPr/>
                <p:nvPr/>
              </p:nvSpPr>
              <p:spPr>
                <a:xfrm flipH="1">
                  <a:off x="1200" y="1104"/>
                  <a:ext cx="144" cy="144"/>
                </a:xfrm>
                <a:prstGeom prst="line">
                  <a:avLst/>
                </a:prstGeom>
                <a:ln w="38100" cap="flat" cmpd="sng">
                  <a:solidFill>
                    <a:srgbClr val="FF33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0697" name="Text Box 227"/>
                <p:cNvSpPr txBox="1"/>
                <p:nvPr/>
              </p:nvSpPr>
              <p:spPr>
                <a:xfrm>
                  <a:off x="984" y="918"/>
                  <a:ext cx="977" cy="27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S(</a:t>
                  </a:r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t</a:t>
                  </a: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=0)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70681" name="Text Box 228"/>
              <p:cNvSpPr txBox="1"/>
              <p:nvPr/>
            </p:nvSpPr>
            <p:spPr>
              <a:xfrm>
                <a:off x="3004" y="2684"/>
                <a:ext cx="350" cy="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S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70682" name="Line 229"/>
              <p:cNvSpPr/>
              <p:nvPr/>
            </p:nvSpPr>
            <p:spPr>
              <a:xfrm>
                <a:off x="3288" y="2523"/>
                <a:ext cx="81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oval" w="med" len="med"/>
                <a:tailEnd type="none" w="med" len="med"/>
              </a:ln>
            </p:spPr>
          </p:sp>
          <p:sp>
            <p:nvSpPr>
              <p:cNvPr id="70683" name="Line 230"/>
              <p:cNvSpPr/>
              <p:nvPr/>
            </p:nvSpPr>
            <p:spPr>
              <a:xfrm>
                <a:off x="2835" y="2523"/>
                <a:ext cx="237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oval" w="med" len="med"/>
              </a:ln>
            </p:spPr>
          </p:sp>
          <p:sp>
            <p:nvSpPr>
              <p:cNvPr id="70684" name="Text Box 231"/>
              <p:cNvSpPr txBox="1"/>
              <p:nvPr/>
            </p:nvSpPr>
            <p:spPr>
              <a:xfrm>
                <a:off x="3696" y="2730"/>
                <a:ext cx="244" cy="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grpSp>
            <p:nvGrpSpPr>
              <p:cNvPr id="70685" name="Group 232"/>
              <p:cNvGrpSpPr/>
              <p:nvPr/>
            </p:nvGrpSpPr>
            <p:grpSpPr>
              <a:xfrm>
                <a:off x="2918" y="2480"/>
                <a:ext cx="240" cy="790"/>
                <a:chOff x="1575" y="1255"/>
                <a:chExt cx="340" cy="659"/>
              </a:xfrm>
            </p:grpSpPr>
            <p:sp>
              <p:nvSpPr>
                <p:cNvPr id="70694" name="Text Box 233"/>
                <p:cNvSpPr txBox="1"/>
                <p:nvPr/>
              </p:nvSpPr>
              <p:spPr>
                <a:xfrm>
                  <a:off x="1575" y="1255"/>
                  <a:ext cx="340" cy="27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70695" name="Text Box 234"/>
                <p:cNvSpPr txBox="1"/>
                <p:nvPr/>
              </p:nvSpPr>
              <p:spPr>
                <a:xfrm>
                  <a:off x="1576" y="1639"/>
                  <a:ext cx="317" cy="275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grpSp>
            <p:nvGrpSpPr>
              <p:cNvPr id="70686" name="Group 235"/>
              <p:cNvGrpSpPr/>
              <p:nvPr/>
            </p:nvGrpSpPr>
            <p:grpSpPr>
              <a:xfrm>
                <a:off x="3969" y="2750"/>
                <a:ext cx="317" cy="136"/>
                <a:chOff x="1824" y="1680"/>
                <a:chExt cx="192" cy="96"/>
              </a:xfrm>
            </p:grpSpPr>
            <p:sp>
              <p:nvSpPr>
                <p:cNvPr id="70692" name="Line 236"/>
                <p:cNvSpPr/>
                <p:nvPr/>
              </p:nvSpPr>
              <p:spPr>
                <a:xfrm>
                  <a:off x="1824" y="168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0693" name="Line 237"/>
                <p:cNvSpPr/>
                <p:nvPr/>
              </p:nvSpPr>
              <p:spPr>
                <a:xfrm>
                  <a:off x="1824" y="1776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0687" name="Line 238"/>
              <p:cNvSpPr/>
              <p:nvPr/>
            </p:nvSpPr>
            <p:spPr>
              <a:xfrm flipH="1" flipV="1">
                <a:off x="3016" y="2387"/>
                <a:ext cx="272" cy="136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688" name="Line 239"/>
              <p:cNvSpPr/>
              <p:nvPr/>
            </p:nvSpPr>
            <p:spPr>
              <a:xfrm>
                <a:off x="2835" y="3249"/>
                <a:ext cx="1270" cy="0"/>
              </a:xfrm>
              <a:prstGeom prst="line">
                <a:avLst/>
              </a:prstGeom>
              <a:ln w="28575" cap="flat" cmpd="sng">
                <a:solidFill>
                  <a:srgbClr val="FFCC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0689" name="Text Box 240"/>
              <p:cNvSpPr txBox="1"/>
              <p:nvPr/>
            </p:nvSpPr>
            <p:spPr>
              <a:xfrm>
                <a:off x="3652" y="2204"/>
                <a:ext cx="252" cy="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70690" name="Text Box 241"/>
              <p:cNvSpPr txBox="1"/>
              <p:nvPr/>
            </p:nvSpPr>
            <p:spPr>
              <a:xfrm>
                <a:off x="2961" y="3221"/>
                <a:ext cx="1062" cy="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C 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(0</a:t>
                </a:r>
                <a:r>
                  <a:rPr lang="zh-CN" altLang="en-US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－</a:t>
                </a:r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)= 0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70691" name="Rectangle 242"/>
              <p:cNvSpPr/>
              <p:nvPr/>
            </p:nvSpPr>
            <p:spPr>
              <a:xfrm>
                <a:off x="3560" y="2478"/>
                <a:ext cx="297" cy="137"/>
              </a:xfrm>
              <a:prstGeom prst="rect">
                <a:avLst/>
              </a:prstGeom>
              <a:gradFill rotWithShape="1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5400000" scaled="1"/>
                <a:tileRect/>
              </a:gradFill>
              <a:ln w="28575">
                <a:noFill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70674" name="Line 266"/>
            <p:cNvSpPr/>
            <p:nvPr/>
          </p:nvSpPr>
          <p:spPr>
            <a:xfrm>
              <a:off x="1927" y="3067"/>
              <a:ext cx="181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75" name="Line 267"/>
            <p:cNvSpPr/>
            <p:nvPr/>
          </p:nvSpPr>
          <p:spPr>
            <a:xfrm>
              <a:off x="1927" y="3158"/>
              <a:ext cx="181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1763395" y="1125220"/>
          <a:ext cx="5591175" cy="103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6306185" imgH="889635" progId="Equation.KSEE3">
                  <p:embed/>
                </p:oleObj>
              </mc:Choice>
              <mc:Fallback>
                <p:oleObj name="" r:id="rId2" imgW="6306185" imgH="88963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3395" y="1125220"/>
                        <a:ext cx="5591175" cy="10388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56454" grpId="0" build="p"/>
      <p:bldP spid="56501" grpId="0" build="p"/>
      <p:bldP spid="56503" grpId="0"/>
      <p:bldP spid="56456" grpId="0" animBg="1"/>
      <p:bldP spid="5645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5328" name="Group 32"/>
          <p:cNvGrpSpPr/>
          <p:nvPr/>
        </p:nvGrpSpPr>
        <p:grpSpPr>
          <a:xfrm>
            <a:off x="468313" y="692150"/>
            <a:ext cx="7993062" cy="1916113"/>
            <a:chOff x="249" y="182"/>
            <a:chExt cx="5035" cy="1207"/>
          </a:xfrm>
        </p:grpSpPr>
        <p:graphicFrame>
          <p:nvGraphicFramePr>
            <p:cNvPr id="71713" name="Object 3"/>
            <p:cNvGraphicFramePr>
              <a:graphicFrameLocks noChangeAspect="1"/>
            </p:cNvGraphicFramePr>
            <p:nvPr/>
          </p:nvGraphicFramePr>
          <p:xfrm>
            <a:off x="656" y="182"/>
            <a:ext cx="4342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" r:id="rId1" imgW="2501900" imgH="355600" progId="Equation.3">
                    <p:embed/>
                  </p:oleObj>
                </mc:Choice>
                <mc:Fallback>
                  <p:oleObj name="" r:id="rId1" imgW="2501900" imgH="3556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6" y="182"/>
                          <a:ext cx="4342" cy="614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FFCC00"/>
                            </a:gs>
                            <a:gs pos="100000">
                              <a:schemeClr val="bg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714" name="AutoShape 4"/>
            <p:cNvSpPr/>
            <p:nvPr/>
          </p:nvSpPr>
          <p:spPr>
            <a:xfrm>
              <a:off x="249" y="1071"/>
              <a:ext cx="1452" cy="318"/>
            </a:xfrm>
            <a:prstGeom prst="wedgeRectCallout">
              <a:avLst>
                <a:gd name="adj1" fmla="val 69421"/>
                <a:gd name="adj2" fmla="val -178616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零状态响应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15" name="AutoShape 5"/>
            <p:cNvSpPr/>
            <p:nvPr/>
          </p:nvSpPr>
          <p:spPr>
            <a:xfrm>
              <a:off x="3923" y="981"/>
              <a:ext cx="1361" cy="363"/>
            </a:xfrm>
            <a:prstGeom prst="wedgeRectCallout">
              <a:avLst>
                <a:gd name="adj1" fmla="val -74245"/>
                <a:gd name="adj2" fmla="val -123278"/>
              </a:avLst>
            </a:prstGeom>
            <a:solidFill>
              <a:schemeClr val="hlink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零输入响应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55304" name="Line 8"/>
          <p:cNvSpPr/>
          <p:nvPr/>
        </p:nvSpPr>
        <p:spPr>
          <a:xfrm flipV="1">
            <a:off x="3211513" y="2482850"/>
            <a:ext cx="0" cy="3611563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55344" name="Group 48"/>
          <p:cNvGrpSpPr/>
          <p:nvPr/>
        </p:nvGrpSpPr>
        <p:grpSpPr>
          <a:xfrm>
            <a:off x="2820988" y="2173288"/>
            <a:ext cx="4919663" cy="3575050"/>
            <a:chOff x="1777" y="1369"/>
            <a:chExt cx="3099" cy="2252"/>
          </a:xfrm>
        </p:grpSpPr>
        <p:sp>
          <p:nvSpPr>
            <p:cNvPr id="71709" name="Line 7"/>
            <p:cNvSpPr/>
            <p:nvPr/>
          </p:nvSpPr>
          <p:spPr>
            <a:xfrm>
              <a:off x="1786" y="3330"/>
              <a:ext cx="2908" cy="9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710" name="Text Box 9"/>
            <p:cNvSpPr txBox="1"/>
            <p:nvPr/>
          </p:nvSpPr>
          <p:spPr>
            <a:xfrm>
              <a:off x="4690" y="3093"/>
              <a:ext cx="186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11" name="Text Box 10"/>
            <p:cNvSpPr txBox="1"/>
            <p:nvPr/>
          </p:nvSpPr>
          <p:spPr>
            <a:xfrm>
              <a:off x="2053" y="1369"/>
              <a:ext cx="317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12" name="Text Box 11"/>
            <p:cNvSpPr txBox="1"/>
            <p:nvPr/>
          </p:nvSpPr>
          <p:spPr>
            <a:xfrm>
              <a:off x="1777" y="3292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5346" name="Group 50"/>
          <p:cNvGrpSpPr/>
          <p:nvPr/>
        </p:nvGrpSpPr>
        <p:grpSpPr>
          <a:xfrm>
            <a:off x="2559050" y="3067051"/>
            <a:ext cx="4533900" cy="2170113"/>
            <a:chOff x="1612" y="1932"/>
            <a:chExt cx="2856" cy="1367"/>
          </a:xfrm>
        </p:grpSpPr>
        <p:sp>
          <p:nvSpPr>
            <p:cNvPr id="71705" name="Line 13"/>
            <p:cNvSpPr/>
            <p:nvPr/>
          </p:nvSpPr>
          <p:spPr>
            <a:xfrm>
              <a:off x="2018" y="2115"/>
              <a:ext cx="1951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71706" name="Text Box 14"/>
            <p:cNvSpPr txBox="1"/>
            <p:nvPr/>
          </p:nvSpPr>
          <p:spPr>
            <a:xfrm>
              <a:off x="1612" y="1932"/>
              <a:ext cx="3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07" name="Freeform 16"/>
            <p:cNvSpPr/>
            <p:nvPr/>
          </p:nvSpPr>
          <p:spPr>
            <a:xfrm>
              <a:off x="2033" y="2160"/>
              <a:ext cx="1890" cy="1139"/>
            </a:xfrm>
            <a:custGeom>
              <a:avLst/>
              <a:gdLst/>
              <a:ahLst/>
              <a:cxnLst>
                <a:cxn ang="0">
                  <a:pos x="0" y="180363249"/>
                </a:cxn>
                <a:cxn ang="0">
                  <a:pos x="12265" y="79637426"/>
                </a:cxn>
                <a:cxn ang="0">
                  <a:pos x="26560" y="29322376"/>
                </a:cxn>
                <a:cxn ang="0">
                  <a:pos x="46974" y="4118710"/>
                </a:cxn>
                <a:cxn ang="0">
                  <a:pos x="57171" y="4118710"/>
                </a:cxn>
              </a:cxnLst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FF99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708" name="AutoShape 17" descr="羊皮纸"/>
            <p:cNvSpPr/>
            <p:nvPr/>
          </p:nvSpPr>
          <p:spPr>
            <a:xfrm>
              <a:off x="3243" y="2614"/>
              <a:ext cx="1225" cy="342"/>
            </a:xfrm>
            <a:prstGeom prst="wedgeRectCallout">
              <a:avLst>
                <a:gd name="adj1" fmla="val -74083"/>
                <a:gd name="adj2" fmla="val -126606"/>
              </a:avLst>
            </a:prstGeom>
            <a:blipFill rotWithShape="1">
              <a:blip r:embed="rId3"/>
            </a:blipFill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零状态响应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5343" name="Group 47"/>
          <p:cNvGrpSpPr/>
          <p:nvPr/>
        </p:nvGrpSpPr>
        <p:grpSpPr>
          <a:xfrm>
            <a:off x="2771775" y="2565400"/>
            <a:ext cx="3424238" cy="1890713"/>
            <a:chOff x="1746" y="1616"/>
            <a:chExt cx="2157" cy="1191"/>
          </a:xfrm>
        </p:grpSpPr>
        <p:grpSp>
          <p:nvGrpSpPr>
            <p:cNvPr id="71701" name="Group 46"/>
            <p:cNvGrpSpPr/>
            <p:nvPr/>
          </p:nvGrpSpPr>
          <p:grpSpPr>
            <a:xfrm>
              <a:off x="2018" y="1616"/>
              <a:ext cx="1885" cy="1191"/>
              <a:chOff x="2038" y="1616"/>
              <a:chExt cx="1885" cy="1191"/>
            </a:xfrm>
          </p:grpSpPr>
          <p:sp>
            <p:nvSpPr>
              <p:cNvPr id="71703" name="Freeform 19"/>
              <p:cNvSpPr/>
              <p:nvPr/>
            </p:nvSpPr>
            <p:spPr>
              <a:xfrm>
                <a:off x="2038" y="2160"/>
                <a:ext cx="1885" cy="647"/>
              </a:xfrm>
              <a:custGeom>
                <a:avLst/>
                <a:gdLst/>
                <a:ahLst/>
                <a:cxnLst>
                  <a:cxn ang="0">
                    <a:pos x="0" y="358427"/>
                  </a:cxn>
                  <a:cxn ang="0">
                    <a:pos x="11907" y="158421"/>
                  </a:cxn>
                  <a:cxn ang="0">
                    <a:pos x="25773" y="58138"/>
                  </a:cxn>
                  <a:cxn ang="0">
                    <a:pos x="45593" y="8338"/>
                  </a:cxn>
                  <a:cxn ang="0">
                    <a:pos x="55523" y="8338"/>
                  </a:cxn>
                </a:cxnLst>
                <a:pathLst>
                  <a:path w="1344" h="344">
                    <a:moveTo>
                      <a:pt x="0" y="344"/>
                    </a:moveTo>
                    <a:cubicBezTo>
                      <a:pt x="92" y="272"/>
                      <a:pt x="184" y="200"/>
                      <a:pt x="288" y="152"/>
                    </a:cubicBezTo>
                    <a:cubicBezTo>
                      <a:pt x="392" y="104"/>
                      <a:pt x="488" y="80"/>
                      <a:pt x="624" y="56"/>
                    </a:cubicBezTo>
                    <a:cubicBezTo>
                      <a:pt x="760" y="32"/>
                      <a:pt x="984" y="16"/>
                      <a:pt x="1104" y="8"/>
                    </a:cubicBezTo>
                    <a:cubicBezTo>
                      <a:pt x="1224" y="0"/>
                      <a:pt x="1304" y="8"/>
                      <a:pt x="1344" y="8"/>
                    </a:cubicBezTo>
                  </a:path>
                </a:pathLst>
              </a:custGeom>
              <a:noFill/>
              <a:ln w="28575" cap="flat" cmpd="sng">
                <a:solidFill>
                  <a:srgbClr val="FF3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1704" name="AutoShape 21"/>
              <p:cNvSpPr/>
              <p:nvPr/>
            </p:nvSpPr>
            <p:spPr>
              <a:xfrm>
                <a:off x="2653" y="1616"/>
                <a:ext cx="1096" cy="330"/>
              </a:xfrm>
              <a:prstGeom prst="wedgeRectCallout">
                <a:avLst>
                  <a:gd name="adj1" fmla="val -51458"/>
                  <a:gd name="adj2" fmla="val 186366"/>
                </a:avLst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anchor="ctr" anchorCtr="0"/>
              <a:p>
                <a:pPr eaLnBrk="1" hangingPunct="1"/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全响应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71702" name="Line 20"/>
            <p:cNvSpPr/>
            <p:nvPr/>
          </p:nvSpPr>
          <p:spPr>
            <a:xfrm>
              <a:off x="1746" y="2795"/>
              <a:ext cx="28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5345" name="Group 49"/>
          <p:cNvGrpSpPr/>
          <p:nvPr/>
        </p:nvGrpSpPr>
        <p:grpSpPr>
          <a:xfrm>
            <a:off x="2560638" y="3844926"/>
            <a:ext cx="5757863" cy="2319338"/>
            <a:chOff x="1613" y="2422"/>
            <a:chExt cx="3627" cy="1461"/>
          </a:xfrm>
        </p:grpSpPr>
        <p:sp>
          <p:nvSpPr>
            <p:cNvPr id="71697" name="Freeform 26"/>
            <p:cNvSpPr/>
            <p:nvPr/>
          </p:nvSpPr>
          <p:spPr>
            <a:xfrm flipV="1">
              <a:off x="2018" y="2795"/>
              <a:ext cx="1957" cy="474"/>
            </a:xfrm>
            <a:custGeom>
              <a:avLst/>
              <a:gdLst/>
              <a:ahLst/>
              <a:cxnLst>
                <a:cxn ang="0">
                  <a:pos x="0" y="11697"/>
                </a:cxn>
                <a:cxn ang="0">
                  <a:pos x="17949" y="5163"/>
                </a:cxn>
                <a:cxn ang="0">
                  <a:pos x="38952" y="1897"/>
                </a:cxn>
                <a:cxn ang="0">
                  <a:pos x="68893" y="276"/>
                </a:cxn>
                <a:cxn ang="0">
                  <a:pos x="83866" y="276"/>
                </a:cxn>
              </a:cxnLst>
              <a:pathLst>
                <a:path w="1344" h="344">
                  <a:moveTo>
                    <a:pt x="0" y="344"/>
                  </a:moveTo>
                  <a:cubicBezTo>
                    <a:pt x="92" y="272"/>
                    <a:pt x="184" y="200"/>
                    <a:pt x="288" y="152"/>
                  </a:cubicBezTo>
                  <a:cubicBezTo>
                    <a:pt x="392" y="104"/>
                    <a:pt x="488" y="80"/>
                    <a:pt x="624" y="56"/>
                  </a:cubicBezTo>
                  <a:cubicBezTo>
                    <a:pt x="760" y="32"/>
                    <a:pt x="984" y="16"/>
                    <a:pt x="1104" y="8"/>
                  </a:cubicBezTo>
                  <a:cubicBezTo>
                    <a:pt x="1224" y="0"/>
                    <a:pt x="1304" y="8"/>
                    <a:pt x="1344" y="8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1698" name="AutoShape 27" descr="花束"/>
            <p:cNvSpPr/>
            <p:nvPr/>
          </p:nvSpPr>
          <p:spPr>
            <a:xfrm>
              <a:off x="3696" y="3521"/>
              <a:ext cx="1544" cy="362"/>
            </a:xfrm>
            <a:prstGeom prst="wedgeRectCallout">
              <a:avLst>
                <a:gd name="adj1" fmla="val -87370"/>
                <a:gd name="adj2" fmla="val -130111"/>
              </a:avLst>
            </a:prstGeom>
            <a:blipFill rotWithShape="1">
              <a:blip r:embed="rId4"/>
            </a:blipFill>
            <a:ln w="9525">
              <a:noFill/>
            </a:ln>
          </p:spPr>
          <p:txBody>
            <a:bodyPr wrap="none" anchor="ctr" anchorCtr="0"/>
            <a:p>
              <a:pPr eaLnBrk="1" hangingPunct="1"/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零输入响应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699" name="Text Box 28"/>
            <p:cNvSpPr txBox="1"/>
            <p:nvPr/>
          </p:nvSpPr>
          <p:spPr>
            <a:xfrm>
              <a:off x="1613" y="2422"/>
              <a:ext cx="3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1700" name="Line 29"/>
            <p:cNvSpPr/>
            <p:nvPr/>
          </p:nvSpPr>
          <p:spPr>
            <a:xfrm>
              <a:off x="1722" y="2795"/>
              <a:ext cx="296" cy="8"/>
            </a:xfrm>
            <a:prstGeom prst="line">
              <a:avLst/>
            </a:prstGeom>
            <a:ln w="28575" cap="flat" cmpd="sng">
              <a:solidFill>
                <a:srgbClr val="66FFFF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/>
          <p:nvPr/>
        </p:nvSpPr>
        <p:spPr>
          <a:xfrm>
            <a:off x="468313" y="547211"/>
            <a:ext cx="1079500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1476375" y="547211"/>
            <a:ext cx="69850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打开，求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后的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539750" y="1194912"/>
            <a:ext cx="576263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4277" name="Text Box 5"/>
          <p:cNvSpPr txBox="1"/>
          <p:nvPr/>
        </p:nvSpPr>
        <p:spPr>
          <a:xfrm>
            <a:off x="1187450" y="1196975"/>
            <a:ext cx="5472113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电路全响应问题，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4324" name="Object 52"/>
          <p:cNvGraphicFramePr>
            <a:graphicFrameLocks noChangeAspect="1"/>
          </p:cNvGraphicFramePr>
          <p:nvPr/>
        </p:nvGraphicFramePr>
        <p:xfrm>
          <a:off x="728663" y="2997200"/>
          <a:ext cx="43068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1610995" imgH="104775" progId="Equation.3">
                  <p:embed/>
                </p:oleObj>
              </mc:Choice>
              <mc:Fallback>
                <p:oleObj name="" r:id="rId1" imgW="1610995" imgH="104775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8663" y="2997200"/>
                        <a:ext cx="4306887" cy="41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29" name="Object 57"/>
          <p:cNvGraphicFramePr>
            <a:graphicFrameLocks noChangeAspect="1"/>
          </p:cNvGraphicFramePr>
          <p:nvPr/>
        </p:nvGraphicFramePr>
        <p:xfrm>
          <a:off x="1993900" y="1800225"/>
          <a:ext cx="236061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3" imgW="862330" imgH="356870" progId="Equation.3">
                  <p:embed/>
                </p:oleObj>
              </mc:Choice>
              <mc:Fallback>
                <p:oleObj name="" r:id="rId3" imgW="862330" imgH="35687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93900" y="1800225"/>
                        <a:ext cx="2360613" cy="1019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94" name="Group 122"/>
          <p:cNvGrpSpPr/>
          <p:nvPr/>
        </p:nvGrpSpPr>
        <p:grpSpPr>
          <a:xfrm>
            <a:off x="539750" y="3716338"/>
            <a:ext cx="4846638" cy="639762"/>
            <a:chOff x="385" y="2478"/>
            <a:chExt cx="3053" cy="403"/>
          </a:xfrm>
        </p:grpSpPr>
        <p:graphicFrame>
          <p:nvGraphicFramePr>
            <p:cNvPr id="72759" name="Object 54"/>
            <p:cNvGraphicFramePr>
              <a:graphicFrameLocks noChangeAspect="1"/>
            </p:cNvGraphicFramePr>
            <p:nvPr/>
          </p:nvGraphicFramePr>
          <p:xfrm>
            <a:off x="1736" y="2478"/>
            <a:ext cx="1702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5" imgW="853440" imgH="173990" progId="Equation.3">
                    <p:embed/>
                  </p:oleObj>
                </mc:Choice>
                <mc:Fallback>
                  <p:oleObj name="" r:id="rId5" imgW="853440" imgH="17399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36" y="2478"/>
                          <a:ext cx="1702" cy="4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60" name="Text Box 58"/>
            <p:cNvSpPr txBox="1"/>
            <p:nvPr/>
          </p:nvSpPr>
          <p:spPr>
            <a:xfrm>
              <a:off x="385" y="2523"/>
              <a:ext cx="190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零输入响应：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4392" name="Group 120"/>
          <p:cNvGrpSpPr/>
          <p:nvPr/>
        </p:nvGrpSpPr>
        <p:grpSpPr>
          <a:xfrm>
            <a:off x="468313" y="4365625"/>
            <a:ext cx="6048375" cy="1014413"/>
            <a:chOff x="385" y="2840"/>
            <a:chExt cx="3810" cy="639"/>
          </a:xfrm>
        </p:grpSpPr>
        <p:graphicFrame>
          <p:nvGraphicFramePr>
            <p:cNvPr id="72757" name="Object 53"/>
            <p:cNvGraphicFramePr>
              <a:graphicFrameLocks noChangeAspect="1"/>
            </p:cNvGraphicFramePr>
            <p:nvPr/>
          </p:nvGraphicFramePr>
          <p:xfrm>
            <a:off x="1791" y="2840"/>
            <a:ext cx="2404" cy="6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6" name="" r:id="rId7" imgW="1358265" imgH="348615" progId="Equation.3">
                    <p:embed/>
                  </p:oleObj>
                </mc:Choice>
                <mc:Fallback>
                  <p:oleObj name="" r:id="rId7" imgW="1358265" imgH="348615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2840"/>
                          <a:ext cx="2404" cy="6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58" name="Text Box 59"/>
            <p:cNvSpPr txBox="1"/>
            <p:nvPr/>
          </p:nvSpPr>
          <p:spPr>
            <a:xfrm>
              <a:off x="385" y="2976"/>
              <a:ext cx="176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零状态响应：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4393" name="Group 121"/>
          <p:cNvGrpSpPr/>
          <p:nvPr/>
        </p:nvGrpSpPr>
        <p:grpSpPr>
          <a:xfrm>
            <a:off x="468313" y="5516563"/>
            <a:ext cx="8047037" cy="649287"/>
            <a:chOff x="295" y="3475"/>
            <a:chExt cx="5069" cy="409"/>
          </a:xfrm>
        </p:grpSpPr>
        <p:graphicFrame>
          <p:nvGraphicFramePr>
            <p:cNvPr id="72755" name="Object 55"/>
            <p:cNvGraphicFramePr>
              <a:graphicFrameLocks noChangeAspect="1"/>
            </p:cNvGraphicFramePr>
            <p:nvPr/>
          </p:nvGraphicFramePr>
          <p:xfrm>
            <a:off x="1301" y="3475"/>
            <a:ext cx="406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9" imgW="2368550" imgH="173990" progId="Equation.3">
                    <p:embed/>
                  </p:oleObj>
                </mc:Choice>
                <mc:Fallback>
                  <p:oleObj name="" r:id="rId9" imgW="2368550" imgH="17399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01" y="3475"/>
                          <a:ext cx="4063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56" name="Text Box 60"/>
            <p:cNvSpPr txBox="1"/>
            <p:nvPr/>
          </p:nvSpPr>
          <p:spPr>
            <a:xfrm>
              <a:off x="295" y="3475"/>
              <a:ext cx="113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全响应：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54361" name="Group 89"/>
          <p:cNvGrpSpPr/>
          <p:nvPr/>
        </p:nvGrpSpPr>
        <p:grpSpPr>
          <a:xfrm>
            <a:off x="5076825" y="1341438"/>
            <a:ext cx="3873501" cy="2376487"/>
            <a:chOff x="2608" y="2160"/>
            <a:chExt cx="2440" cy="1497"/>
          </a:xfrm>
        </p:grpSpPr>
        <p:sp>
          <p:nvSpPr>
            <p:cNvPr id="72721" name="Oval 90"/>
            <p:cNvSpPr/>
            <p:nvPr/>
          </p:nvSpPr>
          <p:spPr>
            <a:xfrm>
              <a:off x="2608" y="293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722" name="Line 91"/>
            <p:cNvSpPr/>
            <p:nvPr/>
          </p:nvSpPr>
          <p:spPr>
            <a:xfrm>
              <a:off x="4740" y="2614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23" name="Text Box 92"/>
            <p:cNvSpPr txBox="1"/>
            <p:nvPr/>
          </p:nvSpPr>
          <p:spPr>
            <a:xfrm>
              <a:off x="4755" y="2541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4" name="Text Box 93"/>
            <p:cNvSpPr txBox="1"/>
            <p:nvPr/>
          </p:nvSpPr>
          <p:spPr>
            <a:xfrm>
              <a:off x="2998" y="2594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5" name="Text Box 94"/>
            <p:cNvSpPr txBox="1"/>
            <p:nvPr/>
          </p:nvSpPr>
          <p:spPr>
            <a:xfrm>
              <a:off x="2789" y="2639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6" name="Text Box 95"/>
            <p:cNvSpPr txBox="1"/>
            <p:nvPr/>
          </p:nvSpPr>
          <p:spPr>
            <a:xfrm>
              <a:off x="2789" y="3229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7" name="Text Box 96"/>
            <p:cNvSpPr txBox="1"/>
            <p:nvPr/>
          </p:nvSpPr>
          <p:spPr>
            <a:xfrm>
              <a:off x="2925" y="3002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24V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8" name="Text Box 97"/>
            <p:cNvSpPr txBox="1"/>
            <p:nvPr/>
          </p:nvSpPr>
          <p:spPr>
            <a:xfrm rot="5400000">
              <a:off x="4605" y="2975"/>
              <a:ext cx="5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0.6H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29" name="Line 98"/>
            <p:cNvSpPr/>
            <p:nvPr/>
          </p:nvSpPr>
          <p:spPr>
            <a:xfrm flipH="1">
              <a:off x="3545" y="2614"/>
              <a:ext cx="110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2730" name="Line 99"/>
            <p:cNvSpPr/>
            <p:nvPr/>
          </p:nvSpPr>
          <p:spPr>
            <a:xfrm flipH="1">
              <a:off x="2789" y="2614"/>
              <a:ext cx="4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2731" name="Line 100"/>
            <p:cNvSpPr/>
            <p:nvPr/>
          </p:nvSpPr>
          <p:spPr>
            <a:xfrm>
              <a:off x="2789" y="3657"/>
              <a:ext cx="18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2" name="Line 101"/>
            <p:cNvSpPr/>
            <p:nvPr/>
          </p:nvSpPr>
          <p:spPr>
            <a:xfrm flipH="1" flipV="1">
              <a:off x="4643" y="3385"/>
              <a:ext cx="6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3" name="Line 102"/>
            <p:cNvSpPr/>
            <p:nvPr/>
          </p:nvSpPr>
          <p:spPr>
            <a:xfrm flipH="1">
              <a:off x="4649" y="2614"/>
              <a:ext cx="6" cy="3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4" name="Line 103"/>
            <p:cNvSpPr/>
            <p:nvPr/>
          </p:nvSpPr>
          <p:spPr>
            <a:xfrm flipV="1">
              <a:off x="3243" y="2523"/>
              <a:ext cx="360" cy="6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5" name="Line 104"/>
            <p:cNvSpPr/>
            <p:nvPr/>
          </p:nvSpPr>
          <p:spPr>
            <a:xfrm flipH="1" flipV="1">
              <a:off x="3288" y="2341"/>
              <a:ext cx="85" cy="22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2736" name="Line 105"/>
            <p:cNvSpPr/>
            <p:nvPr/>
          </p:nvSpPr>
          <p:spPr>
            <a:xfrm>
              <a:off x="2789" y="2614"/>
              <a:ext cx="0" cy="104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37" name="Text Box 106"/>
            <p:cNvSpPr txBox="1"/>
            <p:nvPr/>
          </p:nvSpPr>
          <p:spPr>
            <a:xfrm>
              <a:off x="3994" y="2231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38" name="Text Box 107"/>
            <p:cNvSpPr txBox="1"/>
            <p:nvPr/>
          </p:nvSpPr>
          <p:spPr>
            <a:xfrm>
              <a:off x="4377" y="268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39" name="Text Box 108"/>
            <p:cNvSpPr txBox="1"/>
            <p:nvPr/>
          </p:nvSpPr>
          <p:spPr>
            <a:xfrm>
              <a:off x="4332" y="3275"/>
              <a:ext cx="257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2740" name="Text Box 109"/>
            <p:cNvSpPr txBox="1"/>
            <p:nvPr/>
          </p:nvSpPr>
          <p:spPr>
            <a:xfrm>
              <a:off x="4312" y="2904"/>
              <a:ext cx="3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41" name="Text Box 110"/>
            <p:cNvSpPr txBox="1"/>
            <p:nvPr/>
          </p:nvSpPr>
          <p:spPr>
            <a:xfrm>
              <a:off x="2905" y="221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8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2742" name="Line 111"/>
            <p:cNvSpPr/>
            <p:nvPr/>
          </p:nvSpPr>
          <p:spPr>
            <a:xfrm flipV="1">
              <a:off x="2789" y="2205"/>
              <a:ext cx="0" cy="40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2743" name="Line 112"/>
            <p:cNvSpPr/>
            <p:nvPr/>
          </p:nvSpPr>
          <p:spPr>
            <a:xfrm>
              <a:off x="2789" y="2205"/>
              <a:ext cx="10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744" name="Line 113"/>
            <p:cNvSpPr/>
            <p:nvPr/>
          </p:nvSpPr>
          <p:spPr>
            <a:xfrm>
              <a:off x="3833" y="2205"/>
              <a:ext cx="0" cy="40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2745" name="Rectangle 114"/>
            <p:cNvSpPr/>
            <p:nvPr/>
          </p:nvSpPr>
          <p:spPr>
            <a:xfrm>
              <a:off x="4059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2746" name="Rectangle 115"/>
            <p:cNvSpPr/>
            <p:nvPr/>
          </p:nvSpPr>
          <p:spPr>
            <a:xfrm>
              <a:off x="3107" y="216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2747" name="Group 116"/>
            <p:cNvGrpSpPr/>
            <p:nvPr/>
          </p:nvGrpSpPr>
          <p:grpSpPr>
            <a:xfrm rot="5400000">
              <a:off x="4195" y="2885"/>
              <a:ext cx="499" cy="590"/>
              <a:chOff x="476" y="663"/>
              <a:chExt cx="771" cy="862"/>
            </a:xfrm>
          </p:grpSpPr>
          <p:sp>
            <p:nvSpPr>
              <p:cNvPr id="72748" name="AutoShape 117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749" name="AutoShape 118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2750" name="AutoShape 119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54274" grpId="0"/>
      <p:bldP spid="54275" grpId="0"/>
      <p:bldP spid="54276" grpId="0" animBg="1"/>
      <p:bldP spid="5427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Text Box 2"/>
          <p:cNvSpPr txBox="1"/>
          <p:nvPr/>
        </p:nvSpPr>
        <p:spPr>
          <a:xfrm>
            <a:off x="323850" y="476250"/>
            <a:ext cx="37433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或求出稳态分量：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22883" name="Object 3"/>
          <p:cNvGraphicFramePr>
            <a:graphicFrameLocks noChangeAspect="1"/>
          </p:cNvGraphicFramePr>
          <p:nvPr/>
        </p:nvGraphicFramePr>
        <p:xfrm>
          <a:off x="3492500" y="476250"/>
          <a:ext cx="34496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1" imgW="1219200" imgH="147955" progId="Equation.3">
                  <p:embed/>
                </p:oleObj>
              </mc:Choice>
              <mc:Fallback>
                <p:oleObj name="" r:id="rId1" imgW="1219200" imgH="147955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476250"/>
                        <a:ext cx="3449638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884" name="Group 4"/>
          <p:cNvGrpSpPr/>
          <p:nvPr/>
        </p:nvGrpSpPr>
        <p:grpSpPr>
          <a:xfrm>
            <a:off x="1747838" y="981075"/>
            <a:ext cx="5129212" cy="614005"/>
            <a:chOff x="249" y="598"/>
            <a:chExt cx="3367" cy="436"/>
          </a:xfrm>
        </p:grpSpPr>
        <p:sp>
          <p:nvSpPr>
            <p:cNvPr id="73787" name="Text Box 5"/>
            <p:cNvSpPr txBox="1"/>
            <p:nvPr/>
          </p:nvSpPr>
          <p:spPr>
            <a:xfrm>
              <a:off x="249" y="663"/>
              <a:ext cx="1134" cy="3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全响应：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73788" name="Object 6"/>
            <p:cNvGraphicFramePr>
              <a:graphicFrameLocks noChangeAspect="1"/>
            </p:cNvGraphicFramePr>
            <p:nvPr/>
          </p:nvGraphicFramePr>
          <p:xfrm>
            <a:off x="1387" y="598"/>
            <a:ext cx="2229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7" name="" r:id="rId3" imgW="1114425" imgH="173990" progId="Equation.3">
                    <p:embed/>
                  </p:oleObj>
                </mc:Choice>
                <mc:Fallback>
                  <p:oleObj name="" r:id="rId3" imgW="1114425" imgH="17399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87" y="598"/>
                          <a:ext cx="2229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887" name="Text Box 7"/>
          <p:cNvSpPr txBox="1"/>
          <p:nvPr/>
        </p:nvSpPr>
        <p:spPr>
          <a:xfrm>
            <a:off x="1042988" y="1700213"/>
            <a:ext cx="29527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代入初值有：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88" name="Text Box 8"/>
          <p:cNvSpPr txBox="1"/>
          <p:nvPr/>
        </p:nvSpPr>
        <p:spPr>
          <a:xfrm>
            <a:off x="3563938" y="1700213"/>
            <a:ext cx="24479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6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＝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endParaRPr lang="en-US" altLang="zh-CN" sz="3200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89" name="Line 9"/>
          <p:cNvSpPr/>
          <p:nvPr/>
        </p:nvSpPr>
        <p:spPr>
          <a:xfrm>
            <a:off x="5435600" y="1989138"/>
            <a:ext cx="6477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2890" name="Text Box 10"/>
          <p:cNvSpPr txBox="1"/>
          <p:nvPr/>
        </p:nvSpPr>
        <p:spPr>
          <a:xfrm>
            <a:off x="6227763" y="1700213"/>
            <a:ext cx="13684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91" name="Text Box 11"/>
          <p:cNvSpPr txBox="1"/>
          <p:nvPr/>
        </p:nvSpPr>
        <p:spPr>
          <a:xfrm>
            <a:off x="396875" y="2460149"/>
            <a:ext cx="1079500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92" name="Text Box 12"/>
          <p:cNvSpPr txBox="1"/>
          <p:nvPr/>
        </p:nvSpPr>
        <p:spPr>
          <a:xfrm>
            <a:off x="1476375" y="2344897"/>
            <a:ext cx="7056438" cy="11982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，求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后的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及电流源两端的电压。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93" name="Text Box 13"/>
          <p:cNvSpPr txBox="1"/>
          <p:nvPr/>
        </p:nvSpPr>
        <p:spPr>
          <a:xfrm>
            <a:off x="395288" y="3787299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2894" name="Text Box 14"/>
          <p:cNvSpPr txBox="1"/>
          <p:nvPr/>
        </p:nvSpPr>
        <p:spPr>
          <a:xfrm>
            <a:off x="1187450" y="3644900"/>
            <a:ext cx="3024188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电路全响应问题，有：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22932" name="Object 52"/>
          <p:cNvGraphicFramePr>
            <a:graphicFrameLocks noChangeAspect="1"/>
          </p:cNvGraphicFramePr>
          <p:nvPr/>
        </p:nvGraphicFramePr>
        <p:xfrm>
          <a:off x="4284663" y="2997200"/>
          <a:ext cx="35798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5" imgW="1332230" imgH="173990" progId="Equation.3">
                  <p:embed/>
                </p:oleObj>
              </mc:Choice>
              <mc:Fallback>
                <p:oleObj name="" r:id="rId5" imgW="1332230" imgH="17399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4663" y="2997200"/>
                        <a:ext cx="3579812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9" name="Text Box 99"/>
          <p:cNvSpPr txBox="1"/>
          <p:nvPr/>
        </p:nvSpPr>
        <p:spPr>
          <a:xfrm>
            <a:off x="827088" y="4797425"/>
            <a:ext cx="28082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稳态分量：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22980" name="Object 100"/>
          <p:cNvGraphicFramePr>
            <a:graphicFrameLocks noChangeAspect="1"/>
          </p:cNvGraphicFramePr>
          <p:nvPr/>
        </p:nvGraphicFramePr>
        <p:xfrm>
          <a:off x="684213" y="5445125"/>
          <a:ext cx="360521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7" imgW="1280160" imgH="147955" progId="Equation.3">
                  <p:embed/>
                </p:oleObj>
              </mc:Choice>
              <mc:Fallback>
                <p:oleObj name="" r:id="rId7" imgW="1280160" imgH="147955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5445125"/>
                        <a:ext cx="3605212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019" name="Group 139"/>
          <p:cNvGrpSpPr/>
          <p:nvPr/>
        </p:nvGrpSpPr>
        <p:grpSpPr>
          <a:xfrm>
            <a:off x="4500563" y="4005263"/>
            <a:ext cx="4129088" cy="2071687"/>
            <a:chOff x="2835" y="2523"/>
            <a:chExt cx="2601" cy="1305"/>
          </a:xfrm>
        </p:grpSpPr>
        <p:sp>
          <p:nvSpPr>
            <p:cNvPr id="73748" name="Line 102"/>
            <p:cNvSpPr/>
            <p:nvPr/>
          </p:nvSpPr>
          <p:spPr>
            <a:xfrm>
              <a:off x="4921" y="2523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49" name="Oval 104"/>
            <p:cNvSpPr/>
            <p:nvPr/>
          </p:nvSpPr>
          <p:spPr>
            <a:xfrm>
              <a:off x="283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50" name="Text Box 105"/>
            <p:cNvSpPr txBox="1"/>
            <p:nvPr/>
          </p:nvSpPr>
          <p:spPr>
            <a:xfrm>
              <a:off x="3062" y="2866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1" name="Text Box 106"/>
            <p:cNvSpPr txBox="1"/>
            <p:nvPr/>
          </p:nvSpPr>
          <p:spPr>
            <a:xfrm>
              <a:off x="3016" y="3411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2" name="Text Box 107"/>
            <p:cNvSpPr txBox="1"/>
            <p:nvPr/>
          </p:nvSpPr>
          <p:spPr>
            <a:xfrm>
              <a:off x="3107" y="3138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3" name="Text Box 108"/>
            <p:cNvSpPr txBox="1"/>
            <p:nvPr/>
          </p:nvSpPr>
          <p:spPr>
            <a:xfrm>
              <a:off x="4514" y="297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4" name="Line 109"/>
            <p:cNvSpPr/>
            <p:nvPr/>
          </p:nvSpPr>
          <p:spPr>
            <a:xfrm>
              <a:off x="3016" y="3748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55" name="Line 110"/>
            <p:cNvSpPr/>
            <p:nvPr/>
          </p:nvSpPr>
          <p:spPr>
            <a:xfrm flipH="1" flipV="1">
              <a:off x="3697" y="2977"/>
              <a:ext cx="136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56" name="Line 111"/>
            <p:cNvSpPr/>
            <p:nvPr/>
          </p:nvSpPr>
          <p:spPr>
            <a:xfrm flipV="1">
              <a:off x="3651" y="3022"/>
              <a:ext cx="272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57" name="Text Box 112"/>
            <p:cNvSpPr txBox="1"/>
            <p:nvPr/>
          </p:nvSpPr>
          <p:spPr>
            <a:xfrm>
              <a:off x="4448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8" name="Text Box 113"/>
            <p:cNvSpPr txBox="1"/>
            <p:nvPr/>
          </p:nvSpPr>
          <p:spPr>
            <a:xfrm>
              <a:off x="3878" y="3048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59" name="Text Box 114"/>
            <p:cNvSpPr txBox="1"/>
            <p:nvPr/>
          </p:nvSpPr>
          <p:spPr>
            <a:xfrm>
              <a:off x="3878" y="3521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60" name="Text Box 115"/>
            <p:cNvSpPr txBox="1"/>
            <p:nvPr/>
          </p:nvSpPr>
          <p:spPr>
            <a:xfrm>
              <a:off x="3960" y="3275"/>
              <a:ext cx="32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61" name="Text Box 116"/>
            <p:cNvSpPr txBox="1"/>
            <p:nvPr/>
          </p:nvSpPr>
          <p:spPr>
            <a:xfrm>
              <a:off x="2996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62" name="Line 117"/>
            <p:cNvSpPr/>
            <p:nvPr/>
          </p:nvSpPr>
          <p:spPr>
            <a:xfrm>
              <a:off x="3016" y="2523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3763" name="Line 118"/>
            <p:cNvSpPr/>
            <p:nvPr/>
          </p:nvSpPr>
          <p:spPr>
            <a:xfrm>
              <a:off x="3833" y="2523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3764" name="Line 119"/>
            <p:cNvSpPr/>
            <p:nvPr/>
          </p:nvSpPr>
          <p:spPr>
            <a:xfrm>
              <a:off x="3833" y="3204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3765" name="Line 120"/>
            <p:cNvSpPr/>
            <p:nvPr/>
          </p:nvSpPr>
          <p:spPr>
            <a:xfrm>
              <a:off x="3833" y="3521"/>
              <a:ext cx="0" cy="2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3766" name="Line 121"/>
            <p:cNvSpPr/>
            <p:nvPr/>
          </p:nvSpPr>
          <p:spPr>
            <a:xfrm>
              <a:off x="3016" y="2523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3767" name="Group 122"/>
            <p:cNvGrpSpPr/>
            <p:nvPr/>
          </p:nvGrpSpPr>
          <p:grpSpPr>
            <a:xfrm>
              <a:off x="3697" y="3431"/>
              <a:ext cx="272" cy="91"/>
              <a:chOff x="930" y="3430"/>
              <a:chExt cx="227" cy="91"/>
            </a:xfrm>
          </p:grpSpPr>
          <p:sp>
            <p:nvSpPr>
              <p:cNvPr id="73779" name="Line 123"/>
              <p:cNvSpPr/>
              <p:nvPr/>
            </p:nvSpPr>
            <p:spPr>
              <a:xfrm>
                <a:off x="930" y="3430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3780" name="Line 124"/>
              <p:cNvSpPr/>
              <p:nvPr/>
            </p:nvSpPr>
            <p:spPr>
              <a:xfrm>
                <a:off x="930" y="3521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3768" name="Line 126"/>
            <p:cNvSpPr/>
            <p:nvPr/>
          </p:nvSpPr>
          <p:spPr>
            <a:xfrm flipV="1">
              <a:off x="4921" y="3022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9" name="Text Box 127"/>
            <p:cNvSpPr txBox="1"/>
            <p:nvPr/>
          </p:nvSpPr>
          <p:spPr>
            <a:xfrm>
              <a:off x="5027" y="3047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70" name="Text Box 128"/>
            <p:cNvSpPr txBox="1"/>
            <p:nvPr/>
          </p:nvSpPr>
          <p:spPr>
            <a:xfrm>
              <a:off x="4982" y="3540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71" name="Text Box 129"/>
            <p:cNvSpPr txBox="1"/>
            <p:nvPr/>
          </p:nvSpPr>
          <p:spPr>
            <a:xfrm>
              <a:off x="5193" y="3246"/>
              <a:ext cx="24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72" name="Text Box 130"/>
            <p:cNvSpPr txBox="1"/>
            <p:nvPr/>
          </p:nvSpPr>
          <p:spPr>
            <a:xfrm>
              <a:off x="3858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3773" name="Rectangle 131"/>
            <p:cNvSpPr/>
            <p:nvPr/>
          </p:nvSpPr>
          <p:spPr>
            <a:xfrm>
              <a:off x="484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74" name="Rectangle 132"/>
            <p:cNvSpPr/>
            <p:nvPr/>
          </p:nvSpPr>
          <p:spPr>
            <a:xfrm>
              <a:off x="3751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3775" name="Rectangle 133"/>
            <p:cNvSpPr/>
            <p:nvPr/>
          </p:nvSpPr>
          <p:spPr>
            <a:xfrm>
              <a:off x="292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3776" name="Group 137"/>
            <p:cNvGrpSpPr/>
            <p:nvPr/>
          </p:nvGrpSpPr>
          <p:grpSpPr>
            <a:xfrm>
              <a:off x="4740" y="3294"/>
              <a:ext cx="363" cy="363"/>
              <a:chOff x="4740" y="3294"/>
              <a:chExt cx="363" cy="363"/>
            </a:xfrm>
          </p:grpSpPr>
          <p:sp>
            <p:nvSpPr>
              <p:cNvPr id="73777" name="Oval 103"/>
              <p:cNvSpPr/>
              <p:nvPr/>
            </p:nvSpPr>
            <p:spPr>
              <a:xfrm>
                <a:off x="4740" y="329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3778" name="Line 125"/>
              <p:cNvSpPr/>
              <p:nvPr/>
            </p:nvSpPr>
            <p:spPr>
              <a:xfrm>
                <a:off x="4740" y="3475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22882" grpId="0"/>
      <p:bldP spid="122887" grpId="0"/>
      <p:bldP spid="122888" grpId="0"/>
      <p:bldP spid="122890" grpId="0"/>
      <p:bldP spid="122891" grpId="0"/>
      <p:bldP spid="122892" grpId="0"/>
      <p:bldP spid="122893" grpId="0" animBg="1"/>
      <p:bldP spid="122894" grpId="0"/>
      <p:bldP spid="1229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971550" y="2565400"/>
          <a:ext cx="39528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1" imgW="1254125" imgH="173990" progId="Equation.3">
                  <p:embed/>
                </p:oleObj>
              </mc:Choice>
              <mc:Fallback>
                <p:oleObj name="" r:id="rId1" imgW="1254125" imgH="17399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565400"/>
                        <a:ext cx="395287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900113" y="3413125"/>
          <a:ext cx="402272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3" imgW="1280160" imgH="348615" progId="Equation.3">
                  <p:embed/>
                </p:oleObj>
              </mc:Choice>
              <mc:Fallback>
                <p:oleObj name="" r:id="rId3" imgW="1280160" imgH="348615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3413125"/>
                        <a:ext cx="4022725" cy="116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98" name="Object 74"/>
          <p:cNvGraphicFramePr>
            <a:graphicFrameLocks noChangeAspect="1"/>
          </p:cNvGraphicFramePr>
          <p:nvPr/>
        </p:nvGraphicFramePr>
        <p:xfrm>
          <a:off x="862013" y="4724400"/>
          <a:ext cx="70072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5" imgW="2281555" imgH="173990" progId="Equation.3">
                  <p:embed/>
                </p:oleObj>
              </mc:Choice>
              <mc:Fallback>
                <p:oleObj name="" r:id="rId5" imgW="2281555" imgH="17399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62013" y="4724400"/>
                        <a:ext cx="7007225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44" name="Object 120"/>
          <p:cNvGraphicFramePr>
            <a:graphicFrameLocks noChangeAspect="1"/>
          </p:cNvGraphicFramePr>
          <p:nvPr/>
        </p:nvGraphicFramePr>
        <p:xfrm>
          <a:off x="2455863" y="549275"/>
          <a:ext cx="38608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7" imgW="1445895" imgH="139065" progId="Equation.3">
                  <p:embed/>
                </p:oleObj>
              </mc:Choice>
              <mc:Fallback>
                <p:oleObj name="" r:id="rId7" imgW="1445895" imgH="139065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55863" y="549275"/>
                        <a:ext cx="3860800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348" name="Group 124"/>
          <p:cNvGrpSpPr/>
          <p:nvPr/>
        </p:nvGrpSpPr>
        <p:grpSpPr>
          <a:xfrm>
            <a:off x="755650" y="1268413"/>
            <a:ext cx="5545138" cy="631825"/>
            <a:chOff x="385" y="709"/>
            <a:chExt cx="3582" cy="409"/>
          </a:xfrm>
        </p:grpSpPr>
        <p:sp>
          <p:nvSpPr>
            <p:cNvPr id="74798" name="Text Box 122"/>
            <p:cNvSpPr txBox="1"/>
            <p:nvPr/>
          </p:nvSpPr>
          <p:spPr>
            <a:xfrm>
              <a:off x="385" y="754"/>
              <a:ext cx="1134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全响应：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74799" name="Object 123"/>
            <p:cNvGraphicFramePr>
              <a:graphicFrameLocks noChangeAspect="1"/>
            </p:cNvGraphicFramePr>
            <p:nvPr/>
          </p:nvGraphicFramePr>
          <p:xfrm>
            <a:off x="1519" y="709"/>
            <a:ext cx="244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2" name="" r:id="rId9" imgW="1228090" imgH="173990" progId="Equation.3">
                    <p:embed/>
                  </p:oleObj>
                </mc:Choice>
                <mc:Fallback>
                  <p:oleObj name="" r:id="rId9" imgW="1228090" imgH="173990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19" y="709"/>
                          <a:ext cx="2448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762" name="Group 195"/>
          <p:cNvGrpSpPr/>
          <p:nvPr/>
        </p:nvGrpSpPr>
        <p:grpSpPr>
          <a:xfrm>
            <a:off x="5003800" y="1989138"/>
            <a:ext cx="4129088" cy="2071687"/>
            <a:chOff x="2835" y="2523"/>
            <a:chExt cx="2601" cy="1305"/>
          </a:xfrm>
        </p:grpSpPr>
        <p:sp>
          <p:nvSpPr>
            <p:cNvPr id="74763" name="Line 196"/>
            <p:cNvSpPr/>
            <p:nvPr/>
          </p:nvSpPr>
          <p:spPr>
            <a:xfrm>
              <a:off x="4921" y="2523"/>
              <a:ext cx="0" cy="122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64" name="Oval 197"/>
            <p:cNvSpPr/>
            <p:nvPr/>
          </p:nvSpPr>
          <p:spPr>
            <a:xfrm>
              <a:off x="2835" y="311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4765" name="Text Box 198"/>
            <p:cNvSpPr txBox="1"/>
            <p:nvPr/>
          </p:nvSpPr>
          <p:spPr>
            <a:xfrm>
              <a:off x="3062" y="2866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66" name="Text Box 199"/>
            <p:cNvSpPr txBox="1"/>
            <p:nvPr/>
          </p:nvSpPr>
          <p:spPr>
            <a:xfrm>
              <a:off x="3016" y="3411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67" name="Text Box 200"/>
            <p:cNvSpPr txBox="1"/>
            <p:nvPr/>
          </p:nvSpPr>
          <p:spPr>
            <a:xfrm>
              <a:off x="3107" y="3138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68" name="Text Box 201"/>
            <p:cNvSpPr txBox="1"/>
            <p:nvPr/>
          </p:nvSpPr>
          <p:spPr>
            <a:xfrm>
              <a:off x="4514" y="297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69" name="Line 202"/>
            <p:cNvSpPr/>
            <p:nvPr/>
          </p:nvSpPr>
          <p:spPr>
            <a:xfrm>
              <a:off x="3016" y="3748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0" name="Line 203"/>
            <p:cNvSpPr/>
            <p:nvPr/>
          </p:nvSpPr>
          <p:spPr>
            <a:xfrm flipH="1" flipV="1">
              <a:off x="3697" y="2977"/>
              <a:ext cx="136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1" name="Line 204"/>
            <p:cNvSpPr/>
            <p:nvPr/>
          </p:nvSpPr>
          <p:spPr>
            <a:xfrm flipV="1">
              <a:off x="3651" y="3022"/>
              <a:ext cx="272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72" name="Text Box 205"/>
            <p:cNvSpPr txBox="1"/>
            <p:nvPr/>
          </p:nvSpPr>
          <p:spPr>
            <a:xfrm>
              <a:off x="4448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73" name="Text Box 206"/>
            <p:cNvSpPr txBox="1"/>
            <p:nvPr/>
          </p:nvSpPr>
          <p:spPr>
            <a:xfrm>
              <a:off x="3878" y="3048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74" name="Text Box 207"/>
            <p:cNvSpPr txBox="1"/>
            <p:nvPr/>
          </p:nvSpPr>
          <p:spPr>
            <a:xfrm>
              <a:off x="3878" y="3521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775" name="Text Box 208"/>
            <p:cNvSpPr txBox="1"/>
            <p:nvPr/>
          </p:nvSpPr>
          <p:spPr>
            <a:xfrm>
              <a:off x="3960" y="3275"/>
              <a:ext cx="32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76" name="Text Box 209"/>
            <p:cNvSpPr txBox="1"/>
            <p:nvPr/>
          </p:nvSpPr>
          <p:spPr>
            <a:xfrm>
              <a:off x="2996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77" name="Line 210"/>
            <p:cNvSpPr/>
            <p:nvPr/>
          </p:nvSpPr>
          <p:spPr>
            <a:xfrm>
              <a:off x="3016" y="2523"/>
              <a:ext cx="0" cy="1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4778" name="Line 211"/>
            <p:cNvSpPr/>
            <p:nvPr/>
          </p:nvSpPr>
          <p:spPr>
            <a:xfrm>
              <a:off x="3833" y="2523"/>
              <a:ext cx="0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4779" name="Line 212"/>
            <p:cNvSpPr/>
            <p:nvPr/>
          </p:nvSpPr>
          <p:spPr>
            <a:xfrm>
              <a:off x="3833" y="3204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4780" name="Line 213"/>
            <p:cNvSpPr/>
            <p:nvPr/>
          </p:nvSpPr>
          <p:spPr>
            <a:xfrm>
              <a:off x="3833" y="3521"/>
              <a:ext cx="0" cy="22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4781" name="Line 214"/>
            <p:cNvSpPr/>
            <p:nvPr/>
          </p:nvSpPr>
          <p:spPr>
            <a:xfrm>
              <a:off x="3016" y="2523"/>
              <a:ext cx="190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74782" name="Group 215"/>
            <p:cNvGrpSpPr/>
            <p:nvPr/>
          </p:nvGrpSpPr>
          <p:grpSpPr>
            <a:xfrm>
              <a:off x="3697" y="3431"/>
              <a:ext cx="272" cy="91"/>
              <a:chOff x="930" y="3430"/>
              <a:chExt cx="227" cy="91"/>
            </a:xfrm>
          </p:grpSpPr>
          <p:sp>
            <p:nvSpPr>
              <p:cNvPr id="74794" name="Line 216"/>
              <p:cNvSpPr/>
              <p:nvPr/>
            </p:nvSpPr>
            <p:spPr>
              <a:xfrm>
                <a:off x="930" y="3430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4795" name="Line 217"/>
              <p:cNvSpPr/>
              <p:nvPr/>
            </p:nvSpPr>
            <p:spPr>
              <a:xfrm>
                <a:off x="930" y="3521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4783" name="Line 218"/>
            <p:cNvSpPr/>
            <p:nvPr/>
          </p:nvSpPr>
          <p:spPr>
            <a:xfrm flipV="1">
              <a:off x="4921" y="3022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4" name="Text Box 219"/>
            <p:cNvSpPr txBox="1"/>
            <p:nvPr/>
          </p:nvSpPr>
          <p:spPr>
            <a:xfrm>
              <a:off x="5027" y="3047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85" name="Text Box 220"/>
            <p:cNvSpPr txBox="1"/>
            <p:nvPr/>
          </p:nvSpPr>
          <p:spPr>
            <a:xfrm>
              <a:off x="4982" y="3540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786" name="Text Box 221"/>
            <p:cNvSpPr txBox="1"/>
            <p:nvPr/>
          </p:nvSpPr>
          <p:spPr>
            <a:xfrm>
              <a:off x="5193" y="3246"/>
              <a:ext cx="24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87" name="Text Box 222"/>
            <p:cNvSpPr txBox="1"/>
            <p:nvPr/>
          </p:nvSpPr>
          <p:spPr>
            <a:xfrm>
              <a:off x="3858" y="259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4788" name="Rectangle 223"/>
            <p:cNvSpPr/>
            <p:nvPr/>
          </p:nvSpPr>
          <p:spPr>
            <a:xfrm>
              <a:off x="4840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4789" name="Rectangle 224"/>
            <p:cNvSpPr/>
            <p:nvPr/>
          </p:nvSpPr>
          <p:spPr>
            <a:xfrm>
              <a:off x="3751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4790" name="Rectangle 225"/>
            <p:cNvSpPr/>
            <p:nvPr/>
          </p:nvSpPr>
          <p:spPr>
            <a:xfrm>
              <a:off x="2925" y="2614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4791" name="Group 226"/>
            <p:cNvGrpSpPr/>
            <p:nvPr/>
          </p:nvGrpSpPr>
          <p:grpSpPr>
            <a:xfrm>
              <a:off x="4740" y="3294"/>
              <a:ext cx="363" cy="363"/>
              <a:chOff x="4740" y="3294"/>
              <a:chExt cx="363" cy="363"/>
            </a:xfrm>
          </p:grpSpPr>
          <p:sp>
            <p:nvSpPr>
              <p:cNvPr id="74792" name="Oval 227"/>
              <p:cNvSpPr/>
              <p:nvPr/>
            </p:nvSpPr>
            <p:spPr>
              <a:xfrm>
                <a:off x="4740" y="329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4793" name="Line 228"/>
              <p:cNvSpPr/>
              <p:nvPr/>
            </p:nvSpPr>
            <p:spPr>
              <a:xfrm>
                <a:off x="4740" y="3475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4" name="Text Box 4"/>
          <p:cNvSpPr txBox="1"/>
          <p:nvPr/>
        </p:nvSpPr>
        <p:spPr>
          <a:xfrm>
            <a:off x="611188" y="620713"/>
            <a:ext cx="5400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3. 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三要素法分析一阶电路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1207" name="Text Box 7"/>
          <p:cNvSpPr txBox="1"/>
          <p:nvPr/>
        </p:nvSpPr>
        <p:spPr>
          <a:xfrm>
            <a:off x="611188" y="1340009"/>
            <a:ext cx="697547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一阶电路的数学模型是一阶线性微分方程：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1208" name="Object 8"/>
          <p:cNvGraphicFramePr>
            <a:graphicFrameLocks noChangeAspect="1"/>
          </p:cNvGraphicFramePr>
          <p:nvPr/>
        </p:nvGraphicFramePr>
        <p:xfrm>
          <a:off x="4116388" y="2781300"/>
          <a:ext cx="35067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1" imgW="1184275" imgH="252730" progId="Equation.3">
                  <p:embed/>
                </p:oleObj>
              </mc:Choice>
              <mc:Fallback>
                <p:oleObj name="" r:id="rId1" imgW="1184275" imgH="25273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6388" y="2781300"/>
                        <a:ext cx="3506787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9" name="Text Box 9"/>
          <p:cNvSpPr txBox="1"/>
          <p:nvPr/>
        </p:nvSpPr>
        <p:spPr>
          <a:xfrm>
            <a:off x="611188" y="3855562"/>
            <a:ext cx="2232025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令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2527300" y="3789363"/>
          <a:ext cx="36290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" imgW="1254125" imgH="217805" progId="Equation.3">
                  <p:embed/>
                </p:oleObj>
              </mc:Choice>
              <mc:Fallback>
                <p:oleObj name="" r:id="rId3" imgW="1254125" imgH="217805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27300" y="3789363"/>
                        <a:ext cx="3629025" cy="798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2514600" y="4652963"/>
          <a:ext cx="33956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5" imgW="1254125" imgH="217805" progId="Equation.3">
                  <p:embed/>
                </p:oleObj>
              </mc:Choice>
              <mc:Fallback>
                <p:oleObj name="" r:id="rId5" imgW="1254125" imgH="217805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14600" y="4652963"/>
                        <a:ext cx="3395663" cy="747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2601913" y="1901825"/>
          <a:ext cx="2382837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7" imgW="836295" imgH="382905" progId="Equation.3">
                  <p:embed/>
                </p:oleObj>
              </mc:Choice>
              <mc:Fallback>
                <p:oleObj name="" r:id="rId7" imgW="836295" imgH="382905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01913" y="1901825"/>
                        <a:ext cx="2382837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5" name="Text Box 15"/>
          <p:cNvSpPr txBox="1"/>
          <p:nvPr/>
        </p:nvSpPr>
        <p:spPr>
          <a:xfrm>
            <a:off x="611188" y="3052922"/>
            <a:ext cx="340042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其解答一般形式为：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1216" name="Line 16"/>
          <p:cNvSpPr/>
          <p:nvPr/>
        </p:nvSpPr>
        <p:spPr>
          <a:xfrm>
            <a:off x="1403350" y="5013325"/>
            <a:ext cx="863600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39" name="AutoShape 39"/>
          <p:cNvSpPr/>
          <p:nvPr/>
        </p:nvSpPr>
        <p:spPr>
          <a:xfrm>
            <a:off x="6516688" y="1916113"/>
            <a:ext cx="1223962" cy="647700"/>
          </a:xfrm>
          <a:prstGeom prst="wedgeEllipseCallout">
            <a:avLst>
              <a:gd name="adj1" fmla="val -94227"/>
              <a:gd name="adj2" fmla="val 135782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特解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51204" grpId="0"/>
      <p:bldP spid="51207" grpId="0" build="p"/>
      <p:bldP spid="51209" grpId="0" build="p"/>
      <p:bldP spid="51215" grpId="0"/>
      <p:bldP spid="5123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1042988" y="620713"/>
          <a:ext cx="635635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1" imgW="2387600" imgH="355600" progId="Equation.3">
                  <p:embed/>
                </p:oleObj>
              </mc:Choice>
              <mc:Fallback>
                <p:oleObj name="" r:id="rId1" imgW="2387600" imgH="3556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620713"/>
                        <a:ext cx="6356350" cy="944562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6699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539750" y="3573463"/>
          <a:ext cx="4102100" cy="157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1741805" imgH="626745" progId="Equation.3">
                  <p:embed/>
                </p:oleObj>
              </mc:Choice>
              <mc:Fallback>
                <p:oleObj name="" r:id="rId3" imgW="1741805" imgH="626745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573463"/>
                        <a:ext cx="4102100" cy="1576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17" name="Text Box 13" descr="绿色大理石"/>
          <p:cNvSpPr txBox="1"/>
          <p:nvPr/>
        </p:nvSpPr>
        <p:spPr>
          <a:xfrm>
            <a:off x="1042988" y="5157788"/>
            <a:ext cx="6911975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    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分析一阶电路问题转为求解电路的三个要素的问题。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3918" name="Text Box 14"/>
          <p:cNvSpPr txBox="1"/>
          <p:nvPr/>
        </p:nvSpPr>
        <p:spPr>
          <a:xfrm>
            <a:off x="4932363" y="4149725"/>
            <a:ext cx="34559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用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等效电路求解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3919" name="Text Box 15"/>
          <p:cNvSpPr txBox="1"/>
          <p:nvPr/>
        </p:nvSpPr>
        <p:spPr>
          <a:xfrm>
            <a:off x="4932363" y="3573463"/>
            <a:ext cx="37798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用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的稳态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电路求解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3920" name="Line 16"/>
          <p:cNvSpPr/>
          <p:nvPr/>
        </p:nvSpPr>
        <p:spPr>
          <a:xfrm>
            <a:off x="4284663" y="3860800"/>
            <a:ext cx="576262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921" name="Line 17"/>
          <p:cNvSpPr/>
          <p:nvPr/>
        </p:nvSpPr>
        <p:spPr>
          <a:xfrm>
            <a:off x="4356100" y="4365625"/>
            <a:ext cx="576263" cy="0"/>
          </a:xfrm>
          <a:prstGeom prst="line">
            <a:avLst/>
          </a:prstGeom>
          <a:ln w="76200" cap="flat" cmpd="sng">
            <a:solidFill>
              <a:srgbClr val="0099FF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23937" name="Group 33"/>
          <p:cNvGrpSpPr/>
          <p:nvPr/>
        </p:nvGrpSpPr>
        <p:grpSpPr>
          <a:xfrm>
            <a:off x="684213" y="1628775"/>
            <a:ext cx="6321425" cy="603250"/>
            <a:chOff x="431" y="1071"/>
            <a:chExt cx="3982" cy="380"/>
          </a:xfrm>
        </p:grpSpPr>
        <p:sp>
          <p:nvSpPr>
            <p:cNvPr id="76823" name="Rectangle 27"/>
            <p:cNvSpPr/>
            <p:nvPr/>
          </p:nvSpPr>
          <p:spPr>
            <a:xfrm>
              <a:off x="431" y="1071"/>
              <a:ext cx="146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直流激励时：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76824" name="Object 30"/>
            <p:cNvGraphicFramePr>
              <a:graphicFrameLocks noChangeAspect="1"/>
            </p:cNvGraphicFramePr>
            <p:nvPr/>
          </p:nvGraphicFramePr>
          <p:xfrm>
            <a:off x="1937" y="1071"/>
            <a:ext cx="2476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2" name="" r:id="rId5" imgW="1358265" imgH="147955" progId="Equation.3">
                    <p:embed/>
                  </p:oleObj>
                </mc:Choice>
                <mc:Fallback>
                  <p:oleObj name="" r:id="rId5" imgW="1358265" imgH="147955" progId="Equation.3">
                    <p:embed/>
                    <p:pic>
                      <p:nvPicPr>
                        <p:cNvPr id="0" name="图片 326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37" y="1071"/>
                          <a:ext cx="2476" cy="3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3940" name="Group 36"/>
          <p:cNvGrpSpPr/>
          <p:nvPr/>
        </p:nvGrpSpPr>
        <p:grpSpPr>
          <a:xfrm>
            <a:off x="755650" y="2060575"/>
            <a:ext cx="7046913" cy="1304925"/>
            <a:chOff x="476" y="1253"/>
            <a:chExt cx="4439" cy="822"/>
          </a:xfrm>
        </p:grpSpPr>
        <p:sp>
          <p:nvSpPr>
            <p:cNvPr id="76819" name="Line 31"/>
            <p:cNvSpPr/>
            <p:nvPr/>
          </p:nvSpPr>
          <p:spPr>
            <a:xfrm>
              <a:off x="476" y="1888"/>
              <a:ext cx="408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76820" name="Object 32"/>
            <p:cNvGraphicFramePr>
              <a:graphicFrameLocks noChangeAspect="1"/>
            </p:cNvGraphicFramePr>
            <p:nvPr/>
          </p:nvGraphicFramePr>
          <p:xfrm>
            <a:off x="975" y="1480"/>
            <a:ext cx="3940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3" name="" r:id="rId7" imgW="2089785" imgH="252730" progId="Equation.3">
                    <p:embed/>
                  </p:oleObj>
                </mc:Choice>
                <mc:Fallback>
                  <p:oleObj name="" r:id="rId7" imgW="2089785" imgH="25273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75" y="1480"/>
                          <a:ext cx="3940" cy="5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21" name="AutoShape 34"/>
            <p:cNvSpPr/>
            <p:nvPr/>
          </p:nvSpPr>
          <p:spPr>
            <a:xfrm rot="5400000">
              <a:off x="3492" y="866"/>
              <a:ext cx="226" cy="1633"/>
            </a:xfrm>
            <a:prstGeom prst="leftBrace">
              <a:avLst>
                <a:gd name="adj1" fmla="val 60213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6822" name="Text Box 35"/>
            <p:cNvSpPr txBox="1"/>
            <p:nvPr/>
          </p:nvSpPr>
          <p:spPr>
            <a:xfrm>
              <a:off x="3515" y="1253"/>
              <a:ext cx="45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endPara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23941" name="Group 37"/>
          <p:cNvGrpSpPr/>
          <p:nvPr/>
        </p:nvGrpSpPr>
        <p:grpSpPr>
          <a:xfrm>
            <a:off x="395288" y="5013325"/>
            <a:ext cx="1643063" cy="850900"/>
            <a:chOff x="385" y="3022"/>
            <a:chExt cx="1035" cy="536"/>
          </a:xfrm>
        </p:grpSpPr>
        <p:pic>
          <p:nvPicPr>
            <p:cNvPr id="76817" name="Picture 38" descr="1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18" name="Text Box 39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23917" grpId="0"/>
      <p:bldP spid="123918" grpId="0"/>
      <p:bldP spid="1239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211" name="Object 35"/>
          <p:cNvGraphicFramePr>
            <a:graphicFrameLocks noChangeAspect="1"/>
          </p:cNvGraphicFramePr>
          <p:nvPr/>
        </p:nvGraphicFramePr>
        <p:xfrm>
          <a:off x="1258888" y="3127375"/>
          <a:ext cx="345598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1" imgW="1323975" imgH="173990" progId="Equation.3">
                  <p:embed/>
                </p:oleObj>
              </mc:Choice>
              <mc:Fallback>
                <p:oleObj name="" r:id="rId1" imgW="1323975" imgH="17399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58888" y="3127375"/>
                        <a:ext cx="3455987" cy="601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2" name="Object 36"/>
          <p:cNvGraphicFramePr>
            <a:graphicFrameLocks noChangeAspect="1"/>
          </p:cNvGraphicFramePr>
          <p:nvPr/>
        </p:nvGraphicFramePr>
        <p:xfrm>
          <a:off x="684213" y="3860800"/>
          <a:ext cx="44005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3" imgW="1732915" imgH="147955" progId="Equation.3">
                  <p:embed/>
                </p:oleObj>
              </mc:Choice>
              <mc:Fallback>
                <p:oleObj name="" r:id="rId3" imgW="1732915" imgH="147955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3860800"/>
                        <a:ext cx="4400550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3" name="Object 37"/>
          <p:cNvGraphicFramePr>
            <a:graphicFrameLocks noChangeAspect="1"/>
          </p:cNvGraphicFramePr>
          <p:nvPr/>
        </p:nvGraphicFramePr>
        <p:xfrm>
          <a:off x="5391150" y="3632200"/>
          <a:ext cx="32623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5" imgW="1315085" imgH="348615" progId="Equation.3">
                  <p:embed/>
                </p:oleObj>
              </mc:Choice>
              <mc:Fallback>
                <p:oleObj name="" r:id="rId5" imgW="1315085" imgH="348615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1150" y="3632200"/>
                        <a:ext cx="3262313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4" name="Object 38"/>
          <p:cNvGraphicFramePr>
            <a:graphicFrameLocks noChangeAspect="1"/>
          </p:cNvGraphicFramePr>
          <p:nvPr/>
        </p:nvGraphicFramePr>
        <p:xfrm>
          <a:off x="571500" y="5445125"/>
          <a:ext cx="83216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7" imgW="3343910" imgH="173990" progId="Equation.3">
                  <p:embed/>
                </p:oleObj>
              </mc:Choice>
              <mc:Fallback>
                <p:oleObj name="" r:id="rId7" imgW="3343910" imgH="17399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500" y="5445125"/>
                        <a:ext cx="8321675" cy="587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Text Box 23"/>
          <p:cNvSpPr txBox="1"/>
          <p:nvPr/>
        </p:nvSpPr>
        <p:spPr>
          <a:xfrm>
            <a:off x="468313" y="517049"/>
            <a:ext cx="935037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0215" name="Text Box 39"/>
          <p:cNvSpPr txBox="1"/>
          <p:nvPr/>
        </p:nvSpPr>
        <p:spPr>
          <a:xfrm>
            <a:off x="1331913" y="474186"/>
            <a:ext cx="74168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已知：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时合开关，求换路后的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0216" name="Text Box 40"/>
          <p:cNvSpPr txBox="1"/>
          <p:nvPr/>
        </p:nvSpPr>
        <p:spPr>
          <a:xfrm>
            <a:off x="468789" y="3067209"/>
            <a:ext cx="540385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50217" name="Group 41"/>
          <p:cNvGrpSpPr/>
          <p:nvPr/>
        </p:nvGrpSpPr>
        <p:grpSpPr>
          <a:xfrm>
            <a:off x="4802188" y="876301"/>
            <a:ext cx="3683000" cy="2781299"/>
            <a:chOff x="3236" y="1045"/>
            <a:chExt cx="2320" cy="1752"/>
          </a:xfrm>
        </p:grpSpPr>
        <p:sp>
          <p:nvSpPr>
            <p:cNvPr id="77870" name="Line 42"/>
            <p:cNvSpPr/>
            <p:nvPr/>
          </p:nvSpPr>
          <p:spPr>
            <a:xfrm>
              <a:off x="3735" y="2420"/>
              <a:ext cx="1728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71" name="Line 43"/>
            <p:cNvSpPr/>
            <p:nvPr/>
          </p:nvSpPr>
          <p:spPr>
            <a:xfrm flipV="1">
              <a:off x="3879" y="1140"/>
              <a:ext cx="0" cy="1616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72" name="Line 44"/>
            <p:cNvSpPr/>
            <p:nvPr/>
          </p:nvSpPr>
          <p:spPr>
            <a:xfrm>
              <a:off x="3879" y="2180"/>
              <a:ext cx="1440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77873" name="Freeform 45"/>
            <p:cNvSpPr/>
            <p:nvPr/>
          </p:nvSpPr>
          <p:spPr>
            <a:xfrm>
              <a:off x="3879" y="1604"/>
              <a:ext cx="1354" cy="5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240"/>
                </a:cxn>
                <a:cxn ang="0">
                  <a:pos x="384" y="384"/>
                </a:cxn>
                <a:cxn ang="0">
                  <a:pos x="816" y="480"/>
                </a:cxn>
                <a:cxn ang="0">
                  <a:pos x="1354" y="518"/>
                </a:cxn>
              </a:cxnLst>
              <a:pathLst>
                <a:path w="1354" h="518">
                  <a:moveTo>
                    <a:pt x="0" y="0"/>
                  </a:moveTo>
                  <a:cubicBezTo>
                    <a:pt x="40" y="88"/>
                    <a:pt x="80" y="176"/>
                    <a:pt x="144" y="240"/>
                  </a:cubicBezTo>
                  <a:cubicBezTo>
                    <a:pt x="208" y="304"/>
                    <a:pt x="272" y="344"/>
                    <a:pt x="384" y="384"/>
                  </a:cubicBezTo>
                  <a:cubicBezTo>
                    <a:pt x="496" y="424"/>
                    <a:pt x="654" y="458"/>
                    <a:pt x="816" y="480"/>
                  </a:cubicBezTo>
                  <a:cubicBezTo>
                    <a:pt x="978" y="502"/>
                    <a:pt x="1242" y="510"/>
                    <a:pt x="1354" y="518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7874" name="Text Box 46"/>
            <p:cNvSpPr txBox="1"/>
            <p:nvPr/>
          </p:nvSpPr>
          <p:spPr>
            <a:xfrm>
              <a:off x="5370" y="2429"/>
              <a:ext cx="186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75" name="Text Box 47"/>
            <p:cNvSpPr txBox="1"/>
            <p:nvPr/>
          </p:nvSpPr>
          <p:spPr>
            <a:xfrm>
              <a:off x="3984" y="1045"/>
              <a:ext cx="29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76" name="Text Box 48"/>
            <p:cNvSpPr txBox="1"/>
            <p:nvPr/>
          </p:nvSpPr>
          <p:spPr>
            <a:xfrm>
              <a:off x="3400" y="1374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77" name="Text Box 49"/>
            <p:cNvSpPr txBox="1"/>
            <p:nvPr/>
          </p:nvSpPr>
          <p:spPr>
            <a:xfrm>
              <a:off x="4228" y="1067"/>
              <a:ext cx="38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(V)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78" name="Text Box 50"/>
            <p:cNvSpPr txBox="1"/>
            <p:nvPr/>
          </p:nvSpPr>
          <p:spPr>
            <a:xfrm>
              <a:off x="3236" y="1982"/>
              <a:ext cx="61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0.667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79" name="Text Box 51"/>
            <p:cNvSpPr txBox="1"/>
            <p:nvPr/>
          </p:nvSpPr>
          <p:spPr>
            <a:xfrm>
              <a:off x="3622" y="2436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80" name="Line 52"/>
            <p:cNvSpPr/>
            <p:nvPr/>
          </p:nvSpPr>
          <p:spPr>
            <a:xfrm>
              <a:off x="3636" y="1609"/>
              <a:ext cx="236" cy="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50231" name="Object 55"/>
          <p:cNvGraphicFramePr>
            <a:graphicFrameLocks noChangeAspect="1"/>
          </p:cNvGraphicFramePr>
          <p:nvPr/>
        </p:nvGraphicFramePr>
        <p:xfrm>
          <a:off x="517525" y="4365625"/>
          <a:ext cx="610393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9" imgW="2194560" imgH="252730" progId="Equation.3">
                  <p:embed/>
                </p:oleObj>
              </mc:Choice>
              <mc:Fallback>
                <p:oleObj name="" r:id="rId9" imgW="2194560" imgH="25273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7525" y="4365625"/>
                        <a:ext cx="6103938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274" name="Group 98"/>
          <p:cNvGrpSpPr/>
          <p:nvPr/>
        </p:nvGrpSpPr>
        <p:grpSpPr>
          <a:xfrm>
            <a:off x="827088" y="981075"/>
            <a:ext cx="3514725" cy="1816100"/>
            <a:chOff x="521" y="618"/>
            <a:chExt cx="2214" cy="1144"/>
          </a:xfrm>
        </p:grpSpPr>
        <p:sp>
          <p:nvSpPr>
            <p:cNvPr id="77841" name="Line 70"/>
            <p:cNvSpPr/>
            <p:nvPr/>
          </p:nvSpPr>
          <p:spPr>
            <a:xfrm flipV="1">
              <a:off x="702" y="845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2" name="Line 72"/>
            <p:cNvSpPr/>
            <p:nvPr/>
          </p:nvSpPr>
          <p:spPr>
            <a:xfrm>
              <a:off x="1882" y="845"/>
              <a:ext cx="0" cy="4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7843" name="Line 73"/>
            <p:cNvSpPr/>
            <p:nvPr/>
          </p:nvSpPr>
          <p:spPr>
            <a:xfrm>
              <a:off x="1882" y="1343"/>
              <a:ext cx="0" cy="40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7844" name="Line 74"/>
            <p:cNvSpPr/>
            <p:nvPr/>
          </p:nvSpPr>
          <p:spPr>
            <a:xfrm>
              <a:off x="2653" y="845"/>
              <a:ext cx="0" cy="9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45" name="Rectangle 75"/>
            <p:cNvSpPr/>
            <p:nvPr/>
          </p:nvSpPr>
          <p:spPr>
            <a:xfrm>
              <a:off x="2608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7846" name="Group 76"/>
            <p:cNvGrpSpPr/>
            <p:nvPr/>
          </p:nvGrpSpPr>
          <p:grpSpPr>
            <a:xfrm>
              <a:off x="1746" y="1253"/>
              <a:ext cx="272" cy="91"/>
              <a:chOff x="930" y="3430"/>
              <a:chExt cx="227" cy="91"/>
            </a:xfrm>
          </p:grpSpPr>
          <p:sp>
            <p:nvSpPr>
              <p:cNvPr id="77864" name="Line 77"/>
              <p:cNvSpPr/>
              <p:nvPr/>
            </p:nvSpPr>
            <p:spPr>
              <a:xfrm>
                <a:off x="930" y="3430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7865" name="Line 78"/>
              <p:cNvSpPr/>
              <p:nvPr/>
            </p:nvSpPr>
            <p:spPr>
              <a:xfrm>
                <a:off x="930" y="3521"/>
                <a:ext cx="227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47" name="Line 79"/>
            <p:cNvSpPr/>
            <p:nvPr/>
          </p:nvSpPr>
          <p:spPr>
            <a:xfrm flipV="1">
              <a:off x="703" y="935"/>
              <a:ext cx="0" cy="31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48" name="Line 80"/>
            <p:cNvSpPr/>
            <p:nvPr/>
          </p:nvSpPr>
          <p:spPr>
            <a:xfrm>
              <a:off x="702" y="845"/>
              <a:ext cx="1543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grpSp>
          <p:nvGrpSpPr>
            <p:cNvPr id="77849" name="Group 97"/>
            <p:cNvGrpSpPr/>
            <p:nvPr/>
          </p:nvGrpSpPr>
          <p:grpSpPr>
            <a:xfrm>
              <a:off x="521" y="1253"/>
              <a:ext cx="363" cy="363"/>
              <a:chOff x="521" y="1071"/>
              <a:chExt cx="363" cy="363"/>
            </a:xfrm>
          </p:grpSpPr>
          <p:sp>
            <p:nvSpPr>
              <p:cNvPr id="77862" name="Oval 71"/>
              <p:cNvSpPr/>
              <p:nvPr/>
            </p:nvSpPr>
            <p:spPr>
              <a:xfrm>
                <a:off x="521" y="1071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7863" name="Line 81"/>
              <p:cNvSpPr/>
              <p:nvPr/>
            </p:nvSpPr>
            <p:spPr>
              <a:xfrm>
                <a:off x="521" y="1253"/>
                <a:ext cx="363" cy="0"/>
              </a:xfrm>
              <a:prstGeom prst="line">
                <a:avLst/>
              </a:prstGeom>
              <a:ln w="28575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77850" name="Line 82"/>
            <p:cNvSpPr/>
            <p:nvPr/>
          </p:nvSpPr>
          <p:spPr>
            <a:xfrm>
              <a:off x="702" y="1752"/>
              <a:ext cx="195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51" name="Line 83"/>
            <p:cNvSpPr/>
            <p:nvPr/>
          </p:nvSpPr>
          <p:spPr>
            <a:xfrm>
              <a:off x="1201" y="845"/>
              <a:ext cx="9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7852" name="Text Box 84"/>
            <p:cNvSpPr txBox="1"/>
            <p:nvPr/>
          </p:nvSpPr>
          <p:spPr>
            <a:xfrm>
              <a:off x="703" y="934"/>
              <a:ext cx="45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7853" name="Text Box 85"/>
            <p:cNvSpPr txBox="1"/>
            <p:nvPr/>
          </p:nvSpPr>
          <p:spPr>
            <a:xfrm>
              <a:off x="1255" y="961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54" name="Line 86"/>
            <p:cNvSpPr/>
            <p:nvPr/>
          </p:nvSpPr>
          <p:spPr>
            <a:xfrm flipV="1">
              <a:off x="2231" y="701"/>
              <a:ext cx="240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7855" name="Line 87"/>
            <p:cNvSpPr/>
            <p:nvPr/>
          </p:nvSpPr>
          <p:spPr>
            <a:xfrm>
              <a:off x="2413" y="845"/>
              <a:ext cx="2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7856" name="Line 88"/>
            <p:cNvSpPr/>
            <p:nvPr/>
          </p:nvSpPr>
          <p:spPr>
            <a:xfrm>
              <a:off x="2199" y="618"/>
              <a:ext cx="227" cy="31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7857" name="Text Box 89"/>
            <p:cNvSpPr txBox="1"/>
            <p:nvPr/>
          </p:nvSpPr>
          <p:spPr>
            <a:xfrm>
              <a:off x="2225" y="114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77858" name="Text Box 90"/>
            <p:cNvSpPr txBox="1"/>
            <p:nvPr/>
          </p:nvSpPr>
          <p:spPr>
            <a:xfrm>
              <a:off x="1928" y="934"/>
              <a:ext cx="3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59" name="Text Box 91"/>
            <p:cNvSpPr txBox="1"/>
            <p:nvPr/>
          </p:nvSpPr>
          <p:spPr>
            <a:xfrm>
              <a:off x="1655" y="887"/>
              <a:ext cx="242" cy="87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60" name="Text Box 92"/>
            <p:cNvSpPr txBox="1"/>
            <p:nvPr/>
          </p:nvSpPr>
          <p:spPr>
            <a:xfrm>
              <a:off x="1474" y="1206"/>
              <a:ext cx="32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7861" name="Rectangle 93"/>
            <p:cNvSpPr/>
            <p:nvPr/>
          </p:nvSpPr>
          <p:spPr>
            <a:xfrm>
              <a:off x="1165" y="111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50199" grpId="0"/>
      <p:bldP spid="50215" grpId="0"/>
      <p:bldP spid="502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6" name="Text Box 4"/>
          <p:cNvSpPr txBox="1"/>
          <p:nvPr/>
        </p:nvSpPr>
        <p:spPr>
          <a:xfrm>
            <a:off x="468313" y="547211"/>
            <a:ext cx="100806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1476375" y="474186"/>
            <a:ext cx="662463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开关闭合，求</a:t>
            </a:r>
            <a:r>
              <a:rPr lang="en-US" altLang="zh-CN" sz="32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&gt;0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后的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9158" name="Text Box 6"/>
          <p:cNvSpPr txBox="1"/>
          <p:nvPr/>
        </p:nvSpPr>
        <p:spPr>
          <a:xfrm>
            <a:off x="468313" y="1123474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9159" name="Text Box 7"/>
          <p:cNvSpPr txBox="1"/>
          <p:nvPr/>
        </p:nvSpPr>
        <p:spPr>
          <a:xfrm>
            <a:off x="1331913" y="1125538"/>
            <a:ext cx="21605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三要素为：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49193" name="Object 41"/>
          <p:cNvGraphicFramePr>
            <a:graphicFrameLocks noChangeAspect="1"/>
          </p:cNvGraphicFramePr>
          <p:nvPr/>
        </p:nvGraphicFramePr>
        <p:xfrm>
          <a:off x="468313" y="2924175"/>
          <a:ext cx="46609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" imgW="1750695" imgH="139065" progId="Equation.3">
                  <p:embed/>
                </p:oleObj>
              </mc:Choice>
              <mc:Fallback>
                <p:oleObj name="" r:id="rId1" imgW="1750695" imgH="139065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2924175"/>
                        <a:ext cx="4660900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4" name="Object 42"/>
          <p:cNvGraphicFramePr>
            <a:graphicFrameLocks noChangeAspect="1"/>
          </p:cNvGraphicFramePr>
          <p:nvPr/>
        </p:nvGraphicFramePr>
        <p:xfrm>
          <a:off x="554038" y="1803400"/>
          <a:ext cx="41465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3" imgW="1689735" imgH="147955" progId="Equation.3">
                  <p:embed/>
                </p:oleObj>
              </mc:Choice>
              <mc:Fallback>
                <p:oleObj name="" r:id="rId3" imgW="1689735" imgH="147955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4038" y="1803400"/>
                        <a:ext cx="4146550" cy="563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10" name="Object 58"/>
          <p:cNvGraphicFramePr>
            <a:graphicFrameLocks noChangeAspect="1"/>
          </p:cNvGraphicFramePr>
          <p:nvPr/>
        </p:nvGraphicFramePr>
        <p:xfrm>
          <a:off x="539750" y="2349500"/>
          <a:ext cx="43275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5" imgW="1610995" imgH="147955" progId="Equation.3">
                  <p:embed/>
                </p:oleObj>
              </mc:Choice>
              <mc:Fallback>
                <p:oleObj name="" r:id="rId5" imgW="1610995" imgH="147955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2349500"/>
                        <a:ext cx="4327525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230" name="Group 78"/>
          <p:cNvGrpSpPr/>
          <p:nvPr/>
        </p:nvGrpSpPr>
        <p:grpSpPr>
          <a:xfrm>
            <a:off x="5076825" y="1123951"/>
            <a:ext cx="3816350" cy="2047874"/>
            <a:chOff x="2789" y="2276"/>
            <a:chExt cx="2404" cy="1290"/>
          </a:xfrm>
        </p:grpSpPr>
        <p:sp>
          <p:nvSpPr>
            <p:cNvPr id="78870" name="Oval 79"/>
            <p:cNvSpPr/>
            <p:nvPr/>
          </p:nvSpPr>
          <p:spPr>
            <a:xfrm>
              <a:off x="4830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8871" name="Oval 80"/>
            <p:cNvSpPr/>
            <p:nvPr/>
          </p:nvSpPr>
          <p:spPr>
            <a:xfrm>
              <a:off x="2789" y="288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8872" name="Line 81"/>
            <p:cNvSpPr/>
            <p:nvPr/>
          </p:nvSpPr>
          <p:spPr>
            <a:xfrm>
              <a:off x="2971" y="2659"/>
              <a:ext cx="149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78873" name="Line 82"/>
            <p:cNvSpPr/>
            <p:nvPr/>
          </p:nvSpPr>
          <p:spPr>
            <a:xfrm>
              <a:off x="3606" y="2704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74" name="Text Box 83"/>
            <p:cNvSpPr txBox="1"/>
            <p:nvPr/>
          </p:nvSpPr>
          <p:spPr>
            <a:xfrm>
              <a:off x="3802" y="2722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75" name="Text Box 84"/>
            <p:cNvSpPr txBox="1"/>
            <p:nvPr/>
          </p:nvSpPr>
          <p:spPr>
            <a:xfrm>
              <a:off x="3061" y="2684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76" name="Text Box 85"/>
            <p:cNvSpPr txBox="1"/>
            <p:nvPr/>
          </p:nvSpPr>
          <p:spPr>
            <a:xfrm>
              <a:off x="3016" y="3229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77" name="Text Box 86"/>
            <p:cNvSpPr txBox="1"/>
            <p:nvPr/>
          </p:nvSpPr>
          <p:spPr>
            <a:xfrm>
              <a:off x="4377" y="3047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78" name="Text Box 87"/>
            <p:cNvSpPr txBox="1"/>
            <p:nvPr/>
          </p:nvSpPr>
          <p:spPr>
            <a:xfrm>
              <a:off x="3762" y="3138"/>
              <a:ext cx="5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0.5H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79" name="Line 88"/>
            <p:cNvSpPr/>
            <p:nvPr/>
          </p:nvSpPr>
          <p:spPr>
            <a:xfrm>
              <a:off x="2971" y="3566"/>
              <a:ext cx="205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0" name="Line 89"/>
            <p:cNvSpPr/>
            <p:nvPr/>
          </p:nvSpPr>
          <p:spPr>
            <a:xfrm flipH="1" flipV="1">
              <a:off x="3696" y="3294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8881" name="Line 90"/>
            <p:cNvSpPr/>
            <p:nvPr/>
          </p:nvSpPr>
          <p:spPr>
            <a:xfrm flipH="1">
              <a:off x="3696" y="2659"/>
              <a:ext cx="6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8882" name="Line 91"/>
            <p:cNvSpPr/>
            <p:nvPr/>
          </p:nvSpPr>
          <p:spPr>
            <a:xfrm flipV="1">
              <a:off x="4468" y="2458"/>
              <a:ext cx="363" cy="20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3" name="Line 92"/>
            <p:cNvSpPr/>
            <p:nvPr/>
          </p:nvSpPr>
          <p:spPr>
            <a:xfrm flipH="1" flipV="1">
              <a:off x="4468" y="2387"/>
              <a:ext cx="85" cy="22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78884" name="Line 93"/>
            <p:cNvSpPr/>
            <p:nvPr/>
          </p:nvSpPr>
          <p:spPr>
            <a:xfrm>
              <a:off x="2971" y="2659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85" name="Text Box 94"/>
            <p:cNvSpPr txBox="1"/>
            <p:nvPr/>
          </p:nvSpPr>
          <p:spPr>
            <a:xfrm>
              <a:off x="3178" y="2276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86" name="Text Box 95"/>
            <p:cNvSpPr txBox="1"/>
            <p:nvPr/>
          </p:nvSpPr>
          <p:spPr>
            <a:xfrm>
              <a:off x="3949" y="2306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87" name="Line 96"/>
            <p:cNvSpPr/>
            <p:nvPr/>
          </p:nvSpPr>
          <p:spPr>
            <a:xfrm flipV="1">
              <a:off x="4694" y="2659"/>
              <a:ext cx="318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78888" name="Text Box 97"/>
            <p:cNvSpPr txBox="1"/>
            <p:nvPr/>
          </p:nvSpPr>
          <p:spPr>
            <a:xfrm>
              <a:off x="4694" y="2639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89" name="Text Box 98"/>
            <p:cNvSpPr txBox="1"/>
            <p:nvPr/>
          </p:nvSpPr>
          <p:spPr>
            <a:xfrm>
              <a:off x="4604" y="3229"/>
              <a:ext cx="36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90" name="Line 99"/>
            <p:cNvSpPr/>
            <p:nvPr/>
          </p:nvSpPr>
          <p:spPr>
            <a:xfrm>
              <a:off x="5012" y="2659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8891" name="Text Box 100"/>
            <p:cNvSpPr txBox="1"/>
            <p:nvPr/>
          </p:nvSpPr>
          <p:spPr>
            <a:xfrm>
              <a:off x="3061" y="3093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92" name="Line 101"/>
            <p:cNvSpPr/>
            <p:nvPr/>
          </p:nvSpPr>
          <p:spPr>
            <a:xfrm flipV="1">
              <a:off x="2880" y="2614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93" name="Line 102"/>
            <p:cNvSpPr/>
            <p:nvPr/>
          </p:nvSpPr>
          <p:spPr>
            <a:xfrm flipV="1">
              <a:off x="5057" y="2659"/>
              <a:ext cx="0" cy="181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8894" name="Text Box 103"/>
            <p:cNvSpPr txBox="1"/>
            <p:nvPr/>
          </p:nvSpPr>
          <p:spPr>
            <a:xfrm>
              <a:off x="4822" y="2321"/>
              <a:ext cx="2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8895" name="Text Box 104"/>
            <p:cNvSpPr txBox="1"/>
            <p:nvPr/>
          </p:nvSpPr>
          <p:spPr>
            <a:xfrm>
              <a:off x="2835" y="2276"/>
              <a:ext cx="31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78896" name="Group 105"/>
            <p:cNvGrpSpPr/>
            <p:nvPr/>
          </p:nvGrpSpPr>
          <p:grpSpPr>
            <a:xfrm rot="5400000">
              <a:off x="3243" y="2794"/>
              <a:ext cx="499" cy="590"/>
              <a:chOff x="476" y="663"/>
              <a:chExt cx="771" cy="862"/>
            </a:xfrm>
          </p:grpSpPr>
          <p:sp>
            <p:nvSpPr>
              <p:cNvPr id="78899" name="AutoShape 106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8900" name="AutoShape 107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78901" name="AutoShape 108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78897" name="Rectangle 109"/>
            <p:cNvSpPr/>
            <p:nvPr/>
          </p:nvSpPr>
          <p:spPr>
            <a:xfrm>
              <a:off x="4014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8898" name="Rectangle 110"/>
            <p:cNvSpPr/>
            <p:nvPr/>
          </p:nvSpPr>
          <p:spPr>
            <a:xfrm>
              <a:off x="3198" y="256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9263" name="Group 111"/>
          <p:cNvGrpSpPr/>
          <p:nvPr/>
        </p:nvGrpSpPr>
        <p:grpSpPr>
          <a:xfrm>
            <a:off x="250825" y="3213100"/>
            <a:ext cx="8058150" cy="882650"/>
            <a:chOff x="204" y="2069"/>
            <a:chExt cx="5076" cy="556"/>
          </a:xfrm>
        </p:grpSpPr>
        <p:graphicFrame>
          <p:nvGraphicFramePr>
            <p:cNvPr id="78868" name="Object 112"/>
            <p:cNvGraphicFramePr>
              <a:graphicFrameLocks noChangeAspect="1"/>
            </p:cNvGraphicFramePr>
            <p:nvPr/>
          </p:nvGraphicFramePr>
          <p:xfrm>
            <a:off x="1729" y="2069"/>
            <a:ext cx="3551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2" name="" r:id="rId7" imgW="2028825" imgH="252730" progId="Equation.3">
                    <p:embed/>
                  </p:oleObj>
                </mc:Choice>
                <mc:Fallback>
                  <p:oleObj name="" r:id="rId7" imgW="2028825" imgH="25273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9" y="2069"/>
                          <a:ext cx="3551" cy="5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69" name="Text Box 113"/>
            <p:cNvSpPr txBox="1"/>
            <p:nvPr/>
          </p:nvSpPr>
          <p:spPr>
            <a:xfrm>
              <a:off x="204" y="2296"/>
              <a:ext cx="14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三要素公式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49266" name="Object 114"/>
          <p:cNvGraphicFramePr>
            <a:graphicFrameLocks noChangeAspect="1"/>
          </p:cNvGraphicFramePr>
          <p:nvPr/>
        </p:nvGraphicFramePr>
        <p:xfrm>
          <a:off x="722313" y="4149725"/>
          <a:ext cx="70897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" name="" r:id="rId9" imgW="2333625" imgH="173990" progId="Equation.3">
                  <p:embed/>
                </p:oleObj>
              </mc:Choice>
              <mc:Fallback>
                <p:oleObj name="" r:id="rId9" imgW="2333625" imgH="17399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2313" y="4149725"/>
                        <a:ext cx="7089775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7" name="Object 115"/>
          <p:cNvGraphicFramePr>
            <a:graphicFrameLocks noChangeAspect="1"/>
          </p:cNvGraphicFramePr>
          <p:nvPr/>
        </p:nvGraphicFramePr>
        <p:xfrm>
          <a:off x="685800" y="4581525"/>
          <a:ext cx="7847013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11" imgW="2787015" imgH="348615" progId="Equation.3">
                  <p:embed/>
                </p:oleObj>
              </mc:Choice>
              <mc:Fallback>
                <p:oleObj name="" r:id="rId11" imgW="2787015" imgH="348615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4581525"/>
                        <a:ext cx="7847013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8" name="Object 116"/>
          <p:cNvGraphicFramePr>
            <a:graphicFrameLocks noChangeAspect="1"/>
          </p:cNvGraphicFramePr>
          <p:nvPr/>
        </p:nvGraphicFramePr>
        <p:xfrm>
          <a:off x="711200" y="5516563"/>
          <a:ext cx="49403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13" imgW="1880870" imgH="173990" progId="Equation.3">
                  <p:embed/>
                </p:oleObj>
              </mc:Choice>
              <mc:Fallback>
                <p:oleObj name="" r:id="rId13" imgW="1880870" imgH="17399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1200" y="5516563"/>
                        <a:ext cx="4940300" cy="595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69" name="Object 117"/>
          <p:cNvGraphicFramePr>
            <a:graphicFrameLocks noChangeAspect="1"/>
          </p:cNvGraphicFramePr>
          <p:nvPr/>
        </p:nvGraphicFramePr>
        <p:xfrm>
          <a:off x="701675" y="6073775"/>
          <a:ext cx="54546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" name="" r:id="rId15" imgW="1915795" imgH="173990" progId="Equation.3">
                  <p:embed/>
                </p:oleObj>
              </mc:Choice>
              <mc:Fallback>
                <p:oleObj name="" r:id="rId15" imgW="1915795" imgH="17399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1675" y="6073775"/>
                        <a:ext cx="5454650" cy="595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49156" grpId="0"/>
      <p:bldP spid="49157" grpId="0"/>
      <p:bldP spid="49158" grpId="0" animBg="1"/>
      <p:bldP spid="491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7" name="Text Box 5"/>
          <p:cNvSpPr txBox="1"/>
          <p:nvPr/>
        </p:nvSpPr>
        <p:spPr>
          <a:xfrm>
            <a:off x="468313" y="388938"/>
            <a:ext cx="21605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三要素为：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439738" y="2276475"/>
          <a:ext cx="45640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1" imgW="1750695" imgH="139065" progId="Equation.3">
                  <p:embed/>
                </p:oleObj>
              </mc:Choice>
              <mc:Fallback>
                <p:oleObj name="" r:id="rId1" imgW="1750695" imgH="139065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9738" y="2276475"/>
                        <a:ext cx="4564062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468313" y="908050"/>
          <a:ext cx="42957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3" imgW="1697990" imgH="173990" progId="Equation.3">
                  <p:embed/>
                </p:oleObj>
              </mc:Choice>
              <mc:Fallback>
                <p:oleObj name="" r:id="rId3" imgW="1697990" imgH="17399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908050"/>
                        <a:ext cx="4295775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17" name="Object 45"/>
          <p:cNvGraphicFramePr>
            <a:graphicFrameLocks noChangeAspect="1"/>
          </p:cNvGraphicFramePr>
          <p:nvPr/>
        </p:nvGraphicFramePr>
        <p:xfrm>
          <a:off x="468313" y="1557338"/>
          <a:ext cx="4032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" name="" r:id="rId5" imgW="1610995" imgH="147955" progId="Equation.3">
                  <p:embed/>
                </p:oleObj>
              </mc:Choice>
              <mc:Fallback>
                <p:oleObj name="" r:id="rId5" imgW="1610995" imgH="147955" progId="Equation.3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8313" y="1557338"/>
                        <a:ext cx="403225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1" name="Object 49"/>
          <p:cNvGraphicFramePr>
            <a:graphicFrameLocks noChangeAspect="1"/>
          </p:cNvGraphicFramePr>
          <p:nvPr/>
        </p:nvGraphicFramePr>
        <p:xfrm>
          <a:off x="612775" y="4581525"/>
          <a:ext cx="590391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7" imgW="2333625" imgH="173990" progId="Equation.3">
                  <p:embed/>
                </p:oleObj>
              </mc:Choice>
              <mc:Fallback>
                <p:oleObj name="" r:id="rId7" imgW="2333625" imgH="17399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2775" y="4581525"/>
                        <a:ext cx="5903913" cy="604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3" name="Object 51"/>
          <p:cNvGraphicFramePr>
            <a:graphicFrameLocks noChangeAspect="1"/>
          </p:cNvGraphicFramePr>
          <p:nvPr/>
        </p:nvGraphicFramePr>
        <p:xfrm>
          <a:off x="571500" y="5229225"/>
          <a:ext cx="565626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9" imgW="2028825" imgH="173990" progId="Equation.3">
                  <p:embed/>
                </p:oleObj>
              </mc:Choice>
              <mc:Fallback>
                <p:oleObj name="" r:id="rId9" imgW="2028825" imgH="17399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500" y="5229225"/>
                        <a:ext cx="5656263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24" name="Object 52"/>
          <p:cNvGraphicFramePr>
            <a:graphicFrameLocks noChangeAspect="1"/>
          </p:cNvGraphicFramePr>
          <p:nvPr/>
        </p:nvGraphicFramePr>
        <p:xfrm>
          <a:off x="555625" y="5949950"/>
          <a:ext cx="56721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" name="" r:id="rId11" imgW="2055495" imgH="173990" progId="Equation.3">
                  <p:embed/>
                </p:oleObj>
              </mc:Choice>
              <mc:Fallback>
                <p:oleObj name="" r:id="rId11" imgW="2055495" imgH="17399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5625" y="5949950"/>
                        <a:ext cx="5672138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33" name="Object 61"/>
          <p:cNvGraphicFramePr>
            <a:graphicFrameLocks noChangeAspect="1"/>
          </p:cNvGraphicFramePr>
          <p:nvPr/>
        </p:nvGraphicFramePr>
        <p:xfrm>
          <a:off x="479425" y="2767013"/>
          <a:ext cx="4237038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13" imgW="1637030" imgH="348615" progId="Equation.3">
                  <p:embed/>
                </p:oleObj>
              </mc:Choice>
              <mc:Fallback>
                <p:oleObj name="" r:id="rId13" imgW="1637030" imgH="348615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9425" y="2767013"/>
                        <a:ext cx="4237038" cy="973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34" name="Object 62"/>
          <p:cNvGraphicFramePr>
            <a:graphicFrameLocks noChangeAspect="1"/>
          </p:cNvGraphicFramePr>
          <p:nvPr/>
        </p:nvGraphicFramePr>
        <p:xfrm>
          <a:off x="504825" y="3632200"/>
          <a:ext cx="42116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15" imgW="1645920" imgH="348615" progId="Equation.3">
                  <p:embed/>
                </p:oleObj>
              </mc:Choice>
              <mc:Fallback>
                <p:oleObj name="" r:id="rId15" imgW="1645920" imgH="348615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04825" y="3632200"/>
                        <a:ext cx="4211638" cy="955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35" name="Object 63"/>
          <p:cNvGraphicFramePr>
            <a:graphicFrameLocks noChangeAspect="1"/>
          </p:cNvGraphicFramePr>
          <p:nvPr/>
        </p:nvGraphicFramePr>
        <p:xfrm>
          <a:off x="5292725" y="2997200"/>
          <a:ext cx="30956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" name="" r:id="rId17" imgW="1114425" imgH="147955" progId="Equation.3">
                  <p:embed/>
                </p:oleObj>
              </mc:Choice>
              <mc:Fallback>
                <p:oleObj name="" r:id="rId17" imgW="1114425" imgH="147955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92725" y="2997200"/>
                        <a:ext cx="309562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536" name="Object 64"/>
          <p:cNvGraphicFramePr>
            <a:graphicFrameLocks noChangeAspect="1"/>
          </p:cNvGraphicFramePr>
          <p:nvPr/>
        </p:nvGraphicFramePr>
        <p:xfrm>
          <a:off x="5292725" y="3716338"/>
          <a:ext cx="30956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19" imgW="1149350" imgH="147955" progId="Equation.3">
                  <p:embed/>
                </p:oleObj>
              </mc:Choice>
              <mc:Fallback>
                <p:oleObj name="" r:id="rId19" imgW="1149350" imgH="147955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92725" y="3716338"/>
                        <a:ext cx="309562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7" name="Text Box 101"/>
          <p:cNvSpPr txBox="1"/>
          <p:nvPr/>
        </p:nvSpPr>
        <p:spPr>
          <a:xfrm>
            <a:off x="5724525" y="2492375"/>
            <a:ext cx="23764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r>
              <a:rPr lang="zh-CN" altLang="en-US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＋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等效电路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9889" name="Group 106"/>
          <p:cNvGrpSpPr/>
          <p:nvPr/>
        </p:nvGrpSpPr>
        <p:grpSpPr>
          <a:xfrm>
            <a:off x="5003800" y="403226"/>
            <a:ext cx="3816350" cy="2047874"/>
            <a:chOff x="3152" y="254"/>
            <a:chExt cx="2404" cy="1290"/>
          </a:xfrm>
        </p:grpSpPr>
        <p:sp>
          <p:nvSpPr>
            <p:cNvPr id="79890" name="Line 76"/>
            <p:cNvSpPr/>
            <p:nvPr/>
          </p:nvSpPr>
          <p:spPr>
            <a:xfrm flipH="1" flipV="1">
              <a:off x="4059" y="618"/>
              <a:ext cx="0" cy="9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79891" name="Line 78"/>
            <p:cNvSpPr/>
            <p:nvPr/>
          </p:nvSpPr>
          <p:spPr>
            <a:xfrm>
              <a:off x="3334" y="618"/>
              <a:ext cx="204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892" name="Oval 80"/>
            <p:cNvSpPr/>
            <p:nvPr/>
          </p:nvSpPr>
          <p:spPr>
            <a:xfrm>
              <a:off x="5193" y="86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893" name="Oval 81"/>
            <p:cNvSpPr/>
            <p:nvPr/>
          </p:nvSpPr>
          <p:spPr>
            <a:xfrm>
              <a:off x="3152" y="86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894" name="Line 82"/>
            <p:cNvSpPr/>
            <p:nvPr/>
          </p:nvSpPr>
          <p:spPr>
            <a:xfrm>
              <a:off x="4059" y="1117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9895" name="Text Box 83"/>
            <p:cNvSpPr txBox="1"/>
            <p:nvPr/>
          </p:nvSpPr>
          <p:spPr>
            <a:xfrm>
              <a:off x="3424" y="662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896" name="Text Box 84"/>
            <p:cNvSpPr txBox="1"/>
            <p:nvPr/>
          </p:nvSpPr>
          <p:spPr>
            <a:xfrm>
              <a:off x="3379" y="1207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897" name="Text Box 85"/>
            <p:cNvSpPr txBox="1"/>
            <p:nvPr/>
          </p:nvSpPr>
          <p:spPr>
            <a:xfrm>
              <a:off x="4694" y="889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898" name="Text Box 86"/>
            <p:cNvSpPr txBox="1"/>
            <p:nvPr/>
          </p:nvSpPr>
          <p:spPr>
            <a:xfrm>
              <a:off x="4079" y="1106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899" name="Line 87"/>
            <p:cNvSpPr/>
            <p:nvPr/>
          </p:nvSpPr>
          <p:spPr>
            <a:xfrm>
              <a:off x="3334" y="1544"/>
              <a:ext cx="205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0" name="Line 88"/>
            <p:cNvSpPr/>
            <p:nvPr/>
          </p:nvSpPr>
          <p:spPr>
            <a:xfrm>
              <a:off x="3334" y="637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1" name="Text Box 89"/>
            <p:cNvSpPr txBox="1"/>
            <p:nvPr/>
          </p:nvSpPr>
          <p:spPr>
            <a:xfrm>
              <a:off x="3541" y="25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02" name="Text Box 90"/>
            <p:cNvSpPr txBox="1"/>
            <p:nvPr/>
          </p:nvSpPr>
          <p:spPr>
            <a:xfrm>
              <a:off x="4430" y="25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03" name="Text Box 91"/>
            <p:cNvSpPr txBox="1"/>
            <p:nvPr/>
          </p:nvSpPr>
          <p:spPr>
            <a:xfrm>
              <a:off x="5012" y="571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04" name="Text Box 92"/>
            <p:cNvSpPr txBox="1"/>
            <p:nvPr/>
          </p:nvSpPr>
          <p:spPr>
            <a:xfrm>
              <a:off x="4966" y="1206"/>
              <a:ext cx="36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05" name="Line 93"/>
            <p:cNvSpPr/>
            <p:nvPr/>
          </p:nvSpPr>
          <p:spPr>
            <a:xfrm>
              <a:off x="5375" y="637"/>
              <a:ext cx="0" cy="90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6" name="Text Box 94"/>
            <p:cNvSpPr txBox="1"/>
            <p:nvPr/>
          </p:nvSpPr>
          <p:spPr>
            <a:xfrm>
              <a:off x="3379" y="1025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07" name="Line 95"/>
            <p:cNvSpPr/>
            <p:nvPr/>
          </p:nvSpPr>
          <p:spPr>
            <a:xfrm flipV="1">
              <a:off x="3243" y="592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9908" name="Line 96"/>
            <p:cNvSpPr/>
            <p:nvPr/>
          </p:nvSpPr>
          <p:spPr>
            <a:xfrm flipV="1">
              <a:off x="5420" y="637"/>
              <a:ext cx="0" cy="181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9909" name="Text Box 97"/>
            <p:cNvSpPr txBox="1"/>
            <p:nvPr/>
          </p:nvSpPr>
          <p:spPr>
            <a:xfrm>
              <a:off x="5185" y="299"/>
              <a:ext cx="2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10" name="Text Box 98"/>
            <p:cNvSpPr txBox="1"/>
            <p:nvPr/>
          </p:nvSpPr>
          <p:spPr>
            <a:xfrm>
              <a:off x="3198" y="254"/>
              <a:ext cx="31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79911" name="Rectangle 99"/>
            <p:cNvSpPr/>
            <p:nvPr/>
          </p:nvSpPr>
          <p:spPr>
            <a:xfrm>
              <a:off x="4513" y="5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79912" name="Rectangle 100"/>
            <p:cNvSpPr/>
            <p:nvPr/>
          </p:nvSpPr>
          <p:spPr>
            <a:xfrm>
              <a:off x="3561" y="546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79913" name="Group 105"/>
            <p:cNvGrpSpPr/>
            <p:nvPr/>
          </p:nvGrpSpPr>
          <p:grpSpPr>
            <a:xfrm>
              <a:off x="3878" y="754"/>
              <a:ext cx="363" cy="363"/>
              <a:chOff x="3878" y="844"/>
              <a:chExt cx="363" cy="363"/>
            </a:xfrm>
          </p:grpSpPr>
          <p:sp>
            <p:nvSpPr>
              <p:cNvPr id="79914" name="Oval 77"/>
              <p:cNvSpPr/>
              <p:nvPr/>
            </p:nvSpPr>
            <p:spPr>
              <a:xfrm>
                <a:off x="3878" y="844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79915" name="Line 79"/>
              <p:cNvSpPr/>
              <p:nvPr/>
            </p:nvSpPr>
            <p:spPr>
              <a:xfrm>
                <a:off x="3878" y="1026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0547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Text Box 2"/>
          <p:cNvSpPr txBox="1"/>
          <p:nvPr/>
        </p:nvSpPr>
        <p:spPr>
          <a:xfrm>
            <a:off x="468313" y="474186"/>
            <a:ext cx="901700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5955" name="Text Box 3"/>
          <p:cNvSpPr txBox="1"/>
          <p:nvPr/>
        </p:nvSpPr>
        <p:spPr>
          <a:xfrm>
            <a:off x="1476375" y="402749"/>
            <a:ext cx="7343775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已知：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时开关由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1→2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，求换路后的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5998" name="Text Box 46"/>
          <p:cNvSpPr txBox="1"/>
          <p:nvPr/>
        </p:nvSpPr>
        <p:spPr>
          <a:xfrm>
            <a:off x="539750" y="3571399"/>
            <a:ext cx="576263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5999" name="Text Box 47"/>
          <p:cNvSpPr txBox="1"/>
          <p:nvPr/>
        </p:nvSpPr>
        <p:spPr>
          <a:xfrm>
            <a:off x="1476375" y="3644900"/>
            <a:ext cx="216058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三要素为：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26001" name="Object 49"/>
          <p:cNvGraphicFramePr>
            <a:graphicFrameLocks noChangeAspect="1"/>
          </p:cNvGraphicFramePr>
          <p:nvPr/>
        </p:nvGraphicFramePr>
        <p:xfrm>
          <a:off x="1347788" y="4868863"/>
          <a:ext cx="497681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" r:id="rId1" imgW="1741805" imgH="147955" progId="Equation.3">
                  <p:embed/>
                </p:oleObj>
              </mc:Choice>
              <mc:Fallback>
                <p:oleObj name="" r:id="rId1" imgW="1741805" imgH="147955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47788" y="4868863"/>
                        <a:ext cx="4976812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21" name="Object 69"/>
          <p:cNvGraphicFramePr>
            <a:graphicFrameLocks noChangeAspect="1"/>
          </p:cNvGraphicFramePr>
          <p:nvPr/>
        </p:nvGraphicFramePr>
        <p:xfrm>
          <a:off x="1331913" y="4149725"/>
          <a:ext cx="3848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" name="" r:id="rId3" imgW="1419225" imgH="173990" progId="Equation.3">
                  <p:embed/>
                </p:oleObj>
              </mc:Choice>
              <mc:Fallback>
                <p:oleObj name="" r:id="rId3" imgW="1419225" imgH="17399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149725"/>
                        <a:ext cx="38481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135" name="Group 183"/>
          <p:cNvGrpSpPr/>
          <p:nvPr/>
        </p:nvGrpSpPr>
        <p:grpSpPr>
          <a:xfrm>
            <a:off x="5795963" y="1268413"/>
            <a:ext cx="3019425" cy="2160587"/>
            <a:chOff x="3651" y="799"/>
            <a:chExt cx="1902" cy="1361"/>
          </a:xfrm>
        </p:grpSpPr>
        <p:sp>
          <p:nvSpPr>
            <p:cNvPr id="80952" name="Oval 123"/>
            <p:cNvSpPr/>
            <p:nvPr/>
          </p:nvSpPr>
          <p:spPr>
            <a:xfrm>
              <a:off x="4967" y="1161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53" name="AutoShape 124"/>
            <p:cNvSpPr/>
            <p:nvPr/>
          </p:nvSpPr>
          <p:spPr>
            <a:xfrm>
              <a:off x="4286" y="1797"/>
              <a:ext cx="453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54" name="Line 125"/>
            <p:cNvSpPr/>
            <p:nvPr/>
          </p:nvSpPr>
          <p:spPr>
            <a:xfrm>
              <a:off x="3923" y="889"/>
              <a:ext cx="0" cy="108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5" name="Line 126"/>
            <p:cNvSpPr/>
            <p:nvPr/>
          </p:nvSpPr>
          <p:spPr>
            <a:xfrm>
              <a:off x="3923" y="1978"/>
              <a:ext cx="122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6" name="Text Box 127"/>
            <p:cNvSpPr txBox="1"/>
            <p:nvPr/>
          </p:nvSpPr>
          <p:spPr>
            <a:xfrm>
              <a:off x="4221" y="869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80957" name="Line 128"/>
            <p:cNvSpPr/>
            <p:nvPr/>
          </p:nvSpPr>
          <p:spPr>
            <a:xfrm>
              <a:off x="5148" y="889"/>
              <a:ext cx="1" cy="10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58" name="Text Box 129"/>
            <p:cNvSpPr txBox="1"/>
            <p:nvPr/>
          </p:nvSpPr>
          <p:spPr>
            <a:xfrm>
              <a:off x="4015" y="1660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59" name="Line 130"/>
            <p:cNvSpPr/>
            <p:nvPr/>
          </p:nvSpPr>
          <p:spPr>
            <a:xfrm flipV="1">
              <a:off x="3923" y="889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60" name="Text Box 131"/>
            <p:cNvSpPr txBox="1"/>
            <p:nvPr/>
          </p:nvSpPr>
          <p:spPr>
            <a:xfrm>
              <a:off x="4665" y="1725"/>
              <a:ext cx="308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0961" name="Text Box 132"/>
            <p:cNvSpPr txBox="1"/>
            <p:nvPr/>
          </p:nvSpPr>
          <p:spPr>
            <a:xfrm>
              <a:off x="3969" y="125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80962" name="Line 133"/>
            <p:cNvSpPr/>
            <p:nvPr/>
          </p:nvSpPr>
          <p:spPr>
            <a:xfrm>
              <a:off x="4014" y="935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0963" name="Text Box 134"/>
            <p:cNvSpPr txBox="1"/>
            <p:nvPr/>
          </p:nvSpPr>
          <p:spPr>
            <a:xfrm>
              <a:off x="3651" y="889"/>
              <a:ext cx="36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80964" name="Text Box 135"/>
            <p:cNvSpPr txBox="1"/>
            <p:nvPr/>
          </p:nvSpPr>
          <p:spPr>
            <a:xfrm>
              <a:off x="4286" y="1479"/>
              <a:ext cx="54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80965" name="Text Box 136"/>
            <p:cNvSpPr txBox="1"/>
            <p:nvPr/>
          </p:nvSpPr>
          <p:spPr>
            <a:xfrm>
              <a:off x="5326" y="1187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66" name="Text Box 137"/>
            <p:cNvSpPr txBox="1"/>
            <p:nvPr/>
          </p:nvSpPr>
          <p:spPr>
            <a:xfrm>
              <a:off x="5140" y="869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67" name="Text Box 138"/>
            <p:cNvSpPr txBox="1"/>
            <p:nvPr/>
          </p:nvSpPr>
          <p:spPr>
            <a:xfrm>
              <a:off x="5071" y="1532"/>
              <a:ext cx="341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80968" name="Rectangle 139"/>
            <p:cNvSpPr/>
            <p:nvPr/>
          </p:nvSpPr>
          <p:spPr>
            <a:xfrm>
              <a:off x="4286" y="79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69" name="Rectangle 140"/>
            <p:cNvSpPr/>
            <p:nvPr/>
          </p:nvSpPr>
          <p:spPr>
            <a:xfrm>
              <a:off x="3878" y="12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26093" name="Object 141"/>
          <p:cNvGraphicFramePr>
            <a:graphicFrameLocks noChangeAspect="1"/>
          </p:cNvGraphicFramePr>
          <p:nvPr/>
        </p:nvGraphicFramePr>
        <p:xfrm>
          <a:off x="1331913" y="5589588"/>
          <a:ext cx="4914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" name="" r:id="rId5" imgW="1724025" imgH="173990" progId="Equation.3">
                  <p:embed/>
                </p:oleObj>
              </mc:Choice>
              <mc:Fallback>
                <p:oleObj name="" r:id="rId5" imgW="1724025" imgH="173990" progId="Equation.3">
                  <p:embed/>
                  <p:pic>
                    <p:nvPicPr>
                      <p:cNvPr id="0" name="图片 32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589588"/>
                        <a:ext cx="491490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140" name="Group 188"/>
          <p:cNvGrpSpPr/>
          <p:nvPr/>
        </p:nvGrpSpPr>
        <p:grpSpPr>
          <a:xfrm>
            <a:off x="684213" y="1125538"/>
            <a:ext cx="4773612" cy="2447925"/>
            <a:chOff x="431" y="709"/>
            <a:chExt cx="3007" cy="1542"/>
          </a:xfrm>
        </p:grpSpPr>
        <p:sp>
          <p:nvSpPr>
            <p:cNvPr id="80912" name="Line 144"/>
            <p:cNvSpPr/>
            <p:nvPr/>
          </p:nvSpPr>
          <p:spPr>
            <a:xfrm flipV="1">
              <a:off x="612" y="755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13" name="Oval 146"/>
            <p:cNvSpPr/>
            <p:nvPr/>
          </p:nvSpPr>
          <p:spPr>
            <a:xfrm>
              <a:off x="2245" y="1526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14" name="Line 147"/>
            <p:cNvSpPr/>
            <p:nvPr/>
          </p:nvSpPr>
          <p:spPr>
            <a:xfrm>
              <a:off x="3334" y="755"/>
              <a:ext cx="0" cy="68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15" name="AutoShape 148"/>
            <p:cNvSpPr/>
            <p:nvPr/>
          </p:nvSpPr>
          <p:spPr>
            <a:xfrm>
              <a:off x="1429" y="1888"/>
              <a:ext cx="454" cy="363"/>
            </a:xfrm>
            <a:prstGeom prst="diamond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16" name="Line 149"/>
            <p:cNvSpPr/>
            <p:nvPr/>
          </p:nvSpPr>
          <p:spPr>
            <a:xfrm>
              <a:off x="1111" y="755"/>
              <a:ext cx="0" cy="13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80917" name="Line 150"/>
            <p:cNvSpPr/>
            <p:nvPr/>
          </p:nvSpPr>
          <p:spPr>
            <a:xfrm flipH="1" flipV="1">
              <a:off x="612" y="890"/>
              <a:ext cx="5" cy="408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0918" name="Line 151"/>
            <p:cNvSpPr/>
            <p:nvPr/>
          </p:nvSpPr>
          <p:spPr>
            <a:xfrm flipV="1">
              <a:off x="612" y="2069"/>
              <a:ext cx="2722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19" name="Text Box 152"/>
            <p:cNvSpPr txBox="1"/>
            <p:nvPr/>
          </p:nvSpPr>
          <p:spPr>
            <a:xfrm>
              <a:off x="631" y="92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2A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20" name="Text Box 153"/>
            <p:cNvSpPr txBox="1"/>
            <p:nvPr/>
          </p:nvSpPr>
          <p:spPr>
            <a:xfrm>
              <a:off x="1429" y="798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80921" name="Group 187"/>
            <p:cNvGrpSpPr/>
            <p:nvPr/>
          </p:nvGrpSpPr>
          <p:grpSpPr>
            <a:xfrm>
              <a:off x="431" y="1298"/>
              <a:ext cx="363" cy="363"/>
              <a:chOff x="431" y="1253"/>
              <a:chExt cx="363" cy="363"/>
            </a:xfrm>
          </p:grpSpPr>
          <p:sp>
            <p:nvSpPr>
              <p:cNvPr id="80950" name="Oval 145"/>
              <p:cNvSpPr/>
              <p:nvPr/>
            </p:nvSpPr>
            <p:spPr>
              <a:xfrm>
                <a:off x="431" y="1253"/>
                <a:ext cx="363" cy="363"/>
              </a:xfrm>
              <a:prstGeom prst="ellipse">
                <a:avLst/>
              </a:prstGeom>
              <a:gradFill rotWithShape="1">
                <a:gsLst>
                  <a:gs pos="0">
                    <a:srgbClr val="0099FF"/>
                  </a:gs>
                  <a:gs pos="100000">
                    <a:srgbClr val="004776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80951" name="Line 154"/>
              <p:cNvSpPr/>
              <p:nvPr/>
            </p:nvSpPr>
            <p:spPr>
              <a:xfrm>
                <a:off x="431" y="1435"/>
                <a:ext cx="362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80922" name="Line 155"/>
            <p:cNvSpPr/>
            <p:nvPr/>
          </p:nvSpPr>
          <p:spPr>
            <a:xfrm flipV="1">
              <a:off x="2427" y="755"/>
              <a:ext cx="363" cy="136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23" name="Line 156"/>
            <p:cNvSpPr/>
            <p:nvPr/>
          </p:nvSpPr>
          <p:spPr>
            <a:xfrm>
              <a:off x="2427" y="891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80924" name="Line 157"/>
            <p:cNvSpPr/>
            <p:nvPr/>
          </p:nvSpPr>
          <p:spPr>
            <a:xfrm>
              <a:off x="2290" y="709"/>
              <a:ext cx="409" cy="22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80925" name="Text Box 158"/>
            <p:cNvSpPr txBox="1"/>
            <p:nvPr/>
          </p:nvSpPr>
          <p:spPr>
            <a:xfrm>
              <a:off x="1973" y="102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0926" name="Text Box 159"/>
            <p:cNvSpPr txBox="1"/>
            <p:nvPr/>
          </p:nvSpPr>
          <p:spPr>
            <a:xfrm>
              <a:off x="2836" y="934"/>
              <a:ext cx="52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0.1F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27" name="Text Box 160"/>
            <p:cNvSpPr txBox="1"/>
            <p:nvPr/>
          </p:nvSpPr>
          <p:spPr>
            <a:xfrm>
              <a:off x="1202" y="1751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28" name="Text Box 161"/>
            <p:cNvSpPr txBox="1"/>
            <p:nvPr/>
          </p:nvSpPr>
          <p:spPr>
            <a:xfrm>
              <a:off x="2882" y="1252"/>
              <a:ext cx="32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29" name="Line 162"/>
            <p:cNvSpPr/>
            <p:nvPr/>
          </p:nvSpPr>
          <p:spPr>
            <a:xfrm flipV="1">
              <a:off x="612" y="754"/>
              <a:ext cx="1633" cy="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0930" name="Line 163"/>
            <p:cNvSpPr/>
            <p:nvPr/>
          </p:nvSpPr>
          <p:spPr>
            <a:xfrm>
              <a:off x="2790" y="755"/>
              <a:ext cx="54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0931" name="Line 164"/>
            <p:cNvSpPr/>
            <p:nvPr/>
          </p:nvSpPr>
          <p:spPr>
            <a:xfrm>
              <a:off x="3334" y="1526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0932" name="Text Box 165"/>
            <p:cNvSpPr txBox="1"/>
            <p:nvPr/>
          </p:nvSpPr>
          <p:spPr>
            <a:xfrm>
              <a:off x="1928" y="1752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33" name="Text Box 166"/>
            <p:cNvSpPr txBox="1"/>
            <p:nvPr/>
          </p:nvSpPr>
          <p:spPr>
            <a:xfrm>
              <a:off x="3062" y="1116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34" name="Text Box 167"/>
            <p:cNvSpPr txBox="1"/>
            <p:nvPr/>
          </p:nvSpPr>
          <p:spPr>
            <a:xfrm>
              <a:off x="3017" y="1616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35" name="Text Box 168"/>
            <p:cNvSpPr txBox="1"/>
            <p:nvPr/>
          </p:nvSpPr>
          <p:spPr>
            <a:xfrm>
              <a:off x="1182" y="1279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36" name="Line 169"/>
            <p:cNvSpPr/>
            <p:nvPr/>
          </p:nvSpPr>
          <p:spPr>
            <a:xfrm>
              <a:off x="1202" y="936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0937" name="Text Box 170"/>
            <p:cNvSpPr txBox="1"/>
            <p:nvPr/>
          </p:nvSpPr>
          <p:spPr>
            <a:xfrm>
              <a:off x="1157" y="844"/>
              <a:ext cx="36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38" name="Text Box 171"/>
            <p:cNvSpPr txBox="1"/>
            <p:nvPr/>
          </p:nvSpPr>
          <p:spPr>
            <a:xfrm>
              <a:off x="1474" y="1569"/>
              <a:ext cx="54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39" name="Text Box 172"/>
            <p:cNvSpPr txBox="1"/>
            <p:nvPr/>
          </p:nvSpPr>
          <p:spPr>
            <a:xfrm>
              <a:off x="2590" y="1506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8V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40" name="Text Box 173"/>
            <p:cNvSpPr txBox="1"/>
            <p:nvPr/>
          </p:nvSpPr>
          <p:spPr>
            <a:xfrm>
              <a:off x="2509" y="1778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0941" name="Text Box 174"/>
            <p:cNvSpPr txBox="1"/>
            <p:nvPr/>
          </p:nvSpPr>
          <p:spPr>
            <a:xfrm>
              <a:off x="2440" y="1261"/>
              <a:ext cx="340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942" name="Text Box 175"/>
            <p:cNvSpPr txBox="1"/>
            <p:nvPr/>
          </p:nvSpPr>
          <p:spPr>
            <a:xfrm>
              <a:off x="2472" y="845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80943" name="Text Box 176"/>
            <p:cNvSpPr txBox="1"/>
            <p:nvPr/>
          </p:nvSpPr>
          <p:spPr>
            <a:xfrm>
              <a:off x="2064" y="709"/>
              <a:ext cx="22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endParaRPr lang="en-US" altLang="zh-CN" b="0" dirty="0"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80944" name="Rectangle 177"/>
            <p:cNvSpPr/>
            <p:nvPr/>
          </p:nvSpPr>
          <p:spPr>
            <a:xfrm>
              <a:off x="1429" y="70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45" name="Rectangle 178"/>
            <p:cNvSpPr/>
            <p:nvPr/>
          </p:nvSpPr>
          <p:spPr>
            <a:xfrm>
              <a:off x="2381" y="102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0946" name="Rectangle 179"/>
            <p:cNvSpPr/>
            <p:nvPr/>
          </p:nvSpPr>
          <p:spPr>
            <a:xfrm>
              <a:off x="1066" y="1299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80947" name="Group 180"/>
            <p:cNvGrpSpPr/>
            <p:nvPr/>
          </p:nvGrpSpPr>
          <p:grpSpPr>
            <a:xfrm>
              <a:off x="3198" y="1435"/>
              <a:ext cx="240" cy="90"/>
              <a:chOff x="4604" y="2478"/>
              <a:chExt cx="240" cy="90"/>
            </a:xfrm>
          </p:grpSpPr>
          <p:sp>
            <p:nvSpPr>
              <p:cNvPr id="80948" name="Line 181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0949" name="Line 182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25954" grpId="0"/>
      <p:bldP spid="125955" grpId="0"/>
      <p:bldP spid="125998" grpId="0" animBg="1"/>
      <p:bldP spid="12599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8236" name="Object 108"/>
          <p:cNvGraphicFramePr>
            <a:graphicFrameLocks noChangeAspect="1"/>
          </p:cNvGraphicFramePr>
          <p:nvPr/>
        </p:nvGraphicFramePr>
        <p:xfrm>
          <a:off x="981075" y="908050"/>
          <a:ext cx="60737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" name="" r:id="rId1" imgW="2194560" imgH="252730" progId="Equation.3">
                  <p:embed/>
                </p:oleObj>
              </mc:Choice>
              <mc:Fallback>
                <p:oleObj name="" r:id="rId1" imgW="2194560" imgH="252730" progId="Equation.3">
                  <p:embed/>
                  <p:pic>
                    <p:nvPicPr>
                      <p:cNvPr id="0" name="图片 329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81075" y="908050"/>
                        <a:ext cx="6073775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8" name="Object 110"/>
          <p:cNvGraphicFramePr>
            <a:graphicFrameLocks noChangeAspect="1"/>
          </p:cNvGraphicFramePr>
          <p:nvPr/>
        </p:nvGraphicFramePr>
        <p:xfrm>
          <a:off x="1027113" y="1844675"/>
          <a:ext cx="65420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0" name="" r:id="rId3" imgW="2368550" imgH="173990" progId="Equation.3">
                  <p:embed/>
                </p:oleObj>
              </mc:Choice>
              <mc:Fallback>
                <p:oleObj name="" r:id="rId3" imgW="2368550" imgH="173990" progId="Equation.3">
                  <p:embed/>
                  <p:pic>
                    <p:nvPicPr>
                      <p:cNvPr id="0" name="图片 328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27113" y="1844675"/>
                        <a:ext cx="6542087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52" name="Object 124"/>
          <p:cNvGraphicFramePr>
            <a:graphicFrameLocks noChangeAspect="1"/>
          </p:cNvGraphicFramePr>
          <p:nvPr/>
        </p:nvGraphicFramePr>
        <p:xfrm>
          <a:off x="1866900" y="620713"/>
          <a:ext cx="404971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" name="" r:id="rId5" imgW="1410970" imgH="173990" progId="Equation.3">
                  <p:embed/>
                </p:oleObj>
              </mc:Choice>
              <mc:Fallback>
                <p:oleObj name="" r:id="rId5" imgW="1410970" imgH="173990" progId="Equation.3">
                  <p:embed/>
                  <p:pic>
                    <p:nvPicPr>
                      <p:cNvPr id="0" name="图片 329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66900" y="620713"/>
                        <a:ext cx="4049713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253" name="AutoShape 125"/>
          <p:cNvSpPr/>
          <p:nvPr/>
        </p:nvSpPr>
        <p:spPr>
          <a:xfrm>
            <a:off x="971550" y="836613"/>
            <a:ext cx="792163" cy="144462"/>
          </a:xfrm>
          <a:prstGeom prst="rightArrow">
            <a:avLst>
              <a:gd name="adj1" fmla="val 50000"/>
              <a:gd name="adj2" fmla="val 137088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8254" name="Text Box 126"/>
          <p:cNvSpPr txBox="1"/>
          <p:nvPr/>
        </p:nvSpPr>
        <p:spPr>
          <a:xfrm>
            <a:off x="539750" y="2706212"/>
            <a:ext cx="974725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8255" name="Text Box 127"/>
          <p:cNvSpPr txBox="1"/>
          <p:nvPr/>
        </p:nvSpPr>
        <p:spPr>
          <a:xfrm>
            <a:off x="1331913" y="2779237"/>
            <a:ext cx="7416800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已知：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时开关闭合，求换路后的电流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48256" name="Group 128"/>
          <p:cNvGrpSpPr/>
          <p:nvPr/>
        </p:nvGrpSpPr>
        <p:grpSpPr>
          <a:xfrm>
            <a:off x="4716463" y="3500438"/>
            <a:ext cx="4079875" cy="2016125"/>
            <a:chOff x="2971" y="1389"/>
            <a:chExt cx="2570" cy="1270"/>
          </a:xfrm>
        </p:grpSpPr>
        <p:sp>
          <p:nvSpPr>
            <p:cNvPr id="81939" name="Oval 129"/>
            <p:cNvSpPr/>
            <p:nvPr/>
          </p:nvSpPr>
          <p:spPr>
            <a:xfrm>
              <a:off x="2971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1940" name="Line 130"/>
            <p:cNvSpPr/>
            <p:nvPr/>
          </p:nvSpPr>
          <p:spPr>
            <a:xfrm>
              <a:off x="3878" y="1480"/>
              <a:ext cx="14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41" name="Line 131"/>
            <p:cNvSpPr/>
            <p:nvPr/>
          </p:nvSpPr>
          <p:spPr>
            <a:xfrm>
              <a:off x="4740" y="1480"/>
              <a:ext cx="0" cy="8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1942" name="Line 132"/>
            <p:cNvSpPr/>
            <p:nvPr/>
          </p:nvSpPr>
          <p:spPr>
            <a:xfrm flipH="1" flipV="1">
              <a:off x="4740" y="2433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1943" name="Line 133"/>
            <p:cNvSpPr/>
            <p:nvPr/>
          </p:nvSpPr>
          <p:spPr>
            <a:xfrm>
              <a:off x="5284" y="1480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1944" name="Line 134"/>
            <p:cNvSpPr/>
            <p:nvPr/>
          </p:nvSpPr>
          <p:spPr>
            <a:xfrm>
              <a:off x="5193" y="157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1945" name="Text Box 135"/>
            <p:cNvSpPr txBox="1"/>
            <p:nvPr/>
          </p:nvSpPr>
          <p:spPr>
            <a:xfrm>
              <a:off x="3152" y="1596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46" name="Text Box 136"/>
            <p:cNvSpPr txBox="1"/>
            <p:nvPr/>
          </p:nvSpPr>
          <p:spPr>
            <a:xfrm>
              <a:off x="3198" y="2185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47" name="Text Box 137"/>
            <p:cNvSpPr txBox="1"/>
            <p:nvPr/>
          </p:nvSpPr>
          <p:spPr>
            <a:xfrm>
              <a:off x="3379" y="1460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1H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48" name="Text Box 138"/>
            <p:cNvSpPr txBox="1"/>
            <p:nvPr/>
          </p:nvSpPr>
          <p:spPr>
            <a:xfrm>
              <a:off x="4074" y="2231"/>
              <a:ext cx="63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0.25F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49" name="Line 139"/>
            <p:cNvSpPr/>
            <p:nvPr/>
          </p:nvSpPr>
          <p:spPr>
            <a:xfrm>
              <a:off x="3152" y="2659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50" name="Line 140"/>
            <p:cNvSpPr/>
            <p:nvPr/>
          </p:nvSpPr>
          <p:spPr>
            <a:xfrm flipV="1">
              <a:off x="5284" y="1842"/>
              <a:ext cx="227" cy="3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51" name="Line 141"/>
            <p:cNvSpPr/>
            <p:nvPr/>
          </p:nvSpPr>
          <p:spPr>
            <a:xfrm flipH="1" flipV="1">
              <a:off x="5284" y="1933"/>
              <a:ext cx="181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1952" name="Line 142"/>
            <p:cNvSpPr/>
            <p:nvPr/>
          </p:nvSpPr>
          <p:spPr>
            <a:xfrm flipH="1">
              <a:off x="3152" y="1480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1953" name="Text Box 143"/>
            <p:cNvSpPr txBox="1"/>
            <p:nvPr/>
          </p:nvSpPr>
          <p:spPr>
            <a:xfrm>
              <a:off x="4175" y="146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54" name="Text Box 144"/>
            <p:cNvSpPr txBox="1"/>
            <p:nvPr/>
          </p:nvSpPr>
          <p:spPr>
            <a:xfrm>
              <a:off x="4312" y="177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55" name="Line 145"/>
            <p:cNvSpPr/>
            <p:nvPr/>
          </p:nvSpPr>
          <p:spPr>
            <a:xfrm>
              <a:off x="5283" y="2160"/>
              <a:ext cx="1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1956" name="Text Box 146"/>
            <p:cNvSpPr txBox="1"/>
            <p:nvPr/>
          </p:nvSpPr>
          <p:spPr>
            <a:xfrm>
              <a:off x="5284" y="2140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57" name="Text Box 147"/>
            <p:cNvSpPr txBox="1"/>
            <p:nvPr/>
          </p:nvSpPr>
          <p:spPr>
            <a:xfrm>
              <a:off x="3243" y="1913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58" name="Text Box 148"/>
            <p:cNvSpPr txBox="1"/>
            <p:nvPr/>
          </p:nvSpPr>
          <p:spPr>
            <a:xfrm>
              <a:off x="5008" y="1641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1959" name="Line 149"/>
            <p:cNvSpPr/>
            <p:nvPr/>
          </p:nvSpPr>
          <p:spPr>
            <a:xfrm>
              <a:off x="3152" y="1480"/>
              <a:ext cx="31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1960" name="Group 150"/>
            <p:cNvGrpSpPr/>
            <p:nvPr/>
          </p:nvGrpSpPr>
          <p:grpSpPr>
            <a:xfrm>
              <a:off x="3424" y="1389"/>
              <a:ext cx="499" cy="590"/>
              <a:chOff x="476" y="663"/>
              <a:chExt cx="771" cy="862"/>
            </a:xfrm>
          </p:grpSpPr>
          <p:sp>
            <p:nvSpPr>
              <p:cNvPr id="81966" name="AutoShape 15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67" name="AutoShape 15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1968" name="AutoShape 15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1961" name="Rectangle 154"/>
            <p:cNvSpPr/>
            <p:nvPr/>
          </p:nvSpPr>
          <p:spPr>
            <a:xfrm>
              <a:off x="4195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1962" name="Rectangle 155"/>
            <p:cNvSpPr/>
            <p:nvPr/>
          </p:nvSpPr>
          <p:spPr>
            <a:xfrm>
              <a:off x="469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81963" name="Group 156"/>
            <p:cNvGrpSpPr/>
            <p:nvPr/>
          </p:nvGrpSpPr>
          <p:grpSpPr>
            <a:xfrm>
              <a:off x="4649" y="2341"/>
              <a:ext cx="240" cy="90"/>
              <a:chOff x="4604" y="2478"/>
              <a:chExt cx="240" cy="90"/>
            </a:xfrm>
          </p:grpSpPr>
          <p:sp>
            <p:nvSpPr>
              <p:cNvPr id="81964" name="Line 157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1965" name="Line 158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8287" name="Text Box 159"/>
          <p:cNvSpPr txBox="1"/>
          <p:nvPr/>
        </p:nvSpPr>
        <p:spPr>
          <a:xfrm>
            <a:off x="539750" y="3426937"/>
            <a:ext cx="576263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8288" name="Text Box 160"/>
          <p:cNvSpPr txBox="1"/>
          <p:nvPr/>
        </p:nvSpPr>
        <p:spPr>
          <a:xfrm>
            <a:off x="1331913" y="3429000"/>
            <a:ext cx="21605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三要素为：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48289" name="Object 161"/>
          <p:cNvGraphicFramePr>
            <a:graphicFrameLocks noChangeAspect="1"/>
          </p:cNvGraphicFramePr>
          <p:nvPr/>
        </p:nvGraphicFramePr>
        <p:xfrm>
          <a:off x="684213" y="4149725"/>
          <a:ext cx="36750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" name="" r:id="rId7" imgW="1393190" imgH="147955" progId="Equation.3">
                  <p:embed/>
                </p:oleObj>
              </mc:Choice>
              <mc:Fallback>
                <p:oleObj name="" r:id="rId7" imgW="1393190" imgH="147955" progId="Equation.3">
                  <p:embed/>
                  <p:pic>
                    <p:nvPicPr>
                      <p:cNvPr id="0" name="图片 32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149725"/>
                        <a:ext cx="3675062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90" name="Object 162"/>
          <p:cNvGraphicFramePr>
            <a:graphicFrameLocks noChangeAspect="1"/>
          </p:cNvGraphicFramePr>
          <p:nvPr/>
        </p:nvGraphicFramePr>
        <p:xfrm>
          <a:off x="684213" y="4797425"/>
          <a:ext cx="18478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" r:id="rId9" imgW="609600" imgH="147955" progId="Equation.3">
                  <p:embed/>
                </p:oleObj>
              </mc:Choice>
              <mc:Fallback>
                <p:oleObj name="" r:id="rId9" imgW="609600" imgH="147955" progId="Equation.3">
                  <p:embed/>
                  <p:pic>
                    <p:nvPicPr>
                      <p:cNvPr id="0" name="图片 329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4797425"/>
                        <a:ext cx="184785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91" name="Object 163"/>
          <p:cNvGraphicFramePr>
            <a:graphicFrameLocks noChangeAspect="1"/>
          </p:cNvGraphicFramePr>
          <p:nvPr/>
        </p:nvGraphicFramePr>
        <p:xfrm>
          <a:off x="684213" y="5445125"/>
          <a:ext cx="41116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11" imgW="1610995" imgH="173990" progId="Equation.3">
                  <p:embed/>
                </p:oleObj>
              </mc:Choice>
              <mc:Fallback>
                <p:oleObj name="" r:id="rId11" imgW="1610995" imgH="17399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5445125"/>
                        <a:ext cx="411162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48253" grpId="0" animBg="1"/>
      <p:bldP spid="48254" grpId="0"/>
      <p:bldP spid="48255" grpId="0"/>
      <p:bldP spid="48287" grpId="0" animBg="1"/>
      <p:bldP spid="482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336" name="Object 120"/>
          <p:cNvGraphicFramePr>
            <a:graphicFrameLocks noChangeAspect="1"/>
          </p:cNvGraphicFramePr>
          <p:nvPr/>
        </p:nvGraphicFramePr>
        <p:xfrm>
          <a:off x="611188" y="2781300"/>
          <a:ext cx="7789862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" name="" r:id="rId1" imgW="2839085" imgH="252730" progId="Equation.3">
                  <p:embed/>
                </p:oleObj>
              </mc:Choice>
              <mc:Fallback>
                <p:oleObj name="" r:id="rId1" imgW="2839085" imgH="252730" progId="Equation.3">
                  <p:embed/>
                  <p:pic>
                    <p:nvPicPr>
                      <p:cNvPr id="0" name="图片 330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2781300"/>
                        <a:ext cx="7789862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39" name="Object 123"/>
          <p:cNvGraphicFramePr>
            <a:graphicFrameLocks noChangeAspect="1"/>
          </p:cNvGraphicFramePr>
          <p:nvPr/>
        </p:nvGraphicFramePr>
        <p:xfrm>
          <a:off x="755650" y="930275"/>
          <a:ext cx="30003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" name="" r:id="rId3" imgW="1114425" imgH="147955" progId="Equation.3">
                  <p:embed/>
                </p:oleObj>
              </mc:Choice>
              <mc:Fallback>
                <p:oleObj name="" r:id="rId3" imgW="1114425" imgH="147955" progId="Equation.3">
                  <p:embed/>
                  <p:pic>
                    <p:nvPicPr>
                      <p:cNvPr id="0" name="图片 329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930275"/>
                        <a:ext cx="3000375" cy="519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40" name="Object 124"/>
          <p:cNvGraphicFramePr>
            <a:graphicFrameLocks noChangeAspect="1"/>
          </p:cNvGraphicFramePr>
          <p:nvPr/>
        </p:nvGraphicFramePr>
        <p:xfrm>
          <a:off x="684213" y="1506538"/>
          <a:ext cx="30749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6" name="" r:id="rId5" imgW="1141095" imgH="147955" progId="Equation.3">
                  <p:embed/>
                </p:oleObj>
              </mc:Choice>
              <mc:Fallback>
                <p:oleObj name="" r:id="rId5" imgW="1141095" imgH="147955" progId="Equation.3">
                  <p:embed/>
                  <p:pic>
                    <p:nvPicPr>
                      <p:cNvPr id="0" name="图片 32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4213" y="1506538"/>
                        <a:ext cx="3074987" cy="523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41" name="Object 125"/>
          <p:cNvGraphicFramePr>
            <a:graphicFrameLocks noChangeAspect="1"/>
          </p:cNvGraphicFramePr>
          <p:nvPr/>
        </p:nvGraphicFramePr>
        <p:xfrm>
          <a:off x="725488" y="2154238"/>
          <a:ext cx="36576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" r:id="rId7" imgW="1428115" imgH="173990" progId="Equation.3">
                  <p:embed/>
                </p:oleObj>
              </mc:Choice>
              <mc:Fallback>
                <p:oleObj name="" r:id="rId7" imgW="1428115" imgH="173990" progId="Equation.3">
                  <p:embed/>
                  <p:pic>
                    <p:nvPicPr>
                      <p:cNvPr id="0" name="图片 3297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5488" y="2154238"/>
                        <a:ext cx="3657600" cy="554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42" name="Object 126"/>
          <p:cNvGraphicFramePr>
            <a:graphicFrameLocks noChangeAspect="1"/>
          </p:cNvGraphicFramePr>
          <p:nvPr/>
        </p:nvGraphicFramePr>
        <p:xfrm>
          <a:off x="611188" y="3500438"/>
          <a:ext cx="78184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9" imgW="2926080" imgH="252730" progId="Equation.3">
                  <p:embed/>
                </p:oleObj>
              </mc:Choice>
              <mc:Fallback>
                <p:oleObj name="" r:id="rId9" imgW="2926080" imgH="25273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500438"/>
                        <a:ext cx="7818437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43" name="Object 127"/>
          <p:cNvGraphicFramePr>
            <a:graphicFrameLocks noChangeAspect="1"/>
          </p:cNvGraphicFramePr>
          <p:nvPr/>
        </p:nvGraphicFramePr>
        <p:xfrm>
          <a:off x="539750" y="4292600"/>
          <a:ext cx="70104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" r:id="rId11" imgW="2543175" imgH="348615" progId="Equation.3">
                  <p:embed/>
                </p:oleObj>
              </mc:Choice>
              <mc:Fallback>
                <p:oleObj name="" r:id="rId11" imgW="2543175" imgH="348615" progId="Equation.3">
                  <p:embed/>
                  <p:pic>
                    <p:nvPicPr>
                      <p:cNvPr id="0" name="图片 329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292600"/>
                        <a:ext cx="7010400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954" name="Group 142"/>
          <p:cNvGrpSpPr/>
          <p:nvPr/>
        </p:nvGrpSpPr>
        <p:grpSpPr>
          <a:xfrm>
            <a:off x="4572000" y="692150"/>
            <a:ext cx="4079875" cy="2016125"/>
            <a:chOff x="2971" y="1389"/>
            <a:chExt cx="2570" cy="1270"/>
          </a:xfrm>
        </p:grpSpPr>
        <p:sp>
          <p:nvSpPr>
            <p:cNvPr id="82958" name="Oval 143"/>
            <p:cNvSpPr/>
            <p:nvPr/>
          </p:nvSpPr>
          <p:spPr>
            <a:xfrm>
              <a:off x="2971" y="188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959" name="Line 144"/>
            <p:cNvSpPr/>
            <p:nvPr/>
          </p:nvSpPr>
          <p:spPr>
            <a:xfrm>
              <a:off x="3878" y="1480"/>
              <a:ext cx="140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0" name="Line 145"/>
            <p:cNvSpPr/>
            <p:nvPr/>
          </p:nvSpPr>
          <p:spPr>
            <a:xfrm>
              <a:off x="4740" y="1480"/>
              <a:ext cx="0" cy="86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2961" name="Line 146"/>
            <p:cNvSpPr/>
            <p:nvPr/>
          </p:nvSpPr>
          <p:spPr>
            <a:xfrm flipH="1" flipV="1">
              <a:off x="4740" y="2433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2962" name="Line 147"/>
            <p:cNvSpPr/>
            <p:nvPr/>
          </p:nvSpPr>
          <p:spPr>
            <a:xfrm>
              <a:off x="5284" y="1480"/>
              <a:ext cx="0" cy="4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2963" name="Line 148"/>
            <p:cNvSpPr/>
            <p:nvPr/>
          </p:nvSpPr>
          <p:spPr>
            <a:xfrm>
              <a:off x="5193" y="1570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64" name="Text Box 149"/>
            <p:cNvSpPr txBox="1"/>
            <p:nvPr/>
          </p:nvSpPr>
          <p:spPr>
            <a:xfrm>
              <a:off x="3152" y="1596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65" name="Text Box 150"/>
            <p:cNvSpPr txBox="1"/>
            <p:nvPr/>
          </p:nvSpPr>
          <p:spPr>
            <a:xfrm>
              <a:off x="3198" y="2185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66" name="Text Box 151"/>
            <p:cNvSpPr txBox="1"/>
            <p:nvPr/>
          </p:nvSpPr>
          <p:spPr>
            <a:xfrm>
              <a:off x="3379" y="1460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1H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67" name="Text Box 152"/>
            <p:cNvSpPr txBox="1"/>
            <p:nvPr/>
          </p:nvSpPr>
          <p:spPr>
            <a:xfrm>
              <a:off x="4074" y="2231"/>
              <a:ext cx="63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0.25F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68" name="Line 153"/>
            <p:cNvSpPr/>
            <p:nvPr/>
          </p:nvSpPr>
          <p:spPr>
            <a:xfrm>
              <a:off x="3152" y="2659"/>
              <a:ext cx="21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69" name="Line 154"/>
            <p:cNvSpPr/>
            <p:nvPr/>
          </p:nvSpPr>
          <p:spPr>
            <a:xfrm flipV="1">
              <a:off x="5284" y="1842"/>
              <a:ext cx="227" cy="3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70" name="Line 155"/>
            <p:cNvSpPr/>
            <p:nvPr/>
          </p:nvSpPr>
          <p:spPr>
            <a:xfrm flipH="1" flipV="1">
              <a:off x="5284" y="1933"/>
              <a:ext cx="181" cy="227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2971" name="Line 156"/>
            <p:cNvSpPr/>
            <p:nvPr/>
          </p:nvSpPr>
          <p:spPr>
            <a:xfrm flipH="1">
              <a:off x="3152" y="1480"/>
              <a:ext cx="0" cy="117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972" name="Text Box 157"/>
            <p:cNvSpPr txBox="1"/>
            <p:nvPr/>
          </p:nvSpPr>
          <p:spPr>
            <a:xfrm>
              <a:off x="4175" y="146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73" name="Text Box 158"/>
            <p:cNvSpPr txBox="1"/>
            <p:nvPr/>
          </p:nvSpPr>
          <p:spPr>
            <a:xfrm>
              <a:off x="4312" y="177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74" name="Line 159"/>
            <p:cNvSpPr/>
            <p:nvPr/>
          </p:nvSpPr>
          <p:spPr>
            <a:xfrm>
              <a:off x="5283" y="2160"/>
              <a:ext cx="1" cy="49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2975" name="Text Box 160"/>
            <p:cNvSpPr txBox="1"/>
            <p:nvPr/>
          </p:nvSpPr>
          <p:spPr>
            <a:xfrm>
              <a:off x="5284" y="2140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76" name="Text Box 161"/>
            <p:cNvSpPr txBox="1"/>
            <p:nvPr/>
          </p:nvSpPr>
          <p:spPr>
            <a:xfrm>
              <a:off x="3243" y="1913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77" name="Text Box 162"/>
            <p:cNvSpPr txBox="1"/>
            <p:nvPr/>
          </p:nvSpPr>
          <p:spPr>
            <a:xfrm>
              <a:off x="5008" y="1641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2978" name="Line 163"/>
            <p:cNvSpPr/>
            <p:nvPr/>
          </p:nvSpPr>
          <p:spPr>
            <a:xfrm>
              <a:off x="3152" y="1480"/>
              <a:ext cx="31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82979" name="Group 164"/>
            <p:cNvGrpSpPr/>
            <p:nvPr/>
          </p:nvGrpSpPr>
          <p:grpSpPr>
            <a:xfrm>
              <a:off x="3424" y="1389"/>
              <a:ext cx="499" cy="590"/>
              <a:chOff x="476" y="663"/>
              <a:chExt cx="771" cy="862"/>
            </a:xfrm>
          </p:grpSpPr>
          <p:sp>
            <p:nvSpPr>
              <p:cNvPr id="82985" name="AutoShape 165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986" name="AutoShape 166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2987" name="AutoShape 167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2980" name="Rectangle 168"/>
            <p:cNvSpPr/>
            <p:nvPr/>
          </p:nvSpPr>
          <p:spPr>
            <a:xfrm>
              <a:off x="4195" y="1389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981" name="Rectangle 169"/>
            <p:cNvSpPr/>
            <p:nvPr/>
          </p:nvSpPr>
          <p:spPr>
            <a:xfrm>
              <a:off x="4694" y="1752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82982" name="Group 170"/>
            <p:cNvGrpSpPr/>
            <p:nvPr/>
          </p:nvGrpSpPr>
          <p:grpSpPr>
            <a:xfrm>
              <a:off x="4649" y="2341"/>
              <a:ext cx="240" cy="90"/>
              <a:chOff x="4604" y="2478"/>
              <a:chExt cx="240" cy="90"/>
            </a:xfrm>
          </p:grpSpPr>
          <p:sp>
            <p:nvSpPr>
              <p:cNvPr id="82983" name="Line 171"/>
              <p:cNvSpPr/>
              <p:nvPr/>
            </p:nvSpPr>
            <p:spPr>
              <a:xfrm>
                <a:off x="4604" y="247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984" name="Line 172"/>
              <p:cNvSpPr/>
              <p:nvPr/>
            </p:nvSpPr>
            <p:spPr>
              <a:xfrm>
                <a:off x="4604" y="2568"/>
                <a:ext cx="240" cy="0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Text Box 2"/>
          <p:cNvSpPr txBox="1"/>
          <p:nvPr/>
        </p:nvSpPr>
        <p:spPr>
          <a:xfrm>
            <a:off x="1547813" y="400686"/>
            <a:ext cx="7056437" cy="11734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1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已知：电感无初始储能</a:t>
            </a:r>
            <a:r>
              <a:rPr lang="en-US" altLang="zh-CN" sz="32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= 0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时合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32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=0.2s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时合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en-US" altLang="zh-CN" b="0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2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，求两次换路后的电感电流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8003" name="Text Box 3" descr="绿色大理石"/>
          <p:cNvSpPr txBox="1"/>
          <p:nvPr/>
        </p:nvSpPr>
        <p:spPr>
          <a:xfrm>
            <a:off x="1476375" y="1771174"/>
            <a:ext cx="2030095" cy="583565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&lt;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&lt; 0.2s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730250" y="4508500"/>
          <a:ext cx="28336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" name="" r:id="rId2" imgW="1027430" imgH="173990" progId="Equation.3">
                  <p:embed/>
                </p:oleObj>
              </mc:Choice>
              <mc:Fallback>
                <p:oleObj name="" r:id="rId2" imgW="1027430" imgH="173990" progId="Equation.3">
                  <p:embed/>
                  <p:pic>
                    <p:nvPicPr>
                      <p:cNvPr id="0" name="图片 3301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0250" y="4508500"/>
                        <a:ext cx="283368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6" name="Object 6"/>
          <p:cNvGraphicFramePr>
            <a:graphicFrameLocks noChangeAspect="1"/>
          </p:cNvGraphicFramePr>
          <p:nvPr/>
        </p:nvGraphicFramePr>
        <p:xfrm>
          <a:off x="730250" y="2611438"/>
          <a:ext cx="3748088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" name="" r:id="rId4" imgW="1358265" imgH="600710" progId="Equation.3">
                  <p:embed/>
                </p:oleObj>
              </mc:Choice>
              <mc:Fallback>
                <p:oleObj name="" r:id="rId4" imgW="1358265" imgH="600710" progId="Equation.3">
                  <p:embed/>
                  <p:pic>
                    <p:nvPicPr>
                      <p:cNvPr id="0" name="图片 330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0250" y="2611438"/>
                        <a:ext cx="3748088" cy="176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0" name="Text Box 10"/>
          <p:cNvSpPr txBox="1"/>
          <p:nvPr/>
        </p:nvSpPr>
        <p:spPr>
          <a:xfrm>
            <a:off x="539750" y="1773238"/>
            <a:ext cx="647700" cy="52197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28017" name="Text Box 17"/>
          <p:cNvSpPr txBox="1"/>
          <p:nvPr/>
        </p:nvSpPr>
        <p:spPr>
          <a:xfrm>
            <a:off x="468313" y="517049"/>
            <a:ext cx="100806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28018" name="Group 18"/>
          <p:cNvGrpSpPr/>
          <p:nvPr/>
        </p:nvGrpSpPr>
        <p:grpSpPr>
          <a:xfrm>
            <a:off x="4643438" y="1773238"/>
            <a:ext cx="3746500" cy="2951163"/>
            <a:chOff x="2971" y="746"/>
            <a:chExt cx="2360" cy="1859"/>
          </a:xfrm>
        </p:grpSpPr>
        <p:sp>
          <p:nvSpPr>
            <p:cNvPr id="83982" name="Oval 19"/>
            <p:cNvSpPr/>
            <p:nvPr/>
          </p:nvSpPr>
          <p:spPr>
            <a:xfrm>
              <a:off x="2971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3983" name="Line 20"/>
            <p:cNvSpPr/>
            <p:nvPr/>
          </p:nvSpPr>
          <p:spPr>
            <a:xfrm>
              <a:off x="3152" y="890"/>
              <a:ext cx="2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3984" name="Line 21"/>
            <p:cNvSpPr/>
            <p:nvPr/>
          </p:nvSpPr>
          <p:spPr>
            <a:xfrm>
              <a:off x="3152" y="890"/>
              <a:ext cx="0" cy="142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5" name="Line 22"/>
            <p:cNvSpPr/>
            <p:nvPr/>
          </p:nvSpPr>
          <p:spPr>
            <a:xfrm>
              <a:off x="3152" y="2296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6" name="Line 23"/>
            <p:cNvSpPr/>
            <p:nvPr/>
          </p:nvSpPr>
          <p:spPr>
            <a:xfrm>
              <a:off x="4558" y="890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7" name="Line 24"/>
            <p:cNvSpPr/>
            <p:nvPr/>
          </p:nvSpPr>
          <p:spPr>
            <a:xfrm flipV="1">
              <a:off x="3379" y="746"/>
              <a:ext cx="192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88" name="Line 25"/>
            <p:cNvSpPr/>
            <p:nvPr/>
          </p:nvSpPr>
          <p:spPr>
            <a:xfrm>
              <a:off x="3696" y="890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3989" name="Line 26"/>
            <p:cNvSpPr/>
            <p:nvPr/>
          </p:nvSpPr>
          <p:spPr>
            <a:xfrm>
              <a:off x="3379" y="754"/>
              <a:ext cx="192" cy="14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90" name="Line 27"/>
            <p:cNvSpPr/>
            <p:nvPr/>
          </p:nvSpPr>
          <p:spPr>
            <a:xfrm>
              <a:off x="4558" y="1525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3991" name="Line 28"/>
            <p:cNvSpPr/>
            <p:nvPr/>
          </p:nvSpPr>
          <p:spPr>
            <a:xfrm>
              <a:off x="4558" y="1661"/>
              <a:ext cx="4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3992" name="Line 29"/>
            <p:cNvSpPr/>
            <p:nvPr/>
          </p:nvSpPr>
          <p:spPr>
            <a:xfrm>
              <a:off x="5012" y="1661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3993" name="Line 30"/>
            <p:cNvSpPr/>
            <p:nvPr/>
          </p:nvSpPr>
          <p:spPr>
            <a:xfrm flipH="1">
              <a:off x="5012" y="1979"/>
              <a:ext cx="144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994" name="Line 31"/>
            <p:cNvSpPr/>
            <p:nvPr/>
          </p:nvSpPr>
          <p:spPr>
            <a:xfrm>
              <a:off x="5012" y="2115"/>
              <a:ext cx="0" cy="1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3995" name="Line 32"/>
            <p:cNvSpPr/>
            <p:nvPr/>
          </p:nvSpPr>
          <p:spPr>
            <a:xfrm flipH="1" flipV="1">
              <a:off x="5012" y="1933"/>
              <a:ext cx="144" cy="19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96" name="Line 33"/>
            <p:cNvSpPr/>
            <p:nvPr/>
          </p:nvSpPr>
          <p:spPr>
            <a:xfrm>
              <a:off x="4286" y="981"/>
              <a:ext cx="240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3997" name="Text Box 34"/>
            <p:cNvSpPr txBox="1"/>
            <p:nvPr/>
          </p:nvSpPr>
          <p:spPr>
            <a:xfrm>
              <a:off x="4332" y="934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3998" name="Text Box 35"/>
            <p:cNvSpPr txBox="1"/>
            <p:nvPr/>
          </p:nvSpPr>
          <p:spPr>
            <a:xfrm>
              <a:off x="3308" y="1460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3999" name="Text Box 36"/>
            <p:cNvSpPr txBox="1"/>
            <p:nvPr/>
          </p:nvSpPr>
          <p:spPr>
            <a:xfrm>
              <a:off x="3235" y="1187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4000" name="Text Box 37"/>
            <p:cNvSpPr txBox="1"/>
            <p:nvPr/>
          </p:nvSpPr>
          <p:spPr>
            <a:xfrm>
              <a:off x="3153" y="870"/>
              <a:ext cx="76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4001" name="Text Box 38"/>
            <p:cNvSpPr txBox="1"/>
            <p:nvPr/>
          </p:nvSpPr>
          <p:spPr>
            <a:xfrm>
              <a:off x="4314" y="2276"/>
              <a:ext cx="101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=0.2s)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4002" name="Rectangle 39"/>
            <p:cNvSpPr/>
            <p:nvPr/>
          </p:nvSpPr>
          <p:spPr>
            <a:xfrm>
              <a:off x="4130" y="177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4003" name="Text Box 40"/>
            <p:cNvSpPr txBox="1"/>
            <p:nvPr/>
          </p:nvSpPr>
          <p:spPr>
            <a:xfrm>
              <a:off x="3903" y="91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4004" name="Rectangle 41"/>
            <p:cNvSpPr/>
            <p:nvPr/>
          </p:nvSpPr>
          <p:spPr>
            <a:xfrm>
              <a:off x="3969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4005" name="Rectangle 42"/>
            <p:cNvSpPr/>
            <p:nvPr/>
          </p:nvSpPr>
          <p:spPr>
            <a:xfrm>
              <a:off x="451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84006" name="Group 43"/>
            <p:cNvGrpSpPr/>
            <p:nvPr/>
          </p:nvGrpSpPr>
          <p:grpSpPr>
            <a:xfrm rot="5400000">
              <a:off x="4104" y="1025"/>
              <a:ext cx="499" cy="590"/>
              <a:chOff x="476" y="663"/>
              <a:chExt cx="771" cy="862"/>
            </a:xfrm>
          </p:grpSpPr>
          <p:sp>
            <p:nvSpPr>
              <p:cNvPr id="84008" name="AutoShape 44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09" name="AutoShape 45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4010" name="AutoShape 46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4007" name="Text Box 47"/>
            <p:cNvSpPr txBox="1"/>
            <p:nvPr/>
          </p:nvSpPr>
          <p:spPr>
            <a:xfrm>
              <a:off x="3190" y="1823"/>
              <a:ext cx="2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28002" grpId="0" build="p"/>
      <p:bldP spid="128003" grpId="0" animBg="1"/>
      <p:bldP spid="128010" grpId="0" animBg="1"/>
      <p:bldP spid="1280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49" name="Text Box 45" descr="绿色大理石"/>
          <p:cNvSpPr txBox="1"/>
          <p:nvPr/>
        </p:nvSpPr>
        <p:spPr>
          <a:xfrm>
            <a:off x="973614" y="615474"/>
            <a:ext cx="1394460" cy="583565"/>
          </a:xfrm>
          <a:prstGeom prst="rect">
            <a:avLst/>
          </a:prstGeom>
          <a:blipFill rotWithShape="1">
            <a:blip r:embed="rId1"/>
          </a:blipFill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&gt; 0.2s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47151" name="Object 47"/>
          <p:cNvGraphicFramePr>
            <a:graphicFrameLocks noChangeAspect="1"/>
          </p:cNvGraphicFramePr>
          <p:nvPr/>
        </p:nvGraphicFramePr>
        <p:xfrm>
          <a:off x="971550" y="2133600"/>
          <a:ext cx="3590925" cy="177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6" name="" r:id="rId2" imgW="1289050" imgH="600710" progId="Equation.3">
                  <p:embed/>
                </p:oleObj>
              </mc:Choice>
              <mc:Fallback>
                <p:oleObj name="" r:id="rId2" imgW="1289050" imgH="600710" progId="Equation.3">
                  <p:embed/>
                  <p:pic>
                    <p:nvPicPr>
                      <p:cNvPr id="0" name="图片 330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2133600"/>
                        <a:ext cx="3590925" cy="1776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2" name="Object 48"/>
          <p:cNvGraphicFramePr>
            <a:graphicFrameLocks noChangeAspect="1"/>
          </p:cNvGraphicFramePr>
          <p:nvPr/>
        </p:nvGraphicFramePr>
        <p:xfrm>
          <a:off x="1042988" y="1412875"/>
          <a:ext cx="439102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" name="" r:id="rId4" imgW="1637030" imgH="173990" progId="Equation.3">
                  <p:embed/>
                </p:oleObj>
              </mc:Choice>
              <mc:Fallback>
                <p:oleObj name="" r:id="rId4" imgW="1637030" imgH="173990" progId="Equation.3">
                  <p:embed/>
                  <p:pic>
                    <p:nvPicPr>
                      <p:cNvPr id="0" name="图片 330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412875"/>
                        <a:ext cx="4391025" cy="598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53" name="Object 49"/>
          <p:cNvGraphicFramePr>
            <a:graphicFrameLocks noChangeAspect="1"/>
          </p:cNvGraphicFramePr>
          <p:nvPr/>
        </p:nvGraphicFramePr>
        <p:xfrm>
          <a:off x="971550" y="4005263"/>
          <a:ext cx="4017963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6" imgW="1428115" imgH="173990" progId="Equation.3">
                  <p:embed/>
                </p:oleObj>
              </mc:Choice>
              <mc:Fallback>
                <p:oleObj name="" r:id="rId6" imgW="1428115" imgH="17399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005263"/>
                        <a:ext cx="4017963" cy="623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000" name="Group 67"/>
          <p:cNvGrpSpPr/>
          <p:nvPr/>
        </p:nvGrpSpPr>
        <p:grpSpPr>
          <a:xfrm>
            <a:off x="5003800" y="1989138"/>
            <a:ext cx="3746500" cy="2951163"/>
            <a:chOff x="2971" y="746"/>
            <a:chExt cx="2360" cy="1859"/>
          </a:xfrm>
        </p:grpSpPr>
        <p:sp>
          <p:nvSpPr>
            <p:cNvPr id="85004" name="Oval 68"/>
            <p:cNvSpPr/>
            <p:nvPr/>
          </p:nvSpPr>
          <p:spPr>
            <a:xfrm>
              <a:off x="2971" y="143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5005" name="Line 69"/>
            <p:cNvSpPr/>
            <p:nvPr/>
          </p:nvSpPr>
          <p:spPr>
            <a:xfrm>
              <a:off x="3152" y="890"/>
              <a:ext cx="2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5006" name="Line 70"/>
            <p:cNvSpPr/>
            <p:nvPr/>
          </p:nvSpPr>
          <p:spPr>
            <a:xfrm>
              <a:off x="3152" y="890"/>
              <a:ext cx="0" cy="142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07" name="Line 71"/>
            <p:cNvSpPr/>
            <p:nvPr/>
          </p:nvSpPr>
          <p:spPr>
            <a:xfrm>
              <a:off x="3152" y="2296"/>
              <a:ext cx="186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08" name="Line 72"/>
            <p:cNvSpPr/>
            <p:nvPr/>
          </p:nvSpPr>
          <p:spPr>
            <a:xfrm>
              <a:off x="4558" y="890"/>
              <a:ext cx="0" cy="22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09" name="Line 73"/>
            <p:cNvSpPr/>
            <p:nvPr/>
          </p:nvSpPr>
          <p:spPr>
            <a:xfrm flipV="1">
              <a:off x="3379" y="746"/>
              <a:ext cx="192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0" name="Line 74"/>
            <p:cNvSpPr/>
            <p:nvPr/>
          </p:nvSpPr>
          <p:spPr>
            <a:xfrm>
              <a:off x="3696" y="890"/>
              <a:ext cx="86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5011" name="Line 75"/>
            <p:cNvSpPr/>
            <p:nvPr/>
          </p:nvSpPr>
          <p:spPr>
            <a:xfrm>
              <a:off x="3379" y="754"/>
              <a:ext cx="192" cy="14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5012" name="Line 76"/>
            <p:cNvSpPr/>
            <p:nvPr/>
          </p:nvSpPr>
          <p:spPr>
            <a:xfrm>
              <a:off x="4558" y="1525"/>
              <a:ext cx="0" cy="77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5013" name="Line 77"/>
            <p:cNvSpPr/>
            <p:nvPr/>
          </p:nvSpPr>
          <p:spPr>
            <a:xfrm>
              <a:off x="4558" y="1661"/>
              <a:ext cx="4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5014" name="Line 78"/>
            <p:cNvSpPr/>
            <p:nvPr/>
          </p:nvSpPr>
          <p:spPr>
            <a:xfrm>
              <a:off x="5012" y="1661"/>
              <a:ext cx="0" cy="22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85015" name="Line 79"/>
            <p:cNvSpPr/>
            <p:nvPr/>
          </p:nvSpPr>
          <p:spPr>
            <a:xfrm flipH="1">
              <a:off x="5012" y="1979"/>
              <a:ext cx="144" cy="1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5016" name="Line 80"/>
            <p:cNvSpPr/>
            <p:nvPr/>
          </p:nvSpPr>
          <p:spPr>
            <a:xfrm>
              <a:off x="5012" y="2115"/>
              <a:ext cx="0" cy="1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85017" name="Line 81"/>
            <p:cNvSpPr/>
            <p:nvPr/>
          </p:nvSpPr>
          <p:spPr>
            <a:xfrm flipH="1" flipV="1">
              <a:off x="5012" y="1933"/>
              <a:ext cx="144" cy="19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5018" name="Line 82"/>
            <p:cNvSpPr/>
            <p:nvPr/>
          </p:nvSpPr>
          <p:spPr>
            <a:xfrm>
              <a:off x="4286" y="981"/>
              <a:ext cx="240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5019" name="Text Box 83"/>
            <p:cNvSpPr txBox="1"/>
            <p:nvPr/>
          </p:nvSpPr>
          <p:spPr>
            <a:xfrm>
              <a:off x="4332" y="934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5020" name="Text Box 84"/>
            <p:cNvSpPr txBox="1"/>
            <p:nvPr/>
          </p:nvSpPr>
          <p:spPr>
            <a:xfrm>
              <a:off x="3308" y="1460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5021" name="Text Box 85"/>
            <p:cNvSpPr txBox="1"/>
            <p:nvPr/>
          </p:nvSpPr>
          <p:spPr>
            <a:xfrm>
              <a:off x="3235" y="1187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5022" name="Text Box 86"/>
            <p:cNvSpPr txBox="1"/>
            <p:nvPr/>
          </p:nvSpPr>
          <p:spPr>
            <a:xfrm>
              <a:off x="3154" y="870"/>
              <a:ext cx="76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5023" name="Text Box 87"/>
            <p:cNvSpPr txBox="1"/>
            <p:nvPr/>
          </p:nvSpPr>
          <p:spPr>
            <a:xfrm>
              <a:off x="4314" y="2276"/>
              <a:ext cx="101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=0.2s)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5024" name="Rectangle 88"/>
            <p:cNvSpPr/>
            <p:nvPr/>
          </p:nvSpPr>
          <p:spPr>
            <a:xfrm>
              <a:off x="4130" y="177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5025" name="Text Box 89"/>
            <p:cNvSpPr txBox="1"/>
            <p:nvPr/>
          </p:nvSpPr>
          <p:spPr>
            <a:xfrm>
              <a:off x="3903" y="91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5026" name="Rectangle 90"/>
            <p:cNvSpPr/>
            <p:nvPr/>
          </p:nvSpPr>
          <p:spPr>
            <a:xfrm>
              <a:off x="3969" y="845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5027" name="Rectangle 91"/>
            <p:cNvSpPr/>
            <p:nvPr/>
          </p:nvSpPr>
          <p:spPr>
            <a:xfrm>
              <a:off x="451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85028" name="Group 92"/>
            <p:cNvGrpSpPr/>
            <p:nvPr/>
          </p:nvGrpSpPr>
          <p:grpSpPr>
            <a:xfrm rot="5400000">
              <a:off x="4104" y="1025"/>
              <a:ext cx="499" cy="590"/>
              <a:chOff x="476" y="663"/>
              <a:chExt cx="771" cy="862"/>
            </a:xfrm>
          </p:grpSpPr>
          <p:sp>
            <p:nvSpPr>
              <p:cNvPr id="85030" name="AutoShape 93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31" name="AutoShape 94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5032" name="AutoShape 95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5029" name="Text Box 96"/>
            <p:cNvSpPr txBox="1"/>
            <p:nvPr/>
          </p:nvSpPr>
          <p:spPr>
            <a:xfrm>
              <a:off x="3190" y="1823"/>
              <a:ext cx="229" cy="32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4714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6018" name="Object 6"/>
          <p:cNvGraphicFramePr>
            <a:graphicFrameLocks noChangeAspect="1"/>
          </p:cNvGraphicFramePr>
          <p:nvPr/>
        </p:nvGraphicFramePr>
        <p:xfrm>
          <a:off x="1331913" y="765175"/>
          <a:ext cx="21431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7" name="" r:id="rId1" imgW="696595" imgH="139065" progId="Equation.3">
                  <p:embed/>
                </p:oleObj>
              </mc:Choice>
              <mc:Fallback>
                <p:oleObj name="" r:id="rId1" imgW="696595" imgH="139065" progId="Equation.3">
                  <p:embed/>
                  <p:pic>
                    <p:nvPicPr>
                      <p:cNvPr id="0" name="图片 330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765175"/>
                        <a:ext cx="2143125" cy="557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9" name="Rectangle 7"/>
          <p:cNvSpPr/>
          <p:nvPr/>
        </p:nvSpPr>
        <p:spPr>
          <a:xfrm>
            <a:off x="5580698" y="690086"/>
            <a:ext cx="229425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(0 &lt;</a:t>
            </a:r>
            <a:r>
              <a:rPr lang="en-US" altLang="zh-CN" sz="32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 t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0.2s)</a:t>
            </a:r>
            <a:endParaRPr lang="en-US" altLang="zh-CN" sz="3200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6020" name="Object 5"/>
          <p:cNvGraphicFramePr>
            <a:graphicFrameLocks noChangeAspect="1"/>
          </p:cNvGraphicFramePr>
          <p:nvPr/>
        </p:nvGraphicFramePr>
        <p:xfrm>
          <a:off x="1331913" y="1484313"/>
          <a:ext cx="3436937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8" name="" r:id="rId3" imgW="1114425" imgH="139065" progId="Equation.3">
                  <p:embed/>
                </p:oleObj>
              </mc:Choice>
              <mc:Fallback>
                <p:oleObj name="" r:id="rId3" imgW="1114425" imgH="139065" progId="Equation.3">
                  <p:embed/>
                  <p:pic>
                    <p:nvPicPr>
                      <p:cNvPr id="0" name="图片 330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1484313"/>
                        <a:ext cx="3436937" cy="522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1" name="Rectangle 8"/>
          <p:cNvSpPr/>
          <p:nvPr/>
        </p:nvSpPr>
        <p:spPr>
          <a:xfrm>
            <a:off x="5652453" y="1482249"/>
            <a:ext cx="1760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/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3200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 t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 </a:t>
            </a:r>
            <a:r>
              <a:rPr lang="en-US" altLang="zh-CN" sz="3200" b="0" dirty="0">
                <a:latin typeface="Times New Roman" panose="02020603050405020304" pitchFamily="18" charset="0"/>
                <a:ea typeface="黑体" panose="02010609060101010101" pitchFamily="2" charset="-122"/>
              </a:rPr>
              <a:t>0.2s)</a:t>
            </a:r>
            <a:endParaRPr lang="en-US" altLang="zh-CN" sz="3200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46123" name="Group 43"/>
          <p:cNvGrpSpPr/>
          <p:nvPr/>
        </p:nvGrpSpPr>
        <p:grpSpPr>
          <a:xfrm>
            <a:off x="1763713" y="2202935"/>
            <a:ext cx="5016500" cy="3144281"/>
            <a:chOff x="1111" y="1388"/>
            <a:chExt cx="3160" cy="1981"/>
          </a:xfrm>
        </p:grpSpPr>
        <p:grpSp>
          <p:nvGrpSpPr>
            <p:cNvPr id="86028" name="Group 9"/>
            <p:cNvGrpSpPr/>
            <p:nvPr/>
          </p:nvGrpSpPr>
          <p:grpSpPr>
            <a:xfrm>
              <a:off x="1111" y="1388"/>
              <a:ext cx="3160" cy="1981"/>
              <a:chOff x="3601" y="20"/>
              <a:chExt cx="1957" cy="1495"/>
            </a:xfrm>
          </p:grpSpPr>
          <p:sp>
            <p:nvSpPr>
              <p:cNvPr id="86030" name="Text Box 10"/>
              <p:cNvSpPr txBox="1"/>
              <p:nvPr/>
            </p:nvSpPr>
            <p:spPr>
              <a:xfrm>
                <a:off x="3918" y="20"/>
                <a:ext cx="110" cy="24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grpSp>
            <p:nvGrpSpPr>
              <p:cNvPr id="86031" name="Group 11"/>
              <p:cNvGrpSpPr/>
              <p:nvPr/>
            </p:nvGrpSpPr>
            <p:grpSpPr>
              <a:xfrm>
                <a:off x="3601" y="20"/>
                <a:ext cx="1957" cy="1495"/>
                <a:chOff x="3601" y="20"/>
                <a:chExt cx="1957" cy="1495"/>
              </a:xfrm>
            </p:grpSpPr>
            <p:sp>
              <p:nvSpPr>
                <p:cNvPr id="86032" name="Line 12"/>
                <p:cNvSpPr/>
                <p:nvPr/>
              </p:nvSpPr>
              <p:spPr>
                <a:xfrm>
                  <a:off x="3648" y="1296"/>
                  <a:ext cx="1632" cy="0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86033" name="Line 13"/>
                <p:cNvSpPr/>
                <p:nvPr/>
              </p:nvSpPr>
              <p:spPr>
                <a:xfrm flipV="1">
                  <a:off x="3792" y="192"/>
                  <a:ext cx="0" cy="1296"/>
                </a:xfrm>
                <a:prstGeom prst="line">
                  <a:avLst/>
                </a:prstGeom>
                <a:ln w="2857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86034" name="Line 14"/>
                <p:cNvSpPr/>
                <p:nvPr/>
              </p:nvSpPr>
              <p:spPr>
                <a:xfrm>
                  <a:off x="3810" y="932"/>
                  <a:ext cx="1154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86035" name="Freeform 15"/>
                <p:cNvSpPr/>
                <p:nvPr/>
              </p:nvSpPr>
              <p:spPr>
                <a:xfrm>
                  <a:off x="3792" y="1008"/>
                  <a:ext cx="376" cy="304"/>
                </a:xfrm>
                <a:custGeom>
                  <a:avLst/>
                  <a:gdLst/>
                  <a:ahLst/>
                  <a:cxnLst>
                    <a:cxn ang="0">
                      <a:pos x="0" y="304"/>
                    </a:cxn>
                    <a:cxn ang="0">
                      <a:pos x="48" y="208"/>
                    </a:cxn>
                    <a:cxn ang="0">
                      <a:pos x="216" y="80"/>
                    </a:cxn>
                    <a:cxn ang="0">
                      <a:pos x="376" y="0"/>
                    </a:cxn>
                  </a:cxnLst>
                  <a:pathLst>
                    <a:path w="376" h="304">
                      <a:moveTo>
                        <a:pt x="0" y="304"/>
                      </a:moveTo>
                      <a:cubicBezTo>
                        <a:pt x="8" y="276"/>
                        <a:pt x="12" y="245"/>
                        <a:pt x="48" y="208"/>
                      </a:cubicBezTo>
                      <a:cubicBezTo>
                        <a:pt x="84" y="171"/>
                        <a:pt x="161" y="115"/>
                        <a:pt x="216" y="80"/>
                      </a:cubicBezTo>
                      <a:cubicBezTo>
                        <a:pt x="271" y="45"/>
                        <a:pt x="343" y="17"/>
                        <a:pt x="376" y="0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99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6036" name="Line 16"/>
                <p:cNvSpPr/>
                <p:nvPr/>
              </p:nvSpPr>
              <p:spPr>
                <a:xfrm>
                  <a:off x="4176" y="1008"/>
                  <a:ext cx="0" cy="288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86037" name="Line 17"/>
                <p:cNvSpPr/>
                <p:nvPr/>
              </p:nvSpPr>
              <p:spPr>
                <a:xfrm>
                  <a:off x="3792" y="384"/>
                  <a:ext cx="1440" cy="0"/>
                </a:xfrm>
                <a:prstGeom prst="line">
                  <a:avLst/>
                </a:prstGeom>
                <a:ln w="28575" cap="flat" cmpd="sng">
                  <a:solidFill>
                    <a:srgbClr val="00FFFF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86038" name="Freeform 18"/>
                <p:cNvSpPr/>
                <p:nvPr/>
              </p:nvSpPr>
              <p:spPr>
                <a:xfrm>
                  <a:off x="4176" y="440"/>
                  <a:ext cx="984" cy="568"/>
                </a:xfrm>
                <a:custGeom>
                  <a:avLst/>
                  <a:gdLst/>
                  <a:ahLst/>
                  <a:cxnLst>
                    <a:cxn ang="0">
                      <a:pos x="0" y="568"/>
                    </a:cxn>
                    <a:cxn ang="0">
                      <a:pos x="96" y="376"/>
                    </a:cxn>
                    <a:cxn ang="0">
                      <a:pos x="312" y="128"/>
                    </a:cxn>
                    <a:cxn ang="0">
                      <a:pos x="528" y="48"/>
                    </a:cxn>
                    <a:cxn ang="0">
                      <a:pos x="744" y="16"/>
                    </a:cxn>
                    <a:cxn ang="0">
                      <a:pos x="984" y="0"/>
                    </a:cxn>
                  </a:cxnLst>
                  <a:pathLst>
                    <a:path w="984" h="568">
                      <a:moveTo>
                        <a:pt x="0" y="568"/>
                      </a:moveTo>
                      <a:cubicBezTo>
                        <a:pt x="24" y="504"/>
                        <a:pt x="44" y="449"/>
                        <a:pt x="96" y="376"/>
                      </a:cubicBezTo>
                      <a:cubicBezTo>
                        <a:pt x="148" y="303"/>
                        <a:pt x="240" y="183"/>
                        <a:pt x="312" y="128"/>
                      </a:cubicBezTo>
                      <a:cubicBezTo>
                        <a:pt x="384" y="73"/>
                        <a:pt x="456" y="67"/>
                        <a:pt x="528" y="48"/>
                      </a:cubicBezTo>
                      <a:cubicBezTo>
                        <a:pt x="600" y="29"/>
                        <a:pt x="668" y="24"/>
                        <a:pt x="744" y="16"/>
                      </a:cubicBezTo>
                      <a:cubicBezTo>
                        <a:pt x="820" y="8"/>
                        <a:pt x="934" y="3"/>
                        <a:pt x="984" y="0"/>
                      </a:cubicBezTo>
                    </a:path>
                  </a:pathLst>
                </a:custGeom>
                <a:noFill/>
                <a:ln w="28575" cap="flat" cmpd="sng">
                  <a:solidFill>
                    <a:srgbClr val="FF33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6039" name="Text Box 19"/>
                <p:cNvSpPr txBox="1"/>
                <p:nvPr/>
              </p:nvSpPr>
              <p:spPr>
                <a:xfrm>
                  <a:off x="5267" y="1219"/>
                  <a:ext cx="291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anchor="ctr" anchorCtr="0">
                  <a:spAutoFit/>
                </a:bodyPr>
                <a:p>
                  <a:pPr algn="ctr" eaLnBrk="1" hangingPunct="1"/>
                  <a:r>
                    <a:rPr lang="en-US" altLang="zh-CN" b="0" i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t</a:t>
                  </a:r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(s)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040" name="Text Box 20"/>
                <p:cNvSpPr txBox="1"/>
                <p:nvPr/>
              </p:nvSpPr>
              <p:spPr>
                <a:xfrm>
                  <a:off x="4039" y="1267"/>
                  <a:ext cx="245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0.2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041" name="Text Box 21"/>
                <p:cNvSpPr txBox="1"/>
                <p:nvPr/>
              </p:nvSpPr>
              <p:spPr>
                <a:xfrm>
                  <a:off x="3636" y="307"/>
                  <a:ext cx="141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5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042" name="Text Box 22"/>
                <p:cNvSpPr txBox="1"/>
                <p:nvPr/>
              </p:nvSpPr>
              <p:spPr>
                <a:xfrm>
                  <a:off x="4052" y="20"/>
                  <a:ext cx="264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(A)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043" name="Text Box 23"/>
                <p:cNvSpPr txBox="1"/>
                <p:nvPr/>
              </p:nvSpPr>
              <p:spPr>
                <a:xfrm>
                  <a:off x="4298" y="929"/>
                  <a:ext cx="314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1.26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86044" name="Oval 24"/>
                <p:cNvSpPr/>
                <p:nvPr/>
              </p:nvSpPr>
              <p:spPr>
                <a:xfrm>
                  <a:off x="4151" y="982"/>
                  <a:ext cx="45" cy="45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noFill/>
                </a:ln>
              </p:spPr>
              <p:txBody>
                <a:bodyPr wrap="none" anchor="ctr" anchorCtr="0"/>
                <a:p>
                  <a:pPr eaLnBrk="1" hangingPunct="1"/>
                  <a:endParaRPr lang="en-US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6045" name="Text Box 25"/>
                <p:cNvSpPr txBox="1"/>
                <p:nvPr/>
              </p:nvSpPr>
              <p:spPr>
                <a:xfrm>
                  <a:off x="3601" y="766"/>
                  <a:ext cx="141" cy="24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2</a:t>
                  </a:r>
                  <a:endPara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</p:grpSp>
        <p:sp>
          <p:nvSpPr>
            <p:cNvPr id="86029" name="Text Box 42"/>
            <p:cNvSpPr txBox="1"/>
            <p:nvPr/>
          </p:nvSpPr>
          <p:spPr>
            <a:xfrm>
              <a:off x="1156" y="3022"/>
              <a:ext cx="40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Box 1"/>
          <p:cNvSpPr txBox="1"/>
          <p:nvPr/>
        </p:nvSpPr>
        <p:spPr>
          <a:xfrm>
            <a:off x="395288" y="795338"/>
            <a:ext cx="8137525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第七章作业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一阶电路零状态响应、全响应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《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》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第七章习题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7-11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7-13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7-18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7-19, 7-20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endParaRPr lang="en-US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PP_MARK_KEY" val="f0c92087-6c93-4081-8a25-06c0cd24e841"/>
  <p:tag name="COMMONDATA" val="eyJoZGlkIjoiMTQxYWZkOWY5MDg5YjRjODViZDcyNzhhYTM3MGI2ZmIifQ=="/>
  <p:tag name="FULLTEXTBEAUTIFYED" val="1"/>
  <p:tag name="commondata" val="eyJoZGlkIjoiYWY3YTgwYjBkZTEwOWQ3MWQ3N2E0NjBmNzcyNDg0Mj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2206</Words>
  <Application>WPS 演示</Application>
  <PresentationFormat>全屏显示(4:3)</PresentationFormat>
  <Paragraphs>958</Paragraphs>
  <Slides>33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112</vt:i4>
      </vt:variant>
      <vt:variant>
        <vt:lpstr>幻灯片标题</vt:lpstr>
      </vt:variant>
      <vt:variant>
        <vt:i4>33</vt:i4>
      </vt:variant>
    </vt:vector>
  </HeadingPairs>
  <TitlesOfParts>
    <vt:vector size="159" baseType="lpstr">
      <vt:lpstr>Arial</vt:lpstr>
      <vt:lpstr>宋体</vt:lpstr>
      <vt:lpstr>Wingdings</vt:lpstr>
      <vt:lpstr>楷体_GB2312</vt:lpstr>
      <vt:lpstr>新宋体</vt:lpstr>
      <vt:lpstr>Times New Roman</vt:lpstr>
      <vt:lpstr>黑体</vt:lpstr>
      <vt:lpstr>Symbol</vt:lpstr>
      <vt:lpstr>微软雅黑</vt:lpstr>
      <vt:lpstr>Arial Unicode MS</vt:lpstr>
      <vt:lpstr>Calibri</vt:lpstr>
      <vt:lpstr>仿宋_GB2312</vt:lpstr>
      <vt:lpstr>仿宋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xmu</cp:lastModifiedBy>
  <cp:revision>469</cp:revision>
  <dcterms:created xsi:type="dcterms:W3CDTF">2002-08-11T02:46:00Z</dcterms:created>
  <dcterms:modified xsi:type="dcterms:W3CDTF">2025-04-01T03:33:38Z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50B3F45B761048B5B752652F1CE7942E_13</vt:lpwstr>
  </property>
  <property fmtid="{D5CDD505-2E9C-101B-9397-08002B2CF9AE}" pid="3" name="KSOProductBuildVer">
    <vt:lpwstr>2052-12.1.0.16364</vt:lpwstr>
  </property>
</Properties>
</file>