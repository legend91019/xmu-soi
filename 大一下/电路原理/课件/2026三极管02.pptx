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08" r:id="rId3"/>
    <p:sldId id="509" r:id="rId5"/>
    <p:sldId id="824" r:id="rId6"/>
    <p:sldId id="802" r:id="rId7"/>
    <p:sldId id="803" r:id="rId8"/>
    <p:sldId id="806" r:id="rId9"/>
    <p:sldId id="805" r:id="rId10"/>
    <p:sldId id="807" r:id="rId11"/>
    <p:sldId id="801" r:id="rId12"/>
    <p:sldId id="778" r:id="rId13"/>
    <p:sldId id="785" r:id="rId14"/>
    <p:sldId id="786" r:id="rId15"/>
    <p:sldId id="832" r:id="rId16"/>
    <p:sldId id="833" r:id="rId17"/>
    <p:sldId id="808" r:id="rId18"/>
    <p:sldId id="827" r:id="rId19"/>
    <p:sldId id="791" r:id="rId20"/>
    <p:sldId id="830" r:id="rId21"/>
    <p:sldId id="809" r:id="rId22"/>
    <p:sldId id="822" r:id="rId23"/>
    <p:sldId id="818" r:id="rId24"/>
    <p:sldId id="831" r:id="rId25"/>
    <p:sldId id="834" r:id="rId26"/>
    <p:sldId id="835" r:id="rId27"/>
    <p:sldId id="836" r:id="rId28"/>
    <p:sldId id="515" r:id="rId29"/>
    <p:sldId id="513" r:id="rId30"/>
    <p:sldId id="604" r:id="rId31"/>
    <p:sldId id="577" r:id="rId32"/>
    <p:sldId id="583" r:id="rId33"/>
    <p:sldId id="829" r:id="rId34"/>
    <p:sldId id="588" r:id="rId35"/>
    <p:sldId id="579" r:id="rId36"/>
    <p:sldId id="605" r:id="rId37"/>
    <p:sldId id="565" r:id="rId38"/>
    <p:sldId id="517" r:id="rId39"/>
  </p:sldIdLst>
  <p:sldSz cx="12192000" cy="6858000"/>
  <p:notesSz cx="6792595" cy="99250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hui" initials="hl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0000FF"/>
    <a:srgbClr val="FFE1E1"/>
    <a:srgbClr val="EADCF4"/>
    <a:srgbClr val="B6F0CB"/>
    <a:srgbClr val="ECF1F9"/>
    <a:srgbClr val="009EDE"/>
    <a:srgbClr val="61D2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9" autoAdjust="0"/>
    <p:restoredTop sz="89006" autoAdjust="0"/>
  </p:normalViewPr>
  <p:slideViewPr>
    <p:cSldViewPr snapToGrid="0">
      <p:cViewPr>
        <p:scale>
          <a:sx n="77" d="100"/>
          <a:sy n="77" d="100"/>
        </p:scale>
        <p:origin x="4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36.wmf"/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39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5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3A6DC-0AB7-4BBF-9004-005A425310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4713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rgbClr val="2B58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将按照“由浅入深、循序渐进”的原则，先介绍三极管的基本概念和原理，然后逐步深入讲解三极管的特性和应用。具体内容包括：三极管的基本原理、结构和分类；三极管的放大原理和特性；三极管的参数和选型；三极管的应用电路和实例等。</a:t>
            </a:r>
            <a:endParaRPr lang="en-US" altLang="zh-CN" sz="1200" dirty="0">
              <a:solidFill>
                <a:srgbClr val="2B58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对照课本的那个运动再重复下，让学生加深印象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对照课本的那个运动再重复下，让学生加深印象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三极管有三个电极，其中两个可以作为输入</a:t>
            </a:r>
            <a:r>
              <a:rPr lang="en-US" altLang="zh-CN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, 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两个可以作为输出，这样必然有一个电极是公共电极。三种接法也称三种</a:t>
            </a:r>
            <a:r>
              <a:rPr lang="zh-CN" altLang="en-US" sz="12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组态</a:t>
            </a:r>
            <a:r>
              <a:rPr lang="zh-CN" altLang="en-US" sz="12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chemeClr val="tx2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放大状态下</a:t>
            </a:r>
            <a:r>
              <a:rPr lang="en-US" altLang="zh-CN" sz="1200" b="1" dirty="0">
                <a:solidFill>
                  <a:schemeClr val="tx2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BJT</a:t>
            </a:r>
            <a:r>
              <a:rPr lang="zh-CN" altLang="en-US" sz="1200" b="1" dirty="0">
                <a:solidFill>
                  <a:schemeClr val="tx2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的工作原理，</a:t>
            </a:r>
            <a:r>
              <a:rPr kumimoji="1" lang="zh-CN" altLang="ru-RU" sz="1200" dirty="0">
                <a:solidFill>
                  <a:srgbClr val="CCFF33"/>
                </a:solidFill>
                <a:ea typeface="华文仿宋" panose="02010600040101010101" pitchFamily="2" charset="-122"/>
              </a:rPr>
              <a:t>要使三极管能够起放大作用，其工作电源的接法必须是：发射结加正偏电压，集电结加反偏电压，并且反偏电压要高于正偏电压</a:t>
            </a:r>
            <a:r>
              <a:rPr kumimoji="1" lang="ru-RU" altLang="zh-CN" sz="1200" dirty="0">
                <a:solidFill>
                  <a:srgbClr val="CCFF33"/>
                </a:solidFill>
                <a:ea typeface="华文仿宋" panose="02010600040101010101" pitchFamily="2" charset="-122"/>
              </a:rPr>
              <a:t>2</a:t>
            </a:r>
            <a:r>
              <a:rPr kumimoji="1" lang="zh-CN" altLang="ru-RU" sz="1200" dirty="0">
                <a:solidFill>
                  <a:srgbClr val="CCFF33"/>
                </a:solidFill>
                <a:ea typeface="华文仿宋" panose="02010600040101010101" pitchFamily="2" charset="-122"/>
              </a:rPr>
              <a:t>倍以上。</a:t>
            </a:r>
            <a:endParaRPr kumimoji="1" lang="zh-CN" altLang="ru-RU" sz="1200" dirty="0">
              <a:solidFill>
                <a:srgbClr val="CCFF33"/>
              </a:solidFill>
              <a:ea typeface="华文仿宋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表示晶体管特性的数据称为晶体管的参数，晶体管的参数也是设计电路、选用晶体管的依据。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表示晶体管特性的数据称为晶体管的参数，晶体管的参数也是设计电路、选用晶体管的依据。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1"/>
          <p:cNvSpPr txBox="1"/>
          <p:nvPr userDrawn="1"/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8" name="Title 1"/>
          <p:cNvSpPr txBox="1"/>
          <p:nvPr userDrawn="1"/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pic>
        <p:nvPicPr>
          <p:cNvPr id="9" name="图片 50" descr="E:\常用信件\PPT模板\2023厦大ppt大赛素材-标志性事物\标志性建筑7.jpg标志性建筑7"/>
          <p:cNvPicPr>
            <a:picLocks noChangeAspect="1"/>
          </p:cNvPicPr>
          <p:nvPr userDrawn="1"/>
        </p:nvPicPr>
        <p:blipFill rotWithShape="1">
          <a:blip r:embed="rId2"/>
          <a:srcRect t="13915" b="33302"/>
          <a:stretch>
            <a:fillRect/>
          </a:stretch>
        </p:blipFill>
        <p:spPr>
          <a:xfrm flipH="1">
            <a:off x="-1" y="-27622"/>
            <a:ext cx="12193865" cy="3456622"/>
          </a:xfrm>
          <a:prstGeom prst="rect">
            <a:avLst/>
          </a:prstGeom>
        </p:spPr>
      </p:pic>
      <p:pic>
        <p:nvPicPr>
          <p:cNvPr id="10" name="图片 1"/>
          <p:cNvPicPr>
            <a:picLocks noChangeAspect="1"/>
          </p:cNvPicPr>
          <p:nvPr userDrawn="1"/>
        </p:nvPicPr>
        <p:blipFill>
          <a:blip r:embed="rId3"/>
          <a:srcRect l="22529" t="16560" r="24548" b="12333"/>
          <a:stretch>
            <a:fillRect/>
          </a:stretch>
        </p:blipFill>
        <p:spPr>
          <a:xfrm>
            <a:off x="5105578" y="2503488"/>
            <a:ext cx="1850700" cy="1866072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377998"/>
            <a:ext cx="10515600" cy="1325563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特色成果总结</a:t>
            </a:r>
            <a:endParaRPr lang="en-US" altLang="zh-CN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教学代表性成果及其贡献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科研代表性成果及其贡献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6" y="3206"/>
            <a:ext cx="3047071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3048930" y="-6185"/>
            <a:ext cx="3047070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6096977" y="-6185"/>
            <a:ext cx="304706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139232" y="1552"/>
            <a:ext cx="305753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41"/>
          <p:cNvSpPr/>
          <p:nvPr userDrawn="1"/>
        </p:nvSpPr>
        <p:spPr>
          <a:xfrm>
            <a:off x="-1" y="1228"/>
            <a:ext cx="30542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3054284" y="-1883"/>
            <a:ext cx="304171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41"/>
          <p:cNvSpPr/>
          <p:nvPr userDrawn="1"/>
        </p:nvSpPr>
        <p:spPr>
          <a:xfrm>
            <a:off x="6108568" y="0"/>
            <a:ext cx="302914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矩形 41"/>
          <p:cNvSpPr/>
          <p:nvPr userDrawn="1"/>
        </p:nvSpPr>
        <p:spPr>
          <a:xfrm>
            <a:off x="9150284" y="0"/>
            <a:ext cx="3029148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6" y="3206"/>
            <a:ext cx="3047071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3048930" y="-6185"/>
            <a:ext cx="3047070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6096977" y="-6185"/>
            <a:ext cx="304706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139232" y="1552"/>
            <a:ext cx="305753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BE462-2DCF-4C47-B375-3AA7C4049B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C9B27-139E-4B39-8BC0-43A379F17C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4A07D-B396-42C1-9B53-B36394D100F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41"/>
          <p:cNvSpPr/>
          <p:nvPr userDrawn="1"/>
        </p:nvSpPr>
        <p:spPr>
          <a:xfrm>
            <a:off x="-20929" y="-7030"/>
            <a:ext cx="12187232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155520" y="-7030"/>
            <a:ext cx="12503040" cy="699164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5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20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26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jpeg"/><Relationship Id="rId2" Type="http://schemas.openxmlformats.org/officeDocument/2006/relationships/image" Target="../media/image31.wmf"/><Relationship Id="rId1" Type="http://schemas.openxmlformats.org/officeDocument/2006/relationships/oleObject" Target="../embeddings/oleObject11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6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35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4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33.emf"/><Relationship Id="rId11" Type="http://schemas.openxmlformats.org/officeDocument/2006/relationships/notesSlide" Target="../notesSlides/notesSlide26.xml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1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8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37.emf"/><Relationship Id="rId1" Type="http://schemas.openxmlformats.org/officeDocument/2006/relationships/oleObject" Target="../embeddings/oleObject16.bin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1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40.wmf"/><Relationship Id="rId13" Type="http://schemas.openxmlformats.org/officeDocument/2006/relationships/notesSlide" Target="../notesSlides/notesSlide29.xml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20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2731582" y="4381059"/>
            <a:ext cx="6440079" cy="785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晶体三极管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54204"/>
            <a:ext cx="12273699" cy="6966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-155644" y="-54204"/>
            <a:ext cx="3318235" cy="6966408"/>
          </a:xfrm>
          <a:prstGeom prst="rect">
            <a:avLst/>
          </a:prstGeom>
          <a:solidFill>
            <a:srgbClr val="4246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3"/>
          <p:cNvSpPr/>
          <p:nvPr/>
        </p:nvSpPr>
        <p:spPr>
          <a:xfrm>
            <a:off x="3691868" y="1972081"/>
            <a:ext cx="8056686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20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四、三极管放大、饱和、截止工作状态的判断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0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七、含有晶体管电路的分析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0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八、其他晶体管 </a:t>
            </a:r>
            <a:endParaRPr lang="zh-CN" altLang="en-US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552515" y="1513075"/>
            <a:ext cx="21434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27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33" y="5709512"/>
            <a:ext cx="2823368" cy="1148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2640"/>
          <p:cNvSpPr>
            <a:spLocks noChangeArrowheads="1"/>
          </p:cNvSpPr>
          <p:nvPr/>
        </p:nvSpPr>
        <p:spPr bwMode="auto">
          <a:xfrm>
            <a:off x="3374230" y="1877809"/>
            <a:ext cx="5442745" cy="1421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三极管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放大、饱和、截止、</a:t>
            </a:r>
            <a:endParaRPr lang="zh-CN" altLang="en-US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工作状态的判断</a:t>
            </a:r>
            <a:endParaRPr lang="zh-CN" altLang="en-US" sz="3600" b="1" baseline="-25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放大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84956" y="722313"/>
            <a:ext cx="11622087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一、以电压来判断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矩形 2557"/>
          <p:cNvSpPr>
            <a:spLocks noChangeArrowheads="1"/>
          </p:cNvSpPr>
          <p:nvPr/>
        </p:nvSpPr>
        <p:spPr bwMode="auto">
          <a:xfrm>
            <a:off x="2142754" y="1776185"/>
            <a:ext cx="1281419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NPN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型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" name="矩形 2558"/>
          <p:cNvSpPr>
            <a:spLocks noChangeArrowheads="1"/>
          </p:cNvSpPr>
          <p:nvPr/>
        </p:nvSpPr>
        <p:spPr bwMode="auto">
          <a:xfrm>
            <a:off x="4702464" y="1803647"/>
            <a:ext cx="1652587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PNP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型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5" name="组合 2559"/>
          <p:cNvGrpSpPr/>
          <p:nvPr/>
        </p:nvGrpSpPr>
        <p:grpSpPr bwMode="auto">
          <a:xfrm>
            <a:off x="2306925" y="2147598"/>
            <a:ext cx="1109663" cy="2201863"/>
            <a:chOff x="-9" y="-21"/>
            <a:chExt cx="699" cy="1387"/>
          </a:xfrm>
        </p:grpSpPr>
        <p:cxnSp>
          <p:nvCxnSpPr>
            <p:cNvPr id="7" name="直接连接符 2560"/>
            <p:cNvCxnSpPr>
              <a:cxnSpLocks noChangeShapeType="1"/>
            </p:cNvCxnSpPr>
            <p:nvPr/>
          </p:nvCxnSpPr>
          <p:spPr bwMode="auto">
            <a:xfrm>
              <a:off x="210" y="720"/>
              <a:ext cx="258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连接符 2561"/>
            <p:cNvCxnSpPr>
              <a:cxnSpLocks noChangeShapeType="1"/>
            </p:cNvCxnSpPr>
            <p:nvPr/>
          </p:nvCxnSpPr>
          <p:spPr bwMode="auto">
            <a:xfrm>
              <a:off x="455" y="598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直接连接符 2562"/>
            <p:cNvCxnSpPr>
              <a:cxnSpLocks noChangeShapeType="1"/>
            </p:cNvCxnSpPr>
            <p:nvPr/>
          </p:nvCxnSpPr>
          <p:spPr bwMode="auto">
            <a:xfrm>
              <a:off x="455" y="721"/>
              <a:ext cx="235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2563"/>
            <p:cNvCxnSpPr>
              <a:cxnSpLocks noChangeShapeType="1"/>
            </p:cNvCxnSpPr>
            <p:nvPr/>
          </p:nvCxnSpPr>
          <p:spPr bwMode="auto">
            <a:xfrm flipV="1">
              <a:off x="455" y="528"/>
              <a:ext cx="235" cy="1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2564"/>
            <p:cNvCxnSpPr>
              <a:cxnSpLocks noChangeShapeType="1"/>
            </p:cNvCxnSpPr>
            <p:nvPr/>
          </p:nvCxnSpPr>
          <p:spPr bwMode="auto">
            <a:xfrm>
              <a:off x="676" y="144"/>
              <a:ext cx="0" cy="39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2565"/>
            <p:cNvCxnSpPr>
              <a:cxnSpLocks noChangeShapeType="1"/>
            </p:cNvCxnSpPr>
            <p:nvPr/>
          </p:nvCxnSpPr>
          <p:spPr bwMode="auto">
            <a:xfrm flipH="1">
              <a:off x="658" y="880"/>
              <a:ext cx="10" cy="3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矩形 2566"/>
            <p:cNvSpPr>
              <a:spLocks noChangeArrowheads="1"/>
            </p:cNvSpPr>
            <p:nvPr/>
          </p:nvSpPr>
          <p:spPr bwMode="auto">
            <a:xfrm>
              <a:off x="442" y="-21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4" name="矩形 2567"/>
            <p:cNvSpPr>
              <a:spLocks noChangeArrowheads="1"/>
            </p:cNvSpPr>
            <p:nvPr/>
          </p:nvSpPr>
          <p:spPr bwMode="auto">
            <a:xfrm>
              <a:off x="-9" y="507"/>
              <a:ext cx="228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5" name="矩形 2568"/>
            <p:cNvSpPr>
              <a:spLocks noChangeArrowheads="1"/>
            </p:cNvSpPr>
            <p:nvPr/>
          </p:nvSpPr>
          <p:spPr bwMode="auto">
            <a:xfrm>
              <a:off x="442" y="1035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16" name="组合 2569"/>
          <p:cNvGrpSpPr/>
          <p:nvPr/>
        </p:nvGrpSpPr>
        <p:grpSpPr bwMode="auto">
          <a:xfrm>
            <a:off x="5115214" y="2152361"/>
            <a:ext cx="979486" cy="2125663"/>
            <a:chOff x="-9" y="-21"/>
            <a:chExt cx="617" cy="1339"/>
          </a:xfrm>
        </p:grpSpPr>
        <p:cxnSp>
          <p:nvCxnSpPr>
            <p:cNvPr id="17" name="直接连接符 2570"/>
            <p:cNvCxnSpPr>
              <a:cxnSpLocks noChangeShapeType="1"/>
            </p:cNvCxnSpPr>
            <p:nvPr/>
          </p:nvCxnSpPr>
          <p:spPr bwMode="auto">
            <a:xfrm>
              <a:off x="162" y="624"/>
              <a:ext cx="25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连接符 2571"/>
            <p:cNvCxnSpPr>
              <a:cxnSpLocks noChangeShapeType="1"/>
            </p:cNvCxnSpPr>
            <p:nvPr/>
          </p:nvCxnSpPr>
          <p:spPr bwMode="auto">
            <a:xfrm>
              <a:off x="407" y="489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连接符 2572"/>
            <p:cNvCxnSpPr>
              <a:cxnSpLocks noChangeShapeType="1"/>
            </p:cNvCxnSpPr>
            <p:nvPr/>
          </p:nvCxnSpPr>
          <p:spPr bwMode="auto">
            <a:xfrm rot="16200000" flipV="1">
              <a:off x="416" y="590"/>
              <a:ext cx="147" cy="18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连接符 2573"/>
            <p:cNvCxnSpPr>
              <a:cxnSpLocks noChangeShapeType="1"/>
            </p:cNvCxnSpPr>
            <p:nvPr/>
          </p:nvCxnSpPr>
          <p:spPr bwMode="auto">
            <a:xfrm flipV="1">
              <a:off x="407" y="480"/>
              <a:ext cx="187" cy="1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连接符 2574"/>
            <p:cNvCxnSpPr>
              <a:cxnSpLocks noChangeShapeType="1"/>
            </p:cNvCxnSpPr>
            <p:nvPr/>
          </p:nvCxnSpPr>
          <p:spPr bwMode="auto">
            <a:xfrm>
              <a:off x="594" y="144"/>
              <a:ext cx="0" cy="3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连接符 2575"/>
            <p:cNvCxnSpPr>
              <a:cxnSpLocks noChangeShapeType="1"/>
            </p:cNvCxnSpPr>
            <p:nvPr/>
          </p:nvCxnSpPr>
          <p:spPr bwMode="auto">
            <a:xfrm>
              <a:off x="594" y="757"/>
              <a:ext cx="0" cy="3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矩形 2576"/>
            <p:cNvSpPr>
              <a:spLocks noChangeArrowheads="1"/>
            </p:cNvSpPr>
            <p:nvPr/>
          </p:nvSpPr>
          <p:spPr bwMode="auto">
            <a:xfrm>
              <a:off x="-9" y="411"/>
              <a:ext cx="228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24" name="矩形 2577"/>
            <p:cNvSpPr>
              <a:spLocks noChangeArrowheads="1"/>
            </p:cNvSpPr>
            <p:nvPr/>
          </p:nvSpPr>
          <p:spPr bwMode="auto">
            <a:xfrm>
              <a:off x="394" y="-21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25" name="矩形 2578"/>
            <p:cNvSpPr>
              <a:spLocks noChangeArrowheads="1"/>
            </p:cNvSpPr>
            <p:nvPr/>
          </p:nvSpPr>
          <p:spPr bwMode="auto">
            <a:xfrm>
              <a:off x="387" y="987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26" name="矩形 2580"/>
          <p:cNvSpPr>
            <a:spLocks noChangeArrowheads="1"/>
          </p:cNvSpPr>
          <p:nvPr/>
        </p:nvSpPr>
        <p:spPr bwMode="auto">
          <a:xfrm>
            <a:off x="2233609" y="4410269"/>
            <a:ext cx="1864911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&gt;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&gt;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endParaRPr lang="en-US" altLang="en-US" sz="2800" b="1" baseline="-25000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7" name="矩形 2581"/>
          <p:cNvSpPr>
            <a:spLocks noChangeArrowheads="1"/>
          </p:cNvSpPr>
          <p:nvPr/>
        </p:nvSpPr>
        <p:spPr bwMode="auto">
          <a:xfrm>
            <a:off x="4974125" y="4424558"/>
            <a:ext cx="1864911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i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lang="en-US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&lt;</a:t>
            </a:r>
            <a:r>
              <a:rPr lang="en-US" altLang="en-US" sz="2800" b="1" i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en-US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&lt;</a:t>
            </a:r>
            <a:r>
              <a:rPr lang="en-US" altLang="en-US" sz="2800" b="1" i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endParaRPr lang="en-US" altLang="en-US" sz="2800" b="1" baseline="-2500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8" name="矩形 2582"/>
          <p:cNvSpPr>
            <a:spLocks noChangeArrowheads="1"/>
          </p:cNvSpPr>
          <p:nvPr/>
        </p:nvSpPr>
        <p:spPr bwMode="auto">
          <a:xfrm>
            <a:off x="7434624" y="2267267"/>
            <a:ext cx="3468976" cy="1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BE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正向导通,压降：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硅管大约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0.7V</a:t>
            </a:r>
            <a:endParaRPr lang="en-US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锗管大约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0.2V</a:t>
            </a:r>
            <a:endParaRPr lang="en-US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3919536" y="5635759"/>
            <a:ext cx="4352925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三极管工作在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放大状态</a:t>
            </a:r>
            <a:endParaRPr kumimoji="1"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36925" y="623343"/>
            <a:ext cx="3370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发射结正偏，集电结反偏，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8" dur="20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4" dur="20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childTnLst>
                                    <p:set>
                                      <p:cBhvr additive="base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截止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84956" y="722313"/>
            <a:ext cx="11622087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一、以电压来判断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3919536" y="5635759"/>
            <a:ext cx="4352925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三极管工作在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截止状态</a:t>
            </a:r>
            <a:endParaRPr kumimoji="1"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0" name="矩形 2614"/>
          <p:cNvSpPr>
            <a:spLocks noChangeArrowheads="1"/>
          </p:cNvSpPr>
          <p:nvPr/>
        </p:nvSpPr>
        <p:spPr bwMode="auto">
          <a:xfrm>
            <a:off x="4043363" y="1758924"/>
            <a:ext cx="1311274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PNP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型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31" name="组合 2615"/>
          <p:cNvGrpSpPr/>
          <p:nvPr/>
        </p:nvGrpSpPr>
        <p:grpSpPr bwMode="auto">
          <a:xfrm>
            <a:off x="4334668" y="2259805"/>
            <a:ext cx="979486" cy="2125663"/>
            <a:chOff x="-9" y="-21"/>
            <a:chExt cx="617" cy="1339"/>
          </a:xfrm>
        </p:grpSpPr>
        <p:cxnSp>
          <p:nvCxnSpPr>
            <p:cNvPr id="32" name="直接连接符 2616"/>
            <p:cNvCxnSpPr>
              <a:cxnSpLocks noChangeShapeType="1"/>
            </p:cNvCxnSpPr>
            <p:nvPr/>
          </p:nvCxnSpPr>
          <p:spPr bwMode="auto">
            <a:xfrm>
              <a:off x="162" y="624"/>
              <a:ext cx="25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连接符 2617"/>
            <p:cNvCxnSpPr>
              <a:cxnSpLocks noChangeShapeType="1"/>
            </p:cNvCxnSpPr>
            <p:nvPr/>
          </p:nvCxnSpPr>
          <p:spPr bwMode="auto">
            <a:xfrm>
              <a:off x="407" y="489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连接符 2618"/>
            <p:cNvCxnSpPr>
              <a:cxnSpLocks noChangeShapeType="1"/>
            </p:cNvCxnSpPr>
            <p:nvPr/>
          </p:nvCxnSpPr>
          <p:spPr bwMode="auto">
            <a:xfrm rot="16200000" flipV="1">
              <a:off x="416" y="590"/>
              <a:ext cx="147" cy="18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直接连接符 2619"/>
            <p:cNvCxnSpPr>
              <a:cxnSpLocks noChangeShapeType="1"/>
            </p:cNvCxnSpPr>
            <p:nvPr/>
          </p:nvCxnSpPr>
          <p:spPr bwMode="auto">
            <a:xfrm flipV="1">
              <a:off x="407" y="480"/>
              <a:ext cx="187" cy="1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直接连接符 2620"/>
            <p:cNvCxnSpPr>
              <a:cxnSpLocks noChangeShapeType="1"/>
            </p:cNvCxnSpPr>
            <p:nvPr/>
          </p:nvCxnSpPr>
          <p:spPr bwMode="auto">
            <a:xfrm>
              <a:off x="594" y="144"/>
              <a:ext cx="0" cy="3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直接连接符 2621"/>
            <p:cNvCxnSpPr>
              <a:cxnSpLocks noChangeShapeType="1"/>
            </p:cNvCxnSpPr>
            <p:nvPr/>
          </p:nvCxnSpPr>
          <p:spPr bwMode="auto">
            <a:xfrm>
              <a:off x="594" y="757"/>
              <a:ext cx="0" cy="3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矩形 2622"/>
            <p:cNvSpPr>
              <a:spLocks noChangeArrowheads="1"/>
            </p:cNvSpPr>
            <p:nvPr/>
          </p:nvSpPr>
          <p:spPr bwMode="auto">
            <a:xfrm>
              <a:off x="-9" y="411"/>
              <a:ext cx="228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39" name="矩形 2623"/>
            <p:cNvSpPr>
              <a:spLocks noChangeArrowheads="1"/>
            </p:cNvSpPr>
            <p:nvPr/>
          </p:nvSpPr>
          <p:spPr bwMode="auto">
            <a:xfrm>
              <a:off x="394" y="-21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0" name="矩形 2624"/>
            <p:cNvSpPr>
              <a:spLocks noChangeArrowheads="1"/>
            </p:cNvSpPr>
            <p:nvPr/>
          </p:nvSpPr>
          <p:spPr bwMode="auto">
            <a:xfrm>
              <a:off x="387" y="987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41" name="组合 2626"/>
          <p:cNvGrpSpPr/>
          <p:nvPr/>
        </p:nvGrpSpPr>
        <p:grpSpPr bwMode="auto">
          <a:xfrm>
            <a:off x="1510256" y="1781968"/>
            <a:ext cx="1909732" cy="3128645"/>
            <a:chOff x="-603" y="-125"/>
            <a:chExt cx="3008" cy="4927"/>
          </a:xfrm>
        </p:grpSpPr>
        <p:sp>
          <p:nvSpPr>
            <p:cNvPr id="42" name="矩形 2627"/>
            <p:cNvSpPr>
              <a:spLocks noChangeArrowheads="1"/>
            </p:cNvSpPr>
            <p:nvPr/>
          </p:nvSpPr>
          <p:spPr bwMode="auto">
            <a:xfrm>
              <a:off x="-594" y="-125"/>
              <a:ext cx="2018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NPN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型</a:t>
              </a:r>
              <a:endPara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cxnSp>
          <p:nvCxnSpPr>
            <p:cNvPr id="43" name="直接连接符 2628"/>
            <p:cNvCxnSpPr>
              <a:cxnSpLocks noChangeShapeType="1"/>
            </p:cNvCxnSpPr>
            <p:nvPr/>
          </p:nvCxnSpPr>
          <p:spPr bwMode="auto">
            <a:xfrm>
              <a:off x="525" y="2295"/>
              <a:ext cx="645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连接符 2629"/>
            <p:cNvCxnSpPr>
              <a:cxnSpLocks noChangeShapeType="1"/>
            </p:cNvCxnSpPr>
            <p:nvPr/>
          </p:nvCxnSpPr>
          <p:spPr bwMode="auto">
            <a:xfrm>
              <a:off x="1137" y="1990"/>
              <a:ext cx="0" cy="61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直接连接符 2630"/>
            <p:cNvCxnSpPr>
              <a:cxnSpLocks noChangeShapeType="1"/>
            </p:cNvCxnSpPr>
            <p:nvPr/>
          </p:nvCxnSpPr>
          <p:spPr bwMode="auto">
            <a:xfrm>
              <a:off x="1137" y="2297"/>
              <a:ext cx="588" cy="4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直接连接符 2631"/>
            <p:cNvCxnSpPr>
              <a:cxnSpLocks noChangeShapeType="1"/>
            </p:cNvCxnSpPr>
            <p:nvPr/>
          </p:nvCxnSpPr>
          <p:spPr bwMode="auto">
            <a:xfrm flipV="1">
              <a:off x="1137" y="1815"/>
              <a:ext cx="588" cy="4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直接连接符 2632"/>
            <p:cNvCxnSpPr>
              <a:cxnSpLocks noChangeShapeType="1"/>
            </p:cNvCxnSpPr>
            <p:nvPr/>
          </p:nvCxnSpPr>
          <p:spPr bwMode="auto">
            <a:xfrm>
              <a:off x="1690" y="855"/>
              <a:ext cx="0" cy="9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直接连接符 2633"/>
            <p:cNvCxnSpPr>
              <a:cxnSpLocks noChangeShapeType="1"/>
            </p:cNvCxnSpPr>
            <p:nvPr/>
          </p:nvCxnSpPr>
          <p:spPr bwMode="auto">
            <a:xfrm flipH="1">
              <a:off x="1644" y="2695"/>
              <a:ext cx="25" cy="7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矩形 2634"/>
            <p:cNvSpPr>
              <a:spLocks noChangeArrowheads="1"/>
            </p:cNvSpPr>
            <p:nvPr/>
          </p:nvSpPr>
          <p:spPr bwMode="auto">
            <a:xfrm>
              <a:off x="1105" y="441"/>
              <a:ext cx="536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0" name="矩形 2635"/>
            <p:cNvSpPr>
              <a:spLocks noChangeArrowheads="1"/>
            </p:cNvSpPr>
            <p:nvPr/>
          </p:nvSpPr>
          <p:spPr bwMode="auto">
            <a:xfrm>
              <a:off x="-22" y="1761"/>
              <a:ext cx="569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1" name="矩形 2636"/>
            <p:cNvSpPr>
              <a:spLocks noChangeArrowheads="1"/>
            </p:cNvSpPr>
            <p:nvPr/>
          </p:nvSpPr>
          <p:spPr bwMode="auto">
            <a:xfrm>
              <a:off x="1105" y="3081"/>
              <a:ext cx="536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52" name="矩形 2637"/>
            <p:cNvSpPr>
              <a:spLocks noChangeArrowheads="1"/>
            </p:cNvSpPr>
            <p:nvPr/>
          </p:nvSpPr>
          <p:spPr bwMode="auto">
            <a:xfrm>
              <a:off x="-603" y="3975"/>
              <a:ext cx="3008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U</a:t>
              </a:r>
              <a:r>
                <a:rPr lang="en-US" altLang="en-US" sz="28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r>
                <a:rPr lang="en-US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&gt;</a:t>
              </a:r>
              <a:r>
                <a:rPr lang="en-US" altLang="en-US" sz="28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U</a:t>
              </a:r>
              <a:r>
                <a:rPr lang="en-US" altLang="en-US" sz="28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r>
                <a:rPr lang="zh-CN" altLang="en-US" sz="2800" b="1" dirty="0"/>
                <a:t>≥</a:t>
              </a:r>
              <a:r>
                <a:rPr lang="en-US" altLang="en-US" sz="28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U</a:t>
              </a:r>
              <a:r>
                <a:rPr lang="en-US" altLang="en-US" sz="28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53" name="矩形 2638"/>
          <p:cNvSpPr>
            <a:spLocks noChangeArrowheads="1"/>
          </p:cNvSpPr>
          <p:nvPr/>
        </p:nvSpPr>
        <p:spPr bwMode="auto">
          <a:xfrm>
            <a:off x="3962366" y="4411217"/>
            <a:ext cx="190979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i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lang="en-US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&lt;</a:t>
            </a:r>
            <a:r>
              <a:rPr lang="en-US" altLang="en-US" sz="2800" b="1" i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r>
              <a:rPr lang="en-US" altLang="en-US" sz="2800" b="1"/>
              <a:t>≤</a:t>
            </a:r>
            <a:r>
              <a:rPr lang="en-US" altLang="en-US" sz="2800" b="1" i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endParaRPr lang="en-US" altLang="en-US" sz="2800" b="1" baseline="-2500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54" name="矩形 2640"/>
          <p:cNvSpPr>
            <a:spLocks noChangeArrowheads="1"/>
          </p:cNvSpPr>
          <p:nvPr/>
        </p:nvSpPr>
        <p:spPr bwMode="auto">
          <a:xfrm>
            <a:off x="6749255" y="1882528"/>
            <a:ext cx="5442745" cy="3003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>
              <a:spcBef>
                <a:spcPct val="1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对一般的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NPN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管电路：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endParaRPr lang="en-US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>
              <a:spcBef>
                <a:spcPct val="15000"/>
              </a:spcBef>
            </a:pP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=+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CC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=0V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≤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0V</a:t>
            </a:r>
            <a:endParaRPr lang="en-US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>
              <a:spcBef>
                <a:spcPct val="15000"/>
              </a:spcBef>
            </a:pP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CE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=+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CC</a:t>
            </a:r>
            <a:endParaRPr lang="en-US" altLang="en-US" sz="2800" b="1" baseline="-25000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>
              <a:spcBef>
                <a:spcPct val="1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对一般的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PNP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管电路：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>
              <a:spcBef>
                <a:spcPct val="15000"/>
              </a:spcBef>
            </a:pP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= -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CC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=0V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zh-CN" altLang="en-US" sz="2800" b="1" dirty="0"/>
              <a:t>≥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0V</a:t>
            </a:r>
            <a:endParaRPr lang="en-US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>
              <a:spcBef>
                <a:spcPct val="15000"/>
              </a:spcBef>
            </a:pP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CE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= -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CC</a:t>
            </a:r>
            <a:endParaRPr lang="en-US" altLang="en-US" sz="2800" b="1" baseline="-25000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85909" y="607966"/>
            <a:ext cx="3872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发射结反偏，集电结反偏。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" dur="20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8" dur="2000" fill="hold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childTnLst>
                                    <p:set>
                                      <p:cBhvr additive="base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7" presetClass="entr" presetSubtype="8" fill="hold" nodeType="afterEffect"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8" fill="hold" nodeType="afterEffect">
                                  <p:childTnLst>
                                    <p:set>
                                      <p:cBhvr additive="base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7" presetClass="entr" presetSubtype="8" fill="hold" nodeType="afterEffect">
                                  <p:childTnLst>
                                    <p:set>
                                      <p:cBhvr additive="base"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三极管截止工作状态的判断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35635" y="4988945"/>
            <a:ext cx="26388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基极不加偏压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使基极电流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0" y="1254022"/>
            <a:ext cx="4011577" cy="3331401"/>
            <a:chOff x="389071" y="1203918"/>
            <a:chExt cx="4011577" cy="3331401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484249" y="3190191"/>
              <a:ext cx="7342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1218539" y="3043978"/>
              <a:ext cx="585783" cy="2924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2405426" y="1766259"/>
              <a:ext cx="585783" cy="2924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804322" y="2440118"/>
              <a:ext cx="893915" cy="1508154"/>
              <a:chOff x="2095928" y="2062400"/>
              <a:chExt cx="893915" cy="1508154"/>
            </a:xfrm>
          </p:grpSpPr>
          <p:grpSp>
            <p:nvGrpSpPr>
              <p:cNvPr id="29" name="Group 28"/>
              <p:cNvGrpSpPr/>
              <p:nvPr/>
            </p:nvGrpSpPr>
            <p:grpSpPr>
              <a:xfrm>
                <a:off x="2356339" y="2531909"/>
                <a:ext cx="633504" cy="561126"/>
                <a:chOff x="2231292" y="3751110"/>
                <a:chExt cx="633504" cy="561126"/>
              </a:xfrm>
            </p:grpSpPr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231292" y="4031673"/>
                  <a:ext cx="345652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2563090" y="3751110"/>
                  <a:ext cx="0" cy="5439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V="1">
                  <a:off x="2576944" y="3751110"/>
                  <a:ext cx="287852" cy="28056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2563090" y="4042063"/>
                  <a:ext cx="301706" cy="27017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2685006" y="4144257"/>
                  <a:ext cx="116618" cy="11645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Connector 29"/>
              <p:cNvCxnSpPr>
                <a:endCxn id="6" idx="3"/>
              </p:cNvCxnSpPr>
              <p:nvPr/>
            </p:nvCxnSpPr>
            <p:spPr>
              <a:xfrm flipH="1">
                <a:off x="2095928" y="2812472"/>
                <a:ext cx="291672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V="1">
                <a:off x="2986698" y="2062400"/>
                <a:ext cx="0" cy="487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2989843" y="3083202"/>
                <a:ext cx="0" cy="487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/>
            <p:cNvCxnSpPr>
              <a:endCxn id="7" idx="3"/>
            </p:cNvCxnSpPr>
            <p:nvPr/>
          </p:nvCxnSpPr>
          <p:spPr>
            <a:xfrm flipV="1">
              <a:off x="2698317" y="2205363"/>
              <a:ext cx="0" cy="3044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7" idx="1"/>
            </p:cNvCxnSpPr>
            <p:nvPr/>
          </p:nvCxnSpPr>
          <p:spPr>
            <a:xfrm flipH="1" flipV="1">
              <a:off x="2695092" y="1278671"/>
              <a:ext cx="3225" cy="3409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695092" y="1278671"/>
              <a:ext cx="150426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708539" y="3927724"/>
              <a:ext cx="0" cy="4798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499130" y="4407576"/>
              <a:ext cx="3839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575330" y="4468547"/>
              <a:ext cx="2315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629358" y="4535319"/>
              <a:ext cx="114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054770" y="2842570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02378" y="2473065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3332" y="3507701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4204835" y="1278671"/>
              <a:ext cx="0" cy="1231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020504" y="2503887"/>
              <a:ext cx="380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100920" y="2650678"/>
              <a:ext cx="227744" cy="1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204835" y="2650678"/>
              <a:ext cx="9957" cy="1516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851394" y="3507701"/>
              <a:ext cx="109876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213941" y="3487495"/>
              <a:ext cx="7416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en-US" altLang="zh-CN" b="1" i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=0</a:t>
              </a:r>
              <a:endParaRPr lang="zh-CN" altLang="en-US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389071" y="3127483"/>
              <a:ext cx="114779" cy="12774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Straight Connector 25"/>
            <p:cNvCxnSpPr/>
            <p:nvPr/>
          </p:nvCxnSpPr>
          <p:spPr>
            <a:xfrm flipH="1">
              <a:off x="2695092" y="4167650"/>
              <a:ext cx="15197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2650750" y="4097309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649906" y="1203918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44530" y="2834430"/>
              <a:ext cx="1354828" cy="485971"/>
            </a:xfrm>
            <a:prstGeom prst="rect">
              <a:avLst/>
            </a:prstGeom>
          </p:spPr>
        </p:pic>
        <p:cxnSp>
          <p:nvCxnSpPr>
            <p:cNvPr id="46" name="Straight Arrow Connector 45"/>
            <p:cNvCxnSpPr/>
            <p:nvPr/>
          </p:nvCxnSpPr>
          <p:spPr>
            <a:xfrm>
              <a:off x="2845460" y="2497683"/>
              <a:ext cx="0" cy="104784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4195908" y="1254022"/>
            <a:ext cx="4216034" cy="3301521"/>
            <a:chOff x="515189" y="856080"/>
            <a:chExt cx="4216034" cy="3301521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775855" y="2812473"/>
              <a:ext cx="7342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1510145" y="2666260"/>
              <a:ext cx="585783" cy="2924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2690308" y="1388541"/>
              <a:ext cx="585783" cy="2924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2095928" y="2062400"/>
              <a:ext cx="893915" cy="1508154"/>
              <a:chOff x="2095928" y="2062400"/>
              <a:chExt cx="893915" cy="1508154"/>
            </a:xfrm>
          </p:grpSpPr>
          <p:grpSp>
            <p:nvGrpSpPr>
              <p:cNvPr id="82" name="Group 81"/>
              <p:cNvGrpSpPr/>
              <p:nvPr/>
            </p:nvGrpSpPr>
            <p:grpSpPr>
              <a:xfrm>
                <a:off x="2356339" y="2531909"/>
                <a:ext cx="633504" cy="561126"/>
                <a:chOff x="2231292" y="3751110"/>
                <a:chExt cx="633504" cy="561126"/>
              </a:xfrm>
            </p:grpSpPr>
            <p:cxnSp>
              <p:nvCxnSpPr>
                <p:cNvPr id="86" name="Straight Connector 85"/>
                <p:cNvCxnSpPr/>
                <p:nvPr/>
              </p:nvCxnSpPr>
              <p:spPr>
                <a:xfrm>
                  <a:off x="2231292" y="4031673"/>
                  <a:ext cx="345652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/>
                <p:nvPr/>
              </p:nvCxnSpPr>
              <p:spPr>
                <a:xfrm>
                  <a:off x="2563090" y="3751110"/>
                  <a:ext cx="0" cy="5439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/>
                <p:cNvCxnSpPr/>
                <p:nvPr/>
              </p:nvCxnSpPr>
              <p:spPr>
                <a:xfrm flipV="1">
                  <a:off x="2576944" y="3751110"/>
                  <a:ext cx="287852" cy="28056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/>
                <p:cNvCxnSpPr/>
                <p:nvPr/>
              </p:nvCxnSpPr>
              <p:spPr>
                <a:xfrm>
                  <a:off x="2563090" y="4042063"/>
                  <a:ext cx="301706" cy="27017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685006" y="4144257"/>
                  <a:ext cx="116618" cy="11645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3" name="Straight Connector 82"/>
              <p:cNvCxnSpPr>
                <a:endCxn id="52" idx="3"/>
              </p:cNvCxnSpPr>
              <p:nvPr/>
            </p:nvCxnSpPr>
            <p:spPr>
              <a:xfrm flipH="1">
                <a:off x="2095928" y="2812472"/>
                <a:ext cx="291672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flipV="1">
                <a:off x="2986698" y="2062400"/>
                <a:ext cx="0" cy="487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flipV="1">
                <a:off x="2989843" y="3083202"/>
                <a:ext cx="0" cy="487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" name="Straight Connector 54"/>
            <p:cNvCxnSpPr>
              <a:endCxn id="53" idx="3"/>
            </p:cNvCxnSpPr>
            <p:nvPr/>
          </p:nvCxnSpPr>
          <p:spPr>
            <a:xfrm flipV="1">
              <a:off x="2983199" y="1827645"/>
              <a:ext cx="0" cy="3044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53" idx="1"/>
            </p:cNvCxnSpPr>
            <p:nvPr/>
          </p:nvCxnSpPr>
          <p:spPr>
            <a:xfrm flipH="1" flipV="1">
              <a:off x="2979974" y="900953"/>
              <a:ext cx="3225" cy="3409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2986698" y="900953"/>
              <a:ext cx="156245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2992448" y="3550006"/>
              <a:ext cx="0" cy="4798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2804184" y="4029858"/>
              <a:ext cx="3839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2868352" y="4090829"/>
              <a:ext cx="2315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2922380" y="4157601"/>
              <a:ext cx="114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2346376" y="2464852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693984" y="2095347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644938" y="312998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4549157" y="900953"/>
              <a:ext cx="0" cy="1231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515189" y="3491803"/>
              <a:ext cx="380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591389" y="3334744"/>
              <a:ext cx="227744" cy="1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4554040" y="2293835"/>
              <a:ext cx="9957" cy="1516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1143000" y="3129983"/>
              <a:ext cx="109876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1505547" y="3109777"/>
              <a:ext cx="7742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en-US" altLang="zh-CN" b="1" i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=0</a:t>
              </a:r>
              <a:endParaRPr lang="zh-CN" altLang="en-US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647768" y="2748051"/>
              <a:ext cx="114779" cy="12774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2" name="Straight Connector 71"/>
            <p:cNvCxnSpPr/>
            <p:nvPr/>
          </p:nvCxnSpPr>
          <p:spPr>
            <a:xfrm flipH="1" flipV="1">
              <a:off x="2986698" y="3789932"/>
              <a:ext cx="1572320" cy="208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2929105" y="3721722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2934788" y="856080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705261" y="2864966"/>
              <a:ext cx="0" cy="4532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705261" y="3480443"/>
              <a:ext cx="0" cy="3094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705261" y="3789932"/>
              <a:ext cx="22814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351079" y="2132113"/>
              <a:ext cx="380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4427279" y="2277588"/>
              <a:ext cx="227744" cy="1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19611" y="2504349"/>
              <a:ext cx="1444386" cy="518095"/>
            </a:xfrm>
            <a:prstGeom prst="rect">
              <a:avLst/>
            </a:prstGeom>
          </p:spPr>
        </p:pic>
        <p:cxnSp>
          <p:nvCxnSpPr>
            <p:cNvPr id="81" name="Straight Arrow Connector 80"/>
            <p:cNvCxnSpPr/>
            <p:nvPr/>
          </p:nvCxnSpPr>
          <p:spPr>
            <a:xfrm>
              <a:off x="3125462" y="2306076"/>
              <a:ext cx="0" cy="98836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/>
          <p:cNvSpPr txBox="1"/>
          <p:nvPr/>
        </p:nvSpPr>
        <p:spPr>
          <a:xfrm>
            <a:off x="5028012" y="4914191"/>
            <a:ext cx="2709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基极加反向偏压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使基极电流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92" name="Group 91"/>
          <p:cNvGrpSpPr/>
          <p:nvPr/>
        </p:nvGrpSpPr>
        <p:grpSpPr>
          <a:xfrm>
            <a:off x="9412461" y="1187798"/>
            <a:ext cx="2107255" cy="3301521"/>
            <a:chOff x="2623968" y="856080"/>
            <a:chExt cx="2107255" cy="3301521"/>
          </a:xfrm>
        </p:grpSpPr>
        <p:sp>
          <p:nvSpPr>
            <p:cNvPr id="93" name="Rectangle 92"/>
            <p:cNvSpPr/>
            <p:nvPr/>
          </p:nvSpPr>
          <p:spPr>
            <a:xfrm rot="5400000">
              <a:off x="2690308" y="1388541"/>
              <a:ext cx="585783" cy="2924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4" name="Straight Connector 93"/>
            <p:cNvCxnSpPr/>
            <p:nvPr/>
          </p:nvCxnSpPr>
          <p:spPr>
            <a:xfrm>
              <a:off x="2688137" y="2822862"/>
              <a:ext cx="301706" cy="2701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2623968" y="2774547"/>
              <a:ext cx="122487" cy="102371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V="1">
              <a:off x="2986494" y="2062400"/>
              <a:ext cx="204" cy="7121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flipV="1">
              <a:off x="2989843" y="3083202"/>
              <a:ext cx="0" cy="4873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endCxn id="93" idx="3"/>
            </p:cNvCxnSpPr>
            <p:nvPr/>
          </p:nvCxnSpPr>
          <p:spPr>
            <a:xfrm flipV="1">
              <a:off x="2983199" y="1827645"/>
              <a:ext cx="0" cy="3044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93" idx="1"/>
            </p:cNvCxnSpPr>
            <p:nvPr/>
          </p:nvCxnSpPr>
          <p:spPr>
            <a:xfrm flipH="1" flipV="1">
              <a:off x="2979974" y="900953"/>
              <a:ext cx="3225" cy="3409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2986698" y="900953"/>
              <a:ext cx="156245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2992448" y="3550006"/>
              <a:ext cx="0" cy="4798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2804184" y="4029858"/>
              <a:ext cx="3839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2868352" y="4090829"/>
              <a:ext cx="2315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2922380" y="4157601"/>
              <a:ext cx="114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/>
            <p:cNvSpPr txBox="1"/>
            <p:nvPr/>
          </p:nvSpPr>
          <p:spPr>
            <a:xfrm>
              <a:off x="2693984" y="2095347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644938" y="312998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7" name="Straight Connector 106"/>
            <p:cNvCxnSpPr/>
            <p:nvPr/>
          </p:nvCxnSpPr>
          <p:spPr>
            <a:xfrm>
              <a:off x="4549157" y="900953"/>
              <a:ext cx="0" cy="1231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4554040" y="2293835"/>
              <a:ext cx="9957" cy="1516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H="1" flipV="1">
              <a:off x="2986698" y="3789932"/>
              <a:ext cx="1572320" cy="208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109"/>
            <p:cNvSpPr/>
            <p:nvPr/>
          </p:nvSpPr>
          <p:spPr>
            <a:xfrm>
              <a:off x="2929105" y="3721722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Oval 110"/>
            <p:cNvSpPr/>
            <p:nvPr/>
          </p:nvSpPr>
          <p:spPr>
            <a:xfrm>
              <a:off x="2934788" y="856080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4351079" y="2132113"/>
              <a:ext cx="380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>
              <a:off x="4427279" y="2277588"/>
              <a:ext cx="227744" cy="1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4" name="Picture 1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19611" y="2504349"/>
              <a:ext cx="1444386" cy="518095"/>
            </a:xfrm>
            <a:prstGeom prst="rect">
              <a:avLst/>
            </a:prstGeom>
          </p:spPr>
        </p:pic>
        <p:cxnSp>
          <p:nvCxnSpPr>
            <p:cNvPr id="115" name="Straight Arrow Connector 114"/>
            <p:cNvCxnSpPr/>
            <p:nvPr/>
          </p:nvCxnSpPr>
          <p:spPr>
            <a:xfrm>
              <a:off x="3125462" y="2306076"/>
              <a:ext cx="0" cy="98836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TextBox 115"/>
          <p:cNvSpPr txBox="1"/>
          <p:nvPr/>
        </p:nvSpPr>
        <p:spPr>
          <a:xfrm>
            <a:off x="9081040" y="4914191"/>
            <a:ext cx="30700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集电极与射极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之间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形同断路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负载无电流通过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Arrow: Right 2"/>
          <p:cNvSpPr/>
          <p:nvPr/>
        </p:nvSpPr>
        <p:spPr>
          <a:xfrm>
            <a:off x="8496300" y="25524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91" grpId="0"/>
      <p:bldP spid="116" grpId="0"/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饱和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84956" y="722313"/>
            <a:ext cx="11622087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一、以电压来判断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1953576" y="5722119"/>
            <a:ext cx="4352925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三极管工作在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饱和状态</a:t>
            </a:r>
            <a:endParaRPr kumimoji="1"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矩形 2670"/>
          <p:cNvSpPr>
            <a:spLocks noChangeArrowheads="1"/>
          </p:cNvSpPr>
          <p:nvPr/>
        </p:nvSpPr>
        <p:spPr bwMode="auto">
          <a:xfrm>
            <a:off x="1804096" y="1769512"/>
            <a:ext cx="1281419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NPN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型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" name="矩形 2671"/>
          <p:cNvSpPr>
            <a:spLocks noChangeArrowheads="1"/>
          </p:cNvSpPr>
          <p:nvPr/>
        </p:nvSpPr>
        <p:spPr bwMode="auto">
          <a:xfrm>
            <a:off x="4044589" y="1764111"/>
            <a:ext cx="1356519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PNP</a:t>
            </a:r>
            <a:r>
              <a:rPr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型</a:t>
            </a:r>
            <a:endParaRPr lang="zh-CN" altLang="en-US" sz="2800" b="1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5" name="组合 2672"/>
          <p:cNvGrpSpPr/>
          <p:nvPr/>
        </p:nvGrpSpPr>
        <p:grpSpPr bwMode="auto">
          <a:xfrm>
            <a:off x="2192337" y="2274093"/>
            <a:ext cx="1109663" cy="2201863"/>
            <a:chOff x="-9" y="-21"/>
            <a:chExt cx="699" cy="1387"/>
          </a:xfrm>
        </p:grpSpPr>
        <p:cxnSp>
          <p:nvCxnSpPr>
            <p:cNvPr id="7" name="直接连接符 2673"/>
            <p:cNvCxnSpPr>
              <a:cxnSpLocks noChangeShapeType="1"/>
            </p:cNvCxnSpPr>
            <p:nvPr/>
          </p:nvCxnSpPr>
          <p:spPr bwMode="auto">
            <a:xfrm>
              <a:off x="210" y="720"/>
              <a:ext cx="258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连接符 2674"/>
            <p:cNvCxnSpPr>
              <a:cxnSpLocks noChangeShapeType="1"/>
            </p:cNvCxnSpPr>
            <p:nvPr/>
          </p:nvCxnSpPr>
          <p:spPr bwMode="auto">
            <a:xfrm>
              <a:off x="455" y="598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直接连接符 2675"/>
            <p:cNvCxnSpPr>
              <a:cxnSpLocks noChangeShapeType="1"/>
            </p:cNvCxnSpPr>
            <p:nvPr/>
          </p:nvCxnSpPr>
          <p:spPr bwMode="auto">
            <a:xfrm>
              <a:off x="455" y="721"/>
              <a:ext cx="235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2676"/>
            <p:cNvCxnSpPr>
              <a:cxnSpLocks noChangeShapeType="1"/>
            </p:cNvCxnSpPr>
            <p:nvPr/>
          </p:nvCxnSpPr>
          <p:spPr bwMode="auto">
            <a:xfrm flipV="1">
              <a:off x="455" y="528"/>
              <a:ext cx="235" cy="1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2677"/>
            <p:cNvCxnSpPr>
              <a:cxnSpLocks noChangeShapeType="1"/>
            </p:cNvCxnSpPr>
            <p:nvPr/>
          </p:nvCxnSpPr>
          <p:spPr bwMode="auto">
            <a:xfrm>
              <a:off x="676" y="144"/>
              <a:ext cx="0" cy="39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2678"/>
            <p:cNvCxnSpPr>
              <a:cxnSpLocks noChangeShapeType="1"/>
            </p:cNvCxnSpPr>
            <p:nvPr/>
          </p:nvCxnSpPr>
          <p:spPr bwMode="auto">
            <a:xfrm flipH="1">
              <a:off x="658" y="880"/>
              <a:ext cx="10" cy="3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矩形 2679"/>
            <p:cNvSpPr>
              <a:spLocks noChangeArrowheads="1"/>
            </p:cNvSpPr>
            <p:nvPr/>
          </p:nvSpPr>
          <p:spPr bwMode="auto">
            <a:xfrm>
              <a:off x="442" y="-21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4" name="矩形 2680"/>
            <p:cNvSpPr>
              <a:spLocks noChangeArrowheads="1"/>
            </p:cNvSpPr>
            <p:nvPr/>
          </p:nvSpPr>
          <p:spPr bwMode="auto">
            <a:xfrm>
              <a:off x="-9" y="507"/>
              <a:ext cx="228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5" name="矩形 2681"/>
            <p:cNvSpPr>
              <a:spLocks noChangeArrowheads="1"/>
            </p:cNvSpPr>
            <p:nvPr/>
          </p:nvSpPr>
          <p:spPr bwMode="auto">
            <a:xfrm>
              <a:off x="442" y="1035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16" name="组合 2682"/>
          <p:cNvGrpSpPr/>
          <p:nvPr/>
        </p:nvGrpSpPr>
        <p:grpSpPr bwMode="auto">
          <a:xfrm>
            <a:off x="4354512" y="2391568"/>
            <a:ext cx="979489" cy="2125663"/>
            <a:chOff x="-9" y="-21"/>
            <a:chExt cx="617" cy="1339"/>
          </a:xfrm>
        </p:grpSpPr>
        <p:cxnSp>
          <p:nvCxnSpPr>
            <p:cNvPr id="17" name="直接连接符 2683"/>
            <p:cNvCxnSpPr>
              <a:cxnSpLocks noChangeShapeType="1"/>
            </p:cNvCxnSpPr>
            <p:nvPr/>
          </p:nvCxnSpPr>
          <p:spPr bwMode="auto">
            <a:xfrm>
              <a:off x="162" y="624"/>
              <a:ext cx="25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连接符 2684"/>
            <p:cNvCxnSpPr>
              <a:cxnSpLocks noChangeShapeType="1"/>
            </p:cNvCxnSpPr>
            <p:nvPr/>
          </p:nvCxnSpPr>
          <p:spPr bwMode="auto">
            <a:xfrm>
              <a:off x="407" y="489"/>
              <a:ext cx="0" cy="2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连接符 2685"/>
            <p:cNvCxnSpPr>
              <a:cxnSpLocks noChangeShapeType="1"/>
            </p:cNvCxnSpPr>
            <p:nvPr/>
          </p:nvCxnSpPr>
          <p:spPr bwMode="auto">
            <a:xfrm rot="16200000" flipV="1">
              <a:off x="416" y="590"/>
              <a:ext cx="147" cy="18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连接符 2686"/>
            <p:cNvCxnSpPr>
              <a:cxnSpLocks noChangeShapeType="1"/>
            </p:cNvCxnSpPr>
            <p:nvPr/>
          </p:nvCxnSpPr>
          <p:spPr bwMode="auto">
            <a:xfrm flipV="1">
              <a:off x="407" y="480"/>
              <a:ext cx="187" cy="1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连接符 2687"/>
            <p:cNvCxnSpPr>
              <a:cxnSpLocks noChangeShapeType="1"/>
            </p:cNvCxnSpPr>
            <p:nvPr/>
          </p:nvCxnSpPr>
          <p:spPr bwMode="auto">
            <a:xfrm>
              <a:off x="594" y="144"/>
              <a:ext cx="0" cy="3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连接符 2688"/>
            <p:cNvCxnSpPr>
              <a:cxnSpLocks noChangeShapeType="1"/>
            </p:cNvCxnSpPr>
            <p:nvPr/>
          </p:nvCxnSpPr>
          <p:spPr bwMode="auto">
            <a:xfrm>
              <a:off x="594" y="757"/>
              <a:ext cx="0" cy="3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矩形 2689"/>
            <p:cNvSpPr>
              <a:spLocks noChangeArrowheads="1"/>
            </p:cNvSpPr>
            <p:nvPr/>
          </p:nvSpPr>
          <p:spPr bwMode="auto">
            <a:xfrm>
              <a:off x="-9" y="411"/>
              <a:ext cx="228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24" name="矩形 2690"/>
            <p:cNvSpPr>
              <a:spLocks noChangeArrowheads="1"/>
            </p:cNvSpPr>
            <p:nvPr/>
          </p:nvSpPr>
          <p:spPr bwMode="auto">
            <a:xfrm>
              <a:off x="394" y="-21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25" name="矩形 2691"/>
            <p:cNvSpPr>
              <a:spLocks noChangeArrowheads="1"/>
            </p:cNvSpPr>
            <p:nvPr/>
          </p:nvSpPr>
          <p:spPr bwMode="auto">
            <a:xfrm>
              <a:off x="387" y="987"/>
              <a:ext cx="21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8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26" name="矩形 2693"/>
          <p:cNvSpPr>
            <a:spLocks noChangeArrowheads="1"/>
          </p:cNvSpPr>
          <p:nvPr/>
        </p:nvSpPr>
        <p:spPr bwMode="auto">
          <a:xfrm>
            <a:off x="1953402" y="4698205"/>
            <a:ext cx="190979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lang="en-US" altLang="en-US" sz="2800" b="1" dirty="0"/>
              <a:t>≤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&gt;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endParaRPr lang="en-US" altLang="en-US" sz="2800" b="1" baseline="-25000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7" name="矩形 2694"/>
          <p:cNvSpPr>
            <a:spLocks noChangeArrowheads="1"/>
          </p:cNvSpPr>
          <p:nvPr/>
        </p:nvSpPr>
        <p:spPr bwMode="auto">
          <a:xfrm>
            <a:off x="4331547" y="4750295"/>
            <a:ext cx="190979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lang="en-US" altLang="en-US" sz="2800" b="1" dirty="0"/>
              <a:t>≥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latin typeface="Times New Roman" panose="02020603050405020304" pitchFamily="18" charset="0"/>
              </a:rPr>
              <a:t>&lt;</a:t>
            </a:r>
            <a:r>
              <a:rPr lang="en-US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endParaRPr lang="en-US" altLang="en-US" sz="2800" b="1" baseline="-25000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8" name="矩形 2696"/>
          <p:cNvSpPr>
            <a:spLocks noChangeArrowheads="1"/>
          </p:cNvSpPr>
          <p:nvPr/>
        </p:nvSpPr>
        <p:spPr bwMode="auto">
          <a:xfrm>
            <a:off x="6596063" y="2118182"/>
            <a:ext cx="5333999" cy="2442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>
              <a:spcBef>
                <a:spcPct val="15000"/>
              </a:spcBef>
            </a:pP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正向导通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: </a:t>
            </a:r>
            <a:endParaRPr lang="en-US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>
              <a:spcBef>
                <a:spcPct val="15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硅管约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0.7V,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锗管大约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0.2V</a:t>
            </a:r>
            <a:endParaRPr lang="en-US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>
              <a:spcBef>
                <a:spcPct val="15000"/>
              </a:spcBef>
            </a:pP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饱和时三极管的管压被称作为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CES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CES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范围：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>
              <a:spcBef>
                <a:spcPct val="15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硅管约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0.7V~0V,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锗管约</a:t>
            </a:r>
            <a:r>
              <a:rPr lang="en-US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0.2V~0V</a:t>
            </a:r>
            <a:endParaRPr lang="en-US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398328" y="639074"/>
            <a:ext cx="465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发射结正偏，集电结正偏或反偏电压很小</a:t>
            </a:r>
            <a:endParaRPr lang="zh-CN" altLang="en-US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330" y="920115"/>
            <a:ext cx="6562725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8" dur="20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4" dur="20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childTnLst>
                                    <p:set>
                                      <p:cBhvr additive="base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7" presetClass="entr" presetSubtype="8" fill="hold" nodeType="afterEffect"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三极管饱和工作状态的判断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911276" y="2228014"/>
            <a:ext cx="2086285" cy="3301521"/>
            <a:chOff x="2644938" y="856080"/>
            <a:chExt cx="2086285" cy="3301521"/>
          </a:xfrm>
        </p:grpSpPr>
        <p:sp>
          <p:nvSpPr>
            <p:cNvPr id="8" name="Rectangle 7"/>
            <p:cNvSpPr/>
            <p:nvPr/>
          </p:nvSpPr>
          <p:spPr>
            <a:xfrm rot="5400000">
              <a:off x="2690308" y="1388541"/>
              <a:ext cx="585783" cy="2924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2986494" y="2729625"/>
              <a:ext cx="3349" cy="3634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2986494" y="2621928"/>
              <a:ext cx="0" cy="215393"/>
            </a:xfrm>
            <a:prstGeom prst="line">
              <a:avLst/>
            </a:prstGeom>
            <a:ln w="381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2986494" y="2062400"/>
              <a:ext cx="204" cy="7121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2989843" y="3083202"/>
              <a:ext cx="0" cy="4873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endCxn id="8" idx="3"/>
            </p:cNvCxnSpPr>
            <p:nvPr/>
          </p:nvCxnSpPr>
          <p:spPr>
            <a:xfrm flipV="1">
              <a:off x="2983199" y="1827645"/>
              <a:ext cx="0" cy="3044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1"/>
            </p:cNvCxnSpPr>
            <p:nvPr/>
          </p:nvCxnSpPr>
          <p:spPr>
            <a:xfrm flipH="1" flipV="1">
              <a:off x="2979974" y="900953"/>
              <a:ext cx="3225" cy="3409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986698" y="900953"/>
              <a:ext cx="156245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992448" y="3550006"/>
              <a:ext cx="0" cy="4798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804184" y="4029858"/>
              <a:ext cx="3839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868352" y="4090829"/>
              <a:ext cx="2315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922380" y="4157601"/>
              <a:ext cx="114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693984" y="2095347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644938" y="312998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4549157" y="900953"/>
              <a:ext cx="0" cy="1231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554040" y="2293835"/>
              <a:ext cx="9957" cy="1516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 flipV="1">
              <a:off x="2986698" y="3789932"/>
              <a:ext cx="1572320" cy="208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2929105" y="3721722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2934788" y="856080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4351079" y="2132113"/>
              <a:ext cx="380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4427279" y="2277588"/>
              <a:ext cx="227744" cy="1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125462" y="2306076"/>
              <a:ext cx="0" cy="98836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4430" y="3966342"/>
            <a:ext cx="992400" cy="4887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99229" y="5729560"/>
            <a:ext cx="3070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集电极与射极之间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视同导通状态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75880" y="5756483"/>
            <a:ext cx="41520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基极加上足够的顺向偏压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/>
            <a:r>
              <a:rPr lang="zh-CN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使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足够大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815110" y="2315608"/>
            <a:ext cx="4216138" cy="3301521"/>
            <a:chOff x="515085" y="856080"/>
            <a:chExt cx="4216138" cy="3301521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775855" y="2812473"/>
              <a:ext cx="7342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1510145" y="2666260"/>
              <a:ext cx="585783" cy="2924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2690308" y="1388541"/>
              <a:ext cx="585783" cy="2924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2095928" y="2062400"/>
              <a:ext cx="893915" cy="1508154"/>
              <a:chOff x="2095928" y="2062400"/>
              <a:chExt cx="893915" cy="1508154"/>
            </a:xfrm>
          </p:grpSpPr>
          <p:grpSp>
            <p:nvGrpSpPr>
              <p:cNvPr id="64" name="Group 63"/>
              <p:cNvGrpSpPr/>
              <p:nvPr/>
            </p:nvGrpSpPr>
            <p:grpSpPr>
              <a:xfrm>
                <a:off x="2356339" y="2531909"/>
                <a:ext cx="633504" cy="561126"/>
                <a:chOff x="2231292" y="3751110"/>
                <a:chExt cx="633504" cy="561126"/>
              </a:xfrm>
            </p:grpSpPr>
            <p:cxnSp>
              <p:nvCxnSpPr>
                <p:cNvPr id="68" name="Straight Connector 67"/>
                <p:cNvCxnSpPr/>
                <p:nvPr/>
              </p:nvCxnSpPr>
              <p:spPr>
                <a:xfrm>
                  <a:off x="2231292" y="4031673"/>
                  <a:ext cx="345652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2563090" y="3751110"/>
                  <a:ext cx="0" cy="5439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 flipV="1">
                  <a:off x="2576944" y="3751110"/>
                  <a:ext cx="287852" cy="28056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/>
              </p:nvCxnSpPr>
              <p:spPr>
                <a:xfrm>
                  <a:off x="2563090" y="4042063"/>
                  <a:ext cx="301706" cy="27017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>
                  <a:off x="2685006" y="4144257"/>
                  <a:ext cx="116618" cy="11645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5" name="Straight Connector 64"/>
              <p:cNvCxnSpPr>
                <a:endCxn id="35" idx="3"/>
              </p:cNvCxnSpPr>
              <p:nvPr/>
            </p:nvCxnSpPr>
            <p:spPr>
              <a:xfrm flipH="1">
                <a:off x="2095928" y="2812472"/>
                <a:ext cx="291672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 flipV="1">
                <a:off x="2986698" y="2062400"/>
                <a:ext cx="0" cy="487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V="1">
                <a:off x="2989843" y="3083202"/>
                <a:ext cx="0" cy="487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Straight Connector 37"/>
            <p:cNvCxnSpPr>
              <a:endCxn id="36" idx="3"/>
            </p:cNvCxnSpPr>
            <p:nvPr/>
          </p:nvCxnSpPr>
          <p:spPr>
            <a:xfrm flipV="1">
              <a:off x="2983199" y="1827645"/>
              <a:ext cx="0" cy="3044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36" idx="1"/>
            </p:cNvCxnSpPr>
            <p:nvPr/>
          </p:nvCxnSpPr>
          <p:spPr>
            <a:xfrm flipH="1" flipV="1">
              <a:off x="2979974" y="900953"/>
              <a:ext cx="3225" cy="3409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2986698" y="900953"/>
              <a:ext cx="156245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992448" y="3550006"/>
              <a:ext cx="0" cy="4798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804184" y="4029858"/>
              <a:ext cx="3839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2868352" y="4090829"/>
              <a:ext cx="2315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2922380" y="4157601"/>
              <a:ext cx="114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2346376" y="2464852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693984" y="2095347"/>
              <a:ext cx="341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644938" y="312998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4549157" y="900953"/>
              <a:ext cx="0" cy="1231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515085" y="3328076"/>
              <a:ext cx="380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84523" y="3495723"/>
              <a:ext cx="227744" cy="1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554040" y="2293835"/>
              <a:ext cx="9957" cy="1516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1143000" y="3129983"/>
              <a:ext cx="109876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1505547" y="3109777"/>
              <a:ext cx="7742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en-US" altLang="zh-CN" b="1" i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b="1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647768" y="2748051"/>
              <a:ext cx="114779" cy="12774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Straight Connector 54"/>
            <p:cNvCxnSpPr/>
            <p:nvPr/>
          </p:nvCxnSpPr>
          <p:spPr>
            <a:xfrm flipH="1" flipV="1">
              <a:off x="2986698" y="3789932"/>
              <a:ext cx="1572320" cy="208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2929105" y="3721722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2934788" y="856080"/>
              <a:ext cx="114779" cy="12774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Straight Connector 57"/>
            <p:cNvCxnSpPr/>
            <p:nvPr/>
          </p:nvCxnSpPr>
          <p:spPr>
            <a:xfrm>
              <a:off x="705261" y="2864966"/>
              <a:ext cx="0" cy="4532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705261" y="3480443"/>
              <a:ext cx="0" cy="3094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705261" y="3789932"/>
              <a:ext cx="228143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4351079" y="2132113"/>
              <a:ext cx="3801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4427279" y="2277588"/>
              <a:ext cx="227744" cy="1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3125462" y="2306076"/>
              <a:ext cx="0" cy="98836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3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790" y="4017782"/>
            <a:ext cx="956411" cy="47106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0" y="597313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当三极管之基极参加高电平时，因为           ，射极和集电极的电流亦非常大，此时集电极与射极之间的电压降非常低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i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&lt;0.4V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，其意义相当于集电极与射极之间完全导通，此状态为三级管的饱和状态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00" y="597313"/>
            <a:ext cx="1991902" cy="581706"/>
          </a:xfrm>
          <a:prstGeom prst="rect">
            <a:avLst/>
          </a:prstGeom>
        </p:spPr>
      </p:pic>
      <p:sp>
        <p:nvSpPr>
          <p:cNvPr id="2" name="Arrow: Right 1"/>
          <p:cNvSpPr/>
          <p:nvPr/>
        </p:nvSpPr>
        <p:spPr>
          <a:xfrm>
            <a:off x="5982058" y="352328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75" grpId="0"/>
      <p:bldP spid="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三极管放大、饱和、截止工作状态的判断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2382981" y="1356360"/>
          <a:ext cx="612371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347"/>
                <a:gridCol w="2161309"/>
                <a:gridCol w="1427018"/>
                <a:gridCol w="133003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状态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发射结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集电结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I</a:t>
                      </a:r>
                      <a:r>
                        <a:rPr lang="en-US" altLang="zh-CN" sz="2800" i="1" baseline="-250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C</a:t>
                      </a:r>
                      <a:endParaRPr lang="zh-CN" altLang="en-US" sz="2800" i="1" baseline="-250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截止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反偏或零偏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反偏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0</a:t>
                      </a:r>
                      <a:endParaRPr lang="zh-CN" altLang="en-US" sz="2800" i="1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放大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正偏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反偏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  <a:sym typeface="Symbol" panose="05050102010706020507" pitchFamily="18" charset="2"/>
                        </a:rPr>
                        <a:t></a:t>
                      </a:r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  <a:sym typeface="Symbol" panose="05050102010706020507" pitchFamily="18" charset="2"/>
                        </a:rPr>
                        <a:t>I</a:t>
                      </a:r>
                      <a:r>
                        <a:rPr lang="en-US" altLang="zh-CN" sz="2800" i="1" baseline="-250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  <a:sym typeface="Symbol" panose="05050102010706020507" pitchFamily="18" charset="2"/>
                        </a:rPr>
                        <a:t>B</a:t>
                      </a:r>
                      <a:endParaRPr lang="zh-CN" altLang="en-US" sz="2800" i="1" baseline="-250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饱和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正偏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正偏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&lt;</a:t>
                      </a:r>
                      <a:r>
                        <a:rPr lang="zh-CN" altLang="en-US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  <a:sym typeface="Symbol" panose="05050102010706020507" pitchFamily="18" charset="2"/>
                        </a:rPr>
                        <a:t></a:t>
                      </a:r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  <a:sym typeface="Symbol" panose="05050102010706020507" pitchFamily="18" charset="2"/>
                        </a:rPr>
                        <a:t>I</a:t>
                      </a:r>
                      <a:r>
                        <a:rPr lang="en-US" altLang="zh-CN" sz="2800" i="1" baseline="-250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  <a:sym typeface="Symbol" panose="05050102010706020507" pitchFamily="18" charset="2"/>
                        </a:rPr>
                        <a:t>B</a:t>
                      </a:r>
                      <a:endParaRPr lang="zh-CN" altLang="en-US" sz="2800" i="1" baseline="-250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0" y="675362"/>
            <a:ext cx="39395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三极管工作情况总结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NPN</a:t>
            </a:r>
            <a:endParaRPr lang="en-US" altLang="zh-CN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0" y="3723198"/>
            <a:ext cx="7398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三极管处于放大状态时，三个极上的电流关系</a:t>
            </a:r>
            <a:endParaRPr lang="zh-CN" altLang="en-US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3396" y="4540616"/>
            <a:ext cx="2481560" cy="17902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45236" y="3723198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电位关系</a:t>
            </a:r>
            <a:endParaRPr lang="zh-CN" altLang="en-US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586826" y="4251960"/>
          <a:ext cx="4605174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407"/>
                <a:gridCol w="1786732"/>
                <a:gridCol w="1922035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NPN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PNP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C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最高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最低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B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中</a:t>
                      </a:r>
                      <a:endParaRPr lang="en-US" altLang="zh-CN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  <a:p>
                      <a:pPr algn="ctr"/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V</a:t>
                      </a:r>
                      <a:r>
                        <a:rPr lang="en-US" altLang="zh-CN" sz="2800" i="1" baseline="-250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B</a:t>
                      </a:r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=V</a:t>
                      </a:r>
                      <a:r>
                        <a:rPr lang="en-US" altLang="zh-CN" sz="2800" i="1" baseline="-250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E</a:t>
                      </a:r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+0.7</a:t>
                      </a:r>
                      <a:endParaRPr lang="en-US" altLang="zh-CN" sz="2800" i="1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中</a:t>
                      </a:r>
                      <a:endParaRPr lang="en-US" altLang="zh-CN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V</a:t>
                      </a:r>
                      <a:r>
                        <a:rPr lang="en-US" altLang="zh-CN" sz="2800" i="1" baseline="-250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B</a:t>
                      </a:r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=V</a:t>
                      </a:r>
                      <a:r>
                        <a:rPr lang="en-US" altLang="zh-CN" sz="2800" i="1" baseline="-250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E</a:t>
                      </a:r>
                      <a:r>
                        <a:rPr lang="en-US" altLang="zh-CN" sz="2800" i="1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-0.7</a:t>
                      </a:r>
                      <a:endParaRPr lang="zh-CN" altLang="en-US" sz="2800" i="1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E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最低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最高</a:t>
                      </a:r>
                      <a:endParaRPr lang="zh-CN" altLang="en-US" sz="2800" dirty="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84956" y="722313"/>
            <a:ext cx="11622087" cy="105779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：用数字电压表测得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=4.5 V 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E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=  3.8 V 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=8 V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，试判断三极管的工作状态。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602306" y="1827054"/>
          <a:ext cx="6331857" cy="439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位图图像" r:id="rId1" imgW="2647950" imgH="1819275" progId="Paint.Picture">
                  <p:embed/>
                </p:oleObj>
              </mc:Choice>
              <mc:Fallback>
                <p:oleObj name="位图图像" r:id="rId1" imgW="2647950" imgH="181927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306" y="1827054"/>
                        <a:ext cx="6331857" cy="439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Group 932"/>
          <p:cNvGrpSpPr/>
          <p:nvPr/>
        </p:nvGrpSpPr>
        <p:grpSpPr bwMode="auto">
          <a:xfrm>
            <a:off x="1529216" y="2116138"/>
            <a:ext cx="1676400" cy="2544762"/>
            <a:chOff x="514" y="1480"/>
            <a:chExt cx="1056" cy="1603"/>
          </a:xfrm>
        </p:grpSpPr>
        <p:sp>
          <p:nvSpPr>
            <p:cNvPr id="57" name="Line 933"/>
            <p:cNvSpPr>
              <a:spLocks noChangeShapeType="1"/>
            </p:cNvSpPr>
            <p:nvPr/>
          </p:nvSpPr>
          <p:spPr bwMode="auto">
            <a:xfrm>
              <a:off x="514" y="2243"/>
              <a:ext cx="564" cy="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58" name="Line 934"/>
            <p:cNvSpPr>
              <a:spLocks noChangeShapeType="1"/>
            </p:cNvSpPr>
            <p:nvPr/>
          </p:nvSpPr>
          <p:spPr bwMode="auto">
            <a:xfrm>
              <a:off x="1066" y="2069"/>
              <a:ext cx="0" cy="3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59" name="Line 935"/>
            <p:cNvSpPr>
              <a:spLocks noChangeShapeType="1"/>
            </p:cNvSpPr>
            <p:nvPr/>
          </p:nvSpPr>
          <p:spPr bwMode="auto">
            <a:xfrm>
              <a:off x="1066" y="2249"/>
              <a:ext cx="198" cy="18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60" name="Line 936"/>
            <p:cNvSpPr>
              <a:spLocks noChangeShapeType="1"/>
            </p:cNvSpPr>
            <p:nvPr/>
          </p:nvSpPr>
          <p:spPr bwMode="auto">
            <a:xfrm flipV="1">
              <a:off x="1066" y="2075"/>
              <a:ext cx="198" cy="16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61" name="Line 937"/>
            <p:cNvSpPr>
              <a:spLocks noChangeShapeType="1"/>
            </p:cNvSpPr>
            <p:nvPr/>
          </p:nvSpPr>
          <p:spPr bwMode="auto">
            <a:xfrm>
              <a:off x="1252" y="2423"/>
              <a:ext cx="0" cy="6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62" name="Rectangle 938"/>
            <p:cNvSpPr>
              <a:spLocks noChangeArrowheads="1"/>
            </p:cNvSpPr>
            <p:nvPr/>
          </p:nvSpPr>
          <p:spPr bwMode="auto">
            <a:xfrm>
              <a:off x="660" y="1909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B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63" name="Rectangle 939"/>
            <p:cNvSpPr>
              <a:spLocks noChangeArrowheads="1"/>
            </p:cNvSpPr>
            <p:nvPr/>
          </p:nvSpPr>
          <p:spPr bwMode="auto">
            <a:xfrm>
              <a:off x="924" y="2707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E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64" name="Rectangle 940"/>
            <p:cNvSpPr>
              <a:spLocks noChangeArrowheads="1"/>
            </p:cNvSpPr>
            <p:nvPr/>
          </p:nvSpPr>
          <p:spPr bwMode="auto">
            <a:xfrm>
              <a:off x="1285" y="1529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C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65" name="Line 941"/>
            <p:cNvSpPr>
              <a:spLocks noChangeShapeType="1"/>
            </p:cNvSpPr>
            <p:nvPr/>
          </p:nvSpPr>
          <p:spPr bwMode="auto">
            <a:xfrm flipV="1">
              <a:off x="1247" y="1480"/>
              <a:ext cx="0" cy="58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</p:grpSp>
      <p:grpSp>
        <p:nvGrpSpPr>
          <p:cNvPr id="66" name="Group 942"/>
          <p:cNvGrpSpPr/>
          <p:nvPr/>
        </p:nvGrpSpPr>
        <p:grpSpPr bwMode="auto">
          <a:xfrm>
            <a:off x="3977141" y="2116138"/>
            <a:ext cx="1676400" cy="2544762"/>
            <a:chOff x="514" y="1480"/>
            <a:chExt cx="1056" cy="1603"/>
          </a:xfrm>
        </p:grpSpPr>
        <p:sp>
          <p:nvSpPr>
            <p:cNvPr id="67" name="Line 943"/>
            <p:cNvSpPr>
              <a:spLocks noChangeShapeType="1"/>
            </p:cNvSpPr>
            <p:nvPr/>
          </p:nvSpPr>
          <p:spPr bwMode="auto">
            <a:xfrm>
              <a:off x="514" y="2243"/>
              <a:ext cx="564" cy="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68" name="Line 944"/>
            <p:cNvSpPr>
              <a:spLocks noChangeShapeType="1"/>
            </p:cNvSpPr>
            <p:nvPr/>
          </p:nvSpPr>
          <p:spPr bwMode="auto">
            <a:xfrm>
              <a:off x="1066" y="2069"/>
              <a:ext cx="0" cy="3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69" name="Line 945"/>
            <p:cNvSpPr>
              <a:spLocks noChangeShapeType="1"/>
            </p:cNvSpPr>
            <p:nvPr/>
          </p:nvSpPr>
          <p:spPr bwMode="auto">
            <a:xfrm>
              <a:off x="1066" y="2249"/>
              <a:ext cx="198" cy="18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70" name="Line 946"/>
            <p:cNvSpPr>
              <a:spLocks noChangeShapeType="1"/>
            </p:cNvSpPr>
            <p:nvPr/>
          </p:nvSpPr>
          <p:spPr bwMode="auto">
            <a:xfrm flipV="1">
              <a:off x="1066" y="2075"/>
              <a:ext cx="198" cy="16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71" name="Line 947"/>
            <p:cNvSpPr>
              <a:spLocks noChangeShapeType="1"/>
            </p:cNvSpPr>
            <p:nvPr/>
          </p:nvSpPr>
          <p:spPr bwMode="auto">
            <a:xfrm>
              <a:off x="1252" y="2423"/>
              <a:ext cx="0" cy="6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72" name="Rectangle 948"/>
            <p:cNvSpPr>
              <a:spLocks noChangeArrowheads="1"/>
            </p:cNvSpPr>
            <p:nvPr/>
          </p:nvSpPr>
          <p:spPr bwMode="auto">
            <a:xfrm>
              <a:off x="660" y="1909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B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73" name="Rectangle 949"/>
            <p:cNvSpPr>
              <a:spLocks noChangeArrowheads="1"/>
            </p:cNvSpPr>
            <p:nvPr/>
          </p:nvSpPr>
          <p:spPr bwMode="auto">
            <a:xfrm>
              <a:off x="924" y="2707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E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74" name="Rectangle 950"/>
            <p:cNvSpPr>
              <a:spLocks noChangeArrowheads="1"/>
            </p:cNvSpPr>
            <p:nvPr/>
          </p:nvSpPr>
          <p:spPr bwMode="auto">
            <a:xfrm>
              <a:off x="1285" y="1529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C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75" name="Line 951"/>
            <p:cNvSpPr>
              <a:spLocks noChangeShapeType="1"/>
            </p:cNvSpPr>
            <p:nvPr/>
          </p:nvSpPr>
          <p:spPr bwMode="auto">
            <a:xfrm flipV="1">
              <a:off x="1247" y="1480"/>
              <a:ext cx="0" cy="58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</p:grpSp>
      <p:sp>
        <p:nvSpPr>
          <p:cNvPr id="86" name="Rectangle 962"/>
          <p:cNvSpPr>
            <a:spLocks noChangeArrowheads="1"/>
          </p:cNvSpPr>
          <p:nvPr/>
        </p:nvSpPr>
        <p:spPr bwMode="auto">
          <a:xfrm>
            <a:off x="2034041" y="1539875"/>
            <a:ext cx="93821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0.6V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87" name="Rectangle 963"/>
          <p:cNvSpPr>
            <a:spLocks noChangeArrowheads="1"/>
          </p:cNvSpPr>
          <p:nvPr/>
        </p:nvSpPr>
        <p:spPr bwMode="auto">
          <a:xfrm>
            <a:off x="1349828" y="3340100"/>
            <a:ext cx="7921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3V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88" name="Rectangle 964"/>
          <p:cNvSpPr>
            <a:spLocks noChangeArrowheads="1"/>
          </p:cNvSpPr>
          <p:nvPr/>
        </p:nvSpPr>
        <p:spPr bwMode="auto">
          <a:xfrm>
            <a:off x="2608716" y="4203700"/>
            <a:ext cx="8683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2.3V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89" name="Rectangle 965"/>
          <p:cNvSpPr>
            <a:spLocks noChangeArrowheads="1"/>
          </p:cNvSpPr>
          <p:nvPr/>
        </p:nvSpPr>
        <p:spPr bwMode="auto">
          <a:xfrm>
            <a:off x="4408941" y="1828800"/>
            <a:ext cx="8683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0.7V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90" name="Rectangle 966"/>
          <p:cNvSpPr>
            <a:spLocks noChangeArrowheads="1"/>
          </p:cNvSpPr>
          <p:nvPr/>
        </p:nvSpPr>
        <p:spPr bwMode="auto">
          <a:xfrm>
            <a:off x="3761241" y="3411538"/>
            <a:ext cx="939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5V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91" name="Rectangle 967"/>
          <p:cNvSpPr>
            <a:spLocks noChangeArrowheads="1"/>
          </p:cNvSpPr>
          <p:nvPr/>
        </p:nvSpPr>
        <p:spPr bwMode="auto">
          <a:xfrm>
            <a:off x="5201103" y="4348163"/>
            <a:ext cx="7921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4.3V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160" name="Text Box 2"/>
          <p:cNvSpPr txBox="1">
            <a:spLocks noChangeArrowheads="1"/>
          </p:cNvSpPr>
          <p:nvPr/>
        </p:nvSpPr>
        <p:spPr bwMode="auto">
          <a:xfrm>
            <a:off x="363537" y="766505"/>
            <a:ext cx="11172934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：测量三极管三个电极对地电位如图所示，试判断三极管的工作状。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775"/>
          <p:cNvGrpSpPr/>
          <p:nvPr/>
        </p:nvGrpSpPr>
        <p:grpSpPr bwMode="auto">
          <a:xfrm>
            <a:off x="1471160" y="1927452"/>
            <a:ext cx="1676400" cy="2544762"/>
            <a:chOff x="514" y="1480"/>
            <a:chExt cx="1056" cy="1603"/>
          </a:xfrm>
        </p:grpSpPr>
        <p:sp>
          <p:nvSpPr>
            <p:cNvPr id="3" name="Line 776"/>
            <p:cNvSpPr>
              <a:spLocks noChangeShapeType="1"/>
            </p:cNvSpPr>
            <p:nvPr/>
          </p:nvSpPr>
          <p:spPr bwMode="auto">
            <a:xfrm>
              <a:off x="514" y="2243"/>
              <a:ext cx="564" cy="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4" name="Line 777"/>
            <p:cNvSpPr>
              <a:spLocks noChangeShapeType="1"/>
            </p:cNvSpPr>
            <p:nvPr/>
          </p:nvSpPr>
          <p:spPr bwMode="auto">
            <a:xfrm>
              <a:off x="1066" y="2069"/>
              <a:ext cx="0" cy="3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5" name="Line 778"/>
            <p:cNvSpPr>
              <a:spLocks noChangeShapeType="1"/>
            </p:cNvSpPr>
            <p:nvPr/>
          </p:nvSpPr>
          <p:spPr bwMode="auto">
            <a:xfrm>
              <a:off x="1066" y="2249"/>
              <a:ext cx="198" cy="18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7" name="Line 779"/>
            <p:cNvSpPr>
              <a:spLocks noChangeShapeType="1"/>
            </p:cNvSpPr>
            <p:nvPr/>
          </p:nvSpPr>
          <p:spPr bwMode="auto">
            <a:xfrm flipV="1">
              <a:off x="1066" y="2075"/>
              <a:ext cx="198" cy="16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8" name="Line 780"/>
            <p:cNvSpPr>
              <a:spLocks noChangeShapeType="1"/>
            </p:cNvSpPr>
            <p:nvPr/>
          </p:nvSpPr>
          <p:spPr bwMode="auto">
            <a:xfrm>
              <a:off x="1252" y="2423"/>
              <a:ext cx="0" cy="6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9" name="Rectangle 781"/>
            <p:cNvSpPr>
              <a:spLocks noChangeArrowheads="1"/>
            </p:cNvSpPr>
            <p:nvPr/>
          </p:nvSpPr>
          <p:spPr bwMode="auto">
            <a:xfrm>
              <a:off x="660" y="1909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B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10" name="Rectangle 782"/>
            <p:cNvSpPr>
              <a:spLocks noChangeArrowheads="1"/>
            </p:cNvSpPr>
            <p:nvPr/>
          </p:nvSpPr>
          <p:spPr bwMode="auto">
            <a:xfrm>
              <a:off x="924" y="2707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E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11" name="Rectangle 783"/>
            <p:cNvSpPr>
              <a:spLocks noChangeArrowheads="1"/>
            </p:cNvSpPr>
            <p:nvPr/>
          </p:nvSpPr>
          <p:spPr bwMode="auto">
            <a:xfrm>
              <a:off x="1285" y="1529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C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12" name="Line 784"/>
            <p:cNvSpPr>
              <a:spLocks noChangeShapeType="1"/>
            </p:cNvSpPr>
            <p:nvPr/>
          </p:nvSpPr>
          <p:spPr bwMode="auto">
            <a:xfrm flipV="1">
              <a:off x="1247" y="1480"/>
              <a:ext cx="0" cy="58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</p:grpSp>
      <p:grpSp>
        <p:nvGrpSpPr>
          <p:cNvPr id="13" name="Group 785"/>
          <p:cNvGrpSpPr/>
          <p:nvPr/>
        </p:nvGrpSpPr>
        <p:grpSpPr bwMode="auto">
          <a:xfrm>
            <a:off x="3919085" y="1927452"/>
            <a:ext cx="1676400" cy="2544762"/>
            <a:chOff x="514" y="1480"/>
            <a:chExt cx="1056" cy="1603"/>
          </a:xfrm>
        </p:grpSpPr>
        <p:sp>
          <p:nvSpPr>
            <p:cNvPr id="14" name="Line 786"/>
            <p:cNvSpPr>
              <a:spLocks noChangeShapeType="1"/>
            </p:cNvSpPr>
            <p:nvPr/>
          </p:nvSpPr>
          <p:spPr bwMode="auto">
            <a:xfrm>
              <a:off x="514" y="2243"/>
              <a:ext cx="564" cy="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15" name="Line 787"/>
            <p:cNvSpPr>
              <a:spLocks noChangeShapeType="1"/>
            </p:cNvSpPr>
            <p:nvPr/>
          </p:nvSpPr>
          <p:spPr bwMode="auto">
            <a:xfrm>
              <a:off x="1066" y="2069"/>
              <a:ext cx="0" cy="3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16" name="Line 788"/>
            <p:cNvSpPr>
              <a:spLocks noChangeShapeType="1"/>
            </p:cNvSpPr>
            <p:nvPr/>
          </p:nvSpPr>
          <p:spPr bwMode="auto">
            <a:xfrm>
              <a:off x="1066" y="2249"/>
              <a:ext cx="198" cy="18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17" name="Line 789"/>
            <p:cNvSpPr>
              <a:spLocks noChangeShapeType="1"/>
            </p:cNvSpPr>
            <p:nvPr/>
          </p:nvSpPr>
          <p:spPr bwMode="auto">
            <a:xfrm flipV="1">
              <a:off x="1066" y="2075"/>
              <a:ext cx="198" cy="16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18" name="Line 790"/>
            <p:cNvSpPr>
              <a:spLocks noChangeShapeType="1"/>
            </p:cNvSpPr>
            <p:nvPr/>
          </p:nvSpPr>
          <p:spPr bwMode="auto">
            <a:xfrm>
              <a:off x="1252" y="2423"/>
              <a:ext cx="0" cy="6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19" name="Rectangle 791"/>
            <p:cNvSpPr>
              <a:spLocks noChangeArrowheads="1"/>
            </p:cNvSpPr>
            <p:nvPr/>
          </p:nvSpPr>
          <p:spPr bwMode="auto">
            <a:xfrm>
              <a:off x="660" y="1909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B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20" name="Rectangle 792"/>
            <p:cNvSpPr>
              <a:spLocks noChangeArrowheads="1"/>
            </p:cNvSpPr>
            <p:nvPr/>
          </p:nvSpPr>
          <p:spPr bwMode="auto">
            <a:xfrm>
              <a:off x="924" y="2707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E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21" name="Rectangle 793"/>
            <p:cNvSpPr>
              <a:spLocks noChangeArrowheads="1"/>
            </p:cNvSpPr>
            <p:nvPr/>
          </p:nvSpPr>
          <p:spPr bwMode="auto">
            <a:xfrm>
              <a:off x="1285" y="1529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C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22" name="Line 794"/>
            <p:cNvSpPr>
              <a:spLocks noChangeShapeType="1"/>
            </p:cNvSpPr>
            <p:nvPr/>
          </p:nvSpPr>
          <p:spPr bwMode="auto">
            <a:xfrm flipV="1">
              <a:off x="1247" y="1480"/>
              <a:ext cx="0" cy="589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</p:grpSp>
      <p:sp>
        <p:nvSpPr>
          <p:cNvPr id="33" name="Rectangle 805"/>
          <p:cNvSpPr>
            <a:spLocks noChangeArrowheads="1"/>
          </p:cNvSpPr>
          <p:nvPr/>
        </p:nvSpPr>
        <p:spPr bwMode="auto">
          <a:xfrm>
            <a:off x="1975985" y="1351189"/>
            <a:ext cx="93821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12V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34" name="Rectangle 806"/>
          <p:cNvSpPr>
            <a:spLocks noChangeArrowheads="1"/>
          </p:cNvSpPr>
          <p:nvPr/>
        </p:nvSpPr>
        <p:spPr bwMode="auto">
          <a:xfrm>
            <a:off x="1291772" y="3151414"/>
            <a:ext cx="7921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3V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35" name="Rectangle 807"/>
          <p:cNvSpPr>
            <a:spLocks noChangeArrowheads="1"/>
          </p:cNvSpPr>
          <p:nvPr/>
        </p:nvSpPr>
        <p:spPr bwMode="auto">
          <a:xfrm>
            <a:off x="2550660" y="4015014"/>
            <a:ext cx="8683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2.9V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36" name="Rectangle 808"/>
          <p:cNvSpPr>
            <a:spLocks noChangeArrowheads="1"/>
          </p:cNvSpPr>
          <p:nvPr/>
        </p:nvSpPr>
        <p:spPr bwMode="auto">
          <a:xfrm>
            <a:off x="4350885" y="1640114"/>
            <a:ext cx="8683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12V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37" name="Rectangle 809"/>
          <p:cNvSpPr>
            <a:spLocks noChangeArrowheads="1"/>
          </p:cNvSpPr>
          <p:nvPr/>
        </p:nvSpPr>
        <p:spPr bwMode="auto">
          <a:xfrm>
            <a:off x="3703185" y="3222852"/>
            <a:ext cx="939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5V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38" name="Rectangle 810"/>
          <p:cNvSpPr>
            <a:spLocks noChangeArrowheads="1"/>
          </p:cNvSpPr>
          <p:nvPr/>
        </p:nvSpPr>
        <p:spPr bwMode="auto">
          <a:xfrm>
            <a:off x="5143047" y="4159477"/>
            <a:ext cx="7921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5.1V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363537" y="766505"/>
            <a:ext cx="11172934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：测量三极管三个电极对地电位如图所示，试判断三极管的工作状。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PNP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Group 952"/>
          <p:cNvGrpSpPr/>
          <p:nvPr/>
        </p:nvGrpSpPr>
        <p:grpSpPr bwMode="auto">
          <a:xfrm>
            <a:off x="6209166" y="2044700"/>
            <a:ext cx="1749425" cy="2667000"/>
            <a:chOff x="3061" y="1480"/>
            <a:chExt cx="1102" cy="1680"/>
          </a:xfrm>
        </p:grpSpPr>
        <p:sp>
          <p:nvSpPr>
            <p:cNvPr id="77" name="Line 953"/>
            <p:cNvSpPr>
              <a:spLocks noChangeShapeType="1"/>
            </p:cNvSpPr>
            <p:nvPr/>
          </p:nvSpPr>
          <p:spPr bwMode="auto">
            <a:xfrm>
              <a:off x="3061" y="2266"/>
              <a:ext cx="564" cy="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78" name="Line 954"/>
            <p:cNvSpPr>
              <a:spLocks noChangeShapeType="1"/>
            </p:cNvSpPr>
            <p:nvPr/>
          </p:nvSpPr>
          <p:spPr bwMode="auto">
            <a:xfrm>
              <a:off x="3613" y="2092"/>
              <a:ext cx="0" cy="3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79" name="Line 955"/>
            <p:cNvSpPr>
              <a:spLocks noChangeShapeType="1"/>
            </p:cNvSpPr>
            <p:nvPr/>
          </p:nvSpPr>
          <p:spPr bwMode="auto">
            <a:xfrm rot="5400000">
              <a:off x="3629" y="2046"/>
              <a:ext cx="182" cy="227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80" name="Line 956"/>
            <p:cNvSpPr>
              <a:spLocks noChangeShapeType="1"/>
            </p:cNvSpPr>
            <p:nvPr/>
          </p:nvSpPr>
          <p:spPr bwMode="auto">
            <a:xfrm>
              <a:off x="3606" y="2296"/>
              <a:ext cx="227" cy="18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81" name="Line 957"/>
            <p:cNvSpPr>
              <a:spLocks noChangeShapeType="1"/>
            </p:cNvSpPr>
            <p:nvPr/>
          </p:nvSpPr>
          <p:spPr bwMode="auto">
            <a:xfrm>
              <a:off x="3833" y="2478"/>
              <a:ext cx="0" cy="6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82" name="Rectangle 958"/>
            <p:cNvSpPr>
              <a:spLocks noChangeArrowheads="1"/>
            </p:cNvSpPr>
            <p:nvPr/>
          </p:nvSpPr>
          <p:spPr bwMode="auto">
            <a:xfrm>
              <a:off x="3207" y="1932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B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83" name="Rectangle 959"/>
            <p:cNvSpPr>
              <a:spLocks noChangeArrowheads="1"/>
            </p:cNvSpPr>
            <p:nvPr/>
          </p:nvSpPr>
          <p:spPr bwMode="auto">
            <a:xfrm>
              <a:off x="3878" y="1524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E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84" name="Rectangle 960"/>
            <p:cNvSpPr>
              <a:spLocks noChangeArrowheads="1"/>
            </p:cNvSpPr>
            <p:nvPr/>
          </p:nvSpPr>
          <p:spPr bwMode="auto">
            <a:xfrm>
              <a:off x="3560" y="2794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C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85" name="Line 961"/>
            <p:cNvSpPr>
              <a:spLocks noChangeShapeType="1"/>
            </p:cNvSpPr>
            <p:nvPr/>
          </p:nvSpPr>
          <p:spPr bwMode="auto">
            <a:xfrm flipV="1">
              <a:off x="3833" y="1480"/>
              <a:ext cx="0" cy="59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</p:grpSp>
      <p:grpSp>
        <p:nvGrpSpPr>
          <p:cNvPr id="92" name="Group 968"/>
          <p:cNvGrpSpPr/>
          <p:nvPr/>
        </p:nvGrpSpPr>
        <p:grpSpPr bwMode="auto">
          <a:xfrm>
            <a:off x="8298316" y="2116138"/>
            <a:ext cx="1749425" cy="2667000"/>
            <a:chOff x="3061" y="1480"/>
            <a:chExt cx="1102" cy="1680"/>
          </a:xfrm>
        </p:grpSpPr>
        <p:sp>
          <p:nvSpPr>
            <p:cNvPr id="93" name="Line 969"/>
            <p:cNvSpPr>
              <a:spLocks noChangeShapeType="1"/>
            </p:cNvSpPr>
            <p:nvPr/>
          </p:nvSpPr>
          <p:spPr bwMode="auto">
            <a:xfrm>
              <a:off x="3061" y="2266"/>
              <a:ext cx="564" cy="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94" name="Line 970"/>
            <p:cNvSpPr>
              <a:spLocks noChangeShapeType="1"/>
            </p:cNvSpPr>
            <p:nvPr/>
          </p:nvSpPr>
          <p:spPr bwMode="auto">
            <a:xfrm>
              <a:off x="3613" y="2092"/>
              <a:ext cx="0" cy="3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95" name="Line 971"/>
            <p:cNvSpPr>
              <a:spLocks noChangeShapeType="1"/>
            </p:cNvSpPr>
            <p:nvPr/>
          </p:nvSpPr>
          <p:spPr bwMode="auto">
            <a:xfrm rot="5400000">
              <a:off x="3629" y="2046"/>
              <a:ext cx="182" cy="227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96" name="Line 972"/>
            <p:cNvSpPr>
              <a:spLocks noChangeShapeType="1"/>
            </p:cNvSpPr>
            <p:nvPr/>
          </p:nvSpPr>
          <p:spPr bwMode="auto">
            <a:xfrm>
              <a:off x="3606" y="2296"/>
              <a:ext cx="227" cy="18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97" name="Line 973"/>
            <p:cNvSpPr>
              <a:spLocks noChangeShapeType="1"/>
            </p:cNvSpPr>
            <p:nvPr/>
          </p:nvSpPr>
          <p:spPr bwMode="auto">
            <a:xfrm>
              <a:off x="3833" y="2478"/>
              <a:ext cx="0" cy="6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98" name="Rectangle 974"/>
            <p:cNvSpPr>
              <a:spLocks noChangeArrowheads="1"/>
            </p:cNvSpPr>
            <p:nvPr/>
          </p:nvSpPr>
          <p:spPr bwMode="auto">
            <a:xfrm>
              <a:off x="3207" y="1932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B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99" name="Rectangle 975"/>
            <p:cNvSpPr>
              <a:spLocks noChangeArrowheads="1"/>
            </p:cNvSpPr>
            <p:nvPr/>
          </p:nvSpPr>
          <p:spPr bwMode="auto">
            <a:xfrm>
              <a:off x="3878" y="1524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E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100" name="Rectangle 976"/>
            <p:cNvSpPr>
              <a:spLocks noChangeArrowheads="1"/>
            </p:cNvSpPr>
            <p:nvPr/>
          </p:nvSpPr>
          <p:spPr bwMode="auto">
            <a:xfrm>
              <a:off x="3560" y="2794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C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101" name="Line 977"/>
            <p:cNvSpPr>
              <a:spLocks noChangeShapeType="1"/>
            </p:cNvSpPr>
            <p:nvPr/>
          </p:nvSpPr>
          <p:spPr bwMode="auto">
            <a:xfrm flipV="1">
              <a:off x="3833" y="1480"/>
              <a:ext cx="0" cy="59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</p:grpSp>
      <p:sp>
        <p:nvSpPr>
          <p:cNvPr id="102" name="Rectangle 978"/>
          <p:cNvSpPr>
            <a:spLocks noChangeArrowheads="1"/>
          </p:cNvSpPr>
          <p:nvPr/>
        </p:nvSpPr>
        <p:spPr bwMode="auto">
          <a:xfrm>
            <a:off x="6426653" y="1971675"/>
            <a:ext cx="12985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12V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103" name="Rectangle 979"/>
          <p:cNvSpPr>
            <a:spLocks noChangeArrowheads="1"/>
          </p:cNvSpPr>
          <p:nvPr/>
        </p:nvSpPr>
        <p:spPr bwMode="auto">
          <a:xfrm>
            <a:off x="8442778" y="2044700"/>
            <a:ext cx="15160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12V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104" name="Rectangle 980"/>
          <p:cNvSpPr>
            <a:spLocks noChangeArrowheads="1"/>
          </p:cNvSpPr>
          <p:nvPr/>
        </p:nvSpPr>
        <p:spPr bwMode="auto">
          <a:xfrm>
            <a:off x="5561466" y="3268663"/>
            <a:ext cx="15875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11.2V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105" name="Rectangle 981"/>
          <p:cNvSpPr>
            <a:spLocks noChangeArrowheads="1"/>
          </p:cNvSpPr>
          <p:nvPr/>
        </p:nvSpPr>
        <p:spPr bwMode="auto">
          <a:xfrm>
            <a:off x="7866516" y="3340100"/>
            <a:ext cx="15144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11.3V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106" name="Rectangle 982"/>
          <p:cNvSpPr>
            <a:spLocks noChangeArrowheads="1"/>
          </p:cNvSpPr>
          <p:nvPr/>
        </p:nvSpPr>
        <p:spPr bwMode="auto">
          <a:xfrm>
            <a:off x="7145791" y="4276725"/>
            <a:ext cx="14430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11.5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107" name="Rectangle 983"/>
          <p:cNvSpPr>
            <a:spLocks noChangeArrowheads="1"/>
          </p:cNvSpPr>
          <p:nvPr/>
        </p:nvSpPr>
        <p:spPr bwMode="auto">
          <a:xfrm>
            <a:off x="9557203" y="4348163"/>
            <a:ext cx="939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11.3V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160" name="Text Box 2"/>
          <p:cNvSpPr txBox="1">
            <a:spLocks noChangeArrowheads="1"/>
          </p:cNvSpPr>
          <p:nvPr/>
        </p:nvSpPr>
        <p:spPr bwMode="auto">
          <a:xfrm>
            <a:off x="363537" y="766505"/>
            <a:ext cx="11172934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：测量三极管三个电极对地电位如图所示，试判断三极管的工作状。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36552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PNP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Group 795"/>
          <p:cNvGrpSpPr/>
          <p:nvPr/>
        </p:nvGrpSpPr>
        <p:grpSpPr bwMode="auto">
          <a:xfrm>
            <a:off x="6151110" y="1856014"/>
            <a:ext cx="1749425" cy="2667000"/>
            <a:chOff x="3061" y="1480"/>
            <a:chExt cx="1102" cy="1680"/>
          </a:xfrm>
        </p:grpSpPr>
        <p:sp>
          <p:nvSpPr>
            <p:cNvPr id="24" name="Line 796"/>
            <p:cNvSpPr>
              <a:spLocks noChangeShapeType="1"/>
            </p:cNvSpPr>
            <p:nvPr/>
          </p:nvSpPr>
          <p:spPr bwMode="auto">
            <a:xfrm>
              <a:off x="3061" y="2266"/>
              <a:ext cx="564" cy="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25" name="Line 797"/>
            <p:cNvSpPr>
              <a:spLocks noChangeShapeType="1"/>
            </p:cNvSpPr>
            <p:nvPr/>
          </p:nvSpPr>
          <p:spPr bwMode="auto">
            <a:xfrm>
              <a:off x="3613" y="2092"/>
              <a:ext cx="0" cy="3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26" name="Line 798"/>
            <p:cNvSpPr>
              <a:spLocks noChangeShapeType="1"/>
            </p:cNvSpPr>
            <p:nvPr/>
          </p:nvSpPr>
          <p:spPr bwMode="auto">
            <a:xfrm rot="5400000">
              <a:off x="3629" y="2046"/>
              <a:ext cx="182" cy="227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27" name="Line 799"/>
            <p:cNvSpPr>
              <a:spLocks noChangeShapeType="1"/>
            </p:cNvSpPr>
            <p:nvPr/>
          </p:nvSpPr>
          <p:spPr bwMode="auto">
            <a:xfrm>
              <a:off x="3606" y="2296"/>
              <a:ext cx="227" cy="18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28" name="Line 800"/>
            <p:cNvSpPr>
              <a:spLocks noChangeShapeType="1"/>
            </p:cNvSpPr>
            <p:nvPr/>
          </p:nvSpPr>
          <p:spPr bwMode="auto">
            <a:xfrm>
              <a:off x="3833" y="2478"/>
              <a:ext cx="0" cy="6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29" name="Rectangle 801"/>
            <p:cNvSpPr>
              <a:spLocks noChangeArrowheads="1"/>
            </p:cNvSpPr>
            <p:nvPr/>
          </p:nvSpPr>
          <p:spPr bwMode="auto">
            <a:xfrm>
              <a:off x="3207" y="1932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B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30" name="Rectangle 802"/>
            <p:cNvSpPr>
              <a:spLocks noChangeArrowheads="1"/>
            </p:cNvSpPr>
            <p:nvPr/>
          </p:nvSpPr>
          <p:spPr bwMode="auto">
            <a:xfrm>
              <a:off x="3878" y="1524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E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31" name="Rectangle 803"/>
            <p:cNvSpPr>
              <a:spLocks noChangeArrowheads="1"/>
            </p:cNvSpPr>
            <p:nvPr/>
          </p:nvSpPr>
          <p:spPr bwMode="auto">
            <a:xfrm>
              <a:off x="3560" y="2794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C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32" name="Line 804"/>
            <p:cNvSpPr>
              <a:spLocks noChangeShapeType="1"/>
            </p:cNvSpPr>
            <p:nvPr/>
          </p:nvSpPr>
          <p:spPr bwMode="auto">
            <a:xfrm flipV="1">
              <a:off x="3833" y="1480"/>
              <a:ext cx="0" cy="59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</p:grpSp>
      <p:grpSp>
        <p:nvGrpSpPr>
          <p:cNvPr id="39" name="Group 811"/>
          <p:cNvGrpSpPr/>
          <p:nvPr/>
        </p:nvGrpSpPr>
        <p:grpSpPr bwMode="auto">
          <a:xfrm>
            <a:off x="8240260" y="1927452"/>
            <a:ext cx="1749425" cy="2667000"/>
            <a:chOff x="3061" y="1480"/>
            <a:chExt cx="1102" cy="1680"/>
          </a:xfrm>
        </p:grpSpPr>
        <p:sp>
          <p:nvSpPr>
            <p:cNvPr id="40" name="Line 812"/>
            <p:cNvSpPr>
              <a:spLocks noChangeShapeType="1"/>
            </p:cNvSpPr>
            <p:nvPr/>
          </p:nvSpPr>
          <p:spPr bwMode="auto">
            <a:xfrm>
              <a:off x="3061" y="2266"/>
              <a:ext cx="564" cy="6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41" name="Line 813"/>
            <p:cNvSpPr>
              <a:spLocks noChangeShapeType="1"/>
            </p:cNvSpPr>
            <p:nvPr/>
          </p:nvSpPr>
          <p:spPr bwMode="auto">
            <a:xfrm>
              <a:off x="3613" y="2092"/>
              <a:ext cx="0" cy="3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42" name="Line 814"/>
            <p:cNvSpPr>
              <a:spLocks noChangeShapeType="1"/>
            </p:cNvSpPr>
            <p:nvPr/>
          </p:nvSpPr>
          <p:spPr bwMode="auto">
            <a:xfrm rot="5400000">
              <a:off x="3629" y="2046"/>
              <a:ext cx="182" cy="227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43" name="Line 815"/>
            <p:cNvSpPr>
              <a:spLocks noChangeShapeType="1"/>
            </p:cNvSpPr>
            <p:nvPr/>
          </p:nvSpPr>
          <p:spPr bwMode="auto">
            <a:xfrm>
              <a:off x="3606" y="2296"/>
              <a:ext cx="227" cy="182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44" name="Line 816"/>
            <p:cNvSpPr>
              <a:spLocks noChangeShapeType="1"/>
            </p:cNvSpPr>
            <p:nvPr/>
          </p:nvSpPr>
          <p:spPr bwMode="auto">
            <a:xfrm>
              <a:off x="3833" y="2478"/>
              <a:ext cx="0" cy="66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  <p:sp>
          <p:nvSpPr>
            <p:cNvPr id="45" name="Rectangle 817"/>
            <p:cNvSpPr>
              <a:spLocks noChangeArrowheads="1"/>
            </p:cNvSpPr>
            <p:nvPr/>
          </p:nvSpPr>
          <p:spPr bwMode="auto">
            <a:xfrm>
              <a:off x="3207" y="1932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B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46" name="Rectangle 818"/>
            <p:cNvSpPr>
              <a:spLocks noChangeArrowheads="1"/>
            </p:cNvSpPr>
            <p:nvPr/>
          </p:nvSpPr>
          <p:spPr bwMode="auto">
            <a:xfrm>
              <a:off x="3878" y="1524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E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47" name="Rectangle 819"/>
            <p:cNvSpPr>
              <a:spLocks noChangeArrowheads="1"/>
            </p:cNvSpPr>
            <p:nvPr/>
          </p:nvSpPr>
          <p:spPr bwMode="auto">
            <a:xfrm>
              <a:off x="3560" y="2794"/>
              <a:ext cx="285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buSzPct val="100000"/>
              </a:pPr>
              <a:r>
                <a:rPr kumimoji="1" lang="ru-RU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仿宋" panose="02010600040101010101" pitchFamily="2" charset="-122"/>
                  <a:cs typeface="Arial" panose="020B0604020202020204"/>
                </a:rPr>
                <a:t>C</a:t>
              </a:r>
              <a:endParaRPr kumimoji="1" lang="ru-RU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endParaRPr>
            </a:p>
          </p:txBody>
        </p:sp>
        <p:sp>
          <p:nvSpPr>
            <p:cNvPr id="48" name="Line 820"/>
            <p:cNvSpPr>
              <a:spLocks noChangeShapeType="1"/>
            </p:cNvSpPr>
            <p:nvPr/>
          </p:nvSpPr>
          <p:spPr bwMode="auto">
            <a:xfrm flipV="1">
              <a:off x="3833" y="1480"/>
              <a:ext cx="0" cy="590"/>
            </a:xfrm>
            <a:prstGeom prst="line">
              <a:avLst/>
            </a:prstGeom>
            <a:noFill/>
            <a:ln w="38100" cap="flat" algn="ctr">
              <a:solidFill>
                <a:srgbClr val="000000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/>
              </a:endParaRPr>
            </a:p>
          </p:txBody>
        </p:sp>
      </p:grpSp>
      <p:sp>
        <p:nvSpPr>
          <p:cNvPr id="49" name="Rectangle 821"/>
          <p:cNvSpPr>
            <a:spLocks noChangeArrowheads="1"/>
          </p:cNvSpPr>
          <p:nvPr/>
        </p:nvSpPr>
        <p:spPr bwMode="auto">
          <a:xfrm>
            <a:off x="6368597" y="1782989"/>
            <a:ext cx="12985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12V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50" name="Rectangle 822"/>
          <p:cNvSpPr>
            <a:spLocks noChangeArrowheads="1"/>
          </p:cNvSpPr>
          <p:nvPr/>
        </p:nvSpPr>
        <p:spPr bwMode="auto">
          <a:xfrm>
            <a:off x="8384722" y="1856014"/>
            <a:ext cx="15160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12V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51" name="Rectangle 823"/>
          <p:cNvSpPr>
            <a:spLocks noChangeArrowheads="1"/>
          </p:cNvSpPr>
          <p:nvPr/>
        </p:nvSpPr>
        <p:spPr bwMode="auto">
          <a:xfrm>
            <a:off x="5503410" y="3079977"/>
            <a:ext cx="15875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11.8V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52" name="Rectangle 824"/>
          <p:cNvSpPr>
            <a:spLocks noChangeArrowheads="1"/>
          </p:cNvSpPr>
          <p:nvPr/>
        </p:nvSpPr>
        <p:spPr bwMode="auto">
          <a:xfrm>
            <a:off x="7808460" y="3151414"/>
            <a:ext cx="15144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12V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53" name="Rectangle 825"/>
          <p:cNvSpPr>
            <a:spLocks noChangeArrowheads="1"/>
          </p:cNvSpPr>
          <p:nvPr/>
        </p:nvSpPr>
        <p:spPr bwMode="auto">
          <a:xfrm>
            <a:off x="7087735" y="4088039"/>
            <a:ext cx="14430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0.01V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54" name="Rectangle 826"/>
          <p:cNvSpPr>
            <a:spLocks noChangeArrowheads="1"/>
          </p:cNvSpPr>
          <p:nvPr/>
        </p:nvSpPr>
        <p:spPr bwMode="auto">
          <a:xfrm>
            <a:off x="9248322" y="4159477"/>
            <a:ext cx="939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kumimoji="1" lang="ru-RU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  <a:cs typeface="Arial" panose="020B0604020202020204"/>
              </a:rPr>
              <a:t>0V</a:t>
            </a:r>
            <a:endParaRPr kumimoji="1" lang="ru-RU" altLang="zh-CN" sz="2400" b="1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  <a:cs typeface="Arial" panose="020B0604020202020204"/>
            </a:endParaRPr>
          </a:p>
        </p:txBody>
      </p:sp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363537" y="766505"/>
            <a:ext cx="11172934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：测量三极管三个电极对地电位如图所示，试判断三极管的工作状。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三极管放大、饱和、截止工作状态的判断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84956" y="575288"/>
            <a:ext cx="11622087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二、以电流来判断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矩形 3022"/>
          <p:cNvSpPr>
            <a:spLocks noChangeArrowheads="1"/>
          </p:cNvSpPr>
          <p:nvPr/>
        </p:nvSpPr>
        <p:spPr bwMode="auto">
          <a:xfrm>
            <a:off x="611188" y="1116013"/>
            <a:ext cx="11536470" cy="5404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1、当</a:t>
            </a:r>
            <a:r>
              <a:rPr lang="en-US" altLang="en-US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</a:t>
            </a:r>
            <a:r>
              <a:rPr lang="en-US" altLang="en-US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均已知时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（1）当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el-GR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β</a:t>
            </a:r>
            <a:r>
              <a:rPr lang="en-US" altLang="en-US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时，三极管处于放大状态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（2）当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&gt;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el-GR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β</a:t>
            </a:r>
            <a:r>
              <a:rPr lang="en-US" altLang="en-US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时，三极管处于饱和状态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（3）当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=0时，三极管处于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截止</a:t>
            </a:r>
            <a:r>
              <a:rPr lang="en-US" altLang="en-US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状态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2、当只有</a:t>
            </a:r>
            <a:r>
              <a:rPr lang="en-US" altLang="en-US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已知时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（1）当0&lt;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&lt;</a:t>
            </a:r>
            <a:r>
              <a:rPr lang="en-US" altLang="en-US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BS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=(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CES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)/(</a:t>
            </a:r>
            <a:r>
              <a:rPr lang="el-GR" altLang="en-US" sz="28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β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R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 ≈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/(</a:t>
            </a:r>
            <a:r>
              <a:rPr lang="el-GR" altLang="en-US" sz="28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β</a:t>
            </a:r>
            <a:r>
              <a:rPr lang="en-US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R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en-US" altLang="en-US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时，三极管处于放大状态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（2）当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&gt;</a:t>
            </a:r>
            <a:r>
              <a:rPr lang="en-US" altLang="en-US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BS</a:t>
            </a:r>
            <a:r>
              <a:rPr lang="en-US" altLang="en-US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时，三极管处于饱和状态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3、当只有</a:t>
            </a:r>
            <a:r>
              <a:rPr lang="en-US" altLang="en-US" sz="2800" b="1" i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已知时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（1）当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R</a:t>
            </a:r>
            <a:r>
              <a:rPr lang="en-US" altLang="en-US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&gt;</a:t>
            </a:r>
            <a:r>
              <a:rPr lang="en-US" altLang="en-US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CES</a:t>
            </a:r>
            <a:r>
              <a:rPr lang="en-US" altLang="en-US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时，三极管处于放大状态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（2）当0&lt;</a:t>
            </a:r>
            <a:r>
              <a:rPr lang="en-US" altLang="en-US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en-US" altLang="en-US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≤</a:t>
            </a:r>
            <a:r>
              <a:rPr lang="en-US" altLang="en-US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CES</a:t>
            </a:r>
            <a:r>
              <a:rPr lang="en-US" altLang="en-US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时，三极管处于饱和状态</a:t>
            </a:r>
            <a:endParaRPr lang="en-US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圆角矩形标注 3023"/>
          <p:cNvSpPr>
            <a:spLocks noChangeArrowheads="1"/>
          </p:cNvSpPr>
          <p:nvPr/>
        </p:nvSpPr>
        <p:spPr bwMode="auto">
          <a:xfrm>
            <a:off x="4195618" y="3314957"/>
            <a:ext cx="2520950" cy="503238"/>
          </a:xfrm>
          <a:prstGeom prst="wedgeRoundRectCallout">
            <a:avLst>
              <a:gd name="adj1" fmla="val -45718"/>
              <a:gd name="adj2" fmla="val 69875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zh-CN" altLang="en-US" sz="24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硅</a:t>
            </a:r>
            <a:r>
              <a:rPr lang="en-US" altLang="zh-CN" sz="24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0.7V</a:t>
            </a:r>
            <a:r>
              <a:rPr lang="zh-CN" altLang="en-US" sz="24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锗</a:t>
            </a:r>
            <a:r>
              <a:rPr lang="en-US" altLang="zh-CN" sz="24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0.2V</a:t>
            </a:r>
            <a:endParaRPr lang="en-US" altLang="zh-CN" sz="2400" b="1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780" y="1968500"/>
            <a:ext cx="4193540" cy="1627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910" y="675640"/>
            <a:ext cx="6657975" cy="95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7" presetClass="entr" presetSubtype="1" fill="hold" grpId="0" nodeType="afterEffect">
                                  <p:childTnLst>
                                    <p:set>
                                      <p:cBhvr additive="base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" y="575945"/>
            <a:ext cx="9582150" cy="5705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三极管放大、饱和、截止工作状态的判断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3069"/>
          <p:cNvSpPr txBox="1">
            <a:spLocks noChangeArrowheads="1"/>
          </p:cNvSpPr>
          <p:nvPr/>
        </p:nvSpPr>
        <p:spPr>
          <a:xfrm>
            <a:off x="423014" y="762559"/>
            <a:ext cx="11345971" cy="4287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例. </a:t>
            </a:r>
            <a:r>
              <a:rPr lang="en-US" altLang="en-US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NPN型接法如下。</a:t>
            </a:r>
            <a:r>
              <a:rPr lang="en-US" altLang="en-US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en-US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=0.7V，分析电路中三极管处于何种工作状态</a:t>
            </a:r>
            <a:endParaRPr lang="en-US" altLang="en-US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4" name="组合 3070"/>
          <p:cNvGrpSpPr/>
          <p:nvPr/>
        </p:nvGrpSpPr>
        <p:grpSpPr bwMode="auto">
          <a:xfrm>
            <a:off x="677272" y="2639897"/>
            <a:ext cx="2827928" cy="3045179"/>
            <a:chOff x="52" y="0"/>
            <a:chExt cx="1292" cy="1119"/>
          </a:xfrm>
        </p:grpSpPr>
        <p:cxnSp>
          <p:nvCxnSpPr>
            <p:cNvPr id="5" name="直接连接符 3071"/>
            <p:cNvCxnSpPr>
              <a:cxnSpLocks noChangeShapeType="1"/>
            </p:cNvCxnSpPr>
            <p:nvPr/>
          </p:nvCxnSpPr>
          <p:spPr bwMode="auto">
            <a:xfrm>
              <a:off x="672" y="139"/>
              <a:ext cx="0" cy="2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直接连接符 3072"/>
            <p:cNvCxnSpPr>
              <a:cxnSpLocks noChangeShapeType="1"/>
            </p:cNvCxnSpPr>
            <p:nvPr/>
          </p:nvCxnSpPr>
          <p:spPr bwMode="auto">
            <a:xfrm>
              <a:off x="576" y="1114"/>
              <a:ext cx="2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连接符 3073"/>
            <p:cNvCxnSpPr>
              <a:cxnSpLocks noChangeShapeType="1"/>
            </p:cNvCxnSpPr>
            <p:nvPr/>
          </p:nvCxnSpPr>
          <p:spPr bwMode="auto">
            <a:xfrm flipH="1">
              <a:off x="319" y="139"/>
              <a:ext cx="8" cy="6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矩形 3074"/>
            <p:cNvSpPr>
              <a:spLocks noChangeArrowheads="1"/>
            </p:cNvSpPr>
            <p:nvPr/>
          </p:nvSpPr>
          <p:spPr bwMode="auto">
            <a:xfrm>
              <a:off x="52" y="266"/>
              <a:ext cx="33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  <a:r>
                <a:rPr lang="en-US" altLang="en-US" sz="2800" b="1" i="1" baseline="-250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" name="矩形 3075"/>
            <p:cNvSpPr>
              <a:spLocks noChangeArrowheads="1"/>
            </p:cNvSpPr>
            <p:nvPr/>
          </p:nvSpPr>
          <p:spPr bwMode="auto">
            <a:xfrm>
              <a:off x="855" y="0"/>
              <a:ext cx="4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+</a:t>
              </a:r>
              <a:r>
                <a:rPr lang="en-US" altLang="en-US" sz="2800" b="1" i="1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U</a:t>
              </a:r>
              <a:r>
                <a:rPr lang="en-US" altLang="en-US" sz="2800" b="1" i="1" baseline="-25000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cc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" name="矩形 3076"/>
            <p:cNvSpPr>
              <a:spLocks noChangeArrowheads="1"/>
            </p:cNvSpPr>
            <p:nvPr/>
          </p:nvSpPr>
          <p:spPr bwMode="auto">
            <a:xfrm>
              <a:off x="270" y="295"/>
              <a:ext cx="96" cy="19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矩形 3077"/>
            <p:cNvSpPr>
              <a:spLocks noChangeArrowheads="1"/>
            </p:cNvSpPr>
            <p:nvPr/>
          </p:nvSpPr>
          <p:spPr bwMode="auto">
            <a:xfrm>
              <a:off x="715" y="273"/>
              <a:ext cx="33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  <a:r>
                <a:rPr lang="en-US" altLang="en-US" sz="2800" b="1" i="1" baseline="-25000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cxnSp>
          <p:nvCxnSpPr>
            <p:cNvPr id="13" name="直接连接符 3078"/>
            <p:cNvCxnSpPr>
              <a:cxnSpLocks noChangeShapeType="1"/>
            </p:cNvCxnSpPr>
            <p:nvPr/>
          </p:nvCxnSpPr>
          <p:spPr bwMode="auto">
            <a:xfrm>
              <a:off x="320" y="146"/>
              <a:ext cx="5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3079"/>
            <p:cNvCxnSpPr>
              <a:cxnSpLocks noChangeShapeType="1"/>
            </p:cNvCxnSpPr>
            <p:nvPr/>
          </p:nvCxnSpPr>
          <p:spPr bwMode="auto">
            <a:xfrm>
              <a:off x="677" y="394"/>
              <a:ext cx="0" cy="2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3080"/>
            <p:cNvCxnSpPr>
              <a:cxnSpLocks noChangeShapeType="1"/>
            </p:cNvCxnSpPr>
            <p:nvPr/>
          </p:nvCxnSpPr>
          <p:spPr bwMode="auto">
            <a:xfrm flipH="1">
              <a:off x="663" y="903"/>
              <a:ext cx="8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" name="组合 3081"/>
            <p:cNvGrpSpPr/>
            <p:nvPr/>
          </p:nvGrpSpPr>
          <p:grpSpPr bwMode="auto">
            <a:xfrm>
              <a:off x="310" y="536"/>
              <a:ext cx="530" cy="581"/>
              <a:chOff x="9" y="99"/>
              <a:chExt cx="530" cy="581"/>
            </a:xfrm>
          </p:grpSpPr>
          <p:cxnSp>
            <p:nvCxnSpPr>
              <p:cNvPr id="18" name="直接连接符 3082"/>
              <p:cNvCxnSpPr>
                <a:cxnSpLocks noChangeShapeType="1"/>
              </p:cNvCxnSpPr>
              <p:nvPr/>
            </p:nvCxnSpPr>
            <p:spPr bwMode="auto">
              <a:xfrm>
                <a:off x="18" y="355"/>
                <a:ext cx="198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直接连接符 3083"/>
              <p:cNvCxnSpPr>
                <a:cxnSpLocks noChangeShapeType="1"/>
              </p:cNvCxnSpPr>
              <p:nvPr/>
            </p:nvCxnSpPr>
            <p:spPr bwMode="auto">
              <a:xfrm>
                <a:off x="207" y="271"/>
                <a:ext cx="0" cy="17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直接连接符 3084"/>
              <p:cNvCxnSpPr>
                <a:cxnSpLocks noChangeShapeType="1"/>
              </p:cNvCxnSpPr>
              <p:nvPr/>
            </p:nvCxnSpPr>
            <p:spPr bwMode="auto">
              <a:xfrm>
                <a:off x="207" y="356"/>
                <a:ext cx="163" cy="1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直接连接符 3085"/>
              <p:cNvCxnSpPr>
                <a:cxnSpLocks noChangeShapeType="1"/>
              </p:cNvCxnSpPr>
              <p:nvPr/>
            </p:nvCxnSpPr>
            <p:spPr bwMode="auto">
              <a:xfrm flipV="1">
                <a:off x="207" y="226"/>
                <a:ext cx="169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2" name="矩形 3086"/>
              <p:cNvSpPr>
                <a:spLocks noChangeArrowheads="1"/>
              </p:cNvSpPr>
              <p:nvPr/>
            </p:nvSpPr>
            <p:spPr bwMode="auto">
              <a:xfrm>
                <a:off x="138" y="99"/>
                <a:ext cx="156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c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23" name="矩形 3087"/>
              <p:cNvSpPr>
                <a:spLocks noChangeArrowheads="1"/>
              </p:cNvSpPr>
              <p:nvPr/>
            </p:nvSpPr>
            <p:spPr bwMode="auto">
              <a:xfrm>
                <a:off x="9" y="340"/>
                <a:ext cx="165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b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24" name="矩形 3088"/>
              <p:cNvSpPr>
                <a:spLocks noChangeArrowheads="1"/>
              </p:cNvSpPr>
              <p:nvPr/>
            </p:nvSpPr>
            <p:spPr bwMode="auto">
              <a:xfrm>
                <a:off x="383" y="487"/>
                <a:ext cx="156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e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17" name="矩形 3089"/>
            <p:cNvSpPr>
              <a:spLocks noChangeArrowheads="1"/>
            </p:cNvSpPr>
            <p:nvPr/>
          </p:nvSpPr>
          <p:spPr bwMode="auto">
            <a:xfrm>
              <a:off x="624" y="278"/>
              <a:ext cx="96" cy="19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3117"/>
          <p:cNvSpPr>
            <a:spLocks noChangeArrowheads="1"/>
          </p:cNvSpPr>
          <p:nvPr/>
        </p:nvSpPr>
        <p:spPr bwMode="auto">
          <a:xfrm>
            <a:off x="2014628" y="1557725"/>
            <a:ext cx="6551612" cy="533400"/>
          </a:xfrm>
          <a:prstGeom prst="rect">
            <a:avLst/>
          </a:prstGeom>
          <a:noFill/>
          <a:ln w="9525">
            <a:solidFill>
              <a:srgbClr val="FF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en-US" sz="2800" b="1" dirty="0" err="1">
                <a:latin typeface="Times New Roman" panose="02020603050405020304" pitchFamily="18" charset="0"/>
              </a:rPr>
              <a:t>b）</a:t>
            </a:r>
            <a:r>
              <a:rPr lang="en-US" altLang="en-US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 err="1">
                <a:latin typeface="Times New Roman" panose="02020603050405020304" pitchFamily="18" charset="0"/>
              </a:rPr>
              <a:t>b</a:t>
            </a:r>
            <a:r>
              <a:rPr lang="en-US" altLang="en-US" sz="2800" b="1" dirty="0">
                <a:latin typeface="Times New Roman" panose="02020603050405020304" pitchFamily="18" charset="0"/>
              </a:rPr>
              <a:t>=20k</a:t>
            </a:r>
            <a:r>
              <a:rPr lang="el-GR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Ω</a:t>
            </a:r>
            <a:r>
              <a:rPr lang="en-US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altLang="en-US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 err="1">
                <a:latin typeface="Times New Roman" panose="02020603050405020304" pitchFamily="18" charset="0"/>
              </a:rPr>
              <a:t>c</a:t>
            </a:r>
            <a:r>
              <a:rPr lang="en-US" altLang="en-US" sz="2800" b="1" dirty="0">
                <a:latin typeface="Times New Roman" panose="02020603050405020304" pitchFamily="18" charset="0"/>
              </a:rPr>
              <a:t>=2k</a:t>
            </a:r>
            <a:r>
              <a:rPr lang="el-GR" altLang="en-US" sz="2800" b="1" dirty="0">
                <a:latin typeface="Times New Roman" panose="02020603050405020304" pitchFamily="18" charset="0"/>
              </a:rPr>
              <a:t>Ω</a:t>
            </a:r>
            <a:r>
              <a:rPr lang="en-US" altLang="en-US" sz="2800" b="1" dirty="0">
                <a:latin typeface="Times New Roman" panose="02020603050405020304" pitchFamily="18" charset="0"/>
              </a:rPr>
              <a:t>,</a:t>
            </a:r>
            <a:r>
              <a:rPr lang="el-GR" altLang="en-US" sz="28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β</a:t>
            </a:r>
            <a:r>
              <a:rPr lang="en-US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=100,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sz="2800" b="1" dirty="0" err="1">
                <a:latin typeface="Times New Roman" panose="02020603050405020304" pitchFamily="18" charset="0"/>
                <a:cs typeface="Arial" panose="020B0604020202020204" pitchFamily="34" charset="0"/>
              </a:rPr>
              <a:t>cc</a:t>
            </a:r>
            <a:r>
              <a:rPr lang="en-US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=5V</a:t>
            </a:r>
            <a:endParaRPr lang="en-US" altLang="en-US" sz="28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三极管放大、饱和、截止工作状态的判断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3069"/>
          <p:cNvSpPr txBox="1">
            <a:spLocks noChangeArrowheads="1"/>
          </p:cNvSpPr>
          <p:nvPr/>
        </p:nvSpPr>
        <p:spPr>
          <a:xfrm>
            <a:off x="423014" y="762559"/>
            <a:ext cx="11345971" cy="4287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例. </a:t>
            </a:r>
            <a:r>
              <a:rPr lang="en-US" altLang="en-US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NPN型接法如下。</a:t>
            </a:r>
            <a:r>
              <a:rPr lang="en-US" altLang="en-US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en-US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=0.7V，分析电路中三极管处于何种工作状态</a:t>
            </a:r>
            <a:endParaRPr lang="en-US" altLang="en-US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4" name="组合 3070"/>
          <p:cNvGrpSpPr/>
          <p:nvPr/>
        </p:nvGrpSpPr>
        <p:grpSpPr bwMode="auto">
          <a:xfrm>
            <a:off x="677272" y="2639897"/>
            <a:ext cx="2827928" cy="3045179"/>
            <a:chOff x="52" y="0"/>
            <a:chExt cx="1292" cy="1119"/>
          </a:xfrm>
        </p:grpSpPr>
        <p:cxnSp>
          <p:nvCxnSpPr>
            <p:cNvPr id="5" name="直接连接符 3071"/>
            <p:cNvCxnSpPr>
              <a:cxnSpLocks noChangeShapeType="1"/>
            </p:cNvCxnSpPr>
            <p:nvPr/>
          </p:nvCxnSpPr>
          <p:spPr bwMode="auto">
            <a:xfrm>
              <a:off x="672" y="139"/>
              <a:ext cx="0" cy="2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直接连接符 3072"/>
            <p:cNvCxnSpPr>
              <a:cxnSpLocks noChangeShapeType="1"/>
            </p:cNvCxnSpPr>
            <p:nvPr/>
          </p:nvCxnSpPr>
          <p:spPr bwMode="auto">
            <a:xfrm>
              <a:off x="576" y="1114"/>
              <a:ext cx="2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连接符 3073"/>
            <p:cNvCxnSpPr>
              <a:cxnSpLocks noChangeShapeType="1"/>
            </p:cNvCxnSpPr>
            <p:nvPr/>
          </p:nvCxnSpPr>
          <p:spPr bwMode="auto">
            <a:xfrm flipH="1">
              <a:off x="319" y="139"/>
              <a:ext cx="8" cy="6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矩形 3074"/>
            <p:cNvSpPr>
              <a:spLocks noChangeArrowheads="1"/>
            </p:cNvSpPr>
            <p:nvPr/>
          </p:nvSpPr>
          <p:spPr bwMode="auto">
            <a:xfrm>
              <a:off x="52" y="266"/>
              <a:ext cx="33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  <a:r>
                <a:rPr lang="en-US" altLang="en-US" sz="2800" b="1" i="1" baseline="-250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" name="矩形 3075"/>
            <p:cNvSpPr>
              <a:spLocks noChangeArrowheads="1"/>
            </p:cNvSpPr>
            <p:nvPr/>
          </p:nvSpPr>
          <p:spPr bwMode="auto">
            <a:xfrm>
              <a:off x="855" y="0"/>
              <a:ext cx="4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+</a:t>
              </a:r>
              <a:r>
                <a:rPr lang="en-US" altLang="en-US" sz="2800" b="1" i="1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U</a:t>
              </a:r>
              <a:r>
                <a:rPr lang="en-US" altLang="en-US" sz="2800" b="1" i="1" baseline="-25000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cc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" name="矩形 3076"/>
            <p:cNvSpPr>
              <a:spLocks noChangeArrowheads="1"/>
            </p:cNvSpPr>
            <p:nvPr/>
          </p:nvSpPr>
          <p:spPr bwMode="auto">
            <a:xfrm>
              <a:off x="270" y="295"/>
              <a:ext cx="96" cy="19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矩形 3077"/>
            <p:cNvSpPr>
              <a:spLocks noChangeArrowheads="1"/>
            </p:cNvSpPr>
            <p:nvPr/>
          </p:nvSpPr>
          <p:spPr bwMode="auto">
            <a:xfrm>
              <a:off x="715" y="273"/>
              <a:ext cx="33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  <a:r>
                <a:rPr lang="en-US" altLang="en-US" sz="2800" b="1" i="1" baseline="-25000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cxnSp>
          <p:nvCxnSpPr>
            <p:cNvPr id="13" name="直接连接符 3078"/>
            <p:cNvCxnSpPr>
              <a:cxnSpLocks noChangeShapeType="1"/>
            </p:cNvCxnSpPr>
            <p:nvPr/>
          </p:nvCxnSpPr>
          <p:spPr bwMode="auto">
            <a:xfrm>
              <a:off x="320" y="146"/>
              <a:ext cx="5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3079"/>
            <p:cNvCxnSpPr>
              <a:cxnSpLocks noChangeShapeType="1"/>
            </p:cNvCxnSpPr>
            <p:nvPr/>
          </p:nvCxnSpPr>
          <p:spPr bwMode="auto">
            <a:xfrm>
              <a:off x="677" y="394"/>
              <a:ext cx="0" cy="2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3080"/>
            <p:cNvCxnSpPr>
              <a:cxnSpLocks noChangeShapeType="1"/>
            </p:cNvCxnSpPr>
            <p:nvPr/>
          </p:nvCxnSpPr>
          <p:spPr bwMode="auto">
            <a:xfrm flipH="1">
              <a:off x="663" y="903"/>
              <a:ext cx="8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" name="组合 3081"/>
            <p:cNvGrpSpPr/>
            <p:nvPr/>
          </p:nvGrpSpPr>
          <p:grpSpPr bwMode="auto">
            <a:xfrm>
              <a:off x="310" y="536"/>
              <a:ext cx="530" cy="581"/>
              <a:chOff x="9" y="99"/>
              <a:chExt cx="530" cy="581"/>
            </a:xfrm>
          </p:grpSpPr>
          <p:cxnSp>
            <p:nvCxnSpPr>
              <p:cNvPr id="18" name="直接连接符 3082"/>
              <p:cNvCxnSpPr>
                <a:cxnSpLocks noChangeShapeType="1"/>
              </p:cNvCxnSpPr>
              <p:nvPr/>
            </p:nvCxnSpPr>
            <p:spPr bwMode="auto">
              <a:xfrm>
                <a:off x="18" y="355"/>
                <a:ext cx="198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直接连接符 3083"/>
              <p:cNvCxnSpPr>
                <a:cxnSpLocks noChangeShapeType="1"/>
              </p:cNvCxnSpPr>
              <p:nvPr/>
            </p:nvCxnSpPr>
            <p:spPr bwMode="auto">
              <a:xfrm>
                <a:off x="207" y="271"/>
                <a:ext cx="0" cy="17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直接连接符 3084"/>
              <p:cNvCxnSpPr>
                <a:cxnSpLocks noChangeShapeType="1"/>
              </p:cNvCxnSpPr>
              <p:nvPr/>
            </p:nvCxnSpPr>
            <p:spPr bwMode="auto">
              <a:xfrm>
                <a:off x="207" y="356"/>
                <a:ext cx="163" cy="1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直接连接符 3085"/>
              <p:cNvCxnSpPr>
                <a:cxnSpLocks noChangeShapeType="1"/>
              </p:cNvCxnSpPr>
              <p:nvPr/>
            </p:nvCxnSpPr>
            <p:spPr bwMode="auto">
              <a:xfrm flipV="1">
                <a:off x="207" y="226"/>
                <a:ext cx="169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2" name="矩形 3086"/>
              <p:cNvSpPr>
                <a:spLocks noChangeArrowheads="1"/>
              </p:cNvSpPr>
              <p:nvPr/>
            </p:nvSpPr>
            <p:spPr bwMode="auto">
              <a:xfrm>
                <a:off x="138" y="99"/>
                <a:ext cx="156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c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23" name="矩形 3087"/>
              <p:cNvSpPr>
                <a:spLocks noChangeArrowheads="1"/>
              </p:cNvSpPr>
              <p:nvPr/>
            </p:nvSpPr>
            <p:spPr bwMode="auto">
              <a:xfrm>
                <a:off x="9" y="340"/>
                <a:ext cx="165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b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24" name="矩形 3088"/>
              <p:cNvSpPr>
                <a:spLocks noChangeArrowheads="1"/>
              </p:cNvSpPr>
              <p:nvPr/>
            </p:nvSpPr>
            <p:spPr bwMode="auto">
              <a:xfrm>
                <a:off x="383" y="487"/>
                <a:ext cx="156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e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17" name="矩形 3089"/>
            <p:cNvSpPr>
              <a:spLocks noChangeArrowheads="1"/>
            </p:cNvSpPr>
            <p:nvPr/>
          </p:nvSpPr>
          <p:spPr bwMode="auto">
            <a:xfrm>
              <a:off x="624" y="278"/>
              <a:ext cx="96" cy="19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3117"/>
          <p:cNvSpPr>
            <a:spLocks noChangeArrowheads="1"/>
          </p:cNvSpPr>
          <p:nvPr/>
        </p:nvSpPr>
        <p:spPr bwMode="auto">
          <a:xfrm>
            <a:off x="2014628" y="1557725"/>
            <a:ext cx="6551612" cy="533400"/>
          </a:xfrm>
          <a:prstGeom prst="rect">
            <a:avLst/>
          </a:prstGeom>
          <a:noFill/>
          <a:ln w="9525">
            <a:solidFill>
              <a:srgbClr val="FF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en-US" sz="2800" b="1" dirty="0" err="1">
                <a:latin typeface="Times New Roman" panose="02020603050405020304" pitchFamily="18" charset="0"/>
              </a:rPr>
              <a:t>b）</a:t>
            </a:r>
            <a:r>
              <a:rPr lang="en-US" altLang="en-US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 err="1">
                <a:latin typeface="Times New Roman" panose="02020603050405020304" pitchFamily="18" charset="0"/>
              </a:rPr>
              <a:t>b</a:t>
            </a:r>
            <a:r>
              <a:rPr lang="en-US" altLang="en-US" sz="2800" b="1" dirty="0">
                <a:latin typeface="Times New Roman" panose="02020603050405020304" pitchFamily="18" charset="0"/>
              </a:rPr>
              <a:t>=20k</a:t>
            </a:r>
            <a:r>
              <a:rPr lang="el-GR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Ω</a:t>
            </a:r>
            <a:r>
              <a:rPr lang="en-US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altLang="en-US" sz="2800" b="1" i="1" dirty="0" err="1"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 err="1">
                <a:latin typeface="Times New Roman" panose="02020603050405020304" pitchFamily="18" charset="0"/>
              </a:rPr>
              <a:t>c</a:t>
            </a:r>
            <a:r>
              <a:rPr lang="en-US" altLang="en-US" sz="2800" b="1" dirty="0">
                <a:latin typeface="Times New Roman" panose="02020603050405020304" pitchFamily="18" charset="0"/>
              </a:rPr>
              <a:t>=2k</a:t>
            </a:r>
            <a:r>
              <a:rPr lang="el-GR" altLang="en-US" sz="2800" b="1" dirty="0">
                <a:latin typeface="Times New Roman" panose="02020603050405020304" pitchFamily="18" charset="0"/>
              </a:rPr>
              <a:t>Ω</a:t>
            </a:r>
            <a:r>
              <a:rPr lang="en-US" altLang="en-US" sz="2800" b="1" dirty="0">
                <a:latin typeface="Times New Roman" panose="02020603050405020304" pitchFamily="18" charset="0"/>
              </a:rPr>
              <a:t>,</a:t>
            </a:r>
            <a:r>
              <a:rPr lang="el-GR" altLang="en-US" sz="2800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β</a:t>
            </a:r>
            <a:r>
              <a:rPr lang="en-US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=100,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sz="2800" b="1" dirty="0" err="1">
                <a:latin typeface="Times New Roman" panose="02020603050405020304" pitchFamily="18" charset="0"/>
                <a:cs typeface="Arial" panose="020B0604020202020204" pitchFamily="34" charset="0"/>
              </a:rPr>
              <a:t>cc</a:t>
            </a:r>
            <a:r>
              <a:rPr lang="en-US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=5V</a:t>
            </a:r>
            <a:endParaRPr lang="en-US" altLang="en-US" sz="28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9" name="对象 3118"/>
          <p:cNvGraphicFramePr>
            <a:graphicFrameLocks noChangeAspect="1"/>
          </p:cNvGraphicFramePr>
          <p:nvPr/>
        </p:nvGraphicFramePr>
        <p:xfrm>
          <a:off x="4191635" y="3207572"/>
          <a:ext cx="494506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1" imgW="1139190" imgH="609600" progId="Equation.3">
                  <p:embed/>
                </p:oleObj>
              </mc:Choice>
              <mc:Fallback>
                <p:oleObj name="" r:id="rId1" imgW="1139190" imgH="609600" progId="Equation.3">
                  <p:embed/>
                  <p:pic>
                    <p:nvPicPr>
                      <p:cNvPr id="0" name="对象 3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635" y="3207572"/>
                        <a:ext cx="4945063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3119"/>
          <p:cNvGraphicFramePr>
            <a:graphicFrameLocks noChangeAspect="1"/>
          </p:cNvGraphicFramePr>
          <p:nvPr/>
        </p:nvGraphicFramePr>
        <p:xfrm>
          <a:off x="4107588" y="4378087"/>
          <a:ext cx="454818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3" imgW="892175" imgH="431800" progId="Equation.3">
                  <p:embed/>
                </p:oleObj>
              </mc:Choice>
              <mc:Fallback>
                <p:oleObj name="" r:id="rId3" imgW="892175" imgH="431800" progId="Equation.3">
                  <p:embed/>
                  <p:pic>
                    <p:nvPicPr>
                      <p:cNvPr id="0" name="对象 3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7588" y="4378087"/>
                        <a:ext cx="454818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120"/>
          <p:cNvSpPr>
            <a:spLocks noChangeArrowheads="1"/>
          </p:cNvSpPr>
          <p:nvPr/>
        </p:nvSpPr>
        <p:spPr bwMode="auto">
          <a:xfrm>
            <a:off x="3970973" y="5581744"/>
            <a:ext cx="6249970" cy="609600"/>
          </a:xfrm>
          <a:prstGeom prst="rect">
            <a:avLst/>
          </a:prstGeom>
          <a:noFill/>
          <a:ln w="25400">
            <a:solidFill>
              <a:srgbClr val="8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en-US" sz="2800" b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因为</a:t>
            </a:r>
            <a:r>
              <a:rPr lang="en-US" altLang="en-US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en-US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&gt;</a:t>
            </a:r>
            <a:r>
              <a:rPr lang="en-US" altLang="en-US" sz="28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BS</a:t>
            </a:r>
            <a:r>
              <a:rPr lang="en-US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所以三极管处在饱和状态</a:t>
            </a:r>
            <a:endParaRPr lang="zh-CN" altLang="en-US" sz="28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2194560"/>
            <a:ext cx="6562725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2" dur="50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7" dur="50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2" dur="30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三极管放大、饱和、截止工作状态的判断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3069"/>
          <p:cNvSpPr txBox="1">
            <a:spLocks noChangeArrowheads="1"/>
          </p:cNvSpPr>
          <p:nvPr/>
        </p:nvSpPr>
        <p:spPr>
          <a:xfrm>
            <a:off x="423014" y="762559"/>
            <a:ext cx="11345971" cy="4287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例. </a:t>
            </a:r>
            <a:r>
              <a:rPr lang="en-US" altLang="en-US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NPN型接法如下。</a:t>
            </a:r>
            <a:r>
              <a:rPr lang="en-US" altLang="en-US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en-US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en-US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=0.7V，分析电路中三极管处于何种工作状态</a:t>
            </a:r>
            <a:endParaRPr lang="en-US" altLang="en-US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4" name="组合 3070"/>
          <p:cNvGrpSpPr/>
          <p:nvPr/>
        </p:nvGrpSpPr>
        <p:grpSpPr bwMode="auto">
          <a:xfrm>
            <a:off x="677272" y="2639897"/>
            <a:ext cx="2827928" cy="3045179"/>
            <a:chOff x="52" y="0"/>
            <a:chExt cx="1292" cy="1119"/>
          </a:xfrm>
        </p:grpSpPr>
        <p:cxnSp>
          <p:nvCxnSpPr>
            <p:cNvPr id="5" name="直接连接符 3071"/>
            <p:cNvCxnSpPr>
              <a:cxnSpLocks noChangeShapeType="1"/>
            </p:cNvCxnSpPr>
            <p:nvPr/>
          </p:nvCxnSpPr>
          <p:spPr bwMode="auto">
            <a:xfrm>
              <a:off x="672" y="139"/>
              <a:ext cx="0" cy="2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直接连接符 3072"/>
            <p:cNvCxnSpPr>
              <a:cxnSpLocks noChangeShapeType="1"/>
            </p:cNvCxnSpPr>
            <p:nvPr/>
          </p:nvCxnSpPr>
          <p:spPr bwMode="auto">
            <a:xfrm>
              <a:off x="576" y="1114"/>
              <a:ext cx="2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连接符 3073"/>
            <p:cNvCxnSpPr>
              <a:cxnSpLocks noChangeShapeType="1"/>
            </p:cNvCxnSpPr>
            <p:nvPr/>
          </p:nvCxnSpPr>
          <p:spPr bwMode="auto">
            <a:xfrm flipH="1">
              <a:off x="319" y="139"/>
              <a:ext cx="8" cy="6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矩形 3074"/>
            <p:cNvSpPr>
              <a:spLocks noChangeArrowheads="1"/>
            </p:cNvSpPr>
            <p:nvPr/>
          </p:nvSpPr>
          <p:spPr bwMode="auto">
            <a:xfrm>
              <a:off x="52" y="266"/>
              <a:ext cx="33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  <a:r>
                <a:rPr lang="en-US" altLang="en-US" sz="2800" b="1" i="1" baseline="-250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0" name="矩形 3075"/>
            <p:cNvSpPr>
              <a:spLocks noChangeArrowheads="1"/>
            </p:cNvSpPr>
            <p:nvPr/>
          </p:nvSpPr>
          <p:spPr bwMode="auto">
            <a:xfrm>
              <a:off x="855" y="0"/>
              <a:ext cx="4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+</a:t>
              </a:r>
              <a:r>
                <a:rPr lang="en-US" altLang="en-US" sz="2800" b="1" i="1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U</a:t>
              </a:r>
              <a:r>
                <a:rPr lang="en-US" altLang="en-US" sz="2800" b="1" i="1" baseline="-25000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cc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1" name="矩形 3076"/>
            <p:cNvSpPr>
              <a:spLocks noChangeArrowheads="1"/>
            </p:cNvSpPr>
            <p:nvPr/>
          </p:nvSpPr>
          <p:spPr bwMode="auto">
            <a:xfrm>
              <a:off x="270" y="295"/>
              <a:ext cx="96" cy="19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矩形 3077"/>
            <p:cNvSpPr>
              <a:spLocks noChangeArrowheads="1"/>
            </p:cNvSpPr>
            <p:nvPr/>
          </p:nvSpPr>
          <p:spPr bwMode="auto">
            <a:xfrm>
              <a:off x="715" y="273"/>
              <a:ext cx="33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1" i="1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  <a:r>
                <a:rPr lang="en-US" altLang="en-US" sz="2800" b="1" i="1" baseline="-25000" dirty="0" err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lang="en-US" altLang="en-US" sz="2800" b="1" i="1" baseline="-25000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cxnSp>
          <p:nvCxnSpPr>
            <p:cNvPr id="13" name="直接连接符 3078"/>
            <p:cNvCxnSpPr>
              <a:cxnSpLocks noChangeShapeType="1"/>
            </p:cNvCxnSpPr>
            <p:nvPr/>
          </p:nvCxnSpPr>
          <p:spPr bwMode="auto">
            <a:xfrm>
              <a:off x="320" y="146"/>
              <a:ext cx="5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3079"/>
            <p:cNvCxnSpPr>
              <a:cxnSpLocks noChangeShapeType="1"/>
            </p:cNvCxnSpPr>
            <p:nvPr/>
          </p:nvCxnSpPr>
          <p:spPr bwMode="auto">
            <a:xfrm>
              <a:off x="677" y="394"/>
              <a:ext cx="0" cy="2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3080"/>
            <p:cNvCxnSpPr>
              <a:cxnSpLocks noChangeShapeType="1"/>
            </p:cNvCxnSpPr>
            <p:nvPr/>
          </p:nvCxnSpPr>
          <p:spPr bwMode="auto">
            <a:xfrm flipH="1">
              <a:off x="663" y="903"/>
              <a:ext cx="8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" name="组合 3081"/>
            <p:cNvGrpSpPr/>
            <p:nvPr/>
          </p:nvGrpSpPr>
          <p:grpSpPr bwMode="auto">
            <a:xfrm>
              <a:off x="310" y="536"/>
              <a:ext cx="530" cy="581"/>
              <a:chOff x="9" y="99"/>
              <a:chExt cx="530" cy="581"/>
            </a:xfrm>
          </p:grpSpPr>
          <p:cxnSp>
            <p:nvCxnSpPr>
              <p:cNvPr id="18" name="直接连接符 3082"/>
              <p:cNvCxnSpPr>
                <a:cxnSpLocks noChangeShapeType="1"/>
              </p:cNvCxnSpPr>
              <p:nvPr/>
            </p:nvCxnSpPr>
            <p:spPr bwMode="auto">
              <a:xfrm>
                <a:off x="18" y="355"/>
                <a:ext cx="198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直接连接符 3083"/>
              <p:cNvCxnSpPr>
                <a:cxnSpLocks noChangeShapeType="1"/>
              </p:cNvCxnSpPr>
              <p:nvPr/>
            </p:nvCxnSpPr>
            <p:spPr bwMode="auto">
              <a:xfrm>
                <a:off x="207" y="271"/>
                <a:ext cx="0" cy="17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直接连接符 3084"/>
              <p:cNvCxnSpPr>
                <a:cxnSpLocks noChangeShapeType="1"/>
              </p:cNvCxnSpPr>
              <p:nvPr/>
            </p:nvCxnSpPr>
            <p:spPr bwMode="auto">
              <a:xfrm>
                <a:off x="207" y="356"/>
                <a:ext cx="163" cy="1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直接连接符 3085"/>
              <p:cNvCxnSpPr>
                <a:cxnSpLocks noChangeShapeType="1"/>
              </p:cNvCxnSpPr>
              <p:nvPr/>
            </p:nvCxnSpPr>
            <p:spPr bwMode="auto">
              <a:xfrm flipV="1">
                <a:off x="207" y="226"/>
                <a:ext cx="169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2" name="矩形 3086"/>
              <p:cNvSpPr>
                <a:spLocks noChangeArrowheads="1"/>
              </p:cNvSpPr>
              <p:nvPr/>
            </p:nvSpPr>
            <p:spPr bwMode="auto">
              <a:xfrm>
                <a:off x="138" y="99"/>
                <a:ext cx="156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c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23" name="矩形 3087"/>
              <p:cNvSpPr>
                <a:spLocks noChangeArrowheads="1"/>
              </p:cNvSpPr>
              <p:nvPr/>
            </p:nvSpPr>
            <p:spPr bwMode="auto">
              <a:xfrm>
                <a:off x="9" y="340"/>
                <a:ext cx="165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b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24" name="矩形 3088"/>
              <p:cNvSpPr>
                <a:spLocks noChangeArrowheads="1"/>
              </p:cNvSpPr>
              <p:nvPr/>
            </p:nvSpPr>
            <p:spPr bwMode="auto">
              <a:xfrm>
                <a:off x="383" y="487"/>
                <a:ext cx="156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800" b="1" i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e</a:t>
                </a:r>
                <a:endParaRPr lang="en-US" altLang="en-US" sz="2800" b="1" i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17" name="矩形 3089"/>
            <p:cNvSpPr>
              <a:spLocks noChangeArrowheads="1"/>
            </p:cNvSpPr>
            <p:nvPr/>
          </p:nvSpPr>
          <p:spPr bwMode="auto">
            <a:xfrm>
              <a:off x="624" y="278"/>
              <a:ext cx="96" cy="19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矩形 3090"/>
          <p:cNvSpPr>
            <a:spLocks noChangeArrowheads="1"/>
          </p:cNvSpPr>
          <p:nvPr/>
        </p:nvSpPr>
        <p:spPr bwMode="auto">
          <a:xfrm>
            <a:off x="1296879" y="1416725"/>
            <a:ext cx="6551612" cy="533400"/>
          </a:xfrm>
          <a:prstGeom prst="rect">
            <a:avLst/>
          </a:prstGeom>
          <a:noFill/>
          <a:ln w="9525">
            <a:solidFill>
              <a:srgbClr val="FF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（a）</a:t>
            </a:r>
            <a:r>
              <a:rPr lang="en-US" altLang="en-US" sz="2800" b="1" i="1"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latin typeface="Times New Roman" panose="02020603050405020304" pitchFamily="18" charset="0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</a:rPr>
              <a:t>=100k</a:t>
            </a:r>
            <a:r>
              <a:rPr lang="el-GR" altLang="en-US" sz="2800" b="1">
                <a:latin typeface="Times New Roman" panose="02020603050405020304" pitchFamily="18" charset="0"/>
                <a:cs typeface="Arial" panose="020B0604020202020204" pitchFamily="34" charset="0"/>
              </a:rPr>
              <a:t>Ω</a:t>
            </a:r>
            <a:r>
              <a:rPr lang="en-US" altLang="en-US" sz="2800" b="1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altLang="en-US" sz="2800" b="1" i="1"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latin typeface="Times New Roman" panose="02020603050405020304" pitchFamily="18" charset="0"/>
              </a:rPr>
              <a:t>=2k</a:t>
            </a:r>
            <a:r>
              <a:rPr lang="el-GR" altLang="en-US" sz="2800" b="1">
                <a:latin typeface="Times New Roman" panose="02020603050405020304" pitchFamily="18" charset="0"/>
              </a:rPr>
              <a:t>Ω</a:t>
            </a:r>
            <a:r>
              <a:rPr lang="en-US" altLang="en-US" sz="2800" b="1">
                <a:latin typeface="Times New Roman" panose="02020603050405020304" pitchFamily="18" charset="0"/>
              </a:rPr>
              <a:t>,</a:t>
            </a:r>
            <a:r>
              <a:rPr lang="el-GR" altLang="en-US" sz="2800" b="1" i="1">
                <a:latin typeface="Times New Roman" panose="02020603050405020304" pitchFamily="18" charset="0"/>
                <a:cs typeface="Arial" panose="020B0604020202020204" pitchFamily="34" charset="0"/>
              </a:rPr>
              <a:t>β</a:t>
            </a:r>
            <a:r>
              <a:rPr lang="en-US" altLang="en-US" sz="2800" b="1">
                <a:latin typeface="Times New Roman" panose="02020603050405020304" pitchFamily="18" charset="0"/>
                <a:cs typeface="Arial" panose="020B0604020202020204" pitchFamily="34" charset="0"/>
              </a:rPr>
              <a:t>=40, </a:t>
            </a:r>
            <a:r>
              <a:rPr lang="en-US" altLang="en-US" sz="2800" b="1" i="1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sz="2800" b="1">
                <a:latin typeface="Times New Roman" panose="02020603050405020304" pitchFamily="18" charset="0"/>
                <a:cs typeface="Arial" panose="020B0604020202020204" pitchFamily="34" charset="0"/>
              </a:rPr>
              <a:t>cc=5V</a:t>
            </a:r>
            <a:endParaRPr lang="en-US" altLang="en-US" sz="2800" b="1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6" name="对象 3091"/>
          <p:cNvGraphicFramePr>
            <a:graphicFrameLocks noChangeAspect="1"/>
          </p:cNvGraphicFramePr>
          <p:nvPr/>
        </p:nvGraphicFramePr>
        <p:xfrm>
          <a:off x="4144854" y="2639897"/>
          <a:ext cx="47450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111885" imgH="609600" progId="Equation.3">
                  <p:embed/>
                </p:oleObj>
              </mc:Choice>
              <mc:Fallback>
                <p:oleObj name="" r:id="rId1" imgW="1111885" imgH="609600" progId="Equation.3">
                  <p:embed/>
                  <p:pic>
                    <p:nvPicPr>
                      <p:cNvPr id="0" name="对象 30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854" y="2639897"/>
                        <a:ext cx="474503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3092"/>
          <p:cNvGraphicFramePr>
            <a:graphicFrameLocks noChangeAspect="1"/>
          </p:cNvGraphicFramePr>
          <p:nvPr/>
        </p:nvGraphicFramePr>
        <p:xfrm>
          <a:off x="4013989" y="3857635"/>
          <a:ext cx="67691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3" imgW="886460" imgH="431800" progId="Equation.3">
                  <p:embed/>
                </p:oleObj>
              </mc:Choice>
              <mc:Fallback>
                <p:oleObj name="" r:id="rId3" imgW="886460" imgH="431800" progId="Equation.3">
                  <p:embed/>
                  <p:pic>
                    <p:nvPicPr>
                      <p:cNvPr id="0" name="对象 30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989" y="3857635"/>
                        <a:ext cx="67691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3093"/>
          <p:cNvSpPr>
            <a:spLocks noChangeArrowheads="1"/>
          </p:cNvSpPr>
          <p:nvPr/>
        </p:nvSpPr>
        <p:spPr bwMode="auto">
          <a:xfrm>
            <a:off x="4013988" y="5345627"/>
            <a:ext cx="6163383" cy="609600"/>
          </a:xfrm>
          <a:prstGeom prst="rect">
            <a:avLst/>
          </a:prstGeom>
          <a:noFill/>
          <a:ln w="25400">
            <a:solidFill>
              <a:srgbClr val="8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因为</a:t>
            </a:r>
            <a:r>
              <a: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en-US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&lt;</a:t>
            </a:r>
            <a:r>
              <a:rPr lang="en-US" altLang="en-US" sz="2800" b="1" i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en-US" altLang="en-US" sz="2800" b="1" baseline="-25000">
                <a:latin typeface="Times New Roman" panose="02020603050405020304" pitchFamily="18" charset="0"/>
                <a:ea typeface="楷体_GB2312" panose="02010609030101010101" pitchFamily="49" charset="-122"/>
              </a:rPr>
              <a:t>BS</a:t>
            </a:r>
            <a:r>
              <a:rPr lang="en-US" altLang="en-US" sz="2800" b="1">
                <a:latin typeface="Times New Roman" panose="02020603050405020304" pitchFamily="18" charset="0"/>
                <a:ea typeface="楷体_GB2312" panose="02010609030101010101" pitchFamily="49" charset="-122"/>
              </a:rPr>
              <a:t>，所以三极管处在放大状态</a:t>
            </a:r>
            <a:endParaRPr lang="en-US" altLang="en-US" sz="2800" b="1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childTnLst>
                                    <p:set>
                                      <p:cBhvr additive="base"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4" dur="30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9" dur="50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childTnLst>
                                    <p:set>
                                      <p:cBhvr additive="base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24" dur="50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Box 22"/>
          <p:cNvSpPr txBox="1">
            <a:spLocks noChangeArrowheads="1"/>
          </p:cNvSpPr>
          <p:nvPr/>
        </p:nvSpPr>
        <p:spPr bwMode="auto">
          <a:xfrm>
            <a:off x="1190625" y="2226945"/>
            <a:ext cx="7478395" cy="52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767" tIns="47883" rIns="95767" bIns="47883">
            <a:spAutoFit/>
          </a:bodyPr>
          <a:lstStyle>
            <a:lvl1pPr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79425"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8850"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437005"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16430"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3630" defTabSz="958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30830" defTabSz="958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88030" defTabSz="958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745230" defTabSz="958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作为受控开关使用的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三极管电路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928100" y="1546225"/>
            <a:ext cx="1173163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2090738" y="908050"/>
            <a:ext cx="70659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晶体管非门电路</a:t>
            </a:r>
            <a:endParaRPr lang="zh-CN" altLang="en-US" sz="32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444" name="Rectangle 5"/>
          <p:cNvSpPr>
            <a:spLocks noChangeArrowheads="1"/>
          </p:cNvSpPr>
          <p:nvPr/>
        </p:nvSpPr>
        <p:spPr bwMode="auto">
          <a:xfrm>
            <a:off x="2090738" y="1679575"/>
            <a:ext cx="302736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晶体管非门电路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28" name="Rectangle 8"/>
          <p:cNvSpPr>
            <a:spLocks noChangeArrowheads="1"/>
          </p:cNvSpPr>
          <p:nvPr/>
        </p:nvSpPr>
        <p:spPr bwMode="auto">
          <a:xfrm>
            <a:off x="2259013" y="2043113"/>
            <a:ext cx="4735512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输入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为低电平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，晶体管发射结反偏，管子截止，输出端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为高电平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；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29" name="Rectangle 9"/>
          <p:cNvSpPr>
            <a:spLocks noChangeArrowheads="1"/>
          </p:cNvSpPr>
          <p:nvPr/>
        </p:nvSpPr>
        <p:spPr bwMode="auto">
          <a:xfrm>
            <a:off x="2259013" y="3348038"/>
            <a:ext cx="47355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50" name="Picture 2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128" y="1500823"/>
            <a:ext cx="3389312" cy="365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8" grpId="0"/>
      <p:bldP spid="1331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928100" y="1546225"/>
            <a:ext cx="1173163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2090738" y="908050"/>
            <a:ext cx="70659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晶体管非门电路</a:t>
            </a:r>
            <a:endParaRPr lang="zh-CN" altLang="en-US" sz="32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444" name="Rectangle 5"/>
          <p:cNvSpPr>
            <a:spLocks noChangeArrowheads="1"/>
          </p:cNvSpPr>
          <p:nvPr/>
        </p:nvSpPr>
        <p:spPr bwMode="auto">
          <a:xfrm>
            <a:off x="2090738" y="1679575"/>
            <a:ext cx="302736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晶体管非门电路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28" name="Rectangle 8"/>
          <p:cNvSpPr>
            <a:spLocks noChangeArrowheads="1"/>
          </p:cNvSpPr>
          <p:nvPr/>
        </p:nvSpPr>
        <p:spPr bwMode="auto">
          <a:xfrm>
            <a:off x="2259013" y="2043113"/>
            <a:ext cx="4735512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29" name="Rectangle 9"/>
          <p:cNvSpPr>
            <a:spLocks noChangeArrowheads="1"/>
          </p:cNvSpPr>
          <p:nvPr/>
        </p:nvSpPr>
        <p:spPr bwMode="auto">
          <a:xfrm>
            <a:off x="1900873" y="3317558"/>
            <a:ext cx="47355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为高电平时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管子饱和，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50" name="Picture 2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283" y="616268"/>
            <a:ext cx="3389312" cy="365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859598" y="5477828"/>
            <a:ext cx="5534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保证晶体管饱和的条件                   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090738" y="2839720"/>
            <a:ext cx="263144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400" b="1"/>
              <a:t>满足管子饱和</a:t>
            </a:r>
            <a:r>
              <a:rPr lang="zh-CN" altLang="en-US" sz="2400" b="1"/>
              <a:t>条件</a:t>
            </a:r>
            <a:endParaRPr lang="zh-CN" altLang="en-US" sz="2400" b="1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151823" y="3531235"/>
          <a:ext cx="3048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Equation" r:id="rId2" imgW="73152000" imgH="19507200" progId="Equation.DSMT4">
                  <p:embed/>
                </p:oleObj>
              </mc:Choice>
              <mc:Fallback>
                <p:oleObj name="Equation" r:id="rId2" imgW="73152000" imgH="19507200" progId="Equation.DSMT4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823" y="3531235"/>
                        <a:ext cx="30480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900873" y="4460240"/>
            <a:ext cx="3222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400" b="1"/>
              <a:t>此时基极电流</a:t>
            </a:r>
            <a:r>
              <a:rPr lang="zh-CN" altLang="en-US" sz="2400" b="1">
                <a:solidFill>
                  <a:srgbClr val="FF0000"/>
                </a:solidFill>
              </a:rPr>
              <a:t>至少为 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876800" y="4511040"/>
          <a:ext cx="1231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4" imgW="29565600" imgH="19202400" progId="Equation.DSMT4">
                  <p:embed/>
                </p:oleObj>
              </mc:Choice>
              <mc:Fallback>
                <p:oleObj name="Equation" r:id="rId4" imgW="29565600" imgH="1920240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11040"/>
                        <a:ext cx="12319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587173" y="4406900"/>
            <a:ext cx="36845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400" b="1"/>
              <a:t>——</a:t>
            </a:r>
            <a:r>
              <a:rPr lang="zh-CN" altLang="en-US" sz="2400" b="1"/>
              <a:t>临界饱和基极电流 </a:t>
            </a:r>
            <a:endParaRPr lang="zh-CN" altLang="en-US" sz="24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920" y="6169025"/>
            <a:ext cx="1171575" cy="342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8" grpId="0"/>
      <p:bldP spid="133129" grpId="0"/>
      <p:bldP spid="2" grpId="0"/>
      <p:bldP spid="3" grpId="0"/>
      <p:bldP spid="8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晶体管主要参数与温度的关系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387"/>
          <p:cNvGrpSpPr/>
          <p:nvPr/>
        </p:nvGrpSpPr>
        <p:grpSpPr bwMode="auto">
          <a:xfrm>
            <a:off x="3162461" y="3312632"/>
            <a:ext cx="3122612" cy="3197225"/>
            <a:chOff x="3793" y="780"/>
            <a:chExt cx="1967" cy="2014"/>
          </a:xfrm>
        </p:grpSpPr>
        <p:pic>
          <p:nvPicPr>
            <p:cNvPr id="3" name="Picture 15"/>
            <p:cNvPicPr preferRelativeResize="0">
              <a:picLocks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3" y="780"/>
              <a:ext cx="1967" cy="2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 Box 16"/>
            <p:cNvSpPr>
              <a:spLocks noChangeArrowheads="1"/>
            </p:cNvSpPr>
            <p:nvPr/>
          </p:nvSpPr>
          <p:spPr bwMode="auto">
            <a:xfrm>
              <a:off x="5093" y="1219"/>
              <a:ext cx="5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15</a:t>
              </a:r>
              <a:r>
                <a:rPr lang="en-US" altLang="zh-CN" sz="2000" b="1" baseline="30000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r>
                <a:rPr lang="en-US" altLang="zh-CN" sz="2000" b="1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C</a:t>
              </a:r>
              <a:endParaRPr lang="en-US" altLang="zh-CN" sz="2000" b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" name="Text Box 17"/>
            <p:cNvSpPr>
              <a:spLocks noChangeArrowheads="1"/>
            </p:cNvSpPr>
            <p:nvPr/>
          </p:nvSpPr>
          <p:spPr bwMode="auto">
            <a:xfrm>
              <a:off x="4499" y="1222"/>
              <a:ext cx="5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30</a:t>
              </a:r>
              <a:r>
                <a:rPr lang="en-US" altLang="zh-CN" sz="2000" b="1" baseline="30000"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r>
                <a:rPr lang="en-US" altLang="zh-CN" sz="2000" b="1">
                  <a:latin typeface="楷体_GB2312" panose="02010609030101010101" pitchFamily="49" charset="-122"/>
                  <a:ea typeface="楷体_GB2312" panose="02010609030101010101" pitchFamily="49" charset="-122"/>
                </a:rPr>
                <a:t>C</a:t>
              </a:r>
              <a:endParaRPr lang="en-US" altLang="zh-CN" sz="2000" b="1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sp>
        <p:nvSpPr>
          <p:cNvPr id="9" name="Text Box 13"/>
          <p:cNvSpPr>
            <a:spLocks noChangeArrowheads="1"/>
          </p:cNvSpPr>
          <p:nvPr/>
        </p:nvSpPr>
        <p:spPr bwMode="auto">
          <a:xfrm>
            <a:off x="427037" y="794850"/>
            <a:ext cx="7796213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）对输入特性的影响</a:t>
            </a:r>
            <a:endParaRPr lang="zh-CN" altLang="en-US" sz="2800" b="1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0" name="Text Box 14"/>
          <p:cNvSpPr>
            <a:spLocks noChangeArrowheads="1"/>
          </p:cNvSpPr>
          <p:nvPr/>
        </p:nvSpPr>
        <p:spPr bwMode="auto">
          <a:xfrm>
            <a:off x="998249" y="1455063"/>
            <a:ext cx="4175125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温度升高特性曲线左移，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" name="Text Box 20"/>
          <p:cNvSpPr>
            <a:spLocks noChangeArrowheads="1"/>
          </p:cNvSpPr>
          <p:nvPr/>
        </p:nvSpPr>
        <p:spPr bwMode="auto">
          <a:xfrm>
            <a:off x="998011" y="2047706"/>
            <a:ext cx="5135562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说明在</a:t>
            </a:r>
            <a:r>
              <a:rPr lang="en-US" altLang="zh-CN" sz="2800" b="1" i="1" dirty="0" err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 err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相同的条件下，</a:t>
            </a:r>
            <a:r>
              <a:rPr lang="en-US" altLang="zh-CN" sz="2800" b="1" i="1" dirty="0" err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i="1" baseline="-25000" dirty="0" err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减小了。温度每升高</a:t>
            </a:r>
            <a:r>
              <a:rPr lang="en-US" altLang="zh-CN" sz="2800" b="1" i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en-US" altLang="zh-CN" sz="2800" b="1" i="1" baseline="300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</a:t>
            </a:r>
            <a:r>
              <a:rPr lang="en-US" altLang="zh-CN" sz="2800" b="1" i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 </a:t>
            </a:r>
            <a:r>
              <a:rPr lang="en-US" altLang="zh-CN" sz="2800" b="1" i="1" dirty="0" err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 err="1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减小</a:t>
            </a:r>
            <a:r>
              <a:rPr lang="en-US" altLang="zh-CN" sz="2800" b="1" i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800" b="1" i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～</a:t>
            </a:r>
            <a:r>
              <a:rPr lang="en-US" altLang="zh-CN" sz="2800" b="1" i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2.5mV</a:t>
            </a:r>
            <a:endParaRPr lang="en-US" altLang="zh-CN" sz="2800" b="1" i="1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2" name="Text Box 21"/>
          <p:cNvSpPr>
            <a:spLocks noChangeArrowheads="1"/>
          </p:cNvSpPr>
          <p:nvPr/>
        </p:nvSpPr>
        <p:spPr bwMode="auto">
          <a:xfrm>
            <a:off x="7132638" y="823425"/>
            <a:ext cx="7796212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）对输出特性的影响</a:t>
            </a:r>
            <a:endParaRPr lang="zh-CN" altLang="en-US" sz="2800" b="1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3" name="Text Box 22"/>
          <p:cNvSpPr>
            <a:spLocks noChangeArrowheads="1"/>
          </p:cNvSpPr>
          <p:nvPr/>
        </p:nvSpPr>
        <p:spPr bwMode="auto">
          <a:xfrm>
            <a:off x="7648720" y="1481412"/>
            <a:ext cx="4431381" cy="10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温度升高</a:t>
            </a:r>
            <a:r>
              <a:rPr lang="en-US" altLang="zh-CN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CEO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增加，特性曲线上移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25" name="Group 398"/>
          <p:cNvGrpSpPr/>
          <p:nvPr/>
        </p:nvGrpSpPr>
        <p:grpSpPr bwMode="auto">
          <a:xfrm>
            <a:off x="7745653" y="2959478"/>
            <a:ext cx="4354358" cy="3592219"/>
            <a:chOff x="1836" y="1327"/>
            <a:chExt cx="2236" cy="1955"/>
          </a:xfrm>
        </p:grpSpPr>
        <p:grpSp>
          <p:nvGrpSpPr>
            <p:cNvPr id="27" name="Group 399"/>
            <p:cNvGrpSpPr/>
            <p:nvPr/>
          </p:nvGrpSpPr>
          <p:grpSpPr bwMode="auto">
            <a:xfrm>
              <a:off x="1836" y="1327"/>
              <a:ext cx="2236" cy="1955"/>
              <a:chOff x="1836" y="1327"/>
              <a:chExt cx="2236" cy="1955"/>
            </a:xfrm>
          </p:grpSpPr>
          <p:grpSp>
            <p:nvGrpSpPr>
              <p:cNvPr id="32" name="Group 400"/>
              <p:cNvGrpSpPr/>
              <p:nvPr/>
            </p:nvGrpSpPr>
            <p:grpSpPr bwMode="auto">
              <a:xfrm>
                <a:off x="1836" y="1327"/>
                <a:ext cx="2236" cy="1955"/>
                <a:chOff x="3483" y="1216"/>
                <a:chExt cx="2317" cy="1910"/>
              </a:xfrm>
            </p:grpSpPr>
            <p:graphicFrame>
              <p:nvGraphicFramePr>
                <p:cNvPr id="51" name="Object 31"/>
                <p:cNvGraphicFramePr>
                  <a:graphicFrameLocks noChangeAspect="1"/>
                </p:cNvGraphicFramePr>
                <p:nvPr/>
              </p:nvGraphicFramePr>
              <p:xfrm>
                <a:off x="3483" y="1216"/>
                <a:ext cx="2317" cy="19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" name="BMP 图像" r:id="rId2" imgW="3200400" imgH="2638425" progId="Paint.Picture">
                        <p:embed/>
                      </p:oleObj>
                    </mc:Choice>
                    <mc:Fallback>
                      <p:oleObj name="BMP 图像" r:id="rId2" imgW="3200400" imgH="2638425" progId="Paint.Picture">
                        <p:embed/>
                        <p:pic>
                          <p:nvPicPr>
                            <p:cNvPr id="0" name="Object 3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83" y="1216"/>
                              <a:ext cx="2317" cy="19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2" name="Text Box 32"/>
                <p:cNvSpPr>
                  <a:spLocks noChangeArrowheads="1"/>
                </p:cNvSpPr>
                <p:nvPr/>
              </p:nvSpPr>
              <p:spPr bwMode="auto">
                <a:xfrm>
                  <a:off x="5355" y="2618"/>
                  <a:ext cx="405" cy="2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800" b="1">
                      <a:ea typeface="新宋体" panose="02010609030101010101" charset="-122"/>
                    </a:rPr>
                    <a:t>i</a:t>
                  </a:r>
                  <a:r>
                    <a:rPr lang="en-US" altLang="zh-CN" sz="1800" b="1" baseline="-25000">
                      <a:ea typeface="新宋体" panose="02010609030101010101" charset="-122"/>
                    </a:rPr>
                    <a:t>B</a:t>
                  </a:r>
                  <a:r>
                    <a:rPr lang="en-US" altLang="zh-CN" sz="1800" b="1">
                      <a:ea typeface="新宋体" panose="02010609030101010101" charset="-122"/>
                    </a:rPr>
                    <a:t>=0</a:t>
                  </a:r>
                  <a:endParaRPr lang="en-US" altLang="zh-CN" sz="1800" b="1">
                    <a:ea typeface="新宋体" panose="02010609030101010101" charset="-122"/>
                  </a:endParaRPr>
                </a:p>
              </p:txBody>
            </p:sp>
          </p:grpSp>
          <p:grpSp>
            <p:nvGrpSpPr>
              <p:cNvPr id="33" name="Group 403"/>
              <p:cNvGrpSpPr/>
              <p:nvPr/>
            </p:nvGrpSpPr>
            <p:grpSpPr bwMode="auto">
              <a:xfrm>
                <a:off x="1984" y="2457"/>
                <a:ext cx="2012" cy="661"/>
                <a:chOff x="3648" y="2305"/>
                <a:chExt cx="2012" cy="661"/>
              </a:xfrm>
            </p:grpSpPr>
            <p:grpSp>
              <p:nvGrpSpPr>
                <p:cNvPr id="43" name="Group 404"/>
                <p:cNvGrpSpPr/>
                <p:nvPr/>
              </p:nvGrpSpPr>
              <p:grpSpPr bwMode="auto">
                <a:xfrm>
                  <a:off x="3648" y="2526"/>
                  <a:ext cx="1897" cy="440"/>
                  <a:chOff x="3648" y="2496"/>
                  <a:chExt cx="1897" cy="477"/>
                </a:xfrm>
              </p:grpSpPr>
              <p:grpSp>
                <p:nvGrpSpPr>
                  <p:cNvPr id="45" name="Group 405"/>
                  <p:cNvGrpSpPr/>
                  <p:nvPr/>
                </p:nvGrpSpPr>
                <p:grpSpPr bwMode="auto">
                  <a:xfrm>
                    <a:off x="3670" y="2496"/>
                    <a:ext cx="1875" cy="477"/>
                    <a:chOff x="3782" y="1662"/>
                    <a:chExt cx="1875" cy="610"/>
                  </a:xfrm>
                </p:grpSpPr>
                <p:sp>
                  <p:nvSpPr>
                    <p:cNvPr id="48" name="Freeform 36"/>
                    <p:cNvSpPr/>
                    <p:nvPr/>
                  </p:nvSpPr>
                  <p:spPr bwMode="auto">
                    <a:xfrm>
                      <a:off x="3802" y="1662"/>
                      <a:ext cx="1855" cy="597"/>
                    </a:xfrm>
                    <a:custGeom>
                      <a:avLst/>
                      <a:gdLst>
                        <a:gd name="T0" fmla="*/ 30 w 1825"/>
                        <a:gd name="T1" fmla="*/ 391 h 391"/>
                        <a:gd name="T2" fmla="*/ 111 w 1825"/>
                        <a:gd name="T3" fmla="*/ 103 h 391"/>
                        <a:gd name="T4" fmla="*/ 695 w 1825"/>
                        <a:gd name="T5" fmla="*/ 29 h 391"/>
                        <a:gd name="T6" fmla="*/ 1825 w 1825"/>
                        <a:gd name="T7" fmla="*/ 0 h 3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1825" h="391">
                          <a:moveTo>
                            <a:pt x="30" y="391"/>
                          </a:moveTo>
                          <a:cubicBezTo>
                            <a:pt x="15" y="277"/>
                            <a:pt x="0" y="163"/>
                            <a:pt x="111" y="103"/>
                          </a:cubicBezTo>
                          <a:cubicBezTo>
                            <a:pt x="222" y="43"/>
                            <a:pt x="409" y="46"/>
                            <a:pt x="695" y="29"/>
                          </a:cubicBezTo>
                          <a:cubicBezTo>
                            <a:pt x="981" y="12"/>
                            <a:pt x="1636" y="5"/>
                            <a:pt x="1825" y="0"/>
                          </a:cubicBezTo>
                        </a:path>
                      </a:pathLst>
                    </a:custGeom>
                    <a:noFill/>
                    <a:ln w="25400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ea typeface="新宋体" panose="02010609030101010101" charset="-122"/>
                      </a:endParaRPr>
                    </a:p>
                  </p:txBody>
                </p:sp>
                <p:sp>
                  <p:nvSpPr>
                    <p:cNvPr id="49" name="Rectangl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5" y="1948"/>
                      <a:ext cx="125" cy="32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25400" cap="flat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endParaRPr lang="zh-CN" altLang="zh-CN">
                        <a:ea typeface="新宋体" panose="02010609030101010101" charset="-122"/>
                      </a:endParaRPr>
                    </a:p>
                  </p:txBody>
                </p:sp>
                <p:sp>
                  <p:nvSpPr>
                    <p:cNvPr id="50" name="Line 3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782" y="1942"/>
                      <a:ext cx="51" cy="214"/>
                    </a:xfrm>
                    <a:prstGeom prst="line">
                      <a:avLst/>
                    </a:prstGeom>
                    <a:noFill/>
                    <a:ln w="25400" cap="flat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6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48" y="2857"/>
                    <a:ext cx="265" cy="8"/>
                  </a:xfrm>
                  <a:prstGeom prst="line">
                    <a:avLst/>
                  </a:prstGeom>
                  <a:noFill/>
                  <a:ln w="25400" cap="flat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3655" y="2887"/>
                    <a:ext cx="281" cy="0"/>
                  </a:xfrm>
                  <a:prstGeom prst="line">
                    <a:avLst/>
                  </a:prstGeom>
                  <a:noFill/>
                  <a:ln w="25400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4" name="Rectangle 41"/>
                <p:cNvSpPr>
                  <a:spLocks noChangeArrowheads="1"/>
                </p:cNvSpPr>
                <p:nvPr/>
              </p:nvSpPr>
              <p:spPr bwMode="auto">
                <a:xfrm>
                  <a:off x="5206" y="2305"/>
                  <a:ext cx="45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800" b="1">
                      <a:ea typeface="新宋体" panose="02010609030101010101" charset="-122"/>
                    </a:rPr>
                    <a:t>i</a:t>
                  </a:r>
                  <a:r>
                    <a:rPr lang="en-US" altLang="zh-CN" sz="1800" b="1" baseline="-25000">
                      <a:ea typeface="新宋体" panose="02010609030101010101" charset="-122"/>
                    </a:rPr>
                    <a:t>B</a:t>
                  </a:r>
                  <a:r>
                    <a:rPr lang="en-US" altLang="zh-CN" sz="1800" b="1">
                      <a:ea typeface="新宋体" panose="02010609030101010101" charset="-122"/>
                    </a:rPr>
                    <a:t>=20</a:t>
                  </a:r>
                  <a:endParaRPr lang="en-US" altLang="zh-CN" sz="1800" b="1">
                    <a:ea typeface="新宋体" panose="02010609030101010101" charset="-122"/>
                  </a:endParaRPr>
                </a:p>
              </p:txBody>
            </p:sp>
          </p:grpSp>
          <p:grpSp>
            <p:nvGrpSpPr>
              <p:cNvPr id="34" name="Group 412"/>
              <p:cNvGrpSpPr/>
              <p:nvPr/>
            </p:nvGrpSpPr>
            <p:grpSpPr bwMode="auto">
              <a:xfrm>
                <a:off x="2006" y="2120"/>
                <a:ext cx="1982" cy="912"/>
                <a:chOff x="3663" y="1961"/>
                <a:chExt cx="1982" cy="912"/>
              </a:xfrm>
            </p:grpSpPr>
            <p:sp>
              <p:nvSpPr>
                <p:cNvPr id="41" name="Freeform 43"/>
                <p:cNvSpPr/>
                <p:nvPr/>
              </p:nvSpPr>
              <p:spPr bwMode="auto">
                <a:xfrm>
                  <a:off x="3663" y="2180"/>
                  <a:ext cx="1921" cy="693"/>
                </a:xfrm>
                <a:custGeom>
                  <a:avLst/>
                  <a:gdLst>
                    <a:gd name="T0" fmla="*/ 0 w 2392"/>
                    <a:gd name="T1" fmla="*/ 429 h 429"/>
                    <a:gd name="T2" fmla="*/ 472 w 2392"/>
                    <a:gd name="T3" fmla="*/ 89 h 429"/>
                    <a:gd name="T4" fmla="*/ 2392 w 2392"/>
                    <a:gd name="T5" fmla="*/ 0 h 4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92" h="429">
                      <a:moveTo>
                        <a:pt x="0" y="429"/>
                      </a:moveTo>
                      <a:cubicBezTo>
                        <a:pt x="36" y="295"/>
                        <a:pt x="73" y="161"/>
                        <a:pt x="472" y="89"/>
                      </a:cubicBezTo>
                      <a:cubicBezTo>
                        <a:pt x="871" y="17"/>
                        <a:pt x="2072" y="16"/>
                        <a:pt x="2392" y="0"/>
                      </a:cubicBezTo>
                    </a:path>
                  </a:pathLst>
                </a:custGeom>
                <a:noFill/>
                <a:ln w="254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42" name="Rectangle 44"/>
                <p:cNvSpPr>
                  <a:spLocks noChangeArrowheads="1"/>
                </p:cNvSpPr>
                <p:nvPr/>
              </p:nvSpPr>
              <p:spPr bwMode="auto">
                <a:xfrm>
                  <a:off x="5191" y="1961"/>
                  <a:ext cx="45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800" b="1">
                      <a:ea typeface="新宋体" panose="02010609030101010101" charset="-122"/>
                    </a:rPr>
                    <a:t>i</a:t>
                  </a:r>
                  <a:r>
                    <a:rPr lang="en-US" altLang="zh-CN" sz="1800" b="1" baseline="-25000">
                      <a:ea typeface="新宋体" panose="02010609030101010101" charset="-122"/>
                    </a:rPr>
                    <a:t>B</a:t>
                  </a:r>
                  <a:r>
                    <a:rPr lang="en-US" altLang="zh-CN" sz="1800" b="1">
                      <a:ea typeface="新宋体" panose="02010609030101010101" charset="-122"/>
                    </a:rPr>
                    <a:t>=40</a:t>
                  </a:r>
                  <a:endParaRPr lang="en-US" altLang="zh-CN" sz="1800" b="1">
                    <a:ea typeface="新宋体" panose="02010609030101010101" charset="-122"/>
                  </a:endParaRPr>
                </a:p>
              </p:txBody>
            </p:sp>
          </p:grpSp>
          <p:grpSp>
            <p:nvGrpSpPr>
              <p:cNvPr id="35" name="Group 415"/>
              <p:cNvGrpSpPr/>
              <p:nvPr/>
            </p:nvGrpSpPr>
            <p:grpSpPr bwMode="auto">
              <a:xfrm>
                <a:off x="2006" y="1762"/>
                <a:ext cx="1974" cy="1247"/>
                <a:chOff x="3663" y="1603"/>
                <a:chExt cx="1974" cy="1247"/>
              </a:xfrm>
            </p:grpSpPr>
            <p:sp>
              <p:nvSpPr>
                <p:cNvPr id="39" name="Freeform 46"/>
                <p:cNvSpPr/>
                <p:nvPr/>
              </p:nvSpPr>
              <p:spPr bwMode="auto">
                <a:xfrm>
                  <a:off x="3663" y="1822"/>
                  <a:ext cx="1974" cy="1028"/>
                </a:xfrm>
                <a:custGeom>
                  <a:avLst/>
                  <a:gdLst>
                    <a:gd name="T0" fmla="*/ 0 w 2392"/>
                    <a:gd name="T1" fmla="*/ 429 h 429"/>
                    <a:gd name="T2" fmla="*/ 472 w 2392"/>
                    <a:gd name="T3" fmla="*/ 89 h 429"/>
                    <a:gd name="T4" fmla="*/ 2392 w 2392"/>
                    <a:gd name="T5" fmla="*/ 0 h 4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92" h="429">
                      <a:moveTo>
                        <a:pt x="0" y="429"/>
                      </a:moveTo>
                      <a:cubicBezTo>
                        <a:pt x="36" y="295"/>
                        <a:pt x="73" y="161"/>
                        <a:pt x="472" y="89"/>
                      </a:cubicBezTo>
                      <a:cubicBezTo>
                        <a:pt x="871" y="17"/>
                        <a:pt x="2072" y="16"/>
                        <a:pt x="2392" y="0"/>
                      </a:cubicBezTo>
                    </a:path>
                  </a:pathLst>
                </a:custGeom>
                <a:noFill/>
                <a:ln w="254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40" name="Rectangle 47"/>
                <p:cNvSpPr>
                  <a:spLocks noChangeArrowheads="1"/>
                </p:cNvSpPr>
                <p:nvPr/>
              </p:nvSpPr>
              <p:spPr bwMode="auto">
                <a:xfrm>
                  <a:off x="5167" y="1603"/>
                  <a:ext cx="45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800" b="1">
                      <a:ea typeface="新宋体" panose="02010609030101010101" charset="-122"/>
                    </a:rPr>
                    <a:t>i</a:t>
                  </a:r>
                  <a:r>
                    <a:rPr lang="en-US" altLang="zh-CN" sz="1800" b="1" baseline="-25000">
                      <a:ea typeface="新宋体" panose="02010609030101010101" charset="-122"/>
                    </a:rPr>
                    <a:t>B</a:t>
                  </a:r>
                  <a:r>
                    <a:rPr lang="en-US" altLang="zh-CN" sz="1800" b="1">
                      <a:ea typeface="新宋体" panose="02010609030101010101" charset="-122"/>
                    </a:rPr>
                    <a:t>=60</a:t>
                  </a:r>
                  <a:endParaRPr lang="en-US" altLang="zh-CN" sz="1800" b="1">
                    <a:ea typeface="新宋体" panose="02010609030101010101" charset="-122"/>
                  </a:endParaRPr>
                </a:p>
              </p:txBody>
            </p:sp>
          </p:grpSp>
          <p:grpSp>
            <p:nvGrpSpPr>
              <p:cNvPr id="36" name="Group 418"/>
              <p:cNvGrpSpPr/>
              <p:nvPr/>
            </p:nvGrpSpPr>
            <p:grpSpPr bwMode="auto">
              <a:xfrm>
                <a:off x="2002" y="1351"/>
                <a:ext cx="1974" cy="1594"/>
                <a:chOff x="3663" y="1603"/>
                <a:chExt cx="1974" cy="1247"/>
              </a:xfrm>
            </p:grpSpPr>
            <p:sp>
              <p:nvSpPr>
                <p:cNvPr id="37" name="Freeform 49"/>
                <p:cNvSpPr/>
                <p:nvPr/>
              </p:nvSpPr>
              <p:spPr bwMode="auto">
                <a:xfrm>
                  <a:off x="3663" y="1822"/>
                  <a:ext cx="1974" cy="1028"/>
                </a:xfrm>
                <a:custGeom>
                  <a:avLst/>
                  <a:gdLst>
                    <a:gd name="T0" fmla="*/ 0 w 2392"/>
                    <a:gd name="T1" fmla="*/ 429 h 429"/>
                    <a:gd name="T2" fmla="*/ 472 w 2392"/>
                    <a:gd name="T3" fmla="*/ 89 h 429"/>
                    <a:gd name="T4" fmla="*/ 2392 w 2392"/>
                    <a:gd name="T5" fmla="*/ 0 h 4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92" h="429">
                      <a:moveTo>
                        <a:pt x="0" y="429"/>
                      </a:moveTo>
                      <a:cubicBezTo>
                        <a:pt x="36" y="295"/>
                        <a:pt x="73" y="161"/>
                        <a:pt x="472" y="89"/>
                      </a:cubicBezTo>
                      <a:cubicBezTo>
                        <a:pt x="871" y="17"/>
                        <a:pt x="2072" y="16"/>
                        <a:pt x="2392" y="0"/>
                      </a:cubicBezTo>
                    </a:path>
                  </a:pathLst>
                </a:custGeom>
                <a:noFill/>
                <a:ln w="254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38" name="Rectangle 50"/>
                <p:cNvSpPr>
                  <a:spLocks noChangeArrowheads="1"/>
                </p:cNvSpPr>
                <p:nvPr/>
              </p:nvSpPr>
              <p:spPr bwMode="auto">
                <a:xfrm>
                  <a:off x="5167" y="1603"/>
                  <a:ext cx="454" cy="1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800" b="1">
                      <a:ea typeface="新宋体" panose="02010609030101010101" charset="-122"/>
                    </a:rPr>
                    <a:t>i</a:t>
                  </a:r>
                  <a:r>
                    <a:rPr lang="en-US" altLang="zh-CN" sz="1800" b="1" baseline="-25000">
                      <a:ea typeface="新宋体" panose="02010609030101010101" charset="-122"/>
                    </a:rPr>
                    <a:t>B</a:t>
                  </a:r>
                  <a:r>
                    <a:rPr lang="en-US" altLang="zh-CN" sz="1800" b="1">
                      <a:ea typeface="新宋体" panose="02010609030101010101" charset="-122"/>
                    </a:rPr>
                    <a:t>=80</a:t>
                  </a:r>
                  <a:endParaRPr lang="en-US" altLang="zh-CN" sz="1800" b="1">
                    <a:ea typeface="新宋体" panose="02010609030101010101" charset="-122"/>
                  </a:endParaRPr>
                </a:p>
              </p:txBody>
            </p:sp>
          </p:grpSp>
        </p:grpSp>
        <p:sp>
          <p:nvSpPr>
            <p:cNvPr id="28" name="Freeform 51"/>
            <p:cNvSpPr/>
            <p:nvPr/>
          </p:nvSpPr>
          <p:spPr bwMode="auto">
            <a:xfrm>
              <a:off x="1998" y="2645"/>
              <a:ext cx="1871" cy="325"/>
            </a:xfrm>
            <a:custGeom>
              <a:avLst/>
              <a:gdLst>
                <a:gd name="T0" fmla="*/ 0 w 2392"/>
                <a:gd name="T1" fmla="*/ 429 h 429"/>
                <a:gd name="T2" fmla="*/ 472 w 2392"/>
                <a:gd name="T3" fmla="*/ 89 h 429"/>
                <a:gd name="T4" fmla="*/ 2392 w 2392"/>
                <a:gd name="T5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2" h="429">
                  <a:moveTo>
                    <a:pt x="0" y="429"/>
                  </a:moveTo>
                  <a:cubicBezTo>
                    <a:pt x="36" y="295"/>
                    <a:pt x="73" y="161"/>
                    <a:pt x="472" y="89"/>
                  </a:cubicBezTo>
                  <a:cubicBezTo>
                    <a:pt x="871" y="17"/>
                    <a:pt x="2072" y="16"/>
                    <a:pt x="2392" y="0"/>
                  </a:cubicBezTo>
                </a:path>
              </a:pathLst>
            </a:custGeom>
            <a:noFill/>
            <a:ln w="25400" cap="flat" algn="ctr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29" name="Freeform 52"/>
            <p:cNvSpPr/>
            <p:nvPr/>
          </p:nvSpPr>
          <p:spPr bwMode="auto">
            <a:xfrm>
              <a:off x="2030" y="2301"/>
              <a:ext cx="1871" cy="672"/>
            </a:xfrm>
            <a:custGeom>
              <a:avLst/>
              <a:gdLst>
                <a:gd name="T0" fmla="*/ 0 w 2392"/>
                <a:gd name="T1" fmla="*/ 429 h 429"/>
                <a:gd name="T2" fmla="*/ 472 w 2392"/>
                <a:gd name="T3" fmla="*/ 89 h 429"/>
                <a:gd name="T4" fmla="*/ 2392 w 2392"/>
                <a:gd name="T5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2" h="429">
                  <a:moveTo>
                    <a:pt x="0" y="429"/>
                  </a:moveTo>
                  <a:cubicBezTo>
                    <a:pt x="36" y="295"/>
                    <a:pt x="73" y="161"/>
                    <a:pt x="472" y="89"/>
                  </a:cubicBezTo>
                  <a:cubicBezTo>
                    <a:pt x="871" y="17"/>
                    <a:pt x="2072" y="16"/>
                    <a:pt x="2392" y="0"/>
                  </a:cubicBezTo>
                </a:path>
              </a:pathLst>
            </a:custGeom>
            <a:noFill/>
            <a:ln w="25400" cap="flat" algn="ctr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30" name="Freeform 53"/>
            <p:cNvSpPr/>
            <p:nvPr/>
          </p:nvSpPr>
          <p:spPr bwMode="auto">
            <a:xfrm>
              <a:off x="2005" y="1946"/>
              <a:ext cx="1871" cy="1100"/>
            </a:xfrm>
            <a:custGeom>
              <a:avLst/>
              <a:gdLst>
                <a:gd name="T0" fmla="*/ 0 w 2392"/>
                <a:gd name="T1" fmla="*/ 429 h 429"/>
                <a:gd name="T2" fmla="*/ 472 w 2392"/>
                <a:gd name="T3" fmla="*/ 89 h 429"/>
                <a:gd name="T4" fmla="*/ 2392 w 2392"/>
                <a:gd name="T5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2" h="429">
                  <a:moveTo>
                    <a:pt x="0" y="429"/>
                  </a:moveTo>
                  <a:cubicBezTo>
                    <a:pt x="36" y="295"/>
                    <a:pt x="73" y="161"/>
                    <a:pt x="472" y="89"/>
                  </a:cubicBezTo>
                  <a:cubicBezTo>
                    <a:pt x="871" y="17"/>
                    <a:pt x="2072" y="16"/>
                    <a:pt x="2392" y="0"/>
                  </a:cubicBezTo>
                </a:path>
              </a:pathLst>
            </a:custGeom>
            <a:noFill/>
            <a:ln w="25400" cap="flat" algn="ctr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31" name="Freeform 54"/>
            <p:cNvSpPr/>
            <p:nvPr/>
          </p:nvSpPr>
          <p:spPr bwMode="auto">
            <a:xfrm>
              <a:off x="1978" y="1585"/>
              <a:ext cx="2034" cy="1425"/>
            </a:xfrm>
            <a:custGeom>
              <a:avLst/>
              <a:gdLst>
                <a:gd name="T0" fmla="*/ 0 w 2392"/>
                <a:gd name="T1" fmla="*/ 429 h 429"/>
                <a:gd name="T2" fmla="*/ 472 w 2392"/>
                <a:gd name="T3" fmla="*/ 89 h 429"/>
                <a:gd name="T4" fmla="*/ 2392 w 2392"/>
                <a:gd name="T5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2" h="429">
                  <a:moveTo>
                    <a:pt x="0" y="429"/>
                  </a:moveTo>
                  <a:cubicBezTo>
                    <a:pt x="36" y="295"/>
                    <a:pt x="73" y="161"/>
                    <a:pt x="472" y="89"/>
                  </a:cubicBezTo>
                  <a:cubicBezTo>
                    <a:pt x="871" y="17"/>
                    <a:pt x="2072" y="16"/>
                    <a:pt x="2392" y="0"/>
                  </a:cubicBezTo>
                </a:path>
              </a:pathLst>
            </a:custGeom>
            <a:noFill/>
            <a:ln w="25400" cap="flat" algn="ctr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含有晶体管电路的分析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基本共射级放大电路的工作原理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3" name="Text Box 5"/>
          <p:cNvSpPr>
            <a:spLocks noChangeArrowheads="1"/>
          </p:cNvSpPr>
          <p:nvPr/>
        </p:nvSpPr>
        <p:spPr bwMode="auto">
          <a:xfrm>
            <a:off x="331047" y="794968"/>
            <a:ext cx="5437188" cy="573042"/>
          </a:xfrm>
          <a:prstGeom prst="rect">
            <a:avLst/>
          </a:prstGeom>
          <a:noFill/>
          <a:ln w="19050" cap="flat" algn="ctr">
            <a:pattFill prst="pct50">
              <a:fgClr>
                <a:srgbClr val="000000"/>
              </a:fgClr>
              <a:bgClr>
                <a:srgbClr val="FFFFFF"/>
              </a:bgClr>
            </a:patt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800" b="1">
                <a:solidFill>
                  <a:srgbClr val="8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1.  </a:t>
            </a:r>
            <a:r>
              <a:rPr kumimoji="1" lang="zh-CN" altLang="en-US" sz="2800" b="1">
                <a:solidFill>
                  <a:srgbClr val="8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静态</a:t>
            </a:r>
            <a:endParaRPr kumimoji="1" lang="zh-CN" altLang="en-US" sz="2800" b="1">
              <a:solidFill>
                <a:srgbClr val="8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44" name="Rectangle 32"/>
          <p:cNvSpPr>
            <a:spLocks noChangeArrowheads="1"/>
          </p:cNvSpPr>
          <p:nvPr/>
        </p:nvSpPr>
        <p:spPr bwMode="auto">
          <a:xfrm>
            <a:off x="493941" y="1735312"/>
            <a:ext cx="5916793" cy="1170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  <a:spcBef>
                <a:spcPct val="5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输入信号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＝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时，放大电路的工作状态称为静态或直流工作状态。 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645" name="Picture 33" descr="422"/>
          <p:cNvPicPr preferRelativeResize="0"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734" y="794968"/>
            <a:ext cx="5263047" cy="3938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6" name="Rectangle 34"/>
          <p:cNvSpPr>
            <a:spLocks noChangeArrowheads="1"/>
          </p:cNvSpPr>
          <p:nvPr/>
        </p:nvSpPr>
        <p:spPr bwMode="auto">
          <a:xfrm>
            <a:off x="8557700" y="4738192"/>
            <a:ext cx="18085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直流通路 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47" name="Object 35"/>
          <p:cNvGraphicFramePr>
            <a:graphicFrameLocks noChangeAspect="1"/>
          </p:cNvGraphicFramePr>
          <p:nvPr/>
        </p:nvGraphicFramePr>
        <p:xfrm>
          <a:off x="1629977" y="3378284"/>
          <a:ext cx="2209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2" imgW="986155" imgH="575310" progId="Equation.3">
                  <p:embed/>
                </p:oleObj>
              </mc:Choice>
              <mc:Fallback>
                <p:oleObj name="公式" r:id="rId2" imgW="986155" imgH="57531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977" y="3378284"/>
                        <a:ext cx="2209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" name="Object 36"/>
          <p:cNvGraphicFramePr>
            <a:graphicFrameLocks noChangeAspect="1"/>
          </p:cNvGraphicFramePr>
          <p:nvPr/>
        </p:nvGraphicFramePr>
        <p:xfrm>
          <a:off x="1629977" y="4733836"/>
          <a:ext cx="31480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4" imgW="1197610" imgH="617855" progId="Equation.3">
                  <p:embed/>
                </p:oleObj>
              </mc:Choice>
              <mc:Fallback>
                <p:oleObj name="公式" r:id="rId4" imgW="1197610" imgH="617855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977" y="4733836"/>
                        <a:ext cx="31480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9" name="Rectangle 37"/>
          <p:cNvSpPr>
            <a:spLocks noChangeArrowheads="1"/>
          </p:cNvSpPr>
          <p:nvPr/>
        </p:nvSpPr>
        <p:spPr bwMode="auto">
          <a:xfrm>
            <a:off x="1629977" y="5637630"/>
            <a:ext cx="25939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i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CEQ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=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CC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－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CQ</a:t>
            </a:r>
            <a:r>
              <a:rPr kumimoji="1" lang="en-US" altLang="zh-CN" sz="2800" b="1" i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R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kumimoji="1" lang="en-US" altLang="zh-CN" sz="2800" b="1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7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12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15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20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25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30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" grpId="0" bldLvl="0" animBg="1"/>
      <p:bldP spid="646" grpId="0" bldLvl="0" animBg="1"/>
      <p:bldP spid="649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7"/>
          <p:cNvSpPr>
            <a:spLocks noChangeArrowheads="1"/>
          </p:cNvSpPr>
          <p:nvPr/>
        </p:nvSpPr>
        <p:spPr bwMode="auto">
          <a:xfrm>
            <a:off x="539750" y="692150"/>
            <a:ext cx="5437188" cy="647700"/>
          </a:xfrm>
          <a:prstGeom prst="rect">
            <a:avLst/>
          </a:prstGeom>
          <a:noFill/>
          <a:ln w="19050" cap="flat" algn="ctr">
            <a:pattFill prst="pct50">
              <a:fgClr>
                <a:srgbClr val="000000"/>
              </a:fgClr>
              <a:bgClr>
                <a:srgbClr val="FFFFFF"/>
              </a:bgClr>
            </a:patt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2.  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动态</a:t>
            </a:r>
            <a:endParaRPr kumimoji="1" lang="zh-CN" altLang="en-US" sz="2800" b="1">
              <a:solidFill>
                <a:srgbClr val="8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" name="Rectangle 24"/>
          <p:cNvSpPr>
            <a:spLocks noChangeArrowheads="1"/>
          </p:cNvSpPr>
          <p:nvPr/>
        </p:nvSpPr>
        <p:spPr bwMode="auto">
          <a:xfrm>
            <a:off x="1114698" y="2359199"/>
            <a:ext cx="5437188" cy="243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spcBef>
                <a:spcPct val="5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输入正弦信号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后，电路将处在动态工作情况。此时，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BJT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各极电流及电压都将在静态值的基础上随输入信号作相应的变化。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4" name="Group 25"/>
          <p:cNvGrpSpPr/>
          <p:nvPr/>
        </p:nvGrpSpPr>
        <p:grpSpPr bwMode="auto">
          <a:xfrm>
            <a:off x="7367588" y="3808685"/>
            <a:ext cx="3853405" cy="3049315"/>
            <a:chOff x="3243" y="2460"/>
            <a:chExt cx="1996" cy="1628"/>
          </a:xfrm>
        </p:grpSpPr>
        <p:pic>
          <p:nvPicPr>
            <p:cNvPr id="5" name="Picture 26" descr="425"/>
            <p:cNvPicPr preferRelativeResize="0">
              <a:picLocks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3" y="2460"/>
              <a:ext cx="1996" cy="1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27"/>
            <p:cNvSpPr>
              <a:spLocks noChangeArrowheads="1"/>
            </p:cNvSpPr>
            <p:nvPr/>
          </p:nvSpPr>
          <p:spPr bwMode="auto">
            <a:xfrm>
              <a:off x="3849" y="3838"/>
              <a:ext cx="8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交流通路 </a:t>
              </a:r>
              <a:endPara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pic>
        <p:nvPicPr>
          <p:cNvPr id="7" name="Picture 28" descr="421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588" y="552451"/>
            <a:ext cx="3853405" cy="314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含有晶体管电路的分析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基本共射级放大电路的工作原理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Box 22"/>
          <p:cNvSpPr txBox="1">
            <a:spLocks noChangeArrowheads="1"/>
          </p:cNvSpPr>
          <p:nvPr/>
        </p:nvSpPr>
        <p:spPr bwMode="auto">
          <a:xfrm>
            <a:off x="1102995" y="2436495"/>
            <a:ext cx="7478395" cy="52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767" tIns="47883" rIns="95767" bIns="47883">
            <a:spAutoFit/>
          </a:bodyPr>
          <a:lstStyle>
            <a:lvl1pPr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79425"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8850"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437005"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16430" defTabSz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3630" defTabSz="958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30830" defTabSz="958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88030" defTabSz="958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745230" defTabSz="958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其它典型的三极管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接法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三种组态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3"/>
          <p:cNvSpPr>
            <a:spLocks noChangeArrowheads="1"/>
          </p:cNvSpPr>
          <p:nvPr/>
        </p:nvSpPr>
        <p:spPr bwMode="auto">
          <a:xfrm>
            <a:off x="1813892" y="5809461"/>
            <a:ext cx="85642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共集电极接法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，集电极作为公共电极，简称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CC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" name="Text Box 4"/>
          <p:cNvSpPr>
            <a:spLocks noChangeArrowheads="1"/>
          </p:cNvSpPr>
          <p:nvPr/>
        </p:nvSpPr>
        <p:spPr bwMode="auto">
          <a:xfrm>
            <a:off x="1874044" y="4584484"/>
            <a:ext cx="6961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共基极接法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，基极作为公共电极，简称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CB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；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" name="Text Box 5"/>
          <p:cNvSpPr>
            <a:spLocks noChangeArrowheads="1"/>
          </p:cNvSpPr>
          <p:nvPr/>
        </p:nvSpPr>
        <p:spPr bwMode="auto">
          <a:xfrm>
            <a:off x="1813892" y="5197995"/>
            <a:ext cx="85642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共发射极接法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，发射极作为公共电极，简称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CE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；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pic>
        <p:nvPicPr>
          <p:cNvPr id="5" name="Picture 8" descr="415"/>
          <p:cNvPicPr preferRelativeResize="0"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975" y="597574"/>
            <a:ext cx="9060276" cy="346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10"/>
          <p:cNvSpPr>
            <a:spLocks noChangeArrowheads="1"/>
          </p:cNvSpPr>
          <p:nvPr/>
        </p:nvSpPr>
        <p:spPr bwMode="auto">
          <a:xfrm>
            <a:off x="1693863" y="1371600"/>
            <a:ext cx="3968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H="1">
            <a:off x="1730375" y="1774825"/>
            <a:ext cx="287338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arrow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Text Box 13"/>
          <p:cNvSpPr>
            <a:spLocks noChangeArrowheads="1"/>
          </p:cNvSpPr>
          <p:nvPr/>
        </p:nvSpPr>
        <p:spPr bwMode="auto">
          <a:xfrm>
            <a:off x="3202337" y="1378812"/>
            <a:ext cx="3968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 flipH="1">
            <a:off x="3125580" y="1750323"/>
            <a:ext cx="287337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arrow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Text Box 15"/>
          <p:cNvSpPr>
            <a:spLocks noChangeArrowheads="1"/>
          </p:cNvSpPr>
          <p:nvPr/>
        </p:nvSpPr>
        <p:spPr bwMode="auto">
          <a:xfrm>
            <a:off x="5138099" y="1425769"/>
            <a:ext cx="3968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5207638" y="1833700"/>
            <a:ext cx="287337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arrow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Line 18"/>
          <p:cNvSpPr>
            <a:spLocks noChangeShapeType="1"/>
          </p:cNvSpPr>
          <p:nvPr/>
        </p:nvSpPr>
        <p:spPr bwMode="auto">
          <a:xfrm flipH="1">
            <a:off x="6230938" y="806105"/>
            <a:ext cx="287337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arrow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Text Box 19"/>
          <p:cNvSpPr>
            <a:spLocks noChangeArrowheads="1"/>
          </p:cNvSpPr>
          <p:nvPr/>
        </p:nvSpPr>
        <p:spPr bwMode="auto">
          <a:xfrm>
            <a:off x="8169300" y="1417655"/>
            <a:ext cx="3968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>
            <a:off x="9356880" y="806105"/>
            <a:ext cx="287337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arrow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>
            <a:off x="8224183" y="1814858"/>
            <a:ext cx="287337" cy="0"/>
          </a:xfrm>
          <a:prstGeom prst="line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arrow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Text Box 23"/>
          <p:cNvSpPr>
            <a:spLocks noChangeArrowheads="1"/>
          </p:cNvSpPr>
          <p:nvPr/>
        </p:nvSpPr>
        <p:spPr bwMode="auto">
          <a:xfrm>
            <a:off x="2017713" y="4000314"/>
            <a:ext cx="1512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=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24"/>
          <p:cNvSpPr>
            <a:spLocks noChangeArrowheads="1"/>
          </p:cNvSpPr>
          <p:nvPr/>
        </p:nvSpPr>
        <p:spPr bwMode="auto">
          <a:xfrm>
            <a:off x="8661400" y="3999553"/>
            <a:ext cx="1512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 =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25"/>
          <p:cNvSpPr>
            <a:spLocks noChangeArrowheads="1"/>
          </p:cNvSpPr>
          <p:nvPr/>
        </p:nvSpPr>
        <p:spPr bwMode="auto">
          <a:xfrm>
            <a:off x="5336536" y="4049785"/>
            <a:ext cx="18716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 = (1+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) </a:t>
            </a: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000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26"/>
          <p:cNvSpPr>
            <a:spLocks noChangeArrowheads="1"/>
          </p:cNvSpPr>
          <p:nvPr/>
        </p:nvSpPr>
        <p:spPr bwMode="auto">
          <a:xfrm>
            <a:off x="3412917" y="2185522"/>
            <a:ext cx="433388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Kingsoft Phonetic Plain"/>
              </a:rPr>
              <a:t>输出口</a:t>
            </a:r>
            <a:endParaRPr kumimoji="1"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Kingsoft Phonetic Plain"/>
            </a:endParaRPr>
          </a:p>
        </p:txBody>
      </p:sp>
      <p:sp>
        <p:nvSpPr>
          <p:cNvPr id="20" name="Text Box 27"/>
          <p:cNvSpPr>
            <a:spLocks noChangeArrowheads="1"/>
          </p:cNvSpPr>
          <p:nvPr/>
        </p:nvSpPr>
        <p:spPr bwMode="auto">
          <a:xfrm>
            <a:off x="1296988" y="2135759"/>
            <a:ext cx="433387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Kingsoft Phonetic Plain"/>
              </a:rPr>
              <a:t>输入口</a:t>
            </a:r>
            <a:endParaRPr kumimoji="1"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Kingsoft Phonetic Plain"/>
            </a:endParaRPr>
          </a:p>
        </p:txBody>
      </p:sp>
      <p:sp>
        <p:nvSpPr>
          <p:cNvPr id="21" name="Text Box 28"/>
          <p:cNvSpPr>
            <a:spLocks noChangeArrowheads="1"/>
          </p:cNvSpPr>
          <p:nvPr/>
        </p:nvSpPr>
        <p:spPr bwMode="auto">
          <a:xfrm>
            <a:off x="6628606" y="1632342"/>
            <a:ext cx="433387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Kingsoft Phonetic Plain"/>
              </a:rPr>
              <a:t>输出口</a:t>
            </a:r>
            <a:endParaRPr kumimoji="1"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Kingsoft Phonetic Plain"/>
            </a:endParaRPr>
          </a:p>
        </p:txBody>
      </p:sp>
      <p:sp>
        <p:nvSpPr>
          <p:cNvPr id="22" name="Text Box 29"/>
          <p:cNvSpPr>
            <a:spLocks noChangeArrowheads="1"/>
          </p:cNvSpPr>
          <p:nvPr/>
        </p:nvSpPr>
        <p:spPr bwMode="auto">
          <a:xfrm>
            <a:off x="4804067" y="2159364"/>
            <a:ext cx="433388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Kingsoft Phonetic Plain"/>
              </a:rPr>
              <a:t>输入口</a:t>
            </a:r>
            <a:endParaRPr kumimoji="1"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Kingsoft Phonetic Plain"/>
            </a:endParaRPr>
          </a:p>
        </p:txBody>
      </p:sp>
      <p:sp>
        <p:nvSpPr>
          <p:cNvPr id="23" name="Text Box 30"/>
          <p:cNvSpPr>
            <a:spLocks noChangeArrowheads="1"/>
          </p:cNvSpPr>
          <p:nvPr/>
        </p:nvSpPr>
        <p:spPr bwMode="auto">
          <a:xfrm>
            <a:off x="9644217" y="1562169"/>
            <a:ext cx="433388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Kingsoft Phonetic Plain"/>
              </a:rPr>
              <a:t>输出口</a:t>
            </a:r>
            <a:endParaRPr kumimoji="1"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Kingsoft Phonetic Plain"/>
            </a:endParaRPr>
          </a:p>
        </p:txBody>
      </p:sp>
      <p:sp>
        <p:nvSpPr>
          <p:cNvPr id="24" name="Text Box 31"/>
          <p:cNvSpPr>
            <a:spLocks noChangeArrowheads="1"/>
          </p:cNvSpPr>
          <p:nvPr/>
        </p:nvSpPr>
        <p:spPr bwMode="auto">
          <a:xfrm>
            <a:off x="7837315" y="2135759"/>
            <a:ext cx="433387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Kingsoft Phonetic Plain"/>
              </a:rPr>
              <a:t>输入口</a:t>
            </a:r>
            <a:endParaRPr kumimoji="1"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Kingsoft Phonetic Plain"/>
            </a:endParaRPr>
          </a:p>
        </p:txBody>
      </p:sp>
      <p:sp>
        <p:nvSpPr>
          <p:cNvPr id="25" name="Text Box 21"/>
          <p:cNvSpPr>
            <a:spLocks noChangeArrowheads="1"/>
          </p:cNvSpPr>
          <p:nvPr/>
        </p:nvSpPr>
        <p:spPr bwMode="auto">
          <a:xfrm>
            <a:off x="9302110" y="411285"/>
            <a:ext cx="396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17"/>
          <p:cNvSpPr>
            <a:spLocks noChangeArrowheads="1"/>
          </p:cNvSpPr>
          <p:nvPr/>
        </p:nvSpPr>
        <p:spPr bwMode="auto">
          <a:xfrm>
            <a:off x="6244050" y="416523"/>
            <a:ext cx="396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10"/>
          <p:cNvSpPr>
            <a:spLocks noChangeArrowheads="1"/>
          </p:cNvSpPr>
          <p:nvPr/>
        </p:nvSpPr>
        <p:spPr bwMode="auto">
          <a:xfrm>
            <a:off x="6096000" y="2462852"/>
            <a:ext cx="3968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Kingsoft Phonetic Plain"/>
              </a:rPr>
              <a:t>i</a:t>
            </a:r>
            <a:r>
              <a:rPr kumimoji="1"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kumimoji="1" lang="en-US" altLang="zh-CN" b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27764" y="754600"/>
            <a:ext cx="11536471" cy="3164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5pPr>
            <a:lvl6pPr marL="25146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6pPr>
            <a:lvl7pPr marL="29718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7pPr>
            <a:lvl8pPr marL="34290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8pPr>
            <a:lvl9pPr marL="38862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楷体_GB2312" panose="02010609030101010101" pitchFamily="49" charset="-122"/>
              </a:rPr>
              <a:t>外部条件：</a:t>
            </a:r>
            <a:r>
              <a:rPr lang="zh-CN" altLang="en-US" sz="4000" b="1" i="1" dirty="0">
                <a:solidFill>
                  <a:srgbClr val="C0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发射结正偏        </a:t>
            </a:r>
            <a:r>
              <a:rPr lang="zh-CN" altLang="en-US" b="1" dirty="0">
                <a:solidFill>
                  <a:srgbClr val="000000"/>
                </a:solidFill>
                <a:latin typeface="Arial Narrow" panose="020B0606020202030204" pitchFamily="34" charset="0"/>
                <a:ea typeface="楷体_GB2312" panose="02010609030101010101" pitchFamily="49" charset="-122"/>
              </a:rPr>
              <a:t>内部机制：</a:t>
            </a:r>
            <a:r>
              <a:rPr lang="zh-CN" altLang="en-US" sz="4000" b="1" i="1" dirty="0">
                <a:solidFill>
                  <a:srgbClr val="C0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发射区高掺杂</a:t>
            </a:r>
            <a:endParaRPr lang="zh-CN" altLang="en-US" sz="4000" b="1" i="1" dirty="0">
              <a:solidFill>
                <a:srgbClr val="C00000"/>
              </a:solidFill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zh-CN" altLang="en-US" sz="4000" b="1" i="1" dirty="0">
                <a:solidFill>
                  <a:srgbClr val="C0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                  集电结反偏                         基区很薄</a:t>
            </a:r>
            <a:endParaRPr lang="en-US" altLang="zh-CN" sz="4000" b="1" i="1" dirty="0">
              <a:solidFill>
                <a:srgbClr val="C00000"/>
              </a:solidFill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zh-CN" sz="4000" b="1" i="1" dirty="0">
                <a:solidFill>
                  <a:srgbClr val="C0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                                                                 </a:t>
            </a:r>
            <a:r>
              <a:rPr lang="zh-CN" altLang="en-US" sz="4000" b="1" i="1" dirty="0">
                <a:solidFill>
                  <a:srgbClr val="C0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集电结面积大</a:t>
            </a:r>
            <a:endParaRPr lang="zh-CN" altLang="en-US" sz="4000" b="1" i="1" dirty="0">
              <a:solidFill>
                <a:srgbClr val="C00000"/>
              </a:solidFill>
              <a:latin typeface="Arial Narrow" panose="020B060602020203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三种组态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放大状态下的电流分配关系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19"/>
          <p:cNvSpPr>
            <a:spLocks noChangeArrowheads="1"/>
          </p:cNvSpPr>
          <p:nvPr/>
        </p:nvSpPr>
        <p:spPr bwMode="auto">
          <a:xfrm>
            <a:off x="2519217" y="3389499"/>
            <a:ext cx="6497927" cy="646331"/>
          </a:xfrm>
          <a:prstGeom prst="rect">
            <a:avLst/>
          </a:prstGeom>
          <a:solidFill>
            <a:srgbClr val="EADCF4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rgbClr val="000000"/>
                </a:solidFill>
                <a:ea typeface="新宋体" panose="02010609030101010101" charset="-122"/>
              </a:rPr>
              <a:t>I</a:t>
            </a:r>
            <a:r>
              <a:rPr lang="en-US" altLang="zh-CN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E</a:t>
            </a:r>
            <a:r>
              <a:rPr lang="en-US" altLang="zh-CN" b="1" i="1" dirty="0">
                <a:solidFill>
                  <a:srgbClr val="000000"/>
                </a:solidFill>
                <a:ea typeface="新宋体" panose="02010609030101010101" charset="-122"/>
              </a:rPr>
              <a:t>=I</a:t>
            </a:r>
            <a:r>
              <a:rPr lang="en-US" altLang="zh-CN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B</a:t>
            </a:r>
            <a:r>
              <a:rPr lang="en-US" altLang="zh-CN" b="1" i="1" dirty="0">
                <a:solidFill>
                  <a:srgbClr val="000000"/>
                </a:solidFill>
                <a:ea typeface="新宋体" panose="02010609030101010101" charset="-122"/>
              </a:rPr>
              <a:t>+ I</a:t>
            </a:r>
            <a:r>
              <a:rPr lang="en-US" altLang="zh-CN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C   </a:t>
            </a:r>
            <a:r>
              <a:rPr lang="en-US" altLang="zh-CN" b="1" i="1" dirty="0">
                <a:solidFill>
                  <a:srgbClr val="000000"/>
                </a:solidFill>
                <a:ea typeface="新宋体" panose="02010609030101010101" charset="-122"/>
              </a:rPr>
              <a:t>,   </a:t>
            </a:r>
            <a:r>
              <a:rPr lang="en-US" altLang="zh-CN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新宋体" panose="02010609030101010101" charset="-122"/>
              </a:rPr>
              <a:t>I</a:t>
            </a:r>
            <a:r>
              <a:rPr lang="en-US" altLang="zh-CN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C</a:t>
            </a:r>
            <a:r>
              <a:rPr lang="en-US" altLang="zh-CN" b="1" i="1" dirty="0">
                <a:solidFill>
                  <a:srgbClr val="000000"/>
                </a:solidFill>
                <a:ea typeface="新宋体" panose="02010609030101010101" charset="-122"/>
              </a:rPr>
              <a:t>=</a:t>
            </a:r>
            <a:r>
              <a:rPr lang="en-US" altLang="zh-CN" i="1" dirty="0">
                <a:ea typeface="新宋体" panose="02010609030101010101" charset="-122"/>
              </a:rPr>
              <a:t>β</a:t>
            </a:r>
            <a:r>
              <a:rPr lang="en-US" altLang="zh-CN" b="1" i="1" dirty="0" err="1">
                <a:solidFill>
                  <a:srgbClr val="000000"/>
                </a:solidFill>
                <a:ea typeface="新宋体" panose="02010609030101010101" charset="-122"/>
              </a:rPr>
              <a:t>i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新宋体" panose="02010609030101010101" charset="-122"/>
              </a:rPr>
              <a:t>B</a:t>
            </a:r>
            <a:r>
              <a:rPr lang="en-US" altLang="zh-CN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    </a:t>
            </a:r>
            <a:r>
              <a:rPr lang="zh-CN" altLang="en-US" b="1" i="1" dirty="0">
                <a:solidFill>
                  <a:srgbClr val="000000"/>
                </a:solidFill>
                <a:ea typeface="新宋体" panose="02010609030101010101" charset="-122"/>
              </a:rPr>
              <a:t>，</a:t>
            </a:r>
            <a:r>
              <a:rPr lang="zh-CN" altLang="en-US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   </a:t>
            </a:r>
            <a:r>
              <a:rPr lang="en-US" altLang="zh-CN" b="1" i="1" dirty="0">
                <a:solidFill>
                  <a:srgbClr val="000000"/>
                </a:solidFill>
                <a:ea typeface="新宋体" panose="02010609030101010101" charset="-122"/>
              </a:rPr>
              <a:t>I</a:t>
            </a:r>
            <a:r>
              <a:rPr lang="en-US" altLang="zh-CN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C</a:t>
            </a:r>
            <a:r>
              <a:rPr lang="en-US" altLang="zh-CN" b="1" i="1" dirty="0">
                <a:solidFill>
                  <a:srgbClr val="000000"/>
                </a:solidFill>
                <a:ea typeface="新宋体" panose="02010609030101010101" charset="-122"/>
              </a:rPr>
              <a:t>=αI</a:t>
            </a:r>
            <a:r>
              <a:rPr lang="en-US" altLang="zh-CN" b="1" i="1" baseline="-25000" dirty="0">
                <a:solidFill>
                  <a:srgbClr val="000000"/>
                </a:solidFill>
                <a:ea typeface="新宋体" panose="02010609030101010101" charset="-122"/>
              </a:rPr>
              <a:t>E</a:t>
            </a:r>
            <a:endParaRPr lang="en-US" altLang="zh-CN" b="1" i="1" baseline="-25000" dirty="0">
              <a:solidFill>
                <a:srgbClr val="000000"/>
              </a:solidFill>
              <a:ea typeface="新宋体" panose="02010609030101010101" charset="-122"/>
            </a:endParaRPr>
          </a:p>
        </p:txBody>
      </p:sp>
      <p:graphicFrame>
        <p:nvGraphicFramePr>
          <p:cNvPr id="7" name="Object 85"/>
          <p:cNvGraphicFramePr>
            <a:graphicFrameLocks noChangeAspect="1"/>
          </p:cNvGraphicFramePr>
          <p:nvPr/>
        </p:nvGraphicFramePr>
        <p:xfrm>
          <a:off x="4814454" y="3998331"/>
          <a:ext cx="163036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14630400" imgH="9448800" progId="Equation.DSMT4">
                  <p:embed/>
                </p:oleObj>
              </mc:Choice>
              <mc:Fallback>
                <p:oleObj name="Equation" r:id="rId1" imgW="14630400" imgH="94488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454" y="3998331"/>
                        <a:ext cx="1630363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615"/>
          <p:cNvGrpSpPr/>
          <p:nvPr/>
        </p:nvGrpSpPr>
        <p:grpSpPr bwMode="auto">
          <a:xfrm>
            <a:off x="112370" y="5178155"/>
            <a:ext cx="6497928" cy="1489013"/>
            <a:chOff x="48" y="2880"/>
            <a:chExt cx="1888" cy="1034"/>
          </a:xfrm>
        </p:grpSpPr>
        <p:sp>
          <p:nvSpPr>
            <p:cNvPr id="10" name="AutoShape 84" descr="羊皮纸"/>
            <p:cNvSpPr>
              <a:spLocks noChangeArrowheads="1"/>
            </p:cNvSpPr>
            <p:nvPr/>
          </p:nvSpPr>
          <p:spPr bwMode="auto">
            <a:xfrm>
              <a:off x="48" y="2880"/>
              <a:ext cx="1888" cy="103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1" name="Text Box 85" descr="羊皮纸"/>
            <p:cNvSpPr>
              <a:spLocks noChangeArrowheads="1"/>
            </p:cNvSpPr>
            <p:nvPr/>
          </p:nvSpPr>
          <p:spPr bwMode="auto">
            <a:xfrm>
              <a:off x="87" y="2914"/>
              <a:ext cx="1820" cy="96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800" b="1" i="1" dirty="0">
                  <a:solidFill>
                    <a:srgbClr val="FF33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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 为电流放大系数，</a:t>
              </a:r>
              <a:r>
                <a:rPr lang="zh-CN" altLang="zh-CN" sz="2800" b="1" dirty="0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它只与管子的结构尺寸和掺杂浓度有关，与外加电压无关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。一般</a:t>
              </a:r>
              <a:r>
                <a:rPr lang="zh-CN" altLang="en-US" sz="2800" b="1" i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  <a:r>
                <a:rPr lang="zh-CN" altLang="zh-CN" sz="2800" b="1" i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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 = 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(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9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0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99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)%</a:t>
              </a:r>
              <a:endParaRPr lang="en-US" altLang="zh-CN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750578" y="4547548"/>
            <a:ext cx="5441422" cy="2119620"/>
            <a:chOff x="462679" y="4386199"/>
            <a:chExt cx="5479477" cy="2119620"/>
          </a:xfrm>
        </p:grpSpPr>
        <p:sp>
          <p:nvSpPr>
            <p:cNvPr id="13" name="AutoShape 90" descr="羊皮纸"/>
            <p:cNvSpPr>
              <a:spLocks noChangeArrowheads="1"/>
            </p:cNvSpPr>
            <p:nvPr/>
          </p:nvSpPr>
          <p:spPr bwMode="auto">
            <a:xfrm>
              <a:off x="462679" y="4386199"/>
              <a:ext cx="5479477" cy="2119620"/>
            </a:xfrm>
            <a:prstGeom prst="roundRect">
              <a:avLst>
                <a:gd name="adj" fmla="val 10675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0725" y="4434222"/>
              <a:ext cx="5123383" cy="19584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zh-CN" altLang="zh-CN" sz="2800" b="1" i="1" dirty="0">
                  <a:solidFill>
                    <a:srgbClr val="FF505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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 是另一个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直流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电流放大系数，</a:t>
              </a:r>
              <a:r>
                <a:rPr lang="zh-CN" altLang="zh-CN" sz="2800" b="1" dirty="0">
                  <a:solidFill>
                    <a:srgbClr val="FF505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同样，它也与管子的结构尺寸和掺杂浓度有关。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一般</a:t>
              </a:r>
              <a:r>
                <a:rPr lang="zh-CN" altLang="en-US" sz="2800" b="1" i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  <a:r>
                <a:rPr lang="zh-CN" altLang="zh-CN" sz="2800" b="1" i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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&gt;&gt;</a:t>
              </a:r>
              <a:r>
                <a:rPr lang="zh-CN" altLang="zh-CN" sz="28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 1</a:t>
              </a:r>
              <a:endParaRPr lang="zh-CN" alt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晶体管主要参数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92578" y="702349"/>
            <a:ext cx="7996238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1.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电流放大系数  ，</a:t>
            </a:r>
            <a:r>
              <a:rPr lang="zh-CN" altLang="en-US" b="1" i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 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b="1" dirty="0">
                <a:solidFill>
                  <a:srgbClr val="8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Current Gain)</a:t>
            </a:r>
            <a:endParaRPr kumimoji="1" lang="en-US" altLang="zh-CN" b="1" dirty="0">
              <a:solidFill>
                <a:srgbClr val="8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230334" y="660848"/>
          <a:ext cx="3571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42875" imgH="200025" progId="Equation.3">
                  <p:embed/>
                </p:oleObj>
              </mc:Choice>
              <mc:Fallback>
                <p:oleObj name="公式" r:id="rId1" imgW="142875" imgH="2000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334" y="660848"/>
                        <a:ext cx="35718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00035" y="2173046"/>
            <a:ext cx="358140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直流电流放大系数</a:t>
            </a:r>
            <a:endParaRPr lang="zh-CN" altLang="en-US" sz="2800" b="1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969872" y="2830725"/>
          <a:ext cx="11191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3" imgW="421640" imgH="349885" progId="Equation.3">
                  <p:embed/>
                </p:oleObj>
              </mc:Choice>
              <mc:Fallback>
                <p:oleObj name="公式" r:id="rId3" imgW="421640" imgH="34988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9872" y="2830725"/>
                        <a:ext cx="111918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616359" y="2856125"/>
          <a:ext cx="14224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公式" r:id="rId5" imgW="485775" imgH="314325" progId="Equation.3">
                  <p:embed/>
                </p:oleObj>
              </mc:Choice>
              <mc:Fallback>
                <p:oleObj name="公式" r:id="rId5" imgW="485775" imgH="31432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359" y="2856125"/>
                        <a:ext cx="142240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903685" y="2176190"/>
            <a:ext cx="3041650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交流电流放大系数</a:t>
            </a:r>
            <a:endParaRPr lang="zh-CN" altLang="en-US" sz="2800" b="1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052664" y="1272041"/>
            <a:ext cx="5211683" cy="5730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当晶体管接成共发射极电路时，</a:t>
            </a:r>
            <a:endParaRPr lang="zh-CN" altLang="en-US" sz="2800" b="1" dirty="0">
              <a:solidFill>
                <a:srgbClr val="000099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707988" y="3994413"/>
            <a:ext cx="1261884" cy="5730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defRPr/>
            </a:pPr>
            <a:r>
              <a:rPr lang="zh-CN" altLang="en-US" sz="28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注意：</a:t>
            </a:r>
            <a:endParaRPr lang="zh-CN" altLang="en-US" sz="280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3" name="Group 12"/>
          <p:cNvGrpSpPr/>
          <p:nvPr/>
        </p:nvGrpSpPr>
        <p:grpSpPr bwMode="auto">
          <a:xfrm>
            <a:off x="1744500" y="4673864"/>
            <a:ext cx="10041100" cy="955675"/>
            <a:chOff x="336" y="2924"/>
            <a:chExt cx="5040" cy="602"/>
          </a:xfrm>
        </p:grpSpPr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36" y="2924"/>
              <a:ext cx="5040" cy="602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r>
                <a:rPr lang="en-US" altLang="zh-CN" sz="2800" b="1" dirty="0"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      </a:t>
              </a:r>
              <a:r>
                <a:rPr lang="zh-CN" altLang="en-US" sz="2800" b="1" dirty="0"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和</a:t>
              </a:r>
              <a:r>
                <a:rPr lang="zh-CN" altLang="en-US" sz="2800" b="1" i="1" dirty="0"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</a:t>
              </a:r>
              <a:r>
                <a:rPr lang="zh-CN" altLang="en-US" sz="2800" b="1" dirty="0"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 </a:t>
              </a:r>
              <a:r>
                <a:rPr lang="zh-CN" altLang="en-US" sz="28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的含义不同，但在特性曲线近于平行等距并且</a:t>
              </a:r>
              <a:r>
                <a:rPr lang="en-US" altLang="zh-CN" sz="2800" b="1" i="1" dirty="0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000099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CE0 </a:t>
              </a:r>
              <a:r>
                <a:rPr lang="zh-CN" altLang="en-US" sz="28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较小的情况下，两者数值接近。</a:t>
              </a:r>
              <a:endPara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734" y="2937"/>
            <a:ext cx="23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公式" r:id="rId7" imgW="190500" imgH="266700" progId="Equation.3">
                    <p:embed/>
                  </p:oleObj>
                </mc:Choice>
                <mc:Fallback>
                  <p:oleObj name="公式" r:id="rId7" imgW="190500" imgH="2667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" y="2937"/>
                          <a:ext cx="233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2537428" y="5971683"/>
            <a:ext cx="6078538" cy="525401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常用晶体管的</a:t>
            </a:r>
            <a:r>
              <a:rPr lang="zh-CN" altLang="en-US" sz="2800" b="1" i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值在</a:t>
            </a:r>
            <a:r>
              <a:rPr lang="en-US" altLang="zh-CN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20 ~ 200</a:t>
            </a:r>
            <a:r>
              <a:rPr lang="zh-CN" altLang="en-US" sz="2800" b="1" dirty="0">
                <a:solidFill>
                  <a:srgbClr val="0066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之间。</a:t>
            </a:r>
            <a:endParaRPr lang="zh-CN" altLang="en-US" sz="2800" b="1" dirty="0">
              <a:solidFill>
                <a:srgbClr val="0066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utoUpdateAnimBg="0"/>
      <p:bldP spid="1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27765" y="611866"/>
            <a:ext cx="11536470" cy="999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CC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marL="3048000" indent="-3048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333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524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3714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3905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3624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48196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52768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5734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kumimoji="1" lang="zh-CN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例：在</a:t>
            </a:r>
            <a:r>
              <a:rPr kumimoji="1"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kumimoji="1"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 6 V</a:t>
            </a:r>
            <a:r>
              <a:rPr kumimoji="1" lang="zh-CN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时，  在 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Q</a:t>
            </a:r>
            <a:r>
              <a:rPr kumimoji="1"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 </a:t>
            </a:r>
            <a:r>
              <a:rPr kumimoji="1" lang="zh-CN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点</a:t>
            </a:r>
            <a:r>
              <a:rPr kumimoji="1"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kumimoji="1"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=40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A,   </a:t>
            </a:r>
            <a:r>
              <a:rPr kumimoji="1"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C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=1.5mA</a:t>
            </a:r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； 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</a:pPr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       </a:t>
            </a:r>
            <a:r>
              <a:rPr kumimoji="1" lang="zh-CN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在 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Q</a:t>
            </a:r>
            <a:r>
              <a:rPr kumimoji="1"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 </a:t>
            </a:r>
            <a:r>
              <a:rPr kumimoji="1" lang="zh-CN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点</a:t>
            </a:r>
            <a:r>
              <a:rPr kumimoji="1"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B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=60 A,  </a:t>
            </a:r>
            <a:r>
              <a:rPr kumimoji="1"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C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=2.3mA</a:t>
            </a:r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。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5932714" y="2700270"/>
          <a:ext cx="320040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1" imgW="1149985" imgH="285750" progId="Equation.3">
                  <p:embed/>
                </p:oleObj>
              </mc:Choice>
              <mc:Fallback>
                <p:oleObj name="公式" r:id="rId1" imgW="1149985" imgH="28575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2714" y="2700270"/>
                        <a:ext cx="3200400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802086" y="4311287"/>
          <a:ext cx="41910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3" imgW="1507490" imgH="349885" progId="Equation.3">
                  <p:embed/>
                </p:oleObj>
              </mc:Choice>
              <mc:Fallback>
                <p:oleObj name="公式" r:id="rId3" imgW="1507490" imgH="3498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086" y="4311287"/>
                        <a:ext cx="41910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5"/>
          <p:cNvGrpSpPr/>
          <p:nvPr/>
        </p:nvGrpSpPr>
        <p:grpSpPr bwMode="auto">
          <a:xfrm>
            <a:off x="1802039" y="6083164"/>
            <a:ext cx="7772400" cy="519113"/>
            <a:chOff x="480" y="3504"/>
            <a:chExt cx="4896" cy="327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80" y="3504"/>
              <a:ext cx="48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99CC00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在以后的计算中，一般作近似处理：</a:t>
              </a:r>
              <a:r>
                <a:rPr kumimoji="1" lang="zh-CN" altLang="en-US" sz="28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sym typeface="Symbol" panose="05050102010706020507" pitchFamily="18" charset="2"/>
                </a:rPr>
                <a:t> 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sym typeface="Symbol" panose="05050102010706020507" pitchFamily="18" charset="2"/>
                </a:rPr>
                <a:t>= 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sym typeface="Symbol" panose="05050102010706020507" pitchFamily="18" charset="2"/>
                </a:rPr>
                <a:t>。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4560" y="3504"/>
            <a:ext cx="23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公式" r:id="rId5" imgW="190500" imgH="266700" progId="Equation.3">
                    <p:embed/>
                  </p:oleObj>
                </mc:Choice>
                <mc:Fallback>
                  <p:oleObj name="公式" r:id="rId5" imgW="190500" imgH="2667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504"/>
                          <a:ext cx="233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8"/>
          <p:cNvGrpSpPr/>
          <p:nvPr/>
        </p:nvGrpSpPr>
        <p:grpSpPr bwMode="auto">
          <a:xfrm>
            <a:off x="1549627" y="1895407"/>
            <a:ext cx="4138612" cy="3886200"/>
            <a:chOff x="455" y="1008"/>
            <a:chExt cx="2607" cy="2448"/>
          </a:xfrm>
        </p:grpSpPr>
        <p:sp>
          <p:nvSpPr>
            <p:cNvPr id="12" name="Freeform 9"/>
            <p:cNvSpPr/>
            <p:nvPr/>
          </p:nvSpPr>
          <p:spPr bwMode="auto">
            <a:xfrm>
              <a:off x="665" y="3028"/>
              <a:ext cx="1670" cy="92"/>
            </a:xfrm>
            <a:custGeom>
              <a:avLst/>
              <a:gdLst>
                <a:gd name="T0" fmla="*/ 19 w 2387"/>
                <a:gd name="T1" fmla="*/ 131 h 131"/>
                <a:gd name="T2" fmla="*/ 69 w 2387"/>
                <a:gd name="T3" fmla="*/ 95 h 131"/>
                <a:gd name="T4" fmla="*/ 431 w 2387"/>
                <a:gd name="T5" fmla="*/ 24 h 131"/>
                <a:gd name="T6" fmla="*/ 2387 w 2387"/>
                <a:gd name="T7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87" h="131">
                  <a:moveTo>
                    <a:pt x="19" y="131"/>
                  </a:moveTo>
                  <a:cubicBezTo>
                    <a:pt x="27" y="125"/>
                    <a:pt x="0" y="113"/>
                    <a:pt x="69" y="95"/>
                  </a:cubicBezTo>
                  <a:cubicBezTo>
                    <a:pt x="138" y="77"/>
                    <a:pt x="45" y="40"/>
                    <a:pt x="431" y="24"/>
                  </a:cubicBezTo>
                  <a:cubicBezTo>
                    <a:pt x="817" y="8"/>
                    <a:pt x="1980" y="5"/>
                    <a:pt x="2387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Freeform 10"/>
            <p:cNvSpPr/>
            <p:nvPr/>
          </p:nvSpPr>
          <p:spPr bwMode="auto">
            <a:xfrm>
              <a:off x="662" y="2784"/>
              <a:ext cx="1614" cy="339"/>
            </a:xfrm>
            <a:custGeom>
              <a:avLst/>
              <a:gdLst>
                <a:gd name="T0" fmla="*/ 0 w 2308"/>
                <a:gd name="T1" fmla="*/ 504 h 504"/>
                <a:gd name="T2" fmla="*/ 15 w 2308"/>
                <a:gd name="T3" fmla="*/ 314 h 504"/>
                <a:gd name="T4" fmla="*/ 52 w 2308"/>
                <a:gd name="T5" fmla="*/ 276 h 504"/>
                <a:gd name="T6" fmla="*/ 172 w 2308"/>
                <a:gd name="T7" fmla="*/ 156 h 504"/>
                <a:gd name="T8" fmla="*/ 340 w 2308"/>
                <a:gd name="T9" fmla="*/ 72 h 504"/>
                <a:gd name="T10" fmla="*/ 748 w 2308"/>
                <a:gd name="T11" fmla="*/ 48 h 504"/>
                <a:gd name="T12" fmla="*/ 2308 w 2308"/>
                <a:gd name="T13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345" y="2819"/>
              <a:ext cx="47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kumimoji="1" lang="en-US" altLang="zh-CN" sz="2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rPr>
                <a:t>=0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2297" y="2592"/>
              <a:ext cx="5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rPr>
                <a:t>20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sym typeface="Symbol" panose="05050102010706020507" pitchFamily="18" charset="2"/>
                </a:rPr>
                <a:t>A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6" name="Freeform 13"/>
            <p:cNvSpPr/>
            <p:nvPr/>
          </p:nvSpPr>
          <p:spPr bwMode="auto">
            <a:xfrm>
              <a:off x="672" y="2544"/>
              <a:ext cx="1575" cy="612"/>
            </a:xfrm>
            <a:custGeom>
              <a:avLst/>
              <a:gdLst>
                <a:gd name="T0" fmla="*/ 0 w 2299"/>
                <a:gd name="T1" fmla="*/ 948 h 948"/>
                <a:gd name="T2" fmla="*/ 55 w 2299"/>
                <a:gd name="T3" fmla="*/ 408 h 948"/>
                <a:gd name="T4" fmla="*/ 211 w 2299"/>
                <a:gd name="T5" fmla="*/ 156 h 948"/>
                <a:gd name="T6" fmla="*/ 413 w 2299"/>
                <a:gd name="T7" fmla="*/ 69 h 948"/>
                <a:gd name="T8" fmla="*/ 1207 w 2299"/>
                <a:gd name="T9" fmla="*/ 12 h 948"/>
                <a:gd name="T10" fmla="*/ 2299 w 2299"/>
                <a:gd name="T11" fmla="*/ 0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675" y="2237"/>
              <a:ext cx="1539" cy="762"/>
            </a:xfrm>
            <a:custGeom>
              <a:avLst/>
              <a:gdLst>
                <a:gd name="T0" fmla="*/ 0 w 1539"/>
                <a:gd name="T1" fmla="*/ 762 h 762"/>
                <a:gd name="T2" fmla="*/ 43 w 1539"/>
                <a:gd name="T3" fmla="*/ 286 h 762"/>
                <a:gd name="T4" fmla="*/ 106 w 1539"/>
                <a:gd name="T5" fmla="*/ 87 h 762"/>
                <a:gd name="T6" fmla="*/ 329 w 1539"/>
                <a:gd name="T7" fmla="*/ 28 h 762"/>
                <a:gd name="T8" fmla="*/ 1539 w 1539"/>
                <a:gd name="T9" fmla="*/ 0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9" h="762">
                  <a:moveTo>
                    <a:pt x="0" y="762"/>
                  </a:moveTo>
                  <a:cubicBezTo>
                    <a:pt x="7" y="683"/>
                    <a:pt x="25" y="398"/>
                    <a:pt x="43" y="286"/>
                  </a:cubicBezTo>
                  <a:cubicBezTo>
                    <a:pt x="61" y="174"/>
                    <a:pt x="58" y="130"/>
                    <a:pt x="106" y="87"/>
                  </a:cubicBezTo>
                  <a:cubicBezTo>
                    <a:pt x="154" y="44"/>
                    <a:pt x="90" y="42"/>
                    <a:pt x="329" y="28"/>
                  </a:cubicBezTo>
                  <a:cubicBezTo>
                    <a:pt x="568" y="13"/>
                    <a:pt x="1287" y="6"/>
                    <a:pt x="1539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Freeform 15"/>
            <p:cNvSpPr/>
            <p:nvPr/>
          </p:nvSpPr>
          <p:spPr bwMode="auto">
            <a:xfrm>
              <a:off x="675" y="1948"/>
              <a:ext cx="1472" cy="1157"/>
            </a:xfrm>
            <a:custGeom>
              <a:avLst/>
              <a:gdLst>
                <a:gd name="T0" fmla="*/ 0 w 2224"/>
                <a:gd name="T1" fmla="*/ 1788 h 1788"/>
                <a:gd name="T2" fmla="*/ 89 w 2224"/>
                <a:gd name="T3" fmla="*/ 754 h 1788"/>
                <a:gd name="T4" fmla="*/ 112 w 2224"/>
                <a:gd name="T5" fmla="*/ 312 h 1788"/>
                <a:gd name="T6" fmla="*/ 209 w 2224"/>
                <a:gd name="T7" fmla="*/ 125 h 1788"/>
                <a:gd name="T8" fmla="*/ 640 w 2224"/>
                <a:gd name="T9" fmla="*/ 36 h 1788"/>
                <a:gd name="T10" fmla="*/ 2224 w 2224"/>
                <a:gd name="T11" fmla="*/ 0 h 1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4" h="1788">
                  <a:moveTo>
                    <a:pt x="0" y="1788"/>
                  </a:moveTo>
                  <a:cubicBezTo>
                    <a:pt x="15" y="1616"/>
                    <a:pt x="70" y="1000"/>
                    <a:pt x="89" y="754"/>
                  </a:cubicBezTo>
                  <a:cubicBezTo>
                    <a:pt x="108" y="508"/>
                    <a:pt x="92" y="417"/>
                    <a:pt x="112" y="312"/>
                  </a:cubicBezTo>
                  <a:cubicBezTo>
                    <a:pt x="132" y="207"/>
                    <a:pt x="121" y="171"/>
                    <a:pt x="209" y="125"/>
                  </a:cubicBezTo>
                  <a:cubicBezTo>
                    <a:pt x="297" y="79"/>
                    <a:pt x="304" y="57"/>
                    <a:pt x="640" y="36"/>
                  </a:cubicBezTo>
                  <a:cubicBezTo>
                    <a:pt x="976" y="15"/>
                    <a:pt x="1894" y="8"/>
                    <a:pt x="2224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Freeform 16"/>
            <p:cNvSpPr/>
            <p:nvPr/>
          </p:nvSpPr>
          <p:spPr bwMode="auto">
            <a:xfrm>
              <a:off x="675" y="1620"/>
              <a:ext cx="1404" cy="1508"/>
            </a:xfrm>
            <a:custGeom>
              <a:avLst/>
              <a:gdLst>
                <a:gd name="T0" fmla="*/ 0 w 1404"/>
                <a:gd name="T1" fmla="*/ 1508 h 1508"/>
                <a:gd name="T2" fmla="*/ 52 w 1404"/>
                <a:gd name="T3" fmla="*/ 789 h 1508"/>
                <a:gd name="T4" fmla="*/ 118 w 1404"/>
                <a:gd name="T5" fmla="*/ 234 h 1508"/>
                <a:gd name="T6" fmla="*/ 338 w 1404"/>
                <a:gd name="T7" fmla="*/ 39 h 1508"/>
                <a:gd name="T8" fmla="*/ 1404 w 1404"/>
                <a:gd name="T9" fmla="*/ 1 h 1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4" h="1508">
                  <a:moveTo>
                    <a:pt x="0" y="1508"/>
                  </a:moveTo>
                  <a:cubicBezTo>
                    <a:pt x="9" y="1388"/>
                    <a:pt x="32" y="1001"/>
                    <a:pt x="52" y="789"/>
                  </a:cubicBezTo>
                  <a:cubicBezTo>
                    <a:pt x="72" y="577"/>
                    <a:pt x="70" y="359"/>
                    <a:pt x="118" y="234"/>
                  </a:cubicBezTo>
                  <a:cubicBezTo>
                    <a:pt x="166" y="109"/>
                    <a:pt x="123" y="77"/>
                    <a:pt x="338" y="39"/>
                  </a:cubicBezTo>
                  <a:cubicBezTo>
                    <a:pt x="552" y="0"/>
                    <a:pt x="1182" y="8"/>
                    <a:pt x="1404" y="1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2282" y="2371"/>
              <a:ext cx="5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rPr>
                <a:t>40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sym typeface="Symbol" panose="05050102010706020507" pitchFamily="18" charset="2"/>
                </a:rPr>
                <a:t>A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2262" y="2086"/>
              <a:ext cx="5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rPr>
                <a:t>60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sym typeface="Symbol" panose="05050102010706020507" pitchFamily="18" charset="2"/>
                </a:rPr>
                <a:t>A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2166" y="1830"/>
              <a:ext cx="5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rPr>
                <a:t>80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sym typeface="Symbol" panose="05050102010706020507" pitchFamily="18" charset="2"/>
                </a:rPr>
                <a:t>A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2070" y="1488"/>
              <a:ext cx="6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</a:rPr>
                <a:t>100</a:t>
              </a:r>
              <a:r>
                <a:rPr kumimoji="1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sym typeface="Symbol" panose="05050102010706020507" pitchFamily="18" charset="2"/>
                </a:rPr>
                <a:t>A</a:t>
              </a:r>
              <a:endPara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24" name="Group 21"/>
            <p:cNvGrpSpPr/>
            <p:nvPr/>
          </p:nvGrpSpPr>
          <p:grpSpPr bwMode="auto">
            <a:xfrm>
              <a:off x="455" y="1008"/>
              <a:ext cx="2607" cy="2448"/>
              <a:chOff x="1614" y="1008"/>
              <a:chExt cx="2607" cy="2448"/>
            </a:xfrm>
          </p:grpSpPr>
          <p:sp>
            <p:nvSpPr>
              <p:cNvPr id="27" name="Line 22"/>
              <p:cNvSpPr>
                <a:spLocks noChangeShapeType="1"/>
              </p:cNvSpPr>
              <p:nvPr/>
            </p:nvSpPr>
            <p:spPr bwMode="auto">
              <a:xfrm>
                <a:off x="2185" y="3072"/>
                <a:ext cx="0" cy="5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23"/>
              <p:cNvSpPr>
                <a:spLocks noChangeShapeType="1"/>
              </p:cNvSpPr>
              <p:nvPr/>
            </p:nvSpPr>
            <p:spPr bwMode="auto">
              <a:xfrm>
                <a:off x="2596" y="3072"/>
                <a:ext cx="0" cy="5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Group 24"/>
              <p:cNvGrpSpPr/>
              <p:nvPr/>
            </p:nvGrpSpPr>
            <p:grpSpPr bwMode="auto">
              <a:xfrm>
                <a:off x="1614" y="1008"/>
                <a:ext cx="2607" cy="2448"/>
                <a:chOff x="1614" y="1008"/>
                <a:chExt cx="2607" cy="2448"/>
              </a:xfrm>
            </p:grpSpPr>
            <p:sp>
              <p:nvSpPr>
                <p:cNvPr id="3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046" y="3087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3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500" y="3096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6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824" y="1008"/>
                  <a:ext cx="80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 i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I</a:t>
                  </a:r>
                  <a:r>
                    <a:rPr kumimoji="1" lang="en-US" altLang="zh-CN" sz="2400" b="1" baseline="-250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C</a:t>
                  </a: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(</a:t>
                  </a: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  <a:sym typeface="Symbol" panose="05050102010706020507" pitchFamily="18" charset="2"/>
                    </a:rPr>
                    <a:t>m</a:t>
                  </a: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A  )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3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1815" y="1174"/>
                  <a:ext cx="0" cy="195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Line 29"/>
                <p:cNvSpPr>
                  <a:spLocks noChangeShapeType="1"/>
                </p:cNvSpPr>
                <p:nvPr/>
              </p:nvSpPr>
              <p:spPr bwMode="auto">
                <a:xfrm rot="5400000">
                  <a:off x="1849" y="2728"/>
                  <a:ext cx="0" cy="5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Line 30"/>
                <p:cNvSpPr>
                  <a:spLocks noChangeShapeType="1"/>
                </p:cNvSpPr>
                <p:nvPr/>
              </p:nvSpPr>
              <p:spPr bwMode="auto">
                <a:xfrm rot="5400000">
                  <a:off x="1841" y="2317"/>
                  <a:ext cx="0" cy="5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Line 31"/>
                <p:cNvSpPr>
                  <a:spLocks noChangeShapeType="1"/>
                </p:cNvSpPr>
                <p:nvPr/>
              </p:nvSpPr>
              <p:spPr bwMode="auto">
                <a:xfrm rot="5400000">
                  <a:off x="1832" y="1888"/>
                  <a:ext cx="0" cy="5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Line 32"/>
                <p:cNvSpPr>
                  <a:spLocks noChangeShapeType="1"/>
                </p:cNvSpPr>
                <p:nvPr/>
              </p:nvSpPr>
              <p:spPr bwMode="auto">
                <a:xfrm rot="5400000">
                  <a:off x="1841" y="1484"/>
                  <a:ext cx="0" cy="5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614" y="2640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1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9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614" y="2208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2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614" y="1776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3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1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614" y="1392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4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2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1807" y="3114"/>
                  <a:ext cx="1889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524" y="3168"/>
                  <a:ext cx="69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 i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U</a:t>
                  </a:r>
                  <a:r>
                    <a:rPr kumimoji="1" lang="en-US" altLang="zh-CN" sz="2400" b="1" baseline="-250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CE</a:t>
                  </a: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(V)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4" name="Line 39"/>
                <p:cNvSpPr>
                  <a:spLocks noChangeShapeType="1"/>
                </p:cNvSpPr>
                <p:nvPr/>
              </p:nvSpPr>
              <p:spPr bwMode="auto">
                <a:xfrm>
                  <a:off x="2982" y="3080"/>
                  <a:ext cx="0" cy="5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Line 40"/>
                <p:cNvSpPr>
                  <a:spLocks noChangeShapeType="1"/>
                </p:cNvSpPr>
                <p:nvPr/>
              </p:nvSpPr>
              <p:spPr bwMode="auto">
                <a:xfrm>
                  <a:off x="3368" y="3080"/>
                  <a:ext cx="0" cy="5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910" y="3100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FF00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9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7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3216" y="3096"/>
                  <a:ext cx="30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FF00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12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8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662" y="3072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24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anose="02010609030101010101" pitchFamily="49" charset="-122"/>
                    </a:rPr>
                    <a:t>0</a:t>
                  </a:r>
                  <a:endParaRPr kumimoji="1" lang="en-US" altLang="zh-CN" sz="2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anose="02010609030101010101" pitchFamily="49" charset="-122"/>
                  </a:endParaRPr>
                </a:p>
              </p:txBody>
            </p:sp>
          </p:grpSp>
        </p:grpSp>
        <p:sp>
          <p:nvSpPr>
            <p:cNvPr id="25" name="Line 44"/>
            <p:cNvSpPr>
              <a:spLocks noChangeShapeType="1"/>
            </p:cNvSpPr>
            <p:nvPr/>
          </p:nvSpPr>
          <p:spPr bwMode="auto">
            <a:xfrm>
              <a:off x="1440" y="2230"/>
              <a:ext cx="0" cy="9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45"/>
            <p:cNvSpPr>
              <a:spLocks noChangeShapeType="1"/>
            </p:cNvSpPr>
            <p:nvPr/>
          </p:nvSpPr>
          <p:spPr bwMode="auto">
            <a:xfrm flipH="1">
              <a:off x="672" y="2544"/>
              <a:ext cx="76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6"/>
            <p:cNvSpPr>
              <a:spLocks noChangeShapeType="1"/>
            </p:cNvSpPr>
            <p:nvPr/>
          </p:nvSpPr>
          <p:spPr bwMode="auto">
            <a:xfrm flipH="1">
              <a:off x="672" y="2232"/>
              <a:ext cx="76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1392" y="2208"/>
              <a:ext cx="70" cy="70"/>
            </a:xfrm>
            <a:prstGeom prst="ellipse">
              <a:avLst/>
            </a:prstGeom>
            <a:solidFill>
              <a:srgbClr val="003399"/>
            </a:solidFill>
            <a:ln w="9525">
              <a:solidFill>
                <a:srgbClr val="00339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1405" y="2518"/>
              <a:ext cx="70" cy="70"/>
            </a:xfrm>
            <a:prstGeom prst="ellipse">
              <a:avLst/>
            </a:prstGeom>
            <a:solidFill>
              <a:srgbClr val="003399"/>
            </a:solidFill>
            <a:ln w="9525">
              <a:solidFill>
                <a:srgbClr val="00339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3113314" y="389089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kumimoji="1" lang="en-US" altLang="zh-CN" sz="24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3" name="Text Box 50"/>
          <p:cNvSpPr txBox="1">
            <a:spLocks noChangeArrowheads="1"/>
          </p:cNvSpPr>
          <p:nvPr/>
        </p:nvSpPr>
        <p:spPr bwMode="auto">
          <a:xfrm>
            <a:off x="3037114" y="3419407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kumimoji="1" lang="en-US" altLang="zh-CN" sz="24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4" name="Rectangle 51"/>
          <p:cNvSpPr>
            <a:spLocks noChangeArrowheads="1"/>
          </p:cNvSpPr>
          <p:nvPr/>
        </p:nvSpPr>
        <p:spPr bwMode="auto">
          <a:xfrm>
            <a:off x="5704114" y="1933507"/>
            <a:ext cx="2819400" cy="57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在</a:t>
            </a:r>
            <a:r>
              <a:rPr kumimoji="1"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Q</a:t>
            </a:r>
            <a:r>
              <a:rPr kumimoji="1" lang="en-US" altLang="zh-CN" sz="2800" b="1" baseline="-25000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kumimoji="1" lang="zh-CN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点，有</a:t>
            </a:r>
            <a:endParaRPr kumimoji="1" lang="zh-CN" altLang="en-US" sz="2800" b="1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5" name="Rectangle 52"/>
          <p:cNvSpPr>
            <a:spLocks noChangeArrowheads="1"/>
          </p:cNvSpPr>
          <p:nvPr/>
        </p:nvSpPr>
        <p:spPr bwMode="auto">
          <a:xfrm>
            <a:off x="5802086" y="3590086"/>
            <a:ext cx="3352800" cy="57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由</a:t>
            </a:r>
            <a:r>
              <a:rPr kumimoji="1"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Q</a:t>
            </a:r>
            <a:r>
              <a:rPr kumimoji="1" lang="en-US" altLang="zh-CN" sz="2800" b="1" baseline="-25000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 </a:t>
            </a:r>
            <a:r>
              <a:rPr kumimoji="1" lang="zh-CN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和</a:t>
            </a:r>
            <a:r>
              <a:rPr kumimoji="1"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Q</a:t>
            </a:r>
            <a:r>
              <a:rPr kumimoji="1" lang="en-US" altLang="zh-CN" sz="2800" b="1" baseline="-25000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kumimoji="1" lang="zh-CN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点，得</a:t>
            </a:r>
            <a:endParaRPr kumimoji="1" lang="zh-CN" altLang="en-US" sz="2800" b="1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6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晶体管主要参数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19630" y="637330"/>
            <a:ext cx="518160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</a:t>
            </a:r>
            <a:r>
              <a:rPr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基极反向截止电流 </a:t>
            </a:r>
            <a:r>
              <a:rPr lang="en-US" altLang="zh-CN" sz="2800" b="1" i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CBO</a:t>
            </a:r>
            <a:endParaRPr lang="en-US" altLang="zh-CN" sz="2800" b="1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146413" y="4175579"/>
            <a:ext cx="4643438" cy="2436812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38100">
            <a:solidFill>
              <a:srgbClr val="339933"/>
            </a:solidFill>
            <a:round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"/>
              </a:spcBef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en-US" altLang="zh-CN" sz="28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CBO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是由少数载流子的漂移运动所形成的电流，受温度的影响大。</a:t>
            </a:r>
            <a:endParaRPr lang="zh-CN" altLang="en-US" sz="2800" dirty="0">
              <a:effectLst>
                <a:outerShdw blurRad="38100" dist="38100" dir="2700000" algn="tl">
                  <a:srgbClr val="FFFFFF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spcBef>
                <a:spcPct val="5000"/>
              </a:spcBef>
              <a:defRPr/>
            </a:pPr>
            <a:r>
              <a:rPr lang="zh-CN" altLang="en-US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 温度</a:t>
            </a:r>
            <a:r>
              <a:rPr lang="zh-CN" altLang="en-US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</a:t>
            </a:r>
            <a:r>
              <a:rPr lang="en-US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CBO</a:t>
            </a:r>
            <a:r>
              <a:rPr lang="en-US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</a:t>
            </a:r>
            <a:endParaRPr lang="en-US" altLang="zh-CN" sz="2800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4" name="Group 4"/>
          <p:cNvGrpSpPr/>
          <p:nvPr/>
        </p:nvGrpSpPr>
        <p:grpSpPr bwMode="auto">
          <a:xfrm>
            <a:off x="1738314" y="1627142"/>
            <a:ext cx="966787" cy="671513"/>
            <a:chOff x="831" y="633"/>
            <a:chExt cx="609" cy="423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831" y="633"/>
              <a:ext cx="5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800" i="1">
                  <a:ea typeface="楷体_GB2312" panose="02010609030101010101" pitchFamily="49" charset="-122"/>
                </a:rPr>
                <a:t>I</a:t>
              </a:r>
              <a:r>
                <a:rPr lang="en-US" altLang="zh-CN" sz="2800" baseline="-25000">
                  <a:ea typeface="楷体_GB2312" panose="02010609030101010101" pitchFamily="49" charset="-122"/>
                </a:rPr>
                <a:t>CBO</a:t>
              </a:r>
              <a:endParaRPr lang="en-US" altLang="zh-CN" sz="2800" baseline="-25000">
                <a:ea typeface="楷体_GB2312" panose="02010609030101010101" pitchFamily="49" charset="-122"/>
              </a:endParaRPr>
            </a:p>
          </p:txBody>
        </p:sp>
        <p:grpSp>
          <p:nvGrpSpPr>
            <p:cNvPr id="6" name="Group 6"/>
            <p:cNvGrpSpPr/>
            <p:nvPr/>
          </p:nvGrpSpPr>
          <p:grpSpPr bwMode="auto">
            <a:xfrm>
              <a:off x="1006" y="731"/>
              <a:ext cx="434" cy="325"/>
              <a:chOff x="768" y="720"/>
              <a:chExt cx="434" cy="325"/>
            </a:xfrm>
          </p:grpSpPr>
          <p:sp>
            <p:nvSpPr>
              <p:cNvPr id="7" name="Freeform 7"/>
              <p:cNvSpPr/>
              <p:nvPr/>
            </p:nvSpPr>
            <p:spPr bwMode="auto">
              <a:xfrm>
                <a:off x="918" y="720"/>
                <a:ext cx="284" cy="312"/>
              </a:xfrm>
              <a:custGeom>
                <a:avLst/>
                <a:gdLst>
                  <a:gd name="T0" fmla="*/ 264 w 284"/>
                  <a:gd name="T1" fmla="*/ 0 h 312"/>
                  <a:gd name="T2" fmla="*/ 264 w 284"/>
                  <a:gd name="T3" fmla="*/ 168 h 312"/>
                  <a:gd name="T4" fmla="*/ 146 w 284"/>
                  <a:gd name="T5" fmla="*/ 289 h 312"/>
                  <a:gd name="T6" fmla="*/ 0 w 284"/>
                  <a:gd name="T7" fmla="*/ 307 h 3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4"/>
                  <a:gd name="T13" fmla="*/ 0 h 312"/>
                  <a:gd name="T14" fmla="*/ 284 w 284"/>
                  <a:gd name="T15" fmla="*/ 312 h 3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4" h="312">
                    <a:moveTo>
                      <a:pt x="264" y="0"/>
                    </a:moveTo>
                    <a:cubicBezTo>
                      <a:pt x="273" y="60"/>
                      <a:pt x="284" y="120"/>
                      <a:pt x="264" y="168"/>
                    </a:cubicBezTo>
                    <a:cubicBezTo>
                      <a:pt x="244" y="216"/>
                      <a:pt x="190" y="266"/>
                      <a:pt x="146" y="289"/>
                    </a:cubicBezTo>
                    <a:cubicBezTo>
                      <a:pt x="102" y="312"/>
                      <a:pt x="30" y="303"/>
                      <a:pt x="0" y="307"/>
                    </a:cubicBez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" name="Line 8"/>
              <p:cNvSpPr>
                <a:spLocks noChangeShapeType="1"/>
              </p:cNvSpPr>
              <p:nvPr/>
            </p:nvSpPr>
            <p:spPr bwMode="auto">
              <a:xfrm rot="1087311" flipH="1">
                <a:off x="768" y="997"/>
                <a:ext cx="192" cy="4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12"/>
          <p:cNvGrpSpPr/>
          <p:nvPr/>
        </p:nvGrpSpPr>
        <p:grpSpPr bwMode="auto">
          <a:xfrm>
            <a:off x="876301" y="1627142"/>
            <a:ext cx="3314700" cy="1971675"/>
            <a:chOff x="288" y="672"/>
            <a:chExt cx="2088" cy="1242"/>
          </a:xfrm>
        </p:grpSpPr>
        <p:grpSp>
          <p:nvGrpSpPr>
            <p:cNvPr id="10" name="Group 13"/>
            <p:cNvGrpSpPr/>
            <p:nvPr/>
          </p:nvGrpSpPr>
          <p:grpSpPr bwMode="auto">
            <a:xfrm>
              <a:off x="995" y="679"/>
              <a:ext cx="493" cy="1033"/>
              <a:chOff x="2369" y="961"/>
              <a:chExt cx="750" cy="1578"/>
            </a:xfrm>
          </p:grpSpPr>
          <p:sp>
            <p:nvSpPr>
              <p:cNvPr id="31" name="Line 14"/>
              <p:cNvSpPr>
                <a:spLocks noChangeShapeType="1"/>
              </p:cNvSpPr>
              <p:nvPr/>
            </p:nvSpPr>
            <p:spPr bwMode="auto">
              <a:xfrm>
                <a:off x="2369" y="1699"/>
                <a:ext cx="564" cy="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" name="Line 15"/>
              <p:cNvSpPr>
                <a:spLocks noChangeShapeType="1"/>
              </p:cNvSpPr>
              <p:nvPr/>
            </p:nvSpPr>
            <p:spPr bwMode="auto">
              <a:xfrm>
                <a:off x="2921" y="1525"/>
                <a:ext cx="0" cy="3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" name="Line 16"/>
              <p:cNvSpPr>
                <a:spLocks noChangeShapeType="1"/>
              </p:cNvSpPr>
              <p:nvPr/>
            </p:nvSpPr>
            <p:spPr bwMode="auto">
              <a:xfrm>
                <a:off x="2921" y="1705"/>
                <a:ext cx="198" cy="1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Line 17"/>
              <p:cNvSpPr>
                <a:spLocks noChangeShapeType="1"/>
              </p:cNvSpPr>
              <p:nvPr/>
            </p:nvSpPr>
            <p:spPr bwMode="auto">
              <a:xfrm flipV="1">
                <a:off x="2921" y="1531"/>
                <a:ext cx="198" cy="16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Line 18"/>
              <p:cNvSpPr>
                <a:spLocks noChangeShapeType="1"/>
              </p:cNvSpPr>
              <p:nvPr/>
            </p:nvSpPr>
            <p:spPr bwMode="auto">
              <a:xfrm>
                <a:off x="3107" y="961"/>
                <a:ext cx="0" cy="58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Line 19"/>
              <p:cNvSpPr>
                <a:spLocks noChangeShapeType="1"/>
              </p:cNvSpPr>
              <p:nvPr/>
            </p:nvSpPr>
            <p:spPr bwMode="auto">
              <a:xfrm>
                <a:off x="3107" y="1879"/>
                <a:ext cx="0" cy="6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" name="Oval 20"/>
            <p:cNvSpPr>
              <a:spLocks noChangeArrowheads="1"/>
            </p:cNvSpPr>
            <p:nvPr/>
          </p:nvSpPr>
          <p:spPr bwMode="auto">
            <a:xfrm>
              <a:off x="628" y="994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622" y="1008"/>
              <a:ext cx="4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en-US">
                  <a:ea typeface="楷体_GB2312" panose="02010609030101010101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>
                  <a:ea typeface="楷体_GB2312" panose="02010609030101010101" pitchFamily="49" charset="-122"/>
                </a:rPr>
                <a:t>A</a:t>
              </a:r>
              <a:endParaRPr lang="en-US" altLang="zh-CN">
                <a:ea typeface="楷体_GB2312" panose="02010609030101010101" pitchFamily="49" charset="-122"/>
              </a:endParaRPr>
            </a:p>
          </p:txBody>
        </p:sp>
        <p:sp>
          <p:nvSpPr>
            <p:cNvPr id="13" name="Line 22"/>
            <p:cNvSpPr>
              <a:spLocks noChangeShapeType="1"/>
            </p:cNvSpPr>
            <p:nvPr/>
          </p:nvSpPr>
          <p:spPr bwMode="auto">
            <a:xfrm flipH="1">
              <a:off x="288" y="1185"/>
              <a:ext cx="3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" name="Group 23"/>
            <p:cNvGrpSpPr/>
            <p:nvPr/>
          </p:nvGrpSpPr>
          <p:grpSpPr bwMode="auto">
            <a:xfrm>
              <a:off x="2076" y="1005"/>
              <a:ext cx="300" cy="480"/>
              <a:chOff x="3065" y="3041"/>
              <a:chExt cx="474" cy="876"/>
            </a:xfrm>
          </p:grpSpPr>
          <p:sp>
            <p:nvSpPr>
              <p:cNvPr id="25" name="Line 24"/>
              <p:cNvSpPr>
                <a:spLocks noChangeShapeType="1"/>
              </p:cNvSpPr>
              <p:nvPr/>
            </p:nvSpPr>
            <p:spPr bwMode="auto">
              <a:xfrm rot="5400000">
                <a:off x="3302" y="2978"/>
                <a:ext cx="0" cy="4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Line 25"/>
              <p:cNvSpPr>
                <a:spLocks noChangeShapeType="1"/>
              </p:cNvSpPr>
              <p:nvPr/>
            </p:nvSpPr>
            <p:spPr bwMode="auto">
              <a:xfrm rot="5400000">
                <a:off x="3305" y="3263"/>
                <a:ext cx="0" cy="25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 rot="5400000">
                <a:off x="3215" y="3131"/>
                <a:ext cx="1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27"/>
              <p:cNvSpPr>
                <a:spLocks noChangeShapeType="1"/>
              </p:cNvSpPr>
              <p:nvPr/>
            </p:nvSpPr>
            <p:spPr bwMode="auto">
              <a:xfrm rot="5400000">
                <a:off x="3302" y="3326"/>
                <a:ext cx="0" cy="4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Line 28"/>
              <p:cNvSpPr>
                <a:spLocks noChangeShapeType="1"/>
              </p:cNvSpPr>
              <p:nvPr/>
            </p:nvSpPr>
            <p:spPr bwMode="auto">
              <a:xfrm rot="5400000">
                <a:off x="3305" y="3611"/>
                <a:ext cx="0" cy="25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29"/>
              <p:cNvSpPr>
                <a:spLocks noChangeShapeType="1"/>
              </p:cNvSpPr>
              <p:nvPr/>
            </p:nvSpPr>
            <p:spPr bwMode="auto">
              <a:xfrm rot="5400000">
                <a:off x="3227" y="3827"/>
                <a:ext cx="1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>
              <a:off x="1488" y="680"/>
              <a:ext cx="7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31"/>
            <p:cNvSpPr>
              <a:spLocks noChangeShapeType="1"/>
            </p:cNvSpPr>
            <p:nvPr/>
          </p:nvSpPr>
          <p:spPr bwMode="auto">
            <a:xfrm flipV="1">
              <a:off x="2229" y="672"/>
              <a:ext cx="0" cy="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32"/>
            <p:cNvSpPr>
              <a:spLocks noChangeShapeType="1"/>
            </p:cNvSpPr>
            <p:nvPr/>
          </p:nvSpPr>
          <p:spPr bwMode="auto">
            <a:xfrm>
              <a:off x="292" y="1167"/>
              <a:ext cx="0" cy="7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33"/>
            <p:cNvSpPr>
              <a:spLocks noChangeShapeType="1"/>
            </p:cNvSpPr>
            <p:nvPr/>
          </p:nvSpPr>
          <p:spPr bwMode="auto">
            <a:xfrm>
              <a:off x="292" y="1906"/>
              <a:ext cx="19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34"/>
            <p:cNvSpPr>
              <a:spLocks noChangeShapeType="1"/>
            </p:cNvSpPr>
            <p:nvPr/>
          </p:nvSpPr>
          <p:spPr bwMode="auto">
            <a:xfrm>
              <a:off x="2232" y="1474"/>
              <a:ext cx="0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Oval 35"/>
            <p:cNvSpPr>
              <a:spLocks noChangeArrowheads="1"/>
            </p:cNvSpPr>
            <p:nvPr/>
          </p:nvSpPr>
          <p:spPr bwMode="auto">
            <a:xfrm>
              <a:off x="1440" y="1693"/>
              <a:ext cx="70" cy="7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958" y="1104"/>
              <a:ext cx="2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CC0000"/>
                  </a:solidFill>
                  <a:ea typeface="宋体" panose="02010600030101010101" pitchFamily="2" charset="-122"/>
                </a:rPr>
                <a:t>+</a:t>
              </a:r>
              <a:endParaRPr lang="en-US" altLang="zh-CN" sz="2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444" y="110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CC0000"/>
                  </a:solidFill>
                  <a:ea typeface="宋体" panose="02010600030101010101" pitchFamily="2" charset="-122"/>
                </a:rPr>
                <a:t>–</a:t>
              </a:r>
              <a:endParaRPr lang="en-US" altLang="zh-CN" sz="2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Rectangle 38"/>
            <p:cNvSpPr>
              <a:spLocks noChangeArrowheads="1"/>
            </p:cNvSpPr>
            <p:nvPr/>
          </p:nvSpPr>
          <p:spPr bwMode="auto">
            <a:xfrm>
              <a:off x="1743" y="1056"/>
              <a:ext cx="5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800" i="1">
                  <a:ea typeface="楷体_GB2312" panose="02010609030101010101" pitchFamily="49" charset="-122"/>
                </a:rPr>
                <a:t>E</a:t>
              </a:r>
              <a:r>
                <a:rPr lang="en-US" altLang="zh-CN" sz="2800" baseline="-25000">
                  <a:ea typeface="楷体_GB2312" panose="02010609030101010101" pitchFamily="49" charset="-122"/>
                </a:rPr>
                <a:t>C</a:t>
              </a:r>
              <a:endParaRPr lang="en-US" altLang="zh-CN" sz="2800" baseline="-25000">
                <a:ea typeface="楷体_GB2312" panose="02010609030101010101" pitchFamily="49" charset="-122"/>
              </a:endParaRPr>
            </a:p>
          </p:txBody>
        </p:sp>
      </p:grpSp>
      <p:sp>
        <p:nvSpPr>
          <p:cNvPr id="37" name="Text Box 39"/>
          <p:cNvSpPr txBox="1">
            <a:spLocks noChangeArrowheads="1"/>
          </p:cNvSpPr>
          <p:nvPr/>
        </p:nvSpPr>
        <p:spPr bwMode="auto">
          <a:xfrm>
            <a:off x="5151259" y="637330"/>
            <a:ext cx="6317686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3.</a:t>
            </a: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</a:t>
            </a:r>
            <a:r>
              <a:rPr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射极反向截止电流</a:t>
            </a:r>
            <a:r>
              <a:rPr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穿透电流</a:t>
            </a:r>
            <a:r>
              <a:rPr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en-US" altLang="zh-CN" sz="2800" b="1" i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CEO</a:t>
            </a:r>
            <a:endParaRPr lang="en-US" altLang="zh-CN" sz="2800" b="1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38" name="Group 40"/>
          <p:cNvGrpSpPr/>
          <p:nvPr/>
        </p:nvGrpSpPr>
        <p:grpSpPr bwMode="auto">
          <a:xfrm>
            <a:off x="5916332" y="1163570"/>
            <a:ext cx="2970213" cy="2560637"/>
            <a:chOff x="464" y="960"/>
            <a:chExt cx="1871" cy="1613"/>
          </a:xfrm>
        </p:grpSpPr>
        <p:grpSp>
          <p:nvGrpSpPr>
            <p:cNvPr id="39" name="Group 41"/>
            <p:cNvGrpSpPr/>
            <p:nvPr/>
          </p:nvGrpSpPr>
          <p:grpSpPr bwMode="auto">
            <a:xfrm>
              <a:off x="576" y="1251"/>
              <a:ext cx="525" cy="1106"/>
              <a:chOff x="2369" y="961"/>
              <a:chExt cx="750" cy="1578"/>
            </a:xfrm>
          </p:grpSpPr>
          <p:sp>
            <p:nvSpPr>
              <p:cNvPr id="61" name="Line 42"/>
              <p:cNvSpPr>
                <a:spLocks noChangeShapeType="1"/>
              </p:cNvSpPr>
              <p:nvPr/>
            </p:nvSpPr>
            <p:spPr bwMode="auto">
              <a:xfrm>
                <a:off x="2369" y="1699"/>
                <a:ext cx="564" cy="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43"/>
              <p:cNvSpPr>
                <a:spLocks noChangeShapeType="1"/>
              </p:cNvSpPr>
              <p:nvPr/>
            </p:nvSpPr>
            <p:spPr bwMode="auto">
              <a:xfrm>
                <a:off x="2921" y="1525"/>
                <a:ext cx="0" cy="3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Line 44"/>
              <p:cNvSpPr>
                <a:spLocks noChangeShapeType="1"/>
              </p:cNvSpPr>
              <p:nvPr/>
            </p:nvSpPr>
            <p:spPr bwMode="auto">
              <a:xfrm>
                <a:off x="2921" y="1705"/>
                <a:ext cx="198" cy="1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45"/>
              <p:cNvSpPr>
                <a:spLocks noChangeShapeType="1"/>
              </p:cNvSpPr>
              <p:nvPr/>
            </p:nvSpPr>
            <p:spPr bwMode="auto">
              <a:xfrm flipV="1">
                <a:off x="2921" y="1531"/>
                <a:ext cx="198" cy="16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" name="Line 46"/>
              <p:cNvSpPr>
                <a:spLocks noChangeShapeType="1"/>
              </p:cNvSpPr>
              <p:nvPr/>
            </p:nvSpPr>
            <p:spPr bwMode="auto">
              <a:xfrm>
                <a:off x="3107" y="961"/>
                <a:ext cx="0" cy="58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47"/>
              <p:cNvSpPr>
                <a:spLocks noChangeShapeType="1"/>
              </p:cNvSpPr>
              <p:nvPr/>
            </p:nvSpPr>
            <p:spPr bwMode="auto">
              <a:xfrm>
                <a:off x="3107" y="1879"/>
                <a:ext cx="0" cy="6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0" name="Oval 48"/>
            <p:cNvSpPr>
              <a:spLocks noChangeArrowheads="1"/>
            </p:cNvSpPr>
            <p:nvPr/>
          </p:nvSpPr>
          <p:spPr bwMode="auto">
            <a:xfrm>
              <a:off x="1433" y="1068"/>
              <a:ext cx="361" cy="3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Text Box 49"/>
            <p:cNvSpPr txBox="1">
              <a:spLocks noChangeArrowheads="1"/>
            </p:cNvSpPr>
            <p:nvPr/>
          </p:nvSpPr>
          <p:spPr bwMode="auto">
            <a:xfrm>
              <a:off x="1305" y="1091"/>
              <a:ext cx="6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en-US">
                  <a:ea typeface="楷体_GB2312" panose="02010609030101010101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>
                  <a:ea typeface="楷体_GB2312" panose="02010609030101010101" pitchFamily="49" charset="-122"/>
                </a:rPr>
                <a:t>A</a:t>
              </a:r>
              <a:endParaRPr lang="en-US" altLang="zh-CN">
                <a:ea typeface="楷体_GB2312" panose="02010609030101010101" pitchFamily="49" charset="-122"/>
              </a:endParaRPr>
            </a:p>
          </p:txBody>
        </p:sp>
        <p:sp>
          <p:nvSpPr>
            <p:cNvPr id="42" name="Line 50"/>
            <p:cNvSpPr>
              <a:spLocks noChangeShapeType="1"/>
            </p:cNvSpPr>
            <p:nvPr/>
          </p:nvSpPr>
          <p:spPr bwMode="auto">
            <a:xfrm flipH="1">
              <a:off x="1089" y="1248"/>
              <a:ext cx="351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3" name="Group 51"/>
            <p:cNvGrpSpPr/>
            <p:nvPr/>
          </p:nvGrpSpPr>
          <p:grpSpPr bwMode="auto">
            <a:xfrm>
              <a:off x="2003" y="1601"/>
              <a:ext cx="332" cy="513"/>
              <a:chOff x="3065" y="3041"/>
              <a:chExt cx="474" cy="876"/>
            </a:xfrm>
          </p:grpSpPr>
          <p:sp>
            <p:nvSpPr>
              <p:cNvPr id="55" name="Line 52"/>
              <p:cNvSpPr>
                <a:spLocks noChangeShapeType="1"/>
              </p:cNvSpPr>
              <p:nvPr/>
            </p:nvSpPr>
            <p:spPr bwMode="auto">
              <a:xfrm rot="5400000">
                <a:off x="3302" y="2978"/>
                <a:ext cx="0" cy="4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" name="Line 53"/>
              <p:cNvSpPr>
                <a:spLocks noChangeShapeType="1"/>
              </p:cNvSpPr>
              <p:nvPr/>
            </p:nvSpPr>
            <p:spPr bwMode="auto">
              <a:xfrm rot="5400000">
                <a:off x="3305" y="3263"/>
                <a:ext cx="0" cy="25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7" name="Line 54"/>
              <p:cNvSpPr>
                <a:spLocks noChangeShapeType="1"/>
              </p:cNvSpPr>
              <p:nvPr/>
            </p:nvSpPr>
            <p:spPr bwMode="auto">
              <a:xfrm rot="5400000">
                <a:off x="3215" y="3131"/>
                <a:ext cx="1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" name="Line 55"/>
              <p:cNvSpPr>
                <a:spLocks noChangeShapeType="1"/>
              </p:cNvSpPr>
              <p:nvPr/>
            </p:nvSpPr>
            <p:spPr bwMode="auto">
              <a:xfrm rot="5400000">
                <a:off x="3302" y="3326"/>
                <a:ext cx="0" cy="4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" name="Line 56"/>
              <p:cNvSpPr>
                <a:spLocks noChangeShapeType="1"/>
              </p:cNvSpPr>
              <p:nvPr/>
            </p:nvSpPr>
            <p:spPr bwMode="auto">
              <a:xfrm rot="5400000">
                <a:off x="3305" y="3611"/>
                <a:ext cx="0" cy="25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" name="Line 57"/>
              <p:cNvSpPr>
                <a:spLocks noChangeShapeType="1"/>
              </p:cNvSpPr>
              <p:nvPr/>
            </p:nvSpPr>
            <p:spPr bwMode="auto">
              <a:xfrm rot="5400000">
                <a:off x="3227" y="3827"/>
                <a:ext cx="1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" name="Line 58"/>
            <p:cNvSpPr>
              <a:spLocks noChangeShapeType="1"/>
            </p:cNvSpPr>
            <p:nvPr/>
          </p:nvSpPr>
          <p:spPr bwMode="auto">
            <a:xfrm>
              <a:off x="1824" y="1248"/>
              <a:ext cx="352" cy="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59"/>
            <p:cNvSpPr>
              <a:spLocks noChangeShapeType="1"/>
            </p:cNvSpPr>
            <p:nvPr/>
          </p:nvSpPr>
          <p:spPr bwMode="auto">
            <a:xfrm flipV="1">
              <a:off x="2172" y="1244"/>
              <a:ext cx="0" cy="3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60"/>
            <p:cNvSpPr>
              <a:spLocks noChangeShapeType="1"/>
            </p:cNvSpPr>
            <p:nvPr/>
          </p:nvSpPr>
          <p:spPr bwMode="auto">
            <a:xfrm>
              <a:off x="1104" y="2544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61"/>
            <p:cNvSpPr>
              <a:spLocks noChangeShapeType="1"/>
            </p:cNvSpPr>
            <p:nvPr/>
          </p:nvSpPr>
          <p:spPr bwMode="auto">
            <a:xfrm>
              <a:off x="2176" y="2102"/>
              <a:ext cx="0" cy="4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62"/>
            <p:cNvSpPr>
              <a:spLocks noChangeShapeType="1"/>
            </p:cNvSpPr>
            <p:nvPr/>
          </p:nvSpPr>
          <p:spPr bwMode="auto">
            <a:xfrm flipV="1">
              <a:off x="1093" y="2321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Rectangle 63"/>
            <p:cNvSpPr>
              <a:spLocks noChangeArrowheads="1"/>
            </p:cNvSpPr>
            <p:nvPr/>
          </p:nvSpPr>
          <p:spPr bwMode="auto">
            <a:xfrm>
              <a:off x="1244" y="1632"/>
              <a:ext cx="5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ea typeface="楷体_GB2312" panose="02010609030101010101" pitchFamily="49" charset="-122"/>
                </a:rPr>
                <a:t>I</a:t>
              </a:r>
              <a:r>
                <a:rPr lang="en-US" altLang="zh-CN" sz="2800" baseline="-25000">
                  <a:ea typeface="楷体_GB2312" panose="02010609030101010101" pitchFamily="49" charset="-122"/>
                </a:rPr>
                <a:t>CEO</a:t>
              </a:r>
              <a:endParaRPr lang="en-US" altLang="zh-CN" sz="2800" i="1" baseline="-25000">
                <a:ea typeface="楷体_GB2312" panose="02010609030101010101" pitchFamily="49" charset="-122"/>
              </a:endParaRPr>
            </a:p>
          </p:txBody>
        </p:sp>
        <p:sp>
          <p:nvSpPr>
            <p:cNvPr id="50" name="Line 64"/>
            <p:cNvSpPr>
              <a:spLocks noChangeShapeType="1"/>
            </p:cNvSpPr>
            <p:nvPr/>
          </p:nvSpPr>
          <p:spPr bwMode="auto">
            <a:xfrm>
              <a:off x="1200" y="1536"/>
              <a:ext cx="0" cy="5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65"/>
            <p:cNvSpPr>
              <a:spLocks noChangeShapeType="1"/>
            </p:cNvSpPr>
            <p:nvPr/>
          </p:nvSpPr>
          <p:spPr bwMode="auto">
            <a:xfrm flipV="1">
              <a:off x="576" y="1680"/>
              <a:ext cx="340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Rectangle 66"/>
            <p:cNvSpPr>
              <a:spLocks noChangeArrowheads="1"/>
            </p:cNvSpPr>
            <p:nvPr/>
          </p:nvSpPr>
          <p:spPr bwMode="auto">
            <a:xfrm>
              <a:off x="464" y="1353"/>
              <a:ext cx="5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CC0000"/>
                  </a:solidFill>
                  <a:ea typeface="楷体_GB2312" panose="02010609030101010101" pitchFamily="49" charset="-122"/>
                </a:rPr>
                <a:t>I</a:t>
              </a:r>
              <a:r>
                <a:rPr lang="en-US" altLang="zh-CN" sz="2800" i="1" baseline="-25000">
                  <a:solidFill>
                    <a:srgbClr val="CC0000"/>
                  </a:solidFill>
                  <a:ea typeface="楷体_GB2312" panose="02010609030101010101" pitchFamily="49" charset="-122"/>
                </a:rPr>
                <a:t>B</a:t>
              </a:r>
              <a:r>
                <a:rPr lang="en-US" altLang="zh-CN" sz="2800">
                  <a:solidFill>
                    <a:srgbClr val="CC0000"/>
                  </a:solidFill>
                  <a:ea typeface="楷体_GB2312" panose="02010609030101010101" pitchFamily="49" charset="-122"/>
                </a:rPr>
                <a:t>=0</a:t>
              </a:r>
              <a:endParaRPr lang="en-US" altLang="zh-CN" sz="2800" baseline="-25000">
                <a:solidFill>
                  <a:srgbClr val="CC0000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3" name="Text Box 67"/>
            <p:cNvSpPr txBox="1">
              <a:spLocks noChangeArrowheads="1"/>
            </p:cNvSpPr>
            <p:nvPr/>
          </p:nvSpPr>
          <p:spPr bwMode="auto">
            <a:xfrm>
              <a:off x="1776" y="960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CC0000"/>
                  </a:solidFill>
                  <a:ea typeface="宋体" panose="02010600030101010101" pitchFamily="2" charset="-122"/>
                </a:rPr>
                <a:t>+</a:t>
              </a:r>
              <a:endParaRPr lang="en-US" altLang="zh-CN" sz="2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4" name="Text Box 68"/>
            <p:cNvSpPr txBox="1">
              <a:spLocks noChangeArrowheads="1"/>
            </p:cNvSpPr>
            <p:nvPr/>
          </p:nvSpPr>
          <p:spPr bwMode="auto">
            <a:xfrm>
              <a:off x="1200" y="960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CC0000"/>
                  </a:solidFill>
                  <a:ea typeface="宋体" panose="02010600030101010101" pitchFamily="2" charset="-122"/>
                </a:rPr>
                <a:t>–</a:t>
              </a:r>
              <a:endParaRPr lang="en-US" altLang="zh-CN" sz="2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7" name="AutoShape 69"/>
          <p:cNvSpPr>
            <a:spLocks noChangeArrowheads="1"/>
          </p:cNvSpPr>
          <p:nvPr/>
        </p:nvSpPr>
        <p:spPr bwMode="auto">
          <a:xfrm>
            <a:off x="6166693" y="4092207"/>
            <a:ext cx="4506913" cy="2436812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38100">
            <a:solidFill>
              <a:srgbClr val="339933"/>
            </a:solidFill>
            <a:round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en-US" altLang="zh-CN" sz="28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CEO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受温度的影响大。</a:t>
            </a:r>
            <a:endParaRPr lang="zh-CN" altLang="en-US" sz="2800" dirty="0">
              <a:effectLst>
                <a:outerShdw blurRad="38100" dist="38100" dir="2700000" algn="tl">
                  <a:srgbClr val="FFFFFF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spcBef>
                <a:spcPct val="5000"/>
              </a:spcBef>
              <a:defRPr/>
            </a:pPr>
            <a:r>
              <a:rPr lang="zh-CN" altLang="en-US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温度</a:t>
            </a:r>
            <a:r>
              <a:rPr lang="zh-CN" altLang="en-US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</a:t>
            </a:r>
            <a:r>
              <a:rPr lang="en-US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CEO</a:t>
            </a:r>
            <a:r>
              <a:rPr lang="en-US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</a:t>
            </a:r>
            <a:r>
              <a:rPr lang="zh-CN" altLang="en-US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所以</a:t>
            </a:r>
            <a:r>
              <a:rPr lang="en-US" altLang="zh-CN" sz="28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i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也相应增加。</a:t>
            </a:r>
            <a:r>
              <a:rPr lang="zh-CN" altLang="en-US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三极管的温度特性较差。</a:t>
            </a:r>
            <a:endParaRPr lang="zh-CN" altLang="en-US" sz="2800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8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晶体管主要参数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9" name="Group 4"/>
          <p:cNvGrpSpPr/>
          <p:nvPr/>
        </p:nvGrpSpPr>
        <p:grpSpPr bwMode="auto">
          <a:xfrm>
            <a:off x="6965207" y="3827423"/>
            <a:ext cx="3962400" cy="582613"/>
            <a:chOff x="864" y="1601"/>
            <a:chExt cx="2496" cy="367"/>
          </a:xfrm>
        </p:grpSpPr>
        <p:sp>
          <p:nvSpPr>
            <p:cNvPr id="70" name="Text Box 5"/>
            <p:cNvSpPr>
              <a:spLocks noChangeArrowheads="1"/>
            </p:cNvSpPr>
            <p:nvPr/>
          </p:nvSpPr>
          <p:spPr bwMode="auto">
            <a:xfrm>
              <a:off x="864" y="1601"/>
              <a:ext cx="2496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SzPct val="10000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SzPct val="10000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SzPct val="10000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SzPct val="10000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CEO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=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1+   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）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CBO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endPara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" name="Object 6"/>
            <p:cNvGraphicFramePr>
              <a:graphicFrameLocks noChangeAspect="1"/>
            </p:cNvGraphicFramePr>
            <p:nvPr/>
          </p:nvGraphicFramePr>
          <p:xfrm>
            <a:off x="1908" y="1634"/>
            <a:ext cx="20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公式" r:id="rId1" imgW="198755" imgH="194945" progId="Equation.3">
                    <p:embed/>
                  </p:oleObj>
                </mc:Choice>
                <mc:Fallback>
                  <p:oleObj name="公式" r:id="rId1" imgW="198755" imgH="19494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" y="1634"/>
                          <a:ext cx="204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" name="Text Box 9"/>
          <p:cNvSpPr>
            <a:spLocks noChangeArrowheads="1"/>
          </p:cNvSpPr>
          <p:nvPr/>
        </p:nvSpPr>
        <p:spPr bwMode="auto">
          <a:xfrm>
            <a:off x="9039990" y="1397055"/>
            <a:ext cx="3032245" cy="2441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即输出特性曲线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=0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那条曲线所对应的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Y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坐标的数值。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CEO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也称为集电极发射极间穿透电流。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01172" y="3703230"/>
            <a:ext cx="4347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发射极开路时，集电结的反向饱和电流。 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37" grpId="0" bldLvl="0" animBg="1" autoUpdateAnimBg="0"/>
      <p:bldP spid="67" grpId="0" bldLvl="0" animBg="1" autoUpdateAnimBg="0"/>
      <p:bldP spid="72" grpId="0" bldLvl="0" animBg="1"/>
      <p:bldP spid="7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晶体管主要参数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92578" y="702349"/>
            <a:ext cx="7996238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2.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电流放大系数  ，</a:t>
            </a:r>
            <a:r>
              <a:rPr lang="zh-CN" altLang="en-US" b="1" i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b="1" dirty="0">
                <a:solidFill>
                  <a:srgbClr val="8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Current Gain)</a:t>
            </a:r>
            <a:endParaRPr kumimoji="1" lang="en-US" altLang="zh-CN" b="1" dirty="0">
              <a:solidFill>
                <a:srgbClr val="8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280002" y="678065"/>
          <a:ext cx="381219" cy="461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657600" imgH="3962400" progId="Equation.DSMT4">
                  <p:embed/>
                </p:oleObj>
              </mc:Choice>
              <mc:Fallback>
                <p:oleObj name="Equation" r:id="rId1" imgW="3657600" imgH="396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0002" y="678065"/>
                        <a:ext cx="381219" cy="461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00035" y="2173046"/>
            <a:ext cx="358140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直流电流放大系数</a:t>
            </a:r>
            <a:endParaRPr lang="zh-CN" altLang="en-US" sz="2800" b="1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928344" y="2718553"/>
          <a:ext cx="1465753" cy="1265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" imgW="11277600" imgH="9753600" progId="Equation.DSMT4">
                  <p:embed/>
                </p:oleObj>
              </mc:Choice>
              <mc:Fallback>
                <p:oleObj name="Equation" r:id="rId3" imgW="11277600" imgH="975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344" y="2718553"/>
                        <a:ext cx="1465753" cy="1265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568168" y="2801712"/>
          <a:ext cx="1465752" cy="102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" imgW="13106400" imgH="9144000" progId="Equation.DSMT4">
                  <p:embed/>
                </p:oleObj>
              </mc:Choice>
              <mc:Fallback>
                <p:oleObj name="Equation" r:id="rId5" imgW="13106400" imgH="914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8168" y="2801712"/>
                        <a:ext cx="1465752" cy="1021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903685" y="2176190"/>
            <a:ext cx="3041650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交流电流放大系数</a:t>
            </a:r>
            <a:endParaRPr lang="zh-CN" altLang="en-US" sz="2800" b="1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052664" y="1272041"/>
            <a:ext cx="4873450" cy="5730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当晶体管接成共基极电路时，</a:t>
            </a:r>
            <a:endParaRPr lang="zh-CN" altLang="en-US" sz="2800" b="1" dirty="0">
              <a:solidFill>
                <a:srgbClr val="000099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707988" y="3994413"/>
            <a:ext cx="1261884" cy="5730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defRPr/>
            </a:pPr>
            <a:r>
              <a:rPr lang="zh-CN" altLang="en-US" sz="28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注意：</a:t>
            </a:r>
            <a:endParaRPr lang="zh-CN" altLang="en-US" sz="280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3" name="Group 9"/>
          <p:cNvGrpSpPr/>
          <p:nvPr/>
        </p:nvGrpSpPr>
        <p:grpSpPr bwMode="auto">
          <a:xfrm>
            <a:off x="1922551" y="4708118"/>
            <a:ext cx="8585792" cy="695325"/>
            <a:chOff x="192" y="3088"/>
            <a:chExt cx="4896" cy="438"/>
          </a:xfrm>
        </p:grpSpPr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192" y="3088"/>
              <a:ext cx="48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SzPct val="100000"/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SzPct val="100000"/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SzPct val="100000"/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SzPct val="100000"/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40000"/>
                </a:lnSpc>
                <a:buClr>
                  <a:srgbClr val="CC0000"/>
                </a:buClr>
                <a:buFont typeface="Wingdings" panose="05000000000000000000" pitchFamily="2" charset="2"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当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CBO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和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CEO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很小时，   ≈</a:t>
              </a:r>
              <a:r>
                <a:rPr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sym typeface="Symbol" panose="05050102010706020507" pitchFamily="18" charset="2"/>
                </a:rPr>
                <a:t>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、      ≈</a:t>
              </a:r>
              <a:r>
                <a:rPr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sym typeface="Symbol" panose="05050102010706020507" pitchFamily="18" charset="2"/>
                </a:rPr>
                <a:t>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，可以不加区分。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18" name="Object 11"/>
            <p:cNvGraphicFramePr>
              <a:graphicFrameLocks noChangeAspect="1"/>
            </p:cNvGraphicFramePr>
            <p:nvPr/>
          </p:nvGraphicFramePr>
          <p:xfrm>
            <a:off x="2126" y="3207"/>
            <a:ext cx="265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公式" r:id="rId7" imgW="149225" imgH="180340" progId="Equation.3">
                    <p:embed/>
                  </p:oleObj>
                </mc:Choice>
                <mc:Fallback>
                  <p:oleObj name="公式" r:id="rId7" imgW="149225" imgH="1803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6" y="3207"/>
                          <a:ext cx="265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2"/>
            <p:cNvGraphicFramePr>
              <a:graphicFrameLocks noChangeAspect="1"/>
            </p:cNvGraphicFramePr>
            <p:nvPr/>
          </p:nvGraphicFramePr>
          <p:xfrm>
            <a:off x="2841" y="3154"/>
            <a:ext cx="265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公式" r:id="rId9" imgW="198755" imgH="194945" progId="Equation.3">
                    <p:embed/>
                  </p:oleObj>
                </mc:Choice>
                <mc:Fallback>
                  <p:oleObj name="公式" r:id="rId9" imgW="198755" imgH="19494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1" y="3154"/>
                          <a:ext cx="265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base"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utoUpdateAnimBg="0"/>
      <p:bldP spid="1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晶体管主要参数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97114" y="672218"/>
            <a:ext cx="640080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4. </a:t>
            </a:r>
            <a:r>
              <a:rPr lang="zh-CN" altLang="en-US" sz="2800" b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集电极最大允许电流 </a:t>
            </a:r>
            <a:r>
              <a:rPr lang="en-US" altLang="zh-CN" sz="2800" b="1" i="1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CM</a:t>
            </a:r>
            <a:endParaRPr lang="en-US" altLang="zh-CN" sz="2800" b="1" baseline="-25000" dirty="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20914" y="2494668"/>
            <a:ext cx="784860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en-US" altLang="zh-CN" sz="2800" b="1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5. </a:t>
            </a:r>
            <a:r>
              <a:rPr lang="zh-CN" altLang="en-US" sz="2800" b="1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</a:t>
            </a:r>
            <a:r>
              <a:rPr lang="en-US" altLang="zh-CN" sz="2800" b="1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2800" b="1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射极反向击穿电压</a:t>
            </a:r>
            <a:r>
              <a:rPr lang="en-US" altLang="zh-CN" sz="2800" b="1" i="1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zh-CN" sz="2800" b="1" baseline="-2500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(BR)CEO</a:t>
            </a:r>
            <a:endParaRPr lang="en-US" altLang="zh-CN" sz="2800" b="1" baseline="-25000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49514" y="1350097"/>
            <a:ext cx="11364686" cy="9541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集电极电流 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上升会导致三极管的</a:t>
            </a:r>
            <a:r>
              <a:rPr lang="zh-CN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值的下降，当</a:t>
            </a:r>
            <a:r>
              <a:rPr lang="zh-CN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值下降到正常值的三分之二时的集电极电流即为 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CM</a:t>
            </a:r>
            <a:r>
              <a:rPr lang="zh-CN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。</a:t>
            </a:r>
            <a:endParaRPr lang="zh-CN" altLang="en-US" sz="2800" b="1" i="1" dirty="0"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49514" y="3110635"/>
            <a:ext cx="11364686" cy="9541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当集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—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射极之间的电压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 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超过一定的数值时，三极管就会被击穿。手册上给出的数值是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25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C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、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基极开路时的击穿电压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(BR)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CEO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20914" y="4323468"/>
            <a:ext cx="640080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en-US" altLang="zh-CN" sz="2800" b="1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6. </a:t>
            </a:r>
            <a:r>
              <a:rPr lang="zh-CN" altLang="en-US" sz="2800" b="1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集电极最大允许耗散功耗</a:t>
            </a:r>
            <a:r>
              <a:rPr lang="en-US" altLang="zh-CN" sz="2800" b="1" i="1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</a:t>
            </a:r>
            <a:r>
              <a:rPr lang="en-US" altLang="zh-CN" sz="2800" b="1" baseline="-25000">
                <a:solidFill>
                  <a:srgbClr val="CC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CM</a:t>
            </a:r>
            <a:endParaRPr lang="en-US" altLang="zh-CN" sz="2800" b="1" i="1">
              <a:solidFill>
                <a:srgbClr val="CC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827314" y="4843242"/>
            <a:ext cx="11364686" cy="956288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P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CM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取决于三极管允许的温升，消耗功率过大，温升过高会烧坏三极管。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spcBef>
                <a:spcPct val="0"/>
              </a:spcBef>
              <a:defRPr/>
            </a:pPr>
            <a:r>
              <a:rPr lang="zh-CN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       </a:t>
            </a:r>
            <a:r>
              <a:rPr lang="en-US" altLang="zh-CN" sz="2800" b="1" i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</a:t>
            </a:r>
            <a:r>
              <a:rPr lang="en-US" altLang="zh-CN" sz="2800" b="1" baseline="-25000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zh-CN" sz="2800" b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 </a:t>
            </a:r>
            <a:r>
              <a:rPr lang="en-US" altLang="zh-CN" sz="2800" b="1" i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800" b="1" baseline="-25000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CM </a:t>
            </a:r>
            <a:r>
              <a:rPr lang="en-US" altLang="zh-CN" sz="2800" b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800" b="1" i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 </a:t>
            </a:r>
            <a:r>
              <a:rPr lang="en-US" altLang="zh-CN" sz="2800" b="1" i="1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endParaRPr lang="en-US" altLang="zh-CN" sz="2800" b="1" baseline="-25000" dirty="0">
              <a:solidFill>
                <a:srgbClr val="000099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8514" y="6052629"/>
            <a:ext cx="800100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zh-CN" sz="2800" b="1" i="1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硅管允许结温约为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150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C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，锗管约为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70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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90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C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en-US" sz="2800" b="1" i="1" baseline="-2500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晶体管主要参数与温度的关系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16"/>
          <p:cNvSpPr>
            <a:spLocks noChangeArrowheads="1"/>
          </p:cNvSpPr>
          <p:nvPr/>
        </p:nvSpPr>
        <p:spPr bwMode="auto">
          <a:xfrm>
            <a:off x="413544" y="749975"/>
            <a:ext cx="7796212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）温度对</a:t>
            </a:r>
            <a:r>
              <a:rPr lang="en-US" altLang="zh-CN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CBO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的影响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Text Box 17"/>
          <p:cNvSpPr>
            <a:spLocks noChangeArrowheads="1"/>
          </p:cNvSpPr>
          <p:nvPr/>
        </p:nvSpPr>
        <p:spPr bwMode="auto">
          <a:xfrm>
            <a:off x="578140" y="1380056"/>
            <a:ext cx="11322916" cy="1284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CBO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是集电结反偏时的反向饱和电流，对温度非常敏感，温度每升高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10</a:t>
            </a:r>
            <a:r>
              <a:rPr lang="en-US" altLang="zh-CN" sz="2800" b="1" i="1" baseline="30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0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 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i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CBO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约增加一倍。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" name="Text Box 18"/>
          <p:cNvSpPr>
            <a:spLocks noChangeArrowheads="1"/>
          </p:cNvSpPr>
          <p:nvPr/>
        </p:nvSpPr>
        <p:spPr bwMode="auto">
          <a:xfrm>
            <a:off x="413543" y="3180940"/>
            <a:ext cx="7796213" cy="554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）温度对</a:t>
            </a:r>
            <a:r>
              <a:rPr lang="zh-CN" altLang="en-US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的影响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5" name="Group 376"/>
          <p:cNvGrpSpPr/>
          <p:nvPr/>
        </p:nvGrpSpPr>
        <p:grpSpPr bwMode="auto">
          <a:xfrm>
            <a:off x="1378816" y="3970374"/>
            <a:ext cx="7734301" cy="569913"/>
            <a:chOff x="816" y="3246"/>
            <a:chExt cx="4872" cy="359"/>
          </a:xfrm>
        </p:grpSpPr>
        <p:grpSp>
          <p:nvGrpSpPr>
            <p:cNvPr id="16" name="Group 377"/>
            <p:cNvGrpSpPr/>
            <p:nvPr/>
          </p:nvGrpSpPr>
          <p:grpSpPr bwMode="auto">
            <a:xfrm>
              <a:off x="2635" y="3268"/>
              <a:ext cx="3053" cy="337"/>
              <a:chOff x="951" y="3187"/>
              <a:chExt cx="3053" cy="337"/>
            </a:xfrm>
          </p:grpSpPr>
          <p:sp>
            <p:nvSpPr>
              <p:cNvPr id="18" name="Text Box 19"/>
              <p:cNvSpPr>
                <a:spLocks noChangeArrowheads="1"/>
              </p:cNvSpPr>
              <p:nvPr/>
            </p:nvSpPr>
            <p:spPr bwMode="auto">
              <a:xfrm>
                <a:off x="951" y="3187"/>
                <a:ext cx="175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I</a:t>
                </a:r>
                <a:r>
                  <a:rPr lang="en-US" altLang="zh-CN" sz="2800" b="1" i="1" baseline="-25000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B</a:t>
                </a:r>
                <a:r>
                  <a:rPr lang="en-US" altLang="zh-CN" sz="2800" b="1" i="1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=I</a:t>
                </a:r>
                <a:r>
                  <a:rPr lang="en-US" altLang="zh-CN" sz="2800" b="1" i="1" baseline="-25000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BN</a:t>
                </a:r>
                <a:r>
                  <a:rPr lang="en-US" altLang="zh-CN" sz="2800" b="1" i="1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-I</a:t>
                </a:r>
                <a:r>
                  <a:rPr lang="en-US" altLang="zh-CN" sz="2800" b="1" i="1" baseline="-25000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CBO  </a:t>
                </a:r>
                <a:r>
                  <a:rPr lang="en-US" altLang="zh-CN" sz="2800" b="1" i="1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,</a:t>
                </a:r>
                <a:endParaRPr lang="en-US" altLang="zh-CN" sz="2800" b="1" i="1" dirty="0">
                  <a:latin typeface="楷体_GB2312" panose="02010609030101010101" pitchFamily="49" charset="-122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9" name="Rectangle 20"/>
              <p:cNvSpPr>
                <a:spLocks noChangeArrowheads="1"/>
              </p:cNvSpPr>
              <p:nvPr/>
            </p:nvSpPr>
            <p:spPr bwMode="auto">
              <a:xfrm>
                <a:off x="2271" y="3197"/>
                <a:ext cx="173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I</a:t>
                </a:r>
                <a:r>
                  <a:rPr lang="en-US" altLang="zh-CN" sz="2800" b="1" i="1" baseline="-25000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C</a:t>
                </a:r>
                <a:r>
                  <a:rPr lang="en-US" altLang="zh-CN" sz="2800" b="1" i="1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=I</a:t>
                </a:r>
                <a:r>
                  <a:rPr lang="en-US" altLang="zh-CN" sz="2800" b="1" i="1" baseline="-25000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CN</a:t>
                </a:r>
                <a:r>
                  <a:rPr lang="en-US" altLang="zh-CN" sz="2800" b="1" i="1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+I</a:t>
                </a:r>
                <a:r>
                  <a:rPr lang="en-US" altLang="zh-CN" sz="2800" b="1" i="1" baseline="-25000" dirty="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CBO</a:t>
                </a:r>
                <a:endParaRPr lang="en-US" altLang="zh-CN" sz="2800" b="1" i="1" baseline="-25000" dirty="0">
                  <a:latin typeface="楷体_GB2312" panose="02010609030101010101" pitchFamily="49" charset="-122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17" name="Text Box 22"/>
            <p:cNvSpPr>
              <a:spLocks noChangeArrowheads="1"/>
            </p:cNvSpPr>
            <p:nvPr/>
          </p:nvSpPr>
          <p:spPr bwMode="auto">
            <a:xfrm>
              <a:off x="816" y="3246"/>
              <a:ext cx="211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温度升高</a:t>
              </a:r>
              <a:r>
                <a:rPr lang="en-US" altLang="zh-CN" sz="28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I</a:t>
              </a:r>
              <a:r>
                <a:rPr lang="en-US" altLang="zh-CN" sz="2800" b="1" baseline="-25000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CBO</a:t>
              </a:r>
              <a:r>
                <a:rPr lang="zh-CN" altLang="en-US" sz="28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增加，</a:t>
              </a:r>
              <a:endPara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8561523" y="3988492"/>
            <a:ext cx="11031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增加</a:t>
            </a:r>
            <a:endParaRPr lang="zh-CN" altLang="en-US" sz="2800" b="1" i="1" dirty="0"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1" name="Text Box 26"/>
          <p:cNvSpPr>
            <a:spLocks noChangeArrowheads="1"/>
          </p:cNvSpPr>
          <p:nvPr/>
        </p:nvSpPr>
        <p:spPr bwMode="auto">
          <a:xfrm>
            <a:off x="426677" y="4826010"/>
            <a:ext cx="8377238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）温度对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反向击穿电压</a:t>
            </a:r>
            <a:r>
              <a:rPr lang="en-US" altLang="zh-CN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(BR)CBO</a:t>
            </a:r>
            <a:r>
              <a:rPr lang="zh-CN" altLang="en-US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、</a:t>
            </a:r>
            <a:r>
              <a:rPr lang="en-US" altLang="zh-CN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(BR)CEO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的影响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2" name="Text Box 31"/>
          <p:cNvSpPr>
            <a:spLocks noChangeArrowheads="1"/>
          </p:cNvSpPr>
          <p:nvPr/>
        </p:nvSpPr>
        <p:spPr bwMode="auto">
          <a:xfrm>
            <a:off x="1378816" y="5625691"/>
            <a:ext cx="6502400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温度升高反向击穿电压也提高。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4" grpId="0"/>
      <p:bldP spid="20" grpId="0"/>
      <p:bldP spid="21" grpId="0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2163762" y="1995487"/>
            <a:ext cx="7864475" cy="1433513"/>
            <a:chOff x="480" y="1248"/>
            <a:chExt cx="4954" cy="903"/>
          </a:xfrm>
        </p:grpSpPr>
        <p:sp>
          <p:nvSpPr>
            <p:cNvPr id="3" name="Rectangle 4"/>
            <p:cNvSpPr>
              <a:spLocks noChangeArrowheads="1"/>
            </p:cNvSpPr>
            <p:nvPr/>
          </p:nvSpPr>
          <p:spPr bwMode="auto">
            <a:xfrm>
              <a:off x="559" y="1278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宋体" panose="02010600030101010101" pitchFamily="2" charset="-122"/>
                </a:rPr>
                <a:t>参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703" y="1270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775" y="1278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宋体" panose="02010600030101010101" pitchFamily="2" charset="-122"/>
                </a:rPr>
                <a:t>数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559" y="1490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宋体" panose="02010600030101010101" pitchFamily="2" charset="-122"/>
                </a:rPr>
                <a:t>型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703" y="1482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775" y="1490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宋体" panose="02010600030101010101" pitchFamily="2" charset="-122"/>
                </a:rPr>
                <a:t>号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289" y="1252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 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1361" y="1252"/>
              <a:ext cx="10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P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446" y="1341"/>
              <a:ext cx="6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1505" y="1341"/>
              <a:ext cx="9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M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1289" y="1441"/>
              <a:ext cx="33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mW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1862" y="1252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 I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1983" y="1341"/>
              <a:ext cx="6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2042" y="1341"/>
              <a:ext cx="9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M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1862" y="1441"/>
              <a:ext cx="29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mA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2517" y="1252"/>
              <a:ext cx="20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VR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2694" y="1341"/>
              <a:ext cx="23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zh-CN" sz="1300">
                  <a:solidFill>
                    <a:srgbClr val="000000"/>
                  </a:solidFill>
                </a:rPr>
                <a:t> </a:t>
              </a:r>
              <a:r>
                <a:rPr lang="en-US" altLang="zh-CN" sz="1300">
                  <a:solidFill>
                    <a:srgbClr val="000000"/>
                  </a:solidFill>
                </a:rPr>
                <a:t>CBO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2517" y="1441"/>
              <a:ext cx="20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 V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3090" y="1252"/>
              <a:ext cx="20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VR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3267" y="1341"/>
              <a:ext cx="23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zh-CN" sz="1300">
                  <a:solidFill>
                    <a:srgbClr val="000000"/>
                  </a:solidFill>
                </a:rPr>
                <a:t> </a:t>
              </a:r>
              <a:r>
                <a:rPr lang="en-US" altLang="zh-CN" sz="1300">
                  <a:solidFill>
                    <a:srgbClr val="000000"/>
                  </a:solidFill>
                </a:rPr>
                <a:t>CEO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3" name="Rectangle 24"/>
            <p:cNvSpPr>
              <a:spLocks noChangeArrowheads="1"/>
            </p:cNvSpPr>
            <p:nvPr/>
          </p:nvSpPr>
          <p:spPr bwMode="auto">
            <a:xfrm>
              <a:off x="3090" y="1531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  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3181" y="1441"/>
              <a:ext cx="12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V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3663" y="1252"/>
              <a:ext cx="20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VR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3840" y="1341"/>
              <a:ext cx="23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zh-CN" sz="1300">
                  <a:solidFill>
                    <a:srgbClr val="000000"/>
                  </a:solidFill>
                </a:rPr>
                <a:t> </a:t>
              </a:r>
              <a:r>
                <a:rPr lang="en-US" altLang="zh-CN" sz="1300">
                  <a:solidFill>
                    <a:srgbClr val="000000"/>
                  </a:solidFill>
                </a:rPr>
                <a:t>EBO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3663" y="1531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  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3754" y="1441"/>
              <a:ext cx="12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V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4269" y="1252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 I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4390" y="1341"/>
              <a:ext cx="6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4449" y="1341"/>
              <a:ext cx="17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zh-CN" sz="1300">
                  <a:solidFill>
                    <a:srgbClr val="000000"/>
                  </a:solidFill>
                </a:rPr>
                <a:t> </a:t>
              </a:r>
              <a:r>
                <a:rPr lang="en-US" altLang="zh-CN" sz="1300">
                  <a:solidFill>
                    <a:srgbClr val="000000"/>
                  </a:solidFill>
                </a:rPr>
                <a:t>BO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4269" y="154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  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4360" y="1464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μ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4504" y="1456"/>
              <a:ext cx="12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4884" y="1270"/>
              <a:ext cx="21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    f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4996" y="1360"/>
              <a:ext cx="16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zh-CN" altLang="zh-CN" sz="1300">
                  <a:solidFill>
                    <a:srgbClr val="000000"/>
                  </a:solidFill>
                </a:rPr>
                <a:t>    </a:t>
              </a:r>
              <a:r>
                <a:rPr lang="en-US" altLang="zh-CN" sz="1300">
                  <a:solidFill>
                    <a:srgbClr val="000000"/>
                  </a:solidFill>
                </a:rPr>
                <a:t>T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5048" y="1270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i="1">
                  <a:solidFill>
                    <a:srgbClr val="000000"/>
                  </a:solidFill>
                </a:rPr>
                <a:t> </a:t>
              </a:r>
              <a:endParaRPr lang="zh-CN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5199" y="1363"/>
              <a:ext cx="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endParaRPr lang="zh-CN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4884" y="1553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1300">
                  <a:solidFill>
                    <a:srgbClr val="000000"/>
                  </a:solidFill>
                </a:rPr>
                <a:t> 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4930" y="1464"/>
              <a:ext cx="34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MHz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480" y="124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480" y="124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480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480" y="124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480" y="124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480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487" y="1248"/>
              <a:ext cx="72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9"/>
            <p:cNvSpPr>
              <a:spLocks noChangeShapeType="1"/>
            </p:cNvSpPr>
            <p:nvPr/>
          </p:nvSpPr>
          <p:spPr bwMode="auto">
            <a:xfrm>
              <a:off x="487" y="1248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1210" y="124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1210" y="124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>
              <a:off x="1210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1217" y="1248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4"/>
            <p:cNvSpPr>
              <a:spLocks noChangeShapeType="1"/>
            </p:cNvSpPr>
            <p:nvPr/>
          </p:nvSpPr>
          <p:spPr bwMode="auto">
            <a:xfrm>
              <a:off x="1217" y="1248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1783" y="124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6"/>
            <p:cNvSpPr>
              <a:spLocks noChangeShapeType="1"/>
            </p:cNvSpPr>
            <p:nvPr/>
          </p:nvSpPr>
          <p:spPr bwMode="auto">
            <a:xfrm>
              <a:off x="1783" y="124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7"/>
            <p:cNvSpPr>
              <a:spLocks noChangeShapeType="1"/>
            </p:cNvSpPr>
            <p:nvPr/>
          </p:nvSpPr>
          <p:spPr bwMode="auto">
            <a:xfrm>
              <a:off x="1783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1790" y="1248"/>
              <a:ext cx="64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1790" y="1248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2438" y="124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61"/>
            <p:cNvSpPr>
              <a:spLocks noChangeShapeType="1"/>
            </p:cNvSpPr>
            <p:nvPr/>
          </p:nvSpPr>
          <p:spPr bwMode="auto">
            <a:xfrm>
              <a:off x="2438" y="124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2"/>
            <p:cNvSpPr>
              <a:spLocks noChangeShapeType="1"/>
            </p:cNvSpPr>
            <p:nvPr/>
          </p:nvSpPr>
          <p:spPr bwMode="auto">
            <a:xfrm>
              <a:off x="2438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2445" y="1248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2445" y="1248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3011" y="124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3011" y="124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3011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68"/>
            <p:cNvSpPr>
              <a:spLocks noChangeArrowheads="1"/>
            </p:cNvSpPr>
            <p:nvPr/>
          </p:nvSpPr>
          <p:spPr bwMode="auto">
            <a:xfrm>
              <a:off x="3018" y="1248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3018" y="1248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70"/>
            <p:cNvSpPr>
              <a:spLocks noChangeArrowheads="1"/>
            </p:cNvSpPr>
            <p:nvPr/>
          </p:nvSpPr>
          <p:spPr bwMode="auto">
            <a:xfrm>
              <a:off x="3584" y="124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71"/>
            <p:cNvSpPr>
              <a:spLocks noChangeShapeType="1"/>
            </p:cNvSpPr>
            <p:nvPr/>
          </p:nvSpPr>
          <p:spPr bwMode="auto">
            <a:xfrm>
              <a:off x="3584" y="124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2"/>
            <p:cNvSpPr>
              <a:spLocks noChangeShapeType="1"/>
            </p:cNvSpPr>
            <p:nvPr/>
          </p:nvSpPr>
          <p:spPr bwMode="auto">
            <a:xfrm>
              <a:off x="3584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73"/>
            <p:cNvSpPr>
              <a:spLocks noChangeArrowheads="1"/>
            </p:cNvSpPr>
            <p:nvPr/>
          </p:nvSpPr>
          <p:spPr bwMode="auto">
            <a:xfrm>
              <a:off x="3591" y="1248"/>
              <a:ext cx="59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4"/>
            <p:cNvSpPr>
              <a:spLocks noChangeShapeType="1"/>
            </p:cNvSpPr>
            <p:nvPr/>
          </p:nvSpPr>
          <p:spPr bwMode="auto">
            <a:xfrm>
              <a:off x="3591" y="1248"/>
              <a:ext cx="5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75"/>
            <p:cNvSpPr>
              <a:spLocks noChangeArrowheads="1"/>
            </p:cNvSpPr>
            <p:nvPr/>
          </p:nvSpPr>
          <p:spPr bwMode="auto">
            <a:xfrm>
              <a:off x="4190" y="124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76"/>
            <p:cNvSpPr>
              <a:spLocks noChangeShapeType="1"/>
            </p:cNvSpPr>
            <p:nvPr/>
          </p:nvSpPr>
          <p:spPr bwMode="auto">
            <a:xfrm>
              <a:off x="4190" y="124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7"/>
            <p:cNvSpPr>
              <a:spLocks noChangeShapeType="1"/>
            </p:cNvSpPr>
            <p:nvPr/>
          </p:nvSpPr>
          <p:spPr bwMode="auto">
            <a:xfrm>
              <a:off x="4190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Rectangle 78"/>
            <p:cNvSpPr>
              <a:spLocks noChangeArrowheads="1"/>
            </p:cNvSpPr>
            <p:nvPr/>
          </p:nvSpPr>
          <p:spPr bwMode="auto">
            <a:xfrm>
              <a:off x="4197" y="1248"/>
              <a:ext cx="612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9"/>
            <p:cNvSpPr>
              <a:spLocks noChangeShapeType="1"/>
            </p:cNvSpPr>
            <p:nvPr/>
          </p:nvSpPr>
          <p:spPr bwMode="auto">
            <a:xfrm>
              <a:off x="4197" y="1248"/>
              <a:ext cx="6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80"/>
            <p:cNvSpPr>
              <a:spLocks noChangeArrowheads="1"/>
            </p:cNvSpPr>
            <p:nvPr/>
          </p:nvSpPr>
          <p:spPr bwMode="auto">
            <a:xfrm>
              <a:off x="4809" y="1248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81"/>
            <p:cNvSpPr>
              <a:spLocks noChangeShapeType="1"/>
            </p:cNvSpPr>
            <p:nvPr/>
          </p:nvSpPr>
          <p:spPr bwMode="auto">
            <a:xfrm>
              <a:off x="4809" y="1248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82"/>
            <p:cNvSpPr>
              <a:spLocks noChangeShapeType="1"/>
            </p:cNvSpPr>
            <p:nvPr/>
          </p:nvSpPr>
          <p:spPr bwMode="auto">
            <a:xfrm>
              <a:off x="4809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83"/>
            <p:cNvSpPr>
              <a:spLocks noChangeArrowheads="1"/>
            </p:cNvSpPr>
            <p:nvPr/>
          </p:nvSpPr>
          <p:spPr bwMode="auto">
            <a:xfrm>
              <a:off x="4815" y="1248"/>
              <a:ext cx="61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4"/>
            <p:cNvSpPr>
              <a:spLocks noChangeShapeType="1"/>
            </p:cNvSpPr>
            <p:nvPr/>
          </p:nvSpPr>
          <p:spPr bwMode="auto">
            <a:xfrm>
              <a:off x="4815" y="1248"/>
              <a:ext cx="6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Rectangle 85"/>
            <p:cNvSpPr>
              <a:spLocks noChangeArrowheads="1"/>
            </p:cNvSpPr>
            <p:nvPr/>
          </p:nvSpPr>
          <p:spPr bwMode="auto">
            <a:xfrm>
              <a:off x="5428" y="1248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86"/>
            <p:cNvSpPr>
              <a:spLocks noChangeShapeType="1"/>
            </p:cNvSpPr>
            <p:nvPr/>
          </p:nvSpPr>
          <p:spPr bwMode="auto">
            <a:xfrm>
              <a:off x="5428" y="1248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7"/>
            <p:cNvSpPr>
              <a:spLocks noChangeShapeType="1"/>
            </p:cNvSpPr>
            <p:nvPr/>
          </p:nvSpPr>
          <p:spPr bwMode="auto">
            <a:xfrm>
              <a:off x="5428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Rectangle 88"/>
            <p:cNvSpPr>
              <a:spLocks noChangeArrowheads="1"/>
            </p:cNvSpPr>
            <p:nvPr/>
          </p:nvSpPr>
          <p:spPr bwMode="auto">
            <a:xfrm>
              <a:off x="5428" y="1248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9"/>
            <p:cNvSpPr>
              <a:spLocks noChangeShapeType="1"/>
            </p:cNvSpPr>
            <p:nvPr/>
          </p:nvSpPr>
          <p:spPr bwMode="auto">
            <a:xfrm>
              <a:off x="5428" y="1248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90"/>
            <p:cNvSpPr>
              <a:spLocks noChangeShapeType="1"/>
            </p:cNvSpPr>
            <p:nvPr/>
          </p:nvSpPr>
          <p:spPr bwMode="auto">
            <a:xfrm>
              <a:off x="5428" y="124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91"/>
            <p:cNvSpPr>
              <a:spLocks noChangeArrowheads="1"/>
            </p:cNvSpPr>
            <p:nvPr/>
          </p:nvSpPr>
          <p:spPr bwMode="auto">
            <a:xfrm>
              <a:off x="480" y="1255"/>
              <a:ext cx="7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92"/>
            <p:cNvSpPr>
              <a:spLocks noChangeShapeType="1"/>
            </p:cNvSpPr>
            <p:nvPr/>
          </p:nvSpPr>
          <p:spPr bwMode="auto">
            <a:xfrm>
              <a:off x="480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Rectangle 93"/>
            <p:cNvSpPr>
              <a:spLocks noChangeArrowheads="1"/>
            </p:cNvSpPr>
            <p:nvPr/>
          </p:nvSpPr>
          <p:spPr bwMode="auto">
            <a:xfrm>
              <a:off x="1210" y="1255"/>
              <a:ext cx="7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94"/>
            <p:cNvSpPr>
              <a:spLocks noChangeShapeType="1"/>
            </p:cNvSpPr>
            <p:nvPr/>
          </p:nvSpPr>
          <p:spPr bwMode="auto">
            <a:xfrm>
              <a:off x="1210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Rectangle 95"/>
            <p:cNvSpPr>
              <a:spLocks noChangeArrowheads="1"/>
            </p:cNvSpPr>
            <p:nvPr/>
          </p:nvSpPr>
          <p:spPr bwMode="auto">
            <a:xfrm>
              <a:off x="1783" y="1255"/>
              <a:ext cx="7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96"/>
            <p:cNvSpPr>
              <a:spLocks noChangeShapeType="1"/>
            </p:cNvSpPr>
            <p:nvPr/>
          </p:nvSpPr>
          <p:spPr bwMode="auto">
            <a:xfrm>
              <a:off x="1783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Rectangle 97"/>
            <p:cNvSpPr>
              <a:spLocks noChangeArrowheads="1"/>
            </p:cNvSpPr>
            <p:nvPr/>
          </p:nvSpPr>
          <p:spPr bwMode="auto">
            <a:xfrm>
              <a:off x="2438" y="1255"/>
              <a:ext cx="7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98"/>
            <p:cNvSpPr>
              <a:spLocks noChangeShapeType="1"/>
            </p:cNvSpPr>
            <p:nvPr/>
          </p:nvSpPr>
          <p:spPr bwMode="auto">
            <a:xfrm>
              <a:off x="2438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Rectangle 99"/>
            <p:cNvSpPr>
              <a:spLocks noChangeArrowheads="1"/>
            </p:cNvSpPr>
            <p:nvPr/>
          </p:nvSpPr>
          <p:spPr bwMode="auto">
            <a:xfrm>
              <a:off x="3011" y="1255"/>
              <a:ext cx="7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00"/>
            <p:cNvSpPr>
              <a:spLocks noChangeShapeType="1"/>
            </p:cNvSpPr>
            <p:nvPr/>
          </p:nvSpPr>
          <p:spPr bwMode="auto">
            <a:xfrm>
              <a:off x="3011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Rectangle 101"/>
            <p:cNvSpPr>
              <a:spLocks noChangeArrowheads="1"/>
            </p:cNvSpPr>
            <p:nvPr/>
          </p:nvSpPr>
          <p:spPr bwMode="auto">
            <a:xfrm>
              <a:off x="3584" y="1255"/>
              <a:ext cx="7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02"/>
            <p:cNvSpPr>
              <a:spLocks noChangeShapeType="1"/>
            </p:cNvSpPr>
            <p:nvPr/>
          </p:nvSpPr>
          <p:spPr bwMode="auto">
            <a:xfrm>
              <a:off x="3584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03"/>
            <p:cNvSpPr>
              <a:spLocks noChangeArrowheads="1"/>
            </p:cNvSpPr>
            <p:nvPr/>
          </p:nvSpPr>
          <p:spPr bwMode="auto">
            <a:xfrm>
              <a:off x="4190" y="1255"/>
              <a:ext cx="7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04"/>
            <p:cNvSpPr>
              <a:spLocks noChangeShapeType="1"/>
            </p:cNvSpPr>
            <p:nvPr/>
          </p:nvSpPr>
          <p:spPr bwMode="auto">
            <a:xfrm>
              <a:off x="4190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Rectangle 105"/>
            <p:cNvSpPr>
              <a:spLocks noChangeArrowheads="1"/>
            </p:cNvSpPr>
            <p:nvPr/>
          </p:nvSpPr>
          <p:spPr bwMode="auto">
            <a:xfrm>
              <a:off x="4809" y="1255"/>
              <a:ext cx="6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06"/>
            <p:cNvSpPr>
              <a:spLocks noChangeShapeType="1"/>
            </p:cNvSpPr>
            <p:nvPr/>
          </p:nvSpPr>
          <p:spPr bwMode="auto">
            <a:xfrm>
              <a:off x="4809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Rectangle 107"/>
            <p:cNvSpPr>
              <a:spLocks noChangeArrowheads="1"/>
            </p:cNvSpPr>
            <p:nvPr/>
          </p:nvSpPr>
          <p:spPr bwMode="auto">
            <a:xfrm>
              <a:off x="5428" y="1255"/>
              <a:ext cx="6" cy="4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08"/>
            <p:cNvSpPr>
              <a:spLocks noChangeShapeType="1"/>
            </p:cNvSpPr>
            <p:nvPr/>
          </p:nvSpPr>
          <p:spPr bwMode="auto">
            <a:xfrm>
              <a:off x="5428" y="1255"/>
              <a:ext cx="1" cy="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Rectangle 109"/>
            <p:cNvSpPr>
              <a:spLocks noChangeArrowheads="1"/>
            </p:cNvSpPr>
            <p:nvPr/>
          </p:nvSpPr>
          <p:spPr bwMode="auto">
            <a:xfrm>
              <a:off x="559" y="1709"/>
              <a:ext cx="61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b="1">
                  <a:solidFill>
                    <a:srgbClr val="FF0000"/>
                  </a:solidFill>
                </a:rPr>
                <a:t>3AX31D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09" name="Rectangle 110"/>
            <p:cNvSpPr>
              <a:spLocks noChangeArrowheads="1"/>
            </p:cNvSpPr>
            <p:nvPr/>
          </p:nvSpPr>
          <p:spPr bwMode="auto">
            <a:xfrm>
              <a:off x="1289" y="1683"/>
              <a:ext cx="29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125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0" name="Rectangle 111"/>
            <p:cNvSpPr>
              <a:spLocks noChangeArrowheads="1"/>
            </p:cNvSpPr>
            <p:nvPr/>
          </p:nvSpPr>
          <p:spPr bwMode="auto">
            <a:xfrm>
              <a:off x="1862" y="1683"/>
              <a:ext cx="29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125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1" name="Rectangle 112"/>
            <p:cNvSpPr>
              <a:spLocks noChangeArrowheads="1"/>
            </p:cNvSpPr>
            <p:nvPr/>
          </p:nvSpPr>
          <p:spPr bwMode="auto">
            <a:xfrm>
              <a:off x="2517" y="1683"/>
              <a:ext cx="21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20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2" name="Rectangle 113"/>
            <p:cNvSpPr>
              <a:spLocks noChangeArrowheads="1"/>
            </p:cNvSpPr>
            <p:nvPr/>
          </p:nvSpPr>
          <p:spPr bwMode="auto">
            <a:xfrm>
              <a:off x="3090" y="1683"/>
              <a:ext cx="21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12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3" name="Rectangle 114"/>
            <p:cNvSpPr>
              <a:spLocks noChangeArrowheads="1"/>
            </p:cNvSpPr>
            <p:nvPr/>
          </p:nvSpPr>
          <p:spPr bwMode="auto">
            <a:xfrm>
              <a:off x="4269" y="1709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≤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4" name="Rectangle 115"/>
            <p:cNvSpPr>
              <a:spLocks noChangeArrowheads="1"/>
            </p:cNvSpPr>
            <p:nvPr/>
          </p:nvSpPr>
          <p:spPr bwMode="auto">
            <a:xfrm>
              <a:off x="4413" y="170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6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5" name="Rectangle 116"/>
            <p:cNvSpPr>
              <a:spLocks noChangeArrowheads="1"/>
            </p:cNvSpPr>
            <p:nvPr/>
          </p:nvSpPr>
          <p:spPr bwMode="auto">
            <a:xfrm>
              <a:off x="4884" y="1709"/>
              <a:ext cx="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endParaRPr lang="zh-CN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6" name="Rectangle 117"/>
            <p:cNvSpPr>
              <a:spLocks noChangeArrowheads="1"/>
            </p:cNvSpPr>
            <p:nvPr/>
          </p:nvSpPr>
          <p:spPr bwMode="auto">
            <a:xfrm>
              <a:off x="4956" y="1709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*≥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7" name="Rectangle 118"/>
            <p:cNvSpPr>
              <a:spLocks noChangeArrowheads="1"/>
            </p:cNvSpPr>
            <p:nvPr/>
          </p:nvSpPr>
          <p:spPr bwMode="auto">
            <a:xfrm>
              <a:off x="5100" y="1702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</a:rPr>
                <a:t>    8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18" name="Rectangle 119"/>
            <p:cNvSpPr>
              <a:spLocks noChangeArrowheads="1"/>
            </p:cNvSpPr>
            <p:nvPr/>
          </p:nvSpPr>
          <p:spPr bwMode="auto">
            <a:xfrm>
              <a:off x="480" y="1679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20"/>
            <p:cNvSpPr>
              <a:spLocks noChangeShapeType="1"/>
            </p:cNvSpPr>
            <p:nvPr/>
          </p:nvSpPr>
          <p:spPr bwMode="auto">
            <a:xfrm>
              <a:off x="480" y="167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21"/>
            <p:cNvSpPr>
              <a:spLocks noChangeShapeType="1"/>
            </p:cNvSpPr>
            <p:nvPr/>
          </p:nvSpPr>
          <p:spPr bwMode="auto">
            <a:xfrm>
              <a:off x="480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Rectangle 122"/>
            <p:cNvSpPr>
              <a:spLocks noChangeArrowheads="1"/>
            </p:cNvSpPr>
            <p:nvPr/>
          </p:nvSpPr>
          <p:spPr bwMode="auto">
            <a:xfrm>
              <a:off x="487" y="1679"/>
              <a:ext cx="72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23"/>
            <p:cNvSpPr>
              <a:spLocks noChangeShapeType="1"/>
            </p:cNvSpPr>
            <p:nvPr/>
          </p:nvSpPr>
          <p:spPr bwMode="auto">
            <a:xfrm>
              <a:off x="487" y="1679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Rectangle 124"/>
            <p:cNvSpPr>
              <a:spLocks noChangeArrowheads="1"/>
            </p:cNvSpPr>
            <p:nvPr/>
          </p:nvSpPr>
          <p:spPr bwMode="auto">
            <a:xfrm>
              <a:off x="1210" y="1679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25"/>
            <p:cNvSpPr>
              <a:spLocks noChangeShapeType="1"/>
            </p:cNvSpPr>
            <p:nvPr/>
          </p:nvSpPr>
          <p:spPr bwMode="auto">
            <a:xfrm>
              <a:off x="1210" y="167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26"/>
            <p:cNvSpPr>
              <a:spLocks noChangeShapeType="1"/>
            </p:cNvSpPr>
            <p:nvPr/>
          </p:nvSpPr>
          <p:spPr bwMode="auto">
            <a:xfrm>
              <a:off x="1210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Rectangle 127"/>
            <p:cNvSpPr>
              <a:spLocks noChangeArrowheads="1"/>
            </p:cNvSpPr>
            <p:nvPr/>
          </p:nvSpPr>
          <p:spPr bwMode="auto">
            <a:xfrm>
              <a:off x="1217" y="1679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28"/>
            <p:cNvSpPr>
              <a:spLocks noChangeShapeType="1"/>
            </p:cNvSpPr>
            <p:nvPr/>
          </p:nvSpPr>
          <p:spPr bwMode="auto">
            <a:xfrm>
              <a:off x="1217" y="1679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Rectangle 129"/>
            <p:cNvSpPr>
              <a:spLocks noChangeArrowheads="1"/>
            </p:cNvSpPr>
            <p:nvPr/>
          </p:nvSpPr>
          <p:spPr bwMode="auto">
            <a:xfrm>
              <a:off x="1783" y="1679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130"/>
            <p:cNvSpPr>
              <a:spLocks noChangeShapeType="1"/>
            </p:cNvSpPr>
            <p:nvPr/>
          </p:nvSpPr>
          <p:spPr bwMode="auto">
            <a:xfrm>
              <a:off x="1783" y="167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31"/>
            <p:cNvSpPr>
              <a:spLocks noChangeShapeType="1"/>
            </p:cNvSpPr>
            <p:nvPr/>
          </p:nvSpPr>
          <p:spPr bwMode="auto">
            <a:xfrm>
              <a:off x="1783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Rectangle 132"/>
            <p:cNvSpPr>
              <a:spLocks noChangeArrowheads="1"/>
            </p:cNvSpPr>
            <p:nvPr/>
          </p:nvSpPr>
          <p:spPr bwMode="auto">
            <a:xfrm>
              <a:off x="1790" y="1679"/>
              <a:ext cx="648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133"/>
            <p:cNvSpPr>
              <a:spLocks noChangeShapeType="1"/>
            </p:cNvSpPr>
            <p:nvPr/>
          </p:nvSpPr>
          <p:spPr bwMode="auto">
            <a:xfrm>
              <a:off x="1790" y="1679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Rectangle 134"/>
            <p:cNvSpPr>
              <a:spLocks noChangeArrowheads="1"/>
            </p:cNvSpPr>
            <p:nvPr/>
          </p:nvSpPr>
          <p:spPr bwMode="auto">
            <a:xfrm>
              <a:off x="2438" y="1679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135"/>
            <p:cNvSpPr>
              <a:spLocks noChangeShapeType="1"/>
            </p:cNvSpPr>
            <p:nvPr/>
          </p:nvSpPr>
          <p:spPr bwMode="auto">
            <a:xfrm>
              <a:off x="2438" y="167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36"/>
            <p:cNvSpPr>
              <a:spLocks noChangeShapeType="1"/>
            </p:cNvSpPr>
            <p:nvPr/>
          </p:nvSpPr>
          <p:spPr bwMode="auto">
            <a:xfrm>
              <a:off x="2438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Rectangle 137"/>
            <p:cNvSpPr>
              <a:spLocks noChangeArrowheads="1"/>
            </p:cNvSpPr>
            <p:nvPr/>
          </p:nvSpPr>
          <p:spPr bwMode="auto">
            <a:xfrm>
              <a:off x="2445" y="1679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38"/>
            <p:cNvSpPr>
              <a:spLocks noChangeShapeType="1"/>
            </p:cNvSpPr>
            <p:nvPr/>
          </p:nvSpPr>
          <p:spPr bwMode="auto">
            <a:xfrm>
              <a:off x="2445" y="1679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Rectangle 139"/>
            <p:cNvSpPr>
              <a:spLocks noChangeArrowheads="1"/>
            </p:cNvSpPr>
            <p:nvPr/>
          </p:nvSpPr>
          <p:spPr bwMode="auto">
            <a:xfrm>
              <a:off x="3011" y="1679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140"/>
            <p:cNvSpPr>
              <a:spLocks noChangeShapeType="1"/>
            </p:cNvSpPr>
            <p:nvPr/>
          </p:nvSpPr>
          <p:spPr bwMode="auto">
            <a:xfrm>
              <a:off x="3011" y="167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141"/>
            <p:cNvSpPr>
              <a:spLocks noChangeShapeType="1"/>
            </p:cNvSpPr>
            <p:nvPr/>
          </p:nvSpPr>
          <p:spPr bwMode="auto">
            <a:xfrm>
              <a:off x="3011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Rectangle 142"/>
            <p:cNvSpPr>
              <a:spLocks noChangeArrowheads="1"/>
            </p:cNvSpPr>
            <p:nvPr/>
          </p:nvSpPr>
          <p:spPr bwMode="auto">
            <a:xfrm>
              <a:off x="3018" y="1679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43"/>
            <p:cNvSpPr>
              <a:spLocks noChangeShapeType="1"/>
            </p:cNvSpPr>
            <p:nvPr/>
          </p:nvSpPr>
          <p:spPr bwMode="auto">
            <a:xfrm>
              <a:off x="3018" y="1679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Rectangle 144"/>
            <p:cNvSpPr>
              <a:spLocks noChangeArrowheads="1"/>
            </p:cNvSpPr>
            <p:nvPr/>
          </p:nvSpPr>
          <p:spPr bwMode="auto">
            <a:xfrm>
              <a:off x="3584" y="1679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145"/>
            <p:cNvSpPr>
              <a:spLocks noChangeShapeType="1"/>
            </p:cNvSpPr>
            <p:nvPr/>
          </p:nvSpPr>
          <p:spPr bwMode="auto">
            <a:xfrm>
              <a:off x="3584" y="167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146"/>
            <p:cNvSpPr>
              <a:spLocks noChangeShapeType="1"/>
            </p:cNvSpPr>
            <p:nvPr/>
          </p:nvSpPr>
          <p:spPr bwMode="auto">
            <a:xfrm>
              <a:off x="3584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Rectangle 147"/>
            <p:cNvSpPr>
              <a:spLocks noChangeArrowheads="1"/>
            </p:cNvSpPr>
            <p:nvPr/>
          </p:nvSpPr>
          <p:spPr bwMode="auto">
            <a:xfrm>
              <a:off x="3591" y="1679"/>
              <a:ext cx="59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148"/>
            <p:cNvSpPr>
              <a:spLocks noChangeShapeType="1"/>
            </p:cNvSpPr>
            <p:nvPr/>
          </p:nvSpPr>
          <p:spPr bwMode="auto">
            <a:xfrm>
              <a:off x="3591" y="1679"/>
              <a:ext cx="5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Rectangle 149"/>
            <p:cNvSpPr>
              <a:spLocks noChangeArrowheads="1"/>
            </p:cNvSpPr>
            <p:nvPr/>
          </p:nvSpPr>
          <p:spPr bwMode="auto">
            <a:xfrm>
              <a:off x="4190" y="1679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150"/>
            <p:cNvSpPr>
              <a:spLocks noChangeShapeType="1"/>
            </p:cNvSpPr>
            <p:nvPr/>
          </p:nvSpPr>
          <p:spPr bwMode="auto">
            <a:xfrm>
              <a:off x="4190" y="167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151"/>
            <p:cNvSpPr>
              <a:spLocks noChangeShapeType="1"/>
            </p:cNvSpPr>
            <p:nvPr/>
          </p:nvSpPr>
          <p:spPr bwMode="auto">
            <a:xfrm>
              <a:off x="4190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Rectangle 152"/>
            <p:cNvSpPr>
              <a:spLocks noChangeArrowheads="1"/>
            </p:cNvSpPr>
            <p:nvPr/>
          </p:nvSpPr>
          <p:spPr bwMode="auto">
            <a:xfrm>
              <a:off x="4197" y="1679"/>
              <a:ext cx="612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153"/>
            <p:cNvSpPr>
              <a:spLocks noChangeShapeType="1"/>
            </p:cNvSpPr>
            <p:nvPr/>
          </p:nvSpPr>
          <p:spPr bwMode="auto">
            <a:xfrm>
              <a:off x="4197" y="1679"/>
              <a:ext cx="6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Rectangle 154"/>
            <p:cNvSpPr>
              <a:spLocks noChangeArrowheads="1"/>
            </p:cNvSpPr>
            <p:nvPr/>
          </p:nvSpPr>
          <p:spPr bwMode="auto">
            <a:xfrm>
              <a:off x="4809" y="1679"/>
              <a:ext cx="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55"/>
            <p:cNvSpPr>
              <a:spLocks noChangeShapeType="1"/>
            </p:cNvSpPr>
            <p:nvPr/>
          </p:nvSpPr>
          <p:spPr bwMode="auto">
            <a:xfrm>
              <a:off x="4809" y="1679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56"/>
            <p:cNvSpPr>
              <a:spLocks noChangeShapeType="1"/>
            </p:cNvSpPr>
            <p:nvPr/>
          </p:nvSpPr>
          <p:spPr bwMode="auto">
            <a:xfrm>
              <a:off x="4809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Rectangle 157"/>
            <p:cNvSpPr>
              <a:spLocks noChangeArrowheads="1"/>
            </p:cNvSpPr>
            <p:nvPr/>
          </p:nvSpPr>
          <p:spPr bwMode="auto">
            <a:xfrm>
              <a:off x="4815" y="1679"/>
              <a:ext cx="61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158"/>
            <p:cNvSpPr>
              <a:spLocks noChangeShapeType="1"/>
            </p:cNvSpPr>
            <p:nvPr/>
          </p:nvSpPr>
          <p:spPr bwMode="auto">
            <a:xfrm>
              <a:off x="4815" y="1679"/>
              <a:ext cx="6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Rectangle 159"/>
            <p:cNvSpPr>
              <a:spLocks noChangeArrowheads="1"/>
            </p:cNvSpPr>
            <p:nvPr/>
          </p:nvSpPr>
          <p:spPr bwMode="auto">
            <a:xfrm>
              <a:off x="5428" y="1679"/>
              <a:ext cx="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160"/>
            <p:cNvSpPr>
              <a:spLocks noChangeShapeType="1"/>
            </p:cNvSpPr>
            <p:nvPr/>
          </p:nvSpPr>
          <p:spPr bwMode="auto">
            <a:xfrm>
              <a:off x="5428" y="1679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161"/>
            <p:cNvSpPr>
              <a:spLocks noChangeShapeType="1"/>
            </p:cNvSpPr>
            <p:nvPr/>
          </p:nvSpPr>
          <p:spPr bwMode="auto">
            <a:xfrm>
              <a:off x="5428" y="1679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Rectangle 162"/>
            <p:cNvSpPr>
              <a:spLocks noChangeArrowheads="1"/>
            </p:cNvSpPr>
            <p:nvPr/>
          </p:nvSpPr>
          <p:spPr bwMode="auto">
            <a:xfrm>
              <a:off x="480" y="1687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163"/>
            <p:cNvSpPr>
              <a:spLocks noChangeShapeType="1"/>
            </p:cNvSpPr>
            <p:nvPr/>
          </p:nvSpPr>
          <p:spPr bwMode="auto">
            <a:xfrm>
              <a:off x="480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Rectangle 164"/>
            <p:cNvSpPr>
              <a:spLocks noChangeArrowheads="1"/>
            </p:cNvSpPr>
            <p:nvPr/>
          </p:nvSpPr>
          <p:spPr bwMode="auto">
            <a:xfrm>
              <a:off x="1210" y="1687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165"/>
            <p:cNvSpPr>
              <a:spLocks noChangeShapeType="1"/>
            </p:cNvSpPr>
            <p:nvPr/>
          </p:nvSpPr>
          <p:spPr bwMode="auto">
            <a:xfrm>
              <a:off x="1210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Rectangle 166"/>
            <p:cNvSpPr>
              <a:spLocks noChangeArrowheads="1"/>
            </p:cNvSpPr>
            <p:nvPr/>
          </p:nvSpPr>
          <p:spPr bwMode="auto">
            <a:xfrm>
              <a:off x="1783" y="1687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167"/>
            <p:cNvSpPr>
              <a:spLocks noChangeShapeType="1"/>
            </p:cNvSpPr>
            <p:nvPr/>
          </p:nvSpPr>
          <p:spPr bwMode="auto">
            <a:xfrm>
              <a:off x="1783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Rectangle 168"/>
            <p:cNvSpPr>
              <a:spLocks noChangeArrowheads="1"/>
            </p:cNvSpPr>
            <p:nvPr/>
          </p:nvSpPr>
          <p:spPr bwMode="auto">
            <a:xfrm>
              <a:off x="2438" y="1687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169"/>
            <p:cNvSpPr>
              <a:spLocks noChangeShapeType="1"/>
            </p:cNvSpPr>
            <p:nvPr/>
          </p:nvSpPr>
          <p:spPr bwMode="auto">
            <a:xfrm>
              <a:off x="2438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Rectangle 170"/>
            <p:cNvSpPr>
              <a:spLocks noChangeArrowheads="1"/>
            </p:cNvSpPr>
            <p:nvPr/>
          </p:nvSpPr>
          <p:spPr bwMode="auto">
            <a:xfrm>
              <a:off x="3011" y="1687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171"/>
            <p:cNvSpPr>
              <a:spLocks noChangeShapeType="1"/>
            </p:cNvSpPr>
            <p:nvPr/>
          </p:nvSpPr>
          <p:spPr bwMode="auto">
            <a:xfrm>
              <a:off x="3011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Rectangle 172"/>
            <p:cNvSpPr>
              <a:spLocks noChangeArrowheads="1"/>
            </p:cNvSpPr>
            <p:nvPr/>
          </p:nvSpPr>
          <p:spPr bwMode="auto">
            <a:xfrm>
              <a:off x="3584" y="1687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173"/>
            <p:cNvSpPr>
              <a:spLocks noChangeShapeType="1"/>
            </p:cNvSpPr>
            <p:nvPr/>
          </p:nvSpPr>
          <p:spPr bwMode="auto">
            <a:xfrm>
              <a:off x="3584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Rectangle 174"/>
            <p:cNvSpPr>
              <a:spLocks noChangeArrowheads="1"/>
            </p:cNvSpPr>
            <p:nvPr/>
          </p:nvSpPr>
          <p:spPr bwMode="auto">
            <a:xfrm>
              <a:off x="4190" y="1687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75"/>
            <p:cNvSpPr>
              <a:spLocks noChangeShapeType="1"/>
            </p:cNvSpPr>
            <p:nvPr/>
          </p:nvSpPr>
          <p:spPr bwMode="auto">
            <a:xfrm>
              <a:off x="4190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Rectangle 176"/>
            <p:cNvSpPr>
              <a:spLocks noChangeArrowheads="1"/>
            </p:cNvSpPr>
            <p:nvPr/>
          </p:nvSpPr>
          <p:spPr bwMode="auto">
            <a:xfrm>
              <a:off x="4809" y="1687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77"/>
            <p:cNvSpPr>
              <a:spLocks noChangeShapeType="1"/>
            </p:cNvSpPr>
            <p:nvPr/>
          </p:nvSpPr>
          <p:spPr bwMode="auto">
            <a:xfrm>
              <a:off x="4809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Rectangle 178"/>
            <p:cNvSpPr>
              <a:spLocks noChangeArrowheads="1"/>
            </p:cNvSpPr>
            <p:nvPr/>
          </p:nvSpPr>
          <p:spPr bwMode="auto">
            <a:xfrm>
              <a:off x="5428" y="1687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79"/>
            <p:cNvSpPr>
              <a:spLocks noChangeShapeType="1"/>
            </p:cNvSpPr>
            <p:nvPr/>
          </p:nvSpPr>
          <p:spPr bwMode="auto">
            <a:xfrm>
              <a:off x="5428" y="1687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Rectangle 180"/>
            <p:cNvSpPr>
              <a:spLocks noChangeArrowheads="1"/>
            </p:cNvSpPr>
            <p:nvPr/>
          </p:nvSpPr>
          <p:spPr bwMode="auto">
            <a:xfrm>
              <a:off x="559" y="1928"/>
              <a:ext cx="60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b="1">
                  <a:solidFill>
                    <a:srgbClr val="FF0000"/>
                  </a:solidFill>
                </a:rPr>
                <a:t>3BX31C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0" name="Rectangle 181"/>
            <p:cNvSpPr>
              <a:spLocks noChangeArrowheads="1"/>
            </p:cNvSpPr>
            <p:nvPr/>
          </p:nvSpPr>
          <p:spPr bwMode="auto">
            <a:xfrm>
              <a:off x="1289" y="1928"/>
              <a:ext cx="33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125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1" name="Rectangle 182"/>
            <p:cNvSpPr>
              <a:spLocks noChangeArrowheads="1"/>
            </p:cNvSpPr>
            <p:nvPr/>
          </p:nvSpPr>
          <p:spPr bwMode="auto">
            <a:xfrm>
              <a:off x="1862" y="1928"/>
              <a:ext cx="33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125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2" name="Rectangle 183"/>
            <p:cNvSpPr>
              <a:spLocks noChangeArrowheads="1"/>
            </p:cNvSpPr>
            <p:nvPr/>
          </p:nvSpPr>
          <p:spPr bwMode="auto">
            <a:xfrm>
              <a:off x="2517" y="1928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40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3" name="Rectangle 184"/>
            <p:cNvSpPr>
              <a:spLocks noChangeArrowheads="1"/>
            </p:cNvSpPr>
            <p:nvPr/>
          </p:nvSpPr>
          <p:spPr bwMode="auto">
            <a:xfrm>
              <a:off x="3090" y="1928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24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4" name="Rectangle 185"/>
            <p:cNvSpPr>
              <a:spLocks noChangeArrowheads="1"/>
            </p:cNvSpPr>
            <p:nvPr/>
          </p:nvSpPr>
          <p:spPr bwMode="auto">
            <a:xfrm>
              <a:off x="4269" y="1928"/>
              <a:ext cx="16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≤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5" name="Rectangle 186"/>
            <p:cNvSpPr>
              <a:spLocks noChangeArrowheads="1"/>
            </p:cNvSpPr>
            <p:nvPr/>
          </p:nvSpPr>
          <p:spPr bwMode="auto">
            <a:xfrm>
              <a:off x="4413" y="1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6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6" name="Rectangle 187"/>
            <p:cNvSpPr>
              <a:spLocks noChangeArrowheads="1"/>
            </p:cNvSpPr>
            <p:nvPr/>
          </p:nvSpPr>
          <p:spPr bwMode="auto">
            <a:xfrm>
              <a:off x="4884" y="1921"/>
              <a:ext cx="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endParaRPr lang="zh-CN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7" name="Rectangle 188"/>
            <p:cNvSpPr>
              <a:spLocks noChangeArrowheads="1"/>
            </p:cNvSpPr>
            <p:nvPr/>
          </p:nvSpPr>
          <p:spPr bwMode="auto">
            <a:xfrm>
              <a:off x="4923" y="1928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*≥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8" name="Rectangle 189"/>
            <p:cNvSpPr>
              <a:spLocks noChangeArrowheads="1"/>
            </p:cNvSpPr>
            <p:nvPr/>
          </p:nvSpPr>
          <p:spPr bwMode="auto">
            <a:xfrm>
              <a:off x="5068" y="1928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 8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89" name="Rectangle 190"/>
            <p:cNvSpPr>
              <a:spLocks noChangeArrowheads="1"/>
            </p:cNvSpPr>
            <p:nvPr/>
          </p:nvSpPr>
          <p:spPr bwMode="auto">
            <a:xfrm>
              <a:off x="480" y="1899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191"/>
            <p:cNvSpPr>
              <a:spLocks noChangeShapeType="1"/>
            </p:cNvSpPr>
            <p:nvPr/>
          </p:nvSpPr>
          <p:spPr bwMode="auto">
            <a:xfrm>
              <a:off x="480" y="189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192"/>
            <p:cNvSpPr>
              <a:spLocks noChangeShapeType="1"/>
            </p:cNvSpPr>
            <p:nvPr/>
          </p:nvSpPr>
          <p:spPr bwMode="auto">
            <a:xfrm>
              <a:off x="480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Rectangle 193"/>
            <p:cNvSpPr>
              <a:spLocks noChangeArrowheads="1"/>
            </p:cNvSpPr>
            <p:nvPr/>
          </p:nvSpPr>
          <p:spPr bwMode="auto">
            <a:xfrm>
              <a:off x="487" y="1899"/>
              <a:ext cx="72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194"/>
            <p:cNvSpPr>
              <a:spLocks noChangeShapeType="1"/>
            </p:cNvSpPr>
            <p:nvPr/>
          </p:nvSpPr>
          <p:spPr bwMode="auto">
            <a:xfrm>
              <a:off x="487" y="1899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Rectangle 195"/>
            <p:cNvSpPr>
              <a:spLocks noChangeArrowheads="1"/>
            </p:cNvSpPr>
            <p:nvPr/>
          </p:nvSpPr>
          <p:spPr bwMode="auto">
            <a:xfrm>
              <a:off x="1210" y="1899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196"/>
            <p:cNvSpPr>
              <a:spLocks noChangeShapeType="1"/>
            </p:cNvSpPr>
            <p:nvPr/>
          </p:nvSpPr>
          <p:spPr bwMode="auto">
            <a:xfrm>
              <a:off x="1210" y="189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197"/>
            <p:cNvSpPr>
              <a:spLocks noChangeShapeType="1"/>
            </p:cNvSpPr>
            <p:nvPr/>
          </p:nvSpPr>
          <p:spPr bwMode="auto">
            <a:xfrm>
              <a:off x="1210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Rectangle 198"/>
            <p:cNvSpPr>
              <a:spLocks noChangeArrowheads="1"/>
            </p:cNvSpPr>
            <p:nvPr/>
          </p:nvSpPr>
          <p:spPr bwMode="auto">
            <a:xfrm>
              <a:off x="1217" y="1899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199"/>
            <p:cNvSpPr>
              <a:spLocks noChangeShapeType="1"/>
            </p:cNvSpPr>
            <p:nvPr/>
          </p:nvSpPr>
          <p:spPr bwMode="auto">
            <a:xfrm>
              <a:off x="1217" y="1899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Rectangle 200"/>
            <p:cNvSpPr>
              <a:spLocks noChangeArrowheads="1"/>
            </p:cNvSpPr>
            <p:nvPr/>
          </p:nvSpPr>
          <p:spPr bwMode="auto">
            <a:xfrm>
              <a:off x="1783" y="1899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201"/>
            <p:cNvSpPr>
              <a:spLocks noChangeShapeType="1"/>
            </p:cNvSpPr>
            <p:nvPr/>
          </p:nvSpPr>
          <p:spPr bwMode="auto">
            <a:xfrm>
              <a:off x="1783" y="189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202"/>
            <p:cNvSpPr>
              <a:spLocks noChangeShapeType="1"/>
            </p:cNvSpPr>
            <p:nvPr/>
          </p:nvSpPr>
          <p:spPr bwMode="auto">
            <a:xfrm>
              <a:off x="1783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Rectangle 203"/>
            <p:cNvSpPr>
              <a:spLocks noChangeArrowheads="1"/>
            </p:cNvSpPr>
            <p:nvPr/>
          </p:nvSpPr>
          <p:spPr bwMode="auto">
            <a:xfrm>
              <a:off x="1790" y="1899"/>
              <a:ext cx="64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3" name="Group 204"/>
          <p:cNvGrpSpPr/>
          <p:nvPr/>
        </p:nvGrpSpPr>
        <p:grpSpPr bwMode="auto">
          <a:xfrm>
            <a:off x="2163762" y="3028950"/>
            <a:ext cx="7864475" cy="1411287"/>
            <a:chOff x="480" y="1899"/>
            <a:chExt cx="4954" cy="889"/>
          </a:xfrm>
        </p:grpSpPr>
        <p:sp>
          <p:nvSpPr>
            <p:cNvPr id="204" name="Line 205"/>
            <p:cNvSpPr>
              <a:spLocks noChangeShapeType="1"/>
            </p:cNvSpPr>
            <p:nvPr/>
          </p:nvSpPr>
          <p:spPr bwMode="auto">
            <a:xfrm>
              <a:off x="1790" y="1899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Rectangle 206"/>
            <p:cNvSpPr>
              <a:spLocks noChangeArrowheads="1"/>
            </p:cNvSpPr>
            <p:nvPr/>
          </p:nvSpPr>
          <p:spPr bwMode="auto">
            <a:xfrm>
              <a:off x="2438" y="1899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207"/>
            <p:cNvSpPr>
              <a:spLocks noChangeShapeType="1"/>
            </p:cNvSpPr>
            <p:nvPr/>
          </p:nvSpPr>
          <p:spPr bwMode="auto">
            <a:xfrm>
              <a:off x="2438" y="189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208"/>
            <p:cNvSpPr>
              <a:spLocks noChangeShapeType="1"/>
            </p:cNvSpPr>
            <p:nvPr/>
          </p:nvSpPr>
          <p:spPr bwMode="auto">
            <a:xfrm>
              <a:off x="2438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Rectangle 209"/>
            <p:cNvSpPr>
              <a:spLocks noChangeArrowheads="1"/>
            </p:cNvSpPr>
            <p:nvPr/>
          </p:nvSpPr>
          <p:spPr bwMode="auto">
            <a:xfrm>
              <a:off x="2445" y="1899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210"/>
            <p:cNvSpPr>
              <a:spLocks noChangeShapeType="1"/>
            </p:cNvSpPr>
            <p:nvPr/>
          </p:nvSpPr>
          <p:spPr bwMode="auto">
            <a:xfrm>
              <a:off x="2445" y="1899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Rectangle 211"/>
            <p:cNvSpPr>
              <a:spLocks noChangeArrowheads="1"/>
            </p:cNvSpPr>
            <p:nvPr/>
          </p:nvSpPr>
          <p:spPr bwMode="auto">
            <a:xfrm>
              <a:off x="3011" y="1899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212"/>
            <p:cNvSpPr>
              <a:spLocks noChangeShapeType="1"/>
            </p:cNvSpPr>
            <p:nvPr/>
          </p:nvSpPr>
          <p:spPr bwMode="auto">
            <a:xfrm>
              <a:off x="3011" y="189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13"/>
            <p:cNvSpPr>
              <a:spLocks noChangeShapeType="1"/>
            </p:cNvSpPr>
            <p:nvPr/>
          </p:nvSpPr>
          <p:spPr bwMode="auto">
            <a:xfrm>
              <a:off x="3011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Rectangle 214"/>
            <p:cNvSpPr>
              <a:spLocks noChangeArrowheads="1"/>
            </p:cNvSpPr>
            <p:nvPr/>
          </p:nvSpPr>
          <p:spPr bwMode="auto">
            <a:xfrm>
              <a:off x="3018" y="1899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15"/>
            <p:cNvSpPr>
              <a:spLocks noChangeShapeType="1"/>
            </p:cNvSpPr>
            <p:nvPr/>
          </p:nvSpPr>
          <p:spPr bwMode="auto">
            <a:xfrm>
              <a:off x="3018" y="1899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Rectangle 216"/>
            <p:cNvSpPr>
              <a:spLocks noChangeArrowheads="1"/>
            </p:cNvSpPr>
            <p:nvPr/>
          </p:nvSpPr>
          <p:spPr bwMode="auto">
            <a:xfrm>
              <a:off x="3584" y="1899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17"/>
            <p:cNvSpPr>
              <a:spLocks noChangeShapeType="1"/>
            </p:cNvSpPr>
            <p:nvPr/>
          </p:nvSpPr>
          <p:spPr bwMode="auto">
            <a:xfrm>
              <a:off x="3584" y="189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218"/>
            <p:cNvSpPr>
              <a:spLocks noChangeShapeType="1"/>
            </p:cNvSpPr>
            <p:nvPr/>
          </p:nvSpPr>
          <p:spPr bwMode="auto">
            <a:xfrm>
              <a:off x="3584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Rectangle 219"/>
            <p:cNvSpPr>
              <a:spLocks noChangeArrowheads="1"/>
            </p:cNvSpPr>
            <p:nvPr/>
          </p:nvSpPr>
          <p:spPr bwMode="auto">
            <a:xfrm>
              <a:off x="3591" y="1899"/>
              <a:ext cx="59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220"/>
            <p:cNvSpPr>
              <a:spLocks noChangeShapeType="1"/>
            </p:cNvSpPr>
            <p:nvPr/>
          </p:nvSpPr>
          <p:spPr bwMode="auto">
            <a:xfrm>
              <a:off x="3591" y="1899"/>
              <a:ext cx="5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Rectangle 221"/>
            <p:cNvSpPr>
              <a:spLocks noChangeArrowheads="1"/>
            </p:cNvSpPr>
            <p:nvPr/>
          </p:nvSpPr>
          <p:spPr bwMode="auto">
            <a:xfrm>
              <a:off x="4190" y="1899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222"/>
            <p:cNvSpPr>
              <a:spLocks noChangeShapeType="1"/>
            </p:cNvSpPr>
            <p:nvPr/>
          </p:nvSpPr>
          <p:spPr bwMode="auto">
            <a:xfrm>
              <a:off x="4190" y="1899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223"/>
            <p:cNvSpPr>
              <a:spLocks noChangeShapeType="1"/>
            </p:cNvSpPr>
            <p:nvPr/>
          </p:nvSpPr>
          <p:spPr bwMode="auto">
            <a:xfrm>
              <a:off x="4190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Rectangle 224"/>
            <p:cNvSpPr>
              <a:spLocks noChangeArrowheads="1"/>
            </p:cNvSpPr>
            <p:nvPr/>
          </p:nvSpPr>
          <p:spPr bwMode="auto">
            <a:xfrm>
              <a:off x="4197" y="1899"/>
              <a:ext cx="612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225"/>
            <p:cNvSpPr>
              <a:spLocks noChangeShapeType="1"/>
            </p:cNvSpPr>
            <p:nvPr/>
          </p:nvSpPr>
          <p:spPr bwMode="auto">
            <a:xfrm>
              <a:off x="4197" y="1899"/>
              <a:ext cx="6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Rectangle 226"/>
            <p:cNvSpPr>
              <a:spLocks noChangeArrowheads="1"/>
            </p:cNvSpPr>
            <p:nvPr/>
          </p:nvSpPr>
          <p:spPr bwMode="auto">
            <a:xfrm>
              <a:off x="4809" y="1899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227"/>
            <p:cNvSpPr>
              <a:spLocks noChangeShapeType="1"/>
            </p:cNvSpPr>
            <p:nvPr/>
          </p:nvSpPr>
          <p:spPr bwMode="auto">
            <a:xfrm>
              <a:off x="4809" y="1899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228"/>
            <p:cNvSpPr>
              <a:spLocks noChangeShapeType="1"/>
            </p:cNvSpPr>
            <p:nvPr/>
          </p:nvSpPr>
          <p:spPr bwMode="auto">
            <a:xfrm>
              <a:off x="4809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Rectangle 229"/>
            <p:cNvSpPr>
              <a:spLocks noChangeArrowheads="1"/>
            </p:cNvSpPr>
            <p:nvPr/>
          </p:nvSpPr>
          <p:spPr bwMode="auto">
            <a:xfrm>
              <a:off x="4815" y="1899"/>
              <a:ext cx="61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30"/>
            <p:cNvSpPr>
              <a:spLocks noChangeShapeType="1"/>
            </p:cNvSpPr>
            <p:nvPr/>
          </p:nvSpPr>
          <p:spPr bwMode="auto">
            <a:xfrm>
              <a:off x="4815" y="1899"/>
              <a:ext cx="6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Rectangle 231"/>
            <p:cNvSpPr>
              <a:spLocks noChangeArrowheads="1"/>
            </p:cNvSpPr>
            <p:nvPr/>
          </p:nvSpPr>
          <p:spPr bwMode="auto">
            <a:xfrm>
              <a:off x="5428" y="1899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232"/>
            <p:cNvSpPr>
              <a:spLocks noChangeShapeType="1"/>
            </p:cNvSpPr>
            <p:nvPr/>
          </p:nvSpPr>
          <p:spPr bwMode="auto">
            <a:xfrm>
              <a:off x="5428" y="1899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33"/>
            <p:cNvSpPr>
              <a:spLocks noChangeShapeType="1"/>
            </p:cNvSpPr>
            <p:nvPr/>
          </p:nvSpPr>
          <p:spPr bwMode="auto">
            <a:xfrm>
              <a:off x="5428" y="1899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Rectangle 234"/>
            <p:cNvSpPr>
              <a:spLocks noChangeArrowheads="1"/>
            </p:cNvSpPr>
            <p:nvPr/>
          </p:nvSpPr>
          <p:spPr bwMode="auto">
            <a:xfrm>
              <a:off x="480" y="1906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35"/>
            <p:cNvSpPr>
              <a:spLocks noChangeShapeType="1"/>
            </p:cNvSpPr>
            <p:nvPr/>
          </p:nvSpPr>
          <p:spPr bwMode="auto">
            <a:xfrm>
              <a:off x="480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Rectangle 236"/>
            <p:cNvSpPr>
              <a:spLocks noChangeArrowheads="1"/>
            </p:cNvSpPr>
            <p:nvPr/>
          </p:nvSpPr>
          <p:spPr bwMode="auto">
            <a:xfrm>
              <a:off x="1210" y="1906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37"/>
            <p:cNvSpPr>
              <a:spLocks noChangeShapeType="1"/>
            </p:cNvSpPr>
            <p:nvPr/>
          </p:nvSpPr>
          <p:spPr bwMode="auto">
            <a:xfrm>
              <a:off x="1210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Rectangle 238"/>
            <p:cNvSpPr>
              <a:spLocks noChangeArrowheads="1"/>
            </p:cNvSpPr>
            <p:nvPr/>
          </p:nvSpPr>
          <p:spPr bwMode="auto">
            <a:xfrm>
              <a:off x="1783" y="1906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239"/>
            <p:cNvSpPr>
              <a:spLocks noChangeShapeType="1"/>
            </p:cNvSpPr>
            <p:nvPr/>
          </p:nvSpPr>
          <p:spPr bwMode="auto">
            <a:xfrm>
              <a:off x="1783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Rectangle 240"/>
            <p:cNvSpPr>
              <a:spLocks noChangeArrowheads="1"/>
            </p:cNvSpPr>
            <p:nvPr/>
          </p:nvSpPr>
          <p:spPr bwMode="auto">
            <a:xfrm>
              <a:off x="2438" y="1906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241"/>
            <p:cNvSpPr>
              <a:spLocks noChangeShapeType="1"/>
            </p:cNvSpPr>
            <p:nvPr/>
          </p:nvSpPr>
          <p:spPr bwMode="auto">
            <a:xfrm>
              <a:off x="2438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Rectangle 242"/>
            <p:cNvSpPr>
              <a:spLocks noChangeArrowheads="1"/>
            </p:cNvSpPr>
            <p:nvPr/>
          </p:nvSpPr>
          <p:spPr bwMode="auto">
            <a:xfrm>
              <a:off x="3011" y="1906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243"/>
            <p:cNvSpPr>
              <a:spLocks noChangeShapeType="1"/>
            </p:cNvSpPr>
            <p:nvPr/>
          </p:nvSpPr>
          <p:spPr bwMode="auto">
            <a:xfrm>
              <a:off x="3011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Rectangle 244"/>
            <p:cNvSpPr>
              <a:spLocks noChangeArrowheads="1"/>
            </p:cNvSpPr>
            <p:nvPr/>
          </p:nvSpPr>
          <p:spPr bwMode="auto">
            <a:xfrm>
              <a:off x="3584" y="1906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5"/>
            <p:cNvSpPr>
              <a:spLocks noChangeShapeType="1"/>
            </p:cNvSpPr>
            <p:nvPr/>
          </p:nvSpPr>
          <p:spPr bwMode="auto">
            <a:xfrm>
              <a:off x="3584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Rectangle 246"/>
            <p:cNvSpPr>
              <a:spLocks noChangeArrowheads="1"/>
            </p:cNvSpPr>
            <p:nvPr/>
          </p:nvSpPr>
          <p:spPr bwMode="auto">
            <a:xfrm>
              <a:off x="4190" y="1906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247"/>
            <p:cNvSpPr>
              <a:spLocks noChangeShapeType="1"/>
            </p:cNvSpPr>
            <p:nvPr/>
          </p:nvSpPr>
          <p:spPr bwMode="auto">
            <a:xfrm>
              <a:off x="4190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Rectangle 248"/>
            <p:cNvSpPr>
              <a:spLocks noChangeArrowheads="1"/>
            </p:cNvSpPr>
            <p:nvPr/>
          </p:nvSpPr>
          <p:spPr bwMode="auto">
            <a:xfrm>
              <a:off x="4809" y="1906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249"/>
            <p:cNvSpPr>
              <a:spLocks noChangeShapeType="1"/>
            </p:cNvSpPr>
            <p:nvPr/>
          </p:nvSpPr>
          <p:spPr bwMode="auto">
            <a:xfrm>
              <a:off x="4809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Rectangle 250"/>
            <p:cNvSpPr>
              <a:spLocks noChangeArrowheads="1"/>
            </p:cNvSpPr>
            <p:nvPr/>
          </p:nvSpPr>
          <p:spPr bwMode="auto">
            <a:xfrm>
              <a:off x="5428" y="1906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251"/>
            <p:cNvSpPr>
              <a:spLocks noChangeShapeType="1"/>
            </p:cNvSpPr>
            <p:nvPr/>
          </p:nvSpPr>
          <p:spPr bwMode="auto">
            <a:xfrm>
              <a:off x="5428" y="1906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Rectangle 252"/>
            <p:cNvSpPr>
              <a:spLocks noChangeArrowheads="1"/>
            </p:cNvSpPr>
            <p:nvPr/>
          </p:nvSpPr>
          <p:spPr bwMode="auto">
            <a:xfrm>
              <a:off x="559" y="2148"/>
              <a:ext cx="58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b="1">
                  <a:solidFill>
                    <a:srgbClr val="FF0000"/>
                  </a:solidFill>
                  <a:latin typeface="宋体" panose="02010600030101010101" pitchFamily="2" charset="-122"/>
                </a:rPr>
                <a:t>3CG101C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sp>
          <p:nvSpPr>
            <p:cNvPr id="252" name="Rectangle 253"/>
            <p:cNvSpPr>
              <a:spLocks noChangeArrowheads="1"/>
            </p:cNvSpPr>
            <p:nvPr/>
          </p:nvSpPr>
          <p:spPr bwMode="auto">
            <a:xfrm>
              <a:off x="1289" y="2148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100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53" name="Rectangle 254"/>
            <p:cNvSpPr>
              <a:spLocks noChangeArrowheads="1"/>
            </p:cNvSpPr>
            <p:nvPr/>
          </p:nvSpPr>
          <p:spPr bwMode="auto">
            <a:xfrm>
              <a:off x="1862" y="2148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 30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54" name="Rectangle 255"/>
            <p:cNvSpPr>
              <a:spLocks noChangeArrowheads="1"/>
            </p:cNvSpPr>
            <p:nvPr/>
          </p:nvSpPr>
          <p:spPr bwMode="auto">
            <a:xfrm>
              <a:off x="2517" y="2148"/>
              <a:ext cx="30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45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55" name="Rectangle 256"/>
            <p:cNvSpPr>
              <a:spLocks noChangeArrowheads="1"/>
            </p:cNvSpPr>
            <p:nvPr/>
          </p:nvSpPr>
          <p:spPr bwMode="auto">
            <a:xfrm>
              <a:off x="4269" y="2148"/>
              <a:ext cx="30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0.1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56" name="Rectangle 257"/>
            <p:cNvSpPr>
              <a:spLocks noChangeArrowheads="1"/>
            </p:cNvSpPr>
            <p:nvPr/>
          </p:nvSpPr>
          <p:spPr bwMode="auto">
            <a:xfrm>
              <a:off x="4884" y="2148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100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57" name="Rectangle 258"/>
            <p:cNvSpPr>
              <a:spLocks noChangeArrowheads="1"/>
            </p:cNvSpPr>
            <p:nvPr/>
          </p:nvSpPr>
          <p:spPr bwMode="auto">
            <a:xfrm>
              <a:off x="480" y="211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259"/>
            <p:cNvSpPr>
              <a:spLocks noChangeShapeType="1"/>
            </p:cNvSpPr>
            <p:nvPr/>
          </p:nvSpPr>
          <p:spPr bwMode="auto">
            <a:xfrm>
              <a:off x="480" y="211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260"/>
            <p:cNvSpPr>
              <a:spLocks noChangeShapeType="1"/>
            </p:cNvSpPr>
            <p:nvPr/>
          </p:nvSpPr>
          <p:spPr bwMode="auto">
            <a:xfrm>
              <a:off x="480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Rectangle 261"/>
            <p:cNvSpPr>
              <a:spLocks noChangeArrowheads="1"/>
            </p:cNvSpPr>
            <p:nvPr/>
          </p:nvSpPr>
          <p:spPr bwMode="auto">
            <a:xfrm>
              <a:off x="487" y="2118"/>
              <a:ext cx="72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262"/>
            <p:cNvSpPr>
              <a:spLocks noChangeShapeType="1"/>
            </p:cNvSpPr>
            <p:nvPr/>
          </p:nvSpPr>
          <p:spPr bwMode="auto">
            <a:xfrm>
              <a:off x="487" y="2118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Rectangle 263"/>
            <p:cNvSpPr>
              <a:spLocks noChangeArrowheads="1"/>
            </p:cNvSpPr>
            <p:nvPr/>
          </p:nvSpPr>
          <p:spPr bwMode="auto">
            <a:xfrm>
              <a:off x="1210" y="211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64"/>
            <p:cNvSpPr>
              <a:spLocks noChangeShapeType="1"/>
            </p:cNvSpPr>
            <p:nvPr/>
          </p:nvSpPr>
          <p:spPr bwMode="auto">
            <a:xfrm>
              <a:off x="1210" y="211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265"/>
            <p:cNvSpPr>
              <a:spLocks noChangeShapeType="1"/>
            </p:cNvSpPr>
            <p:nvPr/>
          </p:nvSpPr>
          <p:spPr bwMode="auto">
            <a:xfrm>
              <a:off x="1210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Rectangle 266"/>
            <p:cNvSpPr>
              <a:spLocks noChangeArrowheads="1"/>
            </p:cNvSpPr>
            <p:nvPr/>
          </p:nvSpPr>
          <p:spPr bwMode="auto">
            <a:xfrm>
              <a:off x="1217" y="2118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267"/>
            <p:cNvSpPr>
              <a:spLocks noChangeShapeType="1"/>
            </p:cNvSpPr>
            <p:nvPr/>
          </p:nvSpPr>
          <p:spPr bwMode="auto">
            <a:xfrm>
              <a:off x="1217" y="2118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Rectangle 268"/>
            <p:cNvSpPr>
              <a:spLocks noChangeArrowheads="1"/>
            </p:cNvSpPr>
            <p:nvPr/>
          </p:nvSpPr>
          <p:spPr bwMode="auto">
            <a:xfrm>
              <a:off x="1783" y="211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69"/>
            <p:cNvSpPr>
              <a:spLocks noChangeShapeType="1"/>
            </p:cNvSpPr>
            <p:nvPr/>
          </p:nvSpPr>
          <p:spPr bwMode="auto">
            <a:xfrm>
              <a:off x="1783" y="211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70"/>
            <p:cNvSpPr>
              <a:spLocks noChangeShapeType="1"/>
            </p:cNvSpPr>
            <p:nvPr/>
          </p:nvSpPr>
          <p:spPr bwMode="auto">
            <a:xfrm>
              <a:off x="1783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Rectangle 271"/>
            <p:cNvSpPr>
              <a:spLocks noChangeArrowheads="1"/>
            </p:cNvSpPr>
            <p:nvPr/>
          </p:nvSpPr>
          <p:spPr bwMode="auto">
            <a:xfrm>
              <a:off x="1790" y="2118"/>
              <a:ext cx="64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272"/>
            <p:cNvSpPr>
              <a:spLocks noChangeShapeType="1"/>
            </p:cNvSpPr>
            <p:nvPr/>
          </p:nvSpPr>
          <p:spPr bwMode="auto">
            <a:xfrm>
              <a:off x="1790" y="2118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Rectangle 273"/>
            <p:cNvSpPr>
              <a:spLocks noChangeArrowheads="1"/>
            </p:cNvSpPr>
            <p:nvPr/>
          </p:nvSpPr>
          <p:spPr bwMode="auto">
            <a:xfrm>
              <a:off x="2438" y="211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74"/>
            <p:cNvSpPr>
              <a:spLocks noChangeShapeType="1"/>
            </p:cNvSpPr>
            <p:nvPr/>
          </p:nvSpPr>
          <p:spPr bwMode="auto">
            <a:xfrm>
              <a:off x="2438" y="211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75"/>
            <p:cNvSpPr>
              <a:spLocks noChangeShapeType="1"/>
            </p:cNvSpPr>
            <p:nvPr/>
          </p:nvSpPr>
          <p:spPr bwMode="auto">
            <a:xfrm>
              <a:off x="2438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Rectangle 276"/>
            <p:cNvSpPr>
              <a:spLocks noChangeArrowheads="1"/>
            </p:cNvSpPr>
            <p:nvPr/>
          </p:nvSpPr>
          <p:spPr bwMode="auto">
            <a:xfrm>
              <a:off x="2445" y="2118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277"/>
            <p:cNvSpPr>
              <a:spLocks noChangeShapeType="1"/>
            </p:cNvSpPr>
            <p:nvPr/>
          </p:nvSpPr>
          <p:spPr bwMode="auto">
            <a:xfrm>
              <a:off x="2445" y="2118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Rectangle 278"/>
            <p:cNvSpPr>
              <a:spLocks noChangeArrowheads="1"/>
            </p:cNvSpPr>
            <p:nvPr/>
          </p:nvSpPr>
          <p:spPr bwMode="auto">
            <a:xfrm>
              <a:off x="3011" y="211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279"/>
            <p:cNvSpPr>
              <a:spLocks noChangeShapeType="1"/>
            </p:cNvSpPr>
            <p:nvPr/>
          </p:nvSpPr>
          <p:spPr bwMode="auto">
            <a:xfrm>
              <a:off x="3011" y="211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Line 280"/>
            <p:cNvSpPr>
              <a:spLocks noChangeShapeType="1"/>
            </p:cNvSpPr>
            <p:nvPr/>
          </p:nvSpPr>
          <p:spPr bwMode="auto">
            <a:xfrm>
              <a:off x="3011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Rectangle 281"/>
            <p:cNvSpPr>
              <a:spLocks noChangeArrowheads="1"/>
            </p:cNvSpPr>
            <p:nvPr/>
          </p:nvSpPr>
          <p:spPr bwMode="auto">
            <a:xfrm>
              <a:off x="3018" y="2118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282"/>
            <p:cNvSpPr>
              <a:spLocks noChangeShapeType="1"/>
            </p:cNvSpPr>
            <p:nvPr/>
          </p:nvSpPr>
          <p:spPr bwMode="auto">
            <a:xfrm>
              <a:off x="3018" y="2118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Rectangle 283"/>
            <p:cNvSpPr>
              <a:spLocks noChangeArrowheads="1"/>
            </p:cNvSpPr>
            <p:nvPr/>
          </p:nvSpPr>
          <p:spPr bwMode="auto">
            <a:xfrm>
              <a:off x="3584" y="211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284"/>
            <p:cNvSpPr>
              <a:spLocks noChangeShapeType="1"/>
            </p:cNvSpPr>
            <p:nvPr/>
          </p:nvSpPr>
          <p:spPr bwMode="auto">
            <a:xfrm>
              <a:off x="3584" y="211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285"/>
            <p:cNvSpPr>
              <a:spLocks noChangeShapeType="1"/>
            </p:cNvSpPr>
            <p:nvPr/>
          </p:nvSpPr>
          <p:spPr bwMode="auto">
            <a:xfrm>
              <a:off x="3584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Rectangle 286"/>
            <p:cNvSpPr>
              <a:spLocks noChangeArrowheads="1"/>
            </p:cNvSpPr>
            <p:nvPr/>
          </p:nvSpPr>
          <p:spPr bwMode="auto">
            <a:xfrm>
              <a:off x="3591" y="2118"/>
              <a:ext cx="59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287"/>
            <p:cNvSpPr>
              <a:spLocks noChangeShapeType="1"/>
            </p:cNvSpPr>
            <p:nvPr/>
          </p:nvSpPr>
          <p:spPr bwMode="auto">
            <a:xfrm>
              <a:off x="3591" y="2118"/>
              <a:ext cx="5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Rectangle 288"/>
            <p:cNvSpPr>
              <a:spLocks noChangeArrowheads="1"/>
            </p:cNvSpPr>
            <p:nvPr/>
          </p:nvSpPr>
          <p:spPr bwMode="auto">
            <a:xfrm>
              <a:off x="4190" y="2118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89"/>
            <p:cNvSpPr>
              <a:spLocks noChangeShapeType="1"/>
            </p:cNvSpPr>
            <p:nvPr/>
          </p:nvSpPr>
          <p:spPr bwMode="auto">
            <a:xfrm>
              <a:off x="4190" y="2118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90"/>
            <p:cNvSpPr>
              <a:spLocks noChangeShapeType="1"/>
            </p:cNvSpPr>
            <p:nvPr/>
          </p:nvSpPr>
          <p:spPr bwMode="auto">
            <a:xfrm>
              <a:off x="4190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Rectangle 291"/>
            <p:cNvSpPr>
              <a:spLocks noChangeArrowheads="1"/>
            </p:cNvSpPr>
            <p:nvPr/>
          </p:nvSpPr>
          <p:spPr bwMode="auto">
            <a:xfrm>
              <a:off x="4197" y="2118"/>
              <a:ext cx="612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292"/>
            <p:cNvSpPr>
              <a:spLocks noChangeShapeType="1"/>
            </p:cNvSpPr>
            <p:nvPr/>
          </p:nvSpPr>
          <p:spPr bwMode="auto">
            <a:xfrm>
              <a:off x="4197" y="2118"/>
              <a:ext cx="6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Rectangle 293"/>
            <p:cNvSpPr>
              <a:spLocks noChangeArrowheads="1"/>
            </p:cNvSpPr>
            <p:nvPr/>
          </p:nvSpPr>
          <p:spPr bwMode="auto">
            <a:xfrm>
              <a:off x="4809" y="2118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294"/>
            <p:cNvSpPr>
              <a:spLocks noChangeShapeType="1"/>
            </p:cNvSpPr>
            <p:nvPr/>
          </p:nvSpPr>
          <p:spPr bwMode="auto">
            <a:xfrm>
              <a:off x="4809" y="2118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295"/>
            <p:cNvSpPr>
              <a:spLocks noChangeShapeType="1"/>
            </p:cNvSpPr>
            <p:nvPr/>
          </p:nvSpPr>
          <p:spPr bwMode="auto">
            <a:xfrm>
              <a:off x="4809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Rectangle 296"/>
            <p:cNvSpPr>
              <a:spLocks noChangeArrowheads="1"/>
            </p:cNvSpPr>
            <p:nvPr/>
          </p:nvSpPr>
          <p:spPr bwMode="auto">
            <a:xfrm>
              <a:off x="4815" y="2118"/>
              <a:ext cx="61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97"/>
            <p:cNvSpPr>
              <a:spLocks noChangeShapeType="1"/>
            </p:cNvSpPr>
            <p:nvPr/>
          </p:nvSpPr>
          <p:spPr bwMode="auto">
            <a:xfrm>
              <a:off x="4815" y="2118"/>
              <a:ext cx="6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Rectangle 298"/>
            <p:cNvSpPr>
              <a:spLocks noChangeArrowheads="1"/>
            </p:cNvSpPr>
            <p:nvPr/>
          </p:nvSpPr>
          <p:spPr bwMode="auto">
            <a:xfrm>
              <a:off x="5428" y="2118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299"/>
            <p:cNvSpPr>
              <a:spLocks noChangeShapeType="1"/>
            </p:cNvSpPr>
            <p:nvPr/>
          </p:nvSpPr>
          <p:spPr bwMode="auto">
            <a:xfrm>
              <a:off x="5428" y="2118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300"/>
            <p:cNvSpPr>
              <a:spLocks noChangeShapeType="1"/>
            </p:cNvSpPr>
            <p:nvPr/>
          </p:nvSpPr>
          <p:spPr bwMode="auto">
            <a:xfrm>
              <a:off x="5428" y="2118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Rectangle 301"/>
            <p:cNvSpPr>
              <a:spLocks noChangeArrowheads="1"/>
            </p:cNvSpPr>
            <p:nvPr/>
          </p:nvSpPr>
          <p:spPr bwMode="auto">
            <a:xfrm>
              <a:off x="480" y="212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302"/>
            <p:cNvSpPr>
              <a:spLocks noChangeShapeType="1"/>
            </p:cNvSpPr>
            <p:nvPr/>
          </p:nvSpPr>
          <p:spPr bwMode="auto">
            <a:xfrm>
              <a:off x="480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Rectangle 303"/>
            <p:cNvSpPr>
              <a:spLocks noChangeArrowheads="1"/>
            </p:cNvSpPr>
            <p:nvPr/>
          </p:nvSpPr>
          <p:spPr bwMode="auto">
            <a:xfrm>
              <a:off x="1210" y="212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304"/>
            <p:cNvSpPr>
              <a:spLocks noChangeShapeType="1"/>
            </p:cNvSpPr>
            <p:nvPr/>
          </p:nvSpPr>
          <p:spPr bwMode="auto">
            <a:xfrm>
              <a:off x="1210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Rectangle 305"/>
            <p:cNvSpPr>
              <a:spLocks noChangeArrowheads="1"/>
            </p:cNvSpPr>
            <p:nvPr/>
          </p:nvSpPr>
          <p:spPr bwMode="auto">
            <a:xfrm>
              <a:off x="1783" y="212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306"/>
            <p:cNvSpPr>
              <a:spLocks noChangeShapeType="1"/>
            </p:cNvSpPr>
            <p:nvPr/>
          </p:nvSpPr>
          <p:spPr bwMode="auto">
            <a:xfrm>
              <a:off x="1783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Rectangle 307"/>
            <p:cNvSpPr>
              <a:spLocks noChangeArrowheads="1"/>
            </p:cNvSpPr>
            <p:nvPr/>
          </p:nvSpPr>
          <p:spPr bwMode="auto">
            <a:xfrm>
              <a:off x="2438" y="212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308"/>
            <p:cNvSpPr>
              <a:spLocks noChangeShapeType="1"/>
            </p:cNvSpPr>
            <p:nvPr/>
          </p:nvSpPr>
          <p:spPr bwMode="auto">
            <a:xfrm>
              <a:off x="2438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Rectangle 309"/>
            <p:cNvSpPr>
              <a:spLocks noChangeArrowheads="1"/>
            </p:cNvSpPr>
            <p:nvPr/>
          </p:nvSpPr>
          <p:spPr bwMode="auto">
            <a:xfrm>
              <a:off x="3011" y="212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310"/>
            <p:cNvSpPr>
              <a:spLocks noChangeShapeType="1"/>
            </p:cNvSpPr>
            <p:nvPr/>
          </p:nvSpPr>
          <p:spPr bwMode="auto">
            <a:xfrm>
              <a:off x="3011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Rectangle 311"/>
            <p:cNvSpPr>
              <a:spLocks noChangeArrowheads="1"/>
            </p:cNvSpPr>
            <p:nvPr/>
          </p:nvSpPr>
          <p:spPr bwMode="auto">
            <a:xfrm>
              <a:off x="3584" y="212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312"/>
            <p:cNvSpPr>
              <a:spLocks noChangeShapeType="1"/>
            </p:cNvSpPr>
            <p:nvPr/>
          </p:nvSpPr>
          <p:spPr bwMode="auto">
            <a:xfrm>
              <a:off x="3584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Rectangle 313"/>
            <p:cNvSpPr>
              <a:spLocks noChangeArrowheads="1"/>
            </p:cNvSpPr>
            <p:nvPr/>
          </p:nvSpPr>
          <p:spPr bwMode="auto">
            <a:xfrm>
              <a:off x="4190" y="212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314"/>
            <p:cNvSpPr>
              <a:spLocks noChangeShapeType="1"/>
            </p:cNvSpPr>
            <p:nvPr/>
          </p:nvSpPr>
          <p:spPr bwMode="auto">
            <a:xfrm>
              <a:off x="4190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Rectangle 315"/>
            <p:cNvSpPr>
              <a:spLocks noChangeArrowheads="1"/>
            </p:cNvSpPr>
            <p:nvPr/>
          </p:nvSpPr>
          <p:spPr bwMode="auto">
            <a:xfrm>
              <a:off x="4809" y="2125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Line 316"/>
            <p:cNvSpPr>
              <a:spLocks noChangeShapeType="1"/>
            </p:cNvSpPr>
            <p:nvPr/>
          </p:nvSpPr>
          <p:spPr bwMode="auto">
            <a:xfrm>
              <a:off x="4809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Rectangle 317"/>
            <p:cNvSpPr>
              <a:spLocks noChangeArrowheads="1"/>
            </p:cNvSpPr>
            <p:nvPr/>
          </p:nvSpPr>
          <p:spPr bwMode="auto">
            <a:xfrm>
              <a:off x="5428" y="2125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318"/>
            <p:cNvSpPr>
              <a:spLocks noChangeShapeType="1"/>
            </p:cNvSpPr>
            <p:nvPr/>
          </p:nvSpPr>
          <p:spPr bwMode="auto">
            <a:xfrm>
              <a:off x="5428" y="212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Rectangle 319"/>
            <p:cNvSpPr>
              <a:spLocks noChangeArrowheads="1"/>
            </p:cNvSpPr>
            <p:nvPr/>
          </p:nvSpPr>
          <p:spPr bwMode="auto">
            <a:xfrm>
              <a:off x="559" y="2367"/>
              <a:ext cx="58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b="1">
                  <a:solidFill>
                    <a:srgbClr val="FF0000"/>
                  </a:solidFill>
                  <a:latin typeface="宋体" panose="02010600030101010101" pitchFamily="2" charset="-122"/>
                </a:rPr>
                <a:t>3DG123C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19" name="Rectangle 320"/>
            <p:cNvSpPr>
              <a:spLocks noChangeArrowheads="1"/>
            </p:cNvSpPr>
            <p:nvPr/>
          </p:nvSpPr>
          <p:spPr bwMode="auto">
            <a:xfrm>
              <a:off x="1289" y="2367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500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20" name="Rectangle 321"/>
            <p:cNvSpPr>
              <a:spLocks noChangeArrowheads="1"/>
            </p:cNvSpPr>
            <p:nvPr/>
          </p:nvSpPr>
          <p:spPr bwMode="auto">
            <a:xfrm>
              <a:off x="1862" y="2367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 50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21" name="Rectangle 322"/>
            <p:cNvSpPr>
              <a:spLocks noChangeArrowheads="1"/>
            </p:cNvSpPr>
            <p:nvPr/>
          </p:nvSpPr>
          <p:spPr bwMode="auto">
            <a:xfrm>
              <a:off x="2517" y="2367"/>
              <a:ext cx="30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40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22" name="Rectangle 323"/>
            <p:cNvSpPr>
              <a:spLocks noChangeArrowheads="1"/>
            </p:cNvSpPr>
            <p:nvPr/>
          </p:nvSpPr>
          <p:spPr bwMode="auto">
            <a:xfrm>
              <a:off x="3090" y="2367"/>
              <a:ext cx="30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30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23" name="Rectangle 324"/>
            <p:cNvSpPr>
              <a:spLocks noChangeArrowheads="1"/>
            </p:cNvSpPr>
            <p:nvPr/>
          </p:nvSpPr>
          <p:spPr bwMode="auto">
            <a:xfrm>
              <a:off x="4269" y="2367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0.35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24" name="Rectangle 325"/>
            <p:cNvSpPr>
              <a:spLocks noChangeArrowheads="1"/>
            </p:cNvSpPr>
            <p:nvPr/>
          </p:nvSpPr>
          <p:spPr bwMode="auto">
            <a:xfrm>
              <a:off x="480" y="2337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326"/>
            <p:cNvSpPr>
              <a:spLocks noChangeShapeType="1"/>
            </p:cNvSpPr>
            <p:nvPr/>
          </p:nvSpPr>
          <p:spPr bwMode="auto">
            <a:xfrm>
              <a:off x="480" y="233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327"/>
            <p:cNvSpPr>
              <a:spLocks noChangeShapeType="1"/>
            </p:cNvSpPr>
            <p:nvPr/>
          </p:nvSpPr>
          <p:spPr bwMode="auto">
            <a:xfrm>
              <a:off x="480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Rectangle 328"/>
            <p:cNvSpPr>
              <a:spLocks noChangeArrowheads="1"/>
            </p:cNvSpPr>
            <p:nvPr/>
          </p:nvSpPr>
          <p:spPr bwMode="auto">
            <a:xfrm>
              <a:off x="487" y="2337"/>
              <a:ext cx="72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329"/>
            <p:cNvSpPr>
              <a:spLocks noChangeShapeType="1"/>
            </p:cNvSpPr>
            <p:nvPr/>
          </p:nvSpPr>
          <p:spPr bwMode="auto">
            <a:xfrm>
              <a:off x="487" y="2337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Rectangle 330"/>
            <p:cNvSpPr>
              <a:spLocks noChangeArrowheads="1"/>
            </p:cNvSpPr>
            <p:nvPr/>
          </p:nvSpPr>
          <p:spPr bwMode="auto">
            <a:xfrm>
              <a:off x="1210" y="2337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Line 331"/>
            <p:cNvSpPr>
              <a:spLocks noChangeShapeType="1"/>
            </p:cNvSpPr>
            <p:nvPr/>
          </p:nvSpPr>
          <p:spPr bwMode="auto">
            <a:xfrm>
              <a:off x="1210" y="233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332"/>
            <p:cNvSpPr>
              <a:spLocks noChangeShapeType="1"/>
            </p:cNvSpPr>
            <p:nvPr/>
          </p:nvSpPr>
          <p:spPr bwMode="auto">
            <a:xfrm>
              <a:off x="1210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Rectangle 333"/>
            <p:cNvSpPr>
              <a:spLocks noChangeArrowheads="1"/>
            </p:cNvSpPr>
            <p:nvPr/>
          </p:nvSpPr>
          <p:spPr bwMode="auto">
            <a:xfrm>
              <a:off x="1217" y="2337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334"/>
            <p:cNvSpPr>
              <a:spLocks noChangeShapeType="1"/>
            </p:cNvSpPr>
            <p:nvPr/>
          </p:nvSpPr>
          <p:spPr bwMode="auto">
            <a:xfrm>
              <a:off x="1217" y="2337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Rectangle 335"/>
            <p:cNvSpPr>
              <a:spLocks noChangeArrowheads="1"/>
            </p:cNvSpPr>
            <p:nvPr/>
          </p:nvSpPr>
          <p:spPr bwMode="auto">
            <a:xfrm>
              <a:off x="1783" y="2337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336"/>
            <p:cNvSpPr>
              <a:spLocks noChangeShapeType="1"/>
            </p:cNvSpPr>
            <p:nvPr/>
          </p:nvSpPr>
          <p:spPr bwMode="auto">
            <a:xfrm>
              <a:off x="1783" y="233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337"/>
            <p:cNvSpPr>
              <a:spLocks noChangeShapeType="1"/>
            </p:cNvSpPr>
            <p:nvPr/>
          </p:nvSpPr>
          <p:spPr bwMode="auto">
            <a:xfrm>
              <a:off x="1783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Rectangle 338"/>
            <p:cNvSpPr>
              <a:spLocks noChangeArrowheads="1"/>
            </p:cNvSpPr>
            <p:nvPr/>
          </p:nvSpPr>
          <p:spPr bwMode="auto">
            <a:xfrm>
              <a:off x="1790" y="2337"/>
              <a:ext cx="648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339"/>
            <p:cNvSpPr>
              <a:spLocks noChangeShapeType="1"/>
            </p:cNvSpPr>
            <p:nvPr/>
          </p:nvSpPr>
          <p:spPr bwMode="auto">
            <a:xfrm>
              <a:off x="1790" y="2337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Rectangle 340"/>
            <p:cNvSpPr>
              <a:spLocks noChangeArrowheads="1"/>
            </p:cNvSpPr>
            <p:nvPr/>
          </p:nvSpPr>
          <p:spPr bwMode="auto">
            <a:xfrm>
              <a:off x="2438" y="2337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341"/>
            <p:cNvSpPr>
              <a:spLocks noChangeShapeType="1"/>
            </p:cNvSpPr>
            <p:nvPr/>
          </p:nvSpPr>
          <p:spPr bwMode="auto">
            <a:xfrm>
              <a:off x="2438" y="233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342"/>
            <p:cNvSpPr>
              <a:spLocks noChangeShapeType="1"/>
            </p:cNvSpPr>
            <p:nvPr/>
          </p:nvSpPr>
          <p:spPr bwMode="auto">
            <a:xfrm>
              <a:off x="2438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Rectangle 343"/>
            <p:cNvSpPr>
              <a:spLocks noChangeArrowheads="1"/>
            </p:cNvSpPr>
            <p:nvPr/>
          </p:nvSpPr>
          <p:spPr bwMode="auto">
            <a:xfrm>
              <a:off x="2445" y="2337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344"/>
            <p:cNvSpPr>
              <a:spLocks noChangeShapeType="1"/>
            </p:cNvSpPr>
            <p:nvPr/>
          </p:nvSpPr>
          <p:spPr bwMode="auto">
            <a:xfrm>
              <a:off x="2445" y="2337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Rectangle 345"/>
            <p:cNvSpPr>
              <a:spLocks noChangeArrowheads="1"/>
            </p:cNvSpPr>
            <p:nvPr/>
          </p:nvSpPr>
          <p:spPr bwMode="auto">
            <a:xfrm>
              <a:off x="3011" y="2337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346"/>
            <p:cNvSpPr>
              <a:spLocks noChangeShapeType="1"/>
            </p:cNvSpPr>
            <p:nvPr/>
          </p:nvSpPr>
          <p:spPr bwMode="auto">
            <a:xfrm>
              <a:off x="3011" y="233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347"/>
            <p:cNvSpPr>
              <a:spLocks noChangeShapeType="1"/>
            </p:cNvSpPr>
            <p:nvPr/>
          </p:nvSpPr>
          <p:spPr bwMode="auto">
            <a:xfrm>
              <a:off x="3011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Rectangle 348"/>
            <p:cNvSpPr>
              <a:spLocks noChangeArrowheads="1"/>
            </p:cNvSpPr>
            <p:nvPr/>
          </p:nvSpPr>
          <p:spPr bwMode="auto">
            <a:xfrm>
              <a:off x="3018" y="2337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349"/>
            <p:cNvSpPr>
              <a:spLocks noChangeShapeType="1"/>
            </p:cNvSpPr>
            <p:nvPr/>
          </p:nvSpPr>
          <p:spPr bwMode="auto">
            <a:xfrm>
              <a:off x="3018" y="2337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Rectangle 350"/>
            <p:cNvSpPr>
              <a:spLocks noChangeArrowheads="1"/>
            </p:cNvSpPr>
            <p:nvPr/>
          </p:nvSpPr>
          <p:spPr bwMode="auto">
            <a:xfrm>
              <a:off x="3584" y="2337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351"/>
            <p:cNvSpPr>
              <a:spLocks noChangeShapeType="1"/>
            </p:cNvSpPr>
            <p:nvPr/>
          </p:nvSpPr>
          <p:spPr bwMode="auto">
            <a:xfrm>
              <a:off x="3584" y="233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352"/>
            <p:cNvSpPr>
              <a:spLocks noChangeShapeType="1"/>
            </p:cNvSpPr>
            <p:nvPr/>
          </p:nvSpPr>
          <p:spPr bwMode="auto">
            <a:xfrm>
              <a:off x="3584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Rectangle 353"/>
            <p:cNvSpPr>
              <a:spLocks noChangeArrowheads="1"/>
            </p:cNvSpPr>
            <p:nvPr/>
          </p:nvSpPr>
          <p:spPr bwMode="auto">
            <a:xfrm>
              <a:off x="3591" y="2337"/>
              <a:ext cx="59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354"/>
            <p:cNvSpPr>
              <a:spLocks noChangeShapeType="1"/>
            </p:cNvSpPr>
            <p:nvPr/>
          </p:nvSpPr>
          <p:spPr bwMode="auto">
            <a:xfrm>
              <a:off x="3591" y="2337"/>
              <a:ext cx="5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Rectangle 355"/>
            <p:cNvSpPr>
              <a:spLocks noChangeArrowheads="1"/>
            </p:cNvSpPr>
            <p:nvPr/>
          </p:nvSpPr>
          <p:spPr bwMode="auto">
            <a:xfrm>
              <a:off x="4190" y="2337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356"/>
            <p:cNvSpPr>
              <a:spLocks noChangeShapeType="1"/>
            </p:cNvSpPr>
            <p:nvPr/>
          </p:nvSpPr>
          <p:spPr bwMode="auto">
            <a:xfrm>
              <a:off x="4190" y="233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357"/>
            <p:cNvSpPr>
              <a:spLocks noChangeShapeType="1"/>
            </p:cNvSpPr>
            <p:nvPr/>
          </p:nvSpPr>
          <p:spPr bwMode="auto">
            <a:xfrm>
              <a:off x="4190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Rectangle 358"/>
            <p:cNvSpPr>
              <a:spLocks noChangeArrowheads="1"/>
            </p:cNvSpPr>
            <p:nvPr/>
          </p:nvSpPr>
          <p:spPr bwMode="auto">
            <a:xfrm>
              <a:off x="4197" y="2337"/>
              <a:ext cx="612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359"/>
            <p:cNvSpPr>
              <a:spLocks noChangeShapeType="1"/>
            </p:cNvSpPr>
            <p:nvPr/>
          </p:nvSpPr>
          <p:spPr bwMode="auto">
            <a:xfrm>
              <a:off x="4197" y="2337"/>
              <a:ext cx="6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Rectangle 360"/>
            <p:cNvSpPr>
              <a:spLocks noChangeArrowheads="1"/>
            </p:cNvSpPr>
            <p:nvPr/>
          </p:nvSpPr>
          <p:spPr bwMode="auto">
            <a:xfrm>
              <a:off x="4809" y="2337"/>
              <a:ext cx="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361"/>
            <p:cNvSpPr>
              <a:spLocks noChangeShapeType="1"/>
            </p:cNvSpPr>
            <p:nvPr/>
          </p:nvSpPr>
          <p:spPr bwMode="auto">
            <a:xfrm>
              <a:off x="4809" y="2337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362"/>
            <p:cNvSpPr>
              <a:spLocks noChangeShapeType="1"/>
            </p:cNvSpPr>
            <p:nvPr/>
          </p:nvSpPr>
          <p:spPr bwMode="auto">
            <a:xfrm>
              <a:off x="4809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Rectangle 363"/>
            <p:cNvSpPr>
              <a:spLocks noChangeArrowheads="1"/>
            </p:cNvSpPr>
            <p:nvPr/>
          </p:nvSpPr>
          <p:spPr bwMode="auto">
            <a:xfrm>
              <a:off x="4815" y="2337"/>
              <a:ext cx="61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364"/>
            <p:cNvSpPr>
              <a:spLocks noChangeShapeType="1"/>
            </p:cNvSpPr>
            <p:nvPr/>
          </p:nvSpPr>
          <p:spPr bwMode="auto">
            <a:xfrm>
              <a:off x="4815" y="2337"/>
              <a:ext cx="6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Rectangle 365"/>
            <p:cNvSpPr>
              <a:spLocks noChangeArrowheads="1"/>
            </p:cNvSpPr>
            <p:nvPr/>
          </p:nvSpPr>
          <p:spPr bwMode="auto">
            <a:xfrm>
              <a:off x="5428" y="2337"/>
              <a:ext cx="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366"/>
            <p:cNvSpPr>
              <a:spLocks noChangeShapeType="1"/>
            </p:cNvSpPr>
            <p:nvPr/>
          </p:nvSpPr>
          <p:spPr bwMode="auto">
            <a:xfrm>
              <a:off x="5428" y="2337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367"/>
            <p:cNvSpPr>
              <a:spLocks noChangeShapeType="1"/>
            </p:cNvSpPr>
            <p:nvPr/>
          </p:nvSpPr>
          <p:spPr bwMode="auto">
            <a:xfrm>
              <a:off x="5428" y="2337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Rectangle 368"/>
            <p:cNvSpPr>
              <a:spLocks noChangeArrowheads="1"/>
            </p:cNvSpPr>
            <p:nvPr/>
          </p:nvSpPr>
          <p:spPr bwMode="auto">
            <a:xfrm>
              <a:off x="480" y="234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369"/>
            <p:cNvSpPr>
              <a:spLocks noChangeShapeType="1"/>
            </p:cNvSpPr>
            <p:nvPr/>
          </p:nvSpPr>
          <p:spPr bwMode="auto">
            <a:xfrm>
              <a:off x="480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Rectangle 370"/>
            <p:cNvSpPr>
              <a:spLocks noChangeArrowheads="1"/>
            </p:cNvSpPr>
            <p:nvPr/>
          </p:nvSpPr>
          <p:spPr bwMode="auto">
            <a:xfrm>
              <a:off x="1210" y="234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371"/>
            <p:cNvSpPr>
              <a:spLocks noChangeShapeType="1"/>
            </p:cNvSpPr>
            <p:nvPr/>
          </p:nvSpPr>
          <p:spPr bwMode="auto">
            <a:xfrm>
              <a:off x="1210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Rectangle 372"/>
            <p:cNvSpPr>
              <a:spLocks noChangeArrowheads="1"/>
            </p:cNvSpPr>
            <p:nvPr/>
          </p:nvSpPr>
          <p:spPr bwMode="auto">
            <a:xfrm>
              <a:off x="1783" y="234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373"/>
            <p:cNvSpPr>
              <a:spLocks noChangeShapeType="1"/>
            </p:cNvSpPr>
            <p:nvPr/>
          </p:nvSpPr>
          <p:spPr bwMode="auto">
            <a:xfrm>
              <a:off x="1783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Rectangle 374"/>
            <p:cNvSpPr>
              <a:spLocks noChangeArrowheads="1"/>
            </p:cNvSpPr>
            <p:nvPr/>
          </p:nvSpPr>
          <p:spPr bwMode="auto">
            <a:xfrm>
              <a:off x="2438" y="234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375"/>
            <p:cNvSpPr>
              <a:spLocks noChangeShapeType="1"/>
            </p:cNvSpPr>
            <p:nvPr/>
          </p:nvSpPr>
          <p:spPr bwMode="auto">
            <a:xfrm>
              <a:off x="2438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Rectangle 376"/>
            <p:cNvSpPr>
              <a:spLocks noChangeArrowheads="1"/>
            </p:cNvSpPr>
            <p:nvPr/>
          </p:nvSpPr>
          <p:spPr bwMode="auto">
            <a:xfrm>
              <a:off x="3011" y="234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377"/>
            <p:cNvSpPr>
              <a:spLocks noChangeShapeType="1"/>
            </p:cNvSpPr>
            <p:nvPr/>
          </p:nvSpPr>
          <p:spPr bwMode="auto">
            <a:xfrm>
              <a:off x="3011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Rectangle 378"/>
            <p:cNvSpPr>
              <a:spLocks noChangeArrowheads="1"/>
            </p:cNvSpPr>
            <p:nvPr/>
          </p:nvSpPr>
          <p:spPr bwMode="auto">
            <a:xfrm>
              <a:off x="3584" y="234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379"/>
            <p:cNvSpPr>
              <a:spLocks noChangeShapeType="1"/>
            </p:cNvSpPr>
            <p:nvPr/>
          </p:nvSpPr>
          <p:spPr bwMode="auto">
            <a:xfrm>
              <a:off x="3584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Rectangle 380"/>
            <p:cNvSpPr>
              <a:spLocks noChangeArrowheads="1"/>
            </p:cNvSpPr>
            <p:nvPr/>
          </p:nvSpPr>
          <p:spPr bwMode="auto">
            <a:xfrm>
              <a:off x="4190" y="2345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381"/>
            <p:cNvSpPr>
              <a:spLocks noChangeShapeType="1"/>
            </p:cNvSpPr>
            <p:nvPr/>
          </p:nvSpPr>
          <p:spPr bwMode="auto">
            <a:xfrm>
              <a:off x="4190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Rectangle 382"/>
            <p:cNvSpPr>
              <a:spLocks noChangeArrowheads="1"/>
            </p:cNvSpPr>
            <p:nvPr/>
          </p:nvSpPr>
          <p:spPr bwMode="auto">
            <a:xfrm>
              <a:off x="4809" y="2345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383"/>
            <p:cNvSpPr>
              <a:spLocks noChangeShapeType="1"/>
            </p:cNvSpPr>
            <p:nvPr/>
          </p:nvSpPr>
          <p:spPr bwMode="auto">
            <a:xfrm>
              <a:off x="4809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Rectangle 384"/>
            <p:cNvSpPr>
              <a:spLocks noChangeArrowheads="1"/>
            </p:cNvSpPr>
            <p:nvPr/>
          </p:nvSpPr>
          <p:spPr bwMode="auto">
            <a:xfrm>
              <a:off x="5428" y="2345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385"/>
            <p:cNvSpPr>
              <a:spLocks noChangeShapeType="1"/>
            </p:cNvSpPr>
            <p:nvPr/>
          </p:nvSpPr>
          <p:spPr bwMode="auto">
            <a:xfrm>
              <a:off x="5428" y="2345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Rectangle 386"/>
            <p:cNvSpPr>
              <a:spLocks noChangeArrowheads="1"/>
            </p:cNvSpPr>
            <p:nvPr/>
          </p:nvSpPr>
          <p:spPr bwMode="auto">
            <a:xfrm>
              <a:off x="559" y="2586"/>
              <a:ext cx="58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b="1">
                  <a:solidFill>
                    <a:srgbClr val="FF0000"/>
                  </a:solidFill>
                  <a:latin typeface="宋体" panose="02010600030101010101" pitchFamily="2" charset="-122"/>
                </a:rPr>
                <a:t>3DD101D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86" name="Rectangle 387"/>
            <p:cNvSpPr>
              <a:spLocks noChangeArrowheads="1"/>
            </p:cNvSpPr>
            <p:nvPr/>
          </p:nvSpPr>
          <p:spPr bwMode="auto">
            <a:xfrm>
              <a:off x="1289" y="2586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5W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87" name="Rectangle 388"/>
            <p:cNvSpPr>
              <a:spLocks noChangeArrowheads="1"/>
            </p:cNvSpPr>
            <p:nvPr/>
          </p:nvSpPr>
          <p:spPr bwMode="auto">
            <a:xfrm>
              <a:off x="1862" y="2586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 5A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88" name="Rectangle 389"/>
            <p:cNvSpPr>
              <a:spLocks noChangeArrowheads="1"/>
            </p:cNvSpPr>
            <p:nvPr/>
          </p:nvSpPr>
          <p:spPr bwMode="auto">
            <a:xfrm>
              <a:off x="2517" y="2586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300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89" name="Rectangle 390"/>
            <p:cNvSpPr>
              <a:spLocks noChangeArrowheads="1"/>
            </p:cNvSpPr>
            <p:nvPr/>
          </p:nvSpPr>
          <p:spPr bwMode="auto">
            <a:xfrm>
              <a:off x="3090" y="2586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250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90" name="Rectangle 391"/>
            <p:cNvSpPr>
              <a:spLocks noChangeArrowheads="1"/>
            </p:cNvSpPr>
            <p:nvPr/>
          </p:nvSpPr>
          <p:spPr bwMode="auto">
            <a:xfrm>
              <a:off x="3663" y="2586"/>
              <a:ext cx="15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4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91" name="Rectangle 392"/>
            <p:cNvSpPr>
              <a:spLocks noChangeArrowheads="1"/>
            </p:cNvSpPr>
            <p:nvPr/>
          </p:nvSpPr>
          <p:spPr bwMode="auto">
            <a:xfrm>
              <a:off x="4269" y="2586"/>
              <a:ext cx="22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≤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92" name="Rectangle 393"/>
            <p:cNvSpPr>
              <a:spLocks noChangeArrowheads="1"/>
            </p:cNvSpPr>
            <p:nvPr/>
          </p:nvSpPr>
          <p:spPr bwMode="auto">
            <a:xfrm>
              <a:off x="4413" y="2586"/>
              <a:ext cx="33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2100">
                  <a:solidFill>
                    <a:srgbClr val="000000"/>
                  </a:solidFill>
                </a:rPr>
                <a:t>mA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93" name="Rectangle 394"/>
            <p:cNvSpPr>
              <a:spLocks noChangeArrowheads="1"/>
            </p:cNvSpPr>
            <p:nvPr/>
          </p:nvSpPr>
          <p:spPr bwMode="auto">
            <a:xfrm>
              <a:off x="480" y="255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395"/>
            <p:cNvSpPr>
              <a:spLocks noChangeShapeType="1"/>
            </p:cNvSpPr>
            <p:nvPr/>
          </p:nvSpPr>
          <p:spPr bwMode="auto">
            <a:xfrm>
              <a:off x="480" y="255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396"/>
            <p:cNvSpPr>
              <a:spLocks noChangeShapeType="1"/>
            </p:cNvSpPr>
            <p:nvPr/>
          </p:nvSpPr>
          <p:spPr bwMode="auto">
            <a:xfrm>
              <a:off x="480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Rectangle 397"/>
            <p:cNvSpPr>
              <a:spLocks noChangeArrowheads="1"/>
            </p:cNvSpPr>
            <p:nvPr/>
          </p:nvSpPr>
          <p:spPr bwMode="auto">
            <a:xfrm>
              <a:off x="487" y="2557"/>
              <a:ext cx="72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398"/>
            <p:cNvSpPr>
              <a:spLocks noChangeShapeType="1"/>
            </p:cNvSpPr>
            <p:nvPr/>
          </p:nvSpPr>
          <p:spPr bwMode="auto">
            <a:xfrm>
              <a:off x="487" y="2557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Rectangle 399"/>
            <p:cNvSpPr>
              <a:spLocks noChangeArrowheads="1"/>
            </p:cNvSpPr>
            <p:nvPr/>
          </p:nvSpPr>
          <p:spPr bwMode="auto">
            <a:xfrm>
              <a:off x="1210" y="255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400"/>
            <p:cNvSpPr>
              <a:spLocks noChangeShapeType="1"/>
            </p:cNvSpPr>
            <p:nvPr/>
          </p:nvSpPr>
          <p:spPr bwMode="auto">
            <a:xfrm>
              <a:off x="1210" y="255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Line 401"/>
            <p:cNvSpPr>
              <a:spLocks noChangeShapeType="1"/>
            </p:cNvSpPr>
            <p:nvPr/>
          </p:nvSpPr>
          <p:spPr bwMode="auto">
            <a:xfrm>
              <a:off x="1210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Rectangle 402"/>
            <p:cNvSpPr>
              <a:spLocks noChangeArrowheads="1"/>
            </p:cNvSpPr>
            <p:nvPr/>
          </p:nvSpPr>
          <p:spPr bwMode="auto">
            <a:xfrm>
              <a:off x="1217" y="2557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403"/>
            <p:cNvSpPr>
              <a:spLocks noChangeShapeType="1"/>
            </p:cNvSpPr>
            <p:nvPr/>
          </p:nvSpPr>
          <p:spPr bwMode="auto">
            <a:xfrm>
              <a:off x="1217" y="2557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Rectangle 404"/>
            <p:cNvSpPr>
              <a:spLocks noChangeArrowheads="1"/>
            </p:cNvSpPr>
            <p:nvPr/>
          </p:nvSpPr>
          <p:spPr bwMode="auto">
            <a:xfrm>
              <a:off x="1783" y="255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4" name="Group 405"/>
          <p:cNvGrpSpPr/>
          <p:nvPr/>
        </p:nvGrpSpPr>
        <p:grpSpPr bwMode="auto">
          <a:xfrm>
            <a:off x="2163762" y="4073525"/>
            <a:ext cx="7864475" cy="1057275"/>
            <a:chOff x="480" y="2557"/>
            <a:chExt cx="4954" cy="666"/>
          </a:xfrm>
        </p:grpSpPr>
        <p:sp>
          <p:nvSpPr>
            <p:cNvPr id="405" name="Line 406"/>
            <p:cNvSpPr>
              <a:spLocks noChangeShapeType="1"/>
            </p:cNvSpPr>
            <p:nvPr/>
          </p:nvSpPr>
          <p:spPr bwMode="auto">
            <a:xfrm>
              <a:off x="1783" y="255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407"/>
            <p:cNvSpPr>
              <a:spLocks noChangeShapeType="1"/>
            </p:cNvSpPr>
            <p:nvPr/>
          </p:nvSpPr>
          <p:spPr bwMode="auto">
            <a:xfrm>
              <a:off x="1783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Rectangle 408"/>
            <p:cNvSpPr>
              <a:spLocks noChangeArrowheads="1"/>
            </p:cNvSpPr>
            <p:nvPr/>
          </p:nvSpPr>
          <p:spPr bwMode="auto">
            <a:xfrm>
              <a:off x="1790" y="2557"/>
              <a:ext cx="64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409"/>
            <p:cNvSpPr>
              <a:spLocks noChangeShapeType="1"/>
            </p:cNvSpPr>
            <p:nvPr/>
          </p:nvSpPr>
          <p:spPr bwMode="auto">
            <a:xfrm>
              <a:off x="1790" y="2557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Rectangle 410"/>
            <p:cNvSpPr>
              <a:spLocks noChangeArrowheads="1"/>
            </p:cNvSpPr>
            <p:nvPr/>
          </p:nvSpPr>
          <p:spPr bwMode="auto">
            <a:xfrm>
              <a:off x="2438" y="255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Line 411"/>
            <p:cNvSpPr>
              <a:spLocks noChangeShapeType="1"/>
            </p:cNvSpPr>
            <p:nvPr/>
          </p:nvSpPr>
          <p:spPr bwMode="auto">
            <a:xfrm>
              <a:off x="2438" y="255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Line 412"/>
            <p:cNvSpPr>
              <a:spLocks noChangeShapeType="1"/>
            </p:cNvSpPr>
            <p:nvPr/>
          </p:nvSpPr>
          <p:spPr bwMode="auto">
            <a:xfrm>
              <a:off x="2438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Rectangle 413"/>
            <p:cNvSpPr>
              <a:spLocks noChangeArrowheads="1"/>
            </p:cNvSpPr>
            <p:nvPr/>
          </p:nvSpPr>
          <p:spPr bwMode="auto">
            <a:xfrm>
              <a:off x="2445" y="2557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Line 414"/>
            <p:cNvSpPr>
              <a:spLocks noChangeShapeType="1"/>
            </p:cNvSpPr>
            <p:nvPr/>
          </p:nvSpPr>
          <p:spPr bwMode="auto">
            <a:xfrm>
              <a:off x="2445" y="2557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Rectangle 415"/>
            <p:cNvSpPr>
              <a:spLocks noChangeArrowheads="1"/>
            </p:cNvSpPr>
            <p:nvPr/>
          </p:nvSpPr>
          <p:spPr bwMode="auto">
            <a:xfrm>
              <a:off x="3011" y="255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416"/>
            <p:cNvSpPr>
              <a:spLocks noChangeShapeType="1"/>
            </p:cNvSpPr>
            <p:nvPr/>
          </p:nvSpPr>
          <p:spPr bwMode="auto">
            <a:xfrm>
              <a:off x="3011" y="255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417"/>
            <p:cNvSpPr>
              <a:spLocks noChangeShapeType="1"/>
            </p:cNvSpPr>
            <p:nvPr/>
          </p:nvSpPr>
          <p:spPr bwMode="auto">
            <a:xfrm>
              <a:off x="3011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Rectangle 418"/>
            <p:cNvSpPr>
              <a:spLocks noChangeArrowheads="1"/>
            </p:cNvSpPr>
            <p:nvPr/>
          </p:nvSpPr>
          <p:spPr bwMode="auto">
            <a:xfrm>
              <a:off x="3018" y="2557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Line 419"/>
            <p:cNvSpPr>
              <a:spLocks noChangeShapeType="1"/>
            </p:cNvSpPr>
            <p:nvPr/>
          </p:nvSpPr>
          <p:spPr bwMode="auto">
            <a:xfrm>
              <a:off x="3018" y="2557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Rectangle 420"/>
            <p:cNvSpPr>
              <a:spLocks noChangeArrowheads="1"/>
            </p:cNvSpPr>
            <p:nvPr/>
          </p:nvSpPr>
          <p:spPr bwMode="auto">
            <a:xfrm>
              <a:off x="3584" y="255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Line 421"/>
            <p:cNvSpPr>
              <a:spLocks noChangeShapeType="1"/>
            </p:cNvSpPr>
            <p:nvPr/>
          </p:nvSpPr>
          <p:spPr bwMode="auto">
            <a:xfrm>
              <a:off x="3584" y="255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Line 422"/>
            <p:cNvSpPr>
              <a:spLocks noChangeShapeType="1"/>
            </p:cNvSpPr>
            <p:nvPr/>
          </p:nvSpPr>
          <p:spPr bwMode="auto">
            <a:xfrm>
              <a:off x="3584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Rectangle 423"/>
            <p:cNvSpPr>
              <a:spLocks noChangeArrowheads="1"/>
            </p:cNvSpPr>
            <p:nvPr/>
          </p:nvSpPr>
          <p:spPr bwMode="auto">
            <a:xfrm>
              <a:off x="3591" y="2557"/>
              <a:ext cx="59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Line 424"/>
            <p:cNvSpPr>
              <a:spLocks noChangeShapeType="1"/>
            </p:cNvSpPr>
            <p:nvPr/>
          </p:nvSpPr>
          <p:spPr bwMode="auto">
            <a:xfrm>
              <a:off x="3591" y="2557"/>
              <a:ext cx="5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Rectangle 425"/>
            <p:cNvSpPr>
              <a:spLocks noChangeArrowheads="1"/>
            </p:cNvSpPr>
            <p:nvPr/>
          </p:nvSpPr>
          <p:spPr bwMode="auto">
            <a:xfrm>
              <a:off x="4190" y="255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Line 426"/>
            <p:cNvSpPr>
              <a:spLocks noChangeShapeType="1"/>
            </p:cNvSpPr>
            <p:nvPr/>
          </p:nvSpPr>
          <p:spPr bwMode="auto">
            <a:xfrm>
              <a:off x="4190" y="2557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Line 427"/>
            <p:cNvSpPr>
              <a:spLocks noChangeShapeType="1"/>
            </p:cNvSpPr>
            <p:nvPr/>
          </p:nvSpPr>
          <p:spPr bwMode="auto">
            <a:xfrm>
              <a:off x="4190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Rectangle 428"/>
            <p:cNvSpPr>
              <a:spLocks noChangeArrowheads="1"/>
            </p:cNvSpPr>
            <p:nvPr/>
          </p:nvSpPr>
          <p:spPr bwMode="auto">
            <a:xfrm>
              <a:off x="4197" y="2557"/>
              <a:ext cx="612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Line 429"/>
            <p:cNvSpPr>
              <a:spLocks noChangeShapeType="1"/>
            </p:cNvSpPr>
            <p:nvPr/>
          </p:nvSpPr>
          <p:spPr bwMode="auto">
            <a:xfrm>
              <a:off x="4197" y="2557"/>
              <a:ext cx="6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Rectangle 430"/>
            <p:cNvSpPr>
              <a:spLocks noChangeArrowheads="1"/>
            </p:cNvSpPr>
            <p:nvPr/>
          </p:nvSpPr>
          <p:spPr bwMode="auto">
            <a:xfrm>
              <a:off x="4809" y="2557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Line 431"/>
            <p:cNvSpPr>
              <a:spLocks noChangeShapeType="1"/>
            </p:cNvSpPr>
            <p:nvPr/>
          </p:nvSpPr>
          <p:spPr bwMode="auto">
            <a:xfrm>
              <a:off x="4809" y="2557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432"/>
            <p:cNvSpPr>
              <a:spLocks noChangeShapeType="1"/>
            </p:cNvSpPr>
            <p:nvPr/>
          </p:nvSpPr>
          <p:spPr bwMode="auto">
            <a:xfrm>
              <a:off x="4809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Rectangle 433"/>
            <p:cNvSpPr>
              <a:spLocks noChangeArrowheads="1"/>
            </p:cNvSpPr>
            <p:nvPr/>
          </p:nvSpPr>
          <p:spPr bwMode="auto">
            <a:xfrm>
              <a:off x="4815" y="2557"/>
              <a:ext cx="61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Line 434"/>
            <p:cNvSpPr>
              <a:spLocks noChangeShapeType="1"/>
            </p:cNvSpPr>
            <p:nvPr/>
          </p:nvSpPr>
          <p:spPr bwMode="auto">
            <a:xfrm>
              <a:off x="4815" y="2557"/>
              <a:ext cx="6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Rectangle 435"/>
            <p:cNvSpPr>
              <a:spLocks noChangeArrowheads="1"/>
            </p:cNvSpPr>
            <p:nvPr/>
          </p:nvSpPr>
          <p:spPr bwMode="auto">
            <a:xfrm>
              <a:off x="5428" y="2557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Line 436"/>
            <p:cNvSpPr>
              <a:spLocks noChangeShapeType="1"/>
            </p:cNvSpPr>
            <p:nvPr/>
          </p:nvSpPr>
          <p:spPr bwMode="auto">
            <a:xfrm>
              <a:off x="5428" y="2557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Line 437"/>
            <p:cNvSpPr>
              <a:spLocks noChangeShapeType="1"/>
            </p:cNvSpPr>
            <p:nvPr/>
          </p:nvSpPr>
          <p:spPr bwMode="auto">
            <a:xfrm>
              <a:off x="5428" y="2557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Rectangle 438"/>
            <p:cNvSpPr>
              <a:spLocks noChangeArrowheads="1"/>
            </p:cNvSpPr>
            <p:nvPr/>
          </p:nvSpPr>
          <p:spPr bwMode="auto">
            <a:xfrm>
              <a:off x="480" y="2564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Line 439"/>
            <p:cNvSpPr>
              <a:spLocks noChangeShapeType="1"/>
            </p:cNvSpPr>
            <p:nvPr/>
          </p:nvSpPr>
          <p:spPr bwMode="auto">
            <a:xfrm>
              <a:off x="480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Rectangle 440"/>
            <p:cNvSpPr>
              <a:spLocks noChangeArrowheads="1"/>
            </p:cNvSpPr>
            <p:nvPr/>
          </p:nvSpPr>
          <p:spPr bwMode="auto">
            <a:xfrm>
              <a:off x="1210" y="2564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Line 441"/>
            <p:cNvSpPr>
              <a:spLocks noChangeShapeType="1"/>
            </p:cNvSpPr>
            <p:nvPr/>
          </p:nvSpPr>
          <p:spPr bwMode="auto">
            <a:xfrm>
              <a:off x="1210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Rectangle 442"/>
            <p:cNvSpPr>
              <a:spLocks noChangeArrowheads="1"/>
            </p:cNvSpPr>
            <p:nvPr/>
          </p:nvSpPr>
          <p:spPr bwMode="auto">
            <a:xfrm>
              <a:off x="1783" y="2564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Line 443"/>
            <p:cNvSpPr>
              <a:spLocks noChangeShapeType="1"/>
            </p:cNvSpPr>
            <p:nvPr/>
          </p:nvSpPr>
          <p:spPr bwMode="auto">
            <a:xfrm>
              <a:off x="1783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Rectangle 444"/>
            <p:cNvSpPr>
              <a:spLocks noChangeArrowheads="1"/>
            </p:cNvSpPr>
            <p:nvPr/>
          </p:nvSpPr>
          <p:spPr bwMode="auto">
            <a:xfrm>
              <a:off x="2438" y="2564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Line 445"/>
            <p:cNvSpPr>
              <a:spLocks noChangeShapeType="1"/>
            </p:cNvSpPr>
            <p:nvPr/>
          </p:nvSpPr>
          <p:spPr bwMode="auto">
            <a:xfrm>
              <a:off x="2438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Rectangle 446"/>
            <p:cNvSpPr>
              <a:spLocks noChangeArrowheads="1"/>
            </p:cNvSpPr>
            <p:nvPr/>
          </p:nvSpPr>
          <p:spPr bwMode="auto">
            <a:xfrm>
              <a:off x="3011" y="2564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Line 447"/>
            <p:cNvSpPr>
              <a:spLocks noChangeShapeType="1"/>
            </p:cNvSpPr>
            <p:nvPr/>
          </p:nvSpPr>
          <p:spPr bwMode="auto">
            <a:xfrm>
              <a:off x="3011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Rectangle 448"/>
            <p:cNvSpPr>
              <a:spLocks noChangeArrowheads="1"/>
            </p:cNvSpPr>
            <p:nvPr/>
          </p:nvSpPr>
          <p:spPr bwMode="auto">
            <a:xfrm>
              <a:off x="3584" y="2564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Line 449"/>
            <p:cNvSpPr>
              <a:spLocks noChangeShapeType="1"/>
            </p:cNvSpPr>
            <p:nvPr/>
          </p:nvSpPr>
          <p:spPr bwMode="auto">
            <a:xfrm>
              <a:off x="3584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Rectangle 450"/>
            <p:cNvSpPr>
              <a:spLocks noChangeArrowheads="1"/>
            </p:cNvSpPr>
            <p:nvPr/>
          </p:nvSpPr>
          <p:spPr bwMode="auto">
            <a:xfrm>
              <a:off x="4190" y="2564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" name="Line 451"/>
            <p:cNvSpPr>
              <a:spLocks noChangeShapeType="1"/>
            </p:cNvSpPr>
            <p:nvPr/>
          </p:nvSpPr>
          <p:spPr bwMode="auto">
            <a:xfrm>
              <a:off x="4190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" name="Rectangle 452"/>
            <p:cNvSpPr>
              <a:spLocks noChangeArrowheads="1"/>
            </p:cNvSpPr>
            <p:nvPr/>
          </p:nvSpPr>
          <p:spPr bwMode="auto">
            <a:xfrm>
              <a:off x="4809" y="2564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" name="Line 453"/>
            <p:cNvSpPr>
              <a:spLocks noChangeShapeType="1"/>
            </p:cNvSpPr>
            <p:nvPr/>
          </p:nvSpPr>
          <p:spPr bwMode="auto">
            <a:xfrm>
              <a:off x="4809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" name="Rectangle 454"/>
            <p:cNvSpPr>
              <a:spLocks noChangeArrowheads="1"/>
            </p:cNvSpPr>
            <p:nvPr/>
          </p:nvSpPr>
          <p:spPr bwMode="auto">
            <a:xfrm>
              <a:off x="5428" y="2564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Line 455"/>
            <p:cNvSpPr>
              <a:spLocks noChangeShapeType="1"/>
            </p:cNvSpPr>
            <p:nvPr/>
          </p:nvSpPr>
          <p:spPr bwMode="auto">
            <a:xfrm>
              <a:off x="5428" y="2564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5" name="Rectangle 456"/>
            <p:cNvSpPr>
              <a:spLocks noChangeArrowheads="1"/>
            </p:cNvSpPr>
            <p:nvPr/>
          </p:nvSpPr>
          <p:spPr bwMode="auto">
            <a:xfrm>
              <a:off x="559" y="2802"/>
              <a:ext cx="58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b="1">
                  <a:solidFill>
                    <a:srgbClr val="FF0000"/>
                  </a:solidFill>
                  <a:latin typeface="宋体" panose="02010600030101010101" pitchFamily="2" charset="-122"/>
                </a:rPr>
                <a:t>3DK100B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56" name="Rectangle 457"/>
            <p:cNvSpPr>
              <a:spLocks noChangeArrowheads="1"/>
            </p:cNvSpPr>
            <p:nvPr/>
          </p:nvSpPr>
          <p:spPr bwMode="auto">
            <a:xfrm>
              <a:off x="1289" y="2802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100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57" name="Rectangle 458"/>
            <p:cNvSpPr>
              <a:spLocks noChangeArrowheads="1"/>
            </p:cNvSpPr>
            <p:nvPr/>
          </p:nvSpPr>
          <p:spPr bwMode="auto">
            <a:xfrm>
              <a:off x="1862" y="2802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 30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58" name="Rectangle 459"/>
            <p:cNvSpPr>
              <a:spLocks noChangeArrowheads="1"/>
            </p:cNvSpPr>
            <p:nvPr/>
          </p:nvSpPr>
          <p:spPr bwMode="auto">
            <a:xfrm>
              <a:off x="2517" y="2802"/>
              <a:ext cx="30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25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59" name="Rectangle 460"/>
            <p:cNvSpPr>
              <a:spLocks noChangeArrowheads="1"/>
            </p:cNvSpPr>
            <p:nvPr/>
          </p:nvSpPr>
          <p:spPr bwMode="auto">
            <a:xfrm>
              <a:off x="3090" y="2802"/>
              <a:ext cx="30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15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60" name="Rectangle 461"/>
            <p:cNvSpPr>
              <a:spLocks noChangeArrowheads="1"/>
            </p:cNvSpPr>
            <p:nvPr/>
          </p:nvSpPr>
          <p:spPr bwMode="auto">
            <a:xfrm>
              <a:off x="4269" y="2802"/>
              <a:ext cx="22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≤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61" name="Rectangle 462"/>
            <p:cNvSpPr>
              <a:spLocks noChangeArrowheads="1"/>
            </p:cNvSpPr>
            <p:nvPr/>
          </p:nvSpPr>
          <p:spPr bwMode="auto">
            <a:xfrm>
              <a:off x="4413" y="2802"/>
              <a:ext cx="30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0.1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62" name="Rectangle 463"/>
            <p:cNvSpPr>
              <a:spLocks noChangeArrowheads="1"/>
            </p:cNvSpPr>
            <p:nvPr/>
          </p:nvSpPr>
          <p:spPr bwMode="auto">
            <a:xfrm>
              <a:off x="4884" y="2802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300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463" name="Rectangle 464"/>
            <p:cNvSpPr>
              <a:spLocks noChangeArrowheads="1"/>
            </p:cNvSpPr>
            <p:nvPr/>
          </p:nvSpPr>
          <p:spPr bwMode="auto">
            <a:xfrm>
              <a:off x="480" y="2776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" name="Line 465"/>
            <p:cNvSpPr>
              <a:spLocks noChangeShapeType="1"/>
            </p:cNvSpPr>
            <p:nvPr/>
          </p:nvSpPr>
          <p:spPr bwMode="auto">
            <a:xfrm>
              <a:off x="480" y="2776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5" name="Line 466"/>
            <p:cNvSpPr>
              <a:spLocks noChangeShapeType="1"/>
            </p:cNvSpPr>
            <p:nvPr/>
          </p:nvSpPr>
          <p:spPr bwMode="auto">
            <a:xfrm>
              <a:off x="480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" name="Rectangle 467"/>
            <p:cNvSpPr>
              <a:spLocks noChangeArrowheads="1"/>
            </p:cNvSpPr>
            <p:nvPr/>
          </p:nvSpPr>
          <p:spPr bwMode="auto">
            <a:xfrm>
              <a:off x="487" y="2776"/>
              <a:ext cx="72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" name="Line 468"/>
            <p:cNvSpPr>
              <a:spLocks noChangeShapeType="1"/>
            </p:cNvSpPr>
            <p:nvPr/>
          </p:nvSpPr>
          <p:spPr bwMode="auto">
            <a:xfrm>
              <a:off x="487" y="2776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8" name="Rectangle 469"/>
            <p:cNvSpPr>
              <a:spLocks noChangeArrowheads="1"/>
            </p:cNvSpPr>
            <p:nvPr/>
          </p:nvSpPr>
          <p:spPr bwMode="auto">
            <a:xfrm>
              <a:off x="1210" y="2776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" name="Line 470"/>
            <p:cNvSpPr>
              <a:spLocks noChangeShapeType="1"/>
            </p:cNvSpPr>
            <p:nvPr/>
          </p:nvSpPr>
          <p:spPr bwMode="auto">
            <a:xfrm>
              <a:off x="1210" y="2776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" name="Line 471"/>
            <p:cNvSpPr>
              <a:spLocks noChangeShapeType="1"/>
            </p:cNvSpPr>
            <p:nvPr/>
          </p:nvSpPr>
          <p:spPr bwMode="auto">
            <a:xfrm>
              <a:off x="1210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" name="Rectangle 472"/>
            <p:cNvSpPr>
              <a:spLocks noChangeArrowheads="1"/>
            </p:cNvSpPr>
            <p:nvPr/>
          </p:nvSpPr>
          <p:spPr bwMode="auto">
            <a:xfrm>
              <a:off x="1217" y="2776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" name="Line 473"/>
            <p:cNvSpPr>
              <a:spLocks noChangeShapeType="1"/>
            </p:cNvSpPr>
            <p:nvPr/>
          </p:nvSpPr>
          <p:spPr bwMode="auto">
            <a:xfrm>
              <a:off x="1217" y="2776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" name="Rectangle 474"/>
            <p:cNvSpPr>
              <a:spLocks noChangeArrowheads="1"/>
            </p:cNvSpPr>
            <p:nvPr/>
          </p:nvSpPr>
          <p:spPr bwMode="auto">
            <a:xfrm>
              <a:off x="1783" y="2776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" name="Line 475"/>
            <p:cNvSpPr>
              <a:spLocks noChangeShapeType="1"/>
            </p:cNvSpPr>
            <p:nvPr/>
          </p:nvSpPr>
          <p:spPr bwMode="auto">
            <a:xfrm>
              <a:off x="1783" y="2776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" name="Line 476"/>
            <p:cNvSpPr>
              <a:spLocks noChangeShapeType="1"/>
            </p:cNvSpPr>
            <p:nvPr/>
          </p:nvSpPr>
          <p:spPr bwMode="auto">
            <a:xfrm>
              <a:off x="1783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6" name="Rectangle 477"/>
            <p:cNvSpPr>
              <a:spLocks noChangeArrowheads="1"/>
            </p:cNvSpPr>
            <p:nvPr/>
          </p:nvSpPr>
          <p:spPr bwMode="auto">
            <a:xfrm>
              <a:off x="1790" y="2776"/>
              <a:ext cx="64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" name="Line 478"/>
            <p:cNvSpPr>
              <a:spLocks noChangeShapeType="1"/>
            </p:cNvSpPr>
            <p:nvPr/>
          </p:nvSpPr>
          <p:spPr bwMode="auto">
            <a:xfrm>
              <a:off x="1790" y="2776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" name="Rectangle 479"/>
            <p:cNvSpPr>
              <a:spLocks noChangeArrowheads="1"/>
            </p:cNvSpPr>
            <p:nvPr/>
          </p:nvSpPr>
          <p:spPr bwMode="auto">
            <a:xfrm>
              <a:off x="2438" y="2776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9" name="Line 480"/>
            <p:cNvSpPr>
              <a:spLocks noChangeShapeType="1"/>
            </p:cNvSpPr>
            <p:nvPr/>
          </p:nvSpPr>
          <p:spPr bwMode="auto">
            <a:xfrm>
              <a:off x="2438" y="2776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0" name="Line 481"/>
            <p:cNvSpPr>
              <a:spLocks noChangeShapeType="1"/>
            </p:cNvSpPr>
            <p:nvPr/>
          </p:nvSpPr>
          <p:spPr bwMode="auto">
            <a:xfrm>
              <a:off x="2438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" name="Rectangle 482"/>
            <p:cNvSpPr>
              <a:spLocks noChangeArrowheads="1"/>
            </p:cNvSpPr>
            <p:nvPr/>
          </p:nvSpPr>
          <p:spPr bwMode="auto">
            <a:xfrm>
              <a:off x="2445" y="2776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" name="Line 483"/>
            <p:cNvSpPr>
              <a:spLocks noChangeShapeType="1"/>
            </p:cNvSpPr>
            <p:nvPr/>
          </p:nvSpPr>
          <p:spPr bwMode="auto">
            <a:xfrm>
              <a:off x="2445" y="2776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" name="Rectangle 484"/>
            <p:cNvSpPr>
              <a:spLocks noChangeArrowheads="1"/>
            </p:cNvSpPr>
            <p:nvPr/>
          </p:nvSpPr>
          <p:spPr bwMode="auto">
            <a:xfrm>
              <a:off x="3011" y="2776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" name="Line 485"/>
            <p:cNvSpPr>
              <a:spLocks noChangeShapeType="1"/>
            </p:cNvSpPr>
            <p:nvPr/>
          </p:nvSpPr>
          <p:spPr bwMode="auto">
            <a:xfrm>
              <a:off x="3011" y="2776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" name="Line 486"/>
            <p:cNvSpPr>
              <a:spLocks noChangeShapeType="1"/>
            </p:cNvSpPr>
            <p:nvPr/>
          </p:nvSpPr>
          <p:spPr bwMode="auto">
            <a:xfrm>
              <a:off x="3011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" name="Rectangle 487"/>
            <p:cNvSpPr>
              <a:spLocks noChangeArrowheads="1"/>
            </p:cNvSpPr>
            <p:nvPr/>
          </p:nvSpPr>
          <p:spPr bwMode="auto">
            <a:xfrm>
              <a:off x="3018" y="2776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7" name="Line 488"/>
            <p:cNvSpPr>
              <a:spLocks noChangeShapeType="1"/>
            </p:cNvSpPr>
            <p:nvPr/>
          </p:nvSpPr>
          <p:spPr bwMode="auto">
            <a:xfrm>
              <a:off x="3018" y="2776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8" name="Rectangle 489"/>
            <p:cNvSpPr>
              <a:spLocks noChangeArrowheads="1"/>
            </p:cNvSpPr>
            <p:nvPr/>
          </p:nvSpPr>
          <p:spPr bwMode="auto">
            <a:xfrm>
              <a:off x="3584" y="2776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" name="Line 490"/>
            <p:cNvSpPr>
              <a:spLocks noChangeShapeType="1"/>
            </p:cNvSpPr>
            <p:nvPr/>
          </p:nvSpPr>
          <p:spPr bwMode="auto">
            <a:xfrm>
              <a:off x="3584" y="2776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" name="Line 491"/>
            <p:cNvSpPr>
              <a:spLocks noChangeShapeType="1"/>
            </p:cNvSpPr>
            <p:nvPr/>
          </p:nvSpPr>
          <p:spPr bwMode="auto">
            <a:xfrm>
              <a:off x="3584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" name="Rectangle 492"/>
            <p:cNvSpPr>
              <a:spLocks noChangeArrowheads="1"/>
            </p:cNvSpPr>
            <p:nvPr/>
          </p:nvSpPr>
          <p:spPr bwMode="auto">
            <a:xfrm>
              <a:off x="3591" y="2776"/>
              <a:ext cx="59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" name="Line 493"/>
            <p:cNvSpPr>
              <a:spLocks noChangeShapeType="1"/>
            </p:cNvSpPr>
            <p:nvPr/>
          </p:nvSpPr>
          <p:spPr bwMode="auto">
            <a:xfrm>
              <a:off x="3591" y="2776"/>
              <a:ext cx="5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3" name="Rectangle 494"/>
            <p:cNvSpPr>
              <a:spLocks noChangeArrowheads="1"/>
            </p:cNvSpPr>
            <p:nvPr/>
          </p:nvSpPr>
          <p:spPr bwMode="auto">
            <a:xfrm>
              <a:off x="4190" y="2776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" name="Line 495"/>
            <p:cNvSpPr>
              <a:spLocks noChangeShapeType="1"/>
            </p:cNvSpPr>
            <p:nvPr/>
          </p:nvSpPr>
          <p:spPr bwMode="auto">
            <a:xfrm>
              <a:off x="4190" y="2776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5" name="Line 496"/>
            <p:cNvSpPr>
              <a:spLocks noChangeShapeType="1"/>
            </p:cNvSpPr>
            <p:nvPr/>
          </p:nvSpPr>
          <p:spPr bwMode="auto">
            <a:xfrm>
              <a:off x="4190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" name="Rectangle 497"/>
            <p:cNvSpPr>
              <a:spLocks noChangeArrowheads="1"/>
            </p:cNvSpPr>
            <p:nvPr/>
          </p:nvSpPr>
          <p:spPr bwMode="auto">
            <a:xfrm>
              <a:off x="4197" y="2776"/>
              <a:ext cx="612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7" name="Line 498"/>
            <p:cNvSpPr>
              <a:spLocks noChangeShapeType="1"/>
            </p:cNvSpPr>
            <p:nvPr/>
          </p:nvSpPr>
          <p:spPr bwMode="auto">
            <a:xfrm>
              <a:off x="4197" y="2776"/>
              <a:ext cx="6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8" name="Rectangle 499"/>
            <p:cNvSpPr>
              <a:spLocks noChangeArrowheads="1"/>
            </p:cNvSpPr>
            <p:nvPr/>
          </p:nvSpPr>
          <p:spPr bwMode="auto">
            <a:xfrm>
              <a:off x="4809" y="2776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9" name="Line 500"/>
            <p:cNvSpPr>
              <a:spLocks noChangeShapeType="1"/>
            </p:cNvSpPr>
            <p:nvPr/>
          </p:nvSpPr>
          <p:spPr bwMode="auto">
            <a:xfrm>
              <a:off x="4809" y="2776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0" name="Line 501"/>
            <p:cNvSpPr>
              <a:spLocks noChangeShapeType="1"/>
            </p:cNvSpPr>
            <p:nvPr/>
          </p:nvSpPr>
          <p:spPr bwMode="auto">
            <a:xfrm>
              <a:off x="4809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" name="Rectangle 502"/>
            <p:cNvSpPr>
              <a:spLocks noChangeArrowheads="1"/>
            </p:cNvSpPr>
            <p:nvPr/>
          </p:nvSpPr>
          <p:spPr bwMode="auto">
            <a:xfrm>
              <a:off x="4815" y="2776"/>
              <a:ext cx="61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" name="Line 503"/>
            <p:cNvSpPr>
              <a:spLocks noChangeShapeType="1"/>
            </p:cNvSpPr>
            <p:nvPr/>
          </p:nvSpPr>
          <p:spPr bwMode="auto">
            <a:xfrm>
              <a:off x="4815" y="2776"/>
              <a:ext cx="6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" name="Rectangle 504"/>
            <p:cNvSpPr>
              <a:spLocks noChangeArrowheads="1"/>
            </p:cNvSpPr>
            <p:nvPr/>
          </p:nvSpPr>
          <p:spPr bwMode="auto">
            <a:xfrm>
              <a:off x="5428" y="2776"/>
              <a:ext cx="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4" name="Line 505"/>
            <p:cNvSpPr>
              <a:spLocks noChangeShapeType="1"/>
            </p:cNvSpPr>
            <p:nvPr/>
          </p:nvSpPr>
          <p:spPr bwMode="auto">
            <a:xfrm>
              <a:off x="5428" y="2776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5" name="Line 506"/>
            <p:cNvSpPr>
              <a:spLocks noChangeShapeType="1"/>
            </p:cNvSpPr>
            <p:nvPr/>
          </p:nvSpPr>
          <p:spPr bwMode="auto">
            <a:xfrm>
              <a:off x="5428" y="2776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6" name="Rectangle 507"/>
            <p:cNvSpPr>
              <a:spLocks noChangeArrowheads="1"/>
            </p:cNvSpPr>
            <p:nvPr/>
          </p:nvSpPr>
          <p:spPr bwMode="auto">
            <a:xfrm>
              <a:off x="480" y="278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7" name="Line 508"/>
            <p:cNvSpPr>
              <a:spLocks noChangeShapeType="1"/>
            </p:cNvSpPr>
            <p:nvPr/>
          </p:nvSpPr>
          <p:spPr bwMode="auto">
            <a:xfrm>
              <a:off x="480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8" name="Rectangle 509"/>
            <p:cNvSpPr>
              <a:spLocks noChangeArrowheads="1"/>
            </p:cNvSpPr>
            <p:nvPr/>
          </p:nvSpPr>
          <p:spPr bwMode="auto">
            <a:xfrm>
              <a:off x="1210" y="278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9" name="Line 510"/>
            <p:cNvSpPr>
              <a:spLocks noChangeShapeType="1"/>
            </p:cNvSpPr>
            <p:nvPr/>
          </p:nvSpPr>
          <p:spPr bwMode="auto">
            <a:xfrm>
              <a:off x="1210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0" name="Rectangle 511"/>
            <p:cNvSpPr>
              <a:spLocks noChangeArrowheads="1"/>
            </p:cNvSpPr>
            <p:nvPr/>
          </p:nvSpPr>
          <p:spPr bwMode="auto">
            <a:xfrm>
              <a:off x="1783" y="278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1" name="Line 512"/>
            <p:cNvSpPr>
              <a:spLocks noChangeShapeType="1"/>
            </p:cNvSpPr>
            <p:nvPr/>
          </p:nvSpPr>
          <p:spPr bwMode="auto">
            <a:xfrm>
              <a:off x="1783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" name="Rectangle 513"/>
            <p:cNvSpPr>
              <a:spLocks noChangeArrowheads="1"/>
            </p:cNvSpPr>
            <p:nvPr/>
          </p:nvSpPr>
          <p:spPr bwMode="auto">
            <a:xfrm>
              <a:off x="2438" y="278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" name="Line 514"/>
            <p:cNvSpPr>
              <a:spLocks noChangeShapeType="1"/>
            </p:cNvSpPr>
            <p:nvPr/>
          </p:nvSpPr>
          <p:spPr bwMode="auto">
            <a:xfrm>
              <a:off x="2438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" name="Rectangle 515"/>
            <p:cNvSpPr>
              <a:spLocks noChangeArrowheads="1"/>
            </p:cNvSpPr>
            <p:nvPr/>
          </p:nvSpPr>
          <p:spPr bwMode="auto">
            <a:xfrm>
              <a:off x="3011" y="278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" name="Line 516"/>
            <p:cNvSpPr>
              <a:spLocks noChangeShapeType="1"/>
            </p:cNvSpPr>
            <p:nvPr/>
          </p:nvSpPr>
          <p:spPr bwMode="auto">
            <a:xfrm>
              <a:off x="3011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" name="Rectangle 517"/>
            <p:cNvSpPr>
              <a:spLocks noChangeArrowheads="1"/>
            </p:cNvSpPr>
            <p:nvPr/>
          </p:nvSpPr>
          <p:spPr bwMode="auto">
            <a:xfrm>
              <a:off x="3584" y="278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" name="Line 518"/>
            <p:cNvSpPr>
              <a:spLocks noChangeShapeType="1"/>
            </p:cNvSpPr>
            <p:nvPr/>
          </p:nvSpPr>
          <p:spPr bwMode="auto">
            <a:xfrm>
              <a:off x="3584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" name="Rectangle 519"/>
            <p:cNvSpPr>
              <a:spLocks noChangeArrowheads="1"/>
            </p:cNvSpPr>
            <p:nvPr/>
          </p:nvSpPr>
          <p:spPr bwMode="auto">
            <a:xfrm>
              <a:off x="4190" y="278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" name="Line 520"/>
            <p:cNvSpPr>
              <a:spLocks noChangeShapeType="1"/>
            </p:cNvSpPr>
            <p:nvPr/>
          </p:nvSpPr>
          <p:spPr bwMode="auto">
            <a:xfrm>
              <a:off x="4190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" name="Rectangle 521"/>
            <p:cNvSpPr>
              <a:spLocks noChangeArrowheads="1"/>
            </p:cNvSpPr>
            <p:nvPr/>
          </p:nvSpPr>
          <p:spPr bwMode="auto">
            <a:xfrm>
              <a:off x="4809" y="2783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" name="Line 522"/>
            <p:cNvSpPr>
              <a:spLocks noChangeShapeType="1"/>
            </p:cNvSpPr>
            <p:nvPr/>
          </p:nvSpPr>
          <p:spPr bwMode="auto">
            <a:xfrm>
              <a:off x="4809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" name="Rectangle 523"/>
            <p:cNvSpPr>
              <a:spLocks noChangeArrowheads="1"/>
            </p:cNvSpPr>
            <p:nvPr/>
          </p:nvSpPr>
          <p:spPr bwMode="auto">
            <a:xfrm>
              <a:off x="5428" y="2783"/>
              <a:ext cx="6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" name="Line 524"/>
            <p:cNvSpPr>
              <a:spLocks noChangeShapeType="1"/>
            </p:cNvSpPr>
            <p:nvPr/>
          </p:nvSpPr>
          <p:spPr bwMode="auto">
            <a:xfrm>
              <a:off x="5428" y="278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4" name="Rectangle 525"/>
            <p:cNvSpPr>
              <a:spLocks noChangeArrowheads="1"/>
            </p:cNvSpPr>
            <p:nvPr/>
          </p:nvSpPr>
          <p:spPr bwMode="auto">
            <a:xfrm>
              <a:off x="559" y="3021"/>
              <a:ext cx="63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 b="1">
                  <a:solidFill>
                    <a:srgbClr val="FF0000"/>
                  </a:solidFill>
                </a:rPr>
                <a:t>3DK23G</a:t>
              </a:r>
              <a:endParaRPr lang="en-US" altLang="zh-CN" sz="2100" b="1">
                <a:solidFill>
                  <a:srgbClr val="FF0000"/>
                </a:solidFill>
              </a:endParaRPr>
            </a:p>
          </p:txBody>
        </p:sp>
        <p:sp>
          <p:nvSpPr>
            <p:cNvPr id="525" name="Rectangle 526"/>
            <p:cNvSpPr>
              <a:spLocks noChangeArrowheads="1"/>
            </p:cNvSpPr>
            <p:nvPr/>
          </p:nvSpPr>
          <p:spPr bwMode="auto">
            <a:xfrm>
              <a:off x="1289" y="3021"/>
              <a:ext cx="41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250</a:t>
              </a:r>
              <a:r>
                <a:rPr lang="en-US" altLang="zh-CN" sz="2100">
                  <a:solidFill>
                    <a:srgbClr val="000000"/>
                  </a:solidFill>
                </a:rPr>
                <a:t>W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526" name="Rectangle 527"/>
            <p:cNvSpPr>
              <a:spLocks noChangeArrowheads="1"/>
            </p:cNvSpPr>
            <p:nvPr/>
          </p:nvSpPr>
          <p:spPr bwMode="auto">
            <a:xfrm>
              <a:off x="1862" y="3021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30A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527" name="Rectangle 528"/>
            <p:cNvSpPr>
              <a:spLocks noChangeArrowheads="1"/>
            </p:cNvSpPr>
            <p:nvPr/>
          </p:nvSpPr>
          <p:spPr bwMode="auto">
            <a:xfrm>
              <a:off x="2517" y="3021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400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528" name="Rectangle 529"/>
            <p:cNvSpPr>
              <a:spLocks noChangeArrowheads="1"/>
            </p:cNvSpPr>
            <p:nvPr/>
          </p:nvSpPr>
          <p:spPr bwMode="auto">
            <a:xfrm>
              <a:off x="3090" y="3021"/>
              <a:ext cx="37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325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529" name="Rectangle 530"/>
            <p:cNvSpPr>
              <a:spLocks noChangeArrowheads="1"/>
            </p:cNvSpPr>
            <p:nvPr/>
          </p:nvSpPr>
          <p:spPr bwMode="auto">
            <a:xfrm>
              <a:off x="4884" y="3021"/>
              <a:ext cx="301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ct val="0"/>
                </a:spcBef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宋体" panose="02010600030101010101" pitchFamily="2" charset="-122"/>
                </a:rPr>
                <a:t>  8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530" name="Rectangle 531"/>
            <p:cNvSpPr>
              <a:spLocks noChangeArrowheads="1"/>
            </p:cNvSpPr>
            <p:nvPr/>
          </p:nvSpPr>
          <p:spPr bwMode="auto">
            <a:xfrm>
              <a:off x="480" y="2995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1" name="Line 532"/>
            <p:cNvSpPr>
              <a:spLocks noChangeShapeType="1"/>
            </p:cNvSpPr>
            <p:nvPr/>
          </p:nvSpPr>
          <p:spPr bwMode="auto">
            <a:xfrm>
              <a:off x="480" y="299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Line 533"/>
            <p:cNvSpPr>
              <a:spLocks noChangeShapeType="1"/>
            </p:cNvSpPr>
            <p:nvPr/>
          </p:nvSpPr>
          <p:spPr bwMode="auto">
            <a:xfrm>
              <a:off x="480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Rectangle 534"/>
            <p:cNvSpPr>
              <a:spLocks noChangeArrowheads="1"/>
            </p:cNvSpPr>
            <p:nvPr/>
          </p:nvSpPr>
          <p:spPr bwMode="auto">
            <a:xfrm>
              <a:off x="487" y="2995"/>
              <a:ext cx="72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" name="Line 535"/>
            <p:cNvSpPr>
              <a:spLocks noChangeShapeType="1"/>
            </p:cNvSpPr>
            <p:nvPr/>
          </p:nvSpPr>
          <p:spPr bwMode="auto">
            <a:xfrm>
              <a:off x="487" y="2995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" name="Rectangle 536"/>
            <p:cNvSpPr>
              <a:spLocks noChangeArrowheads="1"/>
            </p:cNvSpPr>
            <p:nvPr/>
          </p:nvSpPr>
          <p:spPr bwMode="auto">
            <a:xfrm>
              <a:off x="1210" y="2995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6" name="Line 537"/>
            <p:cNvSpPr>
              <a:spLocks noChangeShapeType="1"/>
            </p:cNvSpPr>
            <p:nvPr/>
          </p:nvSpPr>
          <p:spPr bwMode="auto">
            <a:xfrm>
              <a:off x="1210" y="299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7" name="Line 538"/>
            <p:cNvSpPr>
              <a:spLocks noChangeShapeType="1"/>
            </p:cNvSpPr>
            <p:nvPr/>
          </p:nvSpPr>
          <p:spPr bwMode="auto">
            <a:xfrm>
              <a:off x="1210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8" name="Rectangle 539"/>
            <p:cNvSpPr>
              <a:spLocks noChangeArrowheads="1"/>
            </p:cNvSpPr>
            <p:nvPr/>
          </p:nvSpPr>
          <p:spPr bwMode="auto">
            <a:xfrm>
              <a:off x="1217" y="2995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9" name="Line 540"/>
            <p:cNvSpPr>
              <a:spLocks noChangeShapeType="1"/>
            </p:cNvSpPr>
            <p:nvPr/>
          </p:nvSpPr>
          <p:spPr bwMode="auto">
            <a:xfrm>
              <a:off x="1217" y="2995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0" name="Rectangle 541"/>
            <p:cNvSpPr>
              <a:spLocks noChangeArrowheads="1"/>
            </p:cNvSpPr>
            <p:nvPr/>
          </p:nvSpPr>
          <p:spPr bwMode="auto">
            <a:xfrm>
              <a:off x="1783" y="2995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1" name="Line 542"/>
            <p:cNvSpPr>
              <a:spLocks noChangeShapeType="1"/>
            </p:cNvSpPr>
            <p:nvPr/>
          </p:nvSpPr>
          <p:spPr bwMode="auto">
            <a:xfrm>
              <a:off x="1783" y="299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" name="Line 543"/>
            <p:cNvSpPr>
              <a:spLocks noChangeShapeType="1"/>
            </p:cNvSpPr>
            <p:nvPr/>
          </p:nvSpPr>
          <p:spPr bwMode="auto">
            <a:xfrm>
              <a:off x="1783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" name="Rectangle 544"/>
            <p:cNvSpPr>
              <a:spLocks noChangeArrowheads="1"/>
            </p:cNvSpPr>
            <p:nvPr/>
          </p:nvSpPr>
          <p:spPr bwMode="auto">
            <a:xfrm>
              <a:off x="1790" y="2995"/>
              <a:ext cx="648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" name="Line 545"/>
            <p:cNvSpPr>
              <a:spLocks noChangeShapeType="1"/>
            </p:cNvSpPr>
            <p:nvPr/>
          </p:nvSpPr>
          <p:spPr bwMode="auto">
            <a:xfrm>
              <a:off x="1790" y="2995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5" name="Rectangle 546"/>
            <p:cNvSpPr>
              <a:spLocks noChangeArrowheads="1"/>
            </p:cNvSpPr>
            <p:nvPr/>
          </p:nvSpPr>
          <p:spPr bwMode="auto">
            <a:xfrm>
              <a:off x="2438" y="2995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6" name="Line 547"/>
            <p:cNvSpPr>
              <a:spLocks noChangeShapeType="1"/>
            </p:cNvSpPr>
            <p:nvPr/>
          </p:nvSpPr>
          <p:spPr bwMode="auto">
            <a:xfrm>
              <a:off x="2438" y="299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7" name="Line 548"/>
            <p:cNvSpPr>
              <a:spLocks noChangeShapeType="1"/>
            </p:cNvSpPr>
            <p:nvPr/>
          </p:nvSpPr>
          <p:spPr bwMode="auto">
            <a:xfrm>
              <a:off x="2438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8" name="Rectangle 549"/>
            <p:cNvSpPr>
              <a:spLocks noChangeArrowheads="1"/>
            </p:cNvSpPr>
            <p:nvPr/>
          </p:nvSpPr>
          <p:spPr bwMode="auto">
            <a:xfrm>
              <a:off x="2445" y="2995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9" name="Line 550"/>
            <p:cNvSpPr>
              <a:spLocks noChangeShapeType="1"/>
            </p:cNvSpPr>
            <p:nvPr/>
          </p:nvSpPr>
          <p:spPr bwMode="auto">
            <a:xfrm>
              <a:off x="2445" y="2995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0" name="Rectangle 551"/>
            <p:cNvSpPr>
              <a:spLocks noChangeArrowheads="1"/>
            </p:cNvSpPr>
            <p:nvPr/>
          </p:nvSpPr>
          <p:spPr bwMode="auto">
            <a:xfrm>
              <a:off x="3011" y="2995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" name="Line 552"/>
            <p:cNvSpPr>
              <a:spLocks noChangeShapeType="1"/>
            </p:cNvSpPr>
            <p:nvPr/>
          </p:nvSpPr>
          <p:spPr bwMode="auto">
            <a:xfrm>
              <a:off x="3011" y="299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2" name="Line 553"/>
            <p:cNvSpPr>
              <a:spLocks noChangeShapeType="1"/>
            </p:cNvSpPr>
            <p:nvPr/>
          </p:nvSpPr>
          <p:spPr bwMode="auto">
            <a:xfrm>
              <a:off x="3011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" name="Rectangle 554"/>
            <p:cNvSpPr>
              <a:spLocks noChangeArrowheads="1"/>
            </p:cNvSpPr>
            <p:nvPr/>
          </p:nvSpPr>
          <p:spPr bwMode="auto">
            <a:xfrm>
              <a:off x="3018" y="2995"/>
              <a:ext cx="56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" name="Line 555"/>
            <p:cNvSpPr>
              <a:spLocks noChangeShapeType="1"/>
            </p:cNvSpPr>
            <p:nvPr/>
          </p:nvSpPr>
          <p:spPr bwMode="auto">
            <a:xfrm>
              <a:off x="3018" y="2995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5" name="Rectangle 556"/>
            <p:cNvSpPr>
              <a:spLocks noChangeArrowheads="1"/>
            </p:cNvSpPr>
            <p:nvPr/>
          </p:nvSpPr>
          <p:spPr bwMode="auto">
            <a:xfrm>
              <a:off x="3584" y="2995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6" name="Line 557"/>
            <p:cNvSpPr>
              <a:spLocks noChangeShapeType="1"/>
            </p:cNvSpPr>
            <p:nvPr/>
          </p:nvSpPr>
          <p:spPr bwMode="auto">
            <a:xfrm>
              <a:off x="3584" y="299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7" name="Line 558"/>
            <p:cNvSpPr>
              <a:spLocks noChangeShapeType="1"/>
            </p:cNvSpPr>
            <p:nvPr/>
          </p:nvSpPr>
          <p:spPr bwMode="auto">
            <a:xfrm>
              <a:off x="3584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8" name="Rectangle 559"/>
            <p:cNvSpPr>
              <a:spLocks noChangeArrowheads="1"/>
            </p:cNvSpPr>
            <p:nvPr/>
          </p:nvSpPr>
          <p:spPr bwMode="auto">
            <a:xfrm>
              <a:off x="3591" y="2995"/>
              <a:ext cx="599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9" name="Line 560"/>
            <p:cNvSpPr>
              <a:spLocks noChangeShapeType="1"/>
            </p:cNvSpPr>
            <p:nvPr/>
          </p:nvSpPr>
          <p:spPr bwMode="auto">
            <a:xfrm>
              <a:off x="3591" y="2995"/>
              <a:ext cx="59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Rectangle 561"/>
            <p:cNvSpPr>
              <a:spLocks noChangeArrowheads="1"/>
            </p:cNvSpPr>
            <p:nvPr/>
          </p:nvSpPr>
          <p:spPr bwMode="auto">
            <a:xfrm>
              <a:off x="4190" y="2995"/>
              <a:ext cx="7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" name="Line 562"/>
            <p:cNvSpPr>
              <a:spLocks noChangeShapeType="1"/>
            </p:cNvSpPr>
            <p:nvPr/>
          </p:nvSpPr>
          <p:spPr bwMode="auto">
            <a:xfrm>
              <a:off x="4190" y="299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2" name="Line 563"/>
            <p:cNvSpPr>
              <a:spLocks noChangeShapeType="1"/>
            </p:cNvSpPr>
            <p:nvPr/>
          </p:nvSpPr>
          <p:spPr bwMode="auto">
            <a:xfrm>
              <a:off x="4190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" name="Rectangle 564"/>
            <p:cNvSpPr>
              <a:spLocks noChangeArrowheads="1"/>
            </p:cNvSpPr>
            <p:nvPr/>
          </p:nvSpPr>
          <p:spPr bwMode="auto">
            <a:xfrm>
              <a:off x="4197" y="2995"/>
              <a:ext cx="612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" name="Line 565"/>
            <p:cNvSpPr>
              <a:spLocks noChangeShapeType="1"/>
            </p:cNvSpPr>
            <p:nvPr/>
          </p:nvSpPr>
          <p:spPr bwMode="auto">
            <a:xfrm>
              <a:off x="4197" y="2995"/>
              <a:ext cx="6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" name="Rectangle 566"/>
            <p:cNvSpPr>
              <a:spLocks noChangeArrowheads="1"/>
            </p:cNvSpPr>
            <p:nvPr/>
          </p:nvSpPr>
          <p:spPr bwMode="auto">
            <a:xfrm>
              <a:off x="4809" y="2995"/>
              <a:ext cx="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" name="Line 567"/>
            <p:cNvSpPr>
              <a:spLocks noChangeShapeType="1"/>
            </p:cNvSpPr>
            <p:nvPr/>
          </p:nvSpPr>
          <p:spPr bwMode="auto">
            <a:xfrm>
              <a:off x="4809" y="2995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" name="Line 568"/>
            <p:cNvSpPr>
              <a:spLocks noChangeShapeType="1"/>
            </p:cNvSpPr>
            <p:nvPr/>
          </p:nvSpPr>
          <p:spPr bwMode="auto">
            <a:xfrm>
              <a:off x="4809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Rectangle 569"/>
            <p:cNvSpPr>
              <a:spLocks noChangeArrowheads="1"/>
            </p:cNvSpPr>
            <p:nvPr/>
          </p:nvSpPr>
          <p:spPr bwMode="auto">
            <a:xfrm>
              <a:off x="4815" y="2995"/>
              <a:ext cx="61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" name="Line 570"/>
            <p:cNvSpPr>
              <a:spLocks noChangeShapeType="1"/>
            </p:cNvSpPr>
            <p:nvPr/>
          </p:nvSpPr>
          <p:spPr bwMode="auto">
            <a:xfrm>
              <a:off x="4815" y="2995"/>
              <a:ext cx="61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0" name="Rectangle 571"/>
            <p:cNvSpPr>
              <a:spLocks noChangeArrowheads="1"/>
            </p:cNvSpPr>
            <p:nvPr/>
          </p:nvSpPr>
          <p:spPr bwMode="auto">
            <a:xfrm>
              <a:off x="5428" y="2995"/>
              <a:ext cx="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Line 572"/>
            <p:cNvSpPr>
              <a:spLocks noChangeShapeType="1"/>
            </p:cNvSpPr>
            <p:nvPr/>
          </p:nvSpPr>
          <p:spPr bwMode="auto">
            <a:xfrm>
              <a:off x="5428" y="2995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2" name="Line 573"/>
            <p:cNvSpPr>
              <a:spLocks noChangeShapeType="1"/>
            </p:cNvSpPr>
            <p:nvPr/>
          </p:nvSpPr>
          <p:spPr bwMode="auto">
            <a:xfrm>
              <a:off x="5428" y="2995"/>
              <a:ext cx="1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" name="Rectangle 574"/>
            <p:cNvSpPr>
              <a:spLocks noChangeArrowheads="1"/>
            </p:cNvSpPr>
            <p:nvPr/>
          </p:nvSpPr>
          <p:spPr bwMode="auto">
            <a:xfrm>
              <a:off x="480" y="300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" name="Line 575"/>
            <p:cNvSpPr>
              <a:spLocks noChangeShapeType="1"/>
            </p:cNvSpPr>
            <p:nvPr/>
          </p:nvSpPr>
          <p:spPr bwMode="auto">
            <a:xfrm>
              <a:off x="480" y="300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5" name="Rectangle 576"/>
            <p:cNvSpPr>
              <a:spLocks noChangeArrowheads="1"/>
            </p:cNvSpPr>
            <p:nvPr/>
          </p:nvSpPr>
          <p:spPr bwMode="auto">
            <a:xfrm>
              <a:off x="480" y="3215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6" name="Line 577"/>
            <p:cNvSpPr>
              <a:spLocks noChangeShapeType="1"/>
            </p:cNvSpPr>
            <p:nvPr/>
          </p:nvSpPr>
          <p:spPr bwMode="auto">
            <a:xfrm>
              <a:off x="480" y="321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7" name="Line 578"/>
            <p:cNvSpPr>
              <a:spLocks noChangeShapeType="1"/>
            </p:cNvSpPr>
            <p:nvPr/>
          </p:nvSpPr>
          <p:spPr bwMode="auto">
            <a:xfrm>
              <a:off x="480" y="3215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8" name="Rectangle 579"/>
            <p:cNvSpPr>
              <a:spLocks noChangeArrowheads="1"/>
            </p:cNvSpPr>
            <p:nvPr/>
          </p:nvSpPr>
          <p:spPr bwMode="auto">
            <a:xfrm>
              <a:off x="480" y="3215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9" name="Line 580"/>
            <p:cNvSpPr>
              <a:spLocks noChangeShapeType="1"/>
            </p:cNvSpPr>
            <p:nvPr/>
          </p:nvSpPr>
          <p:spPr bwMode="auto">
            <a:xfrm>
              <a:off x="480" y="321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0" name="Line 581"/>
            <p:cNvSpPr>
              <a:spLocks noChangeShapeType="1"/>
            </p:cNvSpPr>
            <p:nvPr/>
          </p:nvSpPr>
          <p:spPr bwMode="auto">
            <a:xfrm>
              <a:off x="480" y="3215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1" name="Rectangle 582"/>
            <p:cNvSpPr>
              <a:spLocks noChangeArrowheads="1"/>
            </p:cNvSpPr>
            <p:nvPr/>
          </p:nvSpPr>
          <p:spPr bwMode="auto">
            <a:xfrm>
              <a:off x="487" y="3215"/>
              <a:ext cx="723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2" name="Line 583"/>
            <p:cNvSpPr>
              <a:spLocks noChangeShapeType="1"/>
            </p:cNvSpPr>
            <p:nvPr/>
          </p:nvSpPr>
          <p:spPr bwMode="auto">
            <a:xfrm>
              <a:off x="487" y="3215"/>
              <a:ext cx="7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" name="Rectangle 584"/>
            <p:cNvSpPr>
              <a:spLocks noChangeArrowheads="1"/>
            </p:cNvSpPr>
            <p:nvPr/>
          </p:nvSpPr>
          <p:spPr bwMode="auto">
            <a:xfrm>
              <a:off x="1210" y="300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" name="Line 585"/>
            <p:cNvSpPr>
              <a:spLocks noChangeShapeType="1"/>
            </p:cNvSpPr>
            <p:nvPr/>
          </p:nvSpPr>
          <p:spPr bwMode="auto">
            <a:xfrm>
              <a:off x="1210" y="300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" name="Rectangle 586"/>
            <p:cNvSpPr>
              <a:spLocks noChangeArrowheads="1"/>
            </p:cNvSpPr>
            <p:nvPr/>
          </p:nvSpPr>
          <p:spPr bwMode="auto">
            <a:xfrm>
              <a:off x="1210" y="3215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6" name="Line 587"/>
            <p:cNvSpPr>
              <a:spLocks noChangeShapeType="1"/>
            </p:cNvSpPr>
            <p:nvPr/>
          </p:nvSpPr>
          <p:spPr bwMode="auto">
            <a:xfrm>
              <a:off x="1210" y="321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7" name="Line 588"/>
            <p:cNvSpPr>
              <a:spLocks noChangeShapeType="1"/>
            </p:cNvSpPr>
            <p:nvPr/>
          </p:nvSpPr>
          <p:spPr bwMode="auto">
            <a:xfrm>
              <a:off x="1210" y="3215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Rectangle 589"/>
            <p:cNvSpPr>
              <a:spLocks noChangeArrowheads="1"/>
            </p:cNvSpPr>
            <p:nvPr/>
          </p:nvSpPr>
          <p:spPr bwMode="auto">
            <a:xfrm>
              <a:off x="1217" y="3215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9" name="Line 590"/>
            <p:cNvSpPr>
              <a:spLocks noChangeShapeType="1"/>
            </p:cNvSpPr>
            <p:nvPr/>
          </p:nvSpPr>
          <p:spPr bwMode="auto">
            <a:xfrm>
              <a:off x="1217" y="3215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0" name="Rectangle 591"/>
            <p:cNvSpPr>
              <a:spLocks noChangeArrowheads="1"/>
            </p:cNvSpPr>
            <p:nvPr/>
          </p:nvSpPr>
          <p:spPr bwMode="auto">
            <a:xfrm>
              <a:off x="1783" y="300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1" name="Line 592"/>
            <p:cNvSpPr>
              <a:spLocks noChangeShapeType="1"/>
            </p:cNvSpPr>
            <p:nvPr/>
          </p:nvSpPr>
          <p:spPr bwMode="auto">
            <a:xfrm>
              <a:off x="1783" y="300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2" name="Rectangle 593"/>
            <p:cNvSpPr>
              <a:spLocks noChangeArrowheads="1"/>
            </p:cNvSpPr>
            <p:nvPr/>
          </p:nvSpPr>
          <p:spPr bwMode="auto">
            <a:xfrm>
              <a:off x="1783" y="3215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" name="Line 594"/>
            <p:cNvSpPr>
              <a:spLocks noChangeShapeType="1"/>
            </p:cNvSpPr>
            <p:nvPr/>
          </p:nvSpPr>
          <p:spPr bwMode="auto">
            <a:xfrm>
              <a:off x="1783" y="321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" name="Line 595"/>
            <p:cNvSpPr>
              <a:spLocks noChangeShapeType="1"/>
            </p:cNvSpPr>
            <p:nvPr/>
          </p:nvSpPr>
          <p:spPr bwMode="auto">
            <a:xfrm>
              <a:off x="1783" y="3215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" name="Rectangle 596"/>
            <p:cNvSpPr>
              <a:spLocks noChangeArrowheads="1"/>
            </p:cNvSpPr>
            <p:nvPr/>
          </p:nvSpPr>
          <p:spPr bwMode="auto">
            <a:xfrm>
              <a:off x="1790" y="3215"/>
              <a:ext cx="64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6" name="Line 597"/>
            <p:cNvSpPr>
              <a:spLocks noChangeShapeType="1"/>
            </p:cNvSpPr>
            <p:nvPr/>
          </p:nvSpPr>
          <p:spPr bwMode="auto">
            <a:xfrm>
              <a:off x="1790" y="3215"/>
              <a:ext cx="64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7" name="Rectangle 598"/>
            <p:cNvSpPr>
              <a:spLocks noChangeArrowheads="1"/>
            </p:cNvSpPr>
            <p:nvPr/>
          </p:nvSpPr>
          <p:spPr bwMode="auto">
            <a:xfrm>
              <a:off x="2438" y="300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8" name="Line 599"/>
            <p:cNvSpPr>
              <a:spLocks noChangeShapeType="1"/>
            </p:cNvSpPr>
            <p:nvPr/>
          </p:nvSpPr>
          <p:spPr bwMode="auto">
            <a:xfrm>
              <a:off x="2438" y="3003"/>
              <a:ext cx="1" cy="2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9" name="Rectangle 600"/>
            <p:cNvSpPr>
              <a:spLocks noChangeArrowheads="1"/>
            </p:cNvSpPr>
            <p:nvPr/>
          </p:nvSpPr>
          <p:spPr bwMode="auto">
            <a:xfrm>
              <a:off x="2438" y="3215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0" name="Line 601"/>
            <p:cNvSpPr>
              <a:spLocks noChangeShapeType="1"/>
            </p:cNvSpPr>
            <p:nvPr/>
          </p:nvSpPr>
          <p:spPr bwMode="auto">
            <a:xfrm>
              <a:off x="2438" y="3215"/>
              <a:ext cx="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1" name="Line 602"/>
            <p:cNvSpPr>
              <a:spLocks noChangeShapeType="1"/>
            </p:cNvSpPr>
            <p:nvPr/>
          </p:nvSpPr>
          <p:spPr bwMode="auto">
            <a:xfrm>
              <a:off x="2438" y="3215"/>
              <a:ext cx="1" cy="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2" name="Rectangle 603"/>
            <p:cNvSpPr>
              <a:spLocks noChangeArrowheads="1"/>
            </p:cNvSpPr>
            <p:nvPr/>
          </p:nvSpPr>
          <p:spPr bwMode="auto">
            <a:xfrm>
              <a:off x="2445" y="3215"/>
              <a:ext cx="56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3" name="Line 604"/>
            <p:cNvSpPr>
              <a:spLocks noChangeShapeType="1"/>
            </p:cNvSpPr>
            <p:nvPr/>
          </p:nvSpPr>
          <p:spPr bwMode="auto">
            <a:xfrm>
              <a:off x="2445" y="3215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" name="Rectangle 605"/>
            <p:cNvSpPr>
              <a:spLocks noChangeArrowheads="1"/>
            </p:cNvSpPr>
            <p:nvPr/>
          </p:nvSpPr>
          <p:spPr bwMode="auto">
            <a:xfrm>
              <a:off x="3011" y="3003"/>
              <a:ext cx="7" cy="2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5" name="Line 606"/>
          <p:cNvSpPr>
            <a:spLocks noChangeShapeType="1"/>
          </p:cNvSpPr>
          <p:nvPr/>
        </p:nvSpPr>
        <p:spPr bwMode="auto">
          <a:xfrm>
            <a:off x="6181725" y="4781550"/>
            <a:ext cx="1587" cy="33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6" name="Rectangle 607"/>
          <p:cNvSpPr>
            <a:spLocks noChangeArrowheads="1"/>
          </p:cNvSpPr>
          <p:nvPr/>
        </p:nvSpPr>
        <p:spPr bwMode="auto">
          <a:xfrm>
            <a:off x="6181725" y="5118100"/>
            <a:ext cx="11112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7" name="Line 608"/>
          <p:cNvSpPr>
            <a:spLocks noChangeShapeType="1"/>
          </p:cNvSpPr>
          <p:nvPr/>
        </p:nvSpPr>
        <p:spPr bwMode="auto">
          <a:xfrm>
            <a:off x="6181725" y="5118100"/>
            <a:ext cx="111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8" name="Line 609"/>
          <p:cNvSpPr>
            <a:spLocks noChangeShapeType="1"/>
          </p:cNvSpPr>
          <p:nvPr/>
        </p:nvSpPr>
        <p:spPr bwMode="auto">
          <a:xfrm>
            <a:off x="6181725" y="5118100"/>
            <a:ext cx="1587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9" name="Rectangle 610"/>
          <p:cNvSpPr>
            <a:spLocks noChangeArrowheads="1"/>
          </p:cNvSpPr>
          <p:nvPr/>
        </p:nvSpPr>
        <p:spPr bwMode="auto">
          <a:xfrm>
            <a:off x="6192837" y="5118100"/>
            <a:ext cx="898525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0" name="Line 611"/>
          <p:cNvSpPr>
            <a:spLocks noChangeShapeType="1"/>
          </p:cNvSpPr>
          <p:nvPr/>
        </p:nvSpPr>
        <p:spPr bwMode="auto">
          <a:xfrm>
            <a:off x="6192837" y="5118100"/>
            <a:ext cx="898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1" name="Rectangle 612"/>
          <p:cNvSpPr>
            <a:spLocks noChangeArrowheads="1"/>
          </p:cNvSpPr>
          <p:nvPr/>
        </p:nvSpPr>
        <p:spPr bwMode="auto">
          <a:xfrm>
            <a:off x="7091362" y="4781550"/>
            <a:ext cx="11113" cy="3365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2" name="Line 613"/>
          <p:cNvSpPr>
            <a:spLocks noChangeShapeType="1"/>
          </p:cNvSpPr>
          <p:nvPr/>
        </p:nvSpPr>
        <p:spPr bwMode="auto">
          <a:xfrm>
            <a:off x="7091362" y="4781550"/>
            <a:ext cx="1588" cy="33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3" name="Rectangle 614"/>
          <p:cNvSpPr>
            <a:spLocks noChangeArrowheads="1"/>
          </p:cNvSpPr>
          <p:nvPr/>
        </p:nvSpPr>
        <p:spPr bwMode="auto">
          <a:xfrm>
            <a:off x="7091362" y="5118100"/>
            <a:ext cx="11113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" name="Line 615"/>
          <p:cNvSpPr>
            <a:spLocks noChangeShapeType="1"/>
          </p:cNvSpPr>
          <p:nvPr/>
        </p:nvSpPr>
        <p:spPr bwMode="auto">
          <a:xfrm>
            <a:off x="7091362" y="5118100"/>
            <a:ext cx="1111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" name="Line 616"/>
          <p:cNvSpPr>
            <a:spLocks noChangeShapeType="1"/>
          </p:cNvSpPr>
          <p:nvPr/>
        </p:nvSpPr>
        <p:spPr bwMode="auto">
          <a:xfrm>
            <a:off x="7091362" y="5118100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" name="Rectangle 617"/>
          <p:cNvSpPr>
            <a:spLocks noChangeArrowheads="1"/>
          </p:cNvSpPr>
          <p:nvPr/>
        </p:nvSpPr>
        <p:spPr bwMode="auto">
          <a:xfrm>
            <a:off x="7102475" y="5118100"/>
            <a:ext cx="950912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7" name="Line 618"/>
          <p:cNvSpPr>
            <a:spLocks noChangeShapeType="1"/>
          </p:cNvSpPr>
          <p:nvPr/>
        </p:nvSpPr>
        <p:spPr bwMode="auto">
          <a:xfrm>
            <a:off x="7102475" y="5118100"/>
            <a:ext cx="9509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8" name="Rectangle 619"/>
          <p:cNvSpPr>
            <a:spLocks noChangeArrowheads="1"/>
          </p:cNvSpPr>
          <p:nvPr/>
        </p:nvSpPr>
        <p:spPr bwMode="auto">
          <a:xfrm>
            <a:off x="8053387" y="4781550"/>
            <a:ext cx="11113" cy="3365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9" name="Line 620"/>
          <p:cNvSpPr>
            <a:spLocks noChangeShapeType="1"/>
          </p:cNvSpPr>
          <p:nvPr/>
        </p:nvSpPr>
        <p:spPr bwMode="auto">
          <a:xfrm>
            <a:off x="8053387" y="4781550"/>
            <a:ext cx="1588" cy="33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0" name="Rectangle 621"/>
          <p:cNvSpPr>
            <a:spLocks noChangeArrowheads="1"/>
          </p:cNvSpPr>
          <p:nvPr/>
        </p:nvSpPr>
        <p:spPr bwMode="auto">
          <a:xfrm>
            <a:off x="8053387" y="5118100"/>
            <a:ext cx="11113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1" name="Line 622"/>
          <p:cNvSpPr>
            <a:spLocks noChangeShapeType="1"/>
          </p:cNvSpPr>
          <p:nvPr/>
        </p:nvSpPr>
        <p:spPr bwMode="auto">
          <a:xfrm>
            <a:off x="8053387" y="5118100"/>
            <a:ext cx="1111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2" name="Line 623"/>
          <p:cNvSpPr>
            <a:spLocks noChangeShapeType="1"/>
          </p:cNvSpPr>
          <p:nvPr/>
        </p:nvSpPr>
        <p:spPr bwMode="auto">
          <a:xfrm>
            <a:off x="8053387" y="5118100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3" name="Rectangle 624"/>
          <p:cNvSpPr>
            <a:spLocks noChangeArrowheads="1"/>
          </p:cNvSpPr>
          <p:nvPr/>
        </p:nvSpPr>
        <p:spPr bwMode="auto">
          <a:xfrm>
            <a:off x="8064500" y="5118100"/>
            <a:ext cx="971550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" name="Line 625"/>
          <p:cNvSpPr>
            <a:spLocks noChangeShapeType="1"/>
          </p:cNvSpPr>
          <p:nvPr/>
        </p:nvSpPr>
        <p:spPr bwMode="auto">
          <a:xfrm>
            <a:off x="8064500" y="5118100"/>
            <a:ext cx="9715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" name="Rectangle 626"/>
          <p:cNvSpPr>
            <a:spLocks noChangeArrowheads="1"/>
          </p:cNvSpPr>
          <p:nvPr/>
        </p:nvSpPr>
        <p:spPr bwMode="auto">
          <a:xfrm>
            <a:off x="9036050" y="4781550"/>
            <a:ext cx="9525" cy="3365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6" name="Line 627"/>
          <p:cNvSpPr>
            <a:spLocks noChangeShapeType="1"/>
          </p:cNvSpPr>
          <p:nvPr/>
        </p:nvSpPr>
        <p:spPr bwMode="auto">
          <a:xfrm>
            <a:off x="9036050" y="4781550"/>
            <a:ext cx="1587" cy="33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7" name="Rectangle 628"/>
          <p:cNvSpPr>
            <a:spLocks noChangeArrowheads="1"/>
          </p:cNvSpPr>
          <p:nvPr/>
        </p:nvSpPr>
        <p:spPr bwMode="auto">
          <a:xfrm>
            <a:off x="9036050" y="5118100"/>
            <a:ext cx="9525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8" name="Line 629"/>
          <p:cNvSpPr>
            <a:spLocks noChangeShapeType="1"/>
          </p:cNvSpPr>
          <p:nvPr/>
        </p:nvSpPr>
        <p:spPr bwMode="auto">
          <a:xfrm>
            <a:off x="9036050" y="5118100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9" name="Line 630"/>
          <p:cNvSpPr>
            <a:spLocks noChangeShapeType="1"/>
          </p:cNvSpPr>
          <p:nvPr/>
        </p:nvSpPr>
        <p:spPr bwMode="auto">
          <a:xfrm>
            <a:off x="9036050" y="5118100"/>
            <a:ext cx="1587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0" name="Rectangle 631"/>
          <p:cNvSpPr>
            <a:spLocks noChangeArrowheads="1"/>
          </p:cNvSpPr>
          <p:nvPr/>
        </p:nvSpPr>
        <p:spPr bwMode="auto">
          <a:xfrm>
            <a:off x="9045575" y="5118100"/>
            <a:ext cx="973137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1" name="Line 632"/>
          <p:cNvSpPr>
            <a:spLocks noChangeShapeType="1"/>
          </p:cNvSpPr>
          <p:nvPr/>
        </p:nvSpPr>
        <p:spPr bwMode="auto">
          <a:xfrm>
            <a:off x="9045575" y="5118100"/>
            <a:ext cx="9731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2" name="Rectangle 633"/>
          <p:cNvSpPr>
            <a:spLocks noChangeArrowheads="1"/>
          </p:cNvSpPr>
          <p:nvPr/>
        </p:nvSpPr>
        <p:spPr bwMode="auto">
          <a:xfrm>
            <a:off x="10018712" y="4781550"/>
            <a:ext cx="9525" cy="3365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3" name="Line 634"/>
          <p:cNvSpPr>
            <a:spLocks noChangeShapeType="1"/>
          </p:cNvSpPr>
          <p:nvPr/>
        </p:nvSpPr>
        <p:spPr bwMode="auto">
          <a:xfrm>
            <a:off x="10018712" y="4781550"/>
            <a:ext cx="1588" cy="33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" name="Rectangle 635"/>
          <p:cNvSpPr>
            <a:spLocks noChangeArrowheads="1"/>
          </p:cNvSpPr>
          <p:nvPr/>
        </p:nvSpPr>
        <p:spPr bwMode="auto">
          <a:xfrm>
            <a:off x="10018712" y="5118100"/>
            <a:ext cx="9525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" name="Line 636"/>
          <p:cNvSpPr>
            <a:spLocks noChangeShapeType="1"/>
          </p:cNvSpPr>
          <p:nvPr/>
        </p:nvSpPr>
        <p:spPr bwMode="auto">
          <a:xfrm>
            <a:off x="10018712" y="5118100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6" name="Line 637"/>
          <p:cNvSpPr>
            <a:spLocks noChangeShapeType="1"/>
          </p:cNvSpPr>
          <p:nvPr/>
        </p:nvSpPr>
        <p:spPr bwMode="auto">
          <a:xfrm>
            <a:off x="10018712" y="5118100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7" name="Rectangle 638"/>
          <p:cNvSpPr>
            <a:spLocks noChangeArrowheads="1"/>
          </p:cNvSpPr>
          <p:nvPr/>
        </p:nvSpPr>
        <p:spPr bwMode="auto">
          <a:xfrm>
            <a:off x="10018712" y="5118100"/>
            <a:ext cx="9525" cy="11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8" name="Line 639"/>
          <p:cNvSpPr>
            <a:spLocks noChangeShapeType="1"/>
          </p:cNvSpPr>
          <p:nvPr/>
        </p:nvSpPr>
        <p:spPr bwMode="auto">
          <a:xfrm>
            <a:off x="10018712" y="5118100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9" name="Line 640"/>
          <p:cNvSpPr>
            <a:spLocks noChangeShapeType="1"/>
          </p:cNvSpPr>
          <p:nvPr/>
        </p:nvSpPr>
        <p:spPr bwMode="auto">
          <a:xfrm>
            <a:off x="10018712" y="5118100"/>
            <a:ext cx="1588" cy="11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0" name="Text Box 641"/>
          <p:cNvSpPr txBox="1">
            <a:spLocks noChangeArrowheads="1"/>
          </p:cNvSpPr>
          <p:nvPr/>
        </p:nvSpPr>
        <p:spPr bwMode="auto">
          <a:xfrm>
            <a:off x="3154362" y="5340350"/>
            <a:ext cx="57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FontTx/>
              <a:buNone/>
            </a:pPr>
            <a:r>
              <a:rPr lang="zh-CN" altLang="en-US" dirty="0">
                <a:solidFill>
                  <a:srgbClr val="000000"/>
                </a:solidFill>
              </a:rPr>
              <a:t>注：*为 </a:t>
            </a:r>
            <a:r>
              <a:rPr lang="en-US" altLang="zh-CN" i="1" dirty="0">
                <a:solidFill>
                  <a:srgbClr val="000000"/>
                </a:solidFill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641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晶体管的命名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不同晶体管的参数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5"/>
          <p:cNvSpPr>
            <a:spLocks noChangeArrowheads="1"/>
          </p:cNvSpPr>
          <p:nvPr/>
        </p:nvSpPr>
        <p:spPr bwMode="auto">
          <a:xfrm>
            <a:off x="369660" y="764778"/>
            <a:ext cx="25701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1. 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工作原理</a:t>
            </a:r>
            <a:endParaRPr kumimoji="1" lang="zh-CN" altLang="en-US" sz="2800" b="1" dirty="0">
              <a:solidFill>
                <a:srgbClr val="00206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5" name="Picture 2"/>
          <p:cNvPicPr preferRelativeResize="0"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048" y="606233"/>
            <a:ext cx="6310292" cy="4062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58"/>
          <p:cNvSpPr>
            <a:spLocks noChangeArrowheads="1"/>
          </p:cNvSpPr>
          <p:nvPr/>
        </p:nvSpPr>
        <p:spPr bwMode="auto">
          <a:xfrm>
            <a:off x="919112" y="1893044"/>
            <a:ext cx="3673825" cy="194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3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三个区域两个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PN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结，多数情况下基区没有引出电极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7" name="Text Box 58"/>
          <p:cNvSpPr>
            <a:spLocks noChangeArrowheads="1"/>
          </p:cNvSpPr>
          <p:nvPr/>
        </p:nvSpPr>
        <p:spPr bwMode="auto">
          <a:xfrm>
            <a:off x="1299978" y="4683125"/>
            <a:ext cx="10097948" cy="2076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60000"/>
              </a:lnSpc>
              <a:spcBef>
                <a:spcPct val="3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当光线通过管壳上的通光窗口照射到集电结的耗尽区时，可以激发出更多的少数载流子——电子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-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空穴对，电子和空穴在电场力作用下分别向集电区和基区漂移，形成光生电流</a:t>
            </a:r>
            <a:r>
              <a:rPr kumimoji="1"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</a:rPr>
              <a:t>phN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和</a:t>
            </a:r>
            <a:r>
              <a:rPr kumimoji="1" lang="en-US" altLang="zh-CN" sz="28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</a:rPr>
              <a:t>phP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。</a:t>
            </a:r>
            <a:endParaRPr kumimoji="1"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光电三极管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4314</Words>
  <Application>WPS 演示</Application>
  <PresentationFormat>Widescreen</PresentationFormat>
  <Paragraphs>899</Paragraphs>
  <Slides>36</Slides>
  <Notes>219</Notes>
  <HiddenSlides>0</HiddenSlides>
  <MMClips>4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36</vt:i4>
      </vt:variant>
    </vt:vector>
  </HeadingPairs>
  <TitlesOfParts>
    <vt:vector size="86" baseType="lpstr">
      <vt:lpstr>Arial</vt:lpstr>
      <vt:lpstr>宋体</vt:lpstr>
      <vt:lpstr>Wingdings</vt:lpstr>
      <vt:lpstr>微软雅黑</vt:lpstr>
      <vt:lpstr>楷体_GB2312</vt:lpstr>
      <vt:lpstr>新宋体</vt:lpstr>
      <vt:lpstr>Times New Roman</vt:lpstr>
      <vt:lpstr>Symbol</vt:lpstr>
      <vt:lpstr>等线</vt:lpstr>
      <vt:lpstr>等线 Light</vt:lpstr>
      <vt:lpstr>Arial Unicode MS</vt:lpstr>
      <vt:lpstr>Arial</vt:lpstr>
      <vt:lpstr>华文仿宋</vt:lpstr>
      <vt:lpstr>黑体</vt:lpstr>
      <vt:lpstr>Verdana</vt:lpstr>
      <vt:lpstr>幼圆</vt:lpstr>
      <vt:lpstr>Calibri</vt:lpstr>
      <vt:lpstr>Kingsoft Phonetic Plain</vt:lpstr>
      <vt:lpstr>Arial Narrow</vt:lpstr>
      <vt:lpstr>Book Antiqua</vt:lpstr>
      <vt:lpstr>KSOF3FCF8E91</vt:lpstr>
      <vt:lpstr>Segoe Print</vt:lpstr>
      <vt:lpstr>KSOF3FB35F8F</vt:lpstr>
      <vt:lpstr>KSOF3FC17710</vt:lpstr>
      <vt:lpstr>KSOF3FA5480E</vt:lpstr>
      <vt:lpstr>Office Theme</vt:lpstr>
      <vt:lpstr>Paint.Picture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Paint.Picture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hui</dc:creator>
  <cp:lastModifiedBy>苏为</cp:lastModifiedBy>
  <cp:revision>257</cp:revision>
  <cp:lastPrinted>2024-10-09T04:03:00Z</cp:lastPrinted>
  <dcterms:created xsi:type="dcterms:W3CDTF">2024-09-30T08:30:00Z</dcterms:created>
  <dcterms:modified xsi:type="dcterms:W3CDTF">2026-05-14T10:29:44Z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E933E195023C4F2893406B3DEAB7950B_13</vt:lpwstr>
  </property>
  <property fmtid="{D5CDD505-2E9C-101B-9397-08002B2CF9AE}" pid="3" name="KSOProductBuildVer">
    <vt:lpwstr>2052-12.1.0.25865</vt:lpwstr>
  </property>
</Properties>
</file>