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8" r:id="rId3"/>
    <p:sldId id="509" r:id="rId5"/>
    <p:sldId id="556" r:id="rId6"/>
    <p:sldId id="557" r:id="rId7"/>
    <p:sldId id="547" r:id="rId8"/>
    <p:sldId id="551" r:id="rId9"/>
    <p:sldId id="512" r:id="rId10"/>
    <p:sldId id="765" r:id="rId11"/>
    <p:sldId id="566" r:id="rId12"/>
    <p:sldId id="823" r:id="rId13"/>
    <p:sldId id="764" r:id="rId14"/>
    <p:sldId id="766" r:id="rId15"/>
    <p:sldId id="767" r:id="rId16"/>
    <p:sldId id="768" r:id="rId17"/>
    <p:sldId id="794" r:id="rId18"/>
    <p:sldId id="793" r:id="rId19"/>
    <p:sldId id="824" r:id="rId20"/>
    <p:sldId id="795" r:id="rId21"/>
    <p:sldId id="796" r:id="rId22"/>
    <p:sldId id="770" r:id="rId23"/>
    <p:sldId id="771" r:id="rId24"/>
    <p:sldId id="772" r:id="rId25"/>
    <p:sldId id="773" r:id="rId26"/>
    <p:sldId id="797" r:id="rId27"/>
    <p:sldId id="774" r:id="rId28"/>
    <p:sldId id="775" r:id="rId29"/>
    <p:sldId id="798" r:id="rId30"/>
    <p:sldId id="799" r:id="rId31"/>
    <p:sldId id="776" r:id="rId32"/>
    <p:sldId id="777" r:id="rId33"/>
  </p:sldIdLst>
  <p:sldSz cx="12192000" cy="6858000"/>
  <p:notesSz cx="6792595" cy="99250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hui" initials="h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E1E1"/>
    <a:srgbClr val="EADCF4"/>
    <a:srgbClr val="B6F0CB"/>
    <a:srgbClr val="FF0000"/>
    <a:srgbClr val="000000"/>
    <a:srgbClr val="ECF1F9"/>
    <a:srgbClr val="009EDE"/>
    <a:srgbClr val="61D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9" autoAdjust="0"/>
    <p:restoredTop sz="89006" autoAdjust="0"/>
  </p:normalViewPr>
  <p:slideViewPr>
    <p:cSldViewPr snapToGrid="0">
      <p:cViewPr>
        <p:scale>
          <a:sx n="77" d="100"/>
          <a:sy n="77" d="100"/>
        </p:scale>
        <p:origin x="4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image" Target="../media/image34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image" Target="../media/image34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4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3A6DC-0AB7-4BBF-9004-005A425310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rgbClr val="2B58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将按照“由浅入深、循序渐进”的原则，先介绍三极管的基本概念和原理，然后逐步深入讲解三极管的特性和应用。具体内容包括：三极管的基本原理、结构和分类；三极管的放大原理和特性；三极管的参数和选型；三极管的应用电路和实例等。</a:t>
            </a:r>
            <a:endParaRPr lang="en-US" altLang="zh-CN" sz="1200" dirty="0">
              <a:solidFill>
                <a:srgbClr val="2B58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第一步：因为发射结加正向电压，又因为发射区掺杂浓度高，即杂质（也就是自由电子）浓度高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，所以大量自由电子因扩散运动越过发射结到达基区。与此同时，空穴也从基区向发射区扩散，但由于基区杂质浓度（即空穴）低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，所以空穴形成的电流非常小，近似分析时可忽略不计。可见，扩散运动形成了发射极电流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/>
              <a:t>第二步：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由于基区很薄，杂质浓度很低，集电结又加了反向电压，所以扩散到基区的电子中只有极少部分与空穴复合，其余部分均作为基区的非平衡少子达到集电结。又由于电源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的作用，电子</a:t>
            </a:r>
            <a:endParaRPr lang="zh-CN" altLang="en-US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与空穴的复合运动将源源不断地进行，形成基极电流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第一步：因为发射结加正向电压，又因为发射区掺杂浓度高，即杂质（也就是自由电子）浓度高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，所以大量自由电子因扩散运动越过发射结到达基区。与此同时，空穴也从基区向发射区扩散，但由于基区杂质浓度（即空穴）低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，所以空穴形成的电流非常小，近似分析时可忽略不计。可见，扩散运动形成了发射极电流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/>
              <a:t>第二步：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由于基区很薄，杂质浓度很低，集电结又加了反向电压，所以扩散到基区的电子中只有极少部分与空穴复合，其余部分均作为基区的非平衡少子达到集电结。又由于电源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的作用，电子</a:t>
            </a:r>
            <a:endParaRPr lang="zh-CN" altLang="en-US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与空穴的复合运动将源源不断地进行，形成基极电流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第一步：因为发射结加正向电压，又因为发射区掺杂浓度高，即杂质（也就是自由电子）浓度高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，所以大量自由电子因扩散运动越过发射结到达基区。与此同时，空穴也从基区向发射区扩散，但由于基区杂质浓度（即空穴）低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，所以空穴形成的电流非常小，近似分析时可忽略不计。可见，扩散运动形成了发射极电流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/>
              <a:t>第二步：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由于基区很薄，杂质浓度很低，集电结又加了反向电压，所以扩散到基区的电子中只有极少部分与空穴复合，其余部分均作为基区的非平衡少子达到集电结。又由于电源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的作用，电子</a:t>
            </a:r>
            <a:endParaRPr lang="zh-CN" altLang="en-US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与空穴的复合运动将源源不断地进行，形成基极电流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第一步：因为发射结加正向电压，又因为发射区掺杂浓度高，即杂质（也就是自由电子）浓度高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，所以大量自由电子因扩散运动越过发射结到达基区。与此同时，空穴也从基区向发射区扩散，但由于基区杂质浓度（即空穴）低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，所以空穴形成的电流非常小，近似分析时可忽略不计。可见，扩散运动形成了发射极电流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/>
              <a:t>第二步：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由于基区很薄，杂质浓度很低，集电结又加了反向电压，所以扩散到基区的电子中只有极少部分与空穴复合，其余部分均作为基区的非平衡少子达到集电结。又由于电源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的作用，电子</a:t>
            </a:r>
            <a:endParaRPr lang="zh-CN" altLang="en-US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与空穴的复合运动将源源不断地进行，形成基极电流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由以上分析可知，</a:t>
            </a:r>
            <a:r>
              <a:rPr kumimoji="1" lang="zh-CN" altLang="en-US" sz="12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发射区掺杂浓度高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kumimoji="1" lang="zh-CN" altLang="en-US" sz="12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基区很薄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，是保证三极管能够实现电流放大的关键。若两个</a:t>
            </a:r>
            <a:r>
              <a:rPr kumimoji="1" lang="en-US" altLang="zh-CN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结对接，相当基区很厚，所以没有电流放大作用，基区从厚变薄，两个</a:t>
            </a:r>
            <a:r>
              <a:rPr kumimoji="1" lang="en-US" altLang="zh-CN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结演变为三极管，这是量变引起质变的又一个实例。要注意公式推导的方式，得到公式成立的条件是发射结正偏，集电结反偏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由以上分析可知，</a:t>
            </a:r>
            <a:r>
              <a:rPr kumimoji="1" lang="zh-CN" altLang="en-US" sz="12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发射区掺杂浓度高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kumimoji="1" lang="zh-CN" altLang="en-US" sz="12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基区很薄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，是保证三极管能够实现电流放大的关键。若两个</a:t>
            </a:r>
            <a:r>
              <a:rPr kumimoji="1" lang="en-US" altLang="zh-CN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结对接，相当基区很厚，所以没有电流放大作用，基区从厚变薄，两个</a:t>
            </a:r>
            <a:r>
              <a:rPr kumimoji="1" lang="en-US" altLang="zh-CN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kumimoji="1" lang="zh-CN" altLang="en-US" sz="12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结演变为三极管，这是量变引起质变的又一个实例。要注意公式推导的方式，得到公式成立的条件是发射结正偏，集电结反偏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第一步：因为发射结加正向电压，又因为发射区掺杂浓度高，即杂质（也就是自由电子）浓度高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，所以大量自由电子因扩散运动越过发射结到达基区。与此同时，空穴也从基区向发射区扩散，但由于基区杂质浓度（即空穴）低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，所以空穴形成的电流非常小，近似分析时可忽略不计。可见，扩散运动形成了发射极电流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/>
              <a:t>第二步：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由于基区很薄，杂质浓度很低，集电结又加了反向电压，所以扩散到基区的电子中只有极少部分与空穴复合，其余部分均作为基区的非平衡少子达到集电结。又由于电源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的作用，电子</a:t>
            </a:r>
            <a:endParaRPr lang="zh-CN" altLang="en-US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与空穴的复合运动将源源不断地进行，形成基极电流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第一步：因为发射结加正向电压，又因为发射区掺杂浓度高，即杂质（也就是自由电子）浓度高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，所以大量自由电子因扩散运动越过发射结到达基区。与此同时，空穴也从基区向发射区扩散，但由于基区杂质浓度（即空穴）低</a:t>
            </a:r>
            <a:r>
              <a:rPr lang="zh-CN" altLang="en-US" sz="2800" dirty="0"/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，所以空穴形成的电流非常小，近似分析时可忽略不计。可见，扩散运动形成了发射极电流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/>
              <a:t>第二步：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由于基区很薄，杂质浓度很低，集电结又加了反向电压，所以扩散到基区的电子中只有极少部分与空穴复合，其余部分均作为基区的非平衡少子达到集电结。又由于电源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的作用，电子</a:t>
            </a:r>
            <a:endParaRPr lang="zh-CN" altLang="en-US" sz="18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与空穴的复合运动将源源不断地进行，形成基极电流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fld id="{43BD5920-6611-4163-AFE2-6E2654442F2D}" type="slidenum">
              <a:rPr lang="en-US" altLang="zh-CN" sz="1200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 sz="900" b="1">
                <a:latin typeface="Vladimir Script" pitchFamily="66" charset="0"/>
                <a:ea typeface="幼圆" panose="02010509060101010101" pitchFamily="49" charset="-122"/>
              </a:rPr>
              <a:t> </a:t>
            </a:r>
            <a:endParaRPr lang="en-US" altLang="zh-CN" sz="900" b="1">
              <a:latin typeface="Vladimir Script" pitchFamily="66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/>
            <a:fld id="{43BD5920-6611-4163-AFE2-6E2654442F2D}" type="slidenum">
              <a:rPr lang="en-US" altLang="zh-CN" sz="1200" smtClean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 sz="900" b="1">
                <a:latin typeface="Vladimir Script" pitchFamily="66" charset="0"/>
                <a:ea typeface="幼圆" panose="02010509060101010101" pitchFamily="49" charset="-122"/>
              </a:rPr>
              <a:t> </a:t>
            </a:r>
            <a:endParaRPr lang="en-US" altLang="zh-CN" sz="900" b="1">
              <a:latin typeface="Vladimir Script" pitchFamily="66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电压关系是针对共射级来写的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电压关系是针对共射级来写的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电压关系是针对共射级来写的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82410-8C6E-4C46-B4FF-5234FC727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1"/>
          <p:cNvSpPr txBox="1"/>
          <p:nvPr userDrawn="1"/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Title 1"/>
          <p:cNvSpPr txBox="1"/>
          <p:nvPr userDrawn="1"/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pic>
        <p:nvPicPr>
          <p:cNvPr id="9" name="图片 50" descr="E:\常用信件\PPT模板\2023厦大ppt大赛素材-标志性事物\标志性建筑7.jpg标志性建筑7"/>
          <p:cNvPicPr>
            <a:picLocks noChangeAspect="1"/>
          </p:cNvPicPr>
          <p:nvPr userDrawn="1"/>
        </p:nvPicPr>
        <p:blipFill rotWithShape="1">
          <a:blip r:embed="rId2"/>
          <a:srcRect t="13915" b="33302"/>
          <a:stretch>
            <a:fillRect/>
          </a:stretch>
        </p:blipFill>
        <p:spPr>
          <a:xfrm flipH="1">
            <a:off x="-1" y="-27622"/>
            <a:ext cx="12193865" cy="3456622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 userDrawn="1"/>
        </p:nvPicPr>
        <p:blipFill>
          <a:blip r:embed="rId3"/>
          <a:srcRect l="22529" t="16560" r="24548" b="12333"/>
          <a:stretch>
            <a:fillRect/>
          </a:stretch>
        </p:blipFill>
        <p:spPr>
          <a:xfrm>
            <a:off x="5105578" y="2503488"/>
            <a:ext cx="1850700" cy="1866072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377998"/>
            <a:ext cx="10515600" cy="1325563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5" y="3206"/>
            <a:ext cx="23859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2377440" y="14063"/>
            <a:ext cx="2385985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706192" y="-5340"/>
            <a:ext cx="248580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41"/>
          <p:cNvSpPr/>
          <p:nvPr userDrawn="1"/>
        </p:nvSpPr>
        <p:spPr>
          <a:xfrm>
            <a:off x="4763425" y="14063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矩形 41"/>
          <p:cNvSpPr/>
          <p:nvPr userDrawn="1"/>
        </p:nvSpPr>
        <p:spPr>
          <a:xfrm>
            <a:off x="7249233" y="2360"/>
            <a:ext cx="2485808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公益服务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特色成果总结</a:t>
            </a:r>
            <a:endParaRPr lang="en-US" altLang="zh-CN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公益工作业绩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教学代表性成果及其贡献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教学工作业绩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41"/>
          <p:cNvSpPr/>
          <p:nvPr userDrawn="1"/>
        </p:nvSpPr>
        <p:spPr>
          <a:xfrm>
            <a:off x="0" y="0"/>
            <a:ext cx="3073138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69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73138" y="0"/>
            <a:ext cx="3022862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6096000" y="0"/>
            <a:ext cx="3048000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科研代表性成果及其贡献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1" y="0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6096000" y="13493"/>
            <a:ext cx="308256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9178566" y="0"/>
            <a:ext cx="3013434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3082564" y="-1"/>
            <a:ext cx="3013435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科研工作业绩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6" y="3206"/>
            <a:ext cx="3047071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3048930" y="-6185"/>
            <a:ext cx="3047070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6096977" y="-6185"/>
            <a:ext cx="304706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139232" y="1552"/>
            <a:ext cx="305753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41"/>
          <p:cNvSpPr/>
          <p:nvPr userDrawn="1"/>
        </p:nvSpPr>
        <p:spPr>
          <a:xfrm>
            <a:off x="-1" y="1228"/>
            <a:ext cx="3054285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41"/>
          <p:cNvSpPr/>
          <p:nvPr userDrawn="1"/>
        </p:nvSpPr>
        <p:spPr>
          <a:xfrm>
            <a:off x="3054284" y="-1883"/>
            <a:ext cx="304171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41"/>
          <p:cNvSpPr/>
          <p:nvPr userDrawn="1"/>
        </p:nvSpPr>
        <p:spPr>
          <a:xfrm>
            <a:off x="6108568" y="0"/>
            <a:ext cx="302914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41"/>
          <p:cNvSpPr/>
          <p:nvPr userDrawn="1"/>
        </p:nvSpPr>
        <p:spPr>
          <a:xfrm>
            <a:off x="9150284" y="0"/>
            <a:ext cx="3029148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41"/>
          <p:cNvSpPr/>
          <p:nvPr userDrawn="1"/>
        </p:nvSpPr>
        <p:spPr>
          <a:xfrm>
            <a:off x="-8546" y="3206"/>
            <a:ext cx="3047071" cy="4710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基本信息</a:t>
            </a:r>
            <a:endParaRPr lang="zh-CN" altLang="en-US" sz="2000" b="1" kern="1200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41"/>
          <p:cNvSpPr/>
          <p:nvPr userDrawn="1"/>
        </p:nvSpPr>
        <p:spPr>
          <a:xfrm>
            <a:off x="3048930" y="-6185"/>
            <a:ext cx="3047070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工作业绩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41"/>
          <p:cNvSpPr/>
          <p:nvPr userDrawn="1"/>
        </p:nvSpPr>
        <p:spPr>
          <a:xfrm>
            <a:off x="6096977" y="-6185"/>
            <a:ext cx="3047069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代表性成果及其贡献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矩形 41"/>
          <p:cNvSpPr/>
          <p:nvPr userDrawn="1"/>
        </p:nvSpPr>
        <p:spPr>
          <a:xfrm>
            <a:off x="9139232" y="1552"/>
            <a:ext cx="3057536" cy="47105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342900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下一步工作设想</a:t>
            </a:r>
            <a:endParaRPr lang="zh-CN" altLang="en-US" sz="2000" b="1" kern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BE462-2DCF-4C47-B375-3AA7C4049B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C9B27-139E-4B39-8BC0-43A379F17C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4A07D-B396-42C1-9B53-B36394D100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2BD80-30D9-43C2-9F97-FD96B66F8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785AD-7378-45E3-9932-26E6DD97039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41"/>
          <p:cNvSpPr/>
          <p:nvPr userDrawn="1"/>
        </p:nvSpPr>
        <p:spPr>
          <a:xfrm>
            <a:off x="-20929" y="-7030"/>
            <a:ext cx="12187232" cy="472745"/>
          </a:xfrm>
          <a:prstGeom prst="rect">
            <a:avLst/>
          </a:prstGeom>
          <a:solidFill>
            <a:srgbClr val="42465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155520" y="-7030"/>
            <a:ext cx="12503040" cy="699164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5.jpeg"/><Relationship Id="rId7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jpe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2" Type="http://schemas.openxmlformats.org/officeDocument/2006/relationships/notesSlide" Target="../notesSlides/notesSlide12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hyperlink" Target="file:///A:\2.1.ppt" TargetMode="Externa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oleObject" Target="../embeddings/oleObject8.bin"/><Relationship Id="rId7" Type="http://schemas.openxmlformats.org/officeDocument/2006/relationships/image" Target="../media/image25.w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23.wmf"/><Relationship Id="rId2" Type="http://schemas.openxmlformats.org/officeDocument/2006/relationships/oleObject" Target="../embeddings/oleObject5.bin"/><Relationship Id="rId18" Type="http://schemas.openxmlformats.org/officeDocument/2006/relationships/notesSlide" Target="../notesSlides/notesSlide13.xml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9.wmf"/><Relationship Id="rId14" Type="http://schemas.openxmlformats.org/officeDocument/2006/relationships/oleObject" Target="../embeddings/oleObject11.bin"/><Relationship Id="rId13" Type="http://schemas.openxmlformats.org/officeDocument/2006/relationships/image" Target="../media/image28.wmf"/><Relationship Id="rId12" Type="http://schemas.openxmlformats.org/officeDocument/2006/relationships/oleObject" Target="../embeddings/oleObject10.bin"/><Relationship Id="rId11" Type="http://schemas.openxmlformats.org/officeDocument/2006/relationships/image" Target="../media/image27.wmf"/><Relationship Id="rId10" Type="http://schemas.openxmlformats.org/officeDocument/2006/relationships/oleObject" Target="../embeddings/oleObject9.bin"/><Relationship Id="rId1" Type="http://schemas.openxmlformats.org/officeDocument/2006/relationships/hyperlink" Target="file:///A:\2.1.pp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png"/><Relationship Id="rId3" Type="http://schemas.openxmlformats.org/officeDocument/2006/relationships/oleObject" Target="../embeddings/oleObject14.bin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png"/><Relationship Id="rId3" Type="http://schemas.openxmlformats.org/officeDocument/2006/relationships/oleObject" Target="../embeddings/oleObject16.bin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oleObject" Target="../embeddings/oleObject18.bin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oleObject" Target="../embeddings/oleObject20.bin"/><Relationship Id="rId2" Type="http://schemas.openxmlformats.org/officeDocument/2006/relationships/image" Target="../media/image34.png"/><Relationship Id="rId1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22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1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731582" y="4381059"/>
            <a:ext cx="6440079" cy="785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晶体三极管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54204"/>
            <a:ext cx="12273699" cy="6966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-155644" y="-54204"/>
            <a:ext cx="3318235" cy="6966408"/>
          </a:xfrm>
          <a:prstGeom prst="rect">
            <a:avLst/>
          </a:prstGeom>
          <a:solidFill>
            <a:srgbClr val="4246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3"/>
          <p:cNvSpPr/>
          <p:nvPr/>
        </p:nvSpPr>
        <p:spPr>
          <a:xfrm>
            <a:off x="4217013" y="-54204"/>
            <a:ext cx="8056686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indent="0" algn="l" fontAlgn="auto">
              <a:lnSpc>
                <a:spcPct val="20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一、晶体管的结构及类型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二、晶体管的电流放大作用</a:t>
            </a:r>
            <a:r>
              <a:rPr lang="en-US" altLang="zh-CN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三、晶体管的共射特性曲线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四、三极管放大、饱和、截止工作状态的判断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七、含有晶体管电路的分析</a:t>
            </a:r>
            <a:endParaRPr lang="en-US" altLang="zh-CN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2">
              <a:lnSpc>
                <a:spcPct val="200000"/>
              </a:lnSpc>
            </a:pPr>
            <a:r>
              <a:rPr lang="zh-CN" altLang="en-US" sz="2800" b="1" dirty="0">
                <a:solidFill>
                  <a:srgbClr val="4246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八、其他晶体管 </a:t>
            </a:r>
            <a:endParaRPr lang="zh-CN" altLang="en-US" sz="2800" b="1" dirty="0">
              <a:solidFill>
                <a:srgbClr val="4246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552515" y="1513075"/>
            <a:ext cx="21434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7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3" y="5709512"/>
            <a:ext cx="2823368" cy="1148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晶体管的结构及类型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发展历史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42743" y="1187585"/>
            <a:ext cx="8007350" cy="12684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zh-CN" sz="280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7" name="TextBox 3"/>
          <p:cNvSpPr txBox="1"/>
          <p:nvPr>
            <p:custDataLst>
              <p:tags r:id="rId2"/>
            </p:custDataLst>
          </p:nvPr>
        </p:nvSpPr>
        <p:spPr>
          <a:xfrm>
            <a:off x="3348374" y="1268915"/>
            <a:ext cx="7219950" cy="110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114300" tIns="57150" rIns="114300" bIns="5715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1904年，英国物理学家弗莱明发明了第一只真空三极管，奠定了三极管发展的基础。</a:t>
            </a:r>
            <a:endParaRPr lang="en-US" altLang="zh-CN" sz="2800" dirty="0">
              <a:solidFill>
                <a:srgbClr val="FFFF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8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44168" y="2829060"/>
            <a:ext cx="8007350" cy="12684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zh-CN" sz="280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9" name="TextBox 5"/>
          <p:cNvSpPr txBox="1"/>
          <p:nvPr>
            <p:custDataLst>
              <p:tags r:id="rId4"/>
            </p:custDataLst>
          </p:nvPr>
        </p:nvSpPr>
        <p:spPr>
          <a:xfrm>
            <a:off x="1543683" y="2906982"/>
            <a:ext cx="7808320" cy="10808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114300" tIns="57150" rIns="114300" bIns="5715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1947年，美国贝尔实验室发明了第一只晶体管，即点接触型锗三极管，开启了半导体时代。</a:t>
            </a:r>
            <a:endParaRPr lang="en-US" altLang="zh-CN" sz="2800" dirty="0">
              <a:solidFill>
                <a:srgbClr val="FFFF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30" name="Picture 6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01" b="14201"/>
          <a:stretch>
            <a:fillRect/>
          </a:stretch>
        </p:blipFill>
        <p:spPr bwMode="auto">
          <a:xfrm>
            <a:off x="493255" y="1187585"/>
            <a:ext cx="2255838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31" name="Picture 7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9" b="7899"/>
          <a:stretch>
            <a:fillRect/>
          </a:stretch>
        </p:blipFill>
        <p:spPr bwMode="auto">
          <a:xfrm>
            <a:off x="9440405" y="2829060"/>
            <a:ext cx="2255838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2" name="AutoShape 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749093" y="4462597"/>
            <a:ext cx="8007350" cy="12684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zh-CN" sz="280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3" name="TextBox 9"/>
          <p:cNvSpPr txBox="1"/>
          <p:nvPr>
            <p:custDataLst>
              <p:tags r:id="rId10"/>
            </p:custDataLst>
          </p:nvPr>
        </p:nvSpPr>
        <p:spPr>
          <a:xfrm>
            <a:off x="3348374" y="4564663"/>
            <a:ext cx="7219950" cy="110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114300" tIns="57150" rIns="114300" bIns="5715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 err="1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随后，三极管逐渐从锗材料转向硅材料，性能得到不断提升，应用领域也不断扩展</a:t>
            </a:r>
            <a:r>
              <a:rPr lang="en-US" altLang="zh-CN" sz="280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800" dirty="0">
              <a:solidFill>
                <a:srgbClr val="FFFF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34" name="Picture 10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8" b="7848"/>
          <a:stretch>
            <a:fillRect/>
          </a:stretch>
        </p:blipFill>
        <p:spPr bwMode="auto">
          <a:xfrm>
            <a:off x="498018" y="4462597"/>
            <a:ext cx="2255837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06070" y="6027420"/>
            <a:ext cx="11780520" cy="768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4400">
                <a:solidFill>
                  <a:srgbClr val="FF0000"/>
                </a:solidFill>
              </a:rPr>
              <a:t>115</a:t>
            </a:r>
            <a:r>
              <a:rPr lang="zh-CN" altLang="en-US" sz="4400">
                <a:solidFill>
                  <a:srgbClr val="FF0000"/>
                </a:solidFill>
              </a:rPr>
              <a:t>三极管的</a:t>
            </a:r>
            <a:r>
              <a:rPr lang="zh-CN" altLang="en-US" sz="4400">
                <a:solidFill>
                  <a:srgbClr val="FF0000"/>
                </a:solidFill>
              </a:rPr>
              <a:t>原理</a:t>
            </a:r>
            <a:endParaRPr lang="zh-CN" altLang="en-US" sz="4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晶体管的结构及类型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应用领域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2"/>
          <p:cNvSpPr/>
          <p:nvPr/>
        </p:nvSpPr>
        <p:spPr>
          <a:xfrm>
            <a:off x="320595" y="4056737"/>
            <a:ext cx="2414587" cy="3698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通信领域</a:t>
            </a:r>
            <a:endParaRPr lang="en-US" altLang="zh-CN" sz="2400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3419285" y="4056736"/>
            <a:ext cx="2414588" cy="3698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计算机领域</a:t>
            </a:r>
            <a:endParaRPr lang="en-US" altLang="zh-CN" sz="2400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6401607" y="4056736"/>
            <a:ext cx="2414588" cy="3698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工业控制领域</a:t>
            </a:r>
            <a:endParaRPr lang="en-US" altLang="zh-CN" sz="2400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9433331" y="4056735"/>
            <a:ext cx="2414587" cy="3698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消费电子领域</a:t>
            </a:r>
            <a:endParaRPr lang="en-US" altLang="zh-CN" sz="2400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7" name="Picture 2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" b="116"/>
          <a:stretch>
            <a:fillRect/>
          </a:stretch>
        </p:blipFill>
        <p:spPr bwMode="auto">
          <a:xfrm>
            <a:off x="344407" y="675362"/>
            <a:ext cx="2465388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8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1" b="16701"/>
          <a:stretch>
            <a:fillRect/>
          </a:stretch>
        </p:blipFill>
        <p:spPr bwMode="auto">
          <a:xfrm>
            <a:off x="3414523" y="675361"/>
            <a:ext cx="2465387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9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r="16588"/>
          <a:stretch>
            <a:fillRect/>
          </a:stretch>
        </p:blipFill>
        <p:spPr bwMode="auto">
          <a:xfrm>
            <a:off x="6430182" y="675361"/>
            <a:ext cx="2465388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0" name="Picture 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" b="116"/>
          <a:stretch>
            <a:fillRect/>
          </a:stretch>
        </p:blipFill>
        <p:spPr bwMode="auto">
          <a:xfrm>
            <a:off x="9334609" y="675361"/>
            <a:ext cx="2465387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1" name="AutoShape 32"/>
          <p:cNvSpPr/>
          <p:nvPr/>
        </p:nvSpPr>
        <p:spPr>
          <a:xfrm>
            <a:off x="863520" y="2448599"/>
            <a:ext cx="1428750" cy="1428750"/>
          </a:xfrm>
          <a:prstGeom prst="rect">
            <a:avLst/>
          </a:prstGeom>
          <a:solidFill>
            <a:schemeClr val="accent1">
              <a:alpha val="7225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fontAlgn="auto"/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Calibri" panose="020F0502020204030204"/>
              <a:cs typeface="Arial" panose="020B0604020202020204"/>
              <a:sym typeface="Wingdings" panose="05000000000000000000"/>
            </a:endParaRPr>
          </a:p>
        </p:txBody>
      </p:sp>
      <p:sp>
        <p:nvSpPr>
          <p:cNvPr id="12" name="AutoShape 33"/>
          <p:cNvSpPr/>
          <p:nvPr/>
        </p:nvSpPr>
        <p:spPr>
          <a:xfrm>
            <a:off x="3933635" y="2448598"/>
            <a:ext cx="1428750" cy="1428750"/>
          </a:xfrm>
          <a:prstGeom prst="rect">
            <a:avLst/>
          </a:prstGeom>
          <a:solidFill>
            <a:schemeClr val="accent1">
              <a:lumMod val="50000"/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fontAlgn="auto"/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Calibri" panose="020F0502020204030204"/>
              <a:cs typeface="Arial" panose="020B0604020202020204"/>
              <a:sym typeface="Wingdings" panose="05000000000000000000"/>
            </a:endParaRPr>
          </a:p>
        </p:txBody>
      </p:sp>
      <p:sp>
        <p:nvSpPr>
          <p:cNvPr id="13" name="AutoShape 34"/>
          <p:cNvSpPr/>
          <p:nvPr/>
        </p:nvSpPr>
        <p:spPr>
          <a:xfrm>
            <a:off x="9853721" y="2448598"/>
            <a:ext cx="1428750" cy="1428750"/>
          </a:xfrm>
          <a:prstGeom prst="rect">
            <a:avLst/>
          </a:prstGeom>
          <a:solidFill>
            <a:schemeClr val="accent1">
              <a:lumMod val="50000"/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fontAlgn="auto"/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Calibri" panose="020F0502020204030204"/>
              <a:cs typeface="Arial" panose="020B0604020202020204"/>
              <a:sym typeface="Wingdings" panose="05000000000000000000"/>
            </a:endParaRPr>
          </a:p>
        </p:txBody>
      </p:sp>
      <p:sp>
        <p:nvSpPr>
          <p:cNvPr id="14" name="AutoShape 35"/>
          <p:cNvSpPr/>
          <p:nvPr/>
        </p:nvSpPr>
        <p:spPr>
          <a:xfrm>
            <a:off x="6949295" y="2448598"/>
            <a:ext cx="1428750" cy="1428750"/>
          </a:xfrm>
          <a:prstGeom prst="rect">
            <a:avLst/>
          </a:prstGeom>
          <a:solidFill>
            <a:schemeClr val="accent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fontAlgn="auto"/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Calibri" panose="020F0502020204030204"/>
              <a:cs typeface="Arial" panose="020B0604020202020204"/>
              <a:sym typeface="Wingdings" panose="05000000000000000000"/>
            </a:endParaRPr>
          </a:p>
        </p:txBody>
      </p:sp>
      <p:sp>
        <p:nvSpPr>
          <p:cNvPr id="15" name="TextBox 36"/>
          <p:cNvSpPr txBox="1"/>
          <p:nvPr/>
        </p:nvSpPr>
        <p:spPr>
          <a:xfrm>
            <a:off x="893682" y="2837537"/>
            <a:ext cx="1368425" cy="682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ts val="375"/>
              </a:spcBef>
            </a:pPr>
            <a:r>
              <a:rPr lang="en-US" altLang="zh-CN" sz="3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37"/>
          <p:cNvSpPr txBox="1"/>
          <p:nvPr/>
        </p:nvSpPr>
        <p:spPr>
          <a:xfrm>
            <a:off x="3965385" y="2837536"/>
            <a:ext cx="1363663" cy="682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ts val="375"/>
              </a:spcBef>
            </a:pPr>
            <a:r>
              <a:rPr lang="en-US" altLang="zh-CN" sz="3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3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38"/>
          <p:cNvSpPr txBox="1"/>
          <p:nvPr/>
        </p:nvSpPr>
        <p:spPr>
          <a:xfrm>
            <a:off x="6981045" y="2837536"/>
            <a:ext cx="1363662" cy="682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ts val="375"/>
              </a:spcBef>
            </a:pPr>
            <a:r>
              <a:rPr lang="en-US" altLang="zh-CN" sz="3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3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39"/>
          <p:cNvSpPr txBox="1"/>
          <p:nvPr/>
        </p:nvSpPr>
        <p:spPr>
          <a:xfrm>
            <a:off x="9885471" y="2837536"/>
            <a:ext cx="1363663" cy="682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ts val="375"/>
              </a:spcBef>
            </a:pPr>
            <a:r>
              <a:rPr lang="en-US" altLang="zh-CN" sz="3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40"/>
          <p:cNvSpPr/>
          <p:nvPr/>
        </p:nvSpPr>
        <p:spPr>
          <a:xfrm>
            <a:off x="157082" y="4490124"/>
            <a:ext cx="2652713" cy="2025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Ctr="1"/>
          <a:lstStyle/>
          <a:p>
            <a:pPr algn="ctr">
              <a:lnSpc>
                <a:spcPct val="140000"/>
              </a:lnSpc>
            </a:pPr>
            <a:r>
              <a:rPr lang="en-US" altLang="zh-CN" sz="24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三极管在通信电路中广泛应用，如放大器、振荡器、混频器等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0" name="AutoShape 41"/>
          <p:cNvSpPr/>
          <p:nvPr/>
        </p:nvSpPr>
        <p:spPr>
          <a:xfrm>
            <a:off x="3439923" y="4490123"/>
            <a:ext cx="2414587" cy="2025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Ctr="1"/>
          <a:lstStyle/>
          <a:p>
            <a:pPr algn="ctr">
              <a:lnSpc>
                <a:spcPct val="140000"/>
              </a:lnSpc>
            </a:pPr>
            <a:r>
              <a:rPr lang="en-US" altLang="zh-CN" sz="24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计算机内部的逻辑电路和存储电路都需要使用大量的三极管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1" name="AutoShape 42"/>
          <p:cNvSpPr/>
          <p:nvPr/>
        </p:nvSpPr>
        <p:spPr>
          <a:xfrm>
            <a:off x="6364557" y="4490123"/>
            <a:ext cx="2652712" cy="217414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Ctr="1"/>
          <a:lstStyle/>
          <a:p>
            <a:pPr algn="ctr">
              <a:lnSpc>
                <a:spcPct val="140000"/>
              </a:lnSpc>
            </a:pPr>
            <a:r>
              <a:rPr lang="en-US" altLang="zh-CN" sz="24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三极管在工业控制电路中也有着广泛的应用，如电机控制、温度控制等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2" name="AutoShape 43"/>
          <p:cNvSpPr/>
          <p:nvPr/>
        </p:nvSpPr>
        <p:spPr>
          <a:xfrm>
            <a:off x="9247351" y="4490123"/>
            <a:ext cx="2961144" cy="2025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Ctr="1"/>
          <a:lstStyle/>
          <a:p>
            <a:pPr algn="ctr">
              <a:lnSpc>
                <a:spcPct val="140000"/>
              </a:lnSpc>
            </a:pPr>
            <a:r>
              <a:rPr lang="en-US" altLang="zh-CN" sz="24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音响、电视、冰箱等消费电子产品中也需要使用三极管进行信号放大或电路控制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晶体管的结构及类型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623885" y="1200150"/>
            <a:ext cx="10912586" cy="4457700"/>
            <a:chOff x="639707" y="1006411"/>
            <a:chExt cx="10912586" cy="4457700"/>
          </a:xfrm>
        </p:grpSpPr>
        <p:grpSp>
          <p:nvGrpSpPr>
            <p:cNvPr id="13" name="Group 12"/>
            <p:cNvGrpSpPr/>
            <p:nvPr/>
          </p:nvGrpSpPr>
          <p:grpSpPr>
            <a:xfrm>
              <a:off x="639707" y="1006411"/>
              <a:ext cx="10912586" cy="4457700"/>
              <a:chOff x="775438" y="999212"/>
              <a:chExt cx="10912586" cy="4457700"/>
            </a:xfrm>
          </p:grpSpPr>
          <p:pic>
            <p:nvPicPr>
              <p:cNvPr id="3" name="Picture 2" descr="411"/>
              <p:cNvPicPr preferRelativeResize="0"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438" y="999212"/>
                <a:ext cx="10793521" cy="4457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" name="Rectangle 4"/>
              <p:cNvSpPr/>
              <p:nvPr/>
            </p:nvSpPr>
            <p:spPr>
              <a:xfrm>
                <a:off x="1765426" y="3784349"/>
                <a:ext cx="634873" cy="4345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4208353" y="3730028"/>
                <a:ext cx="634873" cy="4345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6533585" y="3730028"/>
                <a:ext cx="634873" cy="4345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0434120" y="5022346"/>
                <a:ext cx="634873" cy="4345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Text Box 7"/>
              <p:cNvSpPr>
                <a:spLocks noChangeArrowheads="1"/>
              </p:cNvSpPr>
              <p:nvPr/>
            </p:nvSpPr>
            <p:spPr bwMode="auto">
              <a:xfrm>
                <a:off x="3479360" y="4429378"/>
                <a:ext cx="1457986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(b)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小功率管  </a:t>
                </a:r>
                <a:endParaRPr kumimoji="1"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2" name="Text Box 7"/>
              <p:cNvSpPr>
                <a:spLocks noChangeArrowheads="1"/>
              </p:cNvSpPr>
              <p:nvPr/>
            </p:nvSpPr>
            <p:spPr bwMode="auto">
              <a:xfrm>
                <a:off x="6122028" y="4424663"/>
                <a:ext cx="1457986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(c)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大功率管</a:t>
                </a:r>
                <a:endParaRPr kumimoji="1"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4" name="Text Box 7"/>
              <p:cNvSpPr>
                <a:spLocks noChangeArrowheads="1"/>
              </p:cNvSpPr>
              <p:nvPr/>
            </p:nvSpPr>
            <p:spPr bwMode="auto">
              <a:xfrm>
                <a:off x="10104798" y="5022346"/>
                <a:ext cx="1583226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(d)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中功率管</a:t>
                </a:r>
                <a:endParaRPr kumimoji="1"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10" name="Text Box 7"/>
              <p:cNvSpPr>
                <a:spLocks noChangeArrowheads="1"/>
              </p:cNvSpPr>
              <p:nvPr/>
            </p:nvSpPr>
            <p:spPr bwMode="auto">
              <a:xfrm>
                <a:off x="1194679" y="4429378"/>
                <a:ext cx="1457986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SzPct val="100000"/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r>
                  <a:rPr kumimoji="1"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(a) 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小功率管   </a:t>
                </a:r>
                <a:endParaRPr kumimoji="1"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14" name="Group 172"/>
            <p:cNvGrpSpPr>
              <a:grpSpLocks noChangeAspect="1"/>
            </p:cNvGrpSpPr>
            <p:nvPr/>
          </p:nvGrpSpPr>
          <p:grpSpPr bwMode="auto">
            <a:xfrm>
              <a:off x="7963038" y="2462303"/>
              <a:ext cx="951514" cy="1329245"/>
              <a:chOff x="2562" y="2387"/>
              <a:chExt cx="927" cy="1295"/>
            </a:xfrm>
          </p:grpSpPr>
          <p:sp>
            <p:nvSpPr>
              <p:cNvPr id="15" name="AutoShape 171"/>
              <p:cNvSpPr>
                <a:spLocks noChangeAspect="1" noChangeArrowheads="1" noTextEdit="1"/>
              </p:cNvSpPr>
              <p:nvPr/>
            </p:nvSpPr>
            <p:spPr bwMode="auto">
              <a:xfrm>
                <a:off x="2562" y="2387"/>
                <a:ext cx="927" cy="1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16" name="Picture 17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2" y="2387"/>
                <a:ext cx="919" cy="1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" name="Group 175"/>
            <p:cNvGrpSpPr>
              <a:grpSpLocks noChangeAspect="1"/>
            </p:cNvGrpSpPr>
            <p:nvPr/>
          </p:nvGrpSpPr>
          <p:grpSpPr bwMode="auto">
            <a:xfrm>
              <a:off x="10490383" y="3801665"/>
              <a:ext cx="846526" cy="1164205"/>
              <a:chOff x="4031" y="2580"/>
              <a:chExt cx="914" cy="1257"/>
            </a:xfrm>
          </p:grpSpPr>
          <p:sp>
            <p:nvSpPr>
              <p:cNvPr id="18" name="AutoShape 174"/>
              <p:cNvSpPr>
                <a:spLocks noChangeAspect="1" noChangeArrowheads="1" noTextEdit="1"/>
              </p:cNvSpPr>
              <p:nvPr/>
            </p:nvSpPr>
            <p:spPr bwMode="auto">
              <a:xfrm>
                <a:off x="4031" y="2580"/>
                <a:ext cx="914" cy="1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19" name="Picture 17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1" y="2580"/>
                <a:ext cx="906" cy="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" name="Group 165"/>
            <p:cNvGrpSpPr>
              <a:grpSpLocks noChangeAspect="1"/>
            </p:cNvGrpSpPr>
            <p:nvPr/>
          </p:nvGrpSpPr>
          <p:grpSpPr bwMode="auto">
            <a:xfrm>
              <a:off x="4613583" y="2842547"/>
              <a:ext cx="830779" cy="1329246"/>
              <a:chOff x="158" y="2704"/>
              <a:chExt cx="865" cy="1384"/>
            </a:xfrm>
          </p:grpSpPr>
          <p:sp>
            <p:nvSpPr>
              <p:cNvPr id="21" name="AutoShape 164"/>
              <p:cNvSpPr>
                <a:spLocks noChangeAspect="1" noChangeArrowheads="1" noTextEdit="1"/>
              </p:cNvSpPr>
              <p:nvPr/>
            </p:nvSpPr>
            <p:spPr bwMode="auto">
              <a:xfrm>
                <a:off x="158" y="2704"/>
                <a:ext cx="865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22" name="Picture 166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8" y="2704"/>
                <a:ext cx="856" cy="1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3" name="Group 168"/>
            <p:cNvGrpSpPr>
              <a:grpSpLocks noChangeAspect="1"/>
            </p:cNvGrpSpPr>
            <p:nvPr/>
          </p:nvGrpSpPr>
          <p:grpSpPr bwMode="auto">
            <a:xfrm>
              <a:off x="1899442" y="3128790"/>
              <a:ext cx="748614" cy="1105341"/>
              <a:chOff x="1383" y="2840"/>
              <a:chExt cx="873" cy="1289"/>
            </a:xfrm>
          </p:grpSpPr>
          <p:sp>
            <p:nvSpPr>
              <p:cNvPr id="24" name="AutoShape 167"/>
              <p:cNvSpPr>
                <a:spLocks noChangeAspect="1" noChangeArrowheads="1" noTextEdit="1"/>
              </p:cNvSpPr>
              <p:nvPr/>
            </p:nvSpPr>
            <p:spPr bwMode="auto">
              <a:xfrm>
                <a:off x="1383" y="2840"/>
                <a:ext cx="873" cy="1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25" name="Picture 169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3" y="2840"/>
                <a:ext cx="865" cy="1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8" name="TextBox 27"/>
          <p:cNvSpPr txBox="1"/>
          <p:nvPr/>
        </p:nvSpPr>
        <p:spPr>
          <a:xfrm>
            <a:off x="2245563" y="5038618"/>
            <a:ext cx="1583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&lt; 500 </a:t>
            </a:r>
            <a:r>
              <a:rPr lang="en-US" altLang="en-US" sz="18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mW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156972" y="5657850"/>
            <a:ext cx="145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0.5 </a:t>
            </a:r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 W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411126" y="5040287"/>
            <a:ext cx="1428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&gt; 1 W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晶体管的结构及类型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4901" y="723781"/>
            <a:ext cx="10921570" cy="52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半导体三极管的结构示意图如图所示。它有两种类型：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型和</a:t>
            </a:r>
            <a:r>
              <a:rPr kumimoji="1" lang="en-US" altLang="zh-CN" sz="2400" b="1" dirty="0">
                <a:solidFill>
                  <a:srgbClr val="00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PNP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型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pic>
        <p:nvPicPr>
          <p:cNvPr id="27" name="Picture 26"/>
          <p:cNvPicPr preferRelativeResize="0"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6" y="1751988"/>
            <a:ext cx="3104356" cy="375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8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927" y="1796449"/>
            <a:ext cx="3104356" cy="375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421646" y="5594271"/>
            <a:ext cx="11715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型</a:t>
            </a:r>
            <a:endParaRPr kumimoji="1" lang="zh-CN" altLang="en-US" sz="2400" b="1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0951477" y="5609781"/>
            <a:ext cx="11699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SzPct val="100000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PNP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型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33" name="Group 99"/>
          <p:cNvGrpSpPr/>
          <p:nvPr/>
        </p:nvGrpSpPr>
        <p:grpSpPr bwMode="auto">
          <a:xfrm>
            <a:off x="3341113" y="2321070"/>
            <a:ext cx="2044699" cy="2771776"/>
            <a:chOff x="521" y="2312"/>
            <a:chExt cx="1288" cy="1746"/>
          </a:xfrm>
        </p:grpSpPr>
        <p:sp>
          <p:nvSpPr>
            <p:cNvPr id="34" name="Line 100"/>
            <p:cNvSpPr>
              <a:spLocks noChangeShapeType="1"/>
            </p:cNvSpPr>
            <p:nvPr/>
          </p:nvSpPr>
          <p:spPr bwMode="auto">
            <a:xfrm>
              <a:off x="768" y="3215"/>
              <a:ext cx="451" cy="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101"/>
            <p:cNvSpPr>
              <a:spLocks noChangeShapeType="1"/>
            </p:cNvSpPr>
            <p:nvPr/>
          </p:nvSpPr>
          <p:spPr bwMode="auto">
            <a:xfrm>
              <a:off x="1210" y="307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102"/>
            <p:cNvSpPr>
              <a:spLocks noChangeShapeType="1"/>
            </p:cNvSpPr>
            <p:nvPr/>
          </p:nvSpPr>
          <p:spPr bwMode="auto">
            <a:xfrm>
              <a:off x="1208" y="3264"/>
              <a:ext cx="182" cy="1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 flipV="1">
              <a:off x="1210" y="3035"/>
              <a:ext cx="158" cy="1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104"/>
            <p:cNvSpPr>
              <a:spLocks noChangeShapeType="1"/>
            </p:cNvSpPr>
            <p:nvPr/>
          </p:nvSpPr>
          <p:spPr bwMode="auto">
            <a:xfrm>
              <a:off x="1362" y="2625"/>
              <a:ext cx="0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105"/>
            <p:cNvSpPr>
              <a:spLocks noChangeShapeType="1"/>
            </p:cNvSpPr>
            <p:nvPr/>
          </p:nvSpPr>
          <p:spPr bwMode="auto">
            <a:xfrm>
              <a:off x="1380" y="343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Text Box 106"/>
            <p:cNvSpPr txBox="1">
              <a:spLocks noChangeArrowheads="1"/>
            </p:cNvSpPr>
            <p:nvPr/>
          </p:nvSpPr>
          <p:spPr bwMode="auto">
            <a:xfrm>
              <a:off x="521" y="3043"/>
              <a:ext cx="22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1" name="Text Box 107"/>
            <p:cNvSpPr txBox="1">
              <a:spLocks noChangeArrowheads="1"/>
            </p:cNvSpPr>
            <p:nvPr/>
          </p:nvSpPr>
          <p:spPr bwMode="auto">
            <a:xfrm>
              <a:off x="1271" y="3766"/>
              <a:ext cx="20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2" name="Text Box 108"/>
            <p:cNvSpPr txBox="1">
              <a:spLocks noChangeArrowheads="1"/>
            </p:cNvSpPr>
            <p:nvPr/>
          </p:nvSpPr>
          <p:spPr bwMode="auto">
            <a:xfrm>
              <a:off x="1252" y="2312"/>
              <a:ext cx="20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3" name="Line 109"/>
            <p:cNvSpPr>
              <a:spLocks noChangeShapeType="1"/>
            </p:cNvSpPr>
            <p:nvPr/>
          </p:nvSpPr>
          <p:spPr bwMode="auto">
            <a:xfrm>
              <a:off x="778" y="333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10"/>
            <p:cNvSpPr>
              <a:spLocks noChangeShapeType="1"/>
            </p:cNvSpPr>
            <p:nvPr/>
          </p:nvSpPr>
          <p:spPr bwMode="auto">
            <a:xfrm>
              <a:off x="1450" y="3432"/>
              <a:ext cx="0" cy="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111"/>
            <p:cNvSpPr>
              <a:spLocks noChangeShapeType="1"/>
            </p:cNvSpPr>
            <p:nvPr/>
          </p:nvSpPr>
          <p:spPr bwMode="auto">
            <a:xfrm>
              <a:off x="1431" y="2668"/>
              <a:ext cx="0" cy="3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Text Box 112"/>
            <p:cNvSpPr txBox="1">
              <a:spLocks noChangeArrowheads="1"/>
            </p:cNvSpPr>
            <p:nvPr/>
          </p:nvSpPr>
          <p:spPr bwMode="auto">
            <a:xfrm>
              <a:off x="794" y="3329"/>
              <a:ext cx="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kumimoji="1" lang="en-US" altLang="zh-CN" sz="2400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7" name="Text Box 113"/>
            <p:cNvSpPr txBox="1">
              <a:spLocks noChangeArrowheads="1"/>
            </p:cNvSpPr>
            <p:nvPr/>
          </p:nvSpPr>
          <p:spPr bwMode="auto">
            <a:xfrm>
              <a:off x="1448" y="3456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kumimoji="1" lang="en-US" altLang="zh-CN" sz="2400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48" name="Text Box 114"/>
            <p:cNvSpPr txBox="1">
              <a:spLocks noChangeArrowheads="1"/>
            </p:cNvSpPr>
            <p:nvPr/>
          </p:nvSpPr>
          <p:spPr bwMode="auto">
            <a:xfrm>
              <a:off x="1392" y="2688"/>
              <a:ext cx="4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49" name="Oval 48"/>
          <p:cNvSpPr/>
          <p:nvPr/>
        </p:nvSpPr>
        <p:spPr>
          <a:xfrm>
            <a:off x="4617245" y="2710284"/>
            <a:ext cx="114131" cy="12118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Oval 49"/>
          <p:cNvSpPr/>
          <p:nvPr/>
        </p:nvSpPr>
        <p:spPr>
          <a:xfrm>
            <a:off x="3618385" y="3693990"/>
            <a:ext cx="114131" cy="12118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Oval 50"/>
          <p:cNvSpPr/>
          <p:nvPr/>
        </p:nvSpPr>
        <p:spPr>
          <a:xfrm>
            <a:off x="4650448" y="4670571"/>
            <a:ext cx="114131" cy="12118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Group 115"/>
          <p:cNvGrpSpPr/>
          <p:nvPr/>
        </p:nvGrpSpPr>
        <p:grpSpPr bwMode="auto">
          <a:xfrm>
            <a:off x="10246247" y="2372693"/>
            <a:ext cx="2133600" cy="2843213"/>
            <a:chOff x="2962" y="2323"/>
            <a:chExt cx="1344" cy="1791"/>
          </a:xfrm>
        </p:grpSpPr>
        <p:sp>
          <p:nvSpPr>
            <p:cNvPr id="53" name="Line 116"/>
            <p:cNvSpPr>
              <a:spLocks noChangeShapeType="1"/>
            </p:cNvSpPr>
            <p:nvPr/>
          </p:nvSpPr>
          <p:spPr bwMode="auto">
            <a:xfrm>
              <a:off x="3216" y="3254"/>
              <a:ext cx="451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117"/>
            <p:cNvSpPr>
              <a:spLocks noChangeShapeType="1"/>
            </p:cNvSpPr>
            <p:nvPr/>
          </p:nvSpPr>
          <p:spPr bwMode="auto">
            <a:xfrm>
              <a:off x="3658" y="3114"/>
              <a:ext cx="0" cy="2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118"/>
            <p:cNvSpPr>
              <a:spLocks noChangeShapeType="1"/>
            </p:cNvSpPr>
            <p:nvPr/>
          </p:nvSpPr>
          <p:spPr bwMode="auto">
            <a:xfrm rot="16200000" flipV="1">
              <a:off x="3642" y="3270"/>
              <a:ext cx="192" cy="1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119"/>
            <p:cNvSpPr>
              <a:spLocks noChangeShapeType="1"/>
            </p:cNvSpPr>
            <p:nvPr/>
          </p:nvSpPr>
          <p:spPr bwMode="auto">
            <a:xfrm flipV="1">
              <a:off x="3658" y="3072"/>
              <a:ext cx="158" cy="1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120"/>
            <p:cNvSpPr>
              <a:spLocks noChangeShapeType="1"/>
            </p:cNvSpPr>
            <p:nvPr/>
          </p:nvSpPr>
          <p:spPr bwMode="auto">
            <a:xfrm>
              <a:off x="3807" y="2640"/>
              <a:ext cx="0" cy="4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121"/>
            <p:cNvSpPr>
              <a:spLocks noChangeShapeType="1"/>
            </p:cNvSpPr>
            <p:nvPr/>
          </p:nvSpPr>
          <p:spPr bwMode="auto">
            <a:xfrm>
              <a:off x="3828" y="3449"/>
              <a:ext cx="0" cy="3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Text Box 122"/>
            <p:cNvSpPr txBox="1">
              <a:spLocks noChangeArrowheads="1"/>
            </p:cNvSpPr>
            <p:nvPr/>
          </p:nvSpPr>
          <p:spPr bwMode="auto">
            <a:xfrm>
              <a:off x="2962" y="3082"/>
              <a:ext cx="22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0" name="Text Box 123"/>
            <p:cNvSpPr txBox="1">
              <a:spLocks noChangeArrowheads="1"/>
            </p:cNvSpPr>
            <p:nvPr/>
          </p:nvSpPr>
          <p:spPr bwMode="auto">
            <a:xfrm>
              <a:off x="3716" y="3822"/>
              <a:ext cx="20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1" name="Text Box 124"/>
            <p:cNvSpPr txBox="1">
              <a:spLocks noChangeArrowheads="1"/>
            </p:cNvSpPr>
            <p:nvPr/>
          </p:nvSpPr>
          <p:spPr bwMode="auto">
            <a:xfrm>
              <a:off x="3699" y="2323"/>
              <a:ext cx="20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kumimoji="1" lang="en-US" altLang="zh-CN" sz="2400" b="1" dirty="0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2" name="Line 125"/>
            <p:cNvSpPr>
              <a:spLocks noChangeShapeType="1"/>
            </p:cNvSpPr>
            <p:nvPr/>
          </p:nvSpPr>
          <p:spPr bwMode="auto">
            <a:xfrm flipH="1">
              <a:off x="3226" y="337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126"/>
            <p:cNvSpPr>
              <a:spLocks noChangeShapeType="1"/>
            </p:cNvSpPr>
            <p:nvPr/>
          </p:nvSpPr>
          <p:spPr bwMode="auto">
            <a:xfrm>
              <a:off x="3898" y="3475"/>
              <a:ext cx="0" cy="2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Line 127"/>
            <p:cNvSpPr>
              <a:spLocks noChangeShapeType="1"/>
            </p:cNvSpPr>
            <p:nvPr/>
          </p:nvSpPr>
          <p:spPr bwMode="auto">
            <a:xfrm>
              <a:off x="3879" y="2667"/>
              <a:ext cx="0" cy="3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Text Box 128"/>
            <p:cNvSpPr txBox="1">
              <a:spLocks noChangeArrowheads="1"/>
            </p:cNvSpPr>
            <p:nvPr/>
          </p:nvSpPr>
          <p:spPr bwMode="auto">
            <a:xfrm flipH="1">
              <a:off x="3242" y="3367"/>
              <a:ext cx="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楷体_GB2312" panose="02010609030101010101" pitchFamily="49" charset="-122"/>
                </a:rPr>
                <a:t>B</a:t>
              </a:r>
              <a:endParaRPr kumimoji="1" lang="en-US" altLang="zh-CN" sz="2400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6" name="Text Box 129"/>
            <p:cNvSpPr txBox="1">
              <a:spLocks noChangeArrowheads="1"/>
            </p:cNvSpPr>
            <p:nvPr/>
          </p:nvSpPr>
          <p:spPr bwMode="auto">
            <a:xfrm>
              <a:off x="3955" y="3528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楷体_GB2312" panose="02010609030101010101" pitchFamily="49" charset="-122"/>
                </a:rPr>
                <a:t>E</a:t>
              </a:r>
              <a:endParaRPr kumimoji="1" lang="en-US" altLang="zh-CN" sz="2400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67" name="Text Box 130"/>
            <p:cNvSpPr txBox="1">
              <a:spLocks noChangeArrowheads="1"/>
            </p:cNvSpPr>
            <p:nvPr/>
          </p:nvSpPr>
          <p:spPr bwMode="auto">
            <a:xfrm>
              <a:off x="3889" y="2719"/>
              <a:ext cx="4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68" name="Oval 67"/>
          <p:cNvSpPr/>
          <p:nvPr/>
        </p:nvSpPr>
        <p:spPr>
          <a:xfrm>
            <a:off x="11529437" y="2761225"/>
            <a:ext cx="114131" cy="12118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Oval 68"/>
          <p:cNvSpPr/>
          <p:nvPr/>
        </p:nvSpPr>
        <p:spPr>
          <a:xfrm>
            <a:off x="10535341" y="3791548"/>
            <a:ext cx="114131" cy="12118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Oval 69"/>
          <p:cNvSpPr/>
          <p:nvPr/>
        </p:nvSpPr>
        <p:spPr>
          <a:xfrm>
            <a:off x="11569226" y="4771596"/>
            <a:ext cx="114131" cy="12118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AutoShape 9"/>
          <p:cNvSpPr/>
          <p:nvPr/>
        </p:nvSpPr>
        <p:spPr>
          <a:xfrm>
            <a:off x="3778635" y="4996821"/>
            <a:ext cx="3564130" cy="17852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三极管内部包含两个PN结，分别是发射结和集电结</a:t>
            </a:r>
            <a:r>
              <a:rPr lang="en-US" altLang="zh-CN" sz="2800" b="1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800" b="1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659278" y="1796449"/>
            <a:ext cx="380499" cy="1694881"/>
            <a:chOff x="5659278" y="1796449"/>
            <a:chExt cx="380499" cy="1694881"/>
          </a:xfrm>
        </p:grpSpPr>
        <p:grpSp>
          <p:nvGrpSpPr>
            <p:cNvPr id="16" name="Group 15"/>
            <p:cNvGrpSpPr/>
            <p:nvPr/>
          </p:nvGrpSpPr>
          <p:grpSpPr>
            <a:xfrm>
              <a:off x="5664968" y="1796449"/>
              <a:ext cx="374809" cy="988171"/>
              <a:chOff x="5664968" y="1796449"/>
              <a:chExt cx="374809" cy="988171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5854972" y="1796449"/>
                <a:ext cx="0" cy="363433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Isosceles Triangle 6"/>
              <p:cNvSpPr/>
              <p:nvPr/>
            </p:nvSpPr>
            <p:spPr>
              <a:xfrm>
                <a:off x="5670162" y="2169484"/>
                <a:ext cx="369615" cy="296880"/>
              </a:xfrm>
              <a:prstGeom prst="triangl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5849775" y="2480360"/>
                <a:ext cx="0" cy="30426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664968" y="2159882"/>
                <a:ext cx="36961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 rot="10800000">
              <a:off x="5659278" y="2503159"/>
              <a:ext cx="374809" cy="988171"/>
              <a:chOff x="5664968" y="1796449"/>
              <a:chExt cx="374809" cy="988171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5854972" y="1796449"/>
                <a:ext cx="0" cy="363433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Isosceles Triangle 18"/>
              <p:cNvSpPr/>
              <p:nvPr/>
            </p:nvSpPr>
            <p:spPr>
              <a:xfrm>
                <a:off x="5670162" y="2169484"/>
                <a:ext cx="369615" cy="296880"/>
              </a:xfrm>
              <a:prstGeom prst="triangl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5849775" y="2480360"/>
                <a:ext cx="0" cy="30426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664968" y="2159882"/>
                <a:ext cx="36961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7" name="Group 76"/>
          <p:cNvGrpSpPr/>
          <p:nvPr/>
        </p:nvGrpSpPr>
        <p:grpSpPr>
          <a:xfrm>
            <a:off x="10742048" y="1756489"/>
            <a:ext cx="380499" cy="1694881"/>
            <a:chOff x="11027211" y="897612"/>
            <a:chExt cx="380499" cy="1694881"/>
          </a:xfrm>
        </p:grpSpPr>
        <p:grpSp>
          <p:nvGrpSpPr>
            <p:cNvPr id="24" name="Group 23"/>
            <p:cNvGrpSpPr/>
            <p:nvPr/>
          </p:nvGrpSpPr>
          <p:grpSpPr>
            <a:xfrm rot="10800000">
              <a:off x="11032901" y="897612"/>
              <a:ext cx="374809" cy="988171"/>
              <a:chOff x="5664968" y="1796449"/>
              <a:chExt cx="374809" cy="988171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5854972" y="1796449"/>
                <a:ext cx="0" cy="363433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Isosceles Triangle 73"/>
              <p:cNvSpPr/>
              <p:nvPr/>
            </p:nvSpPr>
            <p:spPr>
              <a:xfrm>
                <a:off x="5670162" y="2169484"/>
                <a:ext cx="369615" cy="296880"/>
              </a:xfrm>
              <a:prstGeom prst="triangl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5849775" y="2480360"/>
                <a:ext cx="0" cy="30426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5664968" y="2159882"/>
                <a:ext cx="36961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>
            <a:xfrm>
              <a:off x="11027211" y="1604322"/>
              <a:ext cx="374809" cy="988171"/>
              <a:chOff x="5664968" y="1796449"/>
              <a:chExt cx="374809" cy="988171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5854972" y="1796449"/>
                <a:ext cx="0" cy="363433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Isosceles Triangle 27"/>
              <p:cNvSpPr/>
              <p:nvPr/>
            </p:nvSpPr>
            <p:spPr>
              <a:xfrm>
                <a:off x="5670162" y="2169484"/>
                <a:ext cx="369615" cy="296880"/>
              </a:xfrm>
              <a:prstGeom prst="triangl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5849775" y="2480360"/>
                <a:ext cx="0" cy="30426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5664968" y="2159882"/>
                <a:ext cx="36961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8085221" y="2053538"/>
            <a:ext cx="2743200" cy="1066800"/>
          </a:xfrm>
          <a:prstGeom prst="wedgeRoundRectCallout">
            <a:avLst>
              <a:gd name="adj1" fmla="val -69213"/>
              <a:gd name="adj2" fmla="val 95088"/>
              <a:gd name="adj3" fmla="val 16667"/>
            </a:avLst>
          </a:prstGeom>
          <a:solidFill>
            <a:srgbClr val="CCFFCC"/>
          </a:solid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基区：最薄，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 eaLnBrk="0" hangingPunct="0"/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掺杂浓度最低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8313821" y="4720538"/>
            <a:ext cx="2286000" cy="1066800"/>
          </a:xfrm>
          <a:prstGeom prst="wedgeRoundRectCallout">
            <a:avLst>
              <a:gd name="adj1" fmla="val -81458"/>
              <a:gd name="adj2" fmla="val -100597"/>
              <a:gd name="adj3" fmla="val 16667"/>
            </a:avLst>
          </a:prstGeom>
          <a:pattFill prst="pct80">
            <a:fgClr>
              <a:srgbClr val="FFCC99"/>
            </a:fgClr>
            <a:bgClr>
              <a:schemeClr val="bg1"/>
            </a:bgClr>
          </a:patt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发射区：掺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spcBef>
                <a:spcPct val="20000"/>
              </a:spcBef>
            </a:pPr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杂浓度最高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4732421" y="4568138"/>
            <a:ext cx="1676400" cy="685800"/>
          </a:xfrm>
          <a:prstGeom prst="wedgeRoundRectCallout">
            <a:avLst>
              <a:gd name="adj1" fmla="val 87120"/>
              <a:gd name="adj2" fmla="val -158796"/>
              <a:gd name="adj3" fmla="val 16667"/>
            </a:avLst>
          </a:prstGeom>
          <a:pattFill prst="pct40">
            <a:fgClr>
              <a:srgbClr val="00FF00"/>
            </a:fgClr>
            <a:bgClr>
              <a:srgbClr val="FFFFFF"/>
            </a:bgClr>
          </a:patt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发射结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503821" y="2586938"/>
            <a:ext cx="1676400" cy="685800"/>
          </a:xfrm>
          <a:prstGeom prst="wedgeRoundRectCallout">
            <a:avLst>
              <a:gd name="adj1" fmla="val 94699"/>
              <a:gd name="adj2" fmla="val 63657"/>
              <a:gd name="adj3" fmla="val 16667"/>
            </a:avLst>
          </a:prstGeom>
          <a:pattFill prst="pct40">
            <a:fgClr>
              <a:srgbClr val="66CCFF"/>
            </a:fgClr>
            <a:bgClr>
              <a:srgbClr val="FFFFFF"/>
            </a:bgClr>
          </a:patt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集电结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7" name="Group 6"/>
          <p:cNvGrpSpPr/>
          <p:nvPr/>
        </p:nvGrpSpPr>
        <p:grpSpPr bwMode="auto">
          <a:xfrm>
            <a:off x="4850532" y="1344877"/>
            <a:ext cx="3189286" cy="4479610"/>
            <a:chOff x="729" y="264"/>
            <a:chExt cx="2512" cy="3526"/>
          </a:xfrm>
        </p:grpSpPr>
        <p:grpSp>
          <p:nvGrpSpPr>
            <p:cNvPr id="8" name="Group 7"/>
            <p:cNvGrpSpPr/>
            <p:nvPr/>
          </p:nvGrpSpPr>
          <p:grpSpPr bwMode="auto">
            <a:xfrm>
              <a:off x="1796" y="753"/>
              <a:ext cx="1339" cy="2587"/>
              <a:chOff x="971" y="1385"/>
              <a:chExt cx="1339" cy="2250"/>
            </a:xfrm>
          </p:grpSpPr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 rot="5400000" flipH="1">
                <a:off x="1638" y="2490"/>
                <a:ext cx="501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Rectangle 9"/>
              <p:cNvSpPr>
                <a:spLocks noChangeArrowheads="1"/>
              </p:cNvSpPr>
              <p:nvPr/>
            </p:nvSpPr>
            <p:spPr bwMode="auto">
              <a:xfrm rot="5400000" flipH="1">
                <a:off x="1644" y="1671"/>
                <a:ext cx="489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 rot="5400000" flipH="1">
                <a:off x="1728" y="2078"/>
                <a:ext cx="324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3" name="Group 11"/>
              <p:cNvGrpSpPr/>
              <p:nvPr/>
            </p:nvGrpSpPr>
            <p:grpSpPr bwMode="auto">
              <a:xfrm>
                <a:off x="1859" y="3173"/>
                <a:ext cx="84" cy="462"/>
                <a:chOff x="3467" y="3509"/>
                <a:chExt cx="84" cy="462"/>
              </a:xfrm>
            </p:grpSpPr>
            <p:sp>
              <p:nvSpPr>
                <p:cNvPr id="29" name="Line 1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314" y="3704"/>
                  <a:ext cx="3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Oval 13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73" y="3893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14"/>
              <p:cNvGrpSpPr/>
              <p:nvPr/>
            </p:nvGrpSpPr>
            <p:grpSpPr bwMode="auto">
              <a:xfrm>
                <a:off x="1853" y="1385"/>
                <a:ext cx="84" cy="462"/>
                <a:chOff x="3473" y="1277"/>
                <a:chExt cx="84" cy="462"/>
              </a:xfrm>
            </p:grpSpPr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314" y="1544"/>
                  <a:ext cx="3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Oval 16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79" y="1271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" name="Line 17"/>
              <p:cNvSpPr>
                <a:spLocks noChangeShapeType="1"/>
              </p:cNvSpPr>
              <p:nvPr/>
            </p:nvSpPr>
            <p:spPr bwMode="auto">
              <a:xfrm rot="5400000" flipH="1">
                <a:off x="1259" y="2321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Oval 18"/>
              <p:cNvSpPr>
                <a:spLocks noChangeArrowheads="1"/>
              </p:cNvSpPr>
              <p:nvPr/>
            </p:nvSpPr>
            <p:spPr bwMode="auto">
              <a:xfrm rot="5400000" flipH="1">
                <a:off x="977" y="2495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9"/>
            <p:cNvGrpSpPr/>
            <p:nvPr/>
          </p:nvGrpSpPr>
          <p:grpSpPr bwMode="auto">
            <a:xfrm>
              <a:off x="1539" y="534"/>
              <a:ext cx="1139" cy="2910"/>
              <a:chOff x="677" y="1133"/>
              <a:chExt cx="1139" cy="2533"/>
            </a:xfrm>
          </p:grpSpPr>
          <p:sp>
            <p:nvSpPr>
              <p:cNvPr id="17" name="Text Box 20"/>
              <p:cNvSpPr txBox="1">
                <a:spLocks noChangeArrowheads="1"/>
              </p:cNvSpPr>
              <p:nvPr/>
            </p:nvSpPr>
            <p:spPr bwMode="auto">
              <a:xfrm>
                <a:off x="677" y="2375"/>
                <a:ext cx="286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</a:rPr>
                  <a:t>b</a:t>
                </a:r>
                <a:endParaRPr kumimoji="1" lang="en-US" altLang="zh-CN" sz="28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endParaRPr>
              </a:p>
            </p:txBody>
          </p:sp>
          <p:sp>
            <p:nvSpPr>
              <p:cNvPr id="18" name="Text Box 21"/>
              <p:cNvSpPr txBox="1">
                <a:spLocks noChangeArrowheads="1"/>
              </p:cNvSpPr>
              <p:nvPr/>
            </p:nvSpPr>
            <p:spPr bwMode="auto">
              <a:xfrm>
                <a:off x="1494" y="3306"/>
                <a:ext cx="286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</a:rPr>
                  <a:t>e</a:t>
                </a:r>
                <a:endPara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endParaRPr>
              </a:p>
            </p:txBody>
          </p:sp>
          <p:sp>
            <p:nvSpPr>
              <p:cNvPr id="19" name="Text Box 22"/>
              <p:cNvSpPr txBox="1">
                <a:spLocks noChangeArrowheads="1"/>
              </p:cNvSpPr>
              <p:nvPr/>
            </p:nvSpPr>
            <p:spPr bwMode="auto">
              <a:xfrm>
                <a:off x="1530" y="1133"/>
                <a:ext cx="286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</a:rPr>
                  <a:t>c</a:t>
                </a:r>
                <a:endPara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0" name="Group 23"/>
            <p:cNvGrpSpPr/>
            <p:nvPr/>
          </p:nvGrpSpPr>
          <p:grpSpPr bwMode="auto">
            <a:xfrm>
              <a:off x="2519" y="1385"/>
              <a:ext cx="322" cy="1291"/>
              <a:chOff x="1694" y="1934"/>
              <a:chExt cx="322" cy="1125"/>
            </a:xfrm>
          </p:grpSpPr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1694" y="1934"/>
                <a:ext cx="299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</a:rPr>
                  <a:t>N</a:t>
                </a:r>
                <a:endParaRPr kumimoji="1"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endParaRPr>
              </a:p>
            </p:txBody>
          </p:sp>
          <p:sp>
            <p:nvSpPr>
              <p:cNvPr id="15" name="Text Box 25"/>
              <p:cNvSpPr txBox="1">
                <a:spLocks noChangeArrowheads="1"/>
              </p:cNvSpPr>
              <p:nvPr/>
            </p:nvSpPr>
            <p:spPr bwMode="auto">
              <a:xfrm>
                <a:off x="1706" y="2703"/>
                <a:ext cx="298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</a:rPr>
                  <a:t>N</a:t>
                </a:r>
                <a:endParaRPr kumimoji="1" lang="en-US" altLang="zh-CN" sz="2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endParaRPr>
              </a:p>
            </p:txBody>
          </p:sp>
          <p:sp>
            <p:nvSpPr>
              <p:cNvPr id="16" name="Text Box 26"/>
              <p:cNvSpPr txBox="1">
                <a:spLocks noChangeArrowheads="1"/>
              </p:cNvSpPr>
              <p:nvPr/>
            </p:nvSpPr>
            <p:spPr bwMode="auto">
              <a:xfrm>
                <a:off x="1716" y="2318"/>
                <a:ext cx="300" cy="3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</a:rPr>
                  <a:t>P</a:t>
                </a:r>
                <a:endParaRPr kumimoji="1" lang="en-US" altLang="zh-CN" sz="2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1" name="Text Box 27"/>
            <p:cNvSpPr txBox="1">
              <a:spLocks noChangeArrowheads="1"/>
            </p:cNvSpPr>
            <p:nvPr/>
          </p:nvSpPr>
          <p:spPr bwMode="auto">
            <a:xfrm>
              <a:off x="729" y="1895"/>
              <a:ext cx="709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基极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2229" y="3376"/>
              <a:ext cx="992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发射极</a:t>
              </a:r>
              <a:endPara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29"/>
            <p:cNvSpPr txBox="1">
              <a:spLocks noChangeArrowheads="1"/>
            </p:cNvSpPr>
            <p:nvPr/>
          </p:nvSpPr>
          <p:spPr bwMode="auto">
            <a:xfrm>
              <a:off x="2249" y="264"/>
              <a:ext cx="992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集电极</a:t>
              </a:r>
              <a:endPara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Group 30"/>
          <p:cNvGrpSpPr/>
          <p:nvPr/>
        </p:nvGrpSpPr>
        <p:grpSpPr bwMode="auto">
          <a:xfrm>
            <a:off x="6837446" y="3301313"/>
            <a:ext cx="1095375" cy="123825"/>
            <a:chOff x="2532" y="1812"/>
            <a:chExt cx="828" cy="60"/>
          </a:xfrm>
        </p:grpSpPr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2532" y="1812"/>
              <a:ext cx="828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prstDash val="dash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532" y="1872"/>
              <a:ext cx="828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prstDash val="dash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4" name="Group 33"/>
          <p:cNvGrpSpPr/>
          <p:nvPr/>
        </p:nvGrpSpPr>
        <p:grpSpPr bwMode="auto">
          <a:xfrm>
            <a:off x="6808871" y="3782326"/>
            <a:ext cx="1123950" cy="96837"/>
            <a:chOff x="2532" y="1812"/>
            <a:chExt cx="828" cy="60"/>
          </a:xfrm>
        </p:grpSpPr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2532" y="1812"/>
              <a:ext cx="828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prstDash val="dash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2532" y="1872"/>
              <a:ext cx="828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prstDash val="dash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551590" y="629977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结构特点：</a:t>
            </a:r>
            <a:endParaRPr kumimoji="1" lang="zh-CN" altLang="en-US" sz="2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8" name="AutoShape 37"/>
          <p:cNvSpPr>
            <a:spLocks noChangeArrowheads="1"/>
          </p:cNvSpPr>
          <p:nvPr/>
        </p:nvSpPr>
        <p:spPr bwMode="auto">
          <a:xfrm>
            <a:off x="4517156" y="1010233"/>
            <a:ext cx="1828800" cy="1066800"/>
          </a:xfrm>
          <a:prstGeom prst="wedgeRoundRectCallout">
            <a:avLst>
              <a:gd name="adj1" fmla="val 79949"/>
              <a:gd name="adj2" fmla="val 127977"/>
              <a:gd name="adj3" fmla="val 16667"/>
            </a:avLst>
          </a:prstGeom>
          <a:pattFill prst="pct70">
            <a:fgClr>
              <a:srgbClr val="FFFF00"/>
            </a:fgClr>
            <a:bgClr>
              <a:schemeClr val="bg1"/>
            </a:bgClr>
          </a:patt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集电区：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/>
            <a:r>
              <a:rPr kumimoji="1"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面积最大</a:t>
            </a:r>
            <a:endParaRPr kumimoji="1"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晶体管的结构及类型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3701887" y="548156"/>
            <a:ext cx="4132696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defPPr>
              <a:defRPr lang="zh-CN"/>
            </a:defPPr>
            <a:lvl1pPr marL="190500" indent="-1905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5pPr>
            <a:lvl6pPr marL="25146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6pPr>
            <a:lvl7pPr marL="29718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7pPr>
            <a:lvl8pPr marL="3429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8pPr>
            <a:lvl9pPr marL="3886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9pPr>
          </a:lstStyle>
          <a:p>
            <a:pPr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Arial Narrow" panose="020B0606020202030204" pitchFamily="34" charset="0"/>
                <a:ea typeface="楷体_GB2312" panose="02010609030101010101" pitchFamily="49" charset="-122"/>
              </a:rPr>
              <a:t>集电区掺杂浓度低于发射区</a:t>
            </a:r>
            <a:endParaRPr lang="zh-CN" altLang="en-US" sz="2400" b="1" dirty="0">
              <a:solidFill>
                <a:srgbClr val="C00000"/>
              </a:solidFill>
              <a:latin typeface="Arial Narrow" panose="020B0606020202030204" pitchFamily="34" charset="0"/>
              <a:ea typeface="楷体_GB2312" panose="0201060903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" y="2268855"/>
            <a:ext cx="4180205" cy="1621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  <p:bldP spid="5" grpId="0" animBg="1" autoUpdateAnimBg="0"/>
      <p:bldP spid="6" grpId="0" animBg="1" autoUpdateAnimBg="0"/>
      <p:bldP spid="38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Rectangle 3"/>
          <p:cNvSpPr txBox="1">
            <a:spLocks noChangeArrowheads="1"/>
          </p:cNvSpPr>
          <p:nvPr/>
        </p:nvSpPr>
        <p:spPr>
          <a:xfrm>
            <a:off x="371065" y="1196918"/>
            <a:ext cx="5490294" cy="3620291"/>
          </a:xfrm>
          <a:prstGeom prst="rect">
            <a:avLst/>
          </a:prstGeom>
          <a:solidFill>
            <a:srgbClr val="CCFFCC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三极管内部的电流</a:t>
            </a:r>
            <a:endParaRPr lang="zh-CN" altLang="en-US" sz="40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7480" y="548424"/>
            <a:ext cx="6465529" cy="52540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三极管内部载流子的运动规律（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型）</a:t>
            </a:r>
            <a:endParaRPr lang="zh-CN" altLang="en-US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90" name="Rectangle 2"/>
          <p:cNvSpPr>
            <a:spLocks noChangeArrowheads="1"/>
          </p:cNvSpPr>
          <p:nvPr/>
        </p:nvSpPr>
        <p:spPr bwMode="auto">
          <a:xfrm>
            <a:off x="8239234" y="1353710"/>
            <a:ext cx="2590800" cy="1676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2" name="Rectangle 3"/>
          <p:cNvSpPr txBox="1">
            <a:spLocks noChangeArrowheads="1"/>
          </p:cNvSpPr>
          <p:nvPr/>
        </p:nvSpPr>
        <p:spPr>
          <a:xfrm>
            <a:off x="370840" y="1196975"/>
            <a:ext cx="5490210" cy="5045075"/>
          </a:xfrm>
          <a:prstGeom prst="rect">
            <a:avLst/>
          </a:prstGeom>
          <a:solidFill>
            <a:srgbClr val="CCFFCC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发射结加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正偏时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从发射区将有大量的电子向基区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扩散</a:t>
            </a: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，进入基区的电子流因基区的空穴浓度低，被复合的机会较少。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又因基区很薄，在集电结反偏电压的作用下，电子在基区停留的时间很短，很快就运动到了集电结的边上，进入集电结的结电场区域，被集电极所收集，形成集电极电流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zh-CN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96" name="Rectangle 7"/>
          <p:cNvSpPr>
            <a:spLocks noChangeArrowheads="1"/>
          </p:cNvSpPr>
          <p:nvPr/>
        </p:nvSpPr>
        <p:spPr bwMode="auto">
          <a:xfrm>
            <a:off x="8236059" y="3033285"/>
            <a:ext cx="2590800" cy="381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7" name="Rectangle 8"/>
          <p:cNvSpPr>
            <a:spLocks noChangeArrowheads="1"/>
          </p:cNvSpPr>
          <p:nvPr/>
        </p:nvSpPr>
        <p:spPr bwMode="auto">
          <a:xfrm>
            <a:off x="8236059" y="3422223"/>
            <a:ext cx="2590800" cy="1676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Line 9"/>
          <p:cNvSpPr>
            <a:spLocks noChangeShapeType="1"/>
          </p:cNvSpPr>
          <p:nvPr/>
        </p:nvSpPr>
        <p:spPr bwMode="auto">
          <a:xfrm>
            <a:off x="7272446" y="3258710"/>
            <a:ext cx="968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9" name="Line 10"/>
          <p:cNvSpPr>
            <a:spLocks noChangeShapeType="1"/>
          </p:cNvSpPr>
          <p:nvPr/>
        </p:nvSpPr>
        <p:spPr bwMode="auto">
          <a:xfrm>
            <a:off x="7272446" y="32587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00" name="Group 11"/>
          <p:cNvGrpSpPr/>
          <p:nvPr/>
        </p:nvGrpSpPr>
        <p:grpSpPr bwMode="auto">
          <a:xfrm>
            <a:off x="7043846" y="4249310"/>
            <a:ext cx="457200" cy="152400"/>
            <a:chOff x="2448" y="2640"/>
            <a:chExt cx="288" cy="96"/>
          </a:xfrm>
        </p:grpSpPr>
        <p:sp>
          <p:nvSpPr>
            <p:cNvPr id="201" name="Line 12"/>
            <p:cNvSpPr>
              <a:spLocks noChangeShapeType="1"/>
            </p:cNvSpPr>
            <p:nvPr/>
          </p:nvSpPr>
          <p:spPr bwMode="auto">
            <a:xfrm>
              <a:off x="2448" y="2640"/>
              <a:ext cx="288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2" name="Line 13"/>
            <p:cNvSpPr>
              <a:spLocks noChangeShapeType="1"/>
            </p:cNvSpPr>
            <p:nvPr/>
          </p:nvSpPr>
          <p:spPr bwMode="auto">
            <a:xfrm>
              <a:off x="2544" y="2736"/>
              <a:ext cx="96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03" name="Line 14"/>
          <p:cNvSpPr>
            <a:spLocks noChangeShapeType="1"/>
          </p:cNvSpPr>
          <p:nvPr/>
        </p:nvSpPr>
        <p:spPr bwMode="auto">
          <a:xfrm>
            <a:off x="7272446" y="4401710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" name="Line 15"/>
          <p:cNvSpPr>
            <a:spLocks noChangeShapeType="1"/>
          </p:cNvSpPr>
          <p:nvPr/>
        </p:nvSpPr>
        <p:spPr bwMode="auto">
          <a:xfrm>
            <a:off x="7272446" y="5697110"/>
            <a:ext cx="4251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5" name="Line 16"/>
          <p:cNvSpPr>
            <a:spLocks noChangeShapeType="1"/>
          </p:cNvSpPr>
          <p:nvPr/>
        </p:nvSpPr>
        <p:spPr bwMode="auto">
          <a:xfrm>
            <a:off x="9482246" y="508751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06" name="Group 17"/>
          <p:cNvGrpSpPr/>
          <p:nvPr/>
        </p:nvGrpSpPr>
        <p:grpSpPr bwMode="auto">
          <a:xfrm>
            <a:off x="11311046" y="2901523"/>
            <a:ext cx="457200" cy="319087"/>
            <a:chOff x="5136" y="1791"/>
            <a:chExt cx="288" cy="201"/>
          </a:xfrm>
        </p:grpSpPr>
        <p:sp>
          <p:nvSpPr>
            <p:cNvPr id="207" name="Line 18"/>
            <p:cNvSpPr>
              <a:spLocks noChangeShapeType="1"/>
            </p:cNvSpPr>
            <p:nvPr/>
          </p:nvSpPr>
          <p:spPr bwMode="auto">
            <a:xfrm>
              <a:off x="5136" y="1791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8" name="Line 19"/>
            <p:cNvSpPr>
              <a:spLocks noChangeShapeType="1"/>
            </p:cNvSpPr>
            <p:nvPr/>
          </p:nvSpPr>
          <p:spPr bwMode="auto">
            <a:xfrm>
              <a:off x="5136" y="1920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9" name="Line 20"/>
            <p:cNvSpPr>
              <a:spLocks noChangeShapeType="1"/>
            </p:cNvSpPr>
            <p:nvPr/>
          </p:nvSpPr>
          <p:spPr bwMode="auto">
            <a:xfrm>
              <a:off x="5202" y="1851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0" name="Line 21"/>
            <p:cNvSpPr>
              <a:spLocks noChangeShapeType="1"/>
            </p:cNvSpPr>
            <p:nvPr/>
          </p:nvSpPr>
          <p:spPr bwMode="auto">
            <a:xfrm>
              <a:off x="5199" y="1992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1" name="Line 22"/>
          <p:cNvSpPr>
            <a:spLocks noChangeShapeType="1"/>
          </p:cNvSpPr>
          <p:nvPr/>
        </p:nvSpPr>
        <p:spPr bwMode="auto">
          <a:xfrm>
            <a:off x="11531709" y="3236485"/>
            <a:ext cx="0" cy="2459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2" name="Line 23"/>
          <p:cNvSpPr>
            <a:spLocks noChangeShapeType="1"/>
          </p:cNvSpPr>
          <p:nvPr/>
        </p:nvSpPr>
        <p:spPr bwMode="auto">
          <a:xfrm>
            <a:off x="11530121" y="501223"/>
            <a:ext cx="11113" cy="2392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3" name="Line 24"/>
          <p:cNvSpPr>
            <a:spLocks noChangeShapeType="1"/>
          </p:cNvSpPr>
          <p:nvPr/>
        </p:nvSpPr>
        <p:spPr bwMode="auto">
          <a:xfrm>
            <a:off x="9391759" y="496460"/>
            <a:ext cx="21447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4" name="Line 25"/>
          <p:cNvSpPr>
            <a:spLocks noChangeShapeType="1"/>
          </p:cNvSpPr>
          <p:nvPr/>
        </p:nvSpPr>
        <p:spPr bwMode="auto">
          <a:xfrm>
            <a:off x="9409221" y="494873"/>
            <a:ext cx="0" cy="862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" name="Text Box 26"/>
          <p:cNvSpPr txBox="1">
            <a:spLocks noChangeArrowheads="1"/>
          </p:cNvSpPr>
          <p:nvPr/>
        </p:nvSpPr>
        <p:spPr bwMode="auto">
          <a:xfrm>
            <a:off x="7413734" y="4061985"/>
            <a:ext cx="73501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16" name="Text Box 27"/>
          <p:cNvSpPr txBox="1">
            <a:spLocks noChangeArrowheads="1"/>
          </p:cNvSpPr>
          <p:nvPr/>
        </p:nvSpPr>
        <p:spPr bwMode="auto">
          <a:xfrm>
            <a:off x="11495196" y="3225373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17" name="Oval 28"/>
          <p:cNvSpPr>
            <a:spLocks noChangeArrowheads="1"/>
          </p:cNvSpPr>
          <p:nvPr/>
        </p:nvSpPr>
        <p:spPr bwMode="auto">
          <a:xfrm>
            <a:off x="8818671" y="354287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8" name="Oval 29"/>
          <p:cNvSpPr>
            <a:spLocks noChangeArrowheads="1"/>
          </p:cNvSpPr>
          <p:nvPr/>
        </p:nvSpPr>
        <p:spPr bwMode="auto">
          <a:xfrm>
            <a:off x="9128234" y="3552398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9" name="Oval 30"/>
          <p:cNvSpPr>
            <a:spLocks noChangeArrowheads="1"/>
          </p:cNvSpPr>
          <p:nvPr/>
        </p:nvSpPr>
        <p:spPr bwMode="auto">
          <a:xfrm>
            <a:off x="9394934" y="3533348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0" name="Oval 31"/>
          <p:cNvSpPr>
            <a:spLocks noChangeArrowheads="1"/>
          </p:cNvSpPr>
          <p:nvPr/>
        </p:nvSpPr>
        <p:spPr bwMode="auto">
          <a:xfrm>
            <a:off x="9633059" y="3528585"/>
            <a:ext cx="7143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" name="Oval 32"/>
          <p:cNvSpPr>
            <a:spLocks noChangeArrowheads="1"/>
          </p:cNvSpPr>
          <p:nvPr/>
        </p:nvSpPr>
        <p:spPr bwMode="auto">
          <a:xfrm>
            <a:off x="9871184" y="352382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2" name="Oval 33"/>
          <p:cNvSpPr>
            <a:spLocks noChangeArrowheads="1"/>
          </p:cNvSpPr>
          <p:nvPr/>
        </p:nvSpPr>
        <p:spPr bwMode="auto">
          <a:xfrm>
            <a:off x="10095021" y="3514298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3" name="Oval 34"/>
          <p:cNvSpPr>
            <a:spLocks noChangeArrowheads="1"/>
          </p:cNvSpPr>
          <p:nvPr/>
        </p:nvSpPr>
        <p:spPr bwMode="auto">
          <a:xfrm>
            <a:off x="10412521" y="3506360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4" name="Text Box 35"/>
          <p:cNvSpPr txBox="1">
            <a:spLocks noChangeArrowheads="1"/>
          </p:cNvSpPr>
          <p:nvPr/>
        </p:nvSpPr>
        <p:spPr bwMode="auto">
          <a:xfrm>
            <a:off x="8301146" y="449061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5" name="Text Box 36"/>
          <p:cNvSpPr txBox="1">
            <a:spLocks noChangeArrowheads="1"/>
          </p:cNvSpPr>
          <p:nvPr/>
        </p:nvSpPr>
        <p:spPr bwMode="auto">
          <a:xfrm>
            <a:off x="8267809" y="1418798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6" name="Text Box 37"/>
          <p:cNvSpPr txBox="1">
            <a:spLocks noChangeArrowheads="1"/>
          </p:cNvSpPr>
          <p:nvPr/>
        </p:nvSpPr>
        <p:spPr bwMode="auto">
          <a:xfrm>
            <a:off x="8282096" y="299201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P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7" name="Text Box 38"/>
          <p:cNvSpPr txBox="1">
            <a:spLocks noChangeArrowheads="1"/>
          </p:cNvSpPr>
          <p:nvPr/>
        </p:nvSpPr>
        <p:spPr bwMode="auto">
          <a:xfrm>
            <a:off x="9540984" y="5195460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E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8" name="Text Box 39"/>
          <p:cNvSpPr txBox="1">
            <a:spLocks noChangeArrowheads="1"/>
          </p:cNvSpPr>
          <p:nvPr/>
        </p:nvSpPr>
        <p:spPr bwMode="auto">
          <a:xfrm>
            <a:off x="9395728" y="882141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C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" name="Text Box 40"/>
          <p:cNvSpPr txBox="1">
            <a:spLocks noChangeArrowheads="1"/>
          </p:cNvSpPr>
          <p:nvPr/>
        </p:nvSpPr>
        <p:spPr bwMode="auto">
          <a:xfrm>
            <a:off x="7726471" y="278246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B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30" name="Group 41"/>
          <p:cNvGrpSpPr/>
          <p:nvPr/>
        </p:nvGrpSpPr>
        <p:grpSpPr bwMode="auto">
          <a:xfrm>
            <a:off x="9137759" y="3098373"/>
            <a:ext cx="1306512" cy="503237"/>
            <a:chOff x="3767" y="1915"/>
            <a:chExt cx="823" cy="317"/>
          </a:xfrm>
        </p:grpSpPr>
        <p:sp>
          <p:nvSpPr>
            <p:cNvPr id="231" name="Line 42"/>
            <p:cNvSpPr>
              <a:spLocks noChangeShapeType="1"/>
            </p:cNvSpPr>
            <p:nvPr/>
          </p:nvSpPr>
          <p:spPr bwMode="auto">
            <a:xfrm flipV="1">
              <a:off x="3767" y="2003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2" name="Line 43"/>
            <p:cNvSpPr>
              <a:spLocks noChangeShapeType="1"/>
            </p:cNvSpPr>
            <p:nvPr/>
          </p:nvSpPr>
          <p:spPr bwMode="auto">
            <a:xfrm flipV="1">
              <a:off x="4260" y="1915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3" name="Line 44"/>
            <p:cNvSpPr>
              <a:spLocks noChangeShapeType="1"/>
            </p:cNvSpPr>
            <p:nvPr/>
          </p:nvSpPr>
          <p:spPr bwMode="auto">
            <a:xfrm flipV="1">
              <a:off x="4104" y="1930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4" name="Line 45"/>
            <p:cNvSpPr>
              <a:spLocks noChangeShapeType="1"/>
            </p:cNvSpPr>
            <p:nvPr/>
          </p:nvSpPr>
          <p:spPr bwMode="auto">
            <a:xfrm flipV="1">
              <a:off x="3953" y="1952"/>
              <a:ext cx="0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" name="Line 46"/>
            <p:cNvSpPr>
              <a:spLocks noChangeShapeType="1"/>
            </p:cNvSpPr>
            <p:nvPr/>
          </p:nvSpPr>
          <p:spPr bwMode="auto">
            <a:xfrm flipV="1">
              <a:off x="4590" y="1995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6" name="Line 47"/>
            <p:cNvSpPr>
              <a:spLocks noChangeShapeType="1"/>
            </p:cNvSpPr>
            <p:nvPr/>
          </p:nvSpPr>
          <p:spPr bwMode="auto">
            <a:xfrm flipV="1">
              <a:off x="4401" y="1987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7" name="Oval 48"/>
          <p:cNvSpPr>
            <a:spLocks noChangeArrowheads="1"/>
          </p:cNvSpPr>
          <p:nvPr/>
        </p:nvSpPr>
        <p:spPr bwMode="auto">
          <a:xfrm>
            <a:off x="8609121" y="3161873"/>
            <a:ext cx="71438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8" name="Freeform 49"/>
          <p:cNvSpPr/>
          <p:nvPr/>
        </p:nvSpPr>
        <p:spPr bwMode="auto">
          <a:xfrm>
            <a:off x="8674209" y="3250773"/>
            <a:ext cx="165100" cy="269875"/>
          </a:xfrm>
          <a:custGeom>
            <a:avLst/>
            <a:gdLst/>
            <a:ahLst/>
            <a:cxnLst>
              <a:cxn ang="0">
                <a:pos x="104" y="170"/>
              </a:cxn>
              <a:cxn ang="0">
                <a:pos x="66" y="104"/>
              </a:cxn>
              <a:cxn ang="0">
                <a:pos x="0" y="0"/>
              </a:cxn>
            </a:cxnLst>
            <a:rect l="0" t="0" r="r" b="b"/>
            <a:pathLst>
              <a:path w="104" h="170">
                <a:moveTo>
                  <a:pt x="104" y="170"/>
                </a:moveTo>
                <a:cubicBezTo>
                  <a:pt x="93" y="151"/>
                  <a:pt x="83" y="132"/>
                  <a:pt x="66" y="104"/>
                </a:cubicBezTo>
                <a:cubicBezTo>
                  <a:pt x="49" y="76"/>
                  <a:pt x="11" y="17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9" name="AutoShape 50"/>
          <p:cNvSpPr>
            <a:spLocks noChangeArrowheads="1"/>
          </p:cNvSpPr>
          <p:nvPr/>
        </p:nvSpPr>
        <p:spPr bwMode="auto">
          <a:xfrm>
            <a:off x="8261459" y="1855360"/>
            <a:ext cx="3206750" cy="27130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2" name="Oval 53"/>
          <p:cNvSpPr>
            <a:spLocks noChangeArrowheads="1"/>
          </p:cNvSpPr>
          <p:nvPr/>
        </p:nvSpPr>
        <p:spPr bwMode="auto">
          <a:xfrm>
            <a:off x="8729771" y="2425273"/>
            <a:ext cx="71438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" name="Oval 54"/>
          <p:cNvSpPr>
            <a:spLocks noChangeArrowheads="1"/>
          </p:cNvSpPr>
          <p:nvPr/>
        </p:nvSpPr>
        <p:spPr bwMode="auto">
          <a:xfrm>
            <a:off x="8715484" y="303487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4" name="Group 55"/>
          <p:cNvGrpSpPr/>
          <p:nvPr/>
        </p:nvGrpSpPr>
        <p:grpSpPr bwMode="auto">
          <a:xfrm>
            <a:off x="9180621" y="2558623"/>
            <a:ext cx="1214438" cy="95250"/>
            <a:chOff x="3794" y="1725"/>
            <a:chExt cx="765" cy="60"/>
          </a:xfrm>
        </p:grpSpPr>
        <p:sp>
          <p:nvSpPr>
            <p:cNvPr id="245" name="Oval 56"/>
            <p:cNvSpPr>
              <a:spLocks noChangeArrowheads="1"/>
            </p:cNvSpPr>
            <p:nvPr/>
          </p:nvSpPr>
          <p:spPr bwMode="auto">
            <a:xfrm>
              <a:off x="3794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" name="Oval 57"/>
            <p:cNvSpPr>
              <a:spLocks noChangeArrowheads="1"/>
            </p:cNvSpPr>
            <p:nvPr/>
          </p:nvSpPr>
          <p:spPr bwMode="auto">
            <a:xfrm>
              <a:off x="3898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7" name="Oval 58"/>
            <p:cNvSpPr>
              <a:spLocks noChangeArrowheads="1"/>
            </p:cNvSpPr>
            <p:nvPr/>
          </p:nvSpPr>
          <p:spPr bwMode="auto">
            <a:xfrm>
              <a:off x="4012" y="1727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" name="Oval 59"/>
            <p:cNvSpPr>
              <a:spLocks noChangeArrowheads="1"/>
            </p:cNvSpPr>
            <p:nvPr/>
          </p:nvSpPr>
          <p:spPr bwMode="auto">
            <a:xfrm>
              <a:off x="418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9" name="Oval 60"/>
            <p:cNvSpPr>
              <a:spLocks noChangeArrowheads="1"/>
            </p:cNvSpPr>
            <p:nvPr/>
          </p:nvSpPr>
          <p:spPr bwMode="auto">
            <a:xfrm>
              <a:off x="435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0" name="Oval 61"/>
            <p:cNvSpPr>
              <a:spLocks noChangeArrowheads="1"/>
            </p:cNvSpPr>
            <p:nvPr/>
          </p:nvSpPr>
          <p:spPr bwMode="auto">
            <a:xfrm>
              <a:off x="4514" y="1740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1" name="Text Box 62"/>
          <p:cNvSpPr txBox="1">
            <a:spLocks noChangeArrowheads="1"/>
          </p:cNvSpPr>
          <p:nvPr/>
        </p:nvSpPr>
        <p:spPr bwMode="auto">
          <a:xfrm>
            <a:off x="9456846" y="2080785"/>
            <a:ext cx="990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FF3300"/>
                </a:solidFill>
                <a:latin typeface="Times New Roman" panose="02020603050405020304" pitchFamily="18" charset="0"/>
              </a:rPr>
              <a:t>CE</a:t>
            </a:r>
            <a:endParaRPr kumimoji="1" lang="en-US" altLang="zh-CN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54" name="Group 65"/>
          <p:cNvGrpSpPr/>
          <p:nvPr/>
        </p:nvGrpSpPr>
        <p:grpSpPr bwMode="auto">
          <a:xfrm>
            <a:off x="9180621" y="3096785"/>
            <a:ext cx="1214438" cy="95250"/>
            <a:chOff x="3794" y="1725"/>
            <a:chExt cx="765" cy="60"/>
          </a:xfrm>
        </p:grpSpPr>
        <p:sp>
          <p:nvSpPr>
            <p:cNvPr id="255" name="Oval 66"/>
            <p:cNvSpPr>
              <a:spLocks noChangeArrowheads="1"/>
            </p:cNvSpPr>
            <p:nvPr/>
          </p:nvSpPr>
          <p:spPr bwMode="auto">
            <a:xfrm>
              <a:off x="3794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" name="Oval 67"/>
            <p:cNvSpPr>
              <a:spLocks noChangeArrowheads="1"/>
            </p:cNvSpPr>
            <p:nvPr/>
          </p:nvSpPr>
          <p:spPr bwMode="auto">
            <a:xfrm>
              <a:off x="3898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7" name="Oval 68"/>
            <p:cNvSpPr>
              <a:spLocks noChangeArrowheads="1"/>
            </p:cNvSpPr>
            <p:nvPr/>
          </p:nvSpPr>
          <p:spPr bwMode="auto">
            <a:xfrm>
              <a:off x="4012" y="1727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8" name="Oval 69"/>
            <p:cNvSpPr>
              <a:spLocks noChangeArrowheads="1"/>
            </p:cNvSpPr>
            <p:nvPr/>
          </p:nvSpPr>
          <p:spPr bwMode="auto">
            <a:xfrm>
              <a:off x="418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9" name="Oval 70"/>
            <p:cNvSpPr>
              <a:spLocks noChangeArrowheads="1"/>
            </p:cNvSpPr>
            <p:nvPr/>
          </p:nvSpPr>
          <p:spPr bwMode="auto">
            <a:xfrm>
              <a:off x="435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0" name="Oval 71"/>
            <p:cNvSpPr>
              <a:spLocks noChangeArrowheads="1"/>
            </p:cNvSpPr>
            <p:nvPr/>
          </p:nvSpPr>
          <p:spPr bwMode="auto">
            <a:xfrm>
              <a:off x="4514" y="1740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2" name="Group 73"/>
          <p:cNvGrpSpPr/>
          <p:nvPr/>
        </p:nvGrpSpPr>
        <p:grpSpPr bwMode="auto">
          <a:xfrm>
            <a:off x="9213959" y="2641173"/>
            <a:ext cx="1306512" cy="503237"/>
            <a:chOff x="3767" y="1915"/>
            <a:chExt cx="823" cy="317"/>
          </a:xfrm>
        </p:grpSpPr>
        <p:sp>
          <p:nvSpPr>
            <p:cNvPr id="263" name="Line 74"/>
            <p:cNvSpPr>
              <a:spLocks noChangeShapeType="1"/>
            </p:cNvSpPr>
            <p:nvPr/>
          </p:nvSpPr>
          <p:spPr bwMode="auto">
            <a:xfrm flipV="1">
              <a:off x="3767" y="2003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4" name="Line 75"/>
            <p:cNvSpPr>
              <a:spLocks noChangeShapeType="1"/>
            </p:cNvSpPr>
            <p:nvPr/>
          </p:nvSpPr>
          <p:spPr bwMode="auto">
            <a:xfrm flipV="1">
              <a:off x="4260" y="1915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5" name="Line 76"/>
            <p:cNvSpPr>
              <a:spLocks noChangeShapeType="1"/>
            </p:cNvSpPr>
            <p:nvPr/>
          </p:nvSpPr>
          <p:spPr bwMode="auto">
            <a:xfrm flipV="1">
              <a:off x="4104" y="1930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" name="Line 77"/>
            <p:cNvSpPr>
              <a:spLocks noChangeShapeType="1"/>
            </p:cNvSpPr>
            <p:nvPr/>
          </p:nvSpPr>
          <p:spPr bwMode="auto">
            <a:xfrm flipV="1">
              <a:off x="3953" y="1952"/>
              <a:ext cx="0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7" name="Line 78"/>
            <p:cNvSpPr>
              <a:spLocks noChangeShapeType="1"/>
            </p:cNvSpPr>
            <p:nvPr/>
          </p:nvSpPr>
          <p:spPr bwMode="auto">
            <a:xfrm flipV="1">
              <a:off x="4590" y="1995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8" name="Line 79"/>
            <p:cNvSpPr>
              <a:spLocks noChangeShapeType="1"/>
            </p:cNvSpPr>
            <p:nvPr/>
          </p:nvSpPr>
          <p:spPr bwMode="auto">
            <a:xfrm flipV="1">
              <a:off x="4401" y="1987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9" grpId="0" animBg="1"/>
      <p:bldP spid="203" grpId="0" animBg="1"/>
      <p:bldP spid="204" grpId="0" animBg="1"/>
      <p:bldP spid="205" grpId="0" animBg="1"/>
      <p:bldP spid="211" grpId="0" animBg="1"/>
      <p:bldP spid="212" grpId="0" animBg="1"/>
      <p:bldP spid="213" grpId="0" animBg="1"/>
      <p:bldP spid="214" grpId="0" animBg="1"/>
      <p:bldP spid="215" grpId="0" autoUpdateAnimBg="0"/>
      <p:bldP spid="216" grpId="0" autoUpdateAnimBg="0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37" grpId="0" animBg="1"/>
      <p:bldP spid="238" grpId="0" animBg="1"/>
      <p:bldP spid="239" grpId="0" animBg="1"/>
      <p:bldP spid="242" grpId="0" animBg="1"/>
      <p:bldP spid="243" grpId="0" animBg="1"/>
      <p:bldP spid="2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7480" y="548424"/>
            <a:ext cx="6465529" cy="52540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三极管内部载流子的运动规律（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型）</a:t>
            </a:r>
            <a:endParaRPr lang="zh-CN" altLang="en-US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90" name="Rectangle 2"/>
          <p:cNvSpPr>
            <a:spLocks noChangeArrowheads="1"/>
          </p:cNvSpPr>
          <p:nvPr/>
        </p:nvSpPr>
        <p:spPr bwMode="auto">
          <a:xfrm>
            <a:off x="7851884" y="1550560"/>
            <a:ext cx="2590800" cy="1676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3" name="Rectangle 4"/>
          <p:cNvSpPr txBox="1">
            <a:spLocks noChangeArrowheads="1"/>
          </p:cNvSpPr>
          <p:nvPr/>
        </p:nvSpPr>
        <p:spPr>
          <a:xfrm>
            <a:off x="822325" y="2728595"/>
            <a:ext cx="4981575" cy="1913890"/>
          </a:xfrm>
          <a:prstGeom prst="rect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集电节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反偏</a:t>
            </a:r>
            <a:r>
              <a:rPr lang="en-US" altLang="zh-CN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反向饱和漏电流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基区和集电区的少子在集电结的作用下，产生漂移运动，形成电流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CBO</a:t>
            </a:r>
            <a:endParaRPr lang="en-US" altLang="zh-CN" sz="2400" b="1" i="1" baseline="-250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96" name="Rectangle 7"/>
          <p:cNvSpPr>
            <a:spLocks noChangeArrowheads="1"/>
          </p:cNvSpPr>
          <p:nvPr/>
        </p:nvSpPr>
        <p:spPr bwMode="auto">
          <a:xfrm>
            <a:off x="7848709" y="3230135"/>
            <a:ext cx="2590800" cy="381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7" name="Rectangle 8"/>
          <p:cNvSpPr>
            <a:spLocks noChangeArrowheads="1"/>
          </p:cNvSpPr>
          <p:nvPr/>
        </p:nvSpPr>
        <p:spPr bwMode="auto">
          <a:xfrm>
            <a:off x="7848709" y="3619073"/>
            <a:ext cx="2590800" cy="1676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Line 9"/>
          <p:cNvSpPr>
            <a:spLocks noChangeShapeType="1"/>
          </p:cNvSpPr>
          <p:nvPr/>
        </p:nvSpPr>
        <p:spPr bwMode="auto">
          <a:xfrm>
            <a:off x="6885096" y="3455560"/>
            <a:ext cx="968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9" name="Line 10"/>
          <p:cNvSpPr>
            <a:spLocks noChangeShapeType="1"/>
          </p:cNvSpPr>
          <p:nvPr/>
        </p:nvSpPr>
        <p:spPr bwMode="auto">
          <a:xfrm>
            <a:off x="6885096" y="345556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00" name="Group 11"/>
          <p:cNvGrpSpPr/>
          <p:nvPr/>
        </p:nvGrpSpPr>
        <p:grpSpPr bwMode="auto">
          <a:xfrm>
            <a:off x="6656496" y="4446160"/>
            <a:ext cx="457200" cy="152400"/>
            <a:chOff x="2448" y="2640"/>
            <a:chExt cx="288" cy="96"/>
          </a:xfrm>
        </p:grpSpPr>
        <p:sp>
          <p:nvSpPr>
            <p:cNvPr id="201" name="Line 12"/>
            <p:cNvSpPr>
              <a:spLocks noChangeShapeType="1"/>
            </p:cNvSpPr>
            <p:nvPr/>
          </p:nvSpPr>
          <p:spPr bwMode="auto">
            <a:xfrm>
              <a:off x="2448" y="2640"/>
              <a:ext cx="288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2" name="Line 13"/>
            <p:cNvSpPr>
              <a:spLocks noChangeShapeType="1"/>
            </p:cNvSpPr>
            <p:nvPr/>
          </p:nvSpPr>
          <p:spPr bwMode="auto">
            <a:xfrm>
              <a:off x="2544" y="2736"/>
              <a:ext cx="96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03" name="Line 14"/>
          <p:cNvSpPr>
            <a:spLocks noChangeShapeType="1"/>
          </p:cNvSpPr>
          <p:nvPr/>
        </p:nvSpPr>
        <p:spPr bwMode="auto">
          <a:xfrm>
            <a:off x="6885096" y="4598560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" name="Line 15"/>
          <p:cNvSpPr>
            <a:spLocks noChangeShapeType="1"/>
          </p:cNvSpPr>
          <p:nvPr/>
        </p:nvSpPr>
        <p:spPr bwMode="auto">
          <a:xfrm>
            <a:off x="6885096" y="5893960"/>
            <a:ext cx="4251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5" name="Line 16"/>
          <p:cNvSpPr>
            <a:spLocks noChangeShapeType="1"/>
          </p:cNvSpPr>
          <p:nvPr/>
        </p:nvSpPr>
        <p:spPr bwMode="auto">
          <a:xfrm>
            <a:off x="9094896" y="528436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06" name="Group 17"/>
          <p:cNvGrpSpPr/>
          <p:nvPr/>
        </p:nvGrpSpPr>
        <p:grpSpPr bwMode="auto">
          <a:xfrm>
            <a:off x="10923696" y="3098373"/>
            <a:ext cx="457200" cy="319087"/>
            <a:chOff x="5136" y="1791"/>
            <a:chExt cx="288" cy="201"/>
          </a:xfrm>
        </p:grpSpPr>
        <p:sp>
          <p:nvSpPr>
            <p:cNvPr id="207" name="Line 18"/>
            <p:cNvSpPr>
              <a:spLocks noChangeShapeType="1"/>
            </p:cNvSpPr>
            <p:nvPr/>
          </p:nvSpPr>
          <p:spPr bwMode="auto">
            <a:xfrm>
              <a:off x="5136" y="1791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8" name="Line 19"/>
            <p:cNvSpPr>
              <a:spLocks noChangeShapeType="1"/>
            </p:cNvSpPr>
            <p:nvPr/>
          </p:nvSpPr>
          <p:spPr bwMode="auto">
            <a:xfrm>
              <a:off x="5136" y="1920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9" name="Line 20"/>
            <p:cNvSpPr>
              <a:spLocks noChangeShapeType="1"/>
            </p:cNvSpPr>
            <p:nvPr/>
          </p:nvSpPr>
          <p:spPr bwMode="auto">
            <a:xfrm>
              <a:off x="5202" y="1851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0" name="Line 21"/>
            <p:cNvSpPr>
              <a:spLocks noChangeShapeType="1"/>
            </p:cNvSpPr>
            <p:nvPr/>
          </p:nvSpPr>
          <p:spPr bwMode="auto">
            <a:xfrm>
              <a:off x="5199" y="1992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1" name="Line 22"/>
          <p:cNvSpPr>
            <a:spLocks noChangeShapeType="1"/>
          </p:cNvSpPr>
          <p:nvPr/>
        </p:nvSpPr>
        <p:spPr bwMode="auto">
          <a:xfrm>
            <a:off x="11144359" y="3433335"/>
            <a:ext cx="0" cy="2459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2" name="Line 23"/>
          <p:cNvSpPr>
            <a:spLocks noChangeShapeType="1"/>
          </p:cNvSpPr>
          <p:nvPr/>
        </p:nvSpPr>
        <p:spPr bwMode="auto">
          <a:xfrm>
            <a:off x="11142771" y="698073"/>
            <a:ext cx="11113" cy="2392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3" name="Line 24"/>
          <p:cNvSpPr>
            <a:spLocks noChangeShapeType="1"/>
          </p:cNvSpPr>
          <p:nvPr/>
        </p:nvSpPr>
        <p:spPr bwMode="auto">
          <a:xfrm>
            <a:off x="9004409" y="693310"/>
            <a:ext cx="21447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4" name="Line 25"/>
          <p:cNvSpPr>
            <a:spLocks noChangeShapeType="1"/>
          </p:cNvSpPr>
          <p:nvPr/>
        </p:nvSpPr>
        <p:spPr bwMode="auto">
          <a:xfrm>
            <a:off x="9021871" y="691723"/>
            <a:ext cx="0" cy="862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" name="Text Box 26"/>
          <p:cNvSpPr txBox="1">
            <a:spLocks noChangeArrowheads="1"/>
          </p:cNvSpPr>
          <p:nvPr/>
        </p:nvSpPr>
        <p:spPr bwMode="auto">
          <a:xfrm>
            <a:off x="7026384" y="4258835"/>
            <a:ext cx="73501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16" name="Text Box 27"/>
          <p:cNvSpPr txBox="1">
            <a:spLocks noChangeArrowheads="1"/>
          </p:cNvSpPr>
          <p:nvPr/>
        </p:nvSpPr>
        <p:spPr bwMode="auto">
          <a:xfrm>
            <a:off x="11495196" y="3225373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24" name="Text Box 35"/>
          <p:cNvSpPr txBox="1">
            <a:spLocks noChangeArrowheads="1"/>
          </p:cNvSpPr>
          <p:nvPr/>
        </p:nvSpPr>
        <p:spPr bwMode="auto">
          <a:xfrm>
            <a:off x="7913796" y="468746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5" name="Text Box 36"/>
          <p:cNvSpPr txBox="1">
            <a:spLocks noChangeArrowheads="1"/>
          </p:cNvSpPr>
          <p:nvPr/>
        </p:nvSpPr>
        <p:spPr bwMode="auto">
          <a:xfrm>
            <a:off x="7880459" y="1615648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6" name="Text Box 37"/>
          <p:cNvSpPr txBox="1">
            <a:spLocks noChangeArrowheads="1"/>
          </p:cNvSpPr>
          <p:nvPr/>
        </p:nvSpPr>
        <p:spPr bwMode="auto">
          <a:xfrm>
            <a:off x="7894746" y="318886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P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7" name="Text Box 38"/>
          <p:cNvSpPr txBox="1">
            <a:spLocks noChangeArrowheads="1"/>
          </p:cNvSpPr>
          <p:nvPr/>
        </p:nvSpPr>
        <p:spPr bwMode="auto">
          <a:xfrm>
            <a:off x="9153634" y="5392310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E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8" name="Text Box 39"/>
          <p:cNvSpPr txBox="1">
            <a:spLocks noChangeArrowheads="1"/>
          </p:cNvSpPr>
          <p:nvPr/>
        </p:nvSpPr>
        <p:spPr bwMode="auto">
          <a:xfrm>
            <a:off x="9008378" y="1078991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C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" name="Text Box 40"/>
          <p:cNvSpPr txBox="1">
            <a:spLocks noChangeArrowheads="1"/>
          </p:cNvSpPr>
          <p:nvPr/>
        </p:nvSpPr>
        <p:spPr bwMode="auto">
          <a:xfrm>
            <a:off x="7339121" y="297931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B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37" name="Oval 48"/>
          <p:cNvSpPr>
            <a:spLocks noChangeArrowheads="1"/>
          </p:cNvSpPr>
          <p:nvPr/>
        </p:nvSpPr>
        <p:spPr bwMode="auto">
          <a:xfrm>
            <a:off x="8221771" y="3358723"/>
            <a:ext cx="71438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1" name="AutoShape 52"/>
          <p:cNvSpPr>
            <a:spLocks noChangeArrowheads="1"/>
          </p:cNvSpPr>
          <p:nvPr/>
        </p:nvSpPr>
        <p:spPr bwMode="auto">
          <a:xfrm>
            <a:off x="8197959" y="2533223"/>
            <a:ext cx="419100" cy="944562"/>
          </a:xfrm>
          <a:prstGeom prst="curvedLeftArrow">
            <a:avLst>
              <a:gd name="adj1" fmla="val 45076"/>
              <a:gd name="adj2" fmla="val 90151"/>
              <a:gd name="adj3" fmla="val 33333"/>
            </a:avLst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2" name="Oval 53"/>
          <p:cNvSpPr>
            <a:spLocks noChangeArrowheads="1"/>
          </p:cNvSpPr>
          <p:nvPr/>
        </p:nvSpPr>
        <p:spPr bwMode="auto">
          <a:xfrm>
            <a:off x="8342421" y="2622123"/>
            <a:ext cx="71438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" name="Oval 54"/>
          <p:cNvSpPr>
            <a:spLocks noChangeArrowheads="1"/>
          </p:cNvSpPr>
          <p:nvPr/>
        </p:nvSpPr>
        <p:spPr bwMode="auto">
          <a:xfrm>
            <a:off x="8328134" y="323172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2" name="Text Box 63"/>
          <p:cNvSpPr txBox="1">
            <a:spLocks noChangeArrowheads="1"/>
          </p:cNvSpPr>
          <p:nvPr/>
        </p:nvSpPr>
        <p:spPr bwMode="auto">
          <a:xfrm>
            <a:off x="7824896" y="2098248"/>
            <a:ext cx="9906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FF3300"/>
                </a:solidFill>
                <a:latin typeface="Times New Roman" panose="02020603050405020304" pitchFamily="18" charset="0"/>
              </a:rPr>
              <a:t>CBO</a:t>
            </a:r>
            <a:endParaRPr kumimoji="1" lang="en-US" altLang="zh-CN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Rectangle 2"/>
          <p:cNvSpPr>
            <a:spLocks noChangeArrowheads="1"/>
          </p:cNvSpPr>
          <p:nvPr/>
        </p:nvSpPr>
        <p:spPr bwMode="auto">
          <a:xfrm>
            <a:off x="8239234" y="1353710"/>
            <a:ext cx="2590800" cy="1676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6" name="Rectangle 7"/>
          <p:cNvSpPr>
            <a:spLocks noChangeArrowheads="1"/>
          </p:cNvSpPr>
          <p:nvPr/>
        </p:nvSpPr>
        <p:spPr bwMode="auto">
          <a:xfrm>
            <a:off x="8236059" y="3033285"/>
            <a:ext cx="2590800" cy="381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7" name="Rectangle 8"/>
          <p:cNvSpPr>
            <a:spLocks noChangeArrowheads="1"/>
          </p:cNvSpPr>
          <p:nvPr/>
        </p:nvSpPr>
        <p:spPr bwMode="auto">
          <a:xfrm>
            <a:off x="8236059" y="3422223"/>
            <a:ext cx="2590800" cy="1676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Line 9"/>
          <p:cNvSpPr>
            <a:spLocks noChangeShapeType="1"/>
          </p:cNvSpPr>
          <p:nvPr/>
        </p:nvSpPr>
        <p:spPr bwMode="auto">
          <a:xfrm>
            <a:off x="7272446" y="3258710"/>
            <a:ext cx="968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9" name="Line 10"/>
          <p:cNvSpPr>
            <a:spLocks noChangeShapeType="1"/>
          </p:cNvSpPr>
          <p:nvPr/>
        </p:nvSpPr>
        <p:spPr bwMode="auto">
          <a:xfrm>
            <a:off x="7272446" y="32587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00" name="Group 11"/>
          <p:cNvGrpSpPr/>
          <p:nvPr/>
        </p:nvGrpSpPr>
        <p:grpSpPr bwMode="auto">
          <a:xfrm>
            <a:off x="7043846" y="4249310"/>
            <a:ext cx="457200" cy="152400"/>
            <a:chOff x="2448" y="2640"/>
            <a:chExt cx="288" cy="96"/>
          </a:xfrm>
        </p:grpSpPr>
        <p:sp>
          <p:nvSpPr>
            <p:cNvPr id="201" name="Line 12"/>
            <p:cNvSpPr>
              <a:spLocks noChangeShapeType="1"/>
            </p:cNvSpPr>
            <p:nvPr/>
          </p:nvSpPr>
          <p:spPr bwMode="auto">
            <a:xfrm>
              <a:off x="2448" y="2640"/>
              <a:ext cx="288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2" name="Line 13"/>
            <p:cNvSpPr>
              <a:spLocks noChangeShapeType="1"/>
            </p:cNvSpPr>
            <p:nvPr/>
          </p:nvSpPr>
          <p:spPr bwMode="auto">
            <a:xfrm>
              <a:off x="2544" y="2736"/>
              <a:ext cx="96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03" name="Line 14"/>
          <p:cNvSpPr>
            <a:spLocks noChangeShapeType="1"/>
          </p:cNvSpPr>
          <p:nvPr/>
        </p:nvSpPr>
        <p:spPr bwMode="auto">
          <a:xfrm>
            <a:off x="7272446" y="4401710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" name="Line 15"/>
          <p:cNvSpPr>
            <a:spLocks noChangeShapeType="1"/>
          </p:cNvSpPr>
          <p:nvPr/>
        </p:nvSpPr>
        <p:spPr bwMode="auto">
          <a:xfrm>
            <a:off x="7272446" y="5697110"/>
            <a:ext cx="4251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5" name="Line 16"/>
          <p:cNvSpPr>
            <a:spLocks noChangeShapeType="1"/>
          </p:cNvSpPr>
          <p:nvPr/>
        </p:nvSpPr>
        <p:spPr bwMode="auto">
          <a:xfrm>
            <a:off x="9482246" y="508751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06" name="Group 17"/>
          <p:cNvGrpSpPr/>
          <p:nvPr/>
        </p:nvGrpSpPr>
        <p:grpSpPr bwMode="auto">
          <a:xfrm>
            <a:off x="11311046" y="2901523"/>
            <a:ext cx="457200" cy="319087"/>
            <a:chOff x="5136" y="1791"/>
            <a:chExt cx="288" cy="201"/>
          </a:xfrm>
        </p:grpSpPr>
        <p:sp>
          <p:nvSpPr>
            <p:cNvPr id="207" name="Line 18"/>
            <p:cNvSpPr>
              <a:spLocks noChangeShapeType="1"/>
            </p:cNvSpPr>
            <p:nvPr/>
          </p:nvSpPr>
          <p:spPr bwMode="auto">
            <a:xfrm>
              <a:off x="5136" y="1791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8" name="Line 19"/>
            <p:cNvSpPr>
              <a:spLocks noChangeShapeType="1"/>
            </p:cNvSpPr>
            <p:nvPr/>
          </p:nvSpPr>
          <p:spPr bwMode="auto">
            <a:xfrm>
              <a:off x="5136" y="1920"/>
              <a:ext cx="2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9" name="Line 20"/>
            <p:cNvSpPr>
              <a:spLocks noChangeShapeType="1"/>
            </p:cNvSpPr>
            <p:nvPr/>
          </p:nvSpPr>
          <p:spPr bwMode="auto">
            <a:xfrm>
              <a:off x="5202" y="1851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0" name="Line 21"/>
            <p:cNvSpPr>
              <a:spLocks noChangeShapeType="1"/>
            </p:cNvSpPr>
            <p:nvPr/>
          </p:nvSpPr>
          <p:spPr bwMode="auto">
            <a:xfrm>
              <a:off x="5199" y="1992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1" name="Line 22"/>
          <p:cNvSpPr>
            <a:spLocks noChangeShapeType="1"/>
          </p:cNvSpPr>
          <p:nvPr/>
        </p:nvSpPr>
        <p:spPr bwMode="auto">
          <a:xfrm>
            <a:off x="11531709" y="3236485"/>
            <a:ext cx="0" cy="2459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2" name="Line 23"/>
          <p:cNvSpPr>
            <a:spLocks noChangeShapeType="1"/>
          </p:cNvSpPr>
          <p:nvPr/>
        </p:nvSpPr>
        <p:spPr bwMode="auto">
          <a:xfrm>
            <a:off x="11530121" y="501223"/>
            <a:ext cx="11113" cy="2392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3" name="Line 24"/>
          <p:cNvSpPr>
            <a:spLocks noChangeShapeType="1"/>
          </p:cNvSpPr>
          <p:nvPr/>
        </p:nvSpPr>
        <p:spPr bwMode="auto">
          <a:xfrm>
            <a:off x="9391759" y="496460"/>
            <a:ext cx="21447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4" name="Line 25"/>
          <p:cNvSpPr>
            <a:spLocks noChangeShapeType="1"/>
          </p:cNvSpPr>
          <p:nvPr/>
        </p:nvSpPr>
        <p:spPr bwMode="auto">
          <a:xfrm>
            <a:off x="9409221" y="494873"/>
            <a:ext cx="0" cy="862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" name="Text Box 26"/>
          <p:cNvSpPr txBox="1">
            <a:spLocks noChangeArrowheads="1"/>
          </p:cNvSpPr>
          <p:nvPr/>
        </p:nvSpPr>
        <p:spPr bwMode="auto">
          <a:xfrm>
            <a:off x="7413734" y="4061985"/>
            <a:ext cx="73501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16" name="Text Box 27"/>
          <p:cNvSpPr txBox="1">
            <a:spLocks noChangeArrowheads="1"/>
          </p:cNvSpPr>
          <p:nvPr/>
        </p:nvSpPr>
        <p:spPr bwMode="auto">
          <a:xfrm>
            <a:off x="11495196" y="3225373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17" name="Oval 28"/>
          <p:cNvSpPr>
            <a:spLocks noChangeArrowheads="1"/>
          </p:cNvSpPr>
          <p:nvPr/>
        </p:nvSpPr>
        <p:spPr bwMode="auto">
          <a:xfrm>
            <a:off x="8818671" y="354287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8" name="Oval 29"/>
          <p:cNvSpPr>
            <a:spLocks noChangeArrowheads="1"/>
          </p:cNvSpPr>
          <p:nvPr/>
        </p:nvSpPr>
        <p:spPr bwMode="auto">
          <a:xfrm>
            <a:off x="9128234" y="3552398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9" name="Oval 30"/>
          <p:cNvSpPr>
            <a:spLocks noChangeArrowheads="1"/>
          </p:cNvSpPr>
          <p:nvPr/>
        </p:nvSpPr>
        <p:spPr bwMode="auto">
          <a:xfrm>
            <a:off x="9394934" y="3533348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0" name="Oval 31"/>
          <p:cNvSpPr>
            <a:spLocks noChangeArrowheads="1"/>
          </p:cNvSpPr>
          <p:nvPr/>
        </p:nvSpPr>
        <p:spPr bwMode="auto">
          <a:xfrm>
            <a:off x="9633059" y="3528585"/>
            <a:ext cx="7143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" name="Oval 32"/>
          <p:cNvSpPr>
            <a:spLocks noChangeArrowheads="1"/>
          </p:cNvSpPr>
          <p:nvPr/>
        </p:nvSpPr>
        <p:spPr bwMode="auto">
          <a:xfrm>
            <a:off x="9871184" y="352382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2" name="Oval 33"/>
          <p:cNvSpPr>
            <a:spLocks noChangeArrowheads="1"/>
          </p:cNvSpPr>
          <p:nvPr/>
        </p:nvSpPr>
        <p:spPr bwMode="auto">
          <a:xfrm>
            <a:off x="10095021" y="3514298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3" name="Oval 34"/>
          <p:cNvSpPr>
            <a:spLocks noChangeArrowheads="1"/>
          </p:cNvSpPr>
          <p:nvPr/>
        </p:nvSpPr>
        <p:spPr bwMode="auto">
          <a:xfrm>
            <a:off x="10412521" y="3506360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4" name="Text Box 35"/>
          <p:cNvSpPr txBox="1">
            <a:spLocks noChangeArrowheads="1"/>
          </p:cNvSpPr>
          <p:nvPr/>
        </p:nvSpPr>
        <p:spPr bwMode="auto">
          <a:xfrm>
            <a:off x="8301146" y="449061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5" name="Text Box 36"/>
          <p:cNvSpPr txBox="1">
            <a:spLocks noChangeArrowheads="1"/>
          </p:cNvSpPr>
          <p:nvPr/>
        </p:nvSpPr>
        <p:spPr bwMode="auto">
          <a:xfrm>
            <a:off x="8267809" y="1418798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6" name="Text Box 37"/>
          <p:cNvSpPr txBox="1">
            <a:spLocks noChangeArrowheads="1"/>
          </p:cNvSpPr>
          <p:nvPr/>
        </p:nvSpPr>
        <p:spPr bwMode="auto">
          <a:xfrm>
            <a:off x="8282096" y="299201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P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27" name="Text Box 38"/>
          <p:cNvSpPr txBox="1">
            <a:spLocks noChangeArrowheads="1"/>
          </p:cNvSpPr>
          <p:nvPr/>
        </p:nvSpPr>
        <p:spPr bwMode="auto">
          <a:xfrm>
            <a:off x="9540984" y="5195460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E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8" name="Text Box 39"/>
          <p:cNvSpPr txBox="1">
            <a:spLocks noChangeArrowheads="1"/>
          </p:cNvSpPr>
          <p:nvPr/>
        </p:nvSpPr>
        <p:spPr bwMode="auto">
          <a:xfrm>
            <a:off x="9395728" y="882141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C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29" name="Text Box 40"/>
          <p:cNvSpPr txBox="1">
            <a:spLocks noChangeArrowheads="1"/>
          </p:cNvSpPr>
          <p:nvPr/>
        </p:nvSpPr>
        <p:spPr bwMode="auto">
          <a:xfrm>
            <a:off x="7726471" y="2782460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B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30" name="Group 41"/>
          <p:cNvGrpSpPr/>
          <p:nvPr/>
        </p:nvGrpSpPr>
        <p:grpSpPr bwMode="auto">
          <a:xfrm>
            <a:off x="9137759" y="3098373"/>
            <a:ext cx="1306512" cy="503237"/>
            <a:chOff x="3767" y="1915"/>
            <a:chExt cx="823" cy="317"/>
          </a:xfrm>
        </p:grpSpPr>
        <p:sp>
          <p:nvSpPr>
            <p:cNvPr id="231" name="Line 42"/>
            <p:cNvSpPr>
              <a:spLocks noChangeShapeType="1"/>
            </p:cNvSpPr>
            <p:nvPr/>
          </p:nvSpPr>
          <p:spPr bwMode="auto">
            <a:xfrm flipV="1">
              <a:off x="3767" y="2003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2" name="Line 43"/>
            <p:cNvSpPr>
              <a:spLocks noChangeShapeType="1"/>
            </p:cNvSpPr>
            <p:nvPr/>
          </p:nvSpPr>
          <p:spPr bwMode="auto">
            <a:xfrm flipV="1">
              <a:off x="4260" y="1915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3" name="Line 44"/>
            <p:cNvSpPr>
              <a:spLocks noChangeShapeType="1"/>
            </p:cNvSpPr>
            <p:nvPr/>
          </p:nvSpPr>
          <p:spPr bwMode="auto">
            <a:xfrm flipV="1">
              <a:off x="4104" y="1930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4" name="Line 45"/>
            <p:cNvSpPr>
              <a:spLocks noChangeShapeType="1"/>
            </p:cNvSpPr>
            <p:nvPr/>
          </p:nvSpPr>
          <p:spPr bwMode="auto">
            <a:xfrm flipV="1">
              <a:off x="3953" y="1952"/>
              <a:ext cx="0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5" name="Line 46"/>
            <p:cNvSpPr>
              <a:spLocks noChangeShapeType="1"/>
            </p:cNvSpPr>
            <p:nvPr/>
          </p:nvSpPr>
          <p:spPr bwMode="auto">
            <a:xfrm flipV="1">
              <a:off x="4590" y="1995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6" name="Line 47"/>
            <p:cNvSpPr>
              <a:spLocks noChangeShapeType="1"/>
            </p:cNvSpPr>
            <p:nvPr/>
          </p:nvSpPr>
          <p:spPr bwMode="auto">
            <a:xfrm flipV="1">
              <a:off x="4401" y="1987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7" name="Oval 48"/>
          <p:cNvSpPr>
            <a:spLocks noChangeArrowheads="1"/>
          </p:cNvSpPr>
          <p:nvPr/>
        </p:nvSpPr>
        <p:spPr bwMode="auto">
          <a:xfrm>
            <a:off x="8609121" y="3161873"/>
            <a:ext cx="71438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8" name="Freeform 49"/>
          <p:cNvSpPr/>
          <p:nvPr/>
        </p:nvSpPr>
        <p:spPr bwMode="auto">
          <a:xfrm>
            <a:off x="8674209" y="3250773"/>
            <a:ext cx="165100" cy="269875"/>
          </a:xfrm>
          <a:custGeom>
            <a:avLst/>
            <a:gdLst/>
            <a:ahLst/>
            <a:cxnLst>
              <a:cxn ang="0">
                <a:pos x="104" y="170"/>
              </a:cxn>
              <a:cxn ang="0">
                <a:pos x="66" y="104"/>
              </a:cxn>
              <a:cxn ang="0">
                <a:pos x="0" y="0"/>
              </a:cxn>
            </a:cxnLst>
            <a:rect l="0" t="0" r="r" b="b"/>
            <a:pathLst>
              <a:path w="104" h="170">
                <a:moveTo>
                  <a:pt x="104" y="170"/>
                </a:moveTo>
                <a:cubicBezTo>
                  <a:pt x="93" y="151"/>
                  <a:pt x="83" y="132"/>
                  <a:pt x="66" y="104"/>
                </a:cubicBezTo>
                <a:cubicBezTo>
                  <a:pt x="49" y="76"/>
                  <a:pt x="11" y="17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0" name="AutoShape 51"/>
          <p:cNvSpPr>
            <a:spLocks noChangeArrowheads="1"/>
          </p:cNvSpPr>
          <p:nvPr/>
        </p:nvSpPr>
        <p:spPr bwMode="auto">
          <a:xfrm>
            <a:off x="8509109" y="3101548"/>
            <a:ext cx="419100" cy="944562"/>
          </a:xfrm>
          <a:prstGeom prst="curvedLeftArrow">
            <a:avLst>
              <a:gd name="adj1" fmla="val 45076"/>
              <a:gd name="adj2" fmla="val 90151"/>
              <a:gd name="adj3" fmla="val 33333"/>
            </a:avLst>
          </a:prstGeom>
          <a:solidFill>
            <a:srgbClr val="0000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2" name="Oval 53"/>
          <p:cNvSpPr>
            <a:spLocks noChangeArrowheads="1"/>
          </p:cNvSpPr>
          <p:nvPr/>
        </p:nvSpPr>
        <p:spPr bwMode="auto">
          <a:xfrm>
            <a:off x="8729771" y="2425273"/>
            <a:ext cx="71438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3" name="Oval 54"/>
          <p:cNvSpPr>
            <a:spLocks noChangeArrowheads="1"/>
          </p:cNvSpPr>
          <p:nvPr/>
        </p:nvSpPr>
        <p:spPr bwMode="auto">
          <a:xfrm>
            <a:off x="8715484" y="3034873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4" name="Group 55"/>
          <p:cNvGrpSpPr/>
          <p:nvPr/>
        </p:nvGrpSpPr>
        <p:grpSpPr bwMode="auto">
          <a:xfrm>
            <a:off x="9180621" y="2558623"/>
            <a:ext cx="1214438" cy="95250"/>
            <a:chOff x="3794" y="1725"/>
            <a:chExt cx="765" cy="60"/>
          </a:xfrm>
        </p:grpSpPr>
        <p:sp>
          <p:nvSpPr>
            <p:cNvPr id="245" name="Oval 56"/>
            <p:cNvSpPr>
              <a:spLocks noChangeArrowheads="1"/>
            </p:cNvSpPr>
            <p:nvPr/>
          </p:nvSpPr>
          <p:spPr bwMode="auto">
            <a:xfrm>
              <a:off x="3794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" name="Oval 57"/>
            <p:cNvSpPr>
              <a:spLocks noChangeArrowheads="1"/>
            </p:cNvSpPr>
            <p:nvPr/>
          </p:nvSpPr>
          <p:spPr bwMode="auto">
            <a:xfrm>
              <a:off x="3898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7" name="Oval 58"/>
            <p:cNvSpPr>
              <a:spLocks noChangeArrowheads="1"/>
            </p:cNvSpPr>
            <p:nvPr/>
          </p:nvSpPr>
          <p:spPr bwMode="auto">
            <a:xfrm>
              <a:off x="4012" y="1727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8" name="Oval 59"/>
            <p:cNvSpPr>
              <a:spLocks noChangeArrowheads="1"/>
            </p:cNvSpPr>
            <p:nvPr/>
          </p:nvSpPr>
          <p:spPr bwMode="auto">
            <a:xfrm>
              <a:off x="418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9" name="Oval 60"/>
            <p:cNvSpPr>
              <a:spLocks noChangeArrowheads="1"/>
            </p:cNvSpPr>
            <p:nvPr/>
          </p:nvSpPr>
          <p:spPr bwMode="auto">
            <a:xfrm>
              <a:off x="435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0" name="Oval 61"/>
            <p:cNvSpPr>
              <a:spLocks noChangeArrowheads="1"/>
            </p:cNvSpPr>
            <p:nvPr/>
          </p:nvSpPr>
          <p:spPr bwMode="auto">
            <a:xfrm>
              <a:off x="4514" y="1740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3" name="Text Box 64"/>
          <p:cNvSpPr txBox="1">
            <a:spLocks noChangeArrowheads="1"/>
          </p:cNvSpPr>
          <p:nvPr/>
        </p:nvSpPr>
        <p:spPr bwMode="auto">
          <a:xfrm>
            <a:off x="8112234" y="3269823"/>
            <a:ext cx="9906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FF3300"/>
                </a:solidFill>
                <a:latin typeface="Times New Roman" panose="02020603050405020304" pitchFamily="18" charset="0"/>
              </a:rPr>
              <a:t>BE</a:t>
            </a:r>
            <a:endParaRPr kumimoji="1" lang="en-US" altLang="zh-CN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54" name="Group 65"/>
          <p:cNvGrpSpPr/>
          <p:nvPr/>
        </p:nvGrpSpPr>
        <p:grpSpPr bwMode="auto">
          <a:xfrm>
            <a:off x="9180621" y="3096785"/>
            <a:ext cx="1214438" cy="95250"/>
            <a:chOff x="3794" y="1725"/>
            <a:chExt cx="765" cy="60"/>
          </a:xfrm>
        </p:grpSpPr>
        <p:sp>
          <p:nvSpPr>
            <p:cNvPr id="255" name="Oval 66"/>
            <p:cNvSpPr>
              <a:spLocks noChangeArrowheads="1"/>
            </p:cNvSpPr>
            <p:nvPr/>
          </p:nvSpPr>
          <p:spPr bwMode="auto">
            <a:xfrm>
              <a:off x="3794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" name="Oval 67"/>
            <p:cNvSpPr>
              <a:spLocks noChangeArrowheads="1"/>
            </p:cNvSpPr>
            <p:nvPr/>
          </p:nvSpPr>
          <p:spPr bwMode="auto">
            <a:xfrm>
              <a:off x="3898" y="1725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7" name="Oval 68"/>
            <p:cNvSpPr>
              <a:spLocks noChangeArrowheads="1"/>
            </p:cNvSpPr>
            <p:nvPr/>
          </p:nvSpPr>
          <p:spPr bwMode="auto">
            <a:xfrm>
              <a:off x="4012" y="1727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8" name="Oval 69"/>
            <p:cNvSpPr>
              <a:spLocks noChangeArrowheads="1"/>
            </p:cNvSpPr>
            <p:nvPr/>
          </p:nvSpPr>
          <p:spPr bwMode="auto">
            <a:xfrm>
              <a:off x="418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9" name="Oval 70"/>
            <p:cNvSpPr>
              <a:spLocks noChangeArrowheads="1"/>
            </p:cNvSpPr>
            <p:nvPr/>
          </p:nvSpPr>
          <p:spPr bwMode="auto">
            <a:xfrm>
              <a:off x="4352" y="172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0" name="Oval 71"/>
            <p:cNvSpPr>
              <a:spLocks noChangeArrowheads="1"/>
            </p:cNvSpPr>
            <p:nvPr/>
          </p:nvSpPr>
          <p:spPr bwMode="auto">
            <a:xfrm>
              <a:off x="4514" y="1740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62" name="Group 73"/>
          <p:cNvGrpSpPr/>
          <p:nvPr/>
        </p:nvGrpSpPr>
        <p:grpSpPr bwMode="auto">
          <a:xfrm>
            <a:off x="9213959" y="2641173"/>
            <a:ext cx="1306512" cy="503237"/>
            <a:chOff x="3767" y="1915"/>
            <a:chExt cx="823" cy="317"/>
          </a:xfrm>
        </p:grpSpPr>
        <p:sp>
          <p:nvSpPr>
            <p:cNvPr id="263" name="Line 74"/>
            <p:cNvSpPr>
              <a:spLocks noChangeShapeType="1"/>
            </p:cNvSpPr>
            <p:nvPr/>
          </p:nvSpPr>
          <p:spPr bwMode="auto">
            <a:xfrm flipV="1">
              <a:off x="3767" y="2003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4" name="Line 75"/>
            <p:cNvSpPr>
              <a:spLocks noChangeShapeType="1"/>
            </p:cNvSpPr>
            <p:nvPr/>
          </p:nvSpPr>
          <p:spPr bwMode="auto">
            <a:xfrm flipV="1">
              <a:off x="4260" y="1915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5" name="Line 76"/>
            <p:cNvSpPr>
              <a:spLocks noChangeShapeType="1"/>
            </p:cNvSpPr>
            <p:nvPr/>
          </p:nvSpPr>
          <p:spPr bwMode="auto">
            <a:xfrm flipV="1">
              <a:off x="4104" y="1930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" name="Line 77"/>
            <p:cNvSpPr>
              <a:spLocks noChangeShapeType="1"/>
            </p:cNvSpPr>
            <p:nvPr/>
          </p:nvSpPr>
          <p:spPr bwMode="auto">
            <a:xfrm flipV="1">
              <a:off x="3953" y="1952"/>
              <a:ext cx="0" cy="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7" name="Line 78"/>
            <p:cNvSpPr>
              <a:spLocks noChangeShapeType="1"/>
            </p:cNvSpPr>
            <p:nvPr/>
          </p:nvSpPr>
          <p:spPr bwMode="auto">
            <a:xfrm flipV="1">
              <a:off x="4590" y="1995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8" name="Line 79"/>
            <p:cNvSpPr>
              <a:spLocks noChangeShapeType="1"/>
            </p:cNvSpPr>
            <p:nvPr/>
          </p:nvSpPr>
          <p:spPr bwMode="auto">
            <a:xfrm flipV="1">
              <a:off x="4401" y="1987"/>
              <a:ext cx="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9" name="Rectangle 3"/>
          <p:cNvSpPr txBox="1">
            <a:spLocks noChangeArrowheads="1"/>
          </p:cNvSpPr>
          <p:nvPr/>
        </p:nvSpPr>
        <p:spPr>
          <a:xfrm>
            <a:off x="805245" y="1262877"/>
            <a:ext cx="5490295" cy="19292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从基区向发射区也有空穴的扩散运动，但其数量小，形成的电流为</a:t>
            </a:r>
            <a:r>
              <a:rPr lang="en-US" altLang="zh-CN" sz="2400" b="1" i="1" dirty="0">
                <a:solidFill>
                  <a:srgbClr val="FF5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5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4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。这是因为发射区的掺杂浓度远大于基区的掺杂浓度。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7480" y="548424"/>
            <a:ext cx="6465529" cy="52540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三极管内部载流子的运动规律（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型）</a:t>
            </a:r>
            <a:endParaRPr lang="zh-CN" altLang="en-US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382109" y="1532612"/>
            <a:ext cx="2590800" cy="1676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" name="Oval 3">
            <a:hlinkClick r:id="rId1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11771421" y="237212"/>
            <a:ext cx="533400" cy="609600"/>
          </a:xfrm>
          <a:prstGeom prst="ellipse">
            <a:avLst/>
          </a:prstGeom>
          <a:noFill/>
          <a:ln w="12700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78934" y="3212187"/>
            <a:ext cx="2590800" cy="381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390046" y="3563025"/>
            <a:ext cx="2590800" cy="1676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7428021" y="3429000"/>
            <a:ext cx="947738" cy="8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7428021" y="3437612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0" name="Group 9"/>
          <p:cNvGrpSpPr/>
          <p:nvPr/>
        </p:nvGrpSpPr>
        <p:grpSpPr bwMode="auto">
          <a:xfrm>
            <a:off x="7199421" y="4428212"/>
            <a:ext cx="457200" cy="152400"/>
            <a:chOff x="2448" y="2640"/>
            <a:chExt cx="288" cy="96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448" y="264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544" y="273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7428021" y="4580612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7428021" y="5876012"/>
            <a:ext cx="431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9637820" y="5248950"/>
            <a:ext cx="1" cy="627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pSp>
        <p:nvGrpSpPr>
          <p:cNvPr id="16" name="Group 15"/>
          <p:cNvGrpSpPr/>
          <p:nvPr/>
        </p:nvGrpSpPr>
        <p:grpSpPr bwMode="auto">
          <a:xfrm>
            <a:off x="11466621" y="3080425"/>
            <a:ext cx="457200" cy="319087"/>
            <a:chOff x="5136" y="1791"/>
            <a:chExt cx="288" cy="201"/>
          </a:xfrm>
        </p:grpSpPr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5136" y="1791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5136" y="192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5202" y="1851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5223" y="199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11725384" y="3415387"/>
            <a:ext cx="0" cy="2459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11692046" y="675362"/>
            <a:ext cx="4763" cy="2397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9547334" y="675362"/>
            <a:ext cx="2144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9564795" y="673775"/>
            <a:ext cx="4763" cy="85883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7602646" y="4118650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11650771" y="3404275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8456721" y="4669512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8423384" y="1597700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8437671" y="3170912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P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9696559" y="5374362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9591784" y="818237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7882046" y="2961362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B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3" name="AutoShape 32"/>
          <p:cNvSpPr>
            <a:spLocks noChangeArrowheads="1"/>
          </p:cNvSpPr>
          <p:nvPr/>
        </p:nvSpPr>
        <p:spPr bwMode="auto">
          <a:xfrm>
            <a:off x="9521934" y="2034262"/>
            <a:ext cx="1657350" cy="2713038"/>
          </a:xfrm>
          <a:prstGeom prst="downArrow">
            <a:avLst>
              <a:gd name="adj1" fmla="val 50000"/>
              <a:gd name="adj2" fmla="val 40924"/>
            </a:avLst>
          </a:prstGeom>
          <a:gradFill rotWithShape="1">
            <a:gsLst>
              <a:gs pos="0">
                <a:srgbClr val="FF6600"/>
              </a:gs>
              <a:gs pos="50000">
                <a:srgbClr val="FFFFFF"/>
              </a:gs>
              <a:gs pos="100000">
                <a:srgbClr val="FF6600"/>
              </a:gs>
            </a:gsLst>
            <a:lin ang="0" scaled="1"/>
          </a:gradFill>
          <a:ln w="9525">
            <a:solidFill>
              <a:srgbClr val="0000FF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AutoShape 33"/>
          <p:cNvSpPr>
            <a:spLocks noChangeArrowheads="1"/>
          </p:cNvSpPr>
          <p:nvPr/>
        </p:nvSpPr>
        <p:spPr bwMode="auto">
          <a:xfrm>
            <a:off x="8791684" y="3331250"/>
            <a:ext cx="558800" cy="944562"/>
          </a:xfrm>
          <a:prstGeom prst="curvedLeftArrow">
            <a:avLst>
              <a:gd name="adj1" fmla="val 33807"/>
              <a:gd name="adj2" fmla="val 67614"/>
              <a:gd name="adj3" fmla="val 3333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>
            <a:off x="9198084" y="2553375"/>
            <a:ext cx="419100" cy="944562"/>
          </a:xfrm>
          <a:prstGeom prst="curvedLeftArrow">
            <a:avLst>
              <a:gd name="adj1" fmla="val 45076"/>
              <a:gd name="adj2" fmla="val 90151"/>
              <a:gd name="adj3" fmla="val 333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9917221" y="2253337"/>
            <a:ext cx="990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CE</a:t>
            </a:r>
            <a:endParaRPr kumimoji="1" lang="en-US" altLang="zh-CN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8802796" y="2123162"/>
            <a:ext cx="990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CBO</a:t>
            </a:r>
            <a:endParaRPr kumimoji="1" lang="en-US" altLang="zh-CN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8478946" y="4147225"/>
            <a:ext cx="9906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FF3300"/>
                </a:solidFill>
                <a:latin typeface="Times New Roman" panose="02020603050405020304" pitchFamily="18" charset="0"/>
              </a:rPr>
              <a:t>BE</a:t>
            </a:r>
            <a:endParaRPr kumimoji="1" lang="en-US" altLang="zh-CN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AutoShape 38"/>
          <p:cNvSpPr>
            <a:spLocks noChangeArrowheads="1"/>
          </p:cNvSpPr>
          <p:nvPr/>
        </p:nvSpPr>
        <p:spPr bwMode="auto">
          <a:xfrm>
            <a:off x="9415571" y="5367219"/>
            <a:ext cx="444500" cy="495300"/>
          </a:xfrm>
          <a:prstGeom prst="downArrow">
            <a:avLst>
              <a:gd name="adj1" fmla="val 50000"/>
              <a:gd name="adj2" fmla="val 27857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" name="AutoShape 39"/>
          <p:cNvSpPr>
            <a:spLocks noChangeArrowheads="1"/>
          </p:cNvSpPr>
          <p:nvPr/>
        </p:nvSpPr>
        <p:spPr bwMode="auto">
          <a:xfrm>
            <a:off x="9351401" y="872212"/>
            <a:ext cx="444500" cy="495300"/>
          </a:xfrm>
          <a:prstGeom prst="downArrow">
            <a:avLst>
              <a:gd name="adj1" fmla="val 50000"/>
              <a:gd name="adj2" fmla="val 27857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" name="AutoShape 40"/>
          <p:cNvSpPr>
            <a:spLocks noChangeArrowheads="1"/>
          </p:cNvSpPr>
          <p:nvPr/>
        </p:nvSpPr>
        <p:spPr bwMode="auto">
          <a:xfrm>
            <a:off x="7745521" y="3336012"/>
            <a:ext cx="533400" cy="190500"/>
          </a:xfrm>
          <a:prstGeom prst="rightArrow">
            <a:avLst>
              <a:gd name="adj1" fmla="val 50000"/>
              <a:gd name="adj2" fmla="val 70000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7602646" y="3407450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8141055" y="5364837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latin typeface="Times New Roman" panose="02020603050405020304" pitchFamily="18" charset="0"/>
              </a:rPr>
              <a:t>E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8872646" y="829350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graphicFrame>
        <p:nvGraphicFramePr>
          <p:cNvPr id="46" name="Object 45"/>
          <p:cNvGraphicFramePr>
            <a:graphicFrameLocks noChangeAspect="1"/>
          </p:cNvGraphicFramePr>
          <p:nvPr/>
        </p:nvGraphicFramePr>
        <p:xfrm>
          <a:off x="761539" y="1219875"/>
          <a:ext cx="2431604" cy="653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" imgW="850900" imgH="228600" progId="Equation.DSMT4">
                  <p:embed/>
                </p:oleObj>
              </mc:Choice>
              <mc:Fallback>
                <p:oleObj name="Equation" r:id="rId2" imgW="850900" imgH="2286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39" y="1219875"/>
                        <a:ext cx="2431604" cy="6535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6"/>
          <p:cNvGraphicFramePr>
            <a:graphicFrameLocks noChangeAspect="1"/>
          </p:cNvGraphicFramePr>
          <p:nvPr/>
        </p:nvGraphicFramePr>
        <p:xfrm>
          <a:off x="745370" y="1930752"/>
          <a:ext cx="2524344" cy="6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4" imgW="838200" imgH="228600" progId="Equation.3">
                  <p:embed/>
                </p:oleObj>
              </mc:Choice>
              <mc:Fallback>
                <p:oleObj name="Equation" r:id="rId4" imgW="838200" imgH="2286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70" y="1930752"/>
                        <a:ext cx="2524344" cy="689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7"/>
          <p:cNvGraphicFramePr>
            <a:graphicFrameLocks noChangeAspect="1"/>
          </p:cNvGraphicFramePr>
          <p:nvPr/>
        </p:nvGraphicFramePr>
        <p:xfrm>
          <a:off x="659348" y="2678915"/>
          <a:ext cx="2559540" cy="743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6" imgW="787400" imgH="228600" progId="Equation.3">
                  <p:embed/>
                </p:oleObj>
              </mc:Choice>
              <mc:Fallback>
                <p:oleObj name="Equation" r:id="rId6" imgW="787400" imgH="2286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348" y="2678915"/>
                        <a:ext cx="2559540" cy="743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/>
        </p:nvGraphicFramePr>
        <p:xfrm>
          <a:off x="2709804" y="3961010"/>
          <a:ext cx="2754162" cy="9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8" imgW="673100" imgH="228600" progId="Equation.3">
                  <p:embed/>
                </p:oleObj>
              </mc:Choice>
              <mc:Fallback>
                <p:oleObj name="Equation" r:id="rId8" imgW="67310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04" y="3961010"/>
                        <a:ext cx="2754162" cy="935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Arrow: Right 131"/>
          <p:cNvSpPr/>
          <p:nvPr/>
        </p:nvSpPr>
        <p:spPr>
          <a:xfrm>
            <a:off x="1488025" y="41534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7480" y="548424"/>
            <a:ext cx="6465529" cy="52540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三极管内部载流子的运动规律（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NPN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型）</a:t>
            </a:r>
            <a:endParaRPr lang="zh-CN" altLang="en-US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382109" y="1532612"/>
            <a:ext cx="2590800" cy="1676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" name="Oval 3">
            <a:hlinkClick r:id="rId1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11771421" y="237212"/>
            <a:ext cx="533400" cy="609600"/>
          </a:xfrm>
          <a:prstGeom prst="ellipse">
            <a:avLst/>
          </a:prstGeom>
          <a:noFill/>
          <a:ln w="12700" cap="sq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78934" y="3212187"/>
            <a:ext cx="2590800" cy="3810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390046" y="3563025"/>
            <a:ext cx="2590800" cy="1676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7428021" y="3429000"/>
            <a:ext cx="947738" cy="8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7428021" y="3437612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0" name="Group 9"/>
          <p:cNvGrpSpPr/>
          <p:nvPr/>
        </p:nvGrpSpPr>
        <p:grpSpPr bwMode="auto">
          <a:xfrm>
            <a:off x="7199421" y="4428212"/>
            <a:ext cx="457200" cy="152400"/>
            <a:chOff x="2448" y="2640"/>
            <a:chExt cx="288" cy="96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448" y="264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544" y="273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7428021" y="4580612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7428021" y="5876012"/>
            <a:ext cx="431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9637820" y="5248950"/>
            <a:ext cx="1" cy="627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pSp>
        <p:nvGrpSpPr>
          <p:cNvPr id="16" name="Group 15"/>
          <p:cNvGrpSpPr/>
          <p:nvPr/>
        </p:nvGrpSpPr>
        <p:grpSpPr bwMode="auto">
          <a:xfrm>
            <a:off x="11466621" y="3080425"/>
            <a:ext cx="457200" cy="319087"/>
            <a:chOff x="5136" y="1791"/>
            <a:chExt cx="288" cy="201"/>
          </a:xfrm>
        </p:grpSpPr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5136" y="1791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5136" y="192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5202" y="1851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5223" y="199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11725384" y="3415387"/>
            <a:ext cx="0" cy="24590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11692046" y="675362"/>
            <a:ext cx="4763" cy="2397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9547334" y="675362"/>
            <a:ext cx="2144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9564795" y="673775"/>
            <a:ext cx="4763" cy="85883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7602646" y="4118650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11650771" y="3404275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8456721" y="4669512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8423384" y="1597700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8437671" y="3170912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P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9696559" y="5374362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E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9591784" y="818237"/>
            <a:ext cx="735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7882046" y="2961362"/>
            <a:ext cx="735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B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3" name="AutoShape 32"/>
          <p:cNvSpPr>
            <a:spLocks noChangeArrowheads="1"/>
          </p:cNvSpPr>
          <p:nvPr/>
        </p:nvSpPr>
        <p:spPr bwMode="auto">
          <a:xfrm>
            <a:off x="9521934" y="2034262"/>
            <a:ext cx="1657350" cy="2713038"/>
          </a:xfrm>
          <a:prstGeom prst="downArrow">
            <a:avLst>
              <a:gd name="adj1" fmla="val 50000"/>
              <a:gd name="adj2" fmla="val 40924"/>
            </a:avLst>
          </a:prstGeom>
          <a:gradFill rotWithShape="1">
            <a:gsLst>
              <a:gs pos="0">
                <a:srgbClr val="FF6600"/>
              </a:gs>
              <a:gs pos="50000">
                <a:srgbClr val="FFFFFF"/>
              </a:gs>
              <a:gs pos="100000">
                <a:srgbClr val="FF6600"/>
              </a:gs>
            </a:gsLst>
            <a:lin ang="0" scaled="1"/>
          </a:gradFill>
          <a:ln w="9525">
            <a:solidFill>
              <a:srgbClr val="0000FF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AutoShape 33"/>
          <p:cNvSpPr>
            <a:spLocks noChangeArrowheads="1"/>
          </p:cNvSpPr>
          <p:nvPr/>
        </p:nvSpPr>
        <p:spPr bwMode="auto">
          <a:xfrm>
            <a:off x="8791684" y="3331250"/>
            <a:ext cx="558800" cy="944562"/>
          </a:xfrm>
          <a:prstGeom prst="curvedLeftArrow">
            <a:avLst>
              <a:gd name="adj1" fmla="val 33807"/>
              <a:gd name="adj2" fmla="val 67614"/>
              <a:gd name="adj3" fmla="val 3333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AutoShape 34"/>
          <p:cNvSpPr>
            <a:spLocks noChangeArrowheads="1"/>
          </p:cNvSpPr>
          <p:nvPr/>
        </p:nvSpPr>
        <p:spPr bwMode="auto">
          <a:xfrm>
            <a:off x="9198084" y="2553375"/>
            <a:ext cx="419100" cy="944562"/>
          </a:xfrm>
          <a:prstGeom prst="curvedLeftArrow">
            <a:avLst>
              <a:gd name="adj1" fmla="val 45076"/>
              <a:gd name="adj2" fmla="val 90151"/>
              <a:gd name="adj3" fmla="val 3333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9917221" y="2253337"/>
            <a:ext cx="990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CE</a:t>
            </a:r>
            <a:endParaRPr kumimoji="1" lang="en-US" altLang="zh-CN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8802796" y="2123162"/>
            <a:ext cx="990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CBO</a:t>
            </a:r>
            <a:endParaRPr kumimoji="1" lang="en-US" altLang="zh-CN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8478946" y="4147225"/>
            <a:ext cx="9906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solidFill>
                  <a:srgbClr val="FF3300"/>
                </a:solidFill>
                <a:latin typeface="Times New Roman" panose="02020603050405020304" pitchFamily="18" charset="0"/>
              </a:rPr>
              <a:t>BE</a:t>
            </a:r>
            <a:endParaRPr kumimoji="1" lang="en-US" altLang="zh-CN" b="1" i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AutoShape 38"/>
          <p:cNvSpPr>
            <a:spLocks noChangeArrowheads="1"/>
          </p:cNvSpPr>
          <p:nvPr/>
        </p:nvSpPr>
        <p:spPr bwMode="auto">
          <a:xfrm>
            <a:off x="9415571" y="5367219"/>
            <a:ext cx="444500" cy="495300"/>
          </a:xfrm>
          <a:prstGeom prst="downArrow">
            <a:avLst>
              <a:gd name="adj1" fmla="val 50000"/>
              <a:gd name="adj2" fmla="val 27857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" name="AutoShape 39"/>
          <p:cNvSpPr>
            <a:spLocks noChangeArrowheads="1"/>
          </p:cNvSpPr>
          <p:nvPr/>
        </p:nvSpPr>
        <p:spPr bwMode="auto">
          <a:xfrm>
            <a:off x="9351401" y="872212"/>
            <a:ext cx="444500" cy="495300"/>
          </a:xfrm>
          <a:prstGeom prst="downArrow">
            <a:avLst>
              <a:gd name="adj1" fmla="val 50000"/>
              <a:gd name="adj2" fmla="val 27857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" name="AutoShape 40"/>
          <p:cNvSpPr>
            <a:spLocks noChangeArrowheads="1"/>
          </p:cNvSpPr>
          <p:nvPr/>
        </p:nvSpPr>
        <p:spPr bwMode="auto">
          <a:xfrm>
            <a:off x="7745521" y="3336012"/>
            <a:ext cx="533400" cy="190500"/>
          </a:xfrm>
          <a:prstGeom prst="rightArrow">
            <a:avLst>
              <a:gd name="adj1" fmla="val 50000"/>
              <a:gd name="adj2" fmla="val 70000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7602646" y="3407450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latin typeface="Times New Roman" panose="02020603050405020304" pitchFamily="18" charset="0"/>
              </a:rPr>
              <a:t>B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8141055" y="5364837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latin typeface="Times New Roman" panose="02020603050405020304" pitchFamily="18" charset="0"/>
              </a:rPr>
              <a:t>E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8872646" y="829350"/>
            <a:ext cx="7350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b="1" i="1">
                <a:latin typeface="Times New Roman" panose="02020603050405020304" pitchFamily="18" charset="0"/>
              </a:rPr>
              <a:t>C</a:t>
            </a:r>
            <a:endParaRPr kumimoji="1" lang="en-US" altLang="zh-CN" b="1" i="1">
              <a:latin typeface="Times New Roman" panose="02020603050405020304" pitchFamily="18" charset="0"/>
            </a:endParaRPr>
          </a:p>
        </p:txBody>
      </p:sp>
      <p:graphicFrame>
        <p:nvGraphicFramePr>
          <p:cNvPr id="45" name="Object 44"/>
          <p:cNvGraphicFramePr>
            <a:graphicFrameLocks noChangeAspect="1"/>
          </p:cNvGraphicFramePr>
          <p:nvPr/>
        </p:nvGraphicFramePr>
        <p:xfrm>
          <a:off x="668655" y="2082165"/>
          <a:ext cx="20193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2" imgW="533400" imgH="431800" progId="Equation.DSMT4">
                  <p:embed/>
                </p:oleObj>
              </mc:Choice>
              <mc:Fallback>
                <p:oleObj name="Equation" r:id="rId2" imgW="533400" imgH="4318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" y="2082165"/>
                        <a:ext cx="2019300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/>
          <p:cNvGraphicFramePr>
            <a:graphicFrameLocks noChangeAspect="1"/>
          </p:cNvGraphicFramePr>
          <p:nvPr/>
        </p:nvGraphicFramePr>
        <p:xfrm>
          <a:off x="4041140" y="2351405"/>
          <a:ext cx="168402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" imgW="711200" imgH="228600" progId="Equation.DSMT4">
                  <p:embed/>
                </p:oleObj>
              </mc:Choice>
              <mc:Fallback>
                <p:oleObj name="Equation" r:id="rId4" imgW="711200" imgH="2286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140" y="2351405"/>
                        <a:ext cx="168402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589280" y="3415665"/>
          <a:ext cx="3145790" cy="64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6" imgW="1002665" imgH="228600" progId="Equation.DSMT4">
                  <p:embed/>
                </p:oleObj>
              </mc:Choice>
              <mc:Fallback>
                <p:oleObj name="Equation" r:id="rId6" imgW="1002665" imgH="2286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" y="3415665"/>
                        <a:ext cx="3145790" cy="6432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489714" y="4275932"/>
          <a:ext cx="2723475" cy="741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8" imgW="838200" imgH="228600" progId="Equation.DSMT4">
                  <p:embed/>
                </p:oleObj>
              </mc:Choice>
              <mc:Fallback>
                <p:oleObj name="Equation" r:id="rId8" imgW="838200" imgH="2286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14" y="4275932"/>
                        <a:ext cx="2723475" cy="7419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/>
          <p:cNvGraphicFramePr>
            <a:graphicFrameLocks noChangeAspect="1"/>
          </p:cNvGraphicFramePr>
          <p:nvPr/>
        </p:nvGraphicFramePr>
        <p:xfrm>
          <a:off x="589280" y="5239385"/>
          <a:ext cx="2854325" cy="493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10" imgW="1346200" imgH="228600" progId="Equation.DSMT4">
                  <p:embed/>
                </p:oleObj>
              </mc:Choice>
              <mc:Fallback>
                <p:oleObj name="Equation" r:id="rId10" imgW="1346200" imgH="2286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" y="5239385"/>
                        <a:ext cx="2854325" cy="4933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/>
          <p:cNvGraphicFramePr>
            <a:graphicFrameLocks noChangeAspect="1"/>
          </p:cNvGraphicFramePr>
          <p:nvPr/>
        </p:nvGraphicFramePr>
        <p:xfrm>
          <a:off x="540811" y="5982601"/>
          <a:ext cx="2384151" cy="68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12" imgW="800100" imgH="228600" progId="Equation.3">
                  <p:embed/>
                </p:oleObj>
              </mc:Choice>
              <mc:Fallback>
                <p:oleObj name="Equation" r:id="rId12" imgW="800100" imgH="2286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11" y="5982601"/>
                        <a:ext cx="2384151" cy="681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63"/>
          <p:cNvGraphicFramePr>
            <a:graphicFrameLocks noChangeAspect="1"/>
          </p:cNvGraphicFramePr>
          <p:nvPr/>
        </p:nvGraphicFramePr>
        <p:xfrm>
          <a:off x="3563620" y="5982335"/>
          <a:ext cx="1917700" cy="622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14" imgW="723900" imgH="228600" progId="Equation.DSMT4">
                  <p:embed/>
                </p:oleObj>
              </mc:Choice>
              <mc:Fallback>
                <p:oleObj name="Equation" r:id="rId14" imgW="723900" imgH="2286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620" y="5982335"/>
                        <a:ext cx="1917700" cy="62293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Arrow: Right 130"/>
          <p:cNvSpPr/>
          <p:nvPr/>
        </p:nvSpPr>
        <p:spPr>
          <a:xfrm>
            <a:off x="2820521" y="23511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TextBox 48"/>
          <p:cNvSpPr txBox="1"/>
          <p:nvPr/>
        </p:nvSpPr>
        <p:spPr>
          <a:xfrm>
            <a:off x="198666" y="1227788"/>
            <a:ext cx="4547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i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kumimoji="1" lang="en-US" altLang="zh-CN" sz="1800" b="1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CE </a:t>
            </a:r>
            <a:r>
              <a:rPr kumimoji="1" lang="zh-CN" altLang="en-US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与 </a:t>
            </a:r>
            <a:r>
              <a:rPr kumimoji="1" lang="en-US" altLang="zh-CN" sz="1800" b="1" i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</a:t>
            </a:r>
            <a:r>
              <a:rPr kumimoji="1" lang="en-US" altLang="zh-CN" sz="1800" b="1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BE </a:t>
            </a:r>
            <a:r>
              <a:rPr kumimoji="1" lang="zh-CN" altLang="zh-CN" sz="1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之比称为共发射极电流放大倍数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Rectangle 3"/>
          <p:cNvSpPr txBox="1">
            <a:spLocks noChangeArrowheads="1"/>
          </p:cNvSpPr>
          <p:nvPr/>
        </p:nvSpPr>
        <p:spPr>
          <a:xfrm>
            <a:off x="371065" y="1196918"/>
            <a:ext cx="5490294" cy="3620291"/>
          </a:xfrm>
          <a:prstGeom prst="rect">
            <a:avLst/>
          </a:prstGeom>
          <a:solidFill>
            <a:srgbClr val="CCFFCC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三极管的</a:t>
            </a: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作用</a:t>
            </a:r>
            <a:endParaRPr lang="zh-CN" altLang="en-US" sz="40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弱信号放大</a:t>
            </a:r>
            <a:endParaRPr lang="zh-CN" altLang="en-US" sz="40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受控开关</a:t>
            </a:r>
            <a:endParaRPr lang="zh-CN" altLang="en-US" sz="40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40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晶体管的电流放大作用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Rectangle 3"/>
          <p:cNvSpPr txBox="1">
            <a:spLocks noChangeArrowheads="1"/>
          </p:cNvSpPr>
          <p:nvPr/>
        </p:nvSpPr>
        <p:spPr>
          <a:xfrm>
            <a:off x="371065" y="1196918"/>
            <a:ext cx="5490294" cy="3620291"/>
          </a:xfrm>
          <a:prstGeom prst="rect">
            <a:avLst/>
          </a:prstGeom>
          <a:solidFill>
            <a:srgbClr val="CCFFCC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共射级三极管典型</a:t>
            </a:r>
            <a:r>
              <a:rPr lang="zh-CN" altLang="en-US" sz="40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电路</a:t>
            </a:r>
            <a:endParaRPr lang="zh-CN" altLang="en-US" sz="40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3" name="Group 158"/>
          <p:cNvGrpSpPr/>
          <p:nvPr/>
        </p:nvGrpSpPr>
        <p:grpSpPr bwMode="auto">
          <a:xfrm>
            <a:off x="3352801" y="2079625"/>
            <a:ext cx="5222875" cy="3286125"/>
            <a:chOff x="1152" y="1508"/>
            <a:chExt cx="3290" cy="2070"/>
          </a:xfrm>
        </p:grpSpPr>
        <p:grpSp>
          <p:nvGrpSpPr>
            <p:cNvPr id="7181" name="Group 108"/>
            <p:cNvGrpSpPr/>
            <p:nvPr/>
          </p:nvGrpSpPr>
          <p:grpSpPr bwMode="auto">
            <a:xfrm>
              <a:off x="2029" y="1654"/>
              <a:ext cx="952" cy="1803"/>
              <a:chOff x="1703" y="1119"/>
              <a:chExt cx="788" cy="1665"/>
            </a:xfrm>
          </p:grpSpPr>
          <p:sp>
            <p:nvSpPr>
              <p:cNvPr id="7224" name="Line 109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5" name="Line 110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6" name="Line 111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7" name="Line 112"/>
              <p:cNvSpPr>
                <a:spLocks noChangeShapeType="1"/>
              </p:cNvSpPr>
              <p:nvPr/>
            </p:nvSpPr>
            <p:spPr bwMode="auto">
              <a:xfrm>
                <a:off x="2267" y="2009"/>
                <a:ext cx="224" cy="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8" name="Line 113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9" name="Line 114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2" name="Line 115"/>
            <p:cNvSpPr>
              <a:spLocks noChangeShapeType="1"/>
            </p:cNvSpPr>
            <p:nvPr/>
          </p:nvSpPr>
          <p:spPr bwMode="auto">
            <a:xfrm>
              <a:off x="2022" y="1650"/>
              <a:ext cx="17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" name="Line 116"/>
            <p:cNvSpPr>
              <a:spLocks noChangeShapeType="1"/>
            </p:cNvSpPr>
            <p:nvPr/>
          </p:nvSpPr>
          <p:spPr bwMode="auto">
            <a:xfrm>
              <a:off x="2029" y="1654"/>
              <a:ext cx="0" cy="91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" name="Oval 117"/>
            <p:cNvSpPr>
              <a:spLocks noChangeArrowheads="1"/>
            </p:cNvSpPr>
            <p:nvPr/>
          </p:nvSpPr>
          <p:spPr bwMode="auto">
            <a:xfrm>
              <a:off x="3816" y="1621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5" name="Rectangle 118"/>
            <p:cNvSpPr>
              <a:spLocks noChangeArrowheads="1"/>
            </p:cNvSpPr>
            <p:nvPr/>
          </p:nvSpPr>
          <p:spPr bwMode="auto">
            <a:xfrm>
              <a:off x="1966" y="1967"/>
              <a:ext cx="124" cy="290"/>
            </a:xfrm>
            <a:prstGeom prst="rect">
              <a:avLst/>
            </a:prstGeom>
            <a:gradFill rotWithShape="1">
              <a:gsLst>
                <a:gs pos="0">
                  <a:srgbClr val="156B13"/>
                </a:gs>
                <a:gs pos="25000">
                  <a:srgbClr val="9CB86E"/>
                </a:gs>
                <a:gs pos="50000">
                  <a:srgbClr val="DDEBCF"/>
                </a:gs>
                <a:gs pos="75000">
                  <a:srgbClr val="9CB86E"/>
                </a:gs>
                <a:gs pos="100000">
                  <a:srgbClr val="156B13"/>
                </a:gs>
              </a:gsLst>
              <a:lin ang="0" scaled="1"/>
            </a:gradFill>
            <a:ln w="444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6" name="Rectangle 119"/>
            <p:cNvSpPr>
              <a:spLocks noChangeArrowheads="1"/>
            </p:cNvSpPr>
            <p:nvPr/>
          </p:nvSpPr>
          <p:spPr bwMode="auto">
            <a:xfrm>
              <a:off x="2915" y="1824"/>
              <a:ext cx="124" cy="290"/>
            </a:xfrm>
            <a:prstGeom prst="rect">
              <a:avLst/>
            </a:prstGeom>
            <a:gradFill rotWithShape="1">
              <a:gsLst>
                <a:gs pos="0">
                  <a:srgbClr val="156B13"/>
                </a:gs>
                <a:gs pos="25000">
                  <a:srgbClr val="9CB86E"/>
                </a:gs>
                <a:gs pos="50000">
                  <a:srgbClr val="DDEBCF"/>
                </a:gs>
                <a:gs pos="75000">
                  <a:srgbClr val="9CB86E"/>
                </a:gs>
                <a:gs pos="100000">
                  <a:srgbClr val="156B13"/>
                </a:gs>
              </a:gsLst>
              <a:lin ang="0" scaled="1"/>
            </a:gradFill>
            <a:ln w="444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7" name="Rectangle 120"/>
            <p:cNvSpPr>
              <a:spLocks noChangeArrowheads="1"/>
            </p:cNvSpPr>
            <p:nvPr/>
          </p:nvSpPr>
          <p:spPr bwMode="auto">
            <a:xfrm>
              <a:off x="1604" y="1735"/>
              <a:ext cx="29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8" name="Rectangle 121"/>
            <p:cNvSpPr>
              <a:spLocks noChangeArrowheads="1"/>
            </p:cNvSpPr>
            <p:nvPr/>
          </p:nvSpPr>
          <p:spPr bwMode="auto">
            <a:xfrm>
              <a:off x="2611" y="1760"/>
              <a:ext cx="30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4" name="Rectangle 122"/>
            <p:cNvSpPr>
              <a:spLocks noChangeArrowheads="1"/>
            </p:cNvSpPr>
            <p:nvPr/>
          </p:nvSpPr>
          <p:spPr bwMode="auto">
            <a:xfrm>
              <a:off x="2996" y="2557"/>
              <a:ext cx="392" cy="232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5" name="Rectangle 123"/>
            <p:cNvSpPr>
              <a:spLocks noChangeArrowheads="1"/>
            </p:cNvSpPr>
            <p:nvPr/>
          </p:nvSpPr>
          <p:spPr bwMode="auto">
            <a:xfrm>
              <a:off x="2373" y="2699"/>
              <a:ext cx="386" cy="232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6" name="Rectangle 124"/>
            <p:cNvSpPr>
              <a:spLocks noChangeArrowheads="1"/>
            </p:cNvSpPr>
            <p:nvPr/>
          </p:nvSpPr>
          <p:spPr bwMode="auto">
            <a:xfrm>
              <a:off x="2373" y="2573"/>
              <a:ext cx="197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7" name="Rectangle 125"/>
            <p:cNvSpPr>
              <a:spLocks noChangeArrowheads="1"/>
            </p:cNvSpPr>
            <p:nvPr/>
          </p:nvSpPr>
          <p:spPr bwMode="auto">
            <a:xfrm>
              <a:off x="2682" y="3181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8" name="Rectangle 126"/>
            <p:cNvSpPr>
              <a:spLocks noChangeArrowheads="1"/>
            </p:cNvSpPr>
            <p:nvPr/>
          </p:nvSpPr>
          <p:spPr bwMode="auto">
            <a:xfrm>
              <a:off x="3042" y="3186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9" name="Rectangle 127"/>
            <p:cNvSpPr>
              <a:spLocks noChangeArrowheads="1"/>
            </p:cNvSpPr>
            <p:nvPr/>
          </p:nvSpPr>
          <p:spPr bwMode="auto">
            <a:xfrm>
              <a:off x="3022" y="2302"/>
              <a:ext cx="197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80" name="Rectangle 128"/>
            <p:cNvSpPr>
              <a:spLocks noChangeArrowheads="1"/>
            </p:cNvSpPr>
            <p:nvPr/>
          </p:nvSpPr>
          <p:spPr bwMode="auto">
            <a:xfrm>
              <a:off x="3933" y="1508"/>
              <a:ext cx="509" cy="290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96" name="Line 129"/>
            <p:cNvSpPr>
              <a:spLocks noChangeShapeType="1"/>
            </p:cNvSpPr>
            <p:nvPr/>
          </p:nvSpPr>
          <p:spPr bwMode="auto">
            <a:xfrm>
              <a:off x="1321" y="3407"/>
              <a:ext cx="24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97" name="Group 130"/>
            <p:cNvGrpSpPr/>
            <p:nvPr/>
          </p:nvGrpSpPr>
          <p:grpSpPr bwMode="auto">
            <a:xfrm>
              <a:off x="1608" y="2443"/>
              <a:ext cx="135" cy="243"/>
              <a:chOff x="5056" y="3342"/>
              <a:chExt cx="112" cy="224"/>
            </a:xfrm>
          </p:grpSpPr>
          <p:sp>
            <p:nvSpPr>
              <p:cNvPr id="7222" name="Line 131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3" name="Line 132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98" name="Line 133"/>
            <p:cNvSpPr>
              <a:spLocks noChangeShapeType="1"/>
            </p:cNvSpPr>
            <p:nvPr/>
          </p:nvSpPr>
          <p:spPr bwMode="auto">
            <a:xfrm>
              <a:off x="1743" y="25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Line 134"/>
            <p:cNvSpPr>
              <a:spLocks noChangeShapeType="1"/>
            </p:cNvSpPr>
            <p:nvPr/>
          </p:nvSpPr>
          <p:spPr bwMode="auto">
            <a:xfrm>
              <a:off x="1321" y="2557"/>
              <a:ext cx="2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" name="Line 135"/>
            <p:cNvSpPr>
              <a:spLocks noChangeShapeType="1"/>
            </p:cNvSpPr>
            <p:nvPr/>
          </p:nvSpPr>
          <p:spPr bwMode="auto">
            <a:xfrm>
              <a:off x="2963" y="2266"/>
              <a:ext cx="3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1" name="Group 136"/>
            <p:cNvGrpSpPr/>
            <p:nvPr/>
          </p:nvGrpSpPr>
          <p:grpSpPr bwMode="auto">
            <a:xfrm>
              <a:off x="3262" y="2153"/>
              <a:ext cx="135" cy="242"/>
              <a:chOff x="5056" y="3342"/>
              <a:chExt cx="112" cy="224"/>
            </a:xfrm>
          </p:grpSpPr>
          <p:sp>
            <p:nvSpPr>
              <p:cNvPr id="7220" name="Line 137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1" name="Line 138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02" name="Line 139"/>
            <p:cNvSpPr>
              <a:spLocks noChangeShapeType="1"/>
            </p:cNvSpPr>
            <p:nvPr/>
          </p:nvSpPr>
          <p:spPr bwMode="auto">
            <a:xfrm>
              <a:off x="3390" y="2245"/>
              <a:ext cx="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" name="Oval 140"/>
            <p:cNvSpPr>
              <a:spLocks noChangeArrowheads="1"/>
            </p:cNvSpPr>
            <p:nvPr/>
          </p:nvSpPr>
          <p:spPr bwMode="auto">
            <a:xfrm>
              <a:off x="3795" y="3371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4" name="Oval 141"/>
            <p:cNvSpPr>
              <a:spLocks noChangeArrowheads="1"/>
            </p:cNvSpPr>
            <p:nvPr/>
          </p:nvSpPr>
          <p:spPr bwMode="auto">
            <a:xfrm>
              <a:off x="3738" y="2229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5" name="Oval 142"/>
            <p:cNvSpPr>
              <a:spLocks noChangeArrowheads="1"/>
            </p:cNvSpPr>
            <p:nvPr/>
          </p:nvSpPr>
          <p:spPr bwMode="auto">
            <a:xfrm>
              <a:off x="1276" y="3379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6" name="Oval 143"/>
            <p:cNvSpPr>
              <a:spLocks noChangeArrowheads="1"/>
            </p:cNvSpPr>
            <p:nvPr/>
          </p:nvSpPr>
          <p:spPr bwMode="auto">
            <a:xfrm>
              <a:off x="1256" y="2533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7" name="Oval 144"/>
            <p:cNvSpPr>
              <a:spLocks noChangeArrowheads="1"/>
            </p:cNvSpPr>
            <p:nvPr/>
          </p:nvSpPr>
          <p:spPr bwMode="auto">
            <a:xfrm>
              <a:off x="2937" y="3379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8" name="Line 145"/>
            <p:cNvSpPr>
              <a:spLocks noChangeShapeType="1"/>
            </p:cNvSpPr>
            <p:nvPr/>
          </p:nvSpPr>
          <p:spPr bwMode="auto">
            <a:xfrm>
              <a:off x="2963" y="3399"/>
              <a:ext cx="0" cy="1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9" name="Line 146"/>
            <p:cNvSpPr>
              <a:spLocks noChangeShapeType="1"/>
            </p:cNvSpPr>
            <p:nvPr/>
          </p:nvSpPr>
          <p:spPr bwMode="auto">
            <a:xfrm>
              <a:off x="2875" y="3578"/>
              <a:ext cx="1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0" name="Rectangle 147"/>
            <p:cNvSpPr>
              <a:spLocks noChangeArrowheads="1"/>
            </p:cNvSpPr>
            <p:nvPr/>
          </p:nvSpPr>
          <p:spPr bwMode="auto">
            <a:xfrm>
              <a:off x="1729" y="2344"/>
              <a:ext cx="1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1" name="Rectangle 148"/>
            <p:cNvSpPr>
              <a:spLocks noChangeArrowheads="1"/>
            </p:cNvSpPr>
            <p:nvPr/>
          </p:nvSpPr>
          <p:spPr bwMode="auto">
            <a:xfrm>
              <a:off x="3078" y="2047"/>
              <a:ext cx="1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2" name="Text Box 149"/>
            <p:cNvSpPr txBox="1">
              <a:spLocks noChangeArrowheads="1"/>
            </p:cNvSpPr>
            <p:nvPr/>
          </p:nvSpPr>
          <p:spPr bwMode="auto">
            <a:xfrm>
              <a:off x="1406" y="2103"/>
              <a:ext cx="4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C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213" name="Text Box 150"/>
            <p:cNvSpPr txBox="1">
              <a:spLocks noChangeArrowheads="1"/>
            </p:cNvSpPr>
            <p:nvPr/>
          </p:nvSpPr>
          <p:spPr bwMode="auto">
            <a:xfrm>
              <a:off x="3192" y="1820"/>
              <a:ext cx="4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C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214" name="Rectangle 151"/>
            <p:cNvSpPr>
              <a:spLocks noChangeArrowheads="1"/>
            </p:cNvSpPr>
            <p:nvPr/>
          </p:nvSpPr>
          <p:spPr bwMode="auto">
            <a:xfrm>
              <a:off x="1220" y="2534"/>
              <a:ext cx="206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704" name="Rectangle 152"/>
            <p:cNvSpPr>
              <a:spLocks noChangeArrowheads="1"/>
            </p:cNvSpPr>
            <p:nvPr/>
          </p:nvSpPr>
          <p:spPr bwMode="auto">
            <a:xfrm>
              <a:off x="1207" y="3209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6" name="Rectangle 153"/>
            <p:cNvSpPr>
              <a:spLocks noChangeArrowheads="1"/>
            </p:cNvSpPr>
            <p:nvPr/>
          </p:nvSpPr>
          <p:spPr bwMode="auto">
            <a:xfrm>
              <a:off x="1152" y="2699"/>
              <a:ext cx="32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36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6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36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7" name="Rectangle 154"/>
            <p:cNvSpPr>
              <a:spLocks noChangeArrowheads="1"/>
            </p:cNvSpPr>
            <p:nvPr/>
          </p:nvSpPr>
          <p:spPr bwMode="auto">
            <a:xfrm>
              <a:off x="3646" y="2302"/>
              <a:ext cx="1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707" name="Rectangle 155"/>
            <p:cNvSpPr>
              <a:spLocks noChangeArrowheads="1"/>
            </p:cNvSpPr>
            <p:nvPr/>
          </p:nvSpPr>
          <p:spPr bwMode="auto">
            <a:xfrm>
              <a:off x="3654" y="3160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9" name="Rectangle 156"/>
            <p:cNvSpPr>
              <a:spLocks noChangeArrowheads="1"/>
            </p:cNvSpPr>
            <p:nvPr/>
          </p:nvSpPr>
          <p:spPr bwMode="auto">
            <a:xfrm>
              <a:off x="3624" y="2508"/>
              <a:ext cx="372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36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711" name="AutoShape 159"/>
          <p:cNvSpPr>
            <a:spLocks noChangeArrowheads="1"/>
          </p:cNvSpPr>
          <p:nvPr/>
        </p:nvSpPr>
        <p:spPr bwMode="auto">
          <a:xfrm>
            <a:off x="10678160" y="2254568"/>
            <a:ext cx="1214438" cy="1049337"/>
          </a:xfrm>
          <a:prstGeom prst="wedgeRoundRectCallout">
            <a:avLst>
              <a:gd name="adj1" fmla="val -196143"/>
              <a:gd name="adj2" fmla="val 57624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直流电源</a:t>
            </a:r>
            <a:endParaRPr kumimoji="1" lang="zh-CN" altLang="en-US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12" name="AutoShape 160"/>
          <p:cNvSpPr>
            <a:spLocks noChangeArrowheads="1"/>
          </p:cNvSpPr>
          <p:nvPr/>
        </p:nvSpPr>
        <p:spPr bwMode="auto">
          <a:xfrm>
            <a:off x="7175500" y="863600"/>
            <a:ext cx="1576388" cy="987425"/>
          </a:xfrm>
          <a:prstGeom prst="wedgeRoundRectCallout">
            <a:avLst>
              <a:gd name="adj1" fmla="val -104782"/>
              <a:gd name="adj2" fmla="val 153699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集电极电阻</a:t>
            </a:r>
            <a:endParaRPr kumimoji="1" lang="zh-CN" altLang="en-US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13" name="AutoShape 161"/>
          <p:cNvSpPr>
            <a:spLocks noChangeArrowheads="1"/>
          </p:cNvSpPr>
          <p:nvPr/>
        </p:nvSpPr>
        <p:spPr bwMode="auto">
          <a:xfrm>
            <a:off x="8616950" y="4014788"/>
            <a:ext cx="1304925" cy="989012"/>
          </a:xfrm>
          <a:prstGeom prst="wedgeRoundRectCallout">
            <a:avLst>
              <a:gd name="adj1" fmla="val -188444"/>
              <a:gd name="adj2" fmla="val -104412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输出电容</a:t>
            </a:r>
            <a:endParaRPr kumimoji="1" lang="zh-CN" altLang="en-US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14" name="AutoShape 162"/>
          <p:cNvSpPr>
            <a:spLocks noChangeArrowheads="1"/>
          </p:cNvSpPr>
          <p:nvPr/>
        </p:nvSpPr>
        <p:spPr bwMode="auto">
          <a:xfrm>
            <a:off x="3890963" y="5364163"/>
            <a:ext cx="1665287" cy="655637"/>
          </a:xfrm>
          <a:prstGeom prst="wedgeRoundRectCallout">
            <a:avLst>
              <a:gd name="adj1" fmla="val 55338"/>
              <a:gd name="adj2" fmla="val -247093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anose="02010509060101010101" pitchFamily="49" charset="-122"/>
              </a:rPr>
              <a:t>晶体管</a:t>
            </a:r>
            <a:endParaRPr kumimoji="1" lang="zh-CN" altLang="en-US" b="1">
              <a:latin typeface="幼圆" panose="02010509060101010101" pitchFamily="49" charset="-122"/>
            </a:endParaRPr>
          </a:p>
        </p:txBody>
      </p:sp>
      <p:sp>
        <p:nvSpPr>
          <p:cNvPr id="23715" name="AutoShape 163"/>
          <p:cNvSpPr>
            <a:spLocks noChangeArrowheads="1"/>
          </p:cNvSpPr>
          <p:nvPr/>
        </p:nvSpPr>
        <p:spPr bwMode="auto">
          <a:xfrm>
            <a:off x="2000250" y="1854200"/>
            <a:ext cx="1181100" cy="1035050"/>
          </a:xfrm>
          <a:prstGeom prst="wedgeRoundRectCallout">
            <a:avLst>
              <a:gd name="adj1" fmla="val 166801"/>
              <a:gd name="adj2" fmla="val 61352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anose="02010509060101010101" pitchFamily="49" charset="-122"/>
              </a:rPr>
              <a:t>基极          电阻</a:t>
            </a:r>
            <a:endParaRPr kumimoji="1" lang="zh-CN" altLang="en-US">
              <a:latin typeface="幼圆" panose="02010509060101010101" pitchFamily="49" charset="-122"/>
            </a:endParaRPr>
          </a:p>
        </p:txBody>
      </p:sp>
      <p:sp>
        <p:nvSpPr>
          <p:cNvPr id="23716" name="AutoShape 164"/>
          <p:cNvSpPr>
            <a:spLocks noChangeArrowheads="1"/>
          </p:cNvSpPr>
          <p:nvPr/>
        </p:nvSpPr>
        <p:spPr bwMode="auto">
          <a:xfrm>
            <a:off x="1597978" y="3744913"/>
            <a:ext cx="1020762" cy="989012"/>
          </a:xfrm>
          <a:prstGeom prst="wedgeRoundRectCallout">
            <a:avLst>
              <a:gd name="adj1" fmla="val 187542"/>
              <a:gd name="adj2" fmla="val -55232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anose="02010509060101010101" pitchFamily="49" charset="-122"/>
              </a:rPr>
              <a:t>输入电容</a:t>
            </a:r>
            <a:endParaRPr kumimoji="1" lang="zh-CN" altLang="en-US">
              <a:latin typeface="幼圆" panose="02010509060101010101" pitchFamily="49" charset="-122"/>
            </a:endParaRPr>
          </a:p>
        </p:txBody>
      </p:sp>
      <p:sp>
        <p:nvSpPr>
          <p:cNvPr id="7180" name="Rectangle 16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z="32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541035" y="2079625"/>
            <a:ext cx="2070458" cy="3011016"/>
            <a:chOff x="6017035" y="2079625"/>
            <a:chExt cx="2070458" cy="3011016"/>
          </a:xfrm>
        </p:grpSpPr>
        <p:sp>
          <p:nvSpPr>
            <p:cNvPr id="68" name="Rectangle 122"/>
            <p:cNvSpPr>
              <a:spLocks noChangeArrowheads="1"/>
            </p:cNvSpPr>
            <p:nvPr/>
          </p:nvSpPr>
          <p:spPr bwMode="auto">
            <a:xfrm>
              <a:off x="7203004" y="2849588"/>
              <a:ext cx="313055" cy="368300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017035" y="2079625"/>
              <a:ext cx="2070458" cy="3011016"/>
              <a:chOff x="6017035" y="2079625"/>
              <a:chExt cx="2070458" cy="3011016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6045201" y="2079625"/>
                <a:ext cx="1055687" cy="541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Line 115"/>
              <p:cNvSpPr>
                <a:spLocks noChangeShapeType="1"/>
              </p:cNvSpPr>
              <p:nvPr/>
            </p:nvSpPr>
            <p:spPr bwMode="auto">
              <a:xfrm>
                <a:off x="6017035" y="2306307"/>
                <a:ext cx="1116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116"/>
              <p:cNvSpPr>
                <a:spLocks noChangeShapeType="1"/>
              </p:cNvSpPr>
              <p:nvPr/>
            </p:nvSpPr>
            <p:spPr bwMode="auto">
              <a:xfrm>
                <a:off x="7100888" y="2298699"/>
                <a:ext cx="0" cy="277200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115"/>
              <p:cNvSpPr>
                <a:spLocks noChangeShapeType="1"/>
              </p:cNvSpPr>
              <p:nvPr/>
            </p:nvSpPr>
            <p:spPr bwMode="auto">
              <a:xfrm>
                <a:off x="6102351" y="5090641"/>
                <a:ext cx="1008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6807501" y="3340100"/>
                <a:ext cx="590550" cy="590550"/>
              </a:xfrm>
              <a:prstGeom prst="ellipse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Rectangle 122"/>
              <p:cNvSpPr>
                <a:spLocks noChangeArrowheads="1"/>
              </p:cNvSpPr>
              <p:nvPr/>
            </p:nvSpPr>
            <p:spPr bwMode="auto">
              <a:xfrm>
                <a:off x="7453763" y="3405515"/>
                <a:ext cx="633730" cy="368300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CC</a:t>
                </a:r>
                <a:endParaRPr kumimoji="1"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Rectangle 122"/>
              <p:cNvSpPr>
                <a:spLocks noChangeArrowheads="1"/>
              </p:cNvSpPr>
              <p:nvPr/>
            </p:nvSpPr>
            <p:spPr bwMode="auto">
              <a:xfrm>
                <a:off x="7190811" y="3890479"/>
                <a:ext cx="309245" cy="368300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altLang="zh-CN" b="1" i="1" dirty="0">
                    <a:latin typeface="Symbol" panose="05050102010706020507" pitchFamily="18" charset="2"/>
                    <a:ea typeface="宋体" panose="02010600030101010101" pitchFamily="2" charset="-122"/>
                  </a:rPr>
                  <a:t>-</a:t>
                </a:r>
                <a:endParaRPr kumimoji="1" lang="en-US" altLang="zh-CN" sz="2400" b="1" baseline="-25000" dirty="0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11" grpId="0" bldLvl="0" animBg="1"/>
      <p:bldP spid="23712" grpId="0" bldLvl="0" animBg="1" autoUpdateAnimBg="0"/>
      <p:bldP spid="23713" grpId="0" bldLvl="0" animBg="1" autoUpdateAnimBg="0"/>
      <p:bldP spid="23714" grpId="0" bldLvl="0" animBg="1" autoUpdateAnimBg="0"/>
      <p:bldP spid="23715" grpId="0" bldLvl="0" animBg="1" autoUpdateAnimBg="0"/>
      <p:bldP spid="23716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3" name="Group 158"/>
          <p:cNvGrpSpPr/>
          <p:nvPr/>
        </p:nvGrpSpPr>
        <p:grpSpPr bwMode="auto">
          <a:xfrm>
            <a:off x="558801" y="802640"/>
            <a:ext cx="5222875" cy="3286125"/>
            <a:chOff x="1152" y="1508"/>
            <a:chExt cx="3290" cy="2070"/>
          </a:xfrm>
        </p:grpSpPr>
        <p:grpSp>
          <p:nvGrpSpPr>
            <p:cNvPr id="7181" name="Group 108"/>
            <p:cNvGrpSpPr/>
            <p:nvPr/>
          </p:nvGrpSpPr>
          <p:grpSpPr bwMode="auto">
            <a:xfrm>
              <a:off x="2029" y="1654"/>
              <a:ext cx="952" cy="1803"/>
              <a:chOff x="1703" y="1119"/>
              <a:chExt cx="788" cy="1665"/>
            </a:xfrm>
          </p:grpSpPr>
          <p:sp>
            <p:nvSpPr>
              <p:cNvPr id="7224" name="Line 109"/>
              <p:cNvSpPr>
                <a:spLocks noChangeShapeType="1"/>
              </p:cNvSpPr>
              <p:nvPr/>
            </p:nvSpPr>
            <p:spPr bwMode="auto">
              <a:xfrm>
                <a:off x="1703" y="1961"/>
                <a:ext cx="559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5" name="Line 110"/>
              <p:cNvSpPr>
                <a:spLocks noChangeShapeType="1"/>
              </p:cNvSpPr>
              <p:nvPr/>
            </p:nvSpPr>
            <p:spPr bwMode="auto">
              <a:xfrm>
                <a:off x="2264" y="1768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6" name="Line 111"/>
              <p:cNvSpPr>
                <a:spLocks noChangeShapeType="1"/>
              </p:cNvSpPr>
              <p:nvPr/>
            </p:nvSpPr>
            <p:spPr bwMode="auto">
              <a:xfrm flipV="1">
                <a:off x="2264" y="1723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7" name="Line 112"/>
              <p:cNvSpPr>
                <a:spLocks noChangeShapeType="1"/>
              </p:cNvSpPr>
              <p:nvPr/>
            </p:nvSpPr>
            <p:spPr bwMode="auto">
              <a:xfrm>
                <a:off x="2267" y="2009"/>
                <a:ext cx="224" cy="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8" name="Line 113"/>
              <p:cNvSpPr>
                <a:spLocks noChangeShapeType="1"/>
              </p:cNvSpPr>
              <p:nvPr/>
            </p:nvSpPr>
            <p:spPr bwMode="auto">
              <a:xfrm>
                <a:off x="2486" y="1119"/>
                <a:ext cx="0" cy="60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9" name="Line 114"/>
              <p:cNvSpPr>
                <a:spLocks noChangeShapeType="1"/>
              </p:cNvSpPr>
              <p:nvPr/>
            </p:nvSpPr>
            <p:spPr bwMode="auto">
              <a:xfrm>
                <a:off x="2476" y="2153"/>
                <a:ext cx="0" cy="6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2" name="Line 115"/>
            <p:cNvSpPr>
              <a:spLocks noChangeShapeType="1"/>
            </p:cNvSpPr>
            <p:nvPr/>
          </p:nvSpPr>
          <p:spPr bwMode="auto">
            <a:xfrm>
              <a:off x="2022" y="1650"/>
              <a:ext cx="17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" name="Line 116"/>
            <p:cNvSpPr>
              <a:spLocks noChangeShapeType="1"/>
            </p:cNvSpPr>
            <p:nvPr/>
          </p:nvSpPr>
          <p:spPr bwMode="auto">
            <a:xfrm>
              <a:off x="2029" y="1654"/>
              <a:ext cx="0" cy="91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4" name="Oval 117"/>
            <p:cNvSpPr>
              <a:spLocks noChangeArrowheads="1"/>
            </p:cNvSpPr>
            <p:nvPr/>
          </p:nvSpPr>
          <p:spPr bwMode="auto">
            <a:xfrm>
              <a:off x="3816" y="1621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5" name="Rectangle 118"/>
            <p:cNvSpPr>
              <a:spLocks noChangeArrowheads="1"/>
            </p:cNvSpPr>
            <p:nvPr/>
          </p:nvSpPr>
          <p:spPr bwMode="auto">
            <a:xfrm>
              <a:off x="1966" y="1967"/>
              <a:ext cx="124" cy="290"/>
            </a:xfrm>
            <a:prstGeom prst="rect">
              <a:avLst/>
            </a:prstGeom>
            <a:gradFill rotWithShape="1">
              <a:gsLst>
                <a:gs pos="0">
                  <a:srgbClr val="156B13"/>
                </a:gs>
                <a:gs pos="25000">
                  <a:srgbClr val="9CB86E"/>
                </a:gs>
                <a:gs pos="50000">
                  <a:srgbClr val="DDEBCF"/>
                </a:gs>
                <a:gs pos="75000">
                  <a:srgbClr val="9CB86E"/>
                </a:gs>
                <a:gs pos="100000">
                  <a:srgbClr val="156B13"/>
                </a:gs>
              </a:gsLst>
              <a:lin ang="0" scaled="1"/>
            </a:gradFill>
            <a:ln w="444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6" name="Rectangle 119"/>
            <p:cNvSpPr>
              <a:spLocks noChangeArrowheads="1"/>
            </p:cNvSpPr>
            <p:nvPr/>
          </p:nvSpPr>
          <p:spPr bwMode="auto">
            <a:xfrm>
              <a:off x="2915" y="1824"/>
              <a:ext cx="124" cy="290"/>
            </a:xfrm>
            <a:prstGeom prst="rect">
              <a:avLst/>
            </a:prstGeom>
            <a:gradFill rotWithShape="1">
              <a:gsLst>
                <a:gs pos="0">
                  <a:srgbClr val="156B13"/>
                </a:gs>
                <a:gs pos="25000">
                  <a:srgbClr val="9CB86E"/>
                </a:gs>
                <a:gs pos="50000">
                  <a:srgbClr val="DDEBCF"/>
                </a:gs>
                <a:gs pos="75000">
                  <a:srgbClr val="9CB86E"/>
                </a:gs>
                <a:gs pos="100000">
                  <a:srgbClr val="156B13"/>
                </a:gs>
              </a:gsLst>
              <a:lin ang="0" scaled="1"/>
            </a:gradFill>
            <a:ln w="444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7" name="Rectangle 120"/>
            <p:cNvSpPr>
              <a:spLocks noChangeArrowheads="1"/>
            </p:cNvSpPr>
            <p:nvPr/>
          </p:nvSpPr>
          <p:spPr bwMode="auto">
            <a:xfrm>
              <a:off x="1604" y="1735"/>
              <a:ext cx="29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8" name="Rectangle 121"/>
            <p:cNvSpPr>
              <a:spLocks noChangeArrowheads="1"/>
            </p:cNvSpPr>
            <p:nvPr/>
          </p:nvSpPr>
          <p:spPr bwMode="auto">
            <a:xfrm>
              <a:off x="2611" y="1760"/>
              <a:ext cx="30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4" name="Rectangle 122"/>
            <p:cNvSpPr>
              <a:spLocks noChangeArrowheads="1"/>
            </p:cNvSpPr>
            <p:nvPr/>
          </p:nvSpPr>
          <p:spPr bwMode="auto">
            <a:xfrm>
              <a:off x="2996" y="2557"/>
              <a:ext cx="392" cy="232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5" name="Rectangle 123"/>
            <p:cNvSpPr>
              <a:spLocks noChangeArrowheads="1"/>
            </p:cNvSpPr>
            <p:nvPr/>
          </p:nvSpPr>
          <p:spPr bwMode="auto">
            <a:xfrm>
              <a:off x="2373" y="2699"/>
              <a:ext cx="386" cy="232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6" name="Rectangle 124"/>
            <p:cNvSpPr>
              <a:spLocks noChangeArrowheads="1"/>
            </p:cNvSpPr>
            <p:nvPr/>
          </p:nvSpPr>
          <p:spPr bwMode="auto">
            <a:xfrm>
              <a:off x="2373" y="2573"/>
              <a:ext cx="197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7" name="Rectangle 125"/>
            <p:cNvSpPr>
              <a:spLocks noChangeArrowheads="1"/>
            </p:cNvSpPr>
            <p:nvPr/>
          </p:nvSpPr>
          <p:spPr bwMode="auto">
            <a:xfrm>
              <a:off x="2682" y="3181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8" name="Rectangle 126"/>
            <p:cNvSpPr>
              <a:spLocks noChangeArrowheads="1"/>
            </p:cNvSpPr>
            <p:nvPr/>
          </p:nvSpPr>
          <p:spPr bwMode="auto">
            <a:xfrm>
              <a:off x="3042" y="3186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79" name="Rectangle 127"/>
            <p:cNvSpPr>
              <a:spLocks noChangeArrowheads="1"/>
            </p:cNvSpPr>
            <p:nvPr/>
          </p:nvSpPr>
          <p:spPr bwMode="auto">
            <a:xfrm>
              <a:off x="3022" y="2302"/>
              <a:ext cx="197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80" name="Rectangle 128"/>
            <p:cNvSpPr>
              <a:spLocks noChangeArrowheads="1"/>
            </p:cNvSpPr>
            <p:nvPr/>
          </p:nvSpPr>
          <p:spPr bwMode="auto">
            <a:xfrm>
              <a:off x="3933" y="1508"/>
              <a:ext cx="509" cy="290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kumimoji="1"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96" name="Line 129"/>
            <p:cNvSpPr>
              <a:spLocks noChangeShapeType="1"/>
            </p:cNvSpPr>
            <p:nvPr/>
          </p:nvSpPr>
          <p:spPr bwMode="auto">
            <a:xfrm>
              <a:off x="1321" y="3407"/>
              <a:ext cx="24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97" name="Group 130"/>
            <p:cNvGrpSpPr/>
            <p:nvPr/>
          </p:nvGrpSpPr>
          <p:grpSpPr bwMode="auto">
            <a:xfrm>
              <a:off x="1608" y="2443"/>
              <a:ext cx="135" cy="243"/>
              <a:chOff x="5056" y="3342"/>
              <a:chExt cx="112" cy="224"/>
            </a:xfrm>
          </p:grpSpPr>
          <p:sp>
            <p:nvSpPr>
              <p:cNvPr id="7222" name="Line 131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3" name="Line 132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98" name="Line 133"/>
            <p:cNvSpPr>
              <a:spLocks noChangeShapeType="1"/>
            </p:cNvSpPr>
            <p:nvPr/>
          </p:nvSpPr>
          <p:spPr bwMode="auto">
            <a:xfrm>
              <a:off x="1743" y="25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Line 134"/>
            <p:cNvSpPr>
              <a:spLocks noChangeShapeType="1"/>
            </p:cNvSpPr>
            <p:nvPr/>
          </p:nvSpPr>
          <p:spPr bwMode="auto">
            <a:xfrm>
              <a:off x="1321" y="2557"/>
              <a:ext cx="2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" name="Line 135"/>
            <p:cNvSpPr>
              <a:spLocks noChangeShapeType="1"/>
            </p:cNvSpPr>
            <p:nvPr/>
          </p:nvSpPr>
          <p:spPr bwMode="auto">
            <a:xfrm>
              <a:off x="2963" y="2266"/>
              <a:ext cx="3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1" name="Group 136"/>
            <p:cNvGrpSpPr/>
            <p:nvPr/>
          </p:nvGrpSpPr>
          <p:grpSpPr bwMode="auto">
            <a:xfrm>
              <a:off x="3262" y="2153"/>
              <a:ext cx="135" cy="242"/>
              <a:chOff x="5056" y="3342"/>
              <a:chExt cx="112" cy="224"/>
            </a:xfrm>
          </p:grpSpPr>
          <p:sp>
            <p:nvSpPr>
              <p:cNvPr id="7220" name="Line 137"/>
              <p:cNvSpPr>
                <a:spLocks noChangeShapeType="1"/>
              </p:cNvSpPr>
              <p:nvPr/>
            </p:nvSpPr>
            <p:spPr bwMode="auto">
              <a:xfrm>
                <a:off x="5056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1" name="Line 138"/>
              <p:cNvSpPr>
                <a:spLocks noChangeShapeType="1"/>
              </p:cNvSpPr>
              <p:nvPr/>
            </p:nvSpPr>
            <p:spPr bwMode="auto">
              <a:xfrm>
                <a:off x="5168" y="3342"/>
                <a:ext cx="0" cy="2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02" name="Line 139"/>
            <p:cNvSpPr>
              <a:spLocks noChangeShapeType="1"/>
            </p:cNvSpPr>
            <p:nvPr/>
          </p:nvSpPr>
          <p:spPr bwMode="auto">
            <a:xfrm>
              <a:off x="3390" y="2245"/>
              <a:ext cx="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" name="Oval 140"/>
            <p:cNvSpPr>
              <a:spLocks noChangeArrowheads="1"/>
            </p:cNvSpPr>
            <p:nvPr/>
          </p:nvSpPr>
          <p:spPr bwMode="auto">
            <a:xfrm>
              <a:off x="3795" y="3371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4" name="Oval 141"/>
            <p:cNvSpPr>
              <a:spLocks noChangeArrowheads="1"/>
            </p:cNvSpPr>
            <p:nvPr/>
          </p:nvSpPr>
          <p:spPr bwMode="auto">
            <a:xfrm>
              <a:off x="3738" y="2229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5" name="Oval 142"/>
            <p:cNvSpPr>
              <a:spLocks noChangeArrowheads="1"/>
            </p:cNvSpPr>
            <p:nvPr/>
          </p:nvSpPr>
          <p:spPr bwMode="auto">
            <a:xfrm>
              <a:off x="1276" y="3379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6" name="Oval 143"/>
            <p:cNvSpPr>
              <a:spLocks noChangeArrowheads="1"/>
            </p:cNvSpPr>
            <p:nvPr/>
          </p:nvSpPr>
          <p:spPr bwMode="auto">
            <a:xfrm>
              <a:off x="1256" y="2533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7" name="Oval 144"/>
            <p:cNvSpPr>
              <a:spLocks noChangeArrowheads="1"/>
            </p:cNvSpPr>
            <p:nvPr/>
          </p:nvSpPr>
          <p:spPr bwMode="auto">
            <a:xfrm>
              <a:off x="2937" y="3379"/>
              <a:ext cx="58" cy="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8" name="Line 145"/>
            <p:cNvSpPr>
              <a:spLocks noChangeShapeType="1"/>
            </p:cNvSpPr>
            <p:nvPr/>
          </p:nvSpPr>
          <p:spPr bwMode="auto">
            <a:xfrm>
              <a:off x="2963" y="3399"/>
              <a:ext cx="0" cy="1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9" name="Line 146"/>
            <p:cNvSpPr>
              <a:spLocks noChangeShapeType="1"/>
            </p:cNvSpPr>
            <p:nvPr/>
          </p:nvSpPr>
          <p:spPr bwMode="auto">
            <a:xfrm>
              <a:off x="2875" y="3578"/>
              <a:ext cx="1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0" name="Rectangle 147"/>
            <p:cNvSpPr>
              <a:spLocks noChangeArrowheads="1"/>
            </p:cNvSpPr>
            <p:nvPr/>
          </p:nvSpPr>
          <p:spPr bwMode="auto">
            <a:xfrm>
              <a:off x="1729" y="2344"/>
              <a:ext cx="1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1" name="Rectangle 148"/>
            <p:cNvSpPr>
              <a:spLocks noChangeArrowheads="1"/>
            </p:cNvSpPr>
            <p:nvPr/>
          </p:nvSpPr>
          <p:spPr bwMode="auto">
            <a:xfrm>
              <a:off x="3078" y="2047"/>
              <a:ext cx="1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2" name="Text Box 149"/>
            <p:cNvSpPr txBox="1">
              <a:spLocks noChangeArrowheads="1"/>
            </p:cNvSpPr>
            <p:nvPr/>
          </p:nvSpPr>
          <p:spPr bwMode="auto">
            <a:xfrm>
              <a:off x="1406" y="2103"/>
              <a:ext cx="4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C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1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213" name="Text Box 150"/>
            <p:cNvSpPr txBox="1">
              <a:spLocks noChangeArrowheads="1"/>
            </p:cNvSpPr>
            <p:nvPr/>
          </p:nvSpPr>
          <p:spPr bwMode="auto">
            <a:xfrm>
              <a:off x="3192" y="1820"/>
              <a:ext cx="4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C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2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214" name="Rectangle 151"/>
            <p:cNvSpPr>
              <a:spLocks noChangeArrowheads="1"/>
            </p:cNvSpPr>
            <p:nvPr/>
          </p:nvSpPr>
          <p:spPr bwMode="auto">
            <a:xfrm>
              <a:off x="1220" y="2534"/>
              <a:ext cx="206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704" name="Rectangle 152"/>
            <p:cNvSpPr>
              <a:spLocks noChangeArrowheads="1"/>
            </p:cNvSpPr>
            <p:nvPr/>
          </p:nvSpPr>
          <p:spPr bwMode="auto">
            <a:xfrm>
              <a:off x="1207" y="3209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6" name="Rectangle 153"/>
            <p:cNvSpPr>
              <a:spLocks noChangeArrowheads="1"/>
            </p:cNvSpPr>
            <p:nvPr/>
          </p:nvSpPr>
          <p:spPr bwMode="auto">
            <a:xfrm>
              <a:off x="1152" y="2699"/>
              <a:ext cx="32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36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36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36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7" name="Rectangle 154"/>
            <p:cNvSpPr>
              <a:spLocks noChangeArrowheads="1"/>
            </p:cNvSpPr>
            <p:nvPr/>
          </p:nvSpPr>
          <p:spPr bwMode="auto">
            <a:xfrm>
              <a:off x="3646" y="2302"/>
              <a:ext cx="1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707" name="Rectangle 155"/>
            <p:cNvSpPr>
              <a:spLocks noChangeArrowheads="1"/>
            </p:cNvSpPr>
            <p:nvPr/>
          </p:nvSpPr>
          <p:spPr bwMode="auto">
            <a:xfrm>
              <a:off x="3654" y="3160"/>
              <a:ext cx="228" cy="19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19" name="Rectangle 156"/>
            <p:cNvSpPr>
              <a:spLocks noChangeArrowheads="1"/>
            </p:cNvSpPr>
            <p:nvPr/>
          </p:nvSpPr>
          <p:spPr bwMode="auto">
            <a:xfrm>
              <a:off x="3624" y="2508"/>
              <a:ext cx="372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36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747035" y="802640"/>
            <a:ext cx="2070458" cy="3011016"/>
            <a:chOff x="6017035" y="2079625"/>
            <a:chExt cx="2070458" cy="3011016"/>
          </a:xfrm>
        </p:grpSpPr>
        <p:sp>
          <p:nvSpPr>
            <p:cNvPr id="68" name="Rectangle 122"/>
            <p:cNvSpPr>
              <a:spLocks noChangeArrowheads="1"/>
            </p:cNvSpPr>
            <p:nvPr/>
          </p:nvSpPr>
          <p:spPr bwMode="auto">
            <a:xfrm>
              <a:off x="7203004" y="2849588"/>
              <a:ext cx="313055" cy="368300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017035" y="2079625"/>
              <a:ext cx="2070458" cy="3011016"/>
              <a:chOff x="6017035" y="2079625"/>
              <a:chExt cx="2070458" cy="3011016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6045201" y="2079625"/>
                <a:ext cx="1055687" cy="541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Line 115"/>
              <p:cNvSpPr>
                <a:spLocks noChangeShapeType="1"/>
              </p:cNvSpPr>
              <p:nvPr/>
            </p:nvSpPr>
            <p:spPr bwMode="auto">
              <a:xfrm>
                <a:off x="6017035" y="2306307"/>
                <a:ext cx="1116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116"/>
              <p:cNvSpPr>
                <a:spLocks noChangeShapeType="1"/>
              </p:cNvSpPr>
              <p:nvPr/>
            </p:nvSpPr>
            <p:spPr bwMode="auto">
              <a:xfrm>
                <a:off x="7100888" y="2298699"/>
                <a:ext cx="0" cy="277200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115"/>
              <p:cNvSpPr>
                <a:spLocks noChangeShapeType="1"/>
              </p:cNvSpPr>
              <p:nvPr/>
            </p:nvSpPr>
            <p:spPr bwMode="auto">
              <a:xfrm>
                <a:off x="6102351" y="5090641"/>
                <a:ext cx="1008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6807501" y="3340100"/>
                <a:ext cx="590550" cy="590550"/>
              </a:xfrm>
              <a:prstGeom prst="ellipse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Rectangle 122"/>
              <p:cNvSpPr>
                <a:spLocks noChangeArrowheads="1"/>
              </p:cNvSpPr>
              <p:nvPr/>
            </p:nvSpPr>
            <p:spPr bwMode="auto">
              <a:xfrm>
                <a:off x="7453763" y="3405515"/>
                <a:ext cx="633730" cy="368300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kumimoji="1" lang="en-US" altLang="zh-CN" sz="24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CC</a:t>
                </a:r>
                <a:endParaRPr kumimoji="1"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Rectangle 122"/>
              <p:cNvSpPr>
                <a:spLocks noChangeArrowheads="1"/>
              </p:cNvSpPr>
              <p:nvPr/>
            </p:nvSpPr>
            <p:spPr bwMode="auto">
              <a:xfrm>
                <a:off x="7190811" y="3890479"/>
                <a:ext cx="309245" cy="368300"/>
              </a:xfrm>
              <a:prstGeom prst="rect">
                <a:avLst/>
              </a:prstGeom>
              <a:noFill/>
              <a:ln w="57150">
                <a:noFill/>
                <a:miter lim="800000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altLang="zh-CN" b="1" i="1" dirty="0">
                    <a:latin typeface="Symbol" panose="05050102010706020507" pitchFamily="18" charset="2"/>
                    <a:ea typeface="宋体" panose="02010600030101010101" pitchFamily="2" charset="-122"/>
                  </a:rPr>
                  <a:t>-</a:t>
                </a:r>
                <a:endParaRPr kumimoji="1" lang="en-US" altLang="zh-CN" sz="2400" b="1" baseline="-25000" dirty="0">
                  <a:latin typeface="Symbol" panose="05050102010706020507" pitchFamily="18" charset="2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860" y="3314065"/>
            <a:ext cx="5652135" cy="2927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361"/>
          <p:cNvSpPr>
            <a:spLocks noChangeArrowheads="1"/>
          </p:cNvSpPr>
          <p:nvPr/>
        </p:nvSpPr>
        <p:spPr bwMode="auto">
          <a:xfrm>
            <a:off x="686753" y="998538"/>
            <a:ext cx="170973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3600" b="1" dirty="0">
                <a:latin typeface="幼圆" panose="02010509060101010101" pitchFamily="49" charset="-122"/>
              </a:rPr>
              <a:t>直流输入回路</a:t>
            </a:r>
            <a:endParaRPr kumimoji="1" lang="zh-CN" altLang="en-US" sz="3600" b="1" dirty="0">
              <a:latin typeface="幼圆" panose="02010509060101010101" pitchFamily="49" charset="-122"/>
            </a:endParaRPr>
          </a:p>
        </p:txBody>
      </p:sp>
      <p:graphicFrame>
        <p:nvGraphicFramePr>
          <p:cNvPr id="10246" name="Object 362"/>
          <p:cNvGraphicFramePr>
            <a:graphicFrameLocks noChangeAspect="1"/>
          </p:cNvGraphicFramePr>
          <p:nvPr/>
        </p:nvGraphicFramePr>
        <p:xfrm>
          <a:off x="2720975" y="5499100"/>
          <a:ext cx="2505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" imgW="60045600" imgH="10363200" progId="Equation.DSMT4">
                  <p:embed/>
                </p:oleObj>
              </mc:Choice>
              <mc:Fallback>
                <p:oleObj name="Equation" r:id="rId1" imgW="60045600" imgH="10363200" progId="Equation.DSMT4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5499100"/>
                        <a:ext cx="25050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101588" y="1763713"/>
            <a:ext cx="1574800" cy="2970213"/>
            <a:chOff x="1722438" y="1763713"/>
            <a:chExt cx="1574800" cy="2970213"/>
          </a:xfrm>
        </p:grpSpPr>
        <p:sp>
          <p:nvSpPr>
            <p:cNvPr id="10285" name="Line 331"/>
            <p:cNvSpPr>
              <a:spLocks noChangeShapeType="1"/>
            </p:cNvSpPr>
            <p:nvPr/>
          </p:nvSpPr>
          <p:spPr bwMode="auto">
            <a:xfrm>
              <a:off x="1722438" y="2889251"/>
              <a:ext cx="0" cy="1844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6" name="Line 332"/>
            <p:cNvSpPr>
              <a:spLocks noChangeShapeType="1"/>
            </p:cNvSpPr>
            <p:nvPr/>
          </p:nvSpPr>
          <p:spPr bwMode="auto">
            <a:xfrm>
              <a:off x="3297238" y="1763713"/>
              <a:ext cx="0" cy="2925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76672" y="4778376"/>
            <a:ext cx="4131158" cy="539077"/>
            <a:chOff x="452672" y="4778376"/>
            <a:chExt cx="4131158" cy="539077"/>
          </a:xfrm>
        </p:grpSpPr>
        <p:sp>
          <p:nvSpPr>
            <p:cNvPr id="10287" name="Text Box 333"/>
            <p:cNvSpPr txBox="1">
              <a:spLocks noChangeArrowheads="1"/>
            </p:cNvSpPr>
            <p:nvPr/>
          </p:nvSpPr>
          <p:spPr bwMode="auto">
            <a:xfrm>
              <a:off x="452672" y="4778376"/>
              <a:ext cx="117142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线性</a:t>
              </a:r>
              <a:endParaRPr kumimoji="1" lang="zh-CN" altLang="en-US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88" name="Text Box 334"/>
            <p:cNvSpPr txBox="1">
              <a:spLocks noChangeArrowheads="1"/>
            </p:cNvSpPr>
            <p:nvPr/>
          </p:nvSpPr>
          <p:spPr bwMode="auto">
            <a:xfrm>
              <a:off x="3689750" y="4795483"/>
              <a:ext cx="89408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线性</a:t>
              </a:r>
              <a:endParaRPr kumimoji="1" lang="zh-CN" altLang="en-US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10289" name="Text Box 335"/>
          <p:cNvSpPr txBox="1">
            <a:spLocks noChangeArrowheads="1"/>
          </p:cNvSpPr>
          <p:nvPr/>
        </p:nvSpPr>
        <p:spPr bwMode="auto">
          <a:xfrm>
            <a:off x="3117851" y="4778376"/>
            <a:ext cx="181520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非线性</a:t>
            </a:r>
            <a:endParaRPr kumimoji="1"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61454" y="1857376"/>
            <a:ext cx="3713163" cy="2819400"/>
            <a:chOff x="691357" y="1857376"/>
            <a:chExt cx="3713163" cy="2819400"/>
          </a:xfrm>
        </p:grpSpPr>
        <p:sp>
          <p:nvSpPr>
            <p:cNvPr id="10251" name="Text Box 271"/>
            <p:cNvSpPr txBox="1">
              <a:spLocks noChangeArrowheads="1"/>
            </p:cNvSpPr>
            <p:nvPr/>
          </p:nvSpPr>
          <p:spPr bwMode="auto">
            <a:xfrm>
              <a:off x="691357" y="3929063"/>
              <a:ext cx="68897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U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CC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2" name="Rectangle 273"/>
            <p:cNvSpPr>
              <a:spLocks noChangeArrowheads="1"/>
            </p:cNvSpPr>
            <p:nvPr/>
          </p:nvSpPr>
          <p:spPr bwMode="auto">
            <a:xfrm>
              <a:off x="3715545" y="3862388"/>
              <a:ext cx="68897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 b="1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U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CC</a:t>
              </a:r>
              <a:endParaRPr kumimoji="1" lang="en-US" altLang="zh-CN" sz="2400" b="1" baseline="-25000" dirty="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7682" name="Rectangle 274"/>
            <p:cNvSpPr>
              <a:spLocks noChangeArrowheads="1"/>
            </p:cNvSpPr>
            <p:nvPr/>
          </p:nvSpPr>
          <p:spPr bwMode="auto">
            <a:xfrm>
              <a:off x="2613661" y="3133726"/>
              <a:ext cx="678180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83" name="Rectangle 275"/>
            <p:cNvSpPr>
              <a:spLocks noChangeArrowheads="1"/>
            </p:cNvSpPr>
            <p:nvPr/>
          </p:nvSpPr>
          <p:spPr bwMode="auto">
            <a:xfrm>
              <a:off x="2783682" y="2149476"/>
              <a:ext cx="444500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84" name="Rectangle 276"/>
            <p:cNvSpPr>
              <a:spLocks noChangeArrowheads="1"/>
            </p:cNvSpPr>
            <p:nvPr/>
          </p:nvSpPr>
          <p:spPr bwMode="auto">
            <a:xfrm>
              <a:off x="2761775" y="2625726"/>
              <a:ext cx="354965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85" name="Rectangle 277"/>
            <p:cNvSpPr>
              <a:spLocks noChangeArrowheads="1"/>
            </p:cNvSpPr>
            <p:nvPr/>
          </p:nvSpPr>
          <p:spPr bwMode="auto">
            <a:xfrm>
              <a:off x="2714467" y="3608388"/>
              <a:ext cx="487680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89" name="Rectangle 281"/>
            <p:cNvSpPr>
              <a:spLocks noChangeArrowheads="1"/>
            </p:cNvSpPr>
            <p:nvPr/>
          </p:nvSpPr>
          <p:spPr bwMode="auto">
            <a:xfrm>
              <a:off x="1769111" y="2663826"/>
              <a:ext cx="433705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B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8" name="Text Box 283"/>
            <p:cNvSpPr txBox="1">
              <a:spLocks noChangeArrowheads="1"/>
            </p:cNvSpPr>
            <p:nvPr/>
          </p:nvSpPr>
          <p:spPr bwMode="auto">
            <a:xfrm rot="5400000">
              <a:off x="2941638" y="1900238"/>
              <a:ext cx="422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endParaRPr kumimoji="1" lang="zh-CN" altLang="zh-CN" sz="2400" baseline="-2500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59" name="Line 284"/>
            <p:cNvSpPr>
              <a:spLocks noChangeShapeType="1"/>
            </p:cNvSpPr>
            <p:nvPr/>
          </p:nvSpPr>
          <p:spPr bwMode="auto">
            <a:xfrm rot="5400000">
              <a:off x="2481263" y="2370138"/>
              <a:ext cx="5794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93" name="Rectangle 285"/>
            <p:cNvSpPr>
              <a:spLocks noChangeArrowheads="1"/>
            </p:cNvSpPr>
            <p:nvPr/>
          </p:nvSpPr>
          <p:spPr bwMode="auto">
            <a:xfrm>
              <a:off x="1891190" y="3644901"/>
              <a:ext cx="667385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endParaRPr kumimoji="1" lang="en-US" altLang="zh-CN" sz="2400" b="1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94" name="Rectangle 286"/>
            <p:cNvSpPr>
              <a:spLocks noChangeArrowheads="1"/>
            </p:cNvSpPr>
            <p:nvPr/>
          </p:nvSpPr>
          <p:spPr bwMode="auto">
            <a:xfrm>
              <a:off x="1888650" y="3294063"/>
              <a:ext cx="354965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2" name="Line 287"/>
            <p:cNvSpPr>
              <a:spLocks noChangeShapeType="1"/>
            </p:cNvSpPr>
            <p:nvPr/>
          </p:nvSpPr>
          <p:spPr bwMode="auto">
            <a:xfrm>
              <a:off x="1361361" y="3275957"/>
              <a:ext cx="0" cy="70008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Line 288"/>
            <p:cNvSpPr>
              <a:spLocks noChangeShapeType="1"/>
            </p:cNvSpPr>
            <p:nvPr/>
          </p:nvSpPr>
          <p:spPr bwMode="auto">
            <a:xfrm>
              <a:off x="1352551" y="3994151"/>
              <a:ext cx="0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64" name="Group 289"/>
            <p:cNvGrpSpPr/>
            <p:nvPr/>
          </p:nvGrpSpPr>
          <p:grpSpPr bwMode="auto">
            <a:xfrm>
              <a:off x="1181506" y="3976700"/>
              <a:ext cx="359711" cy="100641"/>
              <a:chOff x="3495" y="3433"/>
              <a:chExt cx="245" cy="58"/>
            </a:xfrm>
          </p:grpSpPr>
          <p:sp>
            <p:nvSpPr>
              <p:cNvPr id="10297" name="Line 290"/>
              <p:cNvSpPr>
                <a:spLocks noChangeShapeType="1"/>
              </p:cNvSpPr>
              <p:nvPr/>
            </p:nvSpPr>
            <p:spPr bwMode="auto">
              <a:xfrm>
                <a:off x="3495" y="3433"/>
                <a:ext cx="245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8" name="Line 291"/>
              <p:cNvSpPr>
                <a:spLocks noChangeShapeType="1"/>
              </p:cNvSpPr>
              <p:nvPr/>
            </p:nvSpPr>
            <p:spPr bwMode="auto">
              <a:xfrm>
                <a:off x="3544" y="3491"/>
                <a:ext cx="14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65" name="Line 292"/>
            <p:cNvSpPr>
              <a:spLocks noChangeShapeType="1"/>
            </p:cNvSpPr>
            <p:nvPr/>
          </p:nvSpPr>
          <p:spPr bwMode="auto">
            <a:xfrm>
              <a:off x="1361361" y="4051301"/>
              <a:ext cx="0" cy="42862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6" name="Line 293"/>
            <p:cNvSpPr>
              <a:spLocks noChangeShapeType="1"/>
            </p:cNvSpPr>
            <p:nvPr/>
          </p:nvSpPr>
          <p:spPr bwMode="auto">
            <a:xfrm>
              <a:off x="1352551" y="4467226"/>
              <a:ext cx="1198563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7" name="Text Box 294"/>
            <p:cNvSpPr txBox="1">
              <a:spLocks noChangeArrowheads="1"/>
            </p:cNvSpPr>
            <p:nvPr/>
          </p:nvSpPr>
          <p:spPr bwMode="auto">
            <a:xfrm>
              <a:off x="786290" y="3343276"/>
              <a:ext cx="5181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B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68" name="Line 296"/>
            <p:cNvSpPr>
              <a:spLocks noChangeShapeType="1"/>
            </p:cNvSpPr>
            <p:nvPr/>
          </p:nvSpPr>
          <p:spPr bwMode="auto">
            <a:xfrm>
              <a:off x="3816351" y="1893888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9" name="Line 297"/>
            <p:cNvSpPr>
              <a:spLocks noChangeShapeType="1"/>
            </p:cNvSpPr>
            <p:nvPr/>
          </p:nvSpPr>
          <p:spPr bwMode="auto">
            <a:xfrm>
              <a:off x="3743171" y="1885951"/>
              <a:ext cx="0" cy="193833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70" name="Group 298"/>
            <p:cNvGrpSpPr/>
            <p:nvPr/>
          </p:nvGrpSpPr>
          <p:grpSpPr bwMode="auto">
            <a:xfrm>
              <a:off x="3562962" y="3831870"/>
              <a:ext cx="360354" cy="107581"/>
              <a:chOff x="3495" y="3437"/>
              <a:chExt cx="238" cy="47"/>
            </a:xfrm>
          </p:grpSpPr>
          <p:sp>
            <p:nvSpPr>
              <p:cNvPr id="10295" name="Line 299"/>
              <p:cNvSpPr>
                <a:spLocks noChangeShapeType="1"/>
              </p:cNvSpPr>
              <p:nvPr/>
            </p:nvSpPr>
            <p:spPr bwMode="auto">
              <a:xfrm>
                <a:off x="3495" y="3437"/>
                <a:ext cx="238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6" name="Line 300"/>
              <p:cNvSpPr>
                <a:spLocks noChangeShapeType="1"/>
              </p:cNvSpPr>
              <p:nvPr/>
            </p:nvSpPr>
            <p:spPr bwMode="auto">
              <a:xfrm>
                <a:off x="3543" y="3484"/>
                <a:ext cx="14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71" name="Line 301"/>
            <p:cNvSpPr>
              <a:spLocks noChangeShapeType="1"/>
            </p:cNvSpPr>
            <p:nvPr/>
          </p:nvSpPr>
          <p:spPr bwMode="auto">
            <a:xfrm>
              <a:off x="3743171" y="3943351"/>
              <a:ext cx="0" cy="53657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2" name="Line 302"/>
            <p:cNvSpPr>
              <a:spLocks noChangeShapeType="1"/>
            </p:cNvSpPr>
            <p:nvPr/>
          </p:nvSpPr>
          <p:spPr bwMode="auto">
            <a:xfrm>
              <a:off x="2551113" y="4479926"/>
              <a:ext cx="1184275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3" name="Rectangle 303"/>
            <p:cNvSpPr>
              <a:spLocks noChangeArrowheads="1"/>
            </p:cNvSpPr>
            <p:nvPr/>
          </p:nvSpPr>
          <p:spPr bwMode="auto">
            <a:xfrm>
              <a:off x="3826511" y="2441576"/>
              <a:ext cx="52895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anose="02020603050405020304" pitchFamily="18" charset="0"/>
                  <a:ea typeface="隶书" panose="02010509060101010101" pitchFamily="49" charset="-122"/>
                </a:rPr>
                <a:t>R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隶书" panose="02010509060101010101" pitchFamily="49" charset="-122"/>
                </a:rPr>
                <a:t>C</a:t>
              </a:r>
              <a:endParaRPr kumimoji="1" lang="en-US" altLang="zh-CN" sz="2400" b="1" baseline="-25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74" name="Rectangle 304"/>
            <p:cNvSpPr>
              <a:spLocks noChangeArrowheads="1"/>
            </p:cNvSpPr>
            <p:nvPr/>
          </p:nvSpPr>
          <p:spPr bwMode="auto">
            <a:xfrm>
              <a:off x="3656652" y="2700338"/>
              <a:ext cx="173038" cy="433388"/>
            </a:xfrm>
            <a:prstGeom prst="rect">
              <a:avLst/>
            </a:prstGeom>
            <a:gradFill rotWithShape="1">
              <a:gsLst>
                <a:gs pos="0">
                  <a:srgbClr val="156B13"/>
                </a:gs>
                <a:gs pos="25000">
                  <a:srgbClr val="9CB86E"/>
                </a:gs>
                <a:gs pos="50000">
                  <a:srgbClr val="DDEBCF"/>
                </a:gs>
                <a:gs pos="75000">
                  <a:srgbClr val="9CB86E"/>
                </a:gs>
                <a:gs pos="100000">
                  <a:srgbClr val="156B13"/>
                </a:gs>
              </a:gsLst>
              <a:lin ang="0" scaled="1"/>
            </a:gradFill>
            <a:ln w="444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5" name="Rectangle 305"/>
            <p:cNvSpPr>
              <a:spLocks noChangeArrowheads="1"/>
            </p:cNvSpPr>
            <p:nvPr/>
          </p:nvSpPr>
          <p:spPr bwMode="auto">
            <a:xfrm>
              <a:off x="1285955" y="3403601"/>
              <a:ext cx="150813" cy="433388"/>
            </a:xfrm>
            <a:prstGeom prst="rect">
              <a:avLst/>
            </a:prstGeom>
            <a:gradFill rotWithShape="1">
              <a:gsLst>
                <a:gs pos="0">
                  <a:srgbClr val="156B13"/>
                </a:gs>
                <a:gs pos="25000">
                  <a:srgbClr val="9CB86E"/>
                </a:gs>
                <a:gs pos="50000">
                  <a:srgbClr val="DDEBCF"/>
                </a:gs>
                <a:gs pos="75000">
                  <a:srgbClr val="9CB86E"/>
                </a:gs>
                <a:gs pos="100000">
                  <a:srgbClr val="156B13"/>
                </a:gs>
              </a:gsLst>
              <a:lin ang="0" scaled="1"/>
            </a:gradFill>
            <a:ln w="444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6" name="Line 306"/>
            <p:cNvSpPr>
              <a:spLocks noChangeShapeType="1"/>
            </p:cNvSpPr>
            <p:nvPr/>
          </p:nvSpPr>
          <p:spPr bwMode="auto">
            <a:xfrm>
              <a:off x="1352551" y="3294063"/>
              <a:ext cx="425450" cy="635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7" name="Line 307"/>
            <p:cNvSpPr>
              <a:spLocks noChangeShapeType="1"/>
            </p:cNvSpPr>
            <p:nvPr/>
          </p:nvSpPr>
          <p:spPr bwMode="auto">
            <a:xfrm>
              <a:off x="2570957" y="3590926"/>
              <a:ext cx="0" cy="88900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8" name="Line 308"/>
            <p:cNvSpPr>
              <a:spLocks noChangeShapeType="1"/>
            </p:cNvSpPr>
            <p:nvPr/>
          </p:nvSpPr>
          <p:spPr bwMode="auto">
            <a:xfrm>
              <a:off x="2582692" y="1893888"/>
              <a:ext cx="1152000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9" name="Line 309"/>
            <p:cNvSpPr>
              <a:spLocks noChangeShapeType="1"/>
            </p:cNvSpPr>
            <p:nvPr/>
          </p:nvSpPr>
          <p:spPr bwMode="auto">
            <a:xfrm>
              <a:off x="2570957" y="1893888"/>
              <a:ext cx="0" cy="104616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80" name="Group 310"/>
            <p:cNvGrpSpPr/>
            <p:nvPr/>
          </p:nvGrpSpPr>
          <p:grpSpPr bwMode="auto">
            <a:xfrm>
              <a:off x="1758951" y="2940051"/>
              <a:ext cx="850900" cy="704850"/>
              <a:chOff x="4363" y="2777"/>
              <a:chExt cx="580" cy="465"/>
            </a:xfrm>
          </p:grpSpPr>
          <p:sp>
            <p:nvSpPr>
              <p:cNvPr id="10291" name="Line 311"/>
              <p:cNvSpPr>
                <a:spLocks noChangeShapeType="1"/>
              </p:cNvSpPr>
              <p:nvPr/>
            </p:nvSpPr>
            <p:spPr bwMode="auto">
              <a:xfrm>
                <a:off x="4363" y="3015"/>
                <a:ext cx="336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2" name="Line 312"/>
              <p:cNvSpPr>
                <a:spLocks noChangeShapeType="1"/>
              </p:cNvSpPr>
              <p:nvPr/>
            </p:nvSpPr>
            <p:spPr bwMode="auto">
              <a:xfrm>
                <a:off x="4701" y="2822"/>
                <a:ext cx="1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3" name="Line 313"/>
              <p:cNvSpPr>
                <a:spLocks noChangeShapeType="1"/>
              </p:cNvSpPr>
              <p:nvPr/>
            </p:nvSpPr>
            <p:spPr bwMode="auto">
              <a:xfrm flipV="1">
                <a:off x="4701" y="2777"/>
                <a:ext cx="224" cy="163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4" name="Line 314"/>
              <p:cNvSpPr>
                <a:spLocks noChangeShapeType="1"/>
              </p:cNvSpPr>
              <p:nvPr/>
            </p:nvSpPr>
            <p:spPr bwMode="auto">
              <a:xfrm>
                <a:off x="4719" y="3083"/>
                <a:ext cx="224" cy="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81" name="Oval 315"/>
            <p:cNvSpPr>
              <a:spLocks noChangeArrowheads="1"/>
            </p:cNvSpPr>
            <p:nvPr/>
          </p:nvSpPr>
          <p:spPr bwMode="auto">
            <a:xfrm flipV="1">
              <a:off x="2511426" y="4398963"/>
              <a:ext cx="119063" cy="120650"/>
            </a:xfrm>
            <a:prstGeom prst="ellipse">
              <a:avLst/>
            </a:prstGeom>
            <a:solidFill>
              <a:schemeClr val="tx2"/>
            </a:solidFill>
            <a:ln w="9525" algn="ctr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5" name="Rectangle 317"/>
            <p:cNvSpPr>
              <a:spLocks noChangeArrowheads="1"/>
            </p:cNvSpPr>
            <p:nvPr/>
          </p:nvSpPr>
          <p:spPr bwMode="auto">
            <a:xfrm>
              <a:off x="2084230" y="3968751"/>
              <a:ext cx="487680" cy="460375"/>
            </a:xfrm>
            <a:prstGeom prst="rect">
              <a:avLst/>
            </a:prstGeom>
            <a:noFill/>
            <a:ln w="57150">
              <a:noFill/>
              <a:miter lim="800000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83" name="Line 318"/>
            <p:cNvSpPr>
              <a:spLocks noChangeShapeType="1"/>
            </p:cNvSpPr>
            <p:nvPr/>
          </p:nvSpPr>
          <p:spPr bwMode="auto">
            <a:xfrm>
              <a:off x="2565401" y="4479926"/>
              <a:ext cx="0" cy="17938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4" name="Line 319"/>
            <p:cNvSpPr>
              <a:spLocks noChangeShapeType="1"/>
            </p:cNvSpPr>
            <p:nvPr/>
          </p:nvSpPr>
          <p:spPr bwMode="auto">
            <a:xfrm>
              <a:off x="2455863" y="4676776"/>
              <a:ext cx="230188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Line 366"/>
            <p:cNvSpPr>
              <a:spLocks noChangeShapeType="1"/>
            </p:cNvSpPr>
            <p:nvPr/>
          </p:nvSpPr>
          <p:spPr bwMode="auto">
            <a:xfrm>
              <a:off x="1646238" y="3203576"/>
              <a:ext cx="469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3673475"/>
            <a:ext cx="484505" cy="431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3075940"/>
            <a:ext cx="530225" cy="508000"/>
          </a:xfrm>
          <a:prstGeom prst="rect">
            <a:avLst/>
          </a:prstGeom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7077075" y="2149475"/>
            <a:ext cx="4429125" cy="21583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eaLnBrk="0" hangingPunct="0"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输入特性曲线</a:t>
            </a:r>
            <a:r>
              <a:rPr kumimoji="1" lang="en-US" altLang="zh-CN" sz="2800" b="1" dirty="0">
                <a:latin typeface="Times New Roman" panose="02020603050405020304"/>
                <a:ea typeface="楷体_GB2312" panose="02010609030101010101" pitchFamily="49" charset="-122"/>
              </a:rPr>
              <a:t>——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BE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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50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kumimoji="1" lang="en-US" altLang="zh-CN" sz="2800" b="1" baseline="-10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=const</a:t>
            </a:r>
            <a:endParaRPr kumimoji="1" lang="en-US" altLang="zh-CN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0" hangingPunct="0"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输出特性曲线</a:t>
            </a:r>
            <a:r>
              <a:rPr kumimoji="1" lang="en-US" altLang="zh-CN" sz="2800" b="1" dirty="0">
                <a:latin typeface="Times New Roman" panose="02020603050405020304"/>
                <a:ea typeface="楷体_GB2312" panose="02010609030101010101" pitchFamily="49" charset="-122"/>
              </a:rPr>
              <a:t>——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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baseline="-10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30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kumimoji="1" lang="en-US" altLang="zh-CN" sz="2800" b="1" baseline="-10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=const</a:t>
            </a:r>
            <a:endParaRPr kumimoji="1" lang="en-US" altLang="zh-CN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271395" y="1867535"/>
            <a:ext cx="4429125" cy="16414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eaLnBrk="0" hangingPunct="0"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输入特性曲线</a:t>
            </a:r>
            <a:r>
              <a:rPr kumimoji="1" lang="en-US" altLang="zh-CN" sz="2800" b="1" dirty="0">
                <a:latin typeface="Times New Roman" panose="02020603050405020304"/>
                <a:ea typeface="楷体_GB2312" panose="02010609030101010101" pitchFamily="49" charset="-122"/>
              </a:rPr>
              <a:t>——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BE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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50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kumimoji="1" lang="en-US" altLang="zh-CN" sz="2800" b="1" baseline="-10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=const</a:t>
            </a:r>
            <a:endParaRPr kumimoji="1" lang="en-US" altLang="zh-CN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0" hangingPunct="0">
              <a:lnSpc>
                <a:spcPct val="120000"/>
              </a:lnSpc>
            </a:pPr>
            <a:endParaRPr kumimoji="1" lang="en-US" altLang="zh-CN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09"/>
          <p:cNvGrpSpPr/>
          <p:nvPr/>
        </p:nvGrpSpPr>
        <p:grpSpPr bwMode="auto">
          <a:xfrm>
            <a:off x="1284400" y="1636712"/>
            <a:ext cx="4568825" cy="3584575"/>
            <a:chOff x="1243" y="1254"/>
            <a:chExt cx="2878" cy="2258"/>
          </a:xfrm>
        </p:grpSpPr>
        <p:grpSp>
          <p:nvGrpSpPr>
            <p:cNvPr id="4" name="Group 910"/>
            <p:cNvGrpSpPr/>
            <p:nvPr/>
          </p:nvGrpSpPr>
          <p:grpSpPr bwMode="auto">
            <a:xfrm>
              <a:off x="1243" y="1254"/>
              <a:ext cx="2876" cy="2258"/>
              <a:chOff x="1243" y="1254"/>
              <a:chExt cx="2876" cy="2258"/>
            </a:xfrm>
          </p:grpSpPr>
          <p:graphicFrame>
            <p:nvGraphicFramePr>
              <p:cNvPr id="9" name="Object 86"/>
              <p:cNvGraphicFramePr>
                <a:graphicFrameLocks noChangeAspect="1"/>
              </p:cNvGraphicFramePr>
              <p:nvPr/>
            </p:nvGraphicFramePr>
            <p:xfrm>
              <a:off x="1243" y="1254"/>
              <a:ext cx="2876" cy="2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BMP 图象" r:id="rId1" imgW="4523740" imgH="3258820" progId="Paint.Picture">
                      <p:embed/>
                    </p:oleObj>
                  </mc:Choice>
                  <mc:Fallback>
                    <p:oleObj name="BMP 图象" r:id="rId1" imgW="4523740" imgH="3258820" progId="Paint.Picture">
                      <p:embed/>
                      <p:pic>
                        <p:nvPicPr>
                          <p:cNvPr id="0" name="Object 8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3" y="1254"/>
                            <a:ext cx="2876" cy="2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 Box 87"/>
              <p:cNvSpPr>
                <a:spLocks noChangeArrowheads="1"/>
              </p:cNvSpPr>
              <p:nvPr/>
            </p:nvSpPr>
            <p:spPr bwMode="auto">
              <a:xfrm>
                <a:off x="2231" y="1954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+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1" name="Text Box 88"/>
              <p:cNvSpPr>
                <a:spLocks noChangeArrowheads="1"/>
              </p:cNvSpPr>
              <p:nvPr/>
            </p:nvSpPr>
            <p:spPr bwMode="auto">
              <a:xfrm>
                <a:off x="2143" y="1786"/>
                <a:ext cx="28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b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2" name="Text Box 89"/>
              <p:cNvSpPr>
                <a:spLocks noChangeArrowheads="1"/>
              </p:cNvSpPr>
              <p:nvPr/>
            </p:nvSpPr>
            <p:spPr bwMode="auto">
              <a:xfrm>
                <a:off x="2608" y="1465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c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3" name="Text Box 90"/>
              <p:cNvSpPr>
                <a:spLocks noChangeArrowheads="1"/>
              </p:cNvSpPr>
              <p:nvPr/>
            </p:nvSpPr>
            <p:spPr bwMode="auto">
              <a:xfrm>
                <a:off x="2608" y="2250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e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4" name="Text Box 91"/>
              <p:cNvSpPr>
                <a:spLocks noChangeArrowheads="1"/>
              </p:cNvSpPr>
              <p:nvPr/>
            </p:nvSpPr>
            <p:spPr bwMode="auto">
              <a:xfrm>
                <a:off x="1570" y="2356"/>
                <a:ext cx="38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BB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5" name="Text Box 92"/>
              <p:cNvSpPr>
                <a:spLocks noChangeArrowheads="1"/>
              </p:cNvSpPr>
              <p:nvPr/>
            </p:nvSpPr>
            <p:spPr bwMode="auto">
              <a:xfrm>
                <a:off x="3200" y="2107"/>
                <a:ext cx="38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CC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6" name="Text Box 93"/>
              <p:cNvSpPr>
                <a:spLocks noChangeArrowheads="1"/>
              </p:cNvSpPr>
              <p:nvPr/>
            </p:nvSpPr>
            <p:spPr bwMode="auto">
              <a:xfrm>
                <a:off x="2255" y="2079"/>
                <a:ext cx="3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BE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7" name="Text Box 94"/>
              <p:cNvSpPr>
                <a:spLocks noChangeArrowheads="1"/>
              </p:cNvSpPr>
              <p:nvPr/>
            </p:nvSpPr>
            <p:spPr bwMode="auto">
              <a:xfrm>
                <a:off x="2911" y="1441"/>
                <a:ext cx="3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  <a:sym typeface="Kingsoft Phonetic Plain"/>
                  </a:rPr>
                  <a:t>i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C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8" name="Text Box 95"/>
              <p:cNvSpPr>
                <a:spLocks noChangeArrowheads="1"/>
              </p:cNvSpPr>
              <p:nvPr/>
            </p:nvSpPr>
            <p:spPr bwMode="auto">
              <a:xfrm>
                <a:off x="1876" y="1641"/>
                <a:ext cx="2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  <a:sym typeface="Kingsoft Phonetic Plain"/>
                  </a:rPr>
                  <a:t>i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grpSp>
            <p:nvGrpSpPr>
              <p:cNvPr id="19" name="Group 921"/>
              <p:cNvGrpSpPr/>
              <p:nvPr/>
            </p:nvGrpSpPr>
            <p:grpSpPr bwMode="auto">
              <a:xfrm>
                <a:off x="2708" y="1580"/>
                <a:ext cx="362" cy="870"/>
                <a:chOff x="4224" y="2112"/>
                <a:chExt cx="360" cy="790"/>
              </a:xfrm>
            </p:grpSpPr>
            <p:sp>
              <p:nvSpPr>
                <p:cNvPr id="21" name="Text Box 97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240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  <a:sym typeface="Symbol" panose="05050102010706020507" pitchFamily="18" charset="2"/>
                    </a:rPr>
                    <a:t>+</a:t>
                  </a:r>
                  <a:endParaRPr lang="en-US" altLang="zh-CN" sz="2400" b="1">
                    <a:ea typeface="新宋体" panose="02010609030101010101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22" name="Text Box 98"/>
                <p:cNvSpPr>
                  <a:spLocks noChangeArrowheads="1"/>
                </p:cNvSpPr>
                <p:nvPr/>
              </p:nvSpPr>
              <p:spPr bwMode="auto">
                <a:xfrm>
                  <a:off x="4272" y="2640"/>
                  <a:ext cx="192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  <a:sym typeface="Symbol" panose="05050102010706020507" pitchFamily="18" charset="2"/>
                    </a:rPr>
                    <a:t>-</a:t>
                  </a:r>
                  <a:endParaRPr lang="en-US" altLang="zh-CN" sz="2400" b="1">
                    <a:ea typeface="新宋体" panose="02010609030101010101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23" name="Text Box 99"/>
                <p:cNvSpPr>
                  <a:spLocks noChangeArrowheads="1"/>
                </p:cNvSpPr>
                <p:nvPr/>
              </p:nvSpPr>
              <p:spPr bwMode="auto">
                <a:xfrm>
                  <a:off x="4224" y="2352"/>
                  <a:ext cx="360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i="1">
                      <a:ea typeface="新宋体" panose="02010609030101010101" charset="-122"/>
                    </a:rPr>
                    <a:t>v</a:t>
                  </a:r>
                  <a:r>
                    <a:rPr lang="en-US" altLang="zh-CN" sz="2400" b="1" baseline="-25000">
                      <a:ea typeface="新宋体" panose="02010609030101010101" charset="-122"/>
                    </a:rPr>
                    <a:t>CE</a:t>
                  </a:r>
                  <a:endParaRPr lang="en-US" altLang="zh-CN" sz="2400" b="1" baseline="-25000">
                    <a:ea typeface="新宋体" panose="02010609030101010101" charset="-122"/>
                  </a:endParaRPr>
                </a:p>
              </p:txBody>
            </p:sp>
          </p:grpSp>
          <p:sp>
            <p:nvSpPr>
              <p:cNvPr id="20" name="Text Box 100"/>
              <p:cNvSpPr>
                <a:spLocks noChangeArrowheads="1"/>
              </p:cNvSpPr>
              <p:nvPr/>
            </p:nvSpPr>
            <p:spPr bwMode="auto">
              <a:xfrm>
                <a:off x="2480" y="2178"/>
                <a:ext cx="2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>
                    <a:ea typeface="新宋体" panose="02010609030101010101" charset="-122"/>
                  </a:rPr>
                  <a:t>-</a:t>
                </a:r>
                <a:endParaRPr lang="en-US" altLang="zh-CN" sz="2400">
                  <a:ea typeface="新宋体" panose="02010609030101010101" charset="-122"/>
                </a:endParaRPr>
              </a:p>
            </p:txBody>
          </p:sp>
        </p:grpSp>
        <p:sp>
          <p:nvSpPr>
            <p:cNvPr id="5" name="Rectangle 101"/>
            <p:cNvSpPr>
              <a:spLocks noChangeArrowheads="1"/>
            </p:cNvSpPr>
            <p:nvPr/>
          </p:nvSpPr>
          <p:spPr bwMode="auto">
            <a:xfrm>
              <a:off x="1435" y="2178"/>
              <a:ext cx="78" cy="249"/>
            </a:xfrm>
            <a:prstGeom prst="rect">
              <a:avLst/>
            </a:prstGeom>
            <a:solidFill>
              <a:srgbClr val="FFFFFF"/>
            </a:solidFill>
            <a:ln w="25400" cap="flat" algn="ctr">
              <a:solidFill>
                <a:srgbClr val="99336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6" name="Rectangle 102"/>
            <p:cNvSpPr>
              <a:spLocks noChangeArrowheads="1"/>
            </p:cNvSpPr>
            <p:nvPr/>
          </p:nvSpPr>
          <p:spPr bwMode="auto">
            <a:xfrm>
              <a:off x="3585" y="1680"/>
              <a:ext cx="78" cy="249"/>
            </a:xfrm>
            <a:prstGeom prst="rect">
              <a:avLst/>
            </a:prstGeom>
            <a:solidFill>
              <a:srgbClr val="FFFFFF"/>
            </a:solidFill>
            <a:ln w="25400" cap="flat" algn="ctr">
              <a:solidFill>
                <a:srgbClr val="99336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7" name="Text Box 103"/>
            <p:cNvSpPr>
              <a:spLocks noChangeArrowheads="1"/>
            </p:cNvSpPr>
            <p:nvPr/>
          </p:nvSpPr>
          <p:spPr bwMode="auto">
            <a:xfrm>
              <a:off x="1481" y="214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R</a:t>
              </a:r>
              <a:r>
                <a:rPr lang="en-US" altLang="zh-CN" sz="2400" b="1" baseline="-25000">
                  <a:ea typeface="新宋体" panose="02010609030101010101" charset="-122"/>
                </a:rPr>
                <a:t>b</a:t>
              </a:r>
              <a:endParaRPr lang="en-US" altLang="zh-CN" sz="2400" b="1" baseline="-25000">
                <a:ea typeface="新宋体" panose="02010609030101010101" charset="-122"/>
              </a:endParaRPr>
            </a:p>
          </p:txBody>
        </p:sp>
        <p:sp>
          <p:nvSpPr>
            <p:cNvPr id="8" name="Text Box 104"/>
            <p:cNvSpPr>
              <a:spLocks noChangeArrowheads="1"/>
            </p:cNvSpPr>
            <p:nvPr/>
          </p:nvSpPr>
          <p:spPr bwMode="auto">
            <a:xfrm>
              <a:off x="3649" y="1653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R</a:t>
              </a:r>
              <a:r>
                <a:rPr lang="en-US" altLang="zh-CN" sz="2400" b="1" baseline="-25000">
                  <a:ea typeface="新宋体" panose="02010609030101010101" charset="-122"/>
                </a:rPr>
                <a:t>c</a:t>
              </a:r>
              <a:endParaRPr lang="en-US" altLang="zh-CN" sz="2400" b="1" baseline="-25000">
                <a:ea typeface="新宋体" panose="02010609030101010101" charset="-122"/>
              </a:endParaRPr>
            </a:p>
          </p:txBody>
        </p:sp>
      </p:grpSp>
      <p:grpSp>
        <p:nvGrpSpPr>
          <p:cNvPr id="24" name="Group 930"/>
          <p:cNvGrpSpPr/>
          <p:nvPr/>
        </p:nvGrpSpPr>
        <p:grpSpPr bwMode="auto">
          <a:xfrm>
            <a:off x="4140313" y="1670050"/>
            <a:ext cx="885825" cy="458787"/>
            <a:chOff x="3242" y="825"/>
            <a:chExt cx="558" cy="289"/>
          </a:xfrm>
        </p:grpSpPr>
        <p:grpSp>
          <p:nvGrpSpPr>
            <p:cNvPr id="25" name="Group 931"/>
            <p:cNvGrpSpPr/>
            <p:nvPr/>
          </p:nvGrpSpPr>
          <p:grpSpPr bwMode="auto">
            <a:xfrm>
              <a:off x="3242" y="825"/>
              <a:ext cx="558" cy="251"/>
              <a:chOff x="3156" y="860"/>
              <a:chExt cx="558" cy="251"/>
            </a:xfrm>
          </p:grpSpPr>
          <p:sp>
            <p:nvSpPr>
              <p:cNvPr id="27" name="Oval 107"/>
              <p:cNvSpPr>
                <a:spLocks noChangeArrowheads="1"/>
              </p:cNvSpPr>
              <p:nvPr/>
            </p:nvSpPr>
            <p:spPr bwMode="auto">
              <a:xfrm>
                <a:off x="3302" y="927"/>
                <a:ext cx="198" cy="181"/>
              </a:xfrm>
              <a:prstGeom prst="ellipse">
                <a:avLst/>
              </a:prstGeom>
              <a:solidFill>
                <a:srgbClr val="FFFFFF"/>
              </a:solidFill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8" name="Text Box 108"/>
              <p:cNvSpPr>
                <a:spLocks noChangeArrowheads="1"/>
              </p:cNvSpPr>
              <p:nvPr/>
            </p:nvSpPr>
            <p:spPr bwMode="auto">
              <a:xfrm>
                <a:off x="3464" y="860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+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  <p:sp>
            <p:nvSpPr>
              <p:cNvPr id="29" name="Text Box 109"/>
              <p:cNvSpPr>
                <a:spLocks noChangeArrowheads="1"/>
              </p:cNvSpPr>
              <p:nvPr/>
            </p:nvSpPr>
            <p:spPr bwMode="auto">
              <a:xfrm>
                <a:off x="3156" y="861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-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</p:grpSp>
        <p:sp>
          <p:nvSpPr>
            <p:cNvPr id="26" name="Text Box 110"/>
            <p:cNvSpPr>
              <a:spLocks noChangeArrowheads="1"/>
            </p:cNvSpPr>
            <p:nvPr/>
          </p:nvSpPr>
          <p:spPr bwMode="auto">
            <a:xfrm>
              <a:off x="3371" y="82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A</a:t>
              </a:r>
              <a:endParaRPr lang="en-US" altLang="zh-CN" sz="2400" b="1">
                <a:ea typeface="新宋体" panose="02010609030101010101" charset="-122"/>
              </a:endParaRPr>
            </a:p>
          </p:txBody>
        </p:sp>
      </p:grpSp>
      <p:grpSp>
        <p:nvGrpSpPr>
          <p:cNvPr id="30" name="Group 936"/>
          <p:cNvGrpSpPr/>
          <p:nvPr/>
        </p:nvGrpSpPr>
        <p:grpSpPr bwMode="auto">
          <a:xfrm>
            <a:off x="1674925" y="2601912"/>
            <a:ext cx="885825" cy="458788"/>
            <a:chOff x="3242" y="825"/>
            <a:chExt cx="558" cy="289"/>
          </a:xfrm>
        </p:grpSpPr>
        <p:grpSp>
          <p:nvGrpSpPr>
            <p:cNvPr id="31" name="Group 937"/>
            <p:cNvGrpSpPr/>
            <p:nvPr/>
          </p:nvGrpSpPr>
          <p:grpSpPr bwMode="auto">
            <a:xfrm>
              <a:off x="3242" y="825"/>
              <a:ext cx="558" cy="251"/>
              <a:chOff x="3156" y="860"/>
              <a:chExt cx="558" cy="251"/>
            </a:xfrm>
          </p:grpSpPr>
          <p:sp>
            <p:nvSpPr>
              <p:cNvPr id="33" name="Oval 113"/>
              <p:cNvSpPr>
                <a:spLocks noChangeArrowheads="1"/>
              </p:cNvSpPr>
              <p:nvPr/>
            </p:nvSpPr>
            <p:spPr bwMode="auto">
              <a:xfrm>
                <a:off x="3302" y="927"/>
                <a:ext cx="198" cy="181"/>
              </a:xfrm>
              <a:prstGeom prst="ellipse">
                <a:avLst/>
              </a:prstGeom>
              <a:solidFill>
                <a:srgbClr val="FFFFFF"/>
              </a:solidFill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34" name="Text Box 114"/>
              <p:cNvSpPr>
                <a:spLocks noChangeArrowheads="1"/>
              </p:cNvSpPr>
              <p:nvPr/>
            </p:nvSpPr>
            <p:spPr bwMode="auto">
              <a:xfrm>
                <a:off x="3464" y="860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-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  <p:sp>
            <p:nvSpPr>
              <p:cNvPr id="35" name="Text Box 115"/>
              <p:cNvSpPr>
                <a:spLocks noChangeArrowheads="1"/>
              </p:cNvSpPr>
              <p:nvPr/>
            </p:nvSpPr>
            <p:spPr bwMode="auto">
              <a:xfrm>
                <a:off x="3156" y="861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+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</p:grpSp>
        <p:sp>
          <p:nvSpPr>
            <p:cNvPr id="32" name="Text Box 116"/>
            <p:cNvSpPr>
              <a:spLocks noChangeArrowheads="1"/>
            </p:cNvSpPr>
            <p:nvPr/>
          </p:nvSpPr>
          <p:spPr bwMode="auto">
            <a:xfrm>
              <a:off x="3371" y="82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A</a:t>
              </a:r>
              <a:endParaRPr lang="en-US" altLang="zh-CN" sz="2400" b="1">
                <a:ea typeface="新宋体" panose="02010609030101010101" charset="-122"/>
              </a:endParaRPr>
            </a:p>
          </p:txBody>
        </p:sp>
      </p:grpSp>
      <p:sp>
        <p:nvSpPr>
          <p:cNvPr id="36" name="Text Box 137"/>
          <p:cNvSpPr>
            <a:spLocks noChangeArrowheads="1"/>
          </p:cNvSpPr>
          <p:nvPr/>
        </p:nvSpPr>
        <p:spPr bwMode="auto">
          <a:xfrm>
            <a:off x="142722" y="5341143"/>
            <a:ext cx="7700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输入回路：由基极和发射极组成的回路。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7" name="Text Box 138"/>
          <p:cNvSpPr>
            <a:spLocks noChangeArrowheads="1"/>
          </p:cNvSpPr>
          <p:nvPr/>
        </p:nvSpPr>
        <p:spPr bwMode="auto">
          <a:xfrm>
            <a:off x="142722" y="5964238"/>
            <a:ext cx="7700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输出回路：由集电极和发射极组成的回路。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38" name="Group 944"/>
          <p:cNvGrpSpPr/>
          <p:nvPr/>
        </p:nvGrpSpPr>
        <p:grpSpPr bwMode="auto">
          <a:xfrm>
            <a:off x="2145618" y="3103555"/>
            <a:ext cx="1020763" cy="1312863"/>
            <a:chOff x="1838" y="1838"/>
            <a:chExt cx="643" cy="827"/>
          </a:xfrm>
        </p:grpSpPr>
        <p:grpSp>
          <p:nvGrpSpPr>
            <p:cNvPr id="39" name="Group 945"/>
            <p:cNvGrpSpPr/>
            <p:nvPr/>
          </p:nvGrpSpPr>
          <p:grpSpPr bwMode="auto">
            <a:xfrm>
              <a:off x="1938" y="1838"/>
              <a:ext cx="512" cy="713"/>
              <a:chOff x="1911" y="1883"/>
              <a:chExt cx="512" cy="713"/>
            </a:xfrm>
          </p:grpSpPr>
          <p:sp>
            <p:nvSpPr>
              <p:cNvPr id="45" name="Arc 141"/>
              <p:cNvSpPr/>
              <p:nvPr/>
            </p:nvSpPr>
            <p:spPr bwMode="auto">
              <a:xfrm>
                <a:off x="1911" y="1883"/>
                <a:ext cx="512" cy="713"/>
              </a:xfrm>
              <a:custGeom>
                <a:avLst/>
                <a:gdLst>
                  <a:gd name="T0" fmla="*/ -1 w 21600"/>
                  <a:gd name="T1" fmla="*/ 0 h 21600"/>
                  <a:gd name="T2" fmla="*/ 21600 w 21600"/>
                  <a:gd name="T3" fmla="*/ 21600 h 21600"/>
                  <a:gd name="T4" fmla="*/ -1 w 21600"/>
                  <a:gd name="T5" fmla="*/ 0 h 21600"/>
                  <a:gd name="T6" fmla="*/ 2160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46" name="Line 142"/>
              <p:cNvSpPr>
                <a:spLocks noChangeShapeType="1"/>
              </p:cNvSpPr>
              <p:nvPr/>
            </p:nvSpPr>
            <p:spPr bwMode="auto">
              <a:xfrm>
                <a:off x="2249" y="2075"/>
                <a:ext cx="92" cy="128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" name="Group 948"/>
            <p:cNvGrpSpPr/>
            <p:nvPr/>
          </p:nvGrpSpPr>
          <p:grpSpPr bwMode="auto">
            <a:xfrm>
              <a:off x="1838" y="1848"/>
              <a:ext cx="643" cy="817"/>
              <a:chOff x="1838" y="1848"/>
              <a:chExt cx="643" cy="817"/>
            </a:xfrm>
          </p:grpSpPr>
          <p:sp>
            <p:nvSpPr>
              <p:cNvPr id="41" name="Rectangle 144"/>
              <p:cNvSpPr>
                <a:spLocks noChangeArrowheads="1"/>
              </p:cNvSpPr>
              <p:nvPr/>
            </p:nvSpPr>
            <p:spPr bwMode="auto">
              <a:xfrm>
                <a:off x="1838" y="1848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输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2" name="Rectangle 145"/>
              <p:cNvSpPr>
                <a:spLocks noChangeArrowheads="1"/>
              </p:cNvSpPr>
              <p:nvPr/>
            </p:nvSpPr>
            <p:spPr bwMode="auto">
              <a:xfrm>
                <a:off x="2029" y="1977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入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3" name="Rectangle 146"/>
              <p:cNvSpPr>
                <a:spLocks noChangeArrowheads="1"/>
              </p:cNvSpPr>
              <p:nvPr/>
            </p:nvSpPr>
            <p:spPr bwMode="auto">
              <a:xfrm>
                <a:off x="2139" y="2169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回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4" name="Rectangle 147"/>
              <p:cNvSpPr>
                <a:spLocks noChangeArrowheads="1"/>
              </p:cNvSpPr>
              <p:nvPr/>
            </p:nvSpPr>
            <p:spPr bwMode="auto">
              <a:xfrm>
                <a:off x="2204" y="2415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路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</p:grpSp>
      </p:grpSp>
      <p:grpSp>
        <p:nvGrpSpPr>
          <p:cNvPr id="47" name="Group 953"/>
          <p:cNvGrpSpPr/>
          <p:nvPr/>
        </p:nvGrpSpPr>
        <p:grpSpPr bwMode="auto">
          <a:xfrm>
            <a:off x="3749788" y="2309812"/>
            <a:ext cx="874712" cy="1843088"/>
            <a:chOff x="2789" y="1390"/>
            <a:chExt cx="551" cy="1161"/>
          </a:xfrm>
        </p:grpSpPr>
        <p:grpSp>
          <p:nvGrpSpPr>
            <p:cNvPr id="48" name="Group 954"/>
            <p:cNvGrpSpPr/>
            <p:nvPr/>
          </p:nvGrpSpPr>
          <p:grpSpPr bwMode="auto">
            <a:xfrm>
              <a:off x="2807" y="1390"/>
              <a:ext cx="457" cy="1161"/>
              <a:chOff x="2807" y="1390"/>
              <a:chExt cx="457" cy="1161"/>
            </a:xfrm>
          </p:grpSpPr>
          <p:sp>
            <p:nvSpPr>
              <p:cNvPr id="54" name="Arc 150"/>
              <p:cNvSpPr/>
              <p:nvPr/>
            </p:nvSpPr>
            <p:spPr bwMode="auto">
              <a:xfrm flipH="1">
                <a:off x="2807" y="1390"/>
                <a:ext cx="457" cy="1161"/>
              </a:xfrm>
              <a:custGeom>
                <a:avLst/>
                <a:gdLst>
                  <a:gd name="T0" fmla="*/ -1 w 21600"/>
                  <a:gd name="T1" fmla="*/ 0 h 21600"/>
                  <a:gd name="T2" fmla="*/ 21600 w 21600"/>
                  <a:gd name="T3" fmla="*/ 21600 h 21600"/>
                  <a:gd name="T4" fmla="*/ -1 w 21600"/>
                  <a:gd name="T5" fmla="*/ 0 h 21600"/>
                  <a:gd name="T6" fmla="*/ 2160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55" name="Line 151"/>
              <p:cNvSpPr>
                <a:spLocks noChangeShapeType="1"/>
              </p:cNvSpPr>
              <p:nvPr/>
            </p:nvSpPr>
            <p:spPr bwMode="auto">
              <a:xfrm flipH="1">
                <a:off x="2816" y="2002"/>
                <a:ext cx="46" cy="311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" name="Group 957"/>
            <p:cNvGrpSpPr/>
            <p:nvPr/>
          </p:nvGrpSpPr>
          <p:grpSpPr bwMode="auto">
            <a:xfrm>
              <a:off x="2789" y="1411"/>
              <a:ext cx="551" cy="1072"/>
              <a:chOff x="2789" y="1411"/>
              <a:chExt cx="551" cy="1072"/>
            </a:xfrm>
          </p:grpSpPr>
          <p:sp>
            <p:nvSpPr>
              <p:cNvPr id="50" name="Rectangle 153"/>
              <p:cNvSpPr>
                <a:spLocks noChangeArrowheads="1"/>
              </p:cNvSpPr>
              <p:nvPr/>
            </p:nvSpPr>
            <p:spPr bwMode="auto">
              <a:xfrm>
                <a:off x="3063" y="1411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输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1" name="Rectangle 154"/>
              <p:cNvSpPr>
                <a:spLocks noChangeArrowheads="1"/>
              </p:cNvSpPr>
              <p:nvPr/>
            </p:nvSpPr>
            <p:spPr bwMode="auto">
              <a:xfrm>
                <a:off x="2917" y="1629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出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2" name="Rectangle 155"/>
              <p:cNvSpPr>
                <a:spLocks noChangeArrowheads="1"/>
              </p:cNvSpPr>
              <p:nvPr/>
            </p:nvSpPr>
            <p:spPr bwMode="auto">
              <a:xfrm>
                <a:off x="2826" y="1912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回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3" name="Rectangle 156"/>
              <p:cNvSpPr>
                <a:spLocks noChangeArrowheads="1"/>
              </p:cNvSpPr>
              <p:nvPr/>
            </p:nvSpPr>
            <p:spPr bwMode="auto">
              <a:xfrm>
                <a:off x="2789" y="2233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路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</p:grpSp>
      </p:grpSp>
      <p:sp>
        <p:nvSpPr>
          <p:cNvPr id="56" name="Text Box 83"/>
          <p:cNvSpPr>
            <a:spLocks noChangeArrowheads="1"/>
          </p:cNvSpPr>
          <p:nvPr/>
        </p:nvSpPr>
        <p:spPr bwMode="auto">
          <a:xfrm>
            <a:off x="472395" y="776911"/>
            <a:ext cx="3065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）测量电路</a:t>
            </a:r>
            <a:endParaRPr lang="zh-CN" altLang="en-US" sz="2800" b="1" dirty="0">
              <a:solidFill>
                <a:srgbClr val="FF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7" name="Text Box 80"/>
          <p:cNvSpPr>
            <a:spLocks noChangeArrowheads="1"/>
          </p:cNvSpPr>
          <p:nvPr/>
        </p:nvSpPr>
        <p:spPr bwMode="auto">
          <a:xfrm>
            <a:off x="1743982" y="1331460"/>
            <a:ext cx="739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>
              <a:solidFill>
                <a:srgbClr val="FF0000"/>
              </a:solidFill>
              <a:ea typeface="新宋体" panose="02010609030101010101" charset="-122"/>
            </a:endParaRPr>
          </a:p>
        </p:txBody>
      </p:sp>
      <p:sp>
        <p:nvSpPr>
          <p:cNvPr id="59" name="Text Box 169"/>
          <p:cNvSpPr>
            <a:spLocks noChangeArrowheads="1"/>
          </p:cNvSpPr>
          <p:nvPr/>
        </p:nvSpPr>
        <p:spPr bwMode="auto">
          <a:xfrm>
            <a:off x="2779825" y="668338"/>
            <a:ext cx="3514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i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ea typeface="新宋体" panose="02010609030101010101" charset="-122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(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BE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  <a:sym typeface="Symbol" panose="05050102010706020507" pitchFamily="18" charset="2"/>
              </a:rPr>
              <a:t>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baseline="-10000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2400" b="1" baseline="-30000" dirty="0" err="1">
                <a:solidFill>
                  <a:srgbClr val="FF0000"/>
                </a:solidFill>
                <a:ea typeface="新宋体" panose="02010609030101010101" charset="-122"/>
              </a:rPr>
              <a:t>CE</a:t>
            </a:r>
            <a:r>
              <a:rPr lang="en-US" altLang="zh-CN" sz="3200" b="1" baseline="-10000" dirty="0">
                <a:solidFill>
                  <a:srgbClr val="FF0000"/>
                </a:solidFill>
                <a:ea typeface="新宋体" panose="02010609030101010101" charset="-122"/>
              </a:rPr>
              <a:t>=const</a:t>
            </a:r>
            <a:endParaRPr lang="en-US" altLang="zh-CN" sz="3200" b="1" baseline="-10000" dirty="0">
              <a:solidFill>
                <a:srgbClr val="FF0000"/>
              </a:solidFill>
              <a:ea typeface="新宋体" panose="02010609030101010101" charset="-122"/>
            </a:endParaRPr>
          </a:p>
        </p:txBody>
      </p:sp>
      <p:grpSp>
        <p:nvGrpSpPr>
          <p:cNvPr id="60" name="Group 966"/>
          <p:cNvGrpSpPr/>
          <p:nvPr/>
        </p:nvGrpSpPr>
        <p:grpSpPr bwMode="auto">
          <a:xfrm>
            <a:off x="5040425" y="1922462"/>
            <a:ext cx="1392238" cy="2568575"/>
            <a:chOff x="3392" y="1557"/>
            <a:chExt cx="877" cy="1618"/>
          </a:xfrm>
        </p:grpSpPr>
        <p:grpSp>
          <p:nvGrpSpPr>
            <p:cNvPr id="61" name="Group 967"/>
            <p:cNvGrpSpPr/>
            <p:nvPr/>
          </p:nvGrpSpPr>
          <p:grpSpPr bwMode="auto">
            <a:xfrm>
              <a:off x="3392" y="1557"/>
              <a:ext cx="877" cy="1618"/>
              <a:chOff x="3602" y="1436"/>
              <a:chExt cx="877" cy="1618"/>
            </a:xfrm>
          </p:grpSpPr>
          <p:grpSp>
            <p:nvGrpSpPr>
              <p:cNvPr id="63" name="Group 968"/>
              <p:cNvGrpSpPr/>
              <p:nvPr/>
            </p:nvGrpSpPr>
            <p:grpSpPr bwMode="auto">
              <a:xfrm>
                <a:off x="3602" y="1436"/>
                <a:ext cx="535" cy="1618"/>
                <a:chOff x="3602" y="1436"/>
                <a:chExt cx="535" cy="1618"/>
              </a:xfrm>
            </p:grpSpPr>
            <p:sp>
              <p:nvSpPr>
                <p:cNvPr id="69" name="Line 119"/>
                <p:cNvSpPr>
                  <a:spLocks noChangeShapeType="1"/>
                </p:cNvSpPr>
                <p:nvPr/>
              </p:nvSpPr>
              <p:spPr bwMode="auto">
                <a:xfrm>
                  <a:off x="3602" y="1436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Line 120"/>
                <p:cNvSpPr>
                  <a:spLocks noChangeShapeType="1"/>
                </p:cNvSpPr>
                <p:nvPr/>
              </p:nvSpPr>
              <p:spPr bwMode="auto">
                <a:xfrm>
                  <a:off x="3604" y="3054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121"/>
                <p:cNvSpPr>
                  <a:spLocks noChangeShapeType="1"/>
                </p:cNvSpPr>
                <p:nvPr/>
              </p:nvSpPr>
              <p:spPr bwMode="auto">
                <a:xfrm>
                  <a:off x="4135" y="1444"/>
                  <a:ext cx="0" cy="1608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" name="Group 972"/>
              <p:cNvGrpSpPr/>
              <p:nvPr/>
            </p:nvGrpSpPr>
            <p:grpSpPr bwMode="auto">
              <a:xfrm>
                <a:off x="4012" y="1876"/>
                <a:ext cx="467" cy="603"/>
                <a:chOff x="4744" y="1863"/>
                <a:chExt cx="467" cy="603"/>
              </a:xfrm>
            </p:grpSpPr>
            <p:sp>
              <p:nvSpPr>
                <p:cNvPr id="65" name="Oval 123"/>
                <p:cNvSpPr>
                  <a:spLocks noChangeArrowheads="1"/>
                </p:cNvSpPr>
                <p:nvPr/>
              </p:nvSpPr>
              <p:spPr bwMode="auto">
                <a:xfrm>
                  <a:off x="4771" y="2074"/>
                  <a:ext cx="189" cy="207"/>
                </a:xfrm>
                <a:prstGeom prst="ellips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66" name="Text Box 124"/>
                <p:cNvSpPr>
                  <a:spLocks noChangeArrowheads="1"/>
                </p:cNvSpPr>
                <p:nvPr/>
              </p:nvSpPr>
              <p:spPr bwMode="auto">
                <a:xfrm>
                  <a:off x="4744" y="2034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U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sp>
              <p:nvSpPr>
                <p:cNvPr id="67" name="Text Box 125"/>
                <p:cNvSpPr>
                  <a:spLocks noChangeArrowheads="1"/>
                </p:cNvSpPr>
                <p:nvPr/>
              </p:nvSpPr>
              <p:spPr bwMode="auto">
                <a:xfrm>
                  <a:off x="4849" y="1863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+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sp>
              <p:nvSpPr>
                <p:cNvPr id="68" name="Text Box 126"/>
                <p:cNvSpPr>
                  <a:spLocks noChangeArrowheads="1"/>
                </p:cNvSpPr>
                <p:nvPr/>
              </p:nvSpPr>
              <p:spPr bwMode="auto">
                <a:xfrm>
                  <a:off x="4885" y="2178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-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</p:grpSp>
        </p:grpSp>
        <p:sp>
          <p:nvSpPr>
            <p:cNvPr id="62" name="Text Box 170"/>
            <p:cNvSpPr>
              <a:spLocks noChangeArrowheads="1"/>
            </p:cNvSpPr>
            <p:nvPr/>
          </p:nvSpPr>
          <p:spPr bwMode="auto">
            <a:xfrm>
              <a:off x="3628" y="2349"/>
              <a:ext cx="3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CE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grpSp>
        <p:nvGrpSpPr>
          <p:cNvPr id="72" name="Group 978"/>
          <p:cNvGrpSpPr/>
          <p:nvPr/>
        </p:nvGrpSpPr>
        <p:grpSpPr bwMode="auto">
          <a:xfrm>
            <a:off x="208075" y="2898775"/>
            <a:ext cx="1463675" cy="1595437"/>
            <a:chOff x="348" y="2172"/>
            <a:chExt cx="922" cy="1005"/>
          </a:xfrm>
        </p:grpSpPr>
        <p:grpSp>
          <p:nvGrpSpPr>
            <p:cNvPr id="73" name="Group 979"/>
            <p:cNvGrpSpPr/>
            <p:nvPr/>
          </p:nvGrpSpPr>
          <p:grpSpPr bwMode="auto">
            <a:xfrm>
              <a:off x="572" y="2172"/>
              <a:ext cx="698" cy="1005"/>
              <a:chOff x="775" y="2051"/>
              <a:chExt cx="698" cy="1005"/>
            </a:xfrm>
          </p:grpSpPr>
          <p:sp>
            <p:nvSpPr>
              <p:cNvPr id="75" name="Line 128"/>
              <p:cNvSpPr>
                <a:spLocks noChangeShapeType="1"/>
              </p:cNvSpPr>
              <p:nvPr/>
            </p:nvSpPr>
            <p:spPr bwMode="auto">
              <a:xfrm>
                <a:off x="940" y="3056"/>
                <a:ext cx="533" cy="0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129"/>
              <p:cNvSpPr>
                <a:spLocks noChangeShapeType="1"/>
              </p:cNvSpPr>
              <p:nvPr/>
            </p:nvSpPr>
            <p:spPr bwMode="auto">
              <a:xfrm>
                <a:off x="933" y="2051"/>
                <a:ext cx="533" cy="0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7" name="Group 982"/>
              <p:cNvGrpSpPr/>
              <p:nvPr/>
            </p:nvGrpSpPr>
            <p:grpSpPr bwMode="auto">
              <a:xfrm>
                <a:off x="775" y="2178"/>
                <a:ext cx="353" cy="603"/>
                <a:chOff x="613" y="2178"/>
                <a:chExt cx="353" cy="603"/>
              </a:xfrm>
            </p:grpSpPr>
            <p:sp>
              <p:nvSpPr>
                <p:cNvPr id="79" name="Text Box 131"/>
                <p:cNvSpPr>
                  <a:spLocks noChangeArrowheads="1"/>
                </p:cNvSpPr>
                <p:nvPr/>
              </p:nvSpPr>
              <p:spPr bwMode="auto">
                <a:xfrm>
                  <a:off x="661" y="2349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U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grpSp>
              <p:nvGrpSpPr>
                <p:cNvPr id="80" name="Group 984"/>
                <p:cNvGrpSpPr/>
                <p:nvPr/>
              </p:nvGrpSpPr>
              <p:grpSpPr bwMode="auto">
                <a:xfrm>
                  <a:off x="613" y="2178"/>
                  <a:ext cx="353" cy="603"/>
                  <a:chOff x="613" y="2178"/>
                  <a:chExt cx="353" cy="603"/>
                </a:xfrm>
              </p:grpSpPr>
              <p:sp>
                <p:nvSpPr>
                  <p:cNvPr id="81" name="Oval 133"/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389"/>
                    <a:ext cx="189" cy="207"/>
                  </a:xfrm>
                  <a:prstGeom prst="ellips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82" name="Text Box 134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178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+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83" name="Text Box 135"/>
                  <p:cNvSpPr>
                    <a:spLocks noChangeArrowheads="1"/>
                  </p:cNvSpPr>
                  <p:nvPr/>
                </p:nvSpPr>
                <p:spPr bwMode="auto">
                  <a:xfrm>
                    <a:off x="640" y="2493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-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</p:grpSp>
          </p:grpSp>
          <p:sp>
            <p:nvSpPr>
              <p:cNvPr id="78" name="Line 136"/>
              <p:cNvSpPr>
                <a:spLocks noChangeShapeType="1"/>
              </p:cNvSpPr>
              <p:nvPr/>
            </p:nvSpPr>
            <p:spPr bwMode="auto">
              <a:xfrm>
                <a:off x="946" y="2055"/>
                <a:ext cx="0" cy="997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Rectangle 172"/>
            <p:cNvSpPr>
              <a:spLocks noChangeArrowheads="1"/>
            </p:cNvSpPr>
            <p:nvPr/>
          </p:nvSpPr>
          <p:spPr bwMode="auto">
            <a:xfrm>
              <a:off x="348" y="2482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BE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sp>
        <p:nvSpPr>
          <p:cNvPr id="5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Box 113"/>
          <p:cNvSpPr>
            <a:spLocks noChangeArrowheads="1"/>
          </p:cNvSpPr>
          <p:nvPr/>
        </p:nvSpPr>
        <p:spPr bwMode="auto">
          <a:xfrm>
            <a:off x="6187980" y="642962"/>
            <a:ext cx="6091656" cy="1284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=0V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时，相当于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短接，表现为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结的正向伏安特性曲线。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85" name="Object 186"/>
          <p:cNvGraphicFramePr>
            <a:graphicFrameLocks noChangeAspect="1"/>
          </p:cNvGraphicFramePr>
          <p:nvPr/>
        </p:nvGraphicFramePr>
        <p:xfrm>
          <a:off x="7501579" y="2256518"/>
          <a:ext cx="3875921" cy="3878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位图图像" r:id="rId3" imgW="2419350" imgH="2266950" progId="Paint.Picture">
                  <p:embed/>
                </p:oleObj>
              </mc:Choice>
              <mc:Fallback>
                <p:oleObj name="位图图像" r:id="rId3" imgW="2419350" imgH="2266950" progId="Paint.Picture">
                  <p:embed/>
                  <p:pic>
                    <p:nvPicPr>
                      <p:cNvPr id="0" name="Object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1579" y="2256518"/>
                        <a:ext cx="3875921" cy="3878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grpId="0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childTnLst>
                                    <p:set>
                                      <p:cBhvr additive="base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3" fill="hold" grpId="0" nodeType="clickEffect">
                                  <p:childTnLst>
                                    <p:set>
                                      <p:cBhvr additive="base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3" fill="hold" nodeType="clickEffect">
                                  <p:childTnLst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7" grpId="0" bldLvl="0" animBg="1"/>
      <p:bldP spid="56" grpId="0" bldLvl="0" animBg="1"/>
      <p:bldP spid="59" grpId="0" bldLvl="0" animBg="1"/>
      <p:bldP spid="8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09"/>
          <p:cNvGrpSpPr/>
          <p:nvPr/>
        </p:nvGrpSpPr>
        <p:grpSpPr bwMode="auto">
          <a:xfrm>
            <a:off x="1284400" y="1636712"/>
            <a:ext cx="4568825" cy="3584575"/>
            <a:chOff x="1243" y="1254"/>
            <a:chExt cx="2878" cy="2258"/>
          </a:xfrm>
        </p:grpSpPr>
        <p:grpSp>
          <p:nvGrpSpPr>
            <p:cNvPr id="4" name="Group 910"/>
            <p:cNvGrpSpPr/>
            <p:nvPr/>
          </p:nvGrpSpPr>
          <p:grpSpPr bwMode="auto">
            <a:xfrm>
              <a:off x="1243" y="1254"/>
              <a:ext cx="2876" cy="2258"/>
              <a:chOff x="1243" y="1254"/>
              <a:chExt cx="2876" cy="2258"/>
            </a:xfrm>
          </p:grpSpPr>
          <p:graphicFrame>
            <p:nvGraphicFramePr>
              <p:cNvPr id="9" name="Object 86"/>
              <p:cNvGraphicFramePr>
                <a:graphicFrameLocks noChangeAspect="1"/>
              </p:cNvGraphicFramePr>
              <p:nvPr/>
            </p:nvGraphicFramePr>
            <p:xfrm>
              <a:off x="1243" y="1254"/>
              <a:ext cx="2876" cy="2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BMP 图象" r:id="rId1" imgW="4523740" imgH="3258820" progId="Paint.Picture">
                      <p:embed/>
                    </p:oleObj>
                  </mc:Choice>
                  <mc:Fallback>
                    <p:oleObj name="BMP 图象" r:id="rId1" imgW="4523740" imgH="3258820" progId="Paint.Picture">
                      <p:embed/>
                      <p:pic>
                        <p:nvPicPr>
                          <p:cNvPr id="0" name="Object 8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3" y="1254"/>
                            <a:ext cx="2876" cy="2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 Box 87"/>
              <p:cNvSpPr>
                <a:spLocks noChangeArrowheads="1"/>
              </p:cNvSpPr>
              <p:nvPr/>
            </p:nvSpPr>
            <p:spPr bwMode="auto">
              <a:xfrm>
                <a:off x="2231" y="1954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+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1" name="Text Box 88"/>
              <p:cNvSpPr>
                <a:spLocks noChangeArrowheads="1"/>
              </p:cNvSpPr>
              <p:nvPr/>
            </p:nvSpPr>
            <p:spPr bwMode="auto">
              <a:xfrm>
                <a:off x="2143" y="1786"/>
                <a:ext cx="28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b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2" name="Text Box 89"/>
              <p:cNvSpPr>
                <a:spLocks noChangeArrowheads="1"/>
              </p:cNvSpPr>
              <p:nvPr/>
            </p:nvSpPr>
            <p:spPr bwMode="auto">
              <a:xfrm>
                <a:off x="2608" y="1465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c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3" name="Text Box 90"/>
              <p:cNvSpPr>
                <a:spLocks noChangeArrowheads="1"/>
              </p:cNvSpPr>
              <p:nvPr/>
            </p:nvSpPr>
            <p:spPr bwMode="auto">
              <a:xfrm>
                <a:off x="2608" y="2250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e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4" name="Text Box 91"/>
              <p:cNvSpPr>
                <a:spLocks noChangeArrowheads="1"/>
              </p:cNvSpPr>
              <p:nvPr/>
            </p:nvSpPr>
            <p:spPr bwMode="auto">
              <a:xfrm>
                <a:off x="1570" y="2356"/>
                <a:ext cx="38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BB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5" name="Text Box 92"/>
              <p:cNvSpPr>
                <a:spLocks noChangeArrowheads="1"/>
              </p:cNvSpPr>
              <p:nvPr/>
            </p:nvSpPr>
            <p:spPr bwMode="auto">
              <a:xfrm>
                <a:off x="3200" y="2107"/>
                <a:ext cx="38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CC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6" name="Text Box 93"/>
              <p:cNvSpPr>
                <a:spLocks noChangeArrowheads="1"/>
              </p:cNvSpPr>
              <p:nvPr/>
            </p:nvSpPr>
            <p:spPr bwMode="auto">
              <a:xfrm>
                <a:off x="2255" y="2079"/>
                <a:ext cx="3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BE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7" name="Text Box 94"/>
              <p:cNvSpPr>
                <a:spLocks noChangeArrowheads="1"/>
              </p:cNvSpPr>
              <p:nvPr/>
            </p:nvSpPr>
            <p:spPr bwMode="auto">
              <a:xfrm>
                <a:off x="2911" y="1441"/>
                <a:ext cx="3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  <a:sym typeface="Kingsoft Phonetic Plain"/>
                  </a:rPr>
                  <a:t>i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C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8" name="Text Box 95"/>
              <p:cNvSpPr>
                <a:spLocks noChangeArrowheads="1"/>
              </p:cNvSpPr>
              <p:nvPr/>
            </p:nvSpPr>
            <p:spPr bwMode="auto">
              <a:xfrm>
                <a:off x="1876" y="1641"/>
                <a:ext cx="2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  <a:sym typeface="Kingsoft Phonetic Plain"/>
                  </a:rPr>
                  <a:t>i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grpSp>
            <p:nvGrpSpPr>
              <p:cNvPr id="19" name="Group 921"/>
              <p:cNvGrpSpPr/>
              <p:nvPr/>
            </p:nvGrpSpPr>
            <p:grpSpPr bwMode="auto">
              <a:xfrm>
                <a:off x="2708" y="1580"/>
                <a:ext cx="362" cy="870"/>
                <a:chOff x="4224" y="2112"/>
                <a:chExt cx="360" cy="790"/>
              </a:xfrm>
            </p:grpSpPr>
            <p:sp>
              <p:nvSpPr>
                <p:cNvPr id="21" name="Text Box 97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240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  <a:sym typeface="Symbol" panose="05050102010706020507" pitchFamily="18" charset="2"/>
                    </a:rPr>
                    <a:t>+</a:t>
                  </a:r>
                  <a:endParaRPr lang="en-US" altLang="zh-CN" sz="2400" b="1">
                    <a:ea typeface="新宋体" panose="02010609030101010101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22" name="Text Box 98"/>
                <p:cNvSpPr>
                  <a:spLocks noChangeArrowheads="1"/>
                </p:cNvSpPr>
                <p:nvPr/>
              </p:nvSpPr>
              <p:spPr bwMode="auto">
                <a:xfrm>
                  <a:off x="4272" y="2640"/>
                  <a:ext cx="192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  <a:sym typeface="Symbol" panose="05050102010706020507" pitchFamily="18" charset="2"/>
                    </a:rPr>
                    <a:t>-</a:t>
                  </a:r>
                  <a:endParaRPr lang="en-US" altLang="zh-CN" sz="2400" b="1">
                    <a:ea typeface="新宋体" panose="02010609030101010101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23" name="Text Box 99"/>
                <p:cNvSpPr>
                  <a:spLocks noChangeArrowheads="1"/>
                </p:cNvSpPr>
                <p:nvPr/>
              </p:nvSpPr>
              <p:spPr bwMode="auto">
                <a:xfrm>
                  <a:off x="4224" y="2352"/>
                  <a:ext cx="360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i="1">
                      <a:ea typeface="新宋体" panose="02010609030101010101" charset="-122"/>
                    </a:rPr>
                    <a:t>v</a:t>
                  </a:r>
                  <a:r>
                    <a:rPr lang="en-US" altLang="zh-CN" sz="2400" b="1" baseline="-25000">
                      <a:ea typeface="新宋体" panose="02010609030101010101" charset="-122"/>
                    </a:rPr>
                    <a:t>CE</a:t>
                  </a:r>
                  <a:endParaRPr lang="en-US" altLang="zh-CN" sz="2400" b="1" baseline="-25000">
                    <a:ea typeface="新宋体" panose="02010609030101010101" charset="-122"/>
                  </a:endParaRPr>
                </a:p>
              </p:txBody>
            </p:sp>
          </p:grpSp>
          <p:sp>
            <p:nvSpPr>
              <p:cNvPr id="20" name="Text Box 100"/>
              <p:cNvSpPr>
                <a:spLocks noChangeArrowheads="1"/>
              </p:cNvSpPr>
              <p:nvPr/>
            </p:nvSpPr>
            <p:spPr bwMode="auto">
              <a:xfrm>
                <a:off x="2480" y="2178"/>
                <a:ext cx="2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>
                    <a:ea typeface="新宋体" panose="02010609030101010101" charset="-122"/>
                  </a:rPr>
                  <a:t>-</a:t>
                </a:r>
                <a:endParaRPr lang="en-US" altLang="zh-CN" sz="2400">
                  <a:ea typeface="新宋体" panose="02010609030101010101" charset="-122"/>
                </a:endParaRPr>
              </a:p>
            </p:txBody>
          </p:sp>
        </p:grpSp>
        <p:sp>
          <p:nvSpPr>
            <p:cNvPr id="5" name="Rectangle 101"/>
            <p:cNvSpPr>
              <a:spLocks noChangeArrowheads="1"/>
            </p:cNvSpPr>
            <p:nvPr/>
          </p:nvSpPr>
          <p:spPr bwMode="auto">
            <a:xfrm>
              <a:off x="1435" y="2178"/>
              <a:ext cx="78" cy="249"/>
            </a:xfrm>
            <a:prstGeom prst="rect">
              <a:avLst/>
            </a:prstGeom>
            <a:solidFill>
              <a:srgbClr val="FFFFFF"/>
            </a:solidFill>
            <a:ln w="25400" cap="flat" algn="ctr">
              <a:solidFill>
                <a:srgbClr val="99336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6" name="Rectangle 102"/>
            <p:cNvSpPr>
              <a:spLocks noChangeArrowheads="1"/>
            </p:cNvSpPr>
            <p:nvPr/>
          </p:nvSpPr>
          <p:spPr bwMode="auto">
            <a:xfrm>
              <a:off x="3585" y="1680"/>
              <a:ext cx="78" cy="249"/>
            </a:xfrm>
            <a:prstGeom prst="rect">
              <a:avLst/>
            </a:prstGeom>
            <a:solidFill>
              <a:srgbClr val="FFFFFF"/>
            </a:solidFill>
            <a:ln w="25400" cap="flat" algn="ctr">
              <a:solidFill>
                <a:srgbClr val="99336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7" name="Text Box 103"/>
            <p:cNvSpPr>
              <a:spLocks noChangeArrowheads="1"/>
            </p:cNvSpPr>
            <p:nvPr/>
          </p:nvSpPr>
          <p:spPr bwMode="auto">
            <a:xfrm>
              <a:off x="1481" y="214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R</a:t>
              </a:r>
              <a:r>
                <a:rPr lang="en-US" altLang="zh-CN" sz="2400" b="1" baseline="-25000">
                  <a:ea typeface="新宋体" panose="02010609030101010101" charset="-122"/>
                </a:rPr>
                <a:t>b</a:t>
              </a:r>
              <a:endParaRPr lang="en-US" altLang="zh-CN" sz="2400" b="1" baseline="-25000">
                <a:ea typeface="新宋体" panose="02010609030101010101" charset="-122"/>
              </a:endParaRPr>
            </a:p>
          </p:txBody>
        </p:sp>
        <p:sp>
          <p:nvSpPr>
            <p:cNvPr id="8" name="Text Box 104"/>
            <p:cNvSpPr>
              <a:spLocks noChangeArrowheads="1"/>
            </p:cNvSpPr>
            <p:nvPr/>
          </p:nvSpPr>
          <p:spPr bwMode="auto">
            <a:xfrm>
              <a:off x="3649" y="1653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R</a:t>
              </a:r>
              <a:r>
                <a:rPr lang="en-US" altLang="zh-CN" sz="2400" b="1" baseline="-25000">
                  <a:ea typeface="新宋体" panose="02010609030101010101" charset="-122"/>
                </a:rPr>
                <a:t>c</a:t>
              </a:r>
              <a:endParaRPr lang="en-US" altLang="zh-CN" sz="2400" b="1" baseline="-25000">
                <a:ea typeface="新宋体" panose="02010609030101010101" charset="-122"/>
              </a:endParaRPr>
            </a:p>
          </p:txBody>
        </p:sp>
      </p:grpSp>
      <p:grpSp>
        <p:nvGrpSpPr>
          <p:cNvPr id="24" name="Group 930"/>
          <p:cNvGrpSpPr/>
          <p:nvPr/>
        </p:nvGrpSpPr>
        <p:grpSpPr bwMode="auto">
          <a:xfrm>
            <a:off x="4140313" y="1670050"/>
            <a:ext cx="885825" cy="458787"/>
            <a:chOff x="3242" y="825"/>
            <a:chExt cx="558" cy="289"/>
          </a:xfrm>
        </p:grpSpPr>
        <p:grpSp>
          <p:nvGrpSpPr>
            <p:cNvPr id="25" name="Group 931"/>
            <p:cNvGrpSpPr/>
            <p:nvPr/>
          </p:nvGrpSpPr>
          <p:grpSpPr bwMode="auto">
            <a:xfrm>
              <a:off x="3242" y="825"/>
              <a:ext cx="558" cy="251"/>
              <a:chOff x="3156" y="860"/>
              <a:chExt cx="558" cy="251"/>
            </a:xfrm>
          </p:grpSpPr>
          <p:sp>
            <p:nvSpPr>
              <p:cNvPr id="27" name="Oval 107"/>
              <p:cNvSpPr>
                <a:spLocks noChangeArrowheads="1"/>
              </p:cNvSpPr>
              <p:nvPr/>
            </p:nvSpPr>
            <p:spPr bwMode="auto">
              <a:xfrm>
                <a:off x="3302" y="927"/>
                <a:ext cx="198" cy="181"/>
              </a:xfrm>
              <a:prstGeom prst="ellipse">
                <a:avLst/>
              </a:prstGeom>
              <a:solidFill>
                <a:srgbClr val="FFFFFF"/>
              </a:solidFill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8" name="Text Box 108"/>
              <p:cNvSpPr>
                <a:spLocks noChangeArrowheads="1"/>
              </p:cNvSpPr>
              <p:nvPr/>
            </p:nvSpPr>
            <p:spPr bwMode="auto">
              <a:xfrm>
                <a:off x="3464" y="860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+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  <p:sp>
            <p:nvSpPr>
              <p:cNvPr id="29" name="Text Box 109"/>
              <p:cNvSpPr>
                <a:spLocks noChangeArrowheads="1"/>
              </p:cNvSpPr>
              <p:nvPr/>
            </p:nvSpPr>
            <p:spPr bwMode="auto">
              <a:xfrm>
                <a:off x="3156" y="861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-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</p:grpSp>
        <p:sp>
          <p:nvSpPr>
            <p:cNvPr id="26" name="Text Box 110"/>
            <p:cNvSpPr>
              <a:spLocks noChangeArrowheads="1"/>
            </p:cNvSpPr>
            <p:nvPr/>
          </p:nvSpPr>
          <p:spPr bwMode="auto">
            <a:xfrm>
              <a:off x="3371" y="82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A</a:t>
              </a:r>
              <a:endParaRPr lang="en-US" altLang="zh-CN" sz="2400" b="1">
                <a:ea typeface="新宋体" panose="02010609030101010101" charset="-122"/>
              </a:endParaRPr>
            </a:p>
          </p:txBody>
        </p:sp>
      </p:grpSp>
      <p:grpSp>
        <p:nvGrpSpPr>
          <p:cNvPr id="30" name="Group 936"/>
          <p:cNvGrpSpPr/>
          <p:nvPr/>
        </p:nvGrpSpPr>
        <p:grpSpPr bwMode="auto">
          <a:xfrm>
            <a:off x="1674925" y="2601912"/>
            <a:ext cx="885825" cy="458788"/>
            <a:chOff x="3242" y="825"/>
            <a:chExt cx="558" cy="289"/>
          </a:xfrm>
        </p:grpSpPr>
        <p:grpSp>
          <p:nvGrpSpPr>
            <p:cNvPr id="31" name="Group 937"/>
            <p:cNvGrpSpPr/>
            <p:nvPr/>
          </p:nvGrpSpPr>
          <p:grpSpPr bwMode="auto">
            <a:xfrm>
              <a:off x="3242" y="825"/>
              <a:ext cx="558" cy="251"/>
              <a:chOff x="3156" y="860"/>
              <a:chExt cx="558" cy="251"/>
            </a:xfrm>
          </p:grpSpPr>
          <p:sp>
            <p:nvSpPr>
              <p:cNvPr id="33" name="Oval 113"/>
              <p:cNvSpPr>
                <a:spLocks noChangeArrowheads="1"/>
              </p:cNvSpPr>
              <p:nvPr/>
            </p:nvSpPr>
            <p:spPr bwMode="auto">
              <a:xfrm>
                <a:off x="3302" y="927"/>
                <a:ext cx="198" cy="181"/>
              </a:xfrm>
              <a:prstGeom prst="ellipse">
                <a:avLst/>
              </a:prstGeom>
              <a:solidFill>
                <a:srgbClr val="FFFFFF"/>
              </a:solidFill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34" name="Text Box 114"/>
              <p:cNvSpPr>
                <a:spLocks noChangeArrowheads="1"/>
              </p:cNvSpPr>
              <p:nvPr/>
            </p:nvSpPr>
            <p:spPr bwMode="auto">
              <a:xfrm>
                <a:off x="3464" y="860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-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  <p:sp>
            <p:nvSpPr>
              <p:cNvPr id="35" name="Text Box 115"/>
              <p:cNvSpPr>
                <a:spLocks noChangeArrowheads="1"/>
              </p:cNvSpPr>
              <p:nvPr/>
            </p:nvSpPr>
            <p:spPr bwMode="auto">
              <a:xfrm>
                <a:off x="3156" y="861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+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</p:grpSp>
        <p:sp>
          <p:nvSpPr>
            <p:cNvPr id="32" name="Text Box 116"/>
            <p:cNvSpPr>
              <a:spLocks noChangeArrowheads="1"/>
            </p:cNvSpPr>
            <p:nvPr/>
          </p:nvSpPr>
          <p:spPr bwMode="auto">
            <a:xfrm>
              <a:off x="3371" y="82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A</a:t>
              </a:r>
              <a:endParaRPr lang="en-US" altLang="zh-CN" sz="2400" b="1">
                <a:ea typeface="新宋体" panose="02010609030101010101" charset="-122"/>
              </a:endParaRPr>
            </a:p>
          </p:txBody>
        </p:sp>
      </p:grpSp>
      <p:sp>
        <p:nvSpPr>
          <p:cNvPr id="36" name="Text Box 137"/>
          <p:cNvSpPr>
            <a:spLocks noChangeArrowheads="1"/>
          </p:cNvSpPr>
          <p:nvPr/>
        </p:nvSpPr>
        <p:spPr bwMode="auto">
          <a:xfrm>
            <a:off x="142722" y="5341143"/>
            <a:ext cx="7700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输入回路：由基极和发射极组成的回路。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7" name="Text Box 138"/>
          <p:cNvSpPr>
            <a:spLocks noChangeArrowheads="1"/>
          </p:cNvSpPr>
          <p:nvPr/>
        </p:nvSpPr>
        <p:spPr bwMode="auto">
          <a:xfrm>
            <a:off x="142722" y="5964238"/>
            <a:ext cx="7700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输出回路：由集电极和发射极组成的回路。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38" name="Group 944"/>
          <p:cNvGrpSpPr/>
          <p:nvPr/>
        </p:nvGrpSpPr>
        <p:grpSpPr bwMode="auto">
          <a:xfrm>
            <a:off x="2240075" y="3003550"/>
            <a:ext cx="1020763" cy="1330326"/>
            <a:chOff x="1838" y="1827"/>
            <a:chExt cx="643" cy="838"/>
          </a:xfrm>
        </p:grpSpPr>
        <p:grpSp>
          <p:nvGrpSpPr>
            <p:cNvPr id="39" name="Group 945"/>
            <p:cNvGrpSpPr/>
            <p:nvPr/>
          </p:nvGrpSpPr>
          <p:grpSpPr bwMode="auto">
            <a:xfrm>
              <a:off x="1927" y="1827"/>
              <a:ext cx="512" cy="713"/>
              <a:chOff x="1900" y="1872"/>
              <a:chExt cx="512" cy="713"/>
            </a:xfrm>
          </p:grpSpPr>
          <p:sp>
            <p:nvSpPr>
              <p:cNvPr id="45" name="Arc 141"/>
              <p:cNvSpPr/>
              <p:nvPr/>
            </p:nvSpPr>
            <p:spPr bwMode="auto">
              <a:xfrm>
                <a:off x="1900" y="1872"/>
                <a:ext cx="512" cy="713"/>
              </a:xfrm>
              <a:custGeom>
                <a:avLst/>
                <a:gdLst>
                  <a:gd name="T0" fmla="*/ -1 w 21600"/>
                  <a:gd name="T1" fmla="*/ 0 h 21600"/>
                  <a:gd name="T2" fmla="*/ 21600 w 21600"/>
                  <a:gd name="T3" fmla="*/ 21600 h 21600"/>
                  <a:gd name="T4" fmla="*/ -1 w 21600"/>
                  <a:gd name="T5" fmla="*/ 0 h 21600"/>
                  <a:gd name="T6" fmla="*/ 2160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46" name="Line 142"/>
              <p:cNvSpPr>
                <a:spLocks noChangeShapeType="1"/>
              </p:cNvSpPr>
              <p:nvPr/>
            </p:nvSpPr>
            <p:spPr bwMode="auto">
              <a:xfrm>
                <a:off x="2249" y="2075"/>
                <a:ext cx="92" cy="128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" name="Group 948"/>
            <p:cNvGrpSpPr/>
            <p:nvPr/>
          </p:nvGrpSpPr>
          <p:grpSpPr bwMode="auto">
            <a:xfrm>
              <a:off x="1838" y="1848"/>
              <a:ext cx="643" cy="817"/>
              <a:chOff x="1838" y="1848"/>
              <a:chExt cx="643" cy="817"/>
            </a:xfrm>
          </p:grpSpPr>
          <p:sp>
            <p:nvSpPr>
              <p:cNvPr id="41" name="Rectangle 144"/>
              <p:cNvSpPr>
                <a:spLocks noChangeArrowheads="1"/>
              </p:cNvSpPr>
              <p:nvPr/>
            </p:nvSpPr>
            <p:spPr bwMode="auto">
              <a:xfrm>
                <a:off x="1838" y="1848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输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2" name="Rectangle 145"/>
              <p:cNvSpPr>
                <a:spLocks noChangeArrowheads="1"/>
              </p:cNvSpPr>
              <p:nvPr/>
            </p:nvSpPr>
            <p:spPr bwMode="auto">
              <a:xfrm>
                <a:off x="2029" y="1977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入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3" name="Rectangle 146"/>
              <p:cNvSpPr>
                <a:spLocks noChangeArrowheads="1"/>
              </p:cNvSpPr>
              <p:nvPr/>
            </p:nvSpPr>
            <p:spPr bwMode="auto">
              <a:xfrm>
                <a:off x="2139" y="2169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 dirty="0">
                    <a:solidFill>
                      <a:srgbClr val="FF33CC"/>
                    </a:solidFill>
                    <a:ea typeface="新宋体" panose="02010609030101010101" charset="-122"/>
                  </a:rPr>
                  <a:t>回</a:t>
                </a:r>
                <a:endParaRPr lang="zh-CN" altLang="en-US" sz="2000" b="1" dirty="0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4" name="Rectangle 147"/>
              <p:cNvSpPr>
                <a:spLocks noChangeArrowheads="1"/>
              </p:cNvSpPr>
              <p:nvPr/>
            </p:nvSpPr>
            <p:spPr bwMode="auto">
              <a:xfrm>
                <a:off x="2204" y="2415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路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</p:grpSp>
      </p:grpSp>
      <p:grpSp>
        <p:nvGrpSpPr>
          <p:cNvPr id="47" name="Group 953"/>
          <p:cNvGrpSpPr/>
          <p:nvPr/>
        </p:nvGrpSpPr>
        <p:grpSpPr bwMode="auto">
          <a:xfrm>
            <a:off x="3749788" y="2309812"/>
            <a:ext cx="874712" cy="1843088"/>
            <a:chOff x="2789" y="1390"/>
            <a:chExt cx="551" cy="1161"/>
          </a:xfrm>
        </p:grpSpPr>
        <p:grpSp>
          <p:nvGrpSpPr>
            <p:cNvPr id="48" name="Group 954"/>
            <p:cNvGrpSpPr/>
            <p:nvPr/>
          </p:nvGrpSpPr>
          <p:grpSpPr bwMode="auto">
            <a:xfrm>
              <a:off x="2807" y="1390"/>
              <a:ext cx="457" cy="1161"/>
              <a:chOff x="2807" y="1390"/>
              <a:chExt cx="457" cy="1161"/>
            </a:xfrm>
          </p:grpSpPr>
          <p:sp>
            <p:nvSpPr>
              <p:cNvPr id="54" name="Arc 150"/>
              <p:cNvSpPr/>
              <p:nvPr/>
            </p:nvSpPr>
            <p:spPr bwMode="auto">
              <a:xfrm flipH="1">
                <a:off x="2807" y="1390"/>
                <a:ext cx="457" cy="1161"/>
              </a:xfrm>
              <a:custGeom>
                <a:avLst/>
                <a:gdLst>
                  <a:gd name="T0" fmla="*/ -1 w 21600"/>
                  <a:gd name="T1" fmla="*/ 0 h 21600"/>
                  <a:gd name="T2" fmla="*/ 21600 w 21600"/>
                  <a:gd name="T3" fmla="*/ 21600 h 21600"/>
                  <a:gd name="T4" fmla="*/ -1 w 21600"/>
                  <a:gd name="T5" fmla="*/ 0 h 21600"/>
                  <a:gd name="T6" fmla="*/ 2160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55" name="Line 151"/>
              <p:cNvSpPr>
                <a:spLocks noChangeShapeType="1"/>
              </p:cNvSpPr>
              <p:nvPr/>
            </p:nvSpPr>
            <p:spPr bwMode="auto">
              <a:xfrm flipH="1">
                <a:off x="2816" y="2002"/>
                <a:ext cx="46" cy="311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" name="Group 957"/>
            <p:cNvGrpSpPr/>
            <p:nvPr/>
          </p:nvGrpSpPr>
          <p:grpSpPr bwMode="auto">
            <a:xfrm>
              <a:off x="2789" y="1411"/>
              <a:ext cx="551" cy="1072"/>
              <a:chOff x="2789" y="1411"/>
              <a:chExt cx="551" cy="1072"/>
            </a:xfrm>
          </p:grpSpPr>
          <p:sp>
            <p:nvSpPr>
              <p:cNvPr id="50" name="Rectangle 153"/>
              <p:cNvSpPr>
                <a:spLocks noChangeArrowheads="1"/>
              </p:cNvSpPr>
              <p:nvPr/>
            </p:nvSpPr>
            <p:spPr bwMode="auto">
              <a:xfrm>
                <a:off x="3063" y="1411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输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1" name="Rectangle 154"/>
              <p:cNvSpPr>
                <a:spLocks noChangeArrowheads="1"/>
              </p:cNvSpPr>
              <p:nvPr/>
            </p:nvSpPr>
            <p:spPr bwMode="auto">
              <a:xfrm>
                <a:off x="2917" y="1629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出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2" name="Rectangle 155"/>
              <p:cNvSpPr>
                <a:spLocks noChangeArrowheads="1"/>
              </p:cNvSpPr>
              <p:nvPr/>
            </p:nvSpPr>
            <p:spPr bwMode="auto">
              <a:xfrm>
                <a:off x="2826" y="1912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回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3" name="Rectangle 156"/>
              <p:cNvSpPr>
                <a:spLocks noChangeArrowheads="1"/>
              </p:cNvSpPr>
              <p:nvPr/>
            </p:nvSpPr>
            <p:spPr bwMode="auto">
              <a:xfrm>
                <a:off x="2789" y="2233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路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</p:grpSp>
      </p:grpSp>
      <p:sp>
        <p:nvSpPr>
          <p:cNvPr id="56" name="Text Box 83"/>
          <p:cNvSpPr>
            <a:spLocks noChangeArrowheads="1"/>
          </p:cNvSpPr>
          <p:nvPr/>
        </p:nvSpPr>
        <p:spPr bwMode="auto">
          <a:xfrm>
            <a:off x="472395" y="776911"/>
            <a:ext cx="3065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）测量电路</a:t>
            </a:r>
            <a:endParaRPr lang="zh-CN" altLang="en-US" sz="2800" b="1" dirty="0">
              <a:solidFill>
                <a:srgbClr val="FF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7" name="Text Box 80"/>
          <p:cNvSpPr>
            <a:spLocks noChangeArrowheads="1"/>
          </p:cNvSpPr>
          <p:nvPr/>
        </p:nvSpPr>
        <p:spPr bwMode="auto">
          <a:xfrm>
            <a:off x="1743982" y="1331460"/>
            <a:ext cx="739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>
              <a:solidFill>
                <a:srgbClr val="FF0000"/>
              </a:solidFill>
              <a:ea typeface="新宋体" panose="02010609030101010101" charset="-122"/>
            </a:endParaRPr>
          </a:p>
        </p:txBody>
      </p:sp>
      <p:sp>
        <p:nvSpPr>
          <p:cNvPr id="59" name="Text Box 169"/>
          <p:cNvSpPr>
            <a:spLocks noChangeArrowheads="1"/>
          </p:cNvSpPr>
          <p:nvPr/>
        </p:nvSpPr>
        <p:spPr bwMode="auto">
          <a:xfrm>
            <a:off x="2779825" y="668338"/>
            <a:ext cx="3514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i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ea typeface="新宋体" panose="02010609030101010101" charset="-122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(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BE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  <a:sym typeface="Symbol" panose="05050102010706020507" pitchFamily="18" charset="2"/>
              </a:rPr>
              <a:t>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baseline="-10000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2400" b="1" baseline="-30000" dirty="0" err="1">
                <a:solidFill>
                  <a:srgbClr val="FF0000"/>
                </a:solidFill>
                <a:ea typeface="新宋体" panose="02010609030101010101" charset="-122"/>
              </a:rPr>
              <a:t>CE</a:t>
            </a:r>
            <a:r>
              <a:rPr lang="en-US" altLang="zh-CN" sz="3200" b="1" baseline="-10000" dirty="0">
                <a:solidFill>
                  <a:srgbClr val="FF0000"/>
                </a:solidFill>
                <a:ea typeface="新宋体" panose="02010609030101010101" charset="-122"/>
              </a:rPr>
              <a:t>=const</a:t>
            </a:r>
            <a:endParaRPr lang="en-US" altLang="zh-CN" sz="3200" b="1" baseline="-10000" dirty="0">
              <a:solidFill>
                <a:srgbClr val="FF0000"/>
              </a:solidFill>
              <a:ea typeface="新宋体" panose="02010609030101010101" charset="-122"/>
            </a:endParaRPr>
          </a:p>
        </p:txBody>
      </p:sp>
      <p:grpSp>
        <p:nvGrpSpPr>
          <p:cNvPr id="60" name="Group 966"/>
          <p:cNvGrpSpPr/>
          <p:nvPr/>
        </p:nvGrpSpPr>
        <p:grpSpPr bwMode="auto">
          <a:xfrm>
            <a:off x="5040425" y="1922462"/>
            <a:ext cx="1392238" cy="2568575"/>
            <a:chOff x="3392" y="1557"/>
            <a:chExt cx="877" cy="1618"/>
          </a:xfrm>
        </p:grpSpPr>
        <p:grpSp>
          <p:nvGrpSpPr>
            <p:cNvPr id="61" name="Group 967"/>
            <p:cNvGrpSpPr/>
            <p:nvPr/>
          </p:nvGrpSpPr>
          <p:grpSpPr bwMode="auto">
            <a:xfrm>
              <a:off x="3392" y="1557"/>
              <a:ext cx="877" cy="1618"/>
              <a:chOff x="3602" y="1436"/>
              <a:chExt cx="877" cy="1618"/>
            </a:xfrm>
          </p:grpSpPr>
          <p:grpSp>
            <p:nvGrpSpPr>
              <p:cNvPr id="63" name="Group 968"/>
              <p:cNvGrpSpPr/>
              <p:nvPr/>
            </p:nvGrpSpPr>
            <p:grpSpPr bwMode="auto">
              <a:xfrm>
                <a:off x="3602" y="1436"/>
                <a:ext cx="535" cy="1618"/>
                <a:chOff x="3602" y="1436"/>
                <a:chExt cx="535" cy="1618"/>
              </a:xfrm>
            </p:grpSpPr>
            <p:sp>
              <p:nvSpPr>
                <p:cNvPr id="69" name="Line 119"/>
                <p:cNvSpPr>
                  <a:spLocks noChangeShapeType="1"/>
                </p:cNvSpPr>
                <p:nvPr/>
              </p:nvSpPr>
              <p:spPr bwMode="auto">
                <a:xfrm>
                  <a:off x="3602" y="1436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Line 120"/>
                <p:cNvSpPr>
                  <a:spLocks noChangeShapeType="1"/>
                </p:cNvSpPr>
                <p:nvPr/>
              </p:nvSpPr>
              <p:spPr bwMode="auto">
                <a:xfrm>
                  <a:off x="3604" y="3054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121"/>
                <p:cNvSpPr>
                  <a:spLocks noChangeShapeType="1"/>
                </p:cNvSpPr>
                <p:nvPr/>
              </p:nvSpPr>
              <p:spPr bwMode="auto">
                <a:xfrm>
                  <a:off x="4135" y="1444"/>
                  <a:ext cx="0" cy="1608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" name="Group 972"/>
              <p:cNvGrpSpPr/>
              <p:nvPr/>
            </p:nvGrpSpPr>
            <p:grpSpPr bwMode="auto">
              <a:xfrm>
                <a:off x="4012" y="1876"/>
                <a:ext cx="467" cy="603"/>
                <a:chOff x="4744" y="1863"/>
                <a:chExt cx="467" cy="603"/>
              </a:xfrm>
            </p:grpSpPr>
            <p:sp>
              <p:nvSpPr>
                <p:cNvPr id="65" name="Oval 123"/>
                <p:cNvSpPr>
                  <a:spLocks noChangeArrowheads="1"/>
                </p:cNvSpPr>
                <p:nvPr/>
              </p:nvSpPr>
              <p:spPr bwMode="auto">
                <a:xfrm>
                  <a:off x="4771" y="2074"/>
                  <a:ext cx="189" cy="207"/>
                </a:xfrm>
                <a:prstGeom prst="ellips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66" name="Text Box 124"/>
                <p:cNvSpPr>
                  <a:spLocks noChangeArrowheads="1"/>
                </p:cNvSpPr>
                <p:nvPr/>
              </p:nvSpPr>
              <p:spPr bwMode="auto">
                <a:xfrm>
                  <a:off x="4744" y="2034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U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sp>
              <p:nvSpPr>
                <p:cNvPr id="67" name="Text Box 125"/>
                <p:cNvSpPr>
                  <a:spLocks noChangeArrowheads="1"/>
                </p:cNvSpPr>
                <p:nvPr/>
              </p:nvSpPr>
              <p:spPr bwMode="auto">
                <a:xfrm>
                  <a:off x="4849" y="1863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+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sp>
              <p:nvSpPr>
                <p:cNvPr id="68" name="Text Box 126"/>
                <p:cNvSpPr>
                  <a:spLocks noChangeArrowheads="1"/>
                </p:cNvSpPr>
                <p:nvPr/>
              </p:nvSpPr>
              <p:spPr bwMode="auto">
                <a:xfrm>
                  <a:off x="4885" y="2178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-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</p:grpSp>
        </p:grpSp>
        <p:sp>
          <p:nvSpPr>
            <p:cNvPr id="62" name="Text Box 170"/>
            <p:cNvSpPr>
              <a:spLocks noChangeArrowheads="1"/>
            </p:cNvSpPr>
            <p:nvPr/>
          </p:nvSpPr>
          <p:spPr bwMode="auto">
            <a:xfrm>
              <a:off x="3628" y="2349"/>
              <a:ext cx="3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CE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grpSp>
        <p:nvGrpSpPr>
          <p:cNvPr id="72" name="Group 978"/>
          <p:cNvGrpSpPr/>
          <p:nvPr/>
        </p:nvGrpSpPr>
        <p:grpSpPr bwMode="auto">
          <a:xfrm>
            <a:off x="208075" y="2898775"/>
            <a:ext cx="1463675" cy="1595437"/>
            <a:chOff x="348" y="2172"/>
            <a:chExt cx="922" cy="1005"/>
          </a:xfrm>
        </p:grpSpPr>
        <p:grpSp>
          <p:nvGrpSpPr>
            <p:cNvPr id="73" name="Group 979"/>
            <p:cNvGrpSpPr/>
            <p:nvPr/>
          </p:nvGrpSpPr>
          <p:grpSpPr bwMode="auto">
            <a:xfrm>
              <a:off x="572" y="2172"/>
              <a:ext cx="698" cy="1005"/>
              <a:chOff x="775" y="2051"/>
              <a:chExt cx="698" cy="1005"/>
            </a:xfrm>
          </p:grpSpPr>
          <p:sp>
            <p:nvSpPr>
              <p:cNvPr id="75" name="Line 128"/>
              <p:cNvSpPr>
                <a:spLocks noChangeShapeType="1"/>
              </p:cNvSpPr>
              <p:nvPr/>
            </p:nvSpPr>
            <p:spPr bwMode="auto">
              <a:xfrm>
                <a:off x="940" y="3056"/>
                <a:ext cx="533" cy="0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129"/>
              <p:cNvSpPr>
                <a:spLocks noChangeShapeType="1"/>
              </p:cNvSpPr>
              <p:nvPr/>
            </p:nvSpPr>
            <p:spPr bwMode="auto">
              <a:xfrm>
                <a:off x="933" y="2051"/>
                <a:ext cx="533" cy="0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7" name="Group 982"/>
              <p:cNvGrpSpPr/>
              <p:nvPr/>
            </p:nvGrpSpPr>
            <p:grpSpPr bwMode="auto">
              <a:xfrm>
                <a:off x="775" y="2178"/>
                <a:ext cx="353" cy="603"/>
                <a:chOff x="613" y="2178"/>
                <a:chExt cx="353" cy="603"/>
              </a:xfrm>
            </p:grpSpPr>
            <p:sp>
              <p:nvSpPr>
                <p:cNvPr id="79" name="Text Box 131"/>
                <p:cNvSpPr>
                  <a:spLocks noChangeArrowheads="1"/>
                </p:cNvSpPr>
                <p:nvPr/>
              </p:nvSpPr>
              <p:spPr bwMode="auto">
                <a:xfrm>
                  <a:off x="661" y="2349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U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grpSp>
              <p:nvGrpSpPr>
                <p:cNvPr id="80" name="Group 984"/>
                <p:cNvGrpSpPr/>
                <p:nvPr/>
              </p:nvGrpSpPr>
              <p:grpSpPr bwMode="auto">
                <a:xfrm>
                  <a:off x="613" y="2178"/>
                  <a:ext cx="353" cy="603"/>
                  <a:chOff x="613" y="2178"/>
                  <a:chExt cx="353" cy="603"/>
                </a:xfrm>
              </p:grpSpPr>
              <p:sp>
                <p:nvSpPr>
                  <p:cNvPr id="81" name="Oval 133"/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389"/>
                    <a:ext cx="189" cy="207"/>
                  </a:xfrm>
                  <a:prstGeom prst="ellips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82" name="Text Box 134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178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+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83" name="Text Box 135"/>
                  <p:cNvSpPr>
                    <a:spLocks noChangeArrowheads="1"/>
                  </p:cNvSpPr>
                  <p:nvPr/>
                </p:nvSpPr>
                <p:spPr bwMode="auto">
                  <a:xfrm>
                    <a:off x="640" y="2493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-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</p:grpSp>
          </p:grpSp>
          <p:sp>
            <p:nvSpPr>
              <p:cNvPr id="78" name="Line 136"/>
              <p:cNvSpPr>
                <a:spLocks noChangeShapeType="1"/>
              </p:cNvSpPr>
              <p:nvPr/>
            </p:nvSpPr>
            <p:spPr bwMode="auto">
              <a:xfrm>
                <a:off x="946" y="2055"/>
                <a:ext cx="0" cy="997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Rectangle 172"/>
            <p:cNvSpPr>
              <a:spLocks noChangeArrowheads="1"/>
            </p:cNvSpPr>
            <p:nvPr/>
          </p:nvSpPr>
          <p:spPr bwMode="auto">
            <a:xfrm>
              <a:off x="348" y="2482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BE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sp>
        <p:nvSpPr>
          <p:cNvPr id="5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Box 113"/>
          <p:cNvSpPr>
            <a:spLocks noChangeArrowheads="1"/>
          </p:cNvSpPr>
          <p:nvPr/>
        </p:nvSpPr>
        <p:spPr bwMode="auto">
          <a:xfrm>
            <a:off x="6227138" y="480520"/>
            <a:ext cx="6006988" cy="16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(2)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4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=0~0.7V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时，特性曲线右移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说明输出电压对输入特性的影响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在同样的输入电压</a:t>
            </a:r>
            <a:r>
              <a:rPr lang="en-US" altLang="zh-CN" sz="24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作用下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,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输入电流减小了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  <a:endParaRPr lang="zh-CN" altLang="en-US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86" name="Object 280"/>
          <p:cNvGraphicFramePr>
            <a:graphicFrameLocks noChangeAspect="1"/>
          </p:cNvGraphicFramePr>
          <p:nvPr/>
        </p:nvGraphicFramePr>
        <p:xfrm>
          <a:off x="7323503" y="2356303"/>
          <a:ext cx="4094794" cy="4078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位图图像" r:id="rId3" imgW="2562225" imgH="2295525" progId="Paint.Picture">
                  <p:embed/>
                </p:oleObj>
              </mc:Choice>
              <mc:Fallback>
                <p:oleObj name="位图图像" r:id="rId3" imgW="2562225" imgH="2295525" progId="Paint.Picture">
                  <p:embed/>
                  <p:pic>
                    <p:nvPicPr>
                      <p:cNvPr id="0" name="Object 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3503" y="2356303"/>
                        <a:ext cx="4094794" cy="4078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09"/>
          <p:cNvGrpSpPr/>
          <p:nvPr/>
        </p:nvGrpSpPr>
        <p:grpSpPr bwMode="auto">
          <a:xfrm>
            <a:off x="1284400" y="1636712"/>
            <a:ext cx="4568825" cy="3584575"/>
            <a:chOff x="1243" y="1254"/>
            <a:chExt cx="2878" cy="2258"/>
          </a:xfrm>
        </p:grpSpPr>
        <p:grpSp>
          <p:nvGrpSpPr>
            <p:cNvPr id="4" name="Group 910"/>
            <p:cNvGrpSpPr/>
            <p:nvPr/>
          </p:nvGrpSpPr>
          <p:grpSpPr bwMode="auto">
            <a:xfrm>
              <a:off x="1243" y="1254"/>
              <a:ext cx="2876" cy="2258"/>
              <a:chOff x="1243" y="1254"/>
              <a:chExt cx="2876" cy="2258"/>
            </a:xfrm>
          </p:grpSpPr>
          <p:graphicFrame>
            <p:nvGraphicFramePr>
              <p:cNvPr id="9" name="Object 86"/>
              <p:cNvGraphicFramePr>
                <a:graphicFrameLocks noChangeAspect="1"/>
              </p:cNvGraphicFramePr>
              <p:nvPr/>
            </p:nvGraphicFramePr>
            <p:xfrm>
              <a:off x="1243" y="1254"/>
              <a:ext cx="2876" cy="2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BMP 图象" r:id="rId1" imgW="4523740" imgH="3258820" progId="Paint.Picture">
                      <p:embed/>
                    </p:oleObj>
                  </mc:Choice>
                  <mc:Fallback>
                    <p:oleObj name="BMP 图象" r:id="rId1" imgW="4523740" imgH="3258820" progId="Paint.Picture">
                      <p:embed/>
                      <p:pic>
                        <p:nvPicPr>
                          <p:cNvPr id="0" name="Object 8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3" y="1254"/>
                            <a:ext cx="2876" cy="2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 Box 87"/>
              <p:cNvSpPr>
                <a:spLocks noChangeArrowheads="1"/>
              </p:cNvSpPr>
              <p:nvPr/>
            </p:nvSpPr>
            <p:spPr bwMode="auto">
              <a:xfrm>
                <a:off x="2231" y="1954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+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1" name="Text Box 88"/>
              <p:cNvSpPr>
                <a:spLocks noChangeArrowheads="1"/>
              </p:cNvSpPr>
              <p:nvPr/>
            </p:nvSpPr>
            <p:spPr bwMode="auto">
              <a:xfrm>
                <a:off x="2143" y="1786"/>
                <a:ext cx="28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b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2" name="Text Box 89"/>
              <p:cNvSpPr>
                <a:spLocks noChangeArrowheads="1"/>
              </p:cNvSpPr>
              <p:nvPr/>
            </p:nvSpPr>
            <p:spPr bwMode="auto">
              <a:xfrm>
                <a:off x="2608" y="1465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c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3" name="Text Box 90"/>
              <p:cNvSpPr>
                <a:spLocks noChangeArrowheads="1"/>
              </p:cNvSpPr>
              <p:nvPr/>
            </p:nvSpPr>
            <p:spPr bwMode="auto">
              <a:xfrm>
                <a:off x="2608" y="2250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新宋体" panose="02010609030101010101" charset="-122"/>
                    <a:sym typeface="Symbol" panose="05050102010706020507" pitchFamily="18" charset="2"/>
                  </a:rPr>
                  <a:t>e</a:t>
                </a:r>
                <a:endParaRPr lang="en-US" altLang="zh-CN" sz="2400" b="1">
                  <a:ea typeface="新宋体" panose="02010609030101010101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4" name="Text Box 91"/>
              <p:cNvSpPr>
                <a:spLocks noChangeArrowheads="1"/>
              </p:cNvSpPr>
              <p:nvPr/>
            </p:nvSpPr>
            <p:spPr bwMode="auto">
              <a:xfrm>
                <a:off x="1570" y="2356"/>
                <a:ext cx="38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BB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5" name="Text Box 92"/>
              <p:cNvSpPr>
                <a:spLocks noChangeArrowheads="1"/>
              </p:cNvSpPr>
              <p:nvPr/>
            </p:nvSpPr>
            <p:spPr bwMode="auto">
              <a:xfrm>
                <a:off x="3200" y="2107"/>
                <a:ext cx="38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CC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6" name="Text Box 93"/>
              <p:cNvSpPr>
                <a:spLocks noChangeArrowheads="1"/>
              </p:cNvSpPr>
              <p:nvPr/>
            </p:nvSpPr>
            <p:spPr bwMode="auto">
              <a:xfrm>
                <a:off x="2255" y="2079"/>
                <a:ext cx="3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</a:rPr>
                  <a:t>v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BE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7" name="Text Box 94"/>
              <p:cNvSpPr>
                <a:spLocks noChangeArrowheads="1"/>
              </p:cNvSpPr>
              <p:nvPr/>
            </p:nvSpPr>
            <p:spPr bwMode="auto">
              <a:xfrm>
                <a:off x="2911" y="1441"/>
                <a:ext cx="3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  <a:sym typeface="Kingsoft Phonetic Plain"/>
                  </a:rPr>
                  <a:t>i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C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sp>
            <p:nvSpPr>
              <p:cNvPr id="18" name="Text Box 95"/>
              <p:cNvSpPr>
                <a:spLocks noChangeArrowheads="1"/>
              </p:cNvSpPr>
              <p:nvPr/>
            </p:nvSpPr>
            <p:spPr bwMode="auto">
              <a:xfrm>
                <a:off x="1876" y="1641"/>
                <a:ext cx="2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>
                    <a:ea typeface="新宋体" panose="02010609030101010101" charset="-122"/>
                    <a:sym typeface="Kingsoft Phonetic Plain"/>
                  </a:rPr>
                  <a:t>i</a:t>
                </a:r>
                <a:r>
                  <a:rPr lang="en-US" altLang="zh-CN" sz="2400" b="1" baseline="-25000">
                    <a:ea typeface="新宋体" panose="02010609030101010101" charset="-122"/>
                  </a:rPr>
                  <a:t>B</a:t>
                </a:r>
                <a:endParaRPr lang="en-US" altLang="zh-CN" sz="2400" b="1" baseline="-25000">
                  <a:ea typeface="新宋体" panose="02010609030101010101" charset="-122"/>
                </a:endParaRPr>
              </a:p>
            </p:txBody>
          </p:sp>
          <p:grpSp>
            <p:nvGrpSpPr>
              <p:cNvPr id="19" name="Group 921"/>
              <p:cNvGrpSpPr/>
              <p:nvPr/>
            </p:nvGrpSpPr>
            <p:grpSpPr bwMode="auto">
              <a:xfrm>
                <a:off x="2708" y="1580"/>
                <a:ext cx="362" cy="870"/>
                <a:chOff x="4224" y="2112"/>
                <a:chExt cx="360" cy="790"/>
              </a:xfrm>
            </p:grpSpPr>
            <p:sp>
              <p:nvSpPr>
                <p:cNvPr id="21" name="Text Box 97"/>
                <p:cNvSpPr>
                  <a:spLocks noChangeArrowheads="1"/>
                </p:cNvSpPr>
                <p:nvPr/>
              </p:nvSpPr>
              <p:spPr bwMode="auto">
                <a:xfrm>
                  <a:off x="4272" y="2112"/>
                  <a:ext cx="240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  <a:sym typeface="Symbol" panose="05050102010706020507" pitchFamily="18" charset="2"/>
                    </a:rPr>
                    <a:t>+</a:t>
                  </a:r>
                  <a:endParaRPr lang="en-US" altLang="zh-CN" sz="2400" b="1">
                    <a:ea typeface="新宋体" panose="02010609030101010101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22" name="Text Box 98"/>
                <p:cNvSpPr>
                  <a:spLocks noChangeArrowheads="1"/>
                </p:cNvSpPr>
                <p:nvPr/>
              </p:nvSpPr>
              <p:spPr bwMode="auto">
                <a:xfrm>
                  <a:off x="4272" y="2640"/>
                  <a:ext cx="192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  <a:sym typeface="Symbol" panose="05050102010706020507" pitchFamily="18" charset="2"/>
                    </a:rPr>
                    <a:t>-</a:t>
                  </a:r>
                  <a:endParaRPr lang="en-US" altLang="zh-CN" sz="2400" b="1">
                    <a:ea typeface="新宋体" panose="02010609030101010101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23" name="Text Box 99"/>
                <p:cNvSpPr>
                  <a:spLocks noChangeArrowheads="1"/>
                </p:cNvSpPr>
                <p:nvPr/>
              </p:nvSpPr>
              <p:spPr bwMode="auto">
                <a:xfrm>
                  <a:off x="4224" y="2352"/>
                  <a:ext cx="360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i="1">
                      <a:ea typeface="新宋体" panose="02010609030101010101" charset="-122"/>
                    </a:rPr>
                    <a:t>v</a:t>
                  </a:r>
                  <a:r>
                    <a:rPr lang="en-US" altLang="zh-CN" sz="2400" b="1" baseline="-25000">
                      <a:ea typeface="新宋体" panose="02010609030101010101" charset="-122"/>
                    </a:rPr>
                    <a:t>CE</a:t>
                  </a:r>
                  <a:endParaRPr lang="en-US" altLang="zh-CN" sz="2400" b="1" baseline="-25000">
                    <a:ea typeface="新宋体" panose="02010609030101010101" charset="-122"/>
                  </a:endParaRPr>
                </a:p>
              </p:txBody>
            </p:sp>
          </p:grpSp>
          <p:sp>
            <p:nvSpPr>
              <p:cNvPr id="20" name="Text Box 100"/>
              <p:cNvSpPr>
                <a:spLocks noChangeArrowheads="1"/>
              </p:cNvSpPr>
              <p:nvPr/>
            </p:nvSpPr>
            <p:spPr bwMode="auto">
              <a:xfrm>
                <a:off x="2480" y="2178"/>
                <a:ext cx="2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>
                    <a:ea typeface="新宋体" panose="02010609030101010101" charset="-122"/>
                  </a:rPr>
                  <a:t>-</a:t>
                </a:r>
                <a:endParaRPr lang="en-US" altLang="zh-CN" sz="2400">
                  <a:ea typeface="新宋体" panose="02010609030101010101" charset="-122"/>
                </a:endParaRPr>
              </a:p>
            </p:txBody>
          </p:sp>
        </p:grpSp>
        <p:sp>
          <p:nvSpPr>
            <p:cNvPr id="5" name="Rectangle 101"/>
            <p:cNvSpPr>
              <a:spLocks noChangeArrowheads="1"/>
            </p:cNvSpPr>
            <p:nvPr/>
          </p:nvSpPr>
          <p:spPr bwMode="auto">
            <a:xfrm>
              <a:off x="1435" y="2178"/>
              <a:ext cx="78" cy="249"/>
            </a:xfrm>
            <a:prstGeom prst="rect">
              <a:avLst/>
            </a:prstGeom>
            <a:solidFill>
              <a:srgbClr val="FFFFFF"/>
            </a:solidFill>
            <a:ln w="25400" cap="flat" algn="ctr">
              <a:solidFill>
                <a:srgbClr val="99336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6" name="Rectangle 102"/>
            <p:cNvSpPr>
              <a:spLocks noChangeArrowheads="1"/>
            </p:cNvSpPr>
            <p:nvPr/>
          </p:nvSpPr>
          <p:spPr bwMode="auto">
            <a:xfrm>
              <a:off x="3585" y="1680"/>
              <a:ext cx="78" cy="249"/>
            </a:xfrm>
            <a:prstGeom prst="rect">
              <a:avLst/>
            </a:prstGeom>
            <a:solidFill>
              <a:srgbClr val="FFFFFF"/>
            </a:solidFill>
            <a:ln w="25400" cap="flat" algn="ctr">
              <a:solidFill>
                <a:srgbClr val="993366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7" name="Text Box 103"/>
            <p:cNvSpPr>
              <a:spLocks noChangeArrowheads="1"/>
            </p:cNvSpPr>
            <p:nvPr/>
          </p:nvSpPr>
          <p:spPr bwMode="auto">
            <a:xfrm>
              <a:off x="1481" y="214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R</a:t>
              </a:r>
              <a:r>
                <a:rPr lang="en-US" altLang="zh-CN" sz="2400" b="1" baseline="-25000">
                  <a:ea typeface="新宋体" panose="02010609030101010101" charset="-122"/>
                </a:rPr>
                <a:t>b</a:t>
              </a:r>
              <a:endParaRPr lang="en-US" altLang="zh-CN" sz="2400" b="1" baseline="-25000">
                <a:ea typeface="新宋体" panose="02010609030101010101" charset="-122"/>
              </a:endParaRPr>
            </a:p>
          </p:txBody>
        </p:sp>
        <p:sp>
          <p:nvSpPr>
            <p:cNvPr id="8" name="Text Box 104"/>
            <p:cNvSpPr>
              <a:spLocks noChangeArrowheads="1"/>
            </p:cNvSpPr>
            <p:nvPr/>
          </p:nvSpPr>
          <p:spPr bwMode="auto">
            <a:xfrm>
              <a:off x="3649" y="1653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R</a:t>
              </a:r>
              <a:r>
                <a:rPr lang="en-US" altLang="zh-CN" sz="2400" b="1" baseline="-25000">
                  <a:ea typeface="新宋体" panose="02010609030101010101" charset="-122"/>
                </a:rPr>
                <a:t>c</a:t>
              </a:r>
              <a:endParaRPr lang="en-US" altLang="zh-CN" sz="2400" b="1" baseline="-25000">
                <a:ea typeface="新宋体" panose="02010609030101010101" charset="-122"/>
              </a:endParaRPr>
            </a:p>
          </p:txBody>
        </p:sp>
      </p:grpSp>
      <p:grpSp>
        <p:nvGrpSpPr>
          <p:cNvPr id="24" name="Group 930"/>
          <p:cNvGrpSpPr/>
          <p:nvPr/>
        </p:nvGrpSpPr>
        <p:grpSpPr bwMode="auto">
          <a:xfrm>
            <a:off x="4140313" y="1670050"/>
            <a:ext cx="885825" cy="458787"/>
            <a:chOff x="3242" y="825"/>
            <a:chExt cx="558" cy="289"/>
          </a:xfrm>
        </p:grpSpPr>
        <p:grpSp>
          <p:nvGrpSpPr>
            <p:cNvPr id="25" name="Group 931"/>
            <p:cNvGrpSpPr/>
            <p:nvPr/>
          </p:nvGrpSpPr>
          <p:grpSpPr bwMode="auto">
            <a:xfrm>
              <a:off x="3242" y="825"/>
              <a:ext cx="558" cy="251"/>
              <a:chOff x="3156" y="860"/>
              <a:chExt cx="558" cy="251"/>
            </a:xfrm>
          </p:grpSpPr>
          <p:sp>
            <p:nvSpPr>
              <p:cNvPr id="27" name="Oval 107"/>
              <p:cNvSpPr>
                <a:spLocks noChangeArrowheads="1"/>
              </p:cNvSpPr>
              <p:nvPr/>
            </p:nvSpPr>
            <p:spPr bwMode="auto">
              <a:xfrm>
                <a:off x="3302" y="927"/>
                <a:ext cx="198" cy="181"/>
              </a:xfrm>
              <a:prstGeom prst="ellipse">
                <a:avLst/>
              </a:prstGeom>
              <a:solidFill>
                <a:srgbClr val="FFFFFF"/>
              </a:solidFill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8" name="Text Box 108"/>
              <p:cNvSpPr>
                <a:spLocks noChangeArrowheads="1"/>
              </p:cNvSpPr>
              <p:nvPr/>
            </p:nvSpPr>
            <p:spPr bwMode="auto">
              <a:xfrm>
                <a:off x="3464" y="860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+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  <p:sp>
            <p:nvSpPr>
              <p:cNvPr id="29" name="Text Box 109"/>
              <p:cNvSpPr>
                <a:spLocks noChangeArrowheads="1"/>
              </p:cNvSpPr>
              <p:nvPr/>
            </p:nvSpPr>
            <p:spPr bwMode="auto">
              <a:xfrm>
                <a:off x="3156" y="861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-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</p:grpSp>
        <p:sp>
          <p:nvSpPr>
            <p:cNvPr id="26" name="Text Box 110"/>
            <p:cNvSpPr>
              <a:spLocks noChangeArrowheads="1"/>
            </p:cNvSpPr>
            <p:nvPr/>
          </p:nvSpPr>
          <p:spPr bwMode="auto">
            <a:xfrm>
              <a:off x="3371" y="82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A</a:t>
              </a:r>
              <a:endParaRPr lang="en-US" altLang="zh-CN" sz="2400" b="1">
                <a:ea typeface="新宋体" panose="02010609030101010101" charset="-122"/>
              </a:endParaRPr>
            </a:p>
          </p:txBody>
        </p:sp>
      </p:grpSp>
      <p:grpSp>
        <p:nvGrpSpPr>
          <p:cNvPr id="30" name="Group 936"/>
          <p:cNvGrpSpPr/>
          <p:nvPr/>
        </p:nvGrpSpPr>
        <p:grpSpPr bwMode="auto">
          <a:xfrm>
            <a:off x="1674925" y="2601912"/>
            <a:ext cx="885825" cy="458788"/>
            <a:chOff x="3242" y="825"/>
            <a:chExt cx="558" cy="289"/>
          </a:xfrm>
        </p:grpSpPr>
        <p:grpSp>
          <p:nvGrpSpPr>
            <p:cNvPr id="31" name="Group 937"/>
            <p:cNvGrpSpPr/>
            <p:nvPr/>
          </p:nvGrpSpPr>
          <p:grpSpPr bwMode="auto">
            <a:xfrm>
              <a:off x="3242" y="825"/>
              <a:ext cx="558" cy="251"/>
              <a:chOff x="3156" y="860"/>
              <a:chExt cx="558" cy="251"/>
            </a:xfrm>
          </p:grpSpPr>
          <p:sp>
            <p:nvSpPr>
              <p:cNvPr id="33" name="Oval 113"/>
              <p:cNvSpPr>
                <a:spLocks noChangeArrowheads="1"/>
              </p:cNvSpPr>
              <p:nvPr/>
            </p:nvSpPr>
            <p:spPr bwMode="auto">
              <a:xfrm>
                <a:off x="3302" y="927"/>
                <a:ext cx="198" cy="181"/>
              </a:xfrm>
              <a:prstGeom prst="ellipse">
                <a:avLst/>
              </a:prstGeom>
              <a:solidFill>
                <a:srgbClr val="FFFFFF"/>
              </a:solidFill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34" name="Text Box 114"/>
              <p:cNvSpPr>
                <a:spLocks noChangeArrowheads="1"/>
              </p:cNvSpPr>
              <p:nvPr/>
            </p:nvSpPr>
            <p:spPr bwMode="auto">
              <a:xfrm>
                <a:off x="3464" y="860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-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  <p:sp>
            <p:nvSpPr>
              <p:cNvPr id="35" name="Text Box 115"/>
              <p:cNvSpPr>
                <a:spLocks noChangeArrowheads="1"/>
              </p:cNvSpPr>
              <p:nvPr/>
            </p:nvSpPr>
            <p:spPr bwMode="auto">
              <a:xfrm>
                <a:off x="3156" y="861"/>
                <a:ext cx="25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新宋体" panose="02010609030101010101" charset="-122"/>
                  </a:rPr>
                  <a:t>+</a:t>
                </a:r>
                <a:endParaRPr lang="en-US" altLang="zh-CN" sz="2000" b="1">
                  <a:ea typeface="新宋体" panose="02010609030101010101" charset="-122"/>
                </a:endParaRPr>
              </a:p>
            </p:txBody>
          </p:sp>
        </p:grpSp>
        <p:sp>
          <p:nvSpPr>
            <p:cNvPr id="32" name="Text Box 116"/>
            <p:cNvSpPr>
              <a:spLocks noChangeArrowheads="1"/>
            </p:cNvSpPr>
            <p:nvPr/>
          </p:nvSpPr>
          <p:spPr bwMode="auto">
            <a:xfrm>
              <a:off x="3371" y="82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新宋体" panose="02010609030101010101" charset="-122"/>
                </a:rPr>
                <a:t>A</a:t>
              </a:r>
              <a:endParaRPr lang="en-US" altLang="zh-CN" sz="2400" b="1">
                <a:ea typeface="新宋体" panose="02010609030101010101" charset="-122"/>
              </a:endParaRPr>
            </a:p>
          </p:txBody>
        </p:sp>
      </p:grpSp>
      <p:sp>
        <p:nvSpPr>
          <p:cNvPr id="36" name="Text Box 137"/>
          <p:cNvSpPr>
            <a:spLocks noChangeArrowheads="1"/>
          </p:cNvSpPr>
          <p:nvPr/>
        </p:nvSpPr>
        <p:spPr bwMode="auto">
          <a:xfrm>
            <a:off x="142722" y="5341143"/>
            <a:ext cx="7700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输入回路：由基极和发射极组成的回路。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7" name="Text Box 138"/>
          <p:cNvSpPr>
            <a:spLocks noChangeArrowheads="1"/>
          </p:cNvSpPr>
          <p:nvPr/>
        </p:nvSpPr>
        <p:spPr bwMode="auto">
          <a:xfrm>
            <a:off x="142722" y="5964238"/>
            <a:ext cx="7700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输出回路：由集电极和发射极组成的回路。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38" name="Group 944"/>
          <p:cNvGrpSpPr/>
          <p:nvPr/>
        </p:nvGrpSpPr>
        <p:grpSpPr bwMode="auto">
          <a:xfrm>
            <a:off x="2240075" y="3021012"/>
            <a:ext cx="1020763" cy="1312863"/>
            <a:chOff x="1838" y="1838"/>
            <a:chExt cx="643" cy="827"/>
          </a:xfrm>
        </p:grpSpPr>
        <p:grpSp>
          <p:nvGrpSpPr>
            <p:cNvPr id="39" name="Group 945"/>
            <p:cNvGrpSpPr/>
            <p:nvPr/>
          </p:nvGrpSpPr>
          <p:grpSpPr bwMode="auto">
            <a:xfrm>
              <a:off x="1938" y="1838"/>
              <a:ext cx="512" cy="713"/>
              <a:chOff x="1911" y="1883"/>
              <a:chExt cx="512" cy="713"/>
            </a:xfrm>
          </p:grpSpPr>
          <p:sp>
            <p:nvSpPr>
              <p:cNvPr id="45" name="Arc 141"/>
              <p:cNvSpPr/>
              <p:nvPr/>
            </p:nvSpPr>
            <p:spPr bwMode="auto">
              <a:xfrm>
                <a:off x="1911" y="1883"/>
                <a:ext cx="512" cy="713"/>
              </a:xfrm>
              <a:custGeom>
                <a:avLst/>
                <a:gdLst>
                  <a:gd name="T0" fmla="*/ -1 w 21600"/>
                  <a:gd name="T1" fmla="*/ 0 h 21600"/>
                  <a:gd name="T2" fmla="*/ 21600 w 21600"/>
                  <a:gd name="T3" fmla="*/ 21600 h 21600"/>
                  <a:gd name="T4" fmla="*/ -1 w 21600"/>
                  <a:gd name="T5" fmla="*/ 0 h 21600"/>
                  <a:gd name="T6" fmla="*/ 2160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46" name="Line 142"/>
              <p:cNvSpPr>
                <a:spLocks noChangeShapeType="1"/>
              </p:cNvSpPr>
              <p:nvPr/>
            </p:nvSpPr>
            <p:spPr bwMode="auto">
              <a:xfrm>
                <a:off x="2249" y="2075"/>
                <a:ext cx="92" cy="128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" name="Group 948"/>
            <p:cNvGrpSpPr/>
            <p:nvPr/>
          </p:nvGrpSpPr>
          <p:grpSpPr bwMode="auto">
            <a:xfrm>
              <a:off x="1838" y="1848"/>
              <a:ext cx="643" cy="817"/>
              <a:chOff x="1838" y="1848"/>
              <a:chExt cx="643" cy="817"/>
            </a:xfrm>
          </p:grpSpPr>
          <p:sp>
            <p:nvSpPr>
              <p:cNvPr id="41" name="Rectangle 144"/>
              <p:cNvSpPr>
                <a:spLocks noChangeArrowheads="1"/>
              </p:cNvSpPr>
              <p:nvPr/>
            </p:nvSpPr>
            <p:spPr bwMode="auto">
              <a:xfrm>
                <a:off x="1838" y="1848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输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2" name="Rectangle 145"/>
              <p:cNvSpPr>
                <a:spLocks noChangeArrowheads="1"/>
              </p:cNvSpPr>
              <p:nvPr/>
            </p:nvSpPr>
            <p:spPr bwMode="auto">
              <a:xfrm>
                <a:off x="2029" y="1977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入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3" name="Rectangle 146"/>
              <p:cNvSpPr>
                <a:spLocks noChangeArrowheads="1"/>
              </p:cNvSpPr>
              <p:nvPr/>
            </p:nvSpPr>
            <p:spPr bwMode="auto">
              <a:xfrm>
                <a:off x="2139" y="2169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 dirty="0">
                    <a:solidFill>
                      <a:srgbClr val="FF33CC"/>
                    </a:solidFill>
                    <a:ea typeface="新宋体" panose="02010609030101010101" charset="-122"/>
                  </a:rPr>
                  <a:t>回</a:t>
                </a:r>
                <a:endParaRPr lang="zh-CN" altLang="en-US" sz="2000" b="1" dirty="0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44" name="Rectangle 147"/>
              <p:cNvSpPr>
                <a:spLocks noChangeArrowheads="1"/>
              </p:cNvSpPr>
              <p:nvPr/>
            </p:nvSpPr>
            <p:spPr bwMode="auto">
              <a:xfrm>
                <a:off x="2204" y="2415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路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</p:grpSp>
      </p:grpSp>
      <p:grpSp>
        <p:nvGrpSpPr>
          <p:cNvPr id="47" name="Group 953"/>
          <p:cNvGrpSpPr/>
          <p:nvPr/>
        </p:nvGrpSpPr>
        <p:grpSpPr bwMode="auto">
          <a:xfrm>
            <a:off x="3749788" y="2309812"/>
            <a:ext cx="874712" cy="1843088"/>
            <a:chOff x="2789" y="1390"/>
            <a:chExt cx="551" cy="1161"/>
          </a:xfrm>
        </p:grpSpPr>
        <p:grpSp>
          <p:nvGrpSpPr>
            <p:cNvPr id="48" name="Group 954"/>
            <p:cNvGrpSpPr/>
            <p:nvPr/>
          </p:nvGrpSpPr>
          <p:grpSpPr bwMode="auto">
            <a:xfrm>
              <a:off x="2807" y="1390"/>
              <a:ext cx="457" cy="1161"/>
              <a:chOff x="2807" y="1390"/>
              <a:chExt cx="457" cy="1161"/>
            </a:xfrm>
          </p:grpSpPr>
          <p:sp>
            <p:nvSpPr>
              <p:cNvPr id="54" name="Arc 150"/>
              <p:cNvSpPr/>
              <p:nvPr/>
            </p:nvSpPr>
            <p:spPr bwMode="auto">
              <a:xfrm flipH="1">
                <a:off x="2807" y="1390"/>
                <a:ext cx="457" cy="1161"/>
              </a:xfrm>
              <a:custGeom>
                <a:avLst/>
                <a:gdLst>
                  <a:gd name="T0" fmla="*/ -1 w 21600"/>
                  <a:gd name="T1" fmla="*/ 0 h 21600"/>
                  <a:gd name="T2" fmla="*/ 21600 w 21600"/>
                  <a:gd name="T3" fmla="*/ 21600 h 21600"/>
                  <a:gd name="T4" fmla="*/ -1 w 21600"/>
                  <a:gd name="T5" fmla="*/ 0 h 21600"/>
                  <a:gd name="T6" fmla="*/ 2160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55" name="Line 151"/>
              <p:cNvSpPr>
                <a:spLocks noChangeShapeType="1"/>
              </p:cNvSpPr>
              <p:nvPr/>
            </p:nvSpPr>
            <p:spPr bwMode="auto">
              <a:xfrm flipH="1">
                <a:off x="2816" y="2002"/>
                <a:ext cx="46" cy="311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" name="Group 957"/>
            <p:cNvGrpSpPr/>
            <p:nvPr/>
          </p:nvGrpSpPr>
          <p:grpSpPr bwMode="auto">
            <a:xfrm>
              <a:off x="2789" y="1411"/>
              <a:ext cx="551" cy="1072"/>
              <a:chOff x="2789" y="1411"/>
              <a:chExt cx="551" cy="1072"/>
            </a:xfrm>
          </p:grpSpPr>
          <p:sp>
            <p:nvSpPr>
              <p:cNvPr id="50" name="Rectangle 153"/>
              <p:cNvSpPr>
                <a:spLocks noChangeArrowheads="1"/>
              </p:cNvSpPr>
              <p:nvPr/>
            </p:nvSpPr>
            <p:spPr bwMode="auto">
              <a:xfrm>
                <a:off x="3063" y="1411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输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1" name="Rectangle 154"/>
              <p:cNvSpPr>
                <a:spLocks noChangeArrowheads="1"/>
              </p:cNvSpPr>
              <p:nvPr/>
            </p:nvSpPr>
            <p:spPr bwMode="auto">
              <a:xfrm>
                <a:off x="2917" y="1629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出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2" name="Rectangle 155"/>
              <p:cNvSpPr>
                <a:spLocks noChangeArrowheads="1"/>
              </p:cNvSpPr>
              <p:nvPr/>
            </p:nvSpPr>
            <p:spPr bwMode="auto">
              <a:xfrm>
                <a:off x="2826" y="1912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回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  <p:sp>
            <p:nvSpPr>
              <p:cNvPr id="53" name="Rectangle 156"/>
              <p:cNvSpPr>
                <a:spLocks noChangeArrowheads="1"/>
              </p:cNvSpPr>
              <p:nvPr/>
            </p:nvSpPr>
            <p:spPr bwMode="auto">
              <a:xfrm>
                <a:off x="2789" y="2233"/>
                <a:ext cx="27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olidFill>
                      <a:srgbClr val="FF33CC"/>
                    </a:solidFill>
                    <a:ea typeface="新宋体" panose="02010609030101010101" charset="-122"/>
                  </a:rPr>
                  <a:t>路</a:t>
                </a:r>
                <a:endParaRPr lang="zh-CN" altLang="en-US" sz="2000" b="1">
                  <a:solidFill>
                    <a:srgbClr val="FF33CC"/>
                  </a:solidFill>
                  <a:ea typeface="新宋体" panose="02010609030101010101" charset="-122"/>
                </a:endParaRPr>
              </a:p>
            </p:txBody>
          </p:sp>
        </p:grpSp>
      </p:grpSp>
      <p:sp>
        <p:nvSpPr>
          <p:cNvPr id="56" name="Text Box 83"/>
          <p:cNvSpPr>
            <a:spLocks noChangeArrowheads="1"/>
          </p:cNvSpPr>
          <p:nvPr/>
        </p:nvSpPr>
        <p:spPr bwMode="auto">
          <a:xfrm>
            <a:off x="472395" y="776911"/>
            <a:ext cx="3065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）测量电路</a:t>
            </a:r>
            <a:endParaRPr lang="zh-CN" altLang="en-US" sz="2800" b="1" dirty="0">
              <a:solidFill>
                <a:srgbClr val="FF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7" name="Text Box 80"/>
          <p:cNvSpPr>
            <a:spLocks noChangeArrowheads="1"/>
          </p:cNvSpPr>
          <p:nvPr/>
        </p:nvSpPr>
        <p:spPr bwMode="auto">
          <a:xfrm>
            <a:off x="1743982" y="1331460"/>
            <a:ext cx="739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>
              <a:solidFill>
                <a:srgbClr val="FF0000"/>
              </a:solidFill>
              <a:ea typeface="新宋体" panose="02010609030101010101" charset="-122"/>
            </a:endParaRPr>
          </a:p>
        </p:txBody>
      </p:sp>
      <p:sp>
        <p:nvSpPr>
          <p:cNvPr id="59" name="Text Box 169"/>
          <p:cNvSpPr>
            <a:spLocks noChangeArrowheads="1"/>
          </p:cNvSpPr>
          <p:nvPr/>
        </p:nvSpPr>
        <p:spPr bwMode="auto">
          <a:xfrm>
            <a:off x="2779825" y="668338"/>
            <a:ext cx="3514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i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ea typeface="新宋体" panose="02010609030101010101" charset="-122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(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BE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  <a:sym typeface="Symbol" panose="05050102010706020507" pitchFamily="18" charset="2"/>
              </a:rPr>
              <a:t>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baseline="-10000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2400" b="1" baseline="-30000" dirty="0" err="1">
                <a:solidFill>
                  <a:srgbClr val="FF0000"/>
                </a:solidFill>
                <a:ea typeface="新宋体" panose="02010609030101010101" charset="-122"/>
              </a:rPr>
              <a:t>CE</a:t>
            </a:r>
            <a:r>
              <a:rPr lang="en-US" altLang="zh-CN" sz="3200" b="1" baseline="-10000" dirty="0">
                <a:solidFill>
                  <a:srgbClr val="FF0000"/>
                </a:solidFill>
                <a:ea typeface="新宋体" panose="02010609030101010101" charset="-122"/>
              </a:rPr>
              <a:t>=const</a:t>
            </a:r>
            <a:endParaRPr lang="en-US" altLang="zh-CN" sz="3200" b="1" baseline="-10000" dirty="0">
              <a:solidFill>
                <a:srgbClr val="FF0000"/>
              </a:solidFill>
              <a:ea typeface="新宋体" panose="02010609030101010101" charset="-122"/>
            </a:endParaRPr>
          </a:p>
        </p:txBody>
      </p:sp>
      <p:grpSp>
        <p:nvGrpSpPr>
          <p:cNvPr id="60" name="Group 966"/>
          <p:cNvGrpSpPr/>
          <p:nvPr/>
        </p:nvGrpSpPr>
        <p:grpSpPr bwMode="auto">
          <a:xfrm>
            <a:off x="5040425" y="1922462"/>
            <a:ext cx="1392238" cy="2568575"/>
            <a:chOff x="3392" y="1557"/>
            <a:chExt cx="877" cy="1618"/>
          </a:xfrm>
        </p:grpSpPr>
        <p:grpSp>
          <p:nvGrpSpPr>
            <p:cNvPr id="61" name="Group 967"/>
            <p:cNvGrpSpPr/>
            <p:nvPr/>
          </p:nvGrpSpPr>
          <p:grpSpPr bwMode="auto">
            <a:xfrm>
              <a:off x="3392" y="1557"/>
              <a:ext cx="877" cy="1618"/>
              <a:chOff x="3602" y="1436"/>
              <a:chExt cx="877" cy="1618"/>
            </a:xfrm>
          </p:grpSpPr>
          <p:grpSp>
            <p:nvGrpSpPr>
              <p:cNvPr id="63" name="Group 968"/>
              <p:cNvGrpSpPr/>
              <p:nvPr/>
            </p:nvGrpSpPr>
            <p:grpSpPr bwMode="auto">
              <a:xfrm>
                <a:off x="3602" y="1436"/>
                <a:ext cx="535" cy="1618"/>
                <a:chOff x="3602" y="1436"/>
                <a:chExt cx="535" cy="1618"/>
              </a:xfrm>
            </p:grpSpPr>
            <p:sp>
              <p:nvSpPr>
                <p:cNvPr id="69" name="Line 119"/>
                <p:cNvSpPr>
                  <a:spLocks noChangeShapeType="1"/>
                </p:cNvSpPr>
                <p:nvPr/>
              </p:nvSpPr>
              <p:spPr bwMode="auto">
                <a:xfrm>
                  <a:off x="3602" y="1436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Line 120"/>
                <p:cNvSpPr>
                  <a:spLocks noChangeShapeType="1"/>
                </p:cNvSpPr>
                <p:nvPr/>
              </p:nvSpPr>
              <p:spPr bwMode="auto">
                <a:xfrm>
                  <a:off x="3604" y="3054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121"/>
                <p:cNvSpPr>
                  <a:spLocks noChangeShapeType="1"/>
                </p:cNvSpPr>
                <p:nvPr/>
              </p:nvSpPr>
              <p:spPr bwMode="auto">
                <a:xfrm>
                  <a:off x="4135" y="1444"/>
                  <a:ext cx="0" cy="1608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" name="Group 972"/>
              <p:cNvGrpSpPr/>
              <p:nvPr/>
            </p:nvGrpSpPr>
            <p:grpSpPr bwMode="auto">
              <a:xfrm>
                <a:off x="4012" y="1876"/>
                <a:ext cx="467" cy="603"/>
                <a:chOff x="4744" y="1863"/>
                <a:chExt cx="467" cy="603"/>
              </a:xfrm>
            </p:grpSpPr>
            <p:sp>
              <p:nvSpPr>
                <p:cNvPr id="65" name="Oval 123"/>
                <p:cNvSpPr>
                  <a:spLocks noChangeArrowheads="1"/>
                </p:cNvSpPr>
                <p:nvPr/>
              </p:nvSpPr>
              <p:spPr bwMode="auto">
                <a:xfrm>
                  <a:off x="4771" y="2074"/>
                  <a:ext cx="189" cy="207"/>
                </a:xfrm>
                <a:prstGeom prst="ellips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66" name="Text Box 124"/>
                <p:cNvSpPr>
                  <a:spLocks noChangeArrowheads="1"/>
                </p:cNvSpPr>
                <p:nvPr/>
              </p:nvSpPr>
              <p:spPr bwMode="auto">
                <a:xfrm>
                  <a:off x="4744" y="2034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U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sp>
              <p:nvSpPr>
                <p:cNvPr id="67" name="Text Box 125"/>
                <p:cNvSpPr>
                  <a:spLocks noChangeArrowheads="1"/>
                </p:cNvSpPr>
                <p:nvPr/>
              </p:nvSpPr>
              <p:spPr bwMode="auto">
                <a:xfrm>
                  <a:off x="4849" y="1863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+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sp>
              <p:nvSpPr>
                <p:cNvPr id="68" name="Text Box 126"/>
                <p:cNvSpPr>
                  <a:spLocks noChangeArrowheads="1"/>
                </p:cNvSpPr>
                <p:nvPr/>
              </p:nvSpPr>
              <p:spPr bwMode="auto">
                <a:xfrm>
                  <a:off x="4885" y="2178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-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</p:grpSp>
        </p:grpSp>
        <p:sp>
          <p:nvSpPr>
            <p:cNvPr id="62" name="Text Box 170"/>
            <p:cNvSpPr>
              <a:spLocks noChangeArrowheads="1"/>
            </p:cNvSpPr>
            <p:nvPr/>
          </p:nvSpPr>
          <p:spPr bwMode="auto">
            <a:xfrm>
              <a:off x="3628" y="2349"/>
              <a:ext cx="3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CE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grpSp>
        <p:nvGrpSpPr>
          <p:cNvPr id="72" name="Group 978"/>
          <p:cNvGrpSpPr/>
          <p:nvPr/>
        </p:nvGrpSpPr>
        <p:grpSpPr bwMode="auto">
          <a:xfrm>
            <a:off x="208075" y="2898775"/>
            <a:ext cx="1463675" cy="1595437"/>
            <a:chOff x="348" y="2172"/>
            <a:chExt cx="922" cy="1005"/>
          </a:xfrm>
        </p:grpSpPr>
        <p:grpSp>
          <p:nvGrpSpPr>
            <p:cNvPr id="73" name="Group 979"/>
            <p:cNvGrpSpPr/>
            <p:nvPr/>
          </p:nvGrpSpPr>
          <p:grpSpPr bwMode="auto">
            <a:xfrm>
              <a:off x="572" y="2172"/>
              <a:ext cx="698" cy="1005"/>
              <a:chOff x="775" y="2051"/>
              <a:chExt cx="698" cy="1005"/>
            </a:xfrm>
          </p:grpSpPr>
          <p:sp>
            <p:nvSpPr>
              <p:cNvPr id="75" name="Line 128"/>
              <p:cNvSpPr>
                <a:spLocks noChangeShapeType="1"/>
              </p:cNvSpPr>
              <p:nvPr/>
            </p:nvSpPr>
            <p:spPr bwMode="auto">
              <a:xfrm>
                <a:off x="940" y="3056"/>
                <a:ext cx="533" cy="0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129"/>
              <p:cNvSpPr>
                <a:spLocks noChangeShapeType="1"/>
              </p:cNvSpPr>
              <p:nvPr/>
            </p:nvSpPr>
            <p:spPr bwMode="auto">
              <a:xfrm>
                <a:off x="933" y="2051"/>
                <a:ext cx="533" cy="0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7" name="Group 982"/>
              <p:cNvGrpSpPr/>
              <p:nvPr/>
            </p:nvGrpSpPr>
            <p:grpSpPr bwMode="auto">
              <a:xfrm>
                <a:off x="775" y="2178"/>
                <a:ext cx="353" cy="603"/>
                <a:chOff x="613" y="2178"/>
                <a:chExt cx="353" cy="603"/>
              </a:xfrm>
            </p:grpSpPr>
            <p:sp>
              <p:nvSpPr>
                <p:cNvPr id="79" name="Text Box 131"/>
                <p:cNvSpPr>
                  <a:spLocks noChangeArrowheads="1"/>
                </p:cNvSpPr>
                <p:nvPr/>
              </p:nvSpPr>
              <p:spPr bwMode="auto">
                <a:xfrm>
                  <a:off x="661" y="2349"/>
                  <a:ext cx="2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U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  <p:grpSp>
              <p:nvGrpSpPr>
                <p:cNvPr id="80" name="Group 984"/>
                <p:cNvGrpSpPr/>
                <p:nvPr/>
              </p:nvGrpSpPr>
              <p:grpSpPr bwMode="auto">
                <a:xfrm>
                  <a:off x="613" y="2178"/>
                  <a:ext cx="353" cy="603"/>
                  <a:chOff x="613" y="2178"/>
                  <a:chExt cx="353" cy="603"/>
                </a:xfrm>
              </p:grpSpPr>
              <p:sp>
                <p:nvSpPr>
                  <p:cNvPr id="81" name="Oval 133"/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389"/>
                    <a:ext cx="189" cy="207"/>
                  </a:xfrm>
                  <a:prstGeom prst="ellips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82" name="Text Box 134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178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+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83" name="Text Box 135"/>
                  <p:cNvSpPr>
                    <a:spLocks noChangeArrowheads="1"/>
                  </p:cNvSpPr>
                  <p:nvPr/>
                </p:nvSpPr>
                <p:spPr bwMode="auto">
                  <a:xfrm>
                    <a:off x="640" y="2493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-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</p:grpSp>
          </p:grpSp>
          <p:sp>
            <p:nvSpPr>
              <p:cNvPr id="78" name="Line 136"/>
              <p:cNvSpPr>
                <a:spLocks noChangeShapeType="1"/>
              </p:cNvSpPr>
              <p:nvPr/>
            </p:nvSpPr>
            <p:spPr bwMode="auto">
              <a:xfrm>
                <a:off x="946" y="2055"/>
                <a:ext cx="0" cy="997"/>
              </a:xfrm>
              <a:prstGeom prst="line">
                <a:avLst/>
              </a:prstGeom>
              <a:noFill/>
              <a:ln w="25400" cap="flat" algn="ctr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Rectangle 172"/>
            <p:cNvSpPr>
              <a:spLocks noChangeArrowheads="1"/>
            </p:cNvSpPr>
            <p:nvPr/>
          </p:nvSpPr>
          <p:spPr bwMode="auto">
            <a:xfrm>
              <a:off x="348" y="2482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BE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sp>
        <p:nvSpPr>
          <p:cNvPr id="58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Box 113"/>
          <p:cNvSpPr>
            <a:spLocks noChangeArrowheads="1"/>
          </p:cNvSpPr>
          <p:nvPr/>
        </p:nvSpPr>
        <p:spPr bwMode="auto">
          <a:xfrm>
            <a:off x="5967285" y="451898"/>
            <a:ext cx="6287656" cy="16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(3)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4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≥1V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时，集电结进入反偏状态（</a:t>
            </a:r>
            <a:r>
              <a:rPr lang="en-US" altLang="zh-CN" sz="24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CB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 </a:t>
            </a:r>
            <a:r>
              <a:rPr lang="en-US" altLang="zh-CN" sz="24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–</a:t>
            </a:r>
            <a:r>
              <a:rPr lang="en-US" altLang="zh-CN" sz="24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4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BE 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&gt;0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）；形成稳定的电流分配，表现为特性曲线基本不变。这是正常使用状态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  <a:endParaRPr lang="zh-CN" altLang="en-US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85" name="Group 61"/>
          <p:cNvGrpSpPr/>
          <p:nvPr/>
        </p:nvGrpSpPr>
        <p:grpSpPr bwMode="auto">
          <a:xfrm>
            <a:off x="7486231" y="2390680"/>
            <a:ext cx="3982413" cy="4092668"/>
            <a:chOff x="3635" y="824"/>
            <a:chExt cx="2157" cy="2025"/>
          </a:xfrm>
        </p:grpSpPr>
        <p:graphicFrame>
          <p:nvGraphicFramePr>
            <p:cNvPr id="86" name="Object 281"/>
            <p:cNvGraphicFramePr>
              <a:graphicFrameLocks noChangeAspect="1"/>
            </p:cNvGraphicFramePr>
            <p:nvPr/>
          </p:nvGraphicFramePr>
          <p:xfrm>
            <a:off x="3635" y="824"/>
            <a:ext cx="2115" cy="2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" name="位图图像" r:id="rId3" imgW="2457450" imgH="2352675" progId="Paint.Picture">
                    <p:embed/>
                  </p:oleObj>
                </mc:Choice>
                <mc:Fallback>
                  <p:oleObj name="位图图像" r:id="rId3" imgW="2457450" imgH="2352675" progId="Paint.Picture">
                    <p:embed/>
                    <p:pic>
                      <p:nvPicPr>
                        <p:cNvPr id="0" name="Object 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" y="824"/>
                          <a:ext cx="2115" cy="2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Text Box 192"/>
            <p:cNvSpPr>
              <a:spLocks noChangeArrowheads="1"/>
            </p:cNvSpPr>
            <p:nvPr/>
          </p:nvSpPr>
          <p:spPr bwMode="auto">
            <a:xfrm>
              <a:off x="5007" y="1109"/>
              <a:ext cx="7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rgbClr val="FF33CC"/>
                  </a:solidFill>
                  <a:ea typeface="新宋体" panose="02010609030101010101" charset="-122"/>
                </a:rPr>
                <a:t>V</a:t>
              </a:r>
              <a:r>
                <a:rPr lang="en-US" altLang="zh-CN" sz="1800" b="1" baseline="-25000" dirty="0">
                  <a:solidFill>
                    <a:srgbClr val="FF33CC"/>
                  </a:solidFill>
                  <a:ea typeface="新宋体" panose="02010609030101010101" charset="-122"/>
                </a:rPr>
                <a:t>CE</a:t>
              </a:r>
              <a:r>
                <a:rPr lang="en-US" altLang="zh-CN" sz="1800" b="1" dirty="0">
                  <a:solidFill>
                    <a:srgbClr val="FF33CC"/>
                  </a:solidFill>
                  <a:ea typeface="新宋体" panose="02010609030101010101" charset="-122"/>
                </a:rPr>
                <a:t>≥1</a:t>
              </a:r>
              <a:r>
                <a:rPr lang="en-US" altLang="zh-CN" sz="1200" b="1" dirty="0">
                  <a:solidFill>
                    <a:srgbClr val="FF33CC"/>
                  </a:solidFill>
                  <a:ea typeface="新宋体" panose="02010609030101010101" charset="-122"/>
                </a:rPr>
                <a:t>V</a:t>
              </a:r>
              <a:endParaRPr lang="en-US" altLang="zh-CN" sz="1200" b="1" dirty="0">
                <a:solidFill>
                  <a:srgbClr val="FF33CC"/>
                </a:solidFill>
                <a:ea typeface="新宋体" panose="0201060903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9"/>
          <p:cNvSpPr>
            <a:spLocks noChangeArrowheads="1"/>
          </p:cNvSpPr>
          <p:nvPr/>
        </p:nvSpPr>
        <p:spPr bwMode="auto">
          <a:xfrm>
            <a:off x="219075" y="654074"/>
            <a:ext cx="5711825" cy="519113"/>
          </a:xfrm>
          <a:prstGeom prst="rect">
            <a:avLst/>
          </a:prstGeom>
          <a:noFill/>
          <a:ln w="12700" cap="flat" algn="ctr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）输入特性曲线的三个区</a:t>
            </a:r>
            <a:endParaRPr lang="zh-CN" altLang="en-US" sz="2800" b="1" dirty="0">
              <a:solidFill>
                <a:srgbClr val="FF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Rectangle 33"/>
          <p:cNvSpPr>
            <a:spLocks noChangeArrowheads="1"/>
          </p:cNvSpPr>
          <p:nvPr/>
        </p:nvSpPr>
        <p:spPr bwMode="auto">
          <a:xfrm>
            <a:off x="457576" y="1655057"/>
            <a:ext cx="2676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①</a:t>
            </a:r>
            <a:r>
              <a:rPr lang="zh-CN" altLang="en-US" sz="2800" b="1" dirty="0">
                <a:solidFill>
                  <a:srgbClr val="3333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死区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Rectangle 34"/>
          <p:cNvSpPr>
            <a:spLocks noChangeArrowheads="1"/>
          </p:cNvSpPr>
          <p:nvPr/>
        </p:nvSpPr>
        <p:spPr bwMode="auto">
          <a:xfrm>
            <a:off x="457575" y="3083680"/>
            <a:ext cx="2676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rgbClr val="99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②</a:t>
            </a:r>
            <a:r>
              <a:rPr lang="zh-CN" altLang="en-US" sz="2800" b="1" dirty="0">
                <a:solidFill>
                  <a:srgbClr val="9900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非线性区</a:t>
            </a:r>
            <a:endParaRPr lang="zh-CN" altLang="en-US" sz="2800" b="1" dirty="0">
              <a:solidFill>
                <a:srgbClr val="9900CC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457575" y="4566689"/>
            <a:ext cx="314196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marL="342900" indent="-3429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③</a:t>
            </a:r>
            <a:r>
              <a:rPr lang="zh-CN" altLang="en-US" sz="2800" b="1" dirty="0">
                <a:solidFill>
                  <a:srgbClr val="FF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近似线性区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Text Box 36"/>
          <p:cNvSpPr>
            <a:spLocks noChangeArrowheads="1"/>
          </p:cNvSpPr>
          <p:nvPr/>
        </p:nvSpPr>
        <p:spPr bwMode="auto">
          <a:xfrm>
            <a:off x="1236272" y="2324494"/>
            <a:ext cx="406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&lt;0.5V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结反偏。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" name="Text Box 37"/>
          <p:cNvSpPr>
            <a:spLocks noChangeArrowheads="1"/>
          </p:cNvSpPr>
          <p:nvPr/>
        </p:nvSpPr>
        <p:spPr bwMode="auto">
          <a:xfrm>
            <a:off x="1236272" y="3764557"/>
            <a:ext cx="5886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≈0.5~0.6V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结接近正偏。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1268247" y="5119213"/>
            <a:ext cx="6088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＞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0.6V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结正偏，</a:t>
            </a:r>
            <a:r>
              <a:rPr lang="en-US" altLang="zh-CN" sz="2800" b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J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结反偏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0" name="Text Box 169"/>
          <p:cNvSpPr>
            <a:spLocks noChangeArrowheads="1"/>
          </p:cNvSpPr>
          <p:nvPr/>
        </p:nvSpPr>
        <p:spPr bwMode="auto">
          <a:xfrm>
            <a:off x="7177974" y="753150"/>
            <a:ext cx="3514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i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ea typeface="新宋体" panose="02010609030101010101" charset="-122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(</a:t>
            </a:r>
            <a:r>
              <a:rPr lang="en-US" altLang="zh-CN" sz="3200" b="1" i="1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3200" b="1" baseline="-25000" dirty="0" err="1">
                <a:solidFill>
                  <a:srgbClr val="FF0000"/>
                </a:solidFill>
                <a:ea typeface="新宋体" panose="02010609030101010101" charset="-122"/>
              </a:rPr>
              <a:t>BE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  <a:sym typeface="Symbol" panose="05050102010706020507" pitchFamily="18" charset="2"/>
              </a:rPr>
              <a:t></a:t>
            </a:r>
            <a:r>
              <a:rPr lang="en-US" altLang="zh-CN" sz="3200" b="1" dirty="0">
                <a:solidFill>
                  <a:srgbClr val="FF0000"/>
                </a:solidFill>
                <a:ea typeface="新宋体" panose="02010609030101010101" charset="-122"/>
              </a:rPr>
              <a:t> </a:t>
            </a:r>
            <a:r>
              <a:rPr lang="en-US" altLang="zh-CN" sz="3200" b="1" i="1" baseline="-10000" dirty="0" err="1">
                <a:solidFill>
                  <a:srgbClr val="FF0000"/>
                </a:solidFill>
                <a:ea typeface="新宋体" panose="02010609030101010101" charset="-122"/>
              </a:rPr>
              <a:t>v</a:t>
            </a:r>
            <a:r>
              <a:rPr lang="en-US" altLang="zh-CN" sz="2400" b="1" baseline="-30000" dirty="0" err="1">
                <a:solidFill>
                  <a:srgbClr val="FF0000"/>
                </a:solidFill>
                <a:ea typeface="新宋体" panose="02010609030101010101" charset="-122"/>
              </a:rPr>
              <a:t>CE</a:t>
            </a:r>
            <a:r>
              <a:rPr lang="en-US" altLang="zh-CN" sz="3200" b="1" baseline="-10000" dirty="0">
                <a:solidFill>
                  <a:srgbClr val="FF0000"/>
                </a:solidFill>
                <a:ea typeface="新宋体" panose="02010609030101010101" charset="-122"/>
              </a:rPr>
              <a:t>=const</a:t>
            </a:r>
            <a:endParaRPr lang="en-US" altLang="zh-CN" sz="3200" b="1" baseline="-10000" dirty="0">
              <a:solidFill>
                <a:srgbClr val="FF0000"/>
              </a:solidFill>
              <a:ea typeface="新宋体" panose="02010609030101010101" charset="-122"/>
            </a:endParaRPr>
          </a:p>
        </p:txBody>
      </p:sp>
      <p:grpSp>
        <p:nvGrpSpPr>
          <p:cNvPr id="12" name="Group 80"/>
          <p:cNvGrpSpPr/>
          <p:nvPr/>
        </p:nvGrpSpPr>
        <p:grpSpPr bwMode="auto">
          <a:xfrm>
            <a:off x="6583514" y="1721881"/>
            <a:ext cx="5231191" cy="4369323"/>
            <a:chOff x="5687136" y="2169524"/>
            <a:chExt cx="3379374" cy="3053406"/>
          </a:xfrm>
        </p:grpSpPr>
        <p:pic>
          <p:nvPicPr>
            <p:cNvPr id="13" name="Picture 41"/>
            <p:cNvPicPr preferRelativeResize="0">
              <a:picLocks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7136" y="2189540"/>
              <a:ext cx="3363876" cy="3033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tangle 39"/>
            <p:cNvSpPr>
              <a:spLocks noChangeArrowheads="1"/>
            </p:cNvSpPr>
            <p:nvPr/>
          </p:nvSpPr>
          <p:spPr bwMode="auto">
            <a:xfrm>
              <a:off x="7519343" y="2252182"/>
              <a:ext cx="1036276" cy="396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FF0000"/>
                  </a:solidFill>
                  <a:ea typeface="新宋体" panose="02010609030101010101" charset="-122"/>
                </a:rPr>
                <a:t>V</a:t>
              </a:r>
              <a:r>
                <a:rPr lang="en-US" altLang="zh-CN" sz="2000" b="1" baseline="-25000">
                  <a:solidFill>
                    <a:srgbClr val="FF0000"/>
                  </a:solidFill>
                  <a:ea typeface="新宋体" panose="02010609030101010101" charset="-122"/>
                </a:rPr>
                <a:t>CE</a:t>
              </a:r>
              <a:r>
                <a:rPr lang="en-US" altLang="zh-CN" sz="2000" b="1">
                  <a:solidFill>
                    <a:srgbClr val="FF0000"/>
                  </a:solidFill>
                  <a:ea typeface="新宋体" panose="02010609030101010101" charset="-122"/>
                </a:rPr>
                <a:t>≥1V</a:t>
              </a:r>
              <a:endParaRPr lang="en-US" altLang="zh-CN" sz="2000" b="1">
                <a:solidFill>
                  <a:srgbClr val="FF0000"/>
                </a:solidFill>
                <a:ea typeface="新宋体" panose="02010609030101010101" charset="-122"/>
              </a:endParaRPr>
            </a:p>
          </p:txBody>
        </p:sp>
        <p:sp>
          <p:nvSpPr>
            <p:cNvPr id="15" name="Rectangle 39"/>
            <p:cNvSpPr>
              <a:spLocks noChangeArrowheads="1"/>
            </p:cNvSpPr>
            <p:nvPr/>
          </p:nvSpPr>
          <p:spPr bwMode="auto">
            <a:xfrm>
              <a:off x="8482693" y="4465856"/>
              <a:ext cx="575497" cy="396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ea typeface="新宋体" panose="02010609030101010101" charset="-122"/>
                </a:rPr>
                <a:t>V</a:t>
              </a:r>
              <a:r>
                <a:rPr lang="en-US" altLang="zh-CN" sz="2000" b="1" baseline="-25000">
                  <a:ea typeface="新宋体" panose="02010609030101010101" charset="-122"/>
                </a:rPr>
                <a:t>BE</a:t>
              </a:r>
              <a:endParaRPr lang="en-US" altLang="zh-CN" sz="2000" b="1" baseline="-25000">
                <a:ea typeface="新宋体" panose="02010609030101010101" charset="-122"/>
              </a:endParaRPr>
            </a:p>
          </p:txBody>
        </p:sp>
        <p:sp>
          <p:nvSpPr>
            <p:cNvPr id="16" name="Rectangle 39"/>
            <p:cNvSpPr>
              <a:spLocks noChangeArrowheads="1"/>
            </p:cNvSpPr>
            <p:nvPr/>
          </p:nvSpPr>
          <p:spPr bwMode="auto">
            <a:xfrm>
              <a:off x="6186366" y="2169524"/>
              <a:ext cx="503997" cy="396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ea typeface="新宋体" panose="02010609030101010101" charset="-122"/>
                </a:rPr>
                <a:t>I</a:t>
              </a:r>
              <a:r>
                <a:rPr lang="en-US" altLang="zh-CN" sz="2000" b="1" baseline="-25000">
                  <a:ea typeface="新宋体" panose="02010609030101010101" charset="-122"/>
                </a:rPr>
                <a:t>BE</a:t>
              </a:r>
              <a:endParaRPr lang="en-US" altLang="zh-CN" sz="2000" b="1" baseline="-25000">
                <a:ea typeface="新宋体" panose="02010609030101010101" charset="-122"/>
              </a:endParaRPr>
            </a:p>
          </p:txBody>
        </p:sp>
      </p:grpSp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grpId="0" nodeType="clickEffect"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50670" y="1332865"/>
            <a:ext cx="4429125" cy="112458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eaLnBrk="0" hangingPunct="0"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输出特性曲线</a:t>
            </a:r>
            <a:r>
              <a:rPr kumimoji="1" lang="en-US" altLang="zh-CN" sz="2800" b="1" dirty="0">
                <a:latin typeface="Times New Roman" panose="02020603050405020304"/>
                <a:ea typeface="楷体_GB2312" panose="02010609030101010101" pitchFamily="49" charset="-122"/>
              </a:rPr>
              <a:t>——</a:t>
            </a:r>
            <a:r>
              <a:rPr kumimoji="1"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C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kumimoji="1" lang="en-US" altLang="zh-CN" sz="2800" b="1" baseline="-25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CE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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kumimoji="1" lang="en-US" altLang="zh-CN" sz="2800" b="1" i="1" baseline="-10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kumimoji="1" lang="en-US" altLang="zh-CN" sz="2800" b="1" baseline="-30000" dirty="0" err="1">
                <a:latin typeface="Times New Roman" panose="02020603050405020304" pitchFamily="18" charset="0"/>
                <a:ea typeface="楷体_GB2312" panose="02010609030101010101" pitchFamily="49" charset="-122"/>
              </a:rPr>
              <a:t>B</a:t>
            </a:r>
            <a:r>
              <a:rPr kumimoji="1" lang="en-US" altLang="zh-CN" sz="2800" b="1" baseline="-10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=const</a:t>
            </a:r>
            <a:endParaRPr kumimoji="1" lang="en-US" altLang="zh-CN" sz="28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88"/>
          <p:cNvGrpSpPr/>
          <p:nvPr/>
        </p:nvGrpSpPr>
        <p:grpSpPr bwMode="auto">
          <a:xfrm>
            <a:off x="654278" y="1479096"/>
            <a:ext cx="5648325" cy="3608388"/>
            <a:chOff x="147" y="1476"/>
            <a:chExt cx="3558" cy="2273"/>
          </a:xfrm>
        </p:grpSpPr>
        <p:grpSp>
          <p:nvGrpSpPr>
            <p:cNvPr id="11" name="Group 89"/>
            <p:cNvGrpSpPr/>
            <p:nvPr/>
          </p:nvGrpSpPr>
          <p:grpSpPr bwMode="auto">
            <a:xfrm>
              <a:off x="147" y="1476"/>
              <a:ext cx="3558" cy="2273"/>
              <a:chOff x="775" y="1239"/>
              <a:chExt cx="3704" cy="2273"/>
            </a:xfrm>
          </p:grpSpPr>
          <p:grpSp>
            <p:nvGrpSpPr>
              <p:cNvPr id="20" name="Group 90"/>
              <p:cNvGrpSpPr/>
              <p:nvPr/>
            </p:nvGrpSpPr>
            <p:grpSpPr bwMode="auto">
              <a:xfrm>
                <a:off x="1243" y="1254"/>
                <a:ext cx="2878" cy="2258"/>
                <a:chOff x="1243" y="1254"/>
                <a:chExt cx="2878" cy="2258"/>
              </a:xfrm>
            </p:grpSpPr>
            <p:grpSp>
              <p:nvGrpSpPr>
                <p:cNvPr id="53" name="Group 91"/>
                <p:cNvGrpSpPr/>
                <p:nvPr/>
              </p:nvGrpSpPr>
              <p:grpSpPr bwMode="auto">
                <a:xfrm>
                  <a:off x="1243" y="1254"/>
                  <a:ext cx="2876" cy="2258"/>
                  <a:chOff x="1243" y="1254"/>
                  <a:chExt cx="2876" cy="2258"/>
                </a:xfrm>
              </p:grpSpPr>
              <p:graphicFrame>
                <p:nvGraphicFramePr>
                  <p:cNvPr id="58" name="Object 21"/>
                  <p:cNvGraphicFramePr>
                    <a:graphicFrameLocks noChangeAspect="1"/>
                  </p:cNvGraphicFramePr>
                  <p:nvPr/>
                </p:nvGraphicFramePr>
                <p:xfrm>
                  <a:off x="1243" y="1254"/>
                  <a:ext cx="2876" cy="225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" name="BMP 图象" r:id="rId1" imgW="4523740" imgH="3258820" progId="Paint.Picture">
                          <p:embed/>
                        </p:oleObj>
                      </mc:Choice>
                      <mc:Fallback>
                        <p:oleObj name="BMP 图象" r:id="rId1" imgW="4523740" imgH="3258820" progId="Paint.Picture">
                          <p:embed/>
                          <p:pic>
                            <p:nvPicPr>
                              <p:cNvPr id="0" name="Object 2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43" y="1254"/>
                                <a:ext cx="2876" cy="225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59" name="Text Box 22"/>
                  <p:cNvSpPr>
                    <a:spLocks noChangeArrowheads="1"/>
                  </p:cNvSpPr>
                  <p:nvPr/>
                </p:nvSpPr>
                <p:spPr bwMode="auto">
                  <a:xfrm>
                    <a:off x="2231" y="1954"/>
                    <a:ext cx="29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  <a:sym typeface="Symbol" panose="05050102010706020507" pitchFamily="18" charset="2"/>
                      </a:rPr>
                      <a:t>+</a:t>
                    </a:r>
                    <a:endParaRPr lang="en-US" altLang="zh-CN" sz="2400" b="1">
                      <a:ea typeface="新宋体" panose="02010609030101010101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60" name="Text Box 23"/>
                  <p:cNvSpPr>
                    <a:spLocks noChangeArrowheads="1"/>
                  </p:cNvSpPr>
                  <p:nvPr/>
                </p:nvSpPr>
                <p:spPr bwMode="auto">
                  <a:xfrm>
                    <a:off x="2143" y="1786"/>
                    <a:ext cx="28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  <a:sym typeface="Symbol" panose="05050102010706020507" pitchFamily="18" charset="2"/>
                      </a:rPr>
                      <a:t>b</a:t>
                    </a:r>
                    <a:endParaRPr lang="en-US" altLang="zh-CN" sz="2400" b="1">
                      <a:ea typeface="新宋体" panose="02010609030101010101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61" name="Text Box 24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465"/>
                    <a:ext cx="29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  <a:sym typeface="Symbol" panose="05050102010706020507" pitchFamily="18" charset="2"/>
                      </a:rPr>
                      <a:t>c</a:t>
                    </a:r>
                    <a:endParaRPr lang="en-US" altLang="zh-CN" sz="2400" b="1">
                      <a:ea typeface="新宋体" panose="02010609030101010101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62" name="Text Box 25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2250"/>
                    <a:ext cx="29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  <a:sym typeface="Symbol" panose="05050102010706020507" pitchFamily="18" charset="2"/>
                      </a:rPr>
                      <a:t>e</a:t>
                    </a:r>
                    <a:endParaRPr lang="en-US" altLang="zh-CN" sz="2400" b="1">
                      <a:ea typeface="新宋体" panose="02010609030101010101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63" name="Text Box 26"/>
                  <p:cNvSpPr>
                    <a:spLocks noChangeArrowheads="1"/>
                  </p:cNvSpPr>
                  <p:nvPr/>
                </p:nvSpPr>
                <p:spPr bwMode="auto">
                  <a:xfrm>
                    <a:off x="1570" y="2356"/>
                    <a:ext cx="385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i="1">
                        <a:ea typeface="新宋体" panose="02010609030101010101" charset="-122"/>
                      </a:rPr>
                      <a:t>V</a:t>
                    </a:r>
                    <a:r>
                      <a:rPr lang="en-US" altLang="zh-CN" sz="2400" b="1" baseline="-25000">
                        <a:ea typeface="新宋体" panose="02010609030101010101" charset="-122"/>
                      </a:rPr>
                      <a:t>BB</a:t>
                    </a:r>
                    <a:endParaRPr lang="en-US" altLang="zh-CN" sz="2400" b="1" baseline="-25000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64" name="Text Box 27"/>
                  <p:cNvSpPr>
                    <a:spLocks noChangeArrowheads="1"/>
                  </p:cNvSpPr>
                  <p:nvPr/>
                </p:nvSpPr>
                <p:spPr bwMode="auto">
                  <a:xfrm>
                    <a:off x="3200" y="2107"/>
                    <a:ext cx="38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2400" b="1" i="1">
                        <a:ea typeface="新宋体" panose="02010609030101010101" charset="-122"/>
                      </a:rPr>
                      <a:t>V</a:t>
                    </a:r>
                    <a:r>
                      <a:rPr lang="en-US" altLang="zh-CN" sz="2400" b="1" baseline="-25000">
                        <a:ea typeface="新宋体" panose="02010609030101010101" charset="-122"/>
                      </a:rPr>
                      <a:t>CC</a:t>
                    </a:r>
                    <a:endParaRPr lang="en-US" altLang="zh-CN" sz="2400" b="1" baseline="-25000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65" name="Text Box 28"/>
                  <p:cNvSpPr>
                    <a:spLocks noChangeArrowheads="1"/>
                  </p:cNvSpPr>
                  <p:nvPr/>
                </p:nvSpPr>
                <p:spPr bwMode="auto">
                  <a:xfrm>
                    <a:off x="2255" y="2079"/>
                    <a:ext cx="36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i="1">
                        <a:ea typeface="新宋体" panose="02010609030101010101" charset="-122"/>
                      </a:rPr>
                      <a:t>v</a:t>
                    </a:r>
                    <a:r>
                      <a:rPr lang="en-US" altLang="zh-CN" sz="2400" b="1" baseline="-25000">
                        <a:ea typeface="新宋体" panose="02010609030101010101" charset="-122"/>
                      </a:rPr>
                      <a:t>BE</a:t>
                    </a:r>
                    <a:endParaRPr lang="en-US" altLang="zh-CN" sz="2400" b="1" baseline="-25000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66" name="Text Box 29"/>
                  <p:cNvSpPr>
                    <a:spLocks noChangeArrowheads="1"/>
                  </p:cNvSpPr>
                  <p:nvPr/>
                </p:nvSpPr>
                <p:spPr bwMode="auto">
                  <a:xfrm>
                    <a:off x="2911" y="1441"/>
                    <a:ext cx="31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i="1">
                        <a:ea typeface="新宋体" panose="02010609030101010101" charset="-122"/>
                        <a:sym typeface="Kingsoft Phonetic Plain"/>
                      </a:rPr>
                      <a:t>i</a:t>
                    </a:r>
                    <a:r>
                      <a:rPr lang="en-US" altLang="zh-CN" sz="2400" b="1" baseline="-25000">
                        <a:ea typeface="新宋体" panose="02010609030101010101" charset="-122"/>
                      </a:rPr>
                      <a:t>C</a:t>
                    </a:r>
                    <a:endParaRPr lang="en-US" altLang="zh-CN" sz="2400" b="1" baseline="-25000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67" name="Text Box 30"/>
                  <p:cNvSpPr>
                    <a:spLocks noChangeArrowheads="1"/>
                  </p:cNvSpPr>
                  <p:nvPr/>
                </p:nvSpPr>
                <p:spPr bwMode="auto">
                  <a:xfrm>
                    <a:off x="1876" y="1641"/>
                    <a:ext cx="264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1800" b="1" i="1">
                        <a:ea typeface="新宋体" panose="02010609030101010101" charset="-122"/>
                        <a:sym typeface="Kingsoft Phonetic Plain"/>
                      </a:rPr>
                      <a:t>i</a:t>
                    </a:r>
                    <a:r>
                      <a:rPr lang="en-US" altLang="zh-CN" sz="1800" b="1" baseline="-25000">
                        <a:ea typeface="新宋体" panose="02010609030101010101" charset="-122"/>
                      </a:rPr>
                      <a:t>B</a:t>
                    </a:r>
                    <a:endParaRPr lang="en-US" altLang="zh-CN" sz="1800" b="1" baseline="-25000">
                      <a:ea typeface="新宋体" panose="02010609030101010101" charset="-122"/>
                    </a:endParaRPr>
                  </a:p>
                </p:txBody>
              </p:sp>
              <p:grpSp>
                <p:nvGrpSpPr>
                  <p:cNvPr id="68" name="Group 102"/>
                  <p:cNvGrpSpPr/>
                  <p:nvPr/>
                </p:nvGrpSpPr>
                <p:grpSpPr bwMode="auto">
                  <a:xfrm>
                    <a:off x="2708" y="1580"/>
                    <a:ext cx="362" cy="870"/>
                    <a:chOff x="4224" y="2112"/>
                    <a:chExt cx="360" cy="790"/>
                  </a:xfrm>
                </p:grpSpPr>
                <p:sp>
                  <p:nvSpPr>
                    <p:cNvPr id="70" name="Text Box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72" y="2112"/>
                      <a:ext cx="240" cy="2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rIns="0">
                      <a:spAutoFit/>
                    </a:bodyPr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 b="1">
                          <a:ea typeface="新宋体" panose="02010609030101010101" charset="-122"/>
                          <a:sym typeface="Symbol" panose="05050102010706020507" pitchFamily="18" charset="2"/>
                        </a:rPr>
                        <a:t>+</a:t>
                      </a:r>
                      <a:endParaRPr lang="en-US" altLang="zh-CN" sz="2400" b="1">
                        <a:ea typeface="新宋体" panose="02010609030101010101" charset="-122"/>
                        <a:sym typeface="Symbol" panose="05050102010706020507" pitchFamily="18" charset="2"/>
                      </a:endParaRPr>
                    </a:p>
                  </p:txBody>
                </p:sp>
                <p:sp>
                  <p:nvSpPr>
                    <p:cNvPr id="71" name="Text Box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72" y="2640"/>
                      <a:ext cx="192" cy="2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rIns="0">
                      <a:spAutoFit/>
                    </a:bodyPr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 b="1">
                          <a:ea typeface="新宋体" panose="02010609030101010101" charset="-122"/>
                          <a:sym typeface="Symbol" panose="05050102010706020507" pitchFamily="18" charset="2"/>
                        </a:rPr>
                        <a:t>-</a:t>
                      </a:r>
                      <a:endParaRPr lang="en-US" altLang="zh-CN" sz="2400" b="1">
                        <a:ea typeface="新宋体" panose="02010609030101010101" charset="-122"/>
                        <a:sym typeface="Symbol" panose="05050102010706020507" pitchFamily="18" charset="2"/>
                      </a:endParaRPr>
                    </a:p>
                  </p:txBody>
                </p:sp>
                <p:sp>
                  <p:nvSpPr>
                    <p:cNvPr id="72" name="Text Box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4" y="2352"/>
                      <a:ext cx="360" cy="2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rIns="0">
                      <a:spAutoFit/>
                    </a:bodyPr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 b="1" i="1">
                          <a:ea typeface="新宋体" panose="02010609030101010101" charset="-122"/>
                        </a:rPr>
                        <a:t>v</a:t>
                      </a:r>
                      <a:r>
                        <a:rPr lang="en-US" altLang="zh-CN" sz="2400" b="1" baseline="-25000">
                          <a:ea typeface="新宋体" panose="02010609030101010101" charset="-122"/>
                        </a:rPr>
                        <a:t>CE</a:t>
                      </a:r>
                      <a:endParaRPr lang="en-US" altLang="zh-CN" sz="2400" b="1" baseline="-25000">
                        <a:ea typeface="新宋体" panose="02010609030101010101" charset="-122"/>
                      </a:endParaRPr>
                    </a:p>
                  </p:txBody>
                </p:sp>
              </p:grpSp>
              <p:sp>
                <p:nvSpPr>
                  <p:cNvPr id="69" name="Text Box 35"/>
                  <p:cNvSpPr>
                    <a:spLocks noChangeArrowheads="1"/>
                  </p:cNvSpPr>
                  <p:nvPr/>
                </p:nvSpPr>
                <p:spPr bwMode="auto">
                  <a:xfrm>
                    <a:off x="2480" y="2178"/>
                    <a:ext cx="28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>
                        <a:ea typeface="新宋体" panose="02010609030101010101" charset="-122"/>
                      </a:rPr>
                      <a:t>-</a:t>
                    </a:r>
                    <a:endParaRPr lang="en-US" altLang="zh-CN" sz="2400">
                      <a:ea typeface="新宋体" panose="02010609030101010101" charset="-122"/>
                    </a:endParaRPr>
                  </a:p>
                </p:txBody>
              </p:sp>
            </p:grpSp>
            <p:sp>
              <p:nvSpPr>
                <p:cNvPr id="54" name="Rectangle 36"/>
                <p:cNvSpPr>
                  <a:spLocks noChangeArrowheads="1"/>
                </p:cNvSpPr>
                <p:nvPr/>
              </p:nvSpPr>
              <p:spPr bwMode="auto">
                <a:xfrm>
                  <a:off x="1435" y="2178"/>
                  <a:ext cx="78" cy="249"/>
                </a:xfrm>
                <a:prstGeom prst="rect">
                  <a:avLst/>
                </a:prstGeom>
                <a:solidFill>
                  <a:srgbClr val="FFFFFF"/>
                </a:solidFill>
                <a:ln w="25400" cap="flat" algn="ctr">
                  <a:solidFill>
                    <a:srgbClr val="99336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55" name="Rectangle 37"/>
                <p:cNvSpPr>
                  <a:spLocks noChangeArrowheads="1"/>
                </p:cNvSpPr>
                <p:nvPr/>
              </p:nvSpPr>
              <p:spPr bwMode="auto">
                <a:xfrm>
                  <a:off x="3585" y="1680"/>
                  <a:ext cx="78" cy="249"/>
                </a:xfrm>
                <a:prstGeom prst="rect">
                  <a:avLst/>
                </a:prstGeom>
                <a:solidFill>
                  <a:srgbClr val="FFFFFF"/>
                </a:solidFill>
                <a:ln w="25400" cap="flat" algn="ctr">
                  <a:solidFill>
                    <a:srgbClr val="99336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56" name="Text Box 38"/>
                <p:cNvSpPr>
                  <a:spLocks noChangeArrowheads="1"/>
                </p:cNvSpPr>
                <p:nvPr/>
              </p:nvSpPr>
              <p:spPr bwMode="auto">
                <a:xfrm>
                  <a:off x="1481" y="2142"/>
                  <a:ext cx="47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R</a:t>
                  </a:r>
                  <a:r>
                    <a:rPr lang="en-US" altLang="zh-CN" sz="2400" b="1" baseline="-25000">
                      <a:ea typeface="新宋体" panose="02010609030101010101" charset="-122"/>
                    </a:rPr>
                    <a:t>b</a:t>
                  </a:r>
                  <a:endParaRPr lang="en-US" altLang="zh-CN" sz="2400" b="1" baseline="-25000">
                    <a:ea typeface="新宋体" panose="02010609030101010101" charset="-122"/>
                  </a:endParaRPr>
                </a:p>
              </p:txBody>
            </p:sp>
            <p:sp>
              <p:nvSpPr>
                <p:cNvPr id="57" name="Text Box 39"/>
                <p:cNvSpPr>
                  <a:spLocks noChangeArrowheads="1"/>
                </p:cNvSpPr>
                <p:nvPr/>
              </p:nvSpPr>
              <p:spPr bwMode="auto">
                <a:xfrm>
                  <a:off x="3649" y="1653"/>
                  <a:ext cx="47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R</a:t>
                  </a:r>
                  <a:r>
                    <a:rPr lang="en-US" altLang="zh-CN" sz="2400" b="1" baseline="-25000">
                      <a:ea typeface="新宋体" panose="02010609030101010101" charset="-122"/>
                    </a:rPr>
                    <a:t>c</a:t>
                  </a:r>
                  <a:endParaRPr lang="en-US" altLang="zh-CN" sz="2400" b="1" baseline="-25000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21" name="Group 111"/>
              <p:cNvGrpSpPr/>
              <p:nvPr/>
            </p:nvGrpSpPr>
            <p:grpSpPr bwMode="auto">
              <a:xfrm>
                <a:off x="3035" y="1239"/>
                <a:ext cx="558" cy="289"/>
                <a:chOff x="3242" y="825"/>
                <a:chExt cx="558" cy="289"/>
              </a:xfrm>
            </p:grpSpPr>
            <p:grpSp>
              <p:nvGrpSpPr>
                <p:cNvPr id="48" name="Group 112"/>
                <p:cNvGrpSpPr/>
                <p:nvPr/>
              </p:nvGrpSpPr>
              <p:grpSpPr bwMode="auto">
                <a:xfrm>
                  <a:off x="3242" y="825"/>
                  <a:ext cx="558" cy="251"/>
                  <a:chOff x="3156" y="860"/>
                  <a:chExt cx="558" cy="251"/>
                </a:xfrm>
              </p:grpSpPr>
              <p:sp>
                <p:nvSpPr>
                  <p:cNvPr id="50" name="Oval 42"/>
                  <p:cNvSpPr>
                    <a:spLocks noChangeArrowheads="1"/>
                  </p:cNvSpPr>
                  <p:nvPr/>
                </p:nvSpPr>
                <p:spPr bwMode="auto">
                  <a:xfrm>
                    <a:off x="3302" y="927"/>
                    <a:ext cx="198" cy="18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25400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51" name="Text Box 43"/>
                  <p:cNvSpPr>
                    <a:spLocks noChangeArrowheads="1"/>
                  </p:cNvSpPr>
                  <p:nvPr/>
                </p:nvSpPr>
                <p:spPr bwMode="auto">
                  <a:xfrm>
                    <a:off x="3464" y="860"/>
                    <a:ext cx="25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>
                        <a:ea typeface="新宋体" panose="02010609030101010101" charset="-122"/>
                      </a:rPr>
                      <a:t>+</a:t>
                    </a:r>
                    <a:endParaRPr lang="en-US" altLang="zh-CN" sz="20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52" name="Text Box 44"/>
                  <p:cNvSpPr>
                    <a:spLocks noChangeArrowheads="1"/>
                  </p:cNvSpPr>
                  <p:nvPr/>
                </p:nvSpPr>
                <p:spPr bwMode="auto">
                  <a:xfrm>
                    <a:off x="3156" y="861"/>
                    <a:ext cx="25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>
                        <a:ea typeface="新宋体" panose="02010609030101010101" charset="-122"/>
                      </a:rPr>
                      <a:t>-</a:t>
                    </a:r>
                    <a:endParaRPr lang="en-US" altLang="zh-CN" sz="2000" b="1">
                      <a:ea typeface="新宋体" panose="02010609030101010101" charset="-122"/>
                    </a:endParaRPr>
                  </a:p>
                </p:txBody>
              </p:sp>
            </p:grpSp>
            <p:sp>
              <p:nvSpPr>
                <p:cNvPr id="49" name="Text Box 45"/>
                <p:cNvSpPr>
                  <a:spLocks noChangeArrowheads="1"/>
                </p:cNvSpPr>
                <p:nvPr/>
              </p:nvSpPr>
              <p:spPr bwMode="auto">
                <a:xfrm>
                  <a:off x="3371" y="826"/>
                  <a:ext cx="33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A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22" name="Group 117"/>
              <p:cNvGrpSpPr/>
              <p:nvPr/>
            </p:nvGrpSpPr>
            <p:grpSpPr bwMode="auto">
              <a:xfrm>
                <a:off x="1482" y="1871"/>
                <a:ext cx="558" cy="289"/>
                <a:chOff x="3242" y="825"/>
                <a:chExt cx="558" cy="289"/>
              </a:xfrm>
            </p:grpSpPr>
            <p:grpSp>
              <p:nvGrpSpPr>
                <p:cNvPr id="43" name="Group 118"/>
                <p:cNvGrpSpPr/>
                <p:nvPr/>
              </p:nvGrpSpPr>
              <p:grpSpPr bwMode="auto">
                <a:xfrm>
                  <a:off x="3242" y="825"/>
                  <a:ext cx="558" cy="251"/>
                  <a:chOff x="3156" y="860"/>
                  <a:chExt cx="558" cy="251"/>
                </a:xfrm>
              </p:grpSpPr>
              <p:sp>
                <p:nvSpPr>
                  <p:cNvPr id="45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3302" y="927"/>
                    <a:ext cx="198" cy="18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25400" cap="flat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46" name="Text Box 49"/>
                  <p:cNvSpPr>
                    <a:spLocks noChangeArrowheads="1"/>
                  </p:cNvSpPr>
                  <p:nvPr/>
                </p:nvSpPr>
                <p:spPr bwMode="auto">
                  <a:xfrm>
                    <a:off x="3464" y="860"/>
                    <a:ext cx="25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>
                        <a:ea typeface="新宋体" panose="02010609030101010101" charset="-122"/>
                      </a:rPr>
                      <a:t>-</a:t>
                    </a:r>
                    <a:endParaRPr lang="en-US" altLang="zh-CN" sz="20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47" name="Text Box 50"/>
                  <p:cNvSpPr>
                    <a:spLocks noChangeArrowheads="1"/>
                  </p:cNvSpPr>
                  <p:nvPr/>
                </p:nvSpPr>
                <p:spPr bwMode="auto">
                  <a:xfrm>
                    <a:off x="3156" y="861"/>
                    <a:ext cx="25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>
                        <a:ea typeface="新宋体" panose="02010609030101010101" charset="-122"/>
                      </a:rPr>
                      <a:t>+</a:t>
                    </a:r>
                    <a:endParaRPr lang="en-US" altLang="zh-CN" sz="2000" b="1">
                      <a:ea typeface="新宋体" panose="02010609030101010101" charset="-122"/>
                    </a:endParaRPr>
                  </a:p>
                </p:txBody>
              </p:sp>
            </p:grpSp>
            <p:sp>
              <p:nvSpPr>
                <p:cNvPr id="44" name="Text Box 51"/>
                <p:cNvSpPr>
                  <a:spLocks noChangeArrowheads="1"/>
                </p:cNvSpPr>
                <p:nvPr/>
              </p:nvSpPr>
              <p:spPr bwMode="auto">
                <a:xfrm>
                  <a:off x="3371" y="826"/>
                  <a:ext cx="33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>
                      <a:ea typeface="新宋体" panose="02010609030101010101" charset="-122"/>
                    </a:rPr>
                    <a:t>A</a:t>
                  </a:r>
                  <a:endParaRPr lang="en-US" altLang="zh-CN" sz="2400" b="1">
                    <a:ea typeface="新宋体" panose="02010609030101010101" charset="-122"/>
                  </a:endParaRPr>
                </a:p>
              </p:txBody>
            </p:sp>
          </p:grpSp>
          <p:grpSp>
            <p:nvGrpSpPr>
              <p:cNvPr id="23" name="Group 123"/>
              <p:cNvGrpSpPr/>
              <p:nvPr/>
            </p:nvGrpSpPr>
            <p:grpSpPr bwMode="auto">
              <a:xfrm>
                <a:off x="3602" y="1436"/>
                <a:ext cx="877" cy="1618"/>
                <a:chOff x="3602" y="1436"/>
                <a:chExt cx="877" cy="1618"/>
              </a:xfrm>
            </p:grpSpPr>
            <p:grpSp>
              <p:nvGrpSpPr>
                <p:cNvPr id="34" name="Group 124"/>
                <p:cNvGrpSpPr/>
                <p:nvPr/>
              </p:nvGrpSpPr>
              <p:grpSpPr bwMode="auto">
                <a:xfrm>
                  <a:off x="3602" y="1436"/>
                  <a:ext cx="535" cy="1618"/>
                  <a:chOff x="3602" y="1436"/>
                  <a:chExt cx="535" cy="1618"/>
                </a:xfrm>
              </p:grpSpPr>
              <p:sp>
                <p:nvSpPr>
                  <p:cNvPr id="4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3602" y="1436"/>
                    <a:ext cx="533" cy="0"/>
                  </a:xfrm>
                  <a:prstGeom prst="lin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3604" y="3054"/>
                    <a:ext cx="533" cy="0"/>
                  </a:xfrm>
                  <a:prstGeom prst="lin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4135" y="1444"/>
                    <a:ext cx="0" cy="1608"/>
                  </a:xfrm>
                  <a:prstGeom prst="lin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" name="Group 128"/>
                <p:cNvGrpSpPr/>
                <p:nvPr/>
              </p:nvGrpSpPr>
              <p:grpSpPr bwMode="auto">
                <a:xfrm>
                  <a:off x="4012" y="1876"/>
                  <a:ext cx="467" cy="603"/>
                  <a:chOff x="4744" y="1863"/>
                  <a:chExt cx="467" cy="603"/>
                </a:xfrm>
              </p:grpSpPr>
              <p:sp>
                <p:nvSpPr>
                  <p:cNvPr id="36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4771" y="2074"/>
                    <a:ext cx="189" cy="207"/>
                  </a:xfrm>
                  <a:prstGeom prst="ellipse">
                    <a:avLst/>
                  </a:prstGeom>
                  <a:noFill/>
                  <a:ln w="25400" cap="flat" algn="ctr">
                    <a:solidFill>
                      <a:srgbClr val="9933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37" name="Text Box 59"/>
                  <p:cNvSpPr>
                    <a:spLocks noChangeArrowheads="1"/>
                  </p:cNvSpPr>
                  <p:nvPr/>
                </p:nvSpPr>
                <p:spPr bwMode="auto">
                  <a:xfrm>
                    <a:off x="4744" y="2034"/>
                    <a:ext cx="28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U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38" name="Text Box 60"/>
                  <p:cNvSpPr>
                    <a:spLocks noChangeArrowheads="1"/>
                  </p:cNvSpPr>
                  <p:nvPr/>
                </p:nvSpPr>
                <p:spPr bwMode="auto">
                  <a:xfrm>
                    <a:off x="4849" y="1863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+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  <p:sp>
                <p:nvSpPr>
                  <p:cNvPr id="39" name="Text Box 61"/>
                  <p:cNvSpPr>
                    <a:spLocks noChangeArrowheads="1"/>
                  </p:cNvSpPr>
                  <p:nvPr/>
                </p:nvSpPr>
                <p:spPr bwMode="auto">
                  <a:xfrm>
                    <a:off x="4885" y="2178"/>
                    <a:ext cx="32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-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</p:grpSp>
          </p:grpSp>
          <p:grpSp>
            <p:nvGrpSpPr>
              <p:cNvPr id="24" name="Group 133"/>
              <p:cNvGrpSpPr/>
              <p:nvPr/>
            </p:nvGrpSpPr>
            <p:grpSpPr bwMode="auto">
              <a:xfrm>
                <a:off x="775" y="2051"/>
                <a:ext cx="698" cy="1005"/>
                <a:chOff x="775" y="2051"/>
                <a:chExt cx="698" cy="1005"/>
              </a:xfrm>
            </p:grpSpPr>
            <p:sp>
              <p:nvSpPr>
                <p:cNvPr id="25" name="Line 63"/>
                <p:cNvSpPr>
                  <a:spLocks noChangeShapeType="1"/>
                </p:cNvSpPr>
                <p:nvPr/>
              </p:nvSpPr>
              <p:spPr bwMode="auto">
                <a:xfrm>
                  <a:off x="940" y="3056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Line 64"/>
                <p:cNvSpPr>
                  <a:spLocks noChangeShapeType="1"/>
                </p:cNvSpPr>
                <p:nvPr/>
              </p:nvSpPr>
              <p:spPr bwMode="auto">
                <a:xfrm>
                  <a:off x="933" y="2051"/>
                  <a:ext cx="533" cy="0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7" name="Group 136"/>
                <p:cNvGrpSpPr/>
                <p:nvPr/>
              </p:nvGrpSpPr>
              <p:grpSpPr bwMode="auto">
                <a:xfrm>
                  <a:off x="775" y="2178"/>
                  <a:ext cx="353" cy="603"/>
                  <a:chOff x="613" y="2178"/>
                  <a:chExt cx="353" cy="603"/>
                </a:xfrm>
              </p:grpSpPr>
              <p:sp>
                <p:nvSpPr>
                  <p:cNvPr id="29" name="Text Box 66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2349"/>
                    <a:ext cx="28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eaLnBrk="0" hangingPunct="0"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SzPct val="100000"/>
                      <a:defRPr kumimoji="1"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>
                        <a:ea typeface="新宋体" panose="02010609030101010101" charset="-122"/>
                      </a:rPr>
                      <a:t>U</a:t>
                    </a:r>
                    <a:endParaRPr lang="en-US" altLang="zh-CN" sz="2400" b="1">
                      <a:ea typeface="新宋体" panose="02010609030101010101" charset="-122"/>
                    </a:endParaRPr>
                  </a:p>
                </p:txBody>
              </p:sp>
              <p:grpSp>
                <p:nvGrpSpPr>
                  <p:cNvPr id="30" name="Group 138"/>
                  <p:cNvGrpSpPr/>
                  <p:nvPr/>
                </p:nvGrpSpPr>
                <p:grpSpPr bwMode="auto">
                  <a:xfrm>
                    <a:off x="613" y="2178"/>
                    <a:ext cx="353" cy="603"/>
                    <a:chOff x="613" y="2178"/>
                    <a:chExt cx="353" cy="603"/>
                  </a:xfrm>
                </p:grpSpPr>
                <p:sp>
                  <p:nvSpPr>
                    <p:cNvPr id="31" name="Oval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88" y="2389"/>
                      <a:ext cx="189" cy="207"/>
                    </a:xfrm>
                    <a:prstGeom prst="ellipse">
                      <a:avLst/>
                    </a:prstGeom>
                    <a:noFill/>
                    <a:ln w="25400" cap="flat" algn="ctr">
                      <a:solidFill>
                        <a:srgbClr val="99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>
                        <a:ea typeface="新宋体" panose="02010609030101010101" charset="-122"/>
                      </a:endParaRPr>
                    </a:p>
                  </p:txBody>
                </p:sp>
                <p:sp>
                  <p:nvSpPr>
                    <p:cNvPr id="32" name="Text Box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178"/>
                      <a:ext cx="32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 b="1">
                          <a:ea typeface="新宋体" panose="02010609030101010101" charset="-122"/>
                        </a:rPr>
                        <a:t>+</a:t>
                      </a:r>
                      <a:endParaRPr lang="en-US" altLang="zh-CN" sz="2400" b="1">
                        <a:ea typeface="新宋体" panose="02010609030101010101" charset="-122"/>
                      </a:endParaRPr>
                    </a:p>
                  </p:txBody>
                </p:sp>
                <p:sp>
                  <p:nvSpPr>
                    <p:cNvPr id="33" name="Text Box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40" y="2493"/>
                      <a:ext cx="32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defRPr kumimoji="1"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400" b="1">
                          <a:ea typeface="新宋体" panose="02010609030101010101" charset="-122"/>
                        </a:rPr>
                        <a:t>-</a:t>
                      </a:r>
                      <a:endParaRPr lang="en-US" altLang="zh-CN" sz="2400" b="1">
                        <a:ea typeface="新宋体" panose="02010609030101010101" charset="-122"/>
                      </a:endParaRPr>
                    </a:p>
                  </p:txBody>
                </p:sp>
              </p:grpSp>
            </p:grpSp>
            <p:sp>
              <p:nvSpPr>
                <p:cNvPr id="28" name="Line 71"/>
                <p:cNvSpPr>
                  <a:spLocks noChangeShapeType="1"/>
                </p:cNvSpPr>
                <p:nvPr/>
              </p:nvSpPr>
              <p:spPr bwMode="auto">
                <a:xfrm>
                  <a:off x="946" y="2055"/>
                  <a:ext cx="0" cy="997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993366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" name="Rectangle 100"/>
            <p:cNvSpPr>
              <a:spLocks noChangeArrowheads="1"/>
            </p:cNvSpPr>
            <p:nvPr/>
          </p:nvSpPr>
          <p:spPr bwMode="auto">
            <a:xfrm>
              <a:off x="3074" y="2417"/>
              <a:ext cx="3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CE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  <p:sp>
          <p:nvSpPr>
            <p:cNvPr id="19" name="Rectangle 101"/>
            <p:cNvSpPr>
              <a:spLocks noChangeArrowheads="1"/>
            </p:cNvSpPr>
            <p:nvPr/>
          </p:nvSpPr>
          <p:spPr bwMode="auto">
            <a:xfrm>
              <a:off x="268" y="2459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V</a:t>
              </a:r>
              <a:r>
                <a:rPr lang="en-US" altLang="zh-CN" sz="1800" b="1" baseline="-25000">
                  <a:ea typeface="新宋体" panose="02010609030101010101" charset="-122"/>
                </a:rPr>
                <a:t>BE</a:t>
              </a:r>
              <a:endParaRPr lang="en-US" altLang="zh-CN" sz="1800" b="1" baseline="-25000">
                <a:ea typeface="新宋体" panose="02010609030101010101" charset="-122"/>
              </a:endParaRPr>
            </a:p>
          </p:txBody>
        </p:sp>
      </p:grpSp>
      <p:sp>
        <p:nvSpPr>
          <p:cNvPr id="74" name="Text Box 17"/>
          <p:cNvSpPr>
            <a:spLocks noChangeArrowheads="1"/>
          </p:cNvSpPr>
          <p:nvPr/>
        </p:nvSpPr>
        <p:spPr bwMode="auto">
          <a:xfrm>
            <a:off x="332530" y="638516"/>
            <a:ext cx="2571750" cy="519112"/>
          </a:xfrm>
          <a:prstGeom prst="rect">
            <a:avLst/>
          </a:prstGeom>
          <a:noFill/>
          <a:ln w="12700" cap="flat" algn="ctr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）测量电路</a:t>
            </a:r>
            <a:endParaRPr lang="zh-CN" altLang="en-US" sz="2800" b="1" dirty="0">
              <a:solidFill>
                <a:srgbClr val="FF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5" name="Text Box 73"/>
          <p:cNvSpPr>
            <a:spLocks noChangeArrowheads="1"/>
          </p:cNvSpPr>
          <p:nvPr/>
        </p:nvSpPr>
        <p:spPr bwMode="auto">
          <a:xfrm>
            <a:off x="3087732" y="532948"/>
            <a:ext cx="3140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 dirty="0" err="1">
                <a:ea typeface="新宋体" panose="02010609030101010101" charset="-122"/>
              </a:rPr>
              <a:t>i</a:t>
            </a:r>
            <a:r>
              <a:rPr lang="en-US" altLang="zh-CN" sz="3200" b="1" baseline="-25000" dirty="0" err="1">
                <a:ea typeface="新宋体" panose="02010609030101010101" charset="-122"/>
              </a:rPr>
              <a:t>C</a:t>
            </a:r>
            <a:r>
              <a:rPr lang="en-US" altLang="zh-CN" sz="3200" b="1" dirty="0">
                <a:ea typeface="新宋体" panose="02010609030101010101" charset="-122"/>
              </a:rPr>
              <a:t>=</a:t>
            </a:r>
            <a:r>
              <a:rPr lang="en-US" altLang="zh-CN" sz="3200" b="1" i="1" dirty="0">
                <a:ea typeface="新宋体" panose="02010609030101010101" charset="-122"/>
              </a:rPr>
              <a:t>f</a:t>
            </a:r>
            <a:r>
              <a:rPr lang="en-US" altLang="zh-CN" sz="3200" b="1" dirty="0">
                <a:ea typeface="新宋体" panose="02010609030101010101" charset="-122"/>
              </a:rPr>
              <a:t>(</a:t>
            </a:r>
            <a:r>
              <a:rPr lang="en-US" altLang="zh-CN" sz="3200" b="1" i="1" dirty="0" err="1">
                <a:ea typeface="新宋体" panose="02010609030101010101" charset="-122"/>
              </a:rPr>
              <a:t>v</a:t>
            </a:r>
            <a:r>
              <a:rPr lang="en-US" altLang="zh-CN" sz="3200" b="1" baseline="-25000" dirty="0" err="1">
                <a:ea typeface="新宋体" panose="02010609030101010101" charset="-122"/>
              </a:rPr>
              <a:t>CE</a:t>
            </a:r>
            <a:r>
              <a:rPr lang="en-US" altLang="zh-CN" sz="3200" b="1" dirty="0">
                <a:ea typeface="新宋体" panose="02010609030101010101" charset="-122"/>
              </a:rPr>
              <a:t>)</a:t>
            </a:r>
            <a:r>
              <a:rPr lang="en-US" altLang="zh-CN" sz="3200" b="1" dirty="0">
                <a:ea typeface="新宋体" panose="02010609030101010101" charset="-122"/>
                <a:sym typeface="Symbol" panose="05050102010706020507" pitchFamily="18" charset="2"/>
              </a:rPr>
              <a:t></a:t>
            </a:r>
            <a:r>
              <a:rPr lang="en-US" altLang="zh-CN" sz="3200" b="1" dirty="0">
                <a:ea typeface="新宋体" panose="02010609030101010101" charset="-122"/>
              </a:rPr>
              <a:t> </a:t>
            </a:r>
            <a:r>
              <a:rPr lang="en-US" altLang="zh-CN" sz="3200" b="1" i="1" baseline="-10000" dirty="0" err="1">
                <a:ea typeface="新宋体" panose="02010609030101010101" charset="-122"/>
              </a:rPr>
              <a:t>i</a:t>
            </a:r>
            <a:r>
              <a:rPr lang="en-US" altLang="zh-CN" sz="3200" b="1" baseline="-30000" dirty="0" err="1">
                <a:ea typeface="新宋体" panose="02010609030101010101" charset="-122"/>
              </a:rPr>
              <a:t>B</a:t>
            </a:r>
            <a:r>
              <a:rPr lang="en-US" altLang="zh-CN" sz="3200" b="1" baseline="-10000" dirty="0">
                <a:ea typeface="新宋体" panose="02010609030101010101" charset="-122"/>
              </a:rPr>
              <a:t>=const</a:t>
            </a:r>
            <a:endParaRPr lang="en-US" altLang="zh-CN" sz="3200" b="1" baseline="-10000" dirty="0">
              <a:ea typeface="新宋体" panose="02010609030101010101" charset="-122"/>
            </a:endParaRPr>
          </a:p>
        </p:txBody>
      </p:sp>
      <p:sp>
        <p:nvSpPr>
          <p:cNvPr id="76" name="Text Box 74"/>
          <p:cNvSpPr>
            <a:spLocks noChangeArrowheads="1"/>
          </p:cNvSpPr>
          <p:nvPr/>
        </p:nvSpPr>
        <p:spPr bwMode="auto">
          <a:xfrm>
            <a:off x="822872" y="5218740"/>
            <a:ext cx="8351838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=0A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时，两个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PN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结均反偏，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CEO</a:t>
            </a:r>
            <a:endParaRPr lang="en-US" altLang="zh-CN" sz="2800" b="1" baseline="-25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77" name="Group 149"/>
          <p:cNvGrpSpPr/>
          <p:nvPr/>
        </p:nvGrpSpPr>
        <p:grpSpPr bwMode="auto">
          <a:xfrm>
            <a:off x="7998280" y="1743697"/>
            <a:ext cx="3549650" cy="3103562"/>
            <a:chOff x="3443" y="1223"/>
            <a:chExt cx="2317" cy="1910"/>
          </a:xfrm>
        </p:grpSpPr>
        <p:graphicFrame>
          <p:nvGraphicFramePr>
            <p:cNvPr id="78" name="Object 76"/>
            <p:cNvGraphicFramePr>
              <a:graphicFrameLocks noChangeAspect="1"/>
            </p:cNvGraphicFramePr>
            <p:nvPr/>
          </p:nvGraphicFramePr>
          <p:xfrm>
            <a:off x="3443" y="1223"/>
            <a:ext cx="2317" cy="1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位图图像" r:id="rId3" imgW="3200400" imgH="2638425" progId="Paint.Picture">
                    <p:embed/>
                  </p:oleObj>
                </mc:Choice>
                <mc:Fallback>
                  <p:oleObj name="位图图像" r:id="rId3" imgW="3200400" imgH="2638425" progId="Paint.Picture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3" y="1223"/>
                          <a:ext cx="2317" cy="19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Text Box 77"/>
            <p:cNvSpPr>
              <a:spLocks noChangeArrowheads="1"/>
            </p:cNvSpPr>
            <p:nvPr/>
          </p:nvSpPr>
          <p:spPr bwMode="auto">
            <a:xfrm>
              <a:off x="5355" y="2618"/>
              <a:ext cx="405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新宋体" panose="02010609030101010101" charset="-122"/>
                </a:rPr>
                <a:t>i</a:t>
              </a:r>
              <a:r>
                <a:rPr lang="en-US" altLang="zh-CN" sz="1800" b="1" baseline="-25000">
                  <a:ea typeface="新宋体" panose="02010609030101010101" charset="-122"/>
                </a:rPr>
                <a:t>B</a:t>
              </a:r>
              <a:r>
                <a:rPr lang="en-US" altLang="zh-CN" sz="1800" b="1">
                  <a:ea typeface="新宋体" panose="02010609030101010101" charset="-122"/>
                </a:rPr>
                <a:t>=0</a:t>
              </a:r>
              <a:endParaRPr lang="en-US" altLang="zh-CN" sz="1800" b="1">
                <a:ea typeface="新宋体" panose="02010609030101010101" charset="-122"/>
              </a:endParaRPr>
            </a:p>
          </p:txBody>
        </p:sp>
      </p:grpSp>
      <p:sp>
        <p:nvSpPr>
          <p:cNvPr id="80" name="Text Box 78"/>
          <p:cNvSpPr>
            <a:spLocks noChangeArrowheads="1"/>
          </p:cNvSpPr>
          <p:nvPr/>
        </p:nvSpPr>
        <p:spPr bwMode="auto">
          <a:xfrm>
            <a:off x="822872" y="5955340"/>
            <a:ext cx="3359150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(2)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=20μA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1" name="Text Box 79"/>
          <p:cNvSpPr>
            <a:spLocks noChangeArrowheads="1"/>
          </p:cNvSpPr>
          <p:nvPr/>
        </p:nvSpPr>
        <p:spPr bwMode="auto">
          <a:xfrm>
            <a:off x="3767232" y="5983915"/>
            <a:ext cx="3460750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(3)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=40μA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2" name="Text Box 80"/>
          <p:cNvSpPr>
            <a:spLocks noChangeArrowheads="1"/>
          </p:cNvSpPr>
          <p:nvPr/>
        </p:nvSpPr>
        <p:spPr bwMode="auto">
          <a:xfrm>
            <a:off x="6975117" y="5987944"/>
            <a:ext cx="3197225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(4)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当</a:t>
            </a:r>
            <a:r>
              <a:rPr lang="en-US" altLang="zh-CN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=60μA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时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83" name="Group 155"/>
          <p:cNvGrpSpPr/>
          <p:nvPr/>
        </p:nvGrpSpPr>
        <p:grpSpPr bwMode="auto">
          <a:xfrm>
            <a:off x="8295143" y="3526459"/>
            <a:ext cx="3194050" cy="1049338"/>
            <a:chOff x="3648" y="2305"/>
            <a:chExt cx="2012" cy="661"/>
          </a:xfrm>
        </p:grpSpPr>
        <p:grpSp>
          <p:nvGrpSpPr>
            <p:cNvPr id="84" name="Group 156"/>
            <p:cNvGrpSpPr/>
            <p:nvPr/>
          </p:nvGrpSpPr>
          <p:grpSpPr bwMode="auto">
            <a:xfrm>
              <a:off x="3648" y="2526"/>
              <a:ext cx="1897" cy="440"/>
              <a:chOff x="3648" y="2496"/>
              <a:chExt cx="1897" cy="477"/>
            </a:xfrm>
          </p:grpSpPr>
          <p:grpSp>
            <p:nvGrpSpPr>
              <p:cNvPr id="86" name="Group 157"/>
              <p:cNvGrpSpPr/>
              <p:nvPr/>
            </p:nvGrpSpPr>
            <p:grpSpPr bwMode="auto">
              <a:xfrm>
                <a:off x="3670" y="2496"/>
                <a:ext cx="1875" cy="477"/>
                <a:chOff x="3782" y="1662"/>
                <a:chExt cx="1875" cy="610"/>
              </a:xfrm>
            </p:grpSpPr>
            <p:sp>
              <p:nvSpPr>
                <p:cNvPr id="89" name="Freeform 84"/>
                <p:cNvSpPr/>
                <p:nvPr/>
              </p:nvSpPr>
              <p:spPr bwMode="auto">
                <a:xfrm>
                  <a:off x="3802" y="1662"/>
                  <a:ext cx="1855" cy="597"/>
                </a:xfrm>
                <a:custGeom>
                  <a:avLst/>
                  <a:gdLst>
                    <a:gd name="T0" fmla="*/ 30 w 1825"/>
                    <a:gd name="T1" fmla="*/ 391 h 391"/>
                    <a:gd name="T2" fmla="*/ 111 w 1825"/>
                    <a:gd name="T3" fmla="*/ 103 h 391"/>
                    <a:gd name="T4" fmla="*/ 695 w 1825"/>
                    <a:gd name="T5" fmla="*/ 29 h 391"/>
                    <a:gd name="T6" fmla="*/ 1825 w 1825"/>
                    <a:gd name="T7" fmla="*/ 0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25" h="391">
                      <a:moveTo>
                        <a:pt x="30" y="391"/>
                      </a:moveTo>
                      <a:cubicBezTo>
                        <a:pt x="15" y="277"/>
                        <a:pt x="0" y="163"/>
                        <a:pt x="111" y="103"/>
                      </a:cubicBezTo>
                      <a:cubicBezTo>
                        <a:pt x="222" y="43"/>
                        <a:pt x="409" y="46"/>
                        <a:pt x="695" y="29"/>
                      </a:cubicBezTo>
                      <a:cubicBezTo>
                        <a:pt x="981" y="12"/>
                        <a:pt x="1636" y="5"/>
                        <a:pt x="1825" y="0"/>
                      </a:cubicBezTo>
                    </a:path>
                  </a:pathLst>
                </a:custGeom>
                <a:noFill/>
                <a:ln w="254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新宋体" panose="02010609030101010101" charset="-122"/>
                  </a:endParaRPr>
                </a:p>
              </p:txBody>
            </p:sp>
            <p:sp>
              <p:nvSpPr>
                <p:cNvPr id="90" name="Rectangle 85"/>
                <p:cNvSpPr>
                  <a:spLocks noChangeArrowheads="1"/>
                </p:cNvSpPr>
                <p:nvPr/>
              </p:nvSpPr>
              <p:spPr bwMode="auto">
                <a:xfrm>
                  <a:off x="3795" y="1948"/>
                  <a:ext cx="125" cy="324"/>
                </a:xfrm>
                <a:prstGeom prst="rect">
                  <a:avLst/>
                </a:prstGeom>
                <a:solidFill>
                  <a:srgbClr val="FFFFFF"/>
                </a:solidFill>
                <a:ln w="25400" cap="flat" algn="ctr">
                  <a:solidFill>
                    <a:srgbClr val="FFFF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eaLnBrk="0" hangingPunct="0"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SzPct val="100000"/>
                    <a:defRPr kumimoji="1" sz="3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>
                    <a:ea typeface="新宋体" panose="02010609030101010101" charset="-122"/>
                  </a:endParaRPr>
                </a:p>
              </p:txBody>
            </p:sp>
            <p:sp>
              <p:nvSpPr>
                <p:cNvPr id="91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3782" y="1942"/>
                  <a:ext cx="51" cy="21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7" name="Line 87"/>
              <p:cNvSpPr>
                <a:spLocks noChangeShapeType="1"/>
              </p:cNvSpPr>
              <p:nvPr/>
            </p:nvSpPr>
            <p:spPr bwMode="auto">
              <a:xfrm flipV="1">
                <a:off x="3648" y="2857"/>
                <a:ext cx="265" cy="8"/>
              </a:xfrm>
              <a:prstGeom prst="line">
                <a:avLst/>
              </a:prstGeom>
              <a:noFill/>
              <a:ln w="25400" cap="flat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88"/>
              <p:cNvSpPr>
                <a:spLocks noChangeShapeType="1"/>
              </p:cNvSpPr>
              <p:nvPr/>
            </p:nvSpPr>
            <p:spPr bwMode="auto">
              <a:xfrm>
                <a:off x="3655" y="2887"/>
                <a:ext cx="281" cy="0"/>
              </a:xfrm>
              <a:prstGeom prst="line">
                <a:avLst/>
              </a:prstGeom>
              <a:noFill/>
              <a:ln w="25400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5" name="Rectangle 89"/>
            <p:cNvSpPr>
              <a:spLocks noChangeArrowheads="1"/>
            </p:cNvSpPr>
            <p:nvPr/>
          </p:nvSpPr>
          <p:spPr bwMode="auto">
            <a:xfrm>
              <a:off x="5206" y="2305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i</a:t>
              </a:r>
              <a:r>
                <a:rPr lang="en-US" altLang="zh-CN" sz="1800" b="1" baseline="-25000">
                  <a:ea typeface="新宋体" panose="02010609030101010101" charset="-122"/>
                </a:rPr>
                <a:t>B</a:t>
              </a:r>
              <a:r>
                <a:rPr lang="en-US" altLang="zh-CN" sz="1800" b="1">
                  <a:ea typeface="新宋体" panose="02010609030101010101" charset="-122"/>
                </a:rPr>
                <a:t>=20</a:t>
              </a:r>
              <a:endParaRPr lang="en-US" altLang="zh-CN" sz="1800" b="1">
                <a:ea typeface="新宋体" panose="02010609030101010101" charset="-122"/>
              </a:endParaRPr>
            </a:p>
          </p:txBody>
        </p:sp>
      </p:grpSp>
      <p:grpSp>
        <p:nvGrpSpPr>
          <p:cNvPr id="92" name="Group 164"/>
          <p:cNvGrpSpPr/>
          <p:nvPr/>
        </p:nvGrpSpPr>
        <p:grpSpPr bwMode="auto">
          <a:xfrm>
            <a:off x="8330068" y="2991472"/>
            <a:ext cx="3146425" cy="1447800"/>
            <a:chOff x="3663" y="1961"/>
            <a:chExt cx="1982" cy="912"/>
          </a:xfrm>
        </p:grpSpPr>
        <p:sp>
          <p:nvSpPr>
            <p:cNvPr id="93" name="Freeform 91"/>
            <p:cNvSpPr/>
            <p:nvPr/>
          </p:nvSpPr>
          <p:spPr bwMode="auto">
            <a:xfrm>
              <a:off x="3663" y="2180"/>
              <a:ext cx="1921" cy="693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5191" y="1961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i</a:t>
              </a:r>
              <a:r>
                <a:rPr lang="en-US" altLang="zh-CN" sz="1800" b="1" baseline="-25000">
                  <a:ea typeface="新宋体" panose="02010609030101010101" charset="-122"/>
                </a:rPr>
                <a:t>B</a:t>
              </a:r>
              <a:r>
                <a:rPr lang="en-US" altLang="zh-CN" sz="1800" b="1">
                  <a:ea typeface="新宋体" panose="02010609030101010101" charset="-122"/>
                </a:rPr>
                <a:t>=40</a:t>
              </a:r>
              <a:endParaRPr lang="en-US" altLang="zh-CN" sz="1800" b="1">
                <a:ea typeface="新宋体" panose="02010609030101010101" charset="-122"/>
              </a:endParaRPr>
            </a:p>
          </p:txBody>
        </p:sp>
      </p:grpSp>
      <p:grpSp>
        <p:nvGrpSpPr>
          <p:cNvPr id="95" name="Group 167"/>
          <p:cNvGrpSpPr/>
          <p:nvPr/>
        </p:nvGrpSpPr>
        <p:grpSpPr bwMode="auto">
          <a:xfrm>
            <a:off x="8330068" y="2423147"/>
            <a:ext cx="3133725" cy="1979612"/>
            <a:chOff x="3663" y="1603"/>
            <a:chExt cx="1974" cy="1247"/>
          </a:xfrm>
        </p:grpSpPr>
        <p:sp>
          <p:nvSpPr>
            <p:cNvPr id="96" name="Freeform 94"/>
            <p:cNvSpPr/>
            <p:nvPr/>
          </p:nvSpPr>
          <p:spPr bwMode="auto">
            <a:xfrm>
              <a:off x="3663" y="1822"/>
              <a:ext cx="1974" cy="1028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97" name="Rectangle 95"/>
            <p:cNvSpPr>
              <a:spLocks noChangeArrowheads="1"/>
            </p:cNvSpPr>
            <p:nvPr/>
          </p:nvSpPr>
          <p:spPr bwMode="auto">
            <a:xfrm>
              <a:off x="5167" y="160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i</a:t>
              </a:r>
              <a:r>
                <a:rPr lang="en-US" altLang="zh-CN" sz="1800" b="1" baseline="-25000">
                  <a:ea typeface="新宋体" panose="02010609030101010101" charset="-122"/>
                </a:rPr>
                <a:t>B</a:t>
              </a:r>
              <a:r>
                <a:rPr lang="en-US" altLang="zh-CN" sz="1800" b="1">
                  <a:ea typeface="新宋体" panose="02010609030101010101" charset="-122"/>
                </a:rPr>
                <a:t>=60</a:t>
              </a:r>
              <a:endParaRPr lang="en-US" altLang="zh-CN" sz="1800" b="1">
                <a:ea typeface="新宋体" panose="02010609030101010101" charset="-122"/>
              </a:endParaRPr>
            </a:p>
          </p:txBody>
        </p:sp>
      </p:grpSp>
      <p:grpSp>
        <p:nvGrpSpPr>
          <p:cNvPr id="98" name="Group 170"/>
          <p:cNvGrpSpPr/>
          <p:nvPr/>
        </p:nvGrpSpPr>
        <p:grpSpPr bwMode="auto">
          <a:xfrm>
            <a:off x="8323718" y="1770684"/>
            <a:ext cx="3133725" cy="2530475"/>
            <a:chOff x="3663" y="1603"/>
            <a:chExt cx="1974" cy="1247"/>
          </a:xfrm>
        </p:grpSpPr>
        <p:sp>
          <p:nvSpPr>
            <p:cNvPr id="99" name="Freeform 97"/>
            <p:cNvSpPr/>
            <p:nvPr/>
          </p:nvSpPr>
          <p:spPr bwMode="auto">
            <a:xfrm>
              <a:off x="3663" y="1822"/>
              <a:ext cx="1974" cy="1028"/>
            </a:xfrm>
            <a:custGeom>
              <a:avLst/>
              <a:gdLst>
                <a:gd name="T0" fmla="*/ 0 w 2392"/>
                <a:gd name="T1" fmla="*/ 429 h 429"/>
                <a:gd name="T2" fmla="*/ 472 w 2392"/>
                <a:gd name="T3" fmla="*/ 89 h 429"/>
                <a:gd name="T4" fmla="*/ 2392 w 2392"/>
                <a:gd name="T5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2" h="429">
                  <a:moveTo>
                    <a:pt x="0" y="429"/>
                  </a:moveTo>
                  <a:cubicBezTo>
                    <a:pt x="36" y="295"/>
                    <a:pt x="73" y="161"/>
                    <a:pt x="472" y="89"/>
                  </a:cubicBezTo>
                  <a:cubicBezTo>
                    <a:pt x="871" y="17"/>
                    <a:pt x="2072" y="16"/>
                    <a:pt x="2392" y="0"/>
                  </a:cubicBezTo>
                </a:path>
              </a:pathLst>
            </a:custGeom>
            <a:noFill/>
            <a:ln w="25400" cap="flat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新宋体" panose="02010609030101010101" charset="-122"/>
              </a:endParaRPr>
            </a:p>
          </p:txBody>
        </p:sp>
        <p:sp>
          <p:nvSpPr>
            <p:cNvPr id="100" name="Rectangle 98"/>
            <p:cNvSpPr>
              <a:spLocks noChangeArrowheads="1"/>
            </p:cNvSpPr>
            <p:nvPr/>
          </p:nvSpPr>
          <p:spPr bwMode="auto">
            <a:xfrm>
              <a:off x="5167" y="1603"/>
              <a:ext cx="454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ea typeface="新宋体" panose="02010609030101010101" charset="-122"/>
                </a:rPr>
                <a:t>i</a:t>
              </a:r>
              <a:r>
                <a:rPr lang="en-US" altLang="zh-CN" sz="1800" b="1" baseline="-25000">
                  <a:ea typeface="新宋体" panose="02010609030101010101" charset="-122"/>
                </a:rPr>
                <a:t>B</a:t>
              </a:r>
              <a:r>
                <a:rPr lang="en-US" altLang="zh-CN" sz="1800" b="1">
                  <a:ea typeface="新宋体" panose="02010609030101010101" charset="-122"/>
                </a:rPr>
                <a:t>=80</a:t>
              </a:r>
              <a:endParaRPr lang="en-US" altLang="zh-CN" sz="1800" b="1">
                <a:ea typeface="新宋体" panose="0201060903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6" grpId="0" bldLvl="0" animBg="1"/>
      <p:bldP spid="80" grpId="0" bldLvl="0" animBg="1"/>
      <p:bldP spid="81" grpId="0" bldLvl="0" animBg="1"/>
      <p:bldP spid="82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118"/>
          <p:cNvSpPr>
            <a:spLocks noChangeArrowheads="1"/>
          </p:cNvSpPr>
          <p:nvPr/>
        </p:nvSpPr>
        <p:spPr bwMode="auto">
          <a:xfrm>
            <a:off x="168276" y="611188"/>
            <a:ext cx="6097587" cy="519112"/>
          </a:xfrm>
          <a:prstGeom prst="rect">
            <a:avLst/>
          </a:prstGeom>
          <a:noFill/>
          <a:ln w="12700" cap="flat" algn="ctr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宋体" panose="02010600030101010101" pitchFamily="2" charset="-122"/>
                <a:ea typeface="新宋体" panose="02010609030101010101" charset="-122"/>
              </a:rPr>
              <a:t>2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新宋体" panose="02010609030101010101" charset="-122"/>
              </a:rPr>
              <a:t>）输出特性曲线的三个区</a:t>
            </a:r>
            <a:endParaRPr lang="zh-CN" altLang="en-US" sz="2800" b="1" dirty="0">
              <a:solidFill>
                <a:srgbClr val="FF00FF"/>
              </a:solidFill>
              <a:latin typeface="宋体" panose="02010600030101010101" pitchFamily="2" charset="-122"/>
              <a:ea typeface="新宋体" panose="02010609030101010101" charset="-122"/>
            </a:endParaRPr>
          </a:p>
        </p:txBody>
      </p:sp>
      <p:graphicFrame>
        <p:nvGraphicFramePr>
          <p:cNvPr id="4" name="Object 120"/>
          <p:cNvGraphicFramePr>
            <a:graphicFrameLocks noChangeAspect="1"/>
          </p:cNvGraphicFramePr>
          <p:nvPr/>
        </p:nvGraphicFramePr>
        <p:xfrm>
          <a:off x="4375604" y="1449388"/>
          <a:ext cx="4384675" cy="367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1" imgW="3562350" imgH="2981325" progId="Paint.Picture">
                  <p:embed/>
                </p:oleObj>
              </mc:Choice>
              <mc:Fallback>
                <p:oleObj name="位图图像" r:id="rId1" imgW="3562350" imgH="2981325" progId="Paint.Picture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604" y="1449388"/>
                        <a:ext cx="4384675" cy="367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0"/>
          <p:cNvGrpSpPr/>
          <p:nvPr/>
        </p:nvGrpSpPr>
        <p:grpSpPr bwMode="auto">
          <a:xfrm>
            <a:off x="4745492" y="1790700"/>
            <a:ext cx="561975" cy="2530475"/>
            <a:chOff x="3149" y="1975"/>
            <a:chExt cx="354" cy="1594"/>
          </a:xfrm>
        </p:grpSpPr>
        <p:grpSp>
          <p:nvGrpSpPr>
            <p:cNvPr id="6" name="Group 181"/>
            <p:cNvGrpSpPr/>
            <p:nvPr/>
          </p:nvGrpSpPr>
          <p:grpSpPr bwMode="auto">
            <a:xfrm>
              <a:off x="3149" y="1975"/>
              <a:ext cx="338" cy="1594"/>
              <a:chOff x="3117" y="344"/>
              <a:chExt cx="537" cy="1594"/>
            </a:xfrm>
          </p:grpSpPr>
          <p:sp>
            <p:nvSpPr>
              <p:cNvPr id="8" name="Line 123"/>
              <p:cNvSpPr>
                <a:spLocks noChangeShapeType="1"/>
              </p:cNvSpPr>
              <p:nvPr/>
            </p:nvSpPr>
            <p:spPr bwMode="auto">
              <a:xfrm flipH="1">
                <a:off x="3147" y="344"/>
                <a:ext cx="507" cy="318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124"/>
              <p:cNvSpPr>
                <a:spLocks noChangeShapeType="1"/>
              </p:cNvSpPr>
              <p:nvPr/>
            </p:nvSpPr>
            <p:spPr bwMode="auto">
              <a:xfrm flipH="1">
                <a:off x="3147" y="499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25"/>
              <p:cNvSpPr>
                <a:spLocks noChangeShapeType="1"/>
              </p:cNvSpPr>
              <p:nvPr/>
            </p:nvSpPr>
            <p:spPr bwMode="auto">
              <a:xfrm flipH="1">
                <a:off x="3135" y="640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26"/>
              <p:cNvSpPr>
                <a:spLocks noChangeShapeType="1"/>
              </p:cNvSpPr>
              <p:nvPr/>
            </p:nvSpPr>
            <p:spPr bwMode="auto">
              <a:xfrm flipH="1">
                <a:off x="3126" y="775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27"/>
              <p:cNvSpPr>
                <a:spLocks noChangeShapeType="1"/>
              </p:cNvSpPr>
              <p:nvPr/>
            </p:nvSpPr>
            <p:spPr bwMode="auto">
              <a:xfrm flipH="1">
                <a:off x="3117" y="928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28"/>
              <p:cNvSpPr>
                <a:spLocks noChangeShapeType="1"/>
              </p:cNvSpPr>
              <p:nvPr/>
            </p:nvSpPr>
            <p:spPr bwMode="auto">
              <a:xfrm flipH="1">
                <a:off x="3126" y="1080"/>
                <a:ext cx="437" cy="267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29"/>
              <p:cNvSpPr>
                <a:spLocks noChangeShapeType="1"/>
              </p:cNvSpPr>
              <p:nvPr/>
            </p:nvSpPr>
            <p:spPr bwMode="auto">
              <a:xfrm flipH="1">
                <a:off x="3126" y="1223"/>
                <a:ext cx="420" cy="25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30"/>
              <p:cNvSpPr>
                <a:spLocks noChangeShapeType="1"/>
              </p:cNvSpPr>
              <p:nvPr/>
            </p:nvSpPr>
            <p:spPr bwMode="auto">
              <a:xfrm flipH="1">
                <a:off x="3126" y="1357"/>
                <a:ext cx="386" cy="23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31"/>
              <p:cNvSpPr>
                <a:spLocks noChangeShapeType="1"/>
              </p:cNvSpPr>
              <p:nvPr/>
            </p:nvSpPr>
            <p:spPr bwMode="auto">
              <a:xfrm flipH="1">
                <a:off x="3144" y="1465"/>
                <a:ext cx="369" cy="224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32"/>
              <p:cNvSpPr>
                <a:spLocks noChangeShapeType="1"/>
              </p:cNvSpPr>
              <p:nvPr/>
            </p:nvSpPr>
            <p:spPr bwMode="auto">
              <a:xfrm flipH="1">
                <a:off x="3144" y="1634"/>
                <a:ext cx="325" cy="19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33"/>
              <p:cNvSpPr>
                <a:spLocks noChangeShapeType="1"/>
              </p:cNvSpPr>
              <p:nvPr/>
            </p:nvSpPr>
            <p:spPr bwMode="auto">
              <a:xfrm flipH="1">
                <a:off x="3141" y="1748"/>
                <a:ext cx="325" cy="19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" name="Text Box 134"/>
            <p:cNvSpPr>
              <a:spLocks noChangeArrowheads="1"/>
            </p:cNvSpPr>
            <p:nvPr/>
          </p:nvSpPr>
          <p:spPr bwMode="auto">
            <a:xfrm>
              <a:off x="3157" y="2273"/>
              <a:ext cx="346" cy="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ea typeface="新宋体" panose="02010609030101010101" charset="-122"/>
                </a:rPr>
                <a:t>饱和区</a:t>
              </a:r>
              <a:endParaRPr lang="zh-CN" altLang="en-US" sz="2400" b="1" dirty="0">
                <a:solidFill>
                  <a:srgbClr val="FF0000"/>
                </a:solidFill>
                <a:ea typeface="新宋体" panose="02010609030101010101" charset="-122"/>
              </a:endParaRPr>
            </a:p>
          </p:txBody>
        </p:sp>
      </p:grpSp>
      <p:grpSp>
        <p:nvGrpSpPr>
          <p:cNvPr id="20" name="Group 194"/>
          <p:cNvGrpSpPr/>
          <p:nvPr/>
        </p:nvGrpSpPr>
        <p:grpSpPr bwMode="auto">
          <a:xfrm>
            <a:off x="5610679" y="2595563"/>
            <a:ext cx="1844675" cy="1752600"/>
            <a:chOff x="3688" y="2984"/>
            <a:chExt cx="1162" cy="1104"/>
          </a:xfrm>
        </p:grpSpPr>
        <p:grpSp>
          <p:nvGrpSpPr>
            <p:cNvPr id="21" name="Group 195"/>
            <p:cNvGrpSpPr/>
            <p:nvPr/>
          </p:nvGrpSpPr>
          <p:grpSpPr bwMode="auto">
            <a:xfrm>
              <a:off x="3688" y="2984"/>
              <a:ext cx="412" cy="412"/>
              <a:chOff x="3602" y="2623"/>
              <a:chExt cx="412" cy="412"/>
            </a:xfrm>
          </p:grpSpPr>
          <p:sp>
            <p:nvSpPr>
              <p:cNvPr id="28" name="Oval 138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9" name="Text Box 139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放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  <p:grpSp>
          <p:nvGrpSpPr>
            <p:cNvPr id="22" name="Group 198"/>
            <p:cNvGrpSpPr/>
            <p:nvPr/>
          </p:nvGrpSpPr>
          <p:grpSpPr bwMode="auto">
            <a:xfrm>
              <a:off x="4065" y="3312"/>
              <a:ext cx="412" cy="412"/>
              <a:chOff x="3602" y="2623"/>
              <a:chExt cx="412" cy="412"/>
            </a:xfrm>
          </p:grpSpPr>
          <p:sp>
            <p:nvSpPr>
              <p:cNvPr id="26" name="Oval 141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7" name="Text Box 142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大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  <p:grpSp>
          <p:nvGrpSpPr>
            <p:cNvPr id="23" name="Group 201"/>
            <p:cNvGrpSpPr/>
            <p:nvPr/>
          </p:nvGrpSpPr>
          <p:grpSpPr bwMode="auto">
            <a:xfrm>
              <a:off x="4438" y="3676"/>
              <a:ext cx="412" cy="412"/>
              <a:chOff x="3602" y="2623"/>
              <a:chExt cx="412" cy="412"/>
            </a:xfrm>
          </p:grpSpPr>
          <p:sp>
            <p:nvSpPr>
              <p:cNvPr id="24" name="Oval 144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5" name="Text Box 145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区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</p:grpSp>
      <p:grpSp>
        <p:nvGrpSpPr>
          <p:cNvPr id="30" name="Group 204"/>
          <p:cNvGrpSpPr/>
          <p:nvPr/>
        </p:nvGrpSpPr>
        <p:grpSpPr bwMode="auto">
          <a:xfrm>
            <a:off x="5020129" y="4546600"/>
            <a:ext cx="2894013" cy="836613"/>
            <a:chOff x="3322" y="3711"/>
            <a:chExt cx="1823" cy="527"/>
          </a:xfrm>
        </p:grpSpPr>
        <p:grpSp>
          <p:nvGrpSpPr>
            <p:cNvPr id="31" name="Group 205"/>
            <p:cNvGrpSpPr/>
            <p:nvPr/>
          </p:nvGrpSpPr>
          <p:grpSpPr bwMode="auto">
            <a:xfrm>
              <a:off x="3322" y="3711"/>
              <a:ext cx="1823" cy="65"/>
              <a:chOff x="3381" y="2106"/>
              <a:chExt cx="1823" cy="65"/>
            </a:xfrm>
          </p:grpSpPr>
          <p:grpSp>
            <p:nvGrpSpPr>
              <p:cNvPr id="34" name="Group 206"/>
              <p:cNvGrpSpPr/>
              <p:nvPr/>
            </p:nvGrpSpPr>
            <p:grpSpPr bwMode="auto">
              <a:xfrm>
                <a:off x="3447" y="2112"/>
                <a:ext cx="572" cy="59"/>
                <a:chOff x="3447" y="2112"/>
                <a:chExt cx="572" cy="59"/>
              </a:xfrm>
            </p:grpSpPr>
            <p:sp>
              <p:nvSpPr>
                <p:cNvPr id="54" name="Line 149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152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153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154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Line 155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56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Line 157"/>
              <p:cNvSpPr>
                <a:spLocks noChangeShapeType="1"/>
              </p:cNvSpPr>
              <p:nvPr/>
            </p:nvSpPr>
            <p:spPr bwMode="auto">
              <a:xfrm flipV="1">
                <a:off x="3381" y="2106"/>
                <a:ext cx="44" cy="44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" name="Group 216"/>
              <p:cNvGrpSpPr/>
              <p:nvPr/>
            </p:nvGrpSpPr>
            <p:grpSpPr bwMode="auto">
              <a:xfrm>
                <a:off x="4038" y="2109"/>
                <a:ext cx="572" cy="59"/>
                <a:chOff x="3447" y="2112"/>
                <a:chExt cx="572" cy="59"/>
              </a:xfrm>
            </p:grpSpPr>
            <p:sp>
              <p:nvSpPr>
                <p:cNvPr id="46" name="Line 159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Line 160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161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62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164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165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166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Group 225"/>
              <p:cNvGrpSpPr/>
              <p:nvPr/>
            </p:nvGrpSpPr>
            <p:grpSpPr bwMode="auto">
              <a:xfrm>
                <a:off x="4632" y="2109"/>
                <a:ext cx="572" cy="59"/>
                <a:chOff x="3447" y="2112"/>
                <a:chExt cx="572" cy="59"/>
              </a:xfrm>
            </p:grpSpPr>
            <p:sp>
              <p:nvSpPr>
                <p:cNvPr id="38" name="Line 168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69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70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171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72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173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74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2" name="Line 176"/>
            <p:cNvSpPr>
              <a:spLocks noChangeShapeType="1"/>
            </p:cNvSpPr>
            <p:nvPr/>
          </p:nvSpPr>
          <p:spPr bwMode="auto">
            <a:xfrm flipH="1" flipV="1">
              <a:off x="3634" y="3711"/>
              <a:ext cx="45" cy="284"/>
            </a:xfrm>
            <a:prstGeom prst="line">
              <a:avLst/>
            </a:prstGeom>
            <a:noFill/>
            <a:ln w="25400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177"/>
            <p:cNvSpPr>
              <a:spLocks noChangeArrowheads="1"/>
            </p:cNvSpPr>
            <p:nvPr/>
          </p:nvSpPr>
          <p:spPr bwMode="auto">
            <a:xfrm>
              <a:off x="3504" y="3950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ea typeface="新宋体" panose="02010609030101010101" charset="-122"/>
                </a:rPr>
                <a:t>截止区</a:t>
              </a:r>
              <a:endParaRPr lang="zh-CN" altLang="en-US" sz="2400" b="1" dirty="0">
                <a:ea typeface="新宋体" panose="02010609030101010101" charset="-122"/>
              </a:endParaRPr>
            </a:p>
          </p:txBody>
        </p:sp>
      </p:grpSp>
      <p:sp>
        <p:nvSpPr>
          <p:cNvPr id="62" name="Rectangle 179"/>
          <p:cNvSpPr>
            <a:spLocks noChangeArrowheads="1"/>
          </p:cNvSpPr>
          <p:nvPr/>
        </p:nvSpPr>
        <p:spPr bwMode="auto">
          <a:xfrm>
            <a:off x="151054" y="1374906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  <a:ea typeface="新宋体" panose="02010609030101010101" charset="-122"/>
              </a:rPr>
              <a:t>饱和区：</a:t>
            </a:r>
            <a:endParaRPr lang="zh-CN" altLang="en-US" sz="2800" b="1" dirty="0">
              <a:solidFill>
                <a:srgbClr val="3333FF"/>
              </a:solidFill>
              <a:ea typeface="新宋体" panose="02010609030101010101" charset="-122"/>
            </a:endParaRPr>
          </a:p>
        </p:txBody>
      </p:sp>
      <p:sp>
        <p:nvSpPr>
          <p:cNvPr id="63" name="Text Box 180"/>
          <p:cNvSpPr>
            <a:spLocks noChangeArrowheads="1"/>
          </p:cNvSpPr>
          <p:nvPr/>
        </p:nvSpPr>
        <p:spPr bwMode="auto">
          <a:xfrm>
            <a:off x="249861" y="1951739"/>
            <a:ext cx="3933470" cy="31260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明显受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控制的区域，该区域内，一般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＜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0.7V(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硅管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。此时，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发射结正偏，集电结正偏或反偏电压很小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07857" y="4510415"/>
            <a:ext cx="3172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</a:rPr>
              <a:t>CE</a:t>
            </a:r>
            <a:r>
              <a:rPr lang="en-US" altLang="en-US" sz="2800" b="1" dirty="0"/>
              <a:t>＜</a:t>
            </a:r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</a:t>
            </a:r>
            <a:r>
              <a:rPr lang="en-US" altLang="zh-CN" sz="2800" b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</a:rPr>
              <a:t>BE</a:t>
            </a:r>
            <a:r>
              <a:rPr lang="en-US" altLang="zh-CN" sz="2800" b="1" dirty="0">
                <a:solidFill>
                  <a:srgbClr val="000099"/>
                </a:solidFill>
              </a:rPr>
              <a:t>&gt;</a:t>
            </a:r>
            <a:r>
              <a:rPr lang="en-US" altLang="zh-CN" sz="2800" b="1" i="1" dirty="0">
                <a:solidFill>
                  <a:srgbClr val="000099"/>
                </a:solidFill>
              </a:rPr>
              <a:t> </a:t>
            </a:r>
            <a:r>
              <a:rPr lang="en-US" altLang="zh-CN" sz="2800" b="1" i="1" dirty="0" err="1">
                <a:solidFill>
                  <a:srgbClr val="000099"/>
                </a:solidFill>
              </a:rPr>
              <a:t>U</a:t>
            </a:r>
            <a:r>
              <a:rPr lang="en-US" altLang="zh-CN" sz="2800" b="1" i="1" baseline="-25000" dirty="0" err="1">
                <a:solidFill>
                  <a:srgbClr val="000099"/>
                </a:solidFill>
              </a:rPr>
              <a:t>on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  <a:endParaRPr lang="zh-CN" altLang="en-US" sz="280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5097214" y="1202065"/>
            <a:ext cx="1389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</a:rPr>
              <a:t>CE</a:t>
            </a:r>
            <a:r>
              <a:rPr lang="en-US" altLang="zh-CN" b="1" dirty="0"/>
              <a:t>=</a:t>
            </a:r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ldLvl="0" animBg="1"/>
      <p:bldP spid="63" grpId="0" bldLvl="0" animBg="1"/>
      <p:bldP spid="80" grpId="0"/>
      <p:bldP spid="6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118"/>
          <p:cNvSpPr>
            <a:spLocks noChangeArrowheads="1"/>
          </p:cNvSpPr>
          <p:nvPr/>
        </p:nvSpPr>
        <p:spPr bwMode="auto">
          <a:xfrm>
            <a:off x="168276" y="611188"/>
            <a:ext cx="6097587" cy="519112"/>
          </a:xfrm>
          <a:prstGeom prst="rect">
            <a:avLst/>
          </a:prstGeom>
          <a:noFill/>
          <a:ln w="12700" cap="flat" algn="ctr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宋体" panose="02010600030101010101" pitchFamily="2" charset="-122"/>
                <a:ea typeface="新宋体" panose="02010609030101010101" charset="-122"/>
              </a:rPr>
              <a:t>2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新宋体" panose="02010609030101010101" charset="-122"/>
              </a:rPr>
              <a:t>）输出特性曲线的三个区</a:t>
            </a:r>
            <a:endParaRPr lang="zh-CN" altLang="en-US" sz="2800" b="1" dirty="0">
              <a:solidFill>
                <a:srgbClr val="FF00FF"/>
              </a:solidFill>
              <a:latin typeface="宋体" panose="02010600030101010101" pitchFamily="2" charset="-122"/>
              <a:ea typeface="新宋体" panose="02010609030101010101" charset="-122"/>
            </a:endParaRPr>
          </a:p>
        </p:txBody>
      </p:sp>
      <p:graphicFrame>
        <p:nvGraphicFramePr>
          <p:cNvPr id="4" name="Object 120"/>
          <p:cNvGraphicFramePr>
            <a:graphicFrameLocks noChangeAspect="1"/>
          </p:cNvGraphicFramePr>
          <p:nvPr/>
        </p:nvGraphicFramePr>
        <p:xfrm>
          <a:off x="4375604" y="1449388"/>
          <a:ext cx="4384675" cy="367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1" imgW="3562350" imgH="2981325" progId="Paint.Picture">
                  <p:embed/>
                </p:oleObj>
              </mc:Choice>
              <mc:Fallback>
                <p:oleObj name="位图图像" r:id="rId1" imgW="3562350" imgH="2981325" progId="Paint.Picture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604" y="1449388"/>
                        <a:ext cx="4384675" cy="367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0"/>
          <p:cNvGrpSpPr/>
          <p:nvPr/>
        </p:nvGrpSpPr>
        <p:grpSpPr bwMode="auto">
          <a:xfrm>
            <a:off x="4745492" y="1790700"/>
            <a:ext cx="561975" cy="2530475"/>
            <a:chOff x="3149" y="1975"/>
            <a:chExt cx="354" cy="1594"/>
          </a:xfrm>
        </p:grpSpPr>
        <p:grpSp>
          <p:nvGrpSpPr>
            <p:cNvPr id="6" name="Group 181"/>
            <p:cNvGrpSpPr/>
            <p:nvPr/>
          </p:nvGrpSpPr>
          <p:grpSpPr bwMode="auto">
            <a:xfrm>
              <a:off x="3149" y="1975"/>
              <a:ext cx="338" cy="1594"/>
              <a:chOff x="3117" y="344"/>
              <a:chExt cx="537" cy="1594"/>
            </a:xfrm>
          </p:grpSpPr>
          <p:sp>
            <p:nvSpPr>
              <p:cNvPr id="8" name="Line 123"/>
              <p:cNvSpPr>
                <a:spLocks noChangeShapeType="1"/>
              </p:cNvSpPr>
              <p:nvPr/>
            </p:nvSpPr>
            <p:spPr bwMode="auto">
              <a:xfrm flipH="1">
                <a:off x="3147" y="344"/>
                <a:ext cx="507" cy="318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124"/>
              <p:cNvSpPr>
                <a:spLocks noChangeShapeType="1"/>
              </p:cNvSpPr>
              <p:nvPr/>
            </p:nvSpPr>
            <p:spPr bwMode="auto">
              <a:xfrm flipH="1">
                <a:off x="3147" y="499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25"/>
              <p:cNvSpPr>
                <a:spLocks noChangeShapeType="1"/>
              </p:cNvSpPr>
              <p:nvPr/>
            </p:nvSpPr>
            <p:spPr bwMode="auto">
              <a:xfrm flipH="1">
                <a:off x="3135" y="640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26"/>
              <p:cNvSpPr>
                <a:spLocks noChangeShapeType="1"/>
              </p:cNvSpPr>
              <p:nvPr/>
            </p:nvSpPr>
            <p:spPr bwMode="auto">
              <a:xfrm flipH="1">
                <a:off x="3126" y="775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27"/>
              <p:cNvSpPr>
                <a:spLocks noChangeShapeType="1"/>
              </p:cNvSpPr>
              <p:nvPr/>
            </p:nvSpPr>
            <p:spPr bwMode="auto">
              <a:xfrm flipH="1">
                <a:off x="3117" y="928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28"/>
              <p:cNvSpPr>
                <a:spLocks noChangeShapeType="1"/>
              </p:cNvSpPr>
              <p:nvPr/>
            </p:nvSpPr>
            <p:spPr bwMode="auto">
              <a:xfrm flipH="1">
                <a:off x="3126" y="1080"/>
                <a:ext cx="437" cy="267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29"/>
              <p:cNvSpPr>
                <a:spLocks noChangeShapeType="1"/>
              </p:cNvSpPr>
              <p:nvPr/>
            </p:nvSpPr>
            <p:spPr bwMode="auto">
              <a:xfrm flipH="1">
                <a:off x="3126" y="1223"/>
                <a:ext cx="420" cy="25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30"/>
              <p:cNvSpPr>
                <a:spLocks noChangeShapeType="1"/>
              </p:cNvSpPr>
              <p:nvPr/>
            </p:nvSpPr>
            <p:spPr bwMode="auto">
              <a:xfrm flipH="1">
                <a:off x="3126" y="1357"/>
                <a:ext cx="386" cy="23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31"/>
              <p:cNvSpPr>
                <a:spLocks noChangeShapeType="1"/>
              </p:cNvSpPr>
              <p:nvPr/>
            </p:nvSpPr>
            <p:spPr bwMode="auto">
              <a:xfrm flipH="1">
                <a:off x="3144" y="1465"/>
                <a:ext cx="369" cy="224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32"/>
              <p:cNvSpPr>
                <a:spLocks noChangeShapeType="1"/>
              </p:cNvSpPr>
              <p:nvPr/>
            </p:nvSpPr>
            <p:spPr bwMode="auto">
              <a:xfrm flipH="1">
                <a:off x="3144" y="1634"/>
                <a:ext cx="325" cy="19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33"/>
              <p:cNvSpPr>
                <a:spLocks noChangeShapeType="1"/>
              </p:cNvSpPr>
              <p:nvPr/>
            </p:nvSpPr>
            <p:spPr bwMode="auto">
              <a:xfrm flipH="1">
                <a:off x="3141" y="1748"/>
                <a:ext cx="325" cy="19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" name="Text Box 134"/>
            <p:cNvSpPr>
              <a:spLocks noChangeArrowheads="1"/>
            </p:cNvSpPr>
            <p:nvPr/>
          </p:nvSpPr>
          <p:spPr bwMode="auto">
            <a:xfrm>
              <a:off x="3157" y="2273"/>
              <a:ext cx="346" cy="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ea typeface="新宋体" panose="02010609030101010101" charset="-122"/>
                </a:rPr>
                <a:t>饱和区</a:t>
              </a:r>
              <a:endParaRPr lang="zh-CN" altLang="en-US" sz="2400" b="1" dirty="0">
                <a:solidFill>
                  <a:srgbClr val="FF0000"/>
                </a:solidFill>
                <a:ea typeface="新宋体" panose="02010609030101010101" charset="-122"/>
              </a:endParaRPr>
            </a:p>
          </p:txBody>
        </p:sp>
      </p:grpSp>
      <p:grpSp>
        <p:nvGrpSpPr>
          <p:cNvPr id="20" name="Group 194"/>
          <p:cNvGrpSpPr/>
          <p:nvPr/>
        </p:nvGrpSpPr>
        <p:grpSpPr bwMode="auto">
          <a:xfrm>
            <a:off x="5610679" y="2595563"/>
            <a:ext cx="1844675" cy="1752600"/>
            <a:chOff x="3688" y="2984"/>
            <a:chExt cx="1162" cy="1104"/>
          </a:xfrm>
        </p:grpSpPr>
        <p:grpSp>
          <p:nvGrpSpPr>
            <p:cNvPr id="21" name="Group 195"/>
            <p:cNvGrpSpPr/>
            <p:nvPr/>
          </p:nvGrpSpPr>
          <p:grpSpPr bwMode="auto">
            <a:xfrm>
              <a:off x="3688" y="2984"/>
              <a:ext cx="412" cy="412"/>
              <a:chOff x="3602" y="2623"/>
              <a:chExt cx="412" cy="412"/>
            </a:xfrm>
          </p:grpSpPr>
          <p:sp>
            <p:nvSpPr>
              <p:cNvPr id="28" name="Oval 138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9" name="Text Box 139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放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  <p:grpSp>
          <p:nvGrpSpPr>
            <p:cNvPr id="22" name="Group 198"/>
            <p:cNvGrpSpPr/>
            <p:nvPr/>
          </p:nvGrpSpPr>
          <p:grpSpPr bwMode="auto">
            <a:xfrm>
              <a:off x="4065" y="3312"/>
              <a:ext cx="412" cy="412"/>
              <a:chOff x="3602" y="2623"/>
              <a:chExt cx="412" cy="412"/>
            </a:xfrm>
          </p:grpSpPr>
          <p:sp>
            <p:nvSpPr>
              <p:cNvPr id="26" name="Oval 141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7" name="Text Box 142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大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  <p:grpSp>
          <p:nvGrpSpPr>
            <p:cNvPr id="23" name="Group 201"/>
            <p:cNvGrpSpPr/>
            <p:nvPr/>
          </p:nvGrpSpPr>
          <p:grpSpPr bwMode="auto">
            <a:xfrm>
              <a:off x="4438" y="3676"/>
              <a:ext cx="412" cy="412"/>
              <a:chOff x="3602" y="2623"/>
              <a:chExt cx="412" cy="412"/>
            </a:xfrm>
          </p:grpSpPr>
          <p:sp>
            <p:nvSpPr>
              <p:cNvPr id="24" name="Oval 144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5" name="Text Box 145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区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</p:grpSp>
      <p:grpSp>
        <p:nvGrpSpPr>
          <p:cNvPr id="30" name="Group 204"/>
          <p:cNvGrpSpPr/>
          <p:nvPr/>
        </p:nvGrpSpPr>
        <p:grpSpPr bwMode="auto">
          <a:xfrm>
            <a:off x="5020129" y="4546600"/>
            <a:ext cx="2894013" cy="836613"/>
            <a:chOff x="3322" y="3711"/>
            <a:chExt cx="1823" cy="527"/>
          </a:xfrm>
        </p:grpSpPr>
        <p:grpSp>
          <p:nvGrpSpPr>
            <p:cNvPr id="31" name="Group 205"/>
            <p:cNvGrpSpPr/>
            <p:nvPr/>
          </p:nvGrpSpPr>
          <p:grpSpPr bwMode="auto">
            <a:xfrm>
              <a:off x="3322" y="3711"/>
              <a:ext cx="1823" cy="65"/>
              <a:chOff x="3381" y="2106"/>
              <a:chExt cx="1823" cy="65"/>
            </a:xfrm>
          </p:grpSpPr>
          <p:grpSp>
            <p:nvGrpSpPr>
              <p:cNvPr id="34" name="Group 206"/>
              <p:cNvGrpSpPr/>
              <p:nvPr/>
            </p:nvGrpSpPr>
            <p:grpSpPr bwMode="auto">
              <a:xfrm>
                <a:off x="3447" y="2112"/>
                <a:ext cx="572" cy="59"/>
                <a:chOff x="3447" y="2112"/>
                <a:chExt cx="572" cy="59"/>
              </a:xfrm>
            </p:grpSpPr>
            <p:sp>
              <p:nvSpPr>
                <p:cNvPr id="54" name="Line 149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152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153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154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Line 155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56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Line 157"/>
              <p:cNvSpPr>
                <a:spLocks noChangeShapeType="1"/>
              </p:cNvSpPr>
              <p:nvPr/>
            </p:nvSpPr>
            <p:spPr bwMode="auto">
              <a:xfrm flipV="1">
                <a:off x="3381" y="2106"/>
                <a:ext cx="44" cy="44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" name="Group 216"/>
              <p:cNvGrpSpPr/>
              <p:nvPr/>
            </p:nvGrpSpPr>
            <p:grpSpPr bwMode="auto">
              <a:xfrm>
                <a:off x="4038" y="2109"/>
                <a:ext cx="572" cy="59"/>
                <a:chOff x="3447" y="2112"/>
                <a:chExt cx="572" cy="59"/>
              </a:xfrm>
            </p:grpSpPr>
            <p:sp>
              <p:nvSpPr>
                <p:cNvPr id="46" name="Line 159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Line 160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161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62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164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165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166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Group 225"/>
              <p:cNvGrpSpPr/>
              <p:nvPr/>
            </p:nvGrpSpPr>
            <p:grpSpPr bwMode="auto">
              <a:xfrm>
                <a:off x="4632" y="2109"/>
                <a:ext cx="572" cy="59"/>
                <a:chOff x="3447" y="2112"/>
                <a:chExt cx="572" cy="59"/>
              </a:xfrm>
            </p:grpSpPr>
            <p:sp>
              <p:nvSpPr>
                <p:cNvPr id="38" name="Line 168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69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70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171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72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173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74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2" name="Line 176"/>
            <p:cNvSpPr>
              <a:spLocks noChangeShapeType="1"/>
            </p:cNvSpPr>
            <p:nvPr/>
          </p:nvSpPr>
          <p:spPr bwMode="auto">
            <a:xfrm flipH="1" flipV="1">
              <a:off x="3634" y="3711"/>
              <a:ext cx="45" cy="284"/>
            </a:xfrm>
            <a:prstGeom prst="line">
              <a:avLst/>
            </a:prstGeom>
            <a:noFill/>
            <a:ln w="25400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177"/>
            <p:cNvSpPr>
              <a:spLocks noChangeArrowheads="1"/>
            </p:cNvSpPr>
            <p:nvPr/>
          </p:nvSpPr>
          <p:spPr bwMode="auto">
            <a:xfrm>
              <a:off x="3504" y="3950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ea typeface="新宋体" panose="02010609030101010101" charset="-122"/>
                </a:rPr>
                <a:t>截止区</a:t>
              </a:r>
              <a:endParaRPr lang="zh-CN" altLang="en-US" sz="2400" b="1" dirty="0">
                <a:ea typeface="新宋体" panose="02010609030101010101" charset="-122"/>
              </a:endParaRPr>
            </a:p>
          </p:txBody>
        </p:sp>
      </p:grpSp>
      <p:sp>
        <p:nvSpPr>
          <p:cNvPr id="70" name="Rectangle 187"/>
          <p:cNvSpPr>
            <a:spLocks noChangeArrowheads="1"/>
          </p:cNvSpPr>
          <p:nvPr/>
        </p:nvSpPr>
        <p:spPr bwMode="auto">
          <a:xfrm>
            <a:off x="-102760" y="5931694"/>
            <a:ext cx="160746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  <a:ea typeface="新宋体" panose="02010609030101010101" charset="-122"/>
              </a:rPr>
              <a:t>放大区：</a:t>
            </a:r>
            <a:endParaRPr lang="zh-CN" altLang="en-US" sz="2800" b="1" dirty="0">
              <a:solidFill>
                <a:srgbClr val="3333FF"/>
              </a:solidFill>
              <a:ea typeface="新宋体" panose="02010609030101010101" charset="-122"/>
            </a:endParaRPr>
          </a:p>
        </p:txBody>
      </p:sp>
      <p:sp>
        <p:nvSpPr>
          <p:cNvPr id="71" name="Text Box 186"/>
          <p:cNvSpPr>
            <a:spLocks noChangeArrowheads="1"/>
          </p:cNvSpPr>
          <p:nvPr/>
        </p:nvSpPr>
        <p:spPr bwMode="auto">
          <a:xfrm>
            <a:off x="1284518" y="5652769"/>
            <a:ext cx="10907482" cy="1076961"/>
          </a:xfrm>
          <a:prstGeom prst="rect">
            <a:avLst/>
          </a:prstGeom>
          <a:solidFill>
            <a:srgbClr val="EADCF4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平行于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CE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轴的区域，曲线基本平行等距。此时，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发射结正偏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(U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大于发射结开启电压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 ,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集电结反偏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,I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en-US" altLang="zh-CN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=βI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587463" y="6189197"/>
            <a:ext cx="3370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</a:rPr>
              <a:t>CE</a:t>
            </a:r>
            <a:r>
              <a:rPr lang="zh-CN" altLang="en-US" b="1" dirty="0"/>
              <a:t>≥</a:t>
            </a:r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</a:t>
            </a:r>
            <a:r>
              <a:rPr lang="en-US" altLang="zh-CN" sz="2800" b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</a:rPr>
              <a:t>BE</a:t>
            </a:r>
            <a:r>
              <a:rPr lang="en-US" altLang="zh-CN" sz="2800" b="1" dirty="0">
                <a:solidFill>
                  <a:srgbClr val="000099"/>
                </a:solidFill>
              </a:rPr>
              <a:t>&gt;</a:t>
            </a:r>
            <a:r>
              <a:rPr lang="en-US" altLang="zh-CN" sz="2800" b="1" i="1" dirty="0">
                <a:solidFill>
                  <a:srgbClr val="000099"/>
                </a:solidFill>
              </a:rPr>
              <a:t> </a:t>
            </a:r>
            <a:r>
              <a:rPr lang="en-US" altLang="zh-CN" sz="2800" b="1" i="1" dirty="0" err="1">
                <a:solidFill>
                  <a:srgbClr val="000099"/>
                </a:solidFill>
              </a:rPr>
              <a:t>U</a:t>
            </a:r>
            <a:r>
              <a:rPr lang="en-US" altLang="zh-CN" sz="2800" b="1" i="1" baseline="-25000" dirty="0" err="1">
                <a:solidFill>
                  <a:srgbClr val="000099"/>
                </a:solidFill>
              </a:rPr>
              <a:t>on</a:t>
            </a:r>
            <a:r>
              <a:rPr lang="en-US" altLang="zh-CN" sz="2800" b="1" dirty="0">
                <a:solidFill>
                  <a:srgbClr val="000099"/>
                </a:solidFill>
              </a:rPr>
              <a:t>)</a:t>
            </a:r>
            <a:endParaRPr lang="zh-CN" altLang="en-US" sz="280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5097214" y="1202065"/>
            <a:ext cx="1389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</a:rPr>
              <a:t>CE</a:t>
            </a:r>
            <a:r>
              <a:rPr lang="en-US" altLang="zh-CN" b="1" dirty="0"/>
              <a:t>=</a:t>
            </a:r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71" grpId="0" bldLvl="0" animBg="1"/>
      <p:bldP spid="64" grpId="0"/>
      <p:bldP spid="6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118"/>
          <p:cNvSpPr>
            <a:spLocks noChangeArrowheads="1"/>
          </p:cNvSpPr>
          <p:nvPr/>
        </p:nvSpPr>
        <p:spPr bwMode="auto">
          <a:xfrm>
            <a:off x="168276" y="611188"/>
            <a:ext cx="6097587" cy="519112"/>
          </a:xfrm>
          <a:prstGeom prst="rect">
            <a:avLst/>
          </a:prstGeom>
          <a:noFill/>
          <a:ln w="12700" cap="flat" algn="ctr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宋体" panose="02010600030101010101" pitchFamily="2" charset="-122"/>
                <a:ea typeface="新宋体" panose="02010609030101010101" charset="-122"/>
              </a:rPr>
              <a:t>2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新宋体" panose="02010609030101010101" charset="-122"/>
              </a:rPr>
              <a:t>）输出特性曲线的三个区</a:t>
            </a:r>
            <a:endParaRPr lang="zh-CN" altLang="en-US" sz="2800" b="1" dirty="0">
              <a:solidFill>
                <a:srgbClr val="FF00FF"/>
              </a:solidFill>
              <a:latin typeface="宋体" panose="02010600030101010101" pitchFamily="2" charset="-122"/>
              <a:ea typeface="新宋体" panose="02010609030101010101" charset="-122"/>
            </a:endParaRPr>
          </a:p>
        </p:txBody>
      </p:sp>
      <p:graphicFrame>
        <p:nvGraphicFramePr>
          <p:cNvPr id="4" name="Object 120"/>
          <p:cNvGraphicFramePr>
            <a:graphicFrameLocks noChangeAspect="1"/>
          </p:cNvGraphicFramePr>
          <p:nvPr/>
        </p:nvGraphicFramePr>
        <p:xfrm>
          <a:off x="1800679" y="1503998"/>
          <a:ext cx="4384675" cy="367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1" imgW="3562350" imgH="2981325" progId="Paint.Picture">
                  <p:embed/>
                </p:oleObj>
              </mc:Choice>
              <mc:Fallback>
                <p:oleObj name="位图图像" r:id="rId1" imgW="3562350" imgH="2981325" progId="Paint.Picture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679" y="1503998"/>
                        <a:ext cx="4384675" cy="367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0"/>
          <p:cNvGrpSpPr/>
          <p:nvPr/>
        </p:nvGrpSpPr>
        <p:grpSpPr bwMode="auto">
          <a:xfrm>
            <a:off x="2170567" y="1845310"/>
            <a:ext cx="561975" cy="2530475"/>
            <a:chOff x="3149" y="1975"/>
            <a:chExt cx="354" cy="1594"/>
          </a:xfrm>
        </p:grpSpPr>
        <p:grpSp>
          <p:nvGrpSpPr>
            <p:cNvPr id="6" name="Group 181"/>
            <p:cNvGrpSpPr/>
            <p:nvPr/>
          </p:nvGrpSpPr>
          <p:grpSpPr bwMode="auto">
            <a:xfrm>
              <a:off x="3149" y="1975"/>
              <a:ext cx="338" cy="1594"/>
              <a:chOff x="3117" y="344"/>
              <a:chExt cx="537" cy="1594"/>
            </a:xfrm>
          </p:grpSpPr>
          <p:sp>
            <p:nvSpPr>
              <p:cNvPr id="8" name="Line 123"/>
              <p:cNvSpPr>
                <a:spLocks noChangeShapeType="1"/>
              </p:cNvSpPr>
              <p:nvPr/>
            </p:nvSpPr>
            <p:spPr bwMode="auto">
              <a:xfrm flipH="1">
                <a:off x="3147" y="344"/>
                <a:ext cx="507" cy="318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124"/>
              <p:cNvSpPr>
                <a:spLocks noChangeShapeType="1"/>
              </p:cNvSpPr>
              <p:nvPr/>
            </p:nvSpPr>
            <p:spPr bwMode="auto">
              <a:xfrm flipH="1">
                <a:off x="3147" y="499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25"/>
              <p:cNvSpPr>
                <a:spLocks noChangeShapeType="1"/>
              </p:cNvSpPr>
              <p:nvPr/>
            </p:nvSpPr>
            <p:spPr bwMode="auto">
              <a:xfrm flipH="1">
                <a:off x="3135" y="640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26"/>
              <p:cNvSpPr>
                <a:spLocks noChangeShapeType="1"/>
              </p:cNvSpPr>
              <p:nvPr/>
            </p:nvSpPr>
            <p:spPr bwMode="auto">
              <a:xfrm flipH="1">
                <a:off x="3126" y="775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27"/>
              <p:cNvSpPr>
                <a:spLocks noChangeShapeType="1"/>
              </p:cNvSpPr>
              <p:nvPr/>
            </p:nvSpPr>
            <p:spPr bwMode="auto">
              <a:xfrm flipH="1">
                <a:off x="3117" y="928"/>
                <a:ext cx="472" cy="29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28"/>
              <p:cNvSpPr>
                <a:spLocks noChangeShapeType="1"/>
              </p:cNvSpPr>
              <p:nvPr/>
            </p:nvSpPr>
            <p:spPr bwMode="auto">
              <a:xfrm flipH="1">
                <a:off x="3126" y="1080"/>
                <a:ext cx="437" cy="267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29"/>
              <p:cNvSpPr>
                <a:spLocks noChangeShapeType="1"/>
              </p:cNvSpPr>
              <p:nvPr/>
            </p:nvSpPr>
            <p:spPr bwMode="auto">
              <a:xfrm flipH="1">
                <a:off x="3126" y="1223"/>
                <a:ext cx="420" cy="25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30"/>
              <p:cNvSpPr>
                <a:spLocks noChangeShapeType="1"/>
              </p:cNvSpPr>
              <p:nvPr/>
            </p:nvSpPr>
            <p:spPr bwMode="auto">
              <a:xfrm flipH="1">
                <a:off x="3126" y="1357"/>
                <a:ext cx="386" cy="233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31"/>
              <p:cNvSpPr>
                <a:spLocks noChangeShapeType="1"/>
              </p:cNvSpPr>
              <p:nvPr/>
            </p:nvSpPr>
            <p:spPr bwMode="auto">
              <a:xfrm flipH="1">
                <a:off x="3144" y="1465"/>
                <a:ext cx="369" cy="224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32"/>
              <p:cNvSpPr>
                <a:spLocks noChangeShapeType="1"/>
              </p:cNvSpPr>
              <p:nvPr/>
            </p:nvSpPr>
            <p:spPr bwMode="auto">
              <a:xfrm flipH="1">
                <a:off x="3144" y="1634"/>
                <a:ext cx="325" cy="19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33"/>
              <p:cNvSpPr>
                <a:spLocks noChangeShapeType="1"/>
              </p:cNvSpPr>
              <p:nvPr/>
            </p:nvSpPr>
            <p:spPr bwMode="auto">
              <a:xfrm flipH="1">
                <a:off x="3141" y="1748"/>
                <a:ext cx="325" cy="190"/>
              </a:xfrm>
              <a:prstGeom prst="line">
                <a:avLst/>
              </a:prstGeom>
              <a:noFill/>
              <a:ln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" name="Text Box 134"/>
            <p:cNvSpPr>
              <a:spLocks noChangeArrowheads="1"/>
            </p:cNvSpPr>
            <p:nvPr/>
          </p:nvSpPr>
          <p:spPr bwMode="auto">
            <a:xfrm>
              <a:off x="3157" y="2273"/>
              <a:ext cx="346" cy="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ea typeface="新宋体" panose="02010609030101010101" charset="-122"/>
                </a:rPr>
                <a:t>饱和区</a:t>
              </a:r>
              <a:endParaRPr lang="zh-CN" altLang="en-US" sz="2400" b="1" dirty="0">
                <a:solidFill>
                  <a:srgbClr val="FF0000"/>
                </a:solidFill>
                <a:ea typeface="新宋体" panose="02010609030101010101" charset="-122"/>
              </a:endParaRPr>
            </a:p>
          </p:txBody>
        </p:sp>
      </p:grpSp>
      <p:grpSp>
        <p:nvGrpSpPr>
          <p:cNvPr id="20" name="Group 194"/>
          <p:cNvGrpSpPr/>
          <p:nvPr/>
        </p:nvGrpSpPr>
        <p:grpSpPr bwMode="auto">
          <a:xfrm>
            <a:off x="3035754" y="2650173"/>
            <a:ext cx="1844675" cy="1752600"/>
            <a:chOff x="3688" y="2984"/>
            <a:chExt cx="1162" cy="1104"/>
          </a:xfrm>
        </p:grpSpPr>
        <p:grpSp>
          <p:nvGrpSpPr>
            <p:cNvPr id="21" name="Group 195"/>
            <p:cNvGrpSpPr/>
            <p:nvPr/>
          </p:nvGrpSpPr>
          <p:grpSpPr bwMode="auto">
            <a:xfrm>
              <a:off x="3688" y="2984"/>
              <a:ext cx="412" cy="412"/>
              <a:chOff x="3602" y="2623"/>
              <a:chExt cx="412" cy="412"/>
            </a:xfrm>
          </p:grpSpPr>
          <p:sp>
            <p:nvSpPr>
              <p:cNvPr id="28" name="Oval 138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9" name="Text Box 139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放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  <p:grpSp>
          <p:nvGrpSpPr>
            <p:cNvPr id="22" name="Group 198"/>
            <p:cNvGrpSpPr/>
            <p:nvPr/>
          </p:nvGrpSpPr>
          <p:grpSpPr bwMode="auto">
            <a:xfrm>
              <a:off x="4065" y="3312"/>
              <a:ext cx="412" cy="412"/>
              <a:chOff x="3602" y="2623"/>
              <a:chExt cx="412" cy="412"/>
            </a:xfrm>
          </p:grpSpPr>
          <p:sp>
            <p:nvSpPr>
              <p:cNvPr id="26" name="Oval 141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7" name="Text Box 142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大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  <p:grpSp>
          <p:nvGrpSpPr>
            <p:cNvPr id="23" name="Group 201"/>
            <p:cNvGrpSpPr/>
            <p:nvPr/>
          </p:nvGrpSpPr>
          <p:grpSpPr bwMode="auto">
            <a:xfrm>
              <a:off x="4438" y="3676"/>
              <a:ext cx="412" cy="412"/>
              <a:chOff x="3602" y="2623"/>
              <a:chExt cx="412" cy="412"/>
            </a:xfrm>
          </p:grpSpPr>
          <p:sp>
            <p:nvSpPr>
              <p:cNvPr id="24" name="Oval 144"/>
              <p:cNvSpPr>
                <a:spLocks noChangeArrowheads="1"/>
              </p:cNvSpPr>
              <p:nvPr/>
            </p:nvSpPr>
            <p:spPr bwMode="auto">
              <a:xfrm>
                <a:off x="3602" y="2623"/>
                <a:ext cx="412" cy="412"/>
              </a:xfrm>
              <a:prstGeom prst="ellipse">
                <a:avLst/>
              </a:prstGeom>
              <a:noFill/>
              <a:ln w="25400" cap="flat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新宋体" panose="02010609030101010101" charset="-122"/>
                </a:endParaRPr>
              </a:p>
            </p:txBody>
          </p:sp>
          <p:sp>
            <p:nvSpPr>
              <p:cNvPr id="25" name="Text Box 145"/>
              <p:cNvSpPr>
                <a:spLocks noChangeArrowheads="1"/>
              </p:cNvSpPr>
              <p:nvPr/>
            </p:nvSpPr>
            <p:spPr bwMode="auto">
              <a:xfrm>
                <a:off x="3663" y="2683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defRPr kumimoji="1"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>
                    <a:ea typeface="新宋体" panose="02010609030101010101" charset="-122"/>
                  </a:rPr>
                  <a:t>区</a:t>
                </a:r>
                <a:endParaRPr lang="zh-CN" altLang="en-US" sz="2400" b="1">
                  <a:ea typeface="新宋体" panose="02010609030101010101" charset="-122"/>
                </a:endParaRPr>
              </a:p>
            </p:txBody>
          </p:sp>
        </p:grpSp>
      </p:grpSp>
      <p:grpSp>
        <p:nvGrpSpPr>
          <p:cNvPr id="30" name="Group 204"/>
          <p:cNvGrpSpPr/>
          <p:nvPr/>
        </p:nvGrpSpPr>
        <p:grpSpPr bwMode="auto">
          <a:xfrm>
            <a:off x="2445204" y="4601210"/>
            <a:ext cx="2894013" cy="836613"/>
            <a:chOff x="3322" y="3711"/>
            <a:chExt cx="1823" cy="527"/>
          </a:xfrm>
        </p:grpSpPr>
        <p:grpSp>
          <p:nvGrpSpPr>
            <p:cNvPr id="31" name="Group 205"/>
            <p:cNvGrpSpPr/>
            <p:nvPr/>
          </p:nvGrpSpPr>
          <p:grpSpPr bwMode="auto">
            <a:xfrm>
              <a:off x="3322" y="3711"/>
              <a:ext cx="1823" cy="65"/>
              <a:chOff x="3381" y="2106"/>
              <a:chExt cx="1823" cy="65"/>
            </a:xfrm>
          </p:grpSpPr>
          <p:grpSp>
            <p:nvGrpSpPr>
              <p:cNvPr id="34" name="Group 206"/>
              <p:cNvGrpSpPr/>
              <p:nvPr/>
            </p:nvGrpSpPr>
            <p:grpSpPr bwMode="auto">
              <a:xfrm>
                <a:off x="3447" y="2112"/>
                <a:ext cx="572" cy="59"/>
                <a:chOff x="3447" y="2112"/>
                <a:chExt cx="572" cy="59"/>
              </a:xfrm>
            </p:grpSpPr>
            <p:sp>
              <p:nvSpPr>
                <p:cNvPr id="54" name="Line 149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152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153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154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Line 155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56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Line 157"/>
              <p:cNvSpPr>
                <a:spLocks noChangeShapeType="1"/>
              </p:cNvSpPr>
              <p:nvPr/>
            </p:nvSpPr>
            <p:spPr bwMode="auto">
              <a:xfrm flipV="1">
                <a:off x="3381" y="2106"/>
                <a:ext cx="44" cy="44"/>
              </a:xfrm>
              <a:prstGeom prst="line">
                <a:avLst/>
              </a:prstGeom>
              <a:noFill/>
              <a:ln w="25400" cap="flat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" name="Group 216"/>
              <p:cNvGrpSpPr/>
              <p:nvPr/>
            </p:nvGrpSpPr>
            <p:grpSpPr bwMode="auto">
              <a:xfrm>
                <a:off x="4038" y="2109"/>
                <a:ext cx="572" cy="59"/>
                <a:chOff x="3447" y="2112"/>
                <a:chExt cx="572" cy="59"/>
              </a:xfrm>
            </p:grpSpPr>
            <p:sp>
              <p:nvSpPr>
                <p:cNvPr id="46" name="Line 159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Line 160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161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62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164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165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166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Group 225"/>
              <p:cNvGrpSpPr/>
              <p:nvPr/>
            </p:nvGrpSpPr>
            <p:grpSpPr bwMode="auto">
              <a:xfrm>
                <a:off x="4632" y="2109"/>
                <a:ext cx="572" cy="59"/>
                <a:chOff x="3447" y="2112"/>
                <a:chExt cx="572" cy="59"/>
              </a:xfrm>
            </p:grpSpPr>
            <p:sp>
              <p:nvSpPr>
                <p:cNvPr id="38" name="Line 168"/>
                <p:cNvSpPr>
                  <a:spLocks noChangeShapeType="1"/>
                </p:cNvSpPr>
                <p:nvPr/>
              </p:nvSpPr>
              <p:spPr bwMode="auto">
                <a:xfrm flipV="1">
                  <a:off x="3447" y="2115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69"/>
                <p:cNvSpPr>
                  <a:spLocks noChangeShapeType="1"/>
                </p:cNvSpPr>
                <p:nvPr/>
              </p:nvSpPr>
              <p:spPr bwMode="auto">
                <a:xfrm flipV="1">
                  <a:off x="3516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70"/>
                <p:cNvSpPr>
                  <a:spLocks noChangeShapeType="1"/>
                </p:cNvSpPr>
                <p:nvPr/>
              </p:nvSpPr>
              <p:spPr bwMode="auto">
                <a:xfrm flipV="1">
                  <a:off x="3594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171"/>
                <p:cNvSpPr>
                  <a:spLocks noChangeShapeType="1"/>
                </p:cNvSpPr>
                <p:nvPr/>
              </p:nvSpPr>
              <p:spPr bwMode="auto">
                <a:xfrm flipV="1">
                  <a:off x="3672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72"/>
                <p:cNvSpPr>
                  <a:spLocks noChangeShapeType="1"/>
                </p:cNvSpPr>
                <p:nvPr/>
              </p:nvSpPr>
              <p:spPr bwMode="auto">
                <a:xfrm flipV="1">
                  <a:off x="3759" y="2112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" name="Line 173"/>
                <p:cNvSpPr>
                  <a:spLocks noChangeShapeType="1"/>
                </p:cNvSpPr>
                <p:nvPr/>
              </p:nvSpPr>
              <p:spPr bwMode="auto">
                <a:xfrm flipV="1">
                  <a:off x="3828" y="2127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74"/>
                <p:cNvSpPr>
                  <a:spLocks noChangeShapeType="1"/>
                </p:cNvSpPr>
                <p:nvPr/>
              </p:nvSpPr>
              <p:spPr bwMode="auto">
                <a:xfrm flipV="1">
                  <a:off x="3906" y="2124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3975" y="2121"/>
                  <a:ext cx="44" cy="44"/>
                </a:xfrm>
                <a:prstGeom prst="line">
                  <a:avLst/>
                </a:prstGeom>
                <a:noFill/>
                <a:ln w="25400" cap="flat" algn="ctr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2" name="Line 176"/>
            <p:cNvSpPr>
              <a:spLocks noChangeShapeType="1"/>
            </p:cNvSpPr>
            <p:nvPr/>
          </p:nvSpPr>
          <p:spPr bwMode="auto">
            <a:xfrm flipH="1" flipV="1">
              <a:off x="3634" y="3711"/>
              <a:ext cx="45" cy="284"/>
            </a:xfrm>
            <a:prstGeom prst="line">
              <a:avLst/>
            </a:prstGeom>
            <a:noFill/>
            <a:ln w="25400" cap="flat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177"/>
            <p:cNvSpPr>
              <a:spLocks noChangeArrowheads="1"/>
            </p:cNvSpPr>
            <p:nvPr/>
          </p:nvSpPr>
          <p:spPr bwMode="auto">
            <a:xfrm>
              <a:off x="3504" y="3950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defRPr kumimoji="1"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ea typeface="新宋体" panose="02010609030101010101" charset="-122"/>
                </a:rPr>
                <a:t>截止区</a:t>
              </a:r>
              <a:endParaRPr lang="zh-CN" altLang="en-US" sz="2400" b="1" dirty="0">
                <a:ea typeface="新宋体" panose="02010609030101010101" charset="-122"/>
              </a:endParaRPr>
            </a:p>
          </p:txBody>
        </p:sp>
      </p:grpSp>
      <p:sp>
        <p:nvSpPr>
          <p:cNvPr id="66" name="Rectangle 182"/>
          <p:cNvSpPr>
            <a:spLocks noChangeArrowheads="1"/>
          </p:cNvSpPr>
          <p:nvPr/>
        </p:nvSpPr>
        <p:spPr bwMode="auto">
          <a:xfrm>
            <a:off x="7139495" y="1455241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  <a:ea typeface="新宋体" panose="02010609030101010101" charset="-122"/>
              </a:rPr>
              <a:t>截止区：</a:t>
            </a:r>
            <a:endParaRPr lang="zh-CN" altLang="en-US" sz="2800" b="1" dirty="0">
              <a:solidFill>
                <a:srgbClr val="3333FF"/>
              </a:solidFill>
              <a:ea typeface="新宋体" panose="02010609030101010101" charset="-122"/>
            </a:endParaRPr>
          </a:p>
        </p:txBody>
      </p:sp>
      <p:sp>
        <p:nvSpPr>
          <p:cNvPr id="67" name="Text Box 184"/>
          <p:cNvSpPr>
            <a:spLocks noChangeArrowheads="1"/>
          </p:cNvSpPr>
          <p:nvPr/>
        </p:nvSpPr>
        <p:spPr bwMode="auto">
          <a:xfrm>
            <a:off x="7128964" y="2072696"/>
            <a:ext cx="3057849" cy="3643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接近零的区域，相当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i</a:t>
            </a:r>
            <a:r>
              <a:rPr lang="en-US" altLang="zh-CN" sz="2800" b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en-US" altLang="zh-CN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=0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的曲线的下方。此时， </a:t>
            </a:r>
            <a:r>
              <a:rPr lang="en-US" altLang="zh-CN" sz="2800" b="1" i="1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v</a:t>
            </a:r>
            <a:r>
              <a:rPr lang="en-US" altLang="zh-CN" sz="2800" b="1" i="1" baseline="-25000" dirty="0" err="1">
                <a:latin typeface="楷体_GB2312" panose="02010609030101010101" pitchFamily="49" charset="-122"/>
                <a:ea typeface="楷体_GB2312" panose="02010609030101010101" pitchFamily="49" charset="-122"/>
              </a:rPr>
              <a:t>BE</a:t>
            </a:r>
            <a:r>
              <a:rPr lang="zh-CN" altLang="en-US" sz="2800" b="1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小于死区电压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r>
              <a:rPr lang="zh-CN" altLang="en-US" sz="2800" b="1" i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发射结电压小于开启电压，集电结反偏。</a:t>
            </a:r>
            <a:endParaRPr lang="en-US" altLang="zh-CN" sz="2800" b="1" i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800" b="1" i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28964" y="5163820"/>
            <a:ext cx="3172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CE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&gt;</a:t>
            </a:r>
            <a:r>
              <a:rPr lang="en-US" altLang="zh-CN" sz="28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BE</a:t>
            </a:r>
            <a:r>
              <a:rPr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</a:rPr>
              <a:t>BE</a:t>
            </a:r>
            <a:r>
              <a:rPr lang="zh-CN" altLang="en-US" b="1" dirty="0"/>
              <a:t>≤</a:t>
            </a:r>
            <a:r>
              <a:rPr lang="en-US" altLang="zh-CN" sz="28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8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altLang="zh-CN" sz="2800" b="1" i="1" baseline="-250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</a:t>
            </a:r>
            <a:r>
              <a:rPr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zh-CN" altLang="en-US" sz="280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2522289" y="1256675"/>
            <a:ext cx="1389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</a:rPr>
              <a:t>CE</a:t>
            </a:r>
            <a:r>
              <a:rPr lang="en-US" altLang="zh-CN" b="1" dirty="0"/>
              <a:t>=</a:t>
            </a:r>
            <a:r>
              <a:rPr lang="en-US" altLang="zh-CN" sz="2800" b="1" i="1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rgbClr val="00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childTnLst>
                                    <p:set>
                                      <p:cBhvr additive="base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ldLvl="0" animBg="1"/>
      <p:bldP spid="67" grpId="0" bldLvl="0" animBg="1"/>
      <p:bldP spid="65" grpId="0"/>
      <p:bldP spid="6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848" y="936387"/>
            <a:ext cx="6478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）放大区：发射结正偏，集电结反偏</a:t>
            </a:r>
            <a:endParaRPr lang="zh-CN" altLang="en-US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0264" y="1663194"/>
            <a:ext cx="4349093" cy="7176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65848" y="2584381"/>
            <a:ext cx="9203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）饱和区：发射结正偏，集电结正偏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反偏，电压很小</a:t>
            </a:r>
            <a:endParaRPr lang="zh-CN" altLang="en-US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65848" y="4274557"/>
            <a:ext cx="6497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）截止区：发射结反偏，集电结反偏</a:t>
            </a:r>
            <a:endParaRPr lang="zh-CN" altLang="en-US" sz="28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265" y="3368626"/>
            <a:ext cx="6294172" cy="676572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264" y="5161727"/>
            <a:ext cx="7111591" cy="6686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63537" y="766505"/>
            <a:ext cx="11172934" cy="540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80008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例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：测量三极管三个电极对地电位如图所示，试判断三极管的工作状。</a:t>
            </a:r>
            <a:endParaRPr kumimoji="1" lang="zh-CN" altLang="en-US" sz="28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4" name="Object 0"/>
          <p:cNvGraphicFramePr>
            <a:graphicFrameLocks noChangeAspect="1"/>
          </p:cNvGraphicFramePr>
          <p:nvPr/>
        </p:nvGraphicFramePr>
        <p:xfrm>
          <a:off x="1663700" y="1591784"/>
          <a:ext cx="8694398" cy="343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BMP 图象" r:id="rId1" imgW="2805430" imgH="1115060" progId="Paint.Picture">
                  <p:embed/>
                </p:oleObj>
              </mc:Choice>
              <mc:Fallback>
                <p:oleObj name="BMP 图象" r:id="rId1" imgW="2805430" imgH="1115060" progId="Paint.Picture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1591784"/>
                        <a:ext cx="8694398" cy="3437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 bwMode="auto">
          <a:xfrm>
            <a:off x="1663700" y="5715000"/>
            <a:ext cx="1066800" cy="533400"/>
            <a:chOff x="720" y="3648"/>
            <a:chExt cx="672" cy="336"/>
          </a:xfrm>
        </p:grpSpPr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720" y="3648"/>
              <a:ext cx="672" cy="336"/>
            </a:xfrm>
            <a:prstGeom prst="wedgeRoundRectCallout">
              <a:avLst>
                <a:gd name="adj1" fmla="val 88097"/>
                <a:gd name="adj2" fmla="val -248514"/>
                <a:gd name="adj3" fmla="val 16667"/>
              </a:avLst>
            </a:prstGeom>
            <a:gradFill rotWithShape="1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768" y="3648"/>
              <a:ext cx="624" cy="288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</a:t>
              </a:r>
              <a:endPara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Group 8"/>
          <p:cNvGrpSpPr/>
          <p:nvPr/>
        </p:nvGrpSpPr>
        <p:grpSpPr bwMode="auto">
          <a:xfrm>
            <a:off x="4476296" y="5824795"/>
            <a:ext cx="1066800" cy="533400"/>
            <a:chOff x="2016" y="3744"/>
            <a:chExt cx="672" cy="336"/>
          </a:xfrm>
        </p:grpSpPr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2016" y="3744"/>
              <a:ext cx="672" cy="336"/>
            </a:xfrm>
            <a:prstGeom prst="wedgeRoundRectCallout">
              <a:avLst>
                <a:gd name="adj1" fmla="val 88097"/>
                <a:gd name="adj2" fmla="val -248514"/>
                <a:gd name="adj3" fmla="val 16667"/>
              </a:avLst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2102" y="3744"/>
              <a:ext cx="500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截止</a:t>
              </a:r>
              <a:endPara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11"/>
          <p:cNvGrpSpPr/>
          <p:nvPr/>
        </p:nvGrpSpPr>
        <p:grpSpPr bwMode="auto">
          <a:xfrm>
            <a:off x="7525658" y="5786695"/>
            <a:ext cx="1066800" cy="533400"/>
            <a:chOff x="3648" y="3696"/>
            <a:chExt cx="672" cy="336"/>
          </a:xfrm>
        </p:grpSpPr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3648" y="3696"/>
              <a:ext cx="672" cy="336"/>
            </a:xfrm>
            <a:prstGeom prst="wedgeRoundRectCallout">
              <a:avLst>
                <a:gd name="adj1" fmla="val 88097"/>
                <a:gd name="adj2" fmla="val -248514"/>
                <a:gd name="adj3" fmla="val 16667"/>
              </a:avLst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189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724" y="3696"/>
              <a:ext cx="500" cy="288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18900000" scaled="1"/>
            </a:gra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</a:t>
              </a:r>
              <a:endPara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标题 1"/>
          <p:cNvSpPr txBox="1"/>
          <p:nvPr/>
        </p:nvSpPr>
        <p:spPr>
          <a:xfrm>
            <a:off x="0" y="-162838"/>
            <a:ext cx="11536471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晶体管的共射特性曲线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输出特性曲线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2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3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4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5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6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7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8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ags/tag9.xml><?xml version="1.0" encoding="utf-8"?>
<p:tagLst xmlns:p="http://schemas.openxmlformats.org/presentationml/2006/main">
  <p:tag name="KSO_WM_DIAGRAM_VIRTUALLY_FRAME" val="{&quot;height&quot;:373.696062992126,&quot;left&quot;:38.838976377952754,&quot;top&quot;:77.56456692913385,&quot;width&quot;:882.12503937007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2867</Words>
  <Application>WPS 演示</Application>
  <PresentationFormat>Widescreen</PresentationFormat>
  <Paragraphs>880</Paragraphs>
  <Slides>30</Slides>
  <Notes>219</Notes>
  <HiddenSlides>0</HiddenSlides>
  <MMClips>4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30</vt:i4>
      </vt:variant>
    </vt:vector>
  </HeadingPairs>
  <TitlesOfParts>
    <vt:vector size="81" baseType="lpstr">
      <vt:lpstr>Arial</vt:lpstr>
      <vt:lpstr>宋体</vt:lpstr>
      <vt:lpstr>Wingdings</vt:lpstr>
      <vt:lpstr>微软雅黑</vt:lpstr>
      <vt:lpstr>楷体_GB2312</vt:lpstr>
      <vt:lpstr>新宋体</vt:lpstr>
      <vt:lpstr>Calibri</vt:lpstr>
      <vt:lpstr>Arial</vt:lpstr>
      <vt:lpstr>Wingdings</vt:lpstr>
      <vt:lpstr>Calibri</vt:lpstr>
      <vt:lpstr>Times New Roman</vt:lpstr>
      <vt:lpstr>Symbol</vt:lpstr>
      <vt:lpstr>Arial Narrow</vt:lpstr>
      <vt:lpstr>等线</vt:lpstr>
      <vt:lpstr>等线 Light</vt:lpstr>
      <vt:lpstr>Arial Unicode MS</vt:lpstr>
      <vt:lpstr>Verdana</vt:lpstr>
      <vt:lpstr>幼圆</vt:lpstr>
      <vt:lpstr>隶书</vt:lpstr>
      <vt:lpstr>黑体</vt:lpstr>
      <vt:lpstr>Vladimir Script</vt:lpstr>
      <vt:lpstr>Times New Roman</vt:lpstr>
      <vt:lpstr>Kingsoft Phonetic Plain</vt:lpstr>
      <vt:lpstr>Segoe Print</vt:lpstr>
      <vt:lpstr>华文仿宋</vt:lpstr>
      <vt:lpstr>Book Antiqua</vt:lpstr>
      <vt:lpstr>Office Theme</vt:lpstr>
      <vt:lpstr>Equation.DSMT4</vt:lpstr>
      <vt:lpstr>Equation.3</vt:lpstr>
      <vt:lpstr>Equation.DSMT4</vt:lpstr>
      <vt:lpstr>Equation.DSMT4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hui</dc:creator>
  <cp:lastModifiedBy>苏为</cp:lastModifiedBy>
  <cp:revision>251</cp:revision>
  <cp:lastPrinted>2024-10-09T04:03:00Z</cp:lastPrinted>
  <dcterms:created xsi:type="dcterms:W3CDTF">2024-09-30T08:30:00Z</dcterms:created>
  <dcterms:modified xsi:type="dcterms:W3CDTF">2026-05-11T15:21:33Z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44232109753B42D1A1D2D88E78F4B8CE_13</vt:lpwstr>
  </property>
  <property fmtid="{D5CDD505-2E9C-101B-9397-08002B2CF9AE}" pid="3" name="KSOProductBuildVer">
    <vt:lpwstr>2052-12.1.0.25865</vt:lpwstr>
  </property>
</Properties>
</file>