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373" r:id="rId3"/>
    <p:sldId id="599" r:id="rId4"/>
    <p:sldId id="518" r:id="rId5"/>
    <p:sldId id="600" r:id="rId6"/>
    <p:sldId id="257" r:id="rId7"/>
    <p:sldId id="353" r:id="rId8"/>
    <p:sldId id="258" r:id="rId9"/>
    <p:sldId id="371" r:id="rId10"/>
    <p:sldId id="601" r:id="rId11"/>
    <p:sldId id="372" r:id="rId12"/>
    <p:sldId id="260" r:id="rId13"/>
    <p:sldId id="602" r:id="rId14"/>
    <p:sldId id="603" r:id="rId15"/>
    <p:sldId id="348" r:id="rId16"/>
    <p:sldId id="604" r:id="rId17"/>
    <p:sldId id="607" r:id="rId18"/>
    <p:sldId id="608" r:id="rId19"/>
    <p:sldId id="609" r:id="rId20"/>
    <p:sldId id="610" r:id="rId21"/>
    <p:sldId id="417" r:id="rId22"/>
    <p:sldId id="262" r:id="rId23"/>
    <p:sldId id="347" r:id="rId24"/>
    <p:sldId id="611" r:id="rId25"/>
    <p:sldId id="264" r:id="rId26"/>
    <p:sldId id="265" r:id="rId27"/>
    <p:sldId id="266" r:id="rId28"/>
    <p:sldId id="354" r:id="rId29"/>
    <p:sldId id="267" r:id="rId30"/>
    <p:sldId id="355" r:id="rId31"/>
    <p:sldId id="268" r:id="rId32"/>
    <p:sldId id="689" r:id="rId33"/>
    <p:sldId id="690" r:id="rId34"/>
    <p:sldId id="691" r:id="rId35"/>
    <p:sldId id="751" r:id="rId36"/>
    <p:sldId id="270" r:id="rId37"/>
    <p:sldId id="753" r:id="rId38"/>
    <p:sldId id="754" r:id="rId39"/>
    <p:sldId id="271" r:id="rId40"/>
    <p:sldId id="756" r:id="rId41"/>
    <p:sldId id="272" r:id="rId42"/>
    <p:sldId id="757" r:id="rId43"/>
    <p:sldId id="273" r:id="rId44"/>
    <p:sldId id="274" r:id="rId45"/>
    <p:sldId id="763" r:id="rId46"/>
    <p:sldId id="762" r:id="rId47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CCFF"/>
    <a:srgbClr val="FF3300"/>
    <a:srgbClr val="FFFF00"/>
    <a:srgbClr val="FF9900"/>
    <a:srgbClr val="FF00FF"/>
    <a:srgbClr val="00FF00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378"/>
  </p:normalViewPr>
  <p:slideViewPr>
    <p:cSldViewPr showGuides="1">
      <p:cViewPr varScale="1">
        <p:scale>
          <a:sx n="67" d="100"/>
          <a:sy n="67" d="100"/>
        </p:scale>
        <p:origin x="1263" y="45"/>
      </p:cViewPr>
      <p:guideLst>
        <p:guide orient="horz" pos="2232"/>
        <p:guide pos="27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0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9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emf"/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emf"/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42.e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50.emf"/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66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1731E-DBF6-485C-88ED-5BE93C7C9E08}" type="datetimeFigureOut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1DA160-C6F2-40DB-9B50-C38357EC72EE}" type="slidenum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slide" Target="slide4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8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Relationship Id="rId3" Type="http://schemas.openxmlformats.org/officeDocument/2006/relationships/tags" Target="../tags/tag3.xml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8.png"/><Relationship Id="rId7" Type="http://schemas.openxmlformats.org/officeDocument/2006/relationships/tags" Target="../tags/tag4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5.e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3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2.emf"/><Relationship Id="rId1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e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5.emf"/><Relationship Id="rId1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1.e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9.e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8.e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emf"/><Relationship Id="rId8" Type="http://schemas.openxmlformats.org/officeDocument/2006/relationships/oleObject" Target="../embeddings/oleObject27.bin"/><Relationship Id="rId7" Type="http://schemas.openxmlformats.org/officeDocument/2006/relationships/image" Target="../media/image34.emf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.png"/><Relationship Id="rId4" Type="http://schemas.openxmlformats.org/officeDocument/2006/relationships/image" Target="../media/image33.e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2.emf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2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9.e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e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6.emf"/><Relationship Id="rId17" Type="http://schemas.openxmlformats.org/officeDocument/2006/relationships/vmlDrawing" Target="../drawings/vmlDrawing13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image" Target="../media/image42.e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41.e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40.emf"/><Relationship Id="rId1" Type="http://schemas.openxmlformats.org/officeDocument/2006/relationships/oleObject" Target="../embeddings/oleObject2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6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4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3.e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3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0.e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49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8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7.e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39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6.jpeg"/><Relationship Id="rId2" Type="http://schemas.openxmlformats.org/officeDocument/2006/relationships/image" Target="../media/image51.emf"/><Relationship Id="rId1" Type="http://schemas.openxmlformats.org/officeDocument/2006/relationships/oleObject" Target="../embeddings/oleObject43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1" Type="http://schemas.openxmlformats.org/officeDocument/2006/relationships/tags" Target="../tags/tag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6.jpeg"/><Relationship Id="rId2" Type="http://schemas.openxmlformats.org/officeDocument/2006/relationships/image" Target="../media/image53.emf"/><Relationship Id="rId1" Type="http://schemas.openxmlformats.org/officeDocument/2006/relationships/oleObject" Target="../embeddings/oleObject4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7.png"/><Relationship Id="rId6" Type="http://schemas.openxmlformats.org/officeDocument/2006/relationships/tags" Target="../tags/tag8.xml"/><Relationship Id="rId5" Type="http://schemas.openxmlformats.org/officeDocument/2006/relationships/image" Target="../media/image6.jpeg"/><Relationship Id="rId4" Type="http://schemas.openxmlformats.org/officeDocument/2006/relationships/image" Target="../media/image56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5.emf"/><Relationship Id="rId1" Type="http://schemas.openxmlformats.org/officeDocument/2006/relationships/oleObject" Target="../embeddings/oleObject45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image" Target="../media/image59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8.emf"/><Relationship Id="rId1" Type="http://schemas.openxmlformats.org/officeDocument/2006/relationships/oleObject" Target="../embeddings/oleObject47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0.emf"/><Relationship Id="rId1" Type="http://schemas.openxmlformats.org/officeDocument/2006/relationships/oleObject" Target="../embeddings/oleObject49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64.e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2.e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1.e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5.emf"/><Relationship Id="rId1" Type="http://schemas.openxmlformats.org/officeDocument/2006/relationships/oleObject" Target="../embeddings/oleObject50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emf"/><Relationship Id="rId1" Type="http://schemas.openxmlformats.org/officeDocument/2006/relationships/oleObject" Target="../embeddings/oleObject55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70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9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8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7.e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6.e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71.emf"/><Relationship Id="rId1" Type="http://schemas.openxmlformats.org/officeDocument/2006/relationships/oleObject" Target="../embeddings/oleObject56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12" name="Text Box 2"/>
          <p:cNvSpPr txBox="1"/>
          <p:nvPr/>
        </p:nvSpPr>
        <p:spPr>
          <a:xfrm>
            <a:off x="3347720" y="1251585"/>
            <a:ext cx="43484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</a:t>
            </a:r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章 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2348865"/>
            <a:ext cx="70434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一阶电路和二阶电路的时域分析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64977" name="Group 113"/>
          <p:cNvGrpSpPr/>
          <p:nvPr/>
        </p:nvGrpSpPr>
        <p:grpSpPr>
          <a:xfrm>
            <a:off x="388620" y="1207770"/>
            <a:ext cx="8397875" cy="2059940"/>
            <a:chOff x="113" y="1389"/>
            <a:chExt cx="2722" cy="340"/>
          </a:xfrm>
          <a:noFill/>
        </p:grpSpPr>
        <p:pic>
          <p:nvPicPr>
            <p:cNvPr id="4159" name="Picture 20" descr="GEL Rounded Rectangle aquamarine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" y="1389"/>
              <a:ext cx="2458" cy="3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60" name="Picture 17" descr="GEL Rounded Rectangle aquamarine">
              <a:hlinkClick r:id="rId1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3" y="1389"/>
              <a:ext cx="330" cy="339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4161" name="Text Box 21">
              <a:hlinkClick r:id="rId1" action="ppaction://hlinksldjump"/>
            </p:cNvPr>
            <p:cNvSpPr txBox="1"/>
            <p:nvPr/>
          </p:nvSpPr>
          <p:spPr>
            <a:xfrm>
              <a:off x="423" y="1434"/>
              <a:ext cx="2372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动态电路的方程及其初始条件</a:t>
              </a:r>
              <a:endPara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162" name="Text Box 18">
              <a:hlinkClick r:id="rId1" action="ppaction://hlinksldjump"/>
            </p:cNvPr>
            <p:cNvSpPr txBox="1"/>
            <p:nvPr/>
          </p:nvSpPr>
          <p:spPr>
            <a:xfrm>
              <a:off x="113" y="1434"/>
              <a:ext cx="363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7.1</a:t>
              </a:r>
              <a:endPara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64978" name="Group 114"/>
          <p:cNvGrpSpPr/>
          <p:nvPr/>
        </p:nvGrpSpPr>
        <p:grpSpPr>
          <a:xfrm>
            <a:off x="388620" y="1965960"/>
            <a:ext cx="8397875" cy="2059940"/>
            <a:chOff x="113" y="1729"/>
            <a:chExt cx="2722" cy="340"/>
          </a:xfrm>
          <a:noFill/>
        </p:grpSpPr>
        <p:pic>
          <p:nvPicPr>
            <p:cNvPr id="4151" name="Picture 43" descr="GEL Rounded Rectangle aquamar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" y="1729"/>
              <a:ext cx="2458" cy="340"/>
            </a:xfrm>
            <a:prstGeom prst="rect">
              <a:avLst/>
            </a:prstGeom>
            <a:grpFill/>
            <a:ln w="9525">
              <a:noFill/>
            </a:ln>
          </p:spPr>
        </p:pic>
        <p:pic>
          <p:nvPicPr>
            <p:cNvPr id="4152" name="Picture 44" descr="GEL Rounded Rectangle aquamarine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3" y="1729"/>
              <a:ext cx="330" cy="339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4153" name="Text Box 45">
              <a:hlinkClick r:id="rId4" action="ppaction://hlinksldjump"/>
            </p:cNvPr>
            <p:cNvSpPr txBox="1"/>
            <p:nvPr/>
          </p:nvSpPr>
          <p:spPr>
            <a:xfrm>
              <a:off x="423" y="1774"/>
              <a:ext cx="2372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一阶电路的零输入响应</a:t>
              </a:r>
              <a:endPara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154" name="Text Box 46">
              <a:hlinkClick r:id="rId4" action="ppaction://hlinksldjump"/>
            </p:cNvPr>
            <p:cNvSpPr txBox="1"/>
            <p:nvPr/>
          </p:nvSpPr>
          <p:spPr>
            <a:xfrm>
              <a:off x="113" y="1774"/>
              <a:ext cx="363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7.2</a:t>
              </a:r>
              <a:endPara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64979" name="Group 115"/>
          <p:cNvGrpSpPr/>
          <p:nvPr/>
        </p:nvGrpSpPr>
        <p:grpSpPr>
          <a:xfrm>
            <a:off x="388620" y="2723515"/>
            <a:ext cx="8397875" cy="2059940"/>
            <a:chOff x="113" y="2069"/>
            <a:chExt cx="2722" cy="340"/>
          </a:xfrm>
          <a:noFill/>
        </p:grpSpPr>
        <p:pic>
          <p:nvPicPr>
            <p:cNvPr id="4143" name="Picture 53" descr="GEL Rounded Rectangle aquamar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" y="2069"/>
              <a:ext cx="2458" cy="340"/>
            </a:xfrm>
            <a:prstGeom prst="rect">
              <a:avLst/>
            </a:prstGeom>
            <a:grpFill/>
            <a:ln w="9525">
              <a:noFill/>
            </a:ln>
          </p:spPr>
        </p:pic>
        <p:pic>
          <p:nvPicPr>
            <p:cNvPr id="4144" name="Picture 54" descr="GEL Rounded Rectangle aquamarine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3" y="2069"/>
              <a:ext cx="330" cy="339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4145" name="Text Box 55">
              <a:hlinkClick r:id="rId5" action="ppaction://hlinksldjump"/>
            </p:cNvPr>
            <p:cNvSpPr txBox="1"/>
            <p:nvPr/>
          </p:nvSpPr>
          <p:spPr>
            <a:xfrm>
              <a:off x="423" y="2114"/>
              <a:ext cx="2372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一阶电路的零状态响应</a:t>
              </a:r>
              <a:endPara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146" name="Text Box 56">
              <a:hlinkClick r:id="rId5" action="ppaction://hlinksldjump"/>
            </p:cNvPr>
            <p:cNvSpPr txBox="1"/>
            <p:nvPr/>
          </p:nvSpPr>
          <p:spPr>
            <a:xfrm>
              <a:off x="113" y="2114"/>
              <a:ext cx="363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7.3</a:t>
              </a:r>
              <a:endPara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64980" name="Group 116"/>
          <p:cNvGrpSpPr/>
          <p:nvPr/>
        </p:nvGrpSpPr>
        <p:grpSpPr>
          <a:xfrm>
            <a:off x="388620" y="3481705"/>
            <a:ext cx="8397875" cy="1072515"/>
            <a:chOff x="113" y="2409"/>
            <a:chExt cx="2722" cy="177"/>
          </a:xfrm>
          <a:noFill/>
        </p:grpSpPr>
        <p:pic>
          <p:nvPicPr>
            <p:cNvPr id="4135" name="Picture 63" descr="GEL Rounded Rectangle aquamar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" y="2409"/>
              <a:ext cx="2458" cy="169"/>
            </a:xfrm>
            <a:prstGeom prst="rect">
              <a:avLst/>
            </a:prstGeom>
            <a:grpFill/>
            <a:ln w="9525">
              <a:noFill/>
            </a:ln>
          </p:spPr>
        </p:pic>
        <p:pic>
          <p:nvPicPr>
            <p:cNvPr id="4136" name="Picture 64" descr="GEL Rounded Rectangle aquamarine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3" y="2409"/>
              <a:ext cx="330" cy="177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4137" name="Text Box 65">
              <a:hlinkClick r:id="rId5" action="ppaction://hlinksldjump"/>
            </p:cNvPr>
            <p:cNvSpPr txBox="1"/>
            <p:nvPr/>
          </p:nvSpPr>
          <p:spPr>
            <a:xfrm>
              <a:off x="423" y="2454"/>
              <a:ext cx="2372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一阶电路的全响应</a:t>
              </a:r>
              <a:endPara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138" name="Text Box 66">
              <a:hlinkClick r:id="rId5" action="ppaction://hlinksldjump"/>
            </p:cNvPr>
            <p:cNvSpPr txBox="1"/>
            <p:nvPr/>
          </p:nvSpPr>
          <p:spPr>
            <a:xfrm>
              <a:off x="113" y="2454"/>
              <a:ext cx="363" cy="96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7.4</a:t>
              </a:r>
              <a:endPara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2804" name="Text Box 4"/>
          <p:cNvSpPr txBox="1"/>
          <p:nvPr/>
        </p:nvSpPr>
        <p:spPr>
          <a:xfrm>
            <a:off x="771525" y="2378393"/>
            <a:ext cx="8243888" cy="12725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arabicPeriod" startAt="2"/>
            </a:pP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一阶和二阶电路的零输入响应、零状态响应和全响应的概念及求解；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2805" name="Text Box 5"/>
          <p:cNvSpPr txBox="1"/>
          <p:nvPr/>
        </p:nvSpPr>
        <p:spPr>
          <a:xfrm>
            <a:off x="771525" y="1015524"/>
            <a:ext cx="1662113" cy="583565"/>
          </a:xfrm>
          <a:prstGeom prst="rect">
            <a:avLst/>
          </a:prstGeom>
          <a:solidFill>
            <a:srgbClr val="FF3300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buFont typeface="Wingdings" panose="05000000000000000000" pitchFamily="2" charset="2"/>
              <a:buChar char="l"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重点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2806" name="Text Box 6"/>
          <p:cNvSpPr txBox="1"/>
          <p:nvPr/>
        </p:nvSpPr>
        <p:spPr>
          <a:xfrm>
            <a:off x="771525" y="3675381"/>
            <a:ext cx="7416800" cy="12725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arabicPeriod" startAt="3"/>
            </a:pP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一阶和二阶电路的阶跃响应概念及求解。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2807" name="Text Box 7"/>
          <p:cNvSpPr txBox="1"/>
          <p:nvPr/>
        </p:nvSpPr>
        <p:spPr>
          <a:xfrm>
            <a:off x="805815" y="1734662"/>
            <a:ext cx="783717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动态电路方程的建立及初始条件的确定；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32804" grpId="0" build="p"/>
      <p:bldP spid="332805" grpId="0" animBg="1"/>
      <p:bldP spid="332806" grpId="0" build="p"/>
      <p:bldP spid="33280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6" name="Rectangle 14" descr="新闻纸"/>
          <p:cNvSpPr/>
          <p:nvPr/>
        </p:nvSpPr>
        <p:spPr>
          <a:xfrm>
            <a:off x="197485" y="1052830"/>
            <a:ext cx="8748395" cy="180657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 anchor="b" anchorCtr="0"/>
          <a:p>
            <a:pPr algn="ctr"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7.1 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动态电路的方程及其初始条件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88" name="Text Box 16"/>
          <p:cNvSpPr txBox="1"/>
          <p:nvPr/>
        </p:nvSpPr>
        <p:spPr>
          <a:xfrm>
            <a:off x="3060065" y="3644900"/>
            <a:ext cx="3588385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P138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086" grpId="0"/>
      <p:bldP spid="30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9" name="Text Box 7"/>
          <p:cNvSpPr txBox="1"/>
          <p:nvPr/>
        </p:nvSpPr>
        <p:spPr>
          <a:xfrm>
            <a:off x="827088" y="1987709"/>
            <a:ext cx="733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含有动态元件电容和电感的电路称动态电路。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85" name="Text Box 13"/>
          <p:cNvSpPr txBox="1"/>
          <p:nvPr/>
        </p:nvSpPr>
        <p:spPr>
          <a:xfrm>
            <a:off x="611188" y="1345724"/>
            <a:ext cx="2736850" cy="583565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动态电路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87" name="AutoShape 15"/>
          <p:cNvSpPr/>
          <p:nvPr/>
        </p:nvSpPr>
        <p:spPr>
          <a:xfrm>
            <a:off x="3348038" y="1628775"/>
            <a:ext cx="719137" cy="142875"/>
          </a:xfrm>
          <a:prstGeom prst="rightArrow">
            <a:avLst>
              <a:gd name="adj1" fmla="val 50000"/>
              <a:gd name="adj2" fmla="val 1258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088" name="Text Box 16"/>
          <p:cNvSpPr txBox="1"/>
          <p:nvPr/>
        </p:nvSpPr>
        <p:spPr>
          <a:xfrm>
            <a:off x="827088" y="3278981"/>
            <a:ext cx="7343775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当动态电路状态发生改变时（换路）需要经历一个变化过程才能达到新的稳定状态。这个变化过程称为电路的过渡过程。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3160" name="Group 88"/>
          <p:cNvGrpSpPr/>
          <p:nvPr/>
        </p:nvGrpSpPr>
        <p:grpSpPr>
          <a:xfrm>
            <a:off x="539750" y="2565400"/>
            <a:ext cx="1643063" cy="850900"/>
            <a:chOff x="385" y="3022"/>
            <a:chExt cx="1035" cy="536"/>
          </a:xfrm>
        </p:grpSpPr>
        <p:pic>
          <p:nvPicPr>
            <p:cNvPr id="6157" name="Picture 89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8" name="Text Box 90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特点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3079" grpId="0"/>
      <p:bldP spid="3085" grpId="0"/>
      <p:bldP spid="3087" grpId="0" animBg="1"/>
      <p:bldP spid="308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504" name="Text Box 8"/>
          <p:cNvSpPr txBox="1"/>
          <p:nvPr/>
        </p:nvSpPr>
        <p:spPr>
          <a:xfrm>
            <a:off x="539750" y="765175"/>
            <a:ext cx="5032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6526" name="Group 30"/>
          <p:cNvGrpSpPr/>
          <p:nvPr/>
        </p:nvGrpSpPr>
        <p:grpSpPr>
          <a:xfrm>
            <a:off x="4284663" y="1773238"/>
            <a:ext cx="3730625" cy="2590800"/>
            <a:chOff x="3107" y="2478"/>
            <a:chExt cx="2350" cy="1632"/>
          </a:xfrm>
        </p:grpSpPr>
        <p:sp>
          <p:nvSpPr>
            <p:cNvPr id="7203" name="Line 31"/>
            <p:cNvSpPr/>
            <p:nvPr/>
          </p:nvSpPr>
          <p:spPr>
            <a:xfrm>
              <a:off x="3107" y="3657"/>
              <a:ext cx="1678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4" name="Line 32"/>
            <p:cNvSpPr/>
            <p:nvPr/>
          </p:nvSpPr>
          <p:spPr>
            <a:xfrm flipV="1">
              <a:off x="3787" y="2659"/>
              <a:ext cx="0" cy="145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5" name="Text Box 33"/>
            <p:cNvSpPr txBox="1"/>
            <p:nvPr/>
          </p:nvSpPr>
          <p:spPr>
            <a:xfrm>
              <a:off x="3560" y="3657"/>
              <a:ext cx="2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06" name="Text Box 34"/>
            <p:cNvSpPr txBox="1"/>
            <p:nvPr/>
          </p:nvSpPr>
          <p:spPr>
            <a:xfrm>
              <a:off x="4740" y="3475"/>
              <a:ext cx="2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07" name="Text Box 35"/>
            <p:cNvSpPr txBox="1"/>
            <p:nvPr/>
          </p:nvSpPr>
          <p:spPr>
            <a:xfrm>
              <a:off x="3833" y="2478"/>
              <a:ext cx="3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08" name="Line 36"/>
            <p:cNvSpPr/>
            <p:nvPr/>
          </p:nvSpPr>
          <p:spPr>
            <a:xfrm>
              <a:off x="3107" y="3249"/>
              <a:ext cx="68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9" name="Line 37"/>
            <p:cNvSpPr/>
            <p:nvPr/>
          </p:nvSpPr>
          <p:spPr>
            <a:xfrm>
              <a:off x="3788" y="2931"/>
              <a:ext cx="68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7210" name="Object 38"/>
            <p:cNvGraphicFramePr>
              <a:graphicFrameLocks noChangeAspect="1"/>
            </p:cNvGraphicFramePr>
            <p:nvPr/>
          </p:nvGraphicFramePr>
          <p:xfrm>
            <a:off x="4566" y="2750"/>
            <a:ext cx="89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592455" imgH="147955" progId="Equation.3">
                    <p:embed/>
                  </p:oleObj>
                </mc:Choice>
                <mc:Fallback>
                  <p:oleObj name="" r:id="rId1" imgW="592455" imgH="14795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66" y="2750"/>
                          <a:ext cx="89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1" name="Object 39"/>
            <p:cNvGraphicFramePr>
              <a:graphicFrameLocks noChangeAspect="1"/>
            </p:cNvGraphicFramePr>
            <p:nvPr/>
          </p:nvGraphicFramePr>
          <p:xfrm>
            <a:off x="3923" y="3115"/>
            <a:ext cx="139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1001395" imgH="147955" progId="Equation.3">
                    <p:embed/>
                  </p:oleObj>
                </mc:Choice>
                <mc:Fallback>
                  <p:oleObj name="" r:id="rId3" imgW="1001395" imgH="14795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3" y="3115"/>
                          <a:ext cx="1392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36" name="AutoShape 40" descr="羊皮纸"/>
          <p:cNvSpPr/>
          <p:nvPr/>
        </p:nvSpPr>
        <p:spPr>
          <a:xfrm>
            <a:off x="5940425" y="4508500"/>
            <a:ext cx="2232025" cy="649288"/>
          </a:xfrm>
          <a:prstGeom prst="wedgeRoundRectCallout">
            <a:avLst>
              <a:gd name="adj1" fmla="val -76458"/>
              <a:gd name="adj2" fmla="val -169315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过渡期为零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6537" name="Text Box 41"/>
          <p:cNvSpPr txBox="1"/>
          <p:nvPr/>
        </p:nvSpPr>
        <p:spPr>
          <a:xfrm>
            <a:off x="1187450" y="836613"/>
            <a:ext cx="2232025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电阻电路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6544" name="Group 48"/>
          <p:cNvGrpSpPr/>
          <p:nvPr/>
        </p:nvGrpSpPr>
        <p:grpSpPr>
          <a:xfrm>
            <a:off x="471488" y="1773238"/>
            <a:ext cx="4410075" cy="2016125"/>
            <a:chOff x="2292" y="1253"/>
            <a:chExt cx="2778" cy="1270"/>
          </a:xfrm>
        </p:grpSpPr>
        <p:sp>
          <p:nvSpPr>
            <p:cNvPr id="7180" name="Oval 49"/>
            <p:cNvSpPr/>
            <p:nvPr/>
          </p:nvSpPr>
          <p:spPr>
            <a:xfrm>
              <a:off x="2608" y="175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7181" name="Line 50"/>
            <p:cNvSpPr/>
            <p:nvPr/>
          </p:nvSpPr>
          <p:spPr>
            <a:xfrm flipH="1">
              <a:off x="4163" y="1571"/>
              <a:ext cx="227" cy="14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2" name="Text Box 51"/>
            <p:cNvSpPr txBox="1"/>
            <p:nvPr/>
          </p:nvSpPr>
          <p:spPr>
            <a:xfrm>
              <a:off x="2575" y="1464"/>
              <a:ext cx="224" cy="872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83" name="Text Box 52"/>
            <p:cNvSpPr txBox="1"/>
            <p:nvPr/>
          </p:nvSpPr>
          <p:spPr>
            <a:xfrm>
              <a:off x="2292" y="1751"/>
              <a:ext cx="28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84" name="Text Box 53"/>
            <p:cNvSpPr txBox="1"/>
            <p:nvPr/>
          </p:nvSpPr>
          <p:spPr>
            <a:xfrm>
              <a:off x="3245" y="1524"/>
              <a:ext cx="32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85" name="Text Box 54"/>
            <p:cNvSpPr txBox="1"/>
            <p:nvPr/>
          </p:nvSpPr>
          <p:spPr>
            <a:xfrm>
              <a:off x="3247" y="2050"/>
              <a:ext cx="32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86" name="Rectangle 55"/>
            <p:cNvSpPr/>
            <p:nvPr/>
          </p:nvSpPr>
          <p:spPr>
            <a:xfrm>
              <a:off x="2802" y="1389"/>
              <a:ext cx="817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87" name="Line 56"/>
            <p:cNvSpPr/>
            <p:nvPr/>
          </p:nvSpPr>
          <p:spPr>
            <a:xfrm>
              <a:off x="3619" y="1389"/>
              <a:ext cx="4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188" name="Line 57"/>
            <p:cNvSpPr/>
            <p:nvPr/>
          </p:nvSpPr>
          <p:spPr>
            <a:xfrm>
              <a:off x="3619" y="1979"/>
              <a:ext cx="4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189" name="Line 58"/>
            <p:cNvSpPr/>
            <p:nvPr/>
          </p:nvSpPr>
          <p:spPr>
            <a:xfrm>
              <a:off x="4072" y="1389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0" name="Line 59"/>
            <p:cNvSpPr/>
            <p:nvPr/>
          </p:nvSpPr>
          <p:spPr>
            <a:xfrm>
              <a:off x="4072" y="1798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1" name="Oval 60"/>
            <p:cNvSpPr/>
            <p:nvPr/>
          </p:nvSpPr>
          <p:spPr>
            <a:xfrm>
              <a:off x="4027" y="1707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92" name="Oval 61"/>
            <p:cNvSpPr/>
            <p:nvPr/>
          </p:nvSpPr>
          <p:spPr>
            <a:xfrm>
              <a:off x="4027" y="1570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93" name="Line 62"/>
            <p:cNvSpPr/>
            <p:nvPr/>
          </p:nvSpPr>
          <p:spPr>
            <a:xfrm>
              <a:off x="4118" y="1616"/>
              <a:ext cx="136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4" name="Text Box 63"/>
            <p:cNvSpPr txBox="1"/>
            <p:nvPr/>
          </p:nvSpPr>
          <p:spPr>
            <a:xfrm>
              <a:off x="4027" y="1253"/>
              <a:ext cx="10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（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0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）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95" name="Line 64"/>
            <p:cNvSpPr/>
            <p:nvPr/>
          </p:nvSpPr>
          <p:spPr>
            <a:xfrm>
              <a:off x="2893" y="1480"/>
              <a:ext cx="363" cy="0"/>
            </a:xfrm>
            <a:prstGeom prst="line">
              <a:avLst/>
            </a:prstGeom>
            <a:ln w="28575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6" name="Text Box 65"/>
            <p:cNvSpPr txBox="1"/>
            <p:nvPr/>
          </p:nvSpPr>
          <p:spPr>
            <a:xfrm>
              <a:off x="2893" y="1435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97" name="Rectangle 66"/>
            <p:cNvSpPr/>
            <p:nvPr/>
          </p:nvSpPr>
          <p:spPr>
            <a:xfrm>
              <a:off x="3560" y="21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98" name="Rectangle 67"/>
            <p:cNvSpPr/>
            <p:nvPr/>
          </p:nvSpPr>
          <p:spPr>
            <a:xfrm>
              <a:off x="3560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06504" grpId="0"/>
      <p:bldP spid="106536" grpId="0" animBg="1"/>
      <p:bldP spid="1065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507" name="Text Box 203"/>
          <p:cNvSpPr txBox="1"/>
          <p:nvPr/>
        </p:nvSpPr>
        <p:spPr>
          <a:xfrm>
            <a:off x="4587399" y="4579462"/>
            <a:ext cx="27489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= 0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 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307" name="Text Box 3"/>
          <p:cNvSpPr txBox="1"/>
          <p:nvPr/>
        </p:nvSpPr>
        <p:spPr>
          <a:xfrm>
            <a:off x="5941537" y="3426937"/>
            <a:ext cx="25203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373" name="Text Box 69"/>
          <p:cNvSpPr txBox="1"/>
          <p:nvPr/>
        </p:nvSpPr>
        <p:spPr>
          <a:xfrm>
            <a:off x="684213" y="4001771"/>
            <a:ext cx="7777162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       k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接通电源后很长时间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，电容充电完毕，电路达到新的稳定状态：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306" name="Text Box 2"/>
          <p:cNvSpPr txBox="1"/>
          <p:nvPr/>
        </p:nvSpPr>
        <p:spPr>
          <a:xfrm>
            <a:off x="611188" y="3427572"/>
            <a:ext cx="5688012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未动作前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，电路处于稳定状态：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508" name="Rectangle 204"/>
          <p:cNvSpPr/>
          <p:nvPr/>
        </p:nvSpPr>
        <p:spPr>
          <a:xfrm>
            <a:off x="468313" y="3357563"/>
            <a:ext cx="8388350" cy="302418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8439" name="Text Box 135"/>
          <p:cNvSpPr txBox="1"/>
          <p:nvPr/>
        </p:nvSpPr>
        <p:spPr>
          <a:xfrm>
            <a:off x="827088" y="620713"/>
            <a:ext cx="1728787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8452" name="Group 148"/>
          <p:cNvGrpSpPr/>
          <p:nvPr/>
        </p:nvGrpSpPr>
        <p:grpSpPr>
          <a:xfrm>
            <a:off x="542925" y="1123263"/>
            <a:ext cx="3802063" cy="2105712"/>
            <a:chOff x="2383" y="1479"/>
            <a:chExt cx="2395" cy="1326"/>
          </a:xfrm>
        </p:grpSpPr>
        <p:sp>
          <p:nvSpPr>
            <p:cNvPr id="8258" name="Oval 149"/>
            <p:cNvSpPr/>
            <p:nvPr/>
          </p:nvSpPr>
          <p:spPr>
            <a:xfrm>
              <a:off x="2699" y="21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8259" name="Group 150"/>
            <p:cNvGrpSpPr/>
            <p:nvPr/>
          </p:nvGrpSpPr>
          <p:grpSpPr>
            <a:xfrm>
              <a:off x="4220" y="2301"/>
              <a:ext cx="278" cy="69"/>
              <a:chOff x="2112" y="3648"/>
              <a:chExt cx="192" cy="48"/>
            </a:xfrm>
          </p:grpSpPr>
          <p:sp>
            <p:nvSpPr>
              <p:cNvPr id="8285" name="Line 151"/>
              <p:cNvSpPr/>
              <p:nvPr/>
            </p:nvSpPr>
            <p:spPr>
              <a:xfrm>
                <a:off x="2112" y="3648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86" name="Line 152"/>
              <p:cNvSpPr/>
              <p:nvPr/>
            </p:nvSpPr>
            <p:spPr>
              <a:xfrm>
                <a:off x="2112" y="369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260" name="Text Box 153"/>
            <p:cNvSpPr txBox="1"/>
            <p:nvPr/>
          </p:nvSpPr>
          <p:spPr>
            <a:xfrm>
              <a:off x="3112" y="2068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8261" name="Group 154"/>
            <p:cNvGrpSpPr/>
            <p:nvPr/>
          </p:nvGrpSpPr>
          <p:grpSpPr>
            <a:xfrm>
              <a:off x="3878" y="1841"/>
              <a:ext cx="367" cy="880"/>
              <a:chOff x="1576" y="1277"/>
              <a:chExt cx="253" cy="614"/>
            </a:xfrm>
          </p:grpSpPr>
          <p:grpSp>
            <p:nvGrpSpPr>
              <p:cNvPr id="8281" name="Group 155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8283" name="Text Box 156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284" name="Text Box 157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8282" name="Text Box 158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8262" name="Text Box 159"/>
            <p:cNvSpPr txBox="1"/>
            <p:nvPr/>
          </p:nvSpPr>
          <p:spPr>
            <a:xfrm>
              <a:off x="2383" y="2159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63" name="Line 160"/>
            <p:cNvSpPr/>
            <p:nvPr/>
          </p:nvSpPr>
          <p:spPr>
            <a:xfrm>
              <a:off x="2883" y="1888"/>
              <a:ext cx="4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264" name="Line 161"/>
            <p:cNvSpPr/>
            <p:nvPr/>
          </p:nvSpPr>
          <p:spPr>
            <a:xfrm>
              <a:off x="2883" y="2712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65" name="Line 162"/>
            <p:cNvSpPr/>
            <p:nvPr/>
          </p:nvSpPr>
          <p:spPr>
            <a:xfrm flipH="1">
              <a:off x="3507" y="1888"/>
              <a:ext cx="8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266" name="Line 163"/>
            <p:cNvSpPr/>
            <p:nvPr/>
          </p:nvSpPr>
          <p:spPr>
            <a:xfrm flipH="1">
              <a:off x="2880" y="1888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67" name="Line 164"/>
            <p:cNvSpPr/>
            <p:nvPr/>
          </p:nvSpPr>
          <p:spPr>
            <a:xfrm>
              <a:off x="4339" y="1888"/>
              <a:ext cx="0" cy="4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68" name="Line 165"/>
            <p:cNvSpPr/>
            <p:nvPr/>
          </p:nvSpPr>
          <p:spPr>
            <a:xfrm flipV="1">
              <a:off x="4339" y="2369"/>
              <a:ext cx="0" cy="3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69" name="Text Box 166"/>
            <p:cNvSpPr txBox="1"/>
            <p:nvPr/>
          </p:nvSpPr>
          <p:spPr>
            <a:xfrm>
              <a:off x="3788" y="1524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70" name="Text Box 167"/>
            <p:cNvSpPr txBox="1"/>
            <p:nvPr/>
          </p:nvSpPr>
          <p:spPr>
            <a:xfrm>
              <a:off x="4513" y="2114"/>
              <a:ext cx="26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8271" name="Group 168"/>
            <p:cNvGrpSpPr/>
            <p:nvPr/>
          </p:nvGrpSpPr>
          <p:grpSpPr>
            <a:xfrm>
              <a:off x="4059" y="1479"/>
              <a:ext cx="238" cy="342"/>
              <a:chOff x="1803" y="2593"/>
              <a:chExt cx="165" cy="239"/>
            </a:xfrm>
          </p:grpSpPr>
          <p:sp>
            <p:nvSpPr>
              <p:cNvPr id="8279" name="Text Box 169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8280" name="Line 170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8272" name="Line 171"/>
            <p:cNvSpPr/>
            <p:nvPr/>
          </p:nvSpPr>
          <p:spPr>
            <a:xfrm flipH="1">
              <a:off x="3179" y="1889"/>
              <a:ext cx="348" cy="13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73" name="Line 172"/>
            <p:cNvSpPr/>
            <p:nvPr/>
          </p:nvSpPr>
          <p:spPr>
            <a:xfrm>
              <a:off x="3387" y="1958"/>
              <a:ext cx="0" cy="75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8274" name="Line 173"/>
            <p:cNvSpPr/>
            <p:nvPr/>
          </p:nvSpPr>
          <p:spPr>
            <a:xfrm flipH="1" flipV="1">
              <a:off x="3249" y="2026"/>
              <a:ext cx="70" cy="20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75" name="Text Box 174"/>
            <p:cNvSpPr txBox="1"/>
            <p:nvPr/>
          </p:nvSpPr>
          <p:spPr>
            <a:xfrm>
              <a:off x="2954" y="1580"/>
              <a:ext cx="73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76" name="Text Box 175"/>
            <p:cNvSpPr txBox="1"/>
            <p:nvPr/>
          </p:nvSpPr>
          <p:spPr>
            <a:xfrm>
              <a:off x="2517" y="1842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77" name="Text Box 176"/>
            <p:cNvSpPr txBox="1"/>
            <p:nvPr/>
          </p:nvSpPr>
          <p:spPr>
            <a:xfrm>
              <a:off x="2517" y="247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78" name="Rectangle 177"/>
            <p:cNvSpPr/>
            <p:nvPr/>
          </p:nvSpPr>
          <p:spPr>
            <a:xfrm>
              <a:off x="3742" y="184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8482" name="Group 178"/>
          <p:cNvGrpSpPr/>
          <p:nvPr/>
        </p:nvGrpSpPr>
        <p:grpSpPr>
          <a:xfrm>
            <a:off x="4503738" y="1050238"/>
            <a:ext cx="3802062" cy="2105712"/>
            <a:chOff x="2701" y="1978"/>
            <a:chExt cx="2395" cy="1326"/>
          </a:xfrm>
        </p:grpSpPr>
        <p:sp>
          <p:nvSpPr>
            <p:cNvPr id="8234" name="Text Box 179"/>
            <p:cNvSpPr txBox="1"/>
            <p:nvPr/>
          </p:nvSpPr>
          <p:spPr>
            <a:xfrm>
              <a:off x="3289" y="2023"/>
              <a:ext cx="82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→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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35" name="Oval 180"/>
            <p:cNvSpPr/>
            <p:nvPr/>
          </p:nvSpPr>
          <p:spPr>
            <a:xfrm>
              <a:off x="3017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8236" name="Group 181"/>
            <p:cNvGrpSpPr/>
            <p:nvPr/>
          </p:nvGrpSpPr>
          <p:grpSpPr>
            <a:xfrm>
              <a:off x="4538" y="2800"/>
              <a:ext cx="278" cy="69"/>
              <a:chOff x="2112" y="3648"/>
              <a:chExt cx="192" cy="48"/>
            </a:xfrm>
          </p:grpSpPr>
          <p:sp>
            <p:nvSpPr>
              <p:cNvPr id="8256" name="Line 182"/>
              <p:cNvSpPr/>
              <p:nvPr/>
            </p:nvSpPr>
            <p:spPr>
              <a:xfrm>
                <a:off x="2112" y="3648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57" name="Line 183"/>
              <p:cNvSpPr/>
              <p:nvPr/>
            </p:nvSpPr>
            <p:spPr>
              <a:xfrm>
                <a:off x="2112" y="369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237" name="Group 184"/>
            <p:cNvGrpSpPr/>
            <p:nvPr/>
          </p:nvGrpSpPr>
          <p:grpSpPr>
            <a:xfrm>
              <a:off x="4196" y="2340"/>
              <a:ext cx="367" cy="880"/>
              <a:chOff x="1576" y="1277"/>
              <a:chExt cx="253" cy="614"/>
            </a:xfrm>
          </p:grpSpPr>
          <p:grpSp>
            <p:nvGrpSpPr>
              <p:cNvPr id="8252" name="Group 185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8254" name="Text Box 186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255" name="Text Box 187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8253" name="Text Box 188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8238" name="Text Box 189"/>
            <p:cNvSpPr txBox="1"/>
            <p:nvPr/>
          </p:nvSpPr>
          <p:spPr>
            <a:xfrm>
              <a:off x="2701" y="2658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39" name="Line 190"/>
            <p:cNvSpPr/>
            <p:nvPr/>
          </p:nvSpPr>
          <p:spPr>
            <a:xfrm>
              <a:off x="3201" y="2387"/>
              <a:ext cx="14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0" name="Line 191"/>
            <p:cNvSpPr/>
            <p:nvPr/>
          </p:nvSpPr>
          <p:spPr>
            <a:xfrm>
              <a:off x="3201" y="3211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1" name="Line 192"/>
            <p:cNvSpPr/>
            <p:nvPr/>
          </p:nvSpPr>
          <p:spPr>
            <a:xfrm flipH="1">
              <a:off x="3198" y="2387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2" name="Line 193"/>
            <p:cNvSpPr/>
            <p:nvPr/>
          </p:nvSpPr>
          <p:spPr>
            <a:xfrm>
              <a:off x="4657" y="2387"/>
              <a:ext cx="0" cy="4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3" name="Line 194"/>
            <p:cNvSpPr/>
            <p:nvPr/>
          </p:nvSpPr>
          <p:spPr>
            <a:xfrm flipV="1">
              <a:off x="4657" y="2868"/>
              <a:ext cx="0" cy="3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4" name="Text Box 195"/>
            <p:cNvSpPr txBox="1"/>
            <p:nvPr/>
          </p:nvSpPr>
          <p:spPr>
            <a:xfrm>
              <a:off x="4105" y="2023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45" name="Text Box 196"/>
            <p:cNvSpPr txBox="1"/>
            <p:nvPr/>
          </p:nvSpPr>
          <p:spPr>
            <a:xfrm>
              <a:off x="4831" y="2613"/>
              <a:ext cx="26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8246" name="Group 197"/>
            <p:cNvGrpSpPr/>
            <p:nvPr/>
          </p:nvGrpSpPr>
          <p:grpSpPr>
            <a:xfrm>
              <a:off x="4377" y="1978"/>
              <a:ext cx="238" cy="342"/>
              <a:chOff x="1803" y="2593"/>
              <a:chExt cx="165" cy="239"/>
            </a:xfrm>
          </p:grpSpPr>
          <p:sp>
            <p:nvSpPr>
              <p:cNvPr id="8250" name="Text Box 198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8251" name="Line 199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8247" name="Text Box 200"/>
            <p:cNvSpPr txBox="1"/>
            <p:nvPr/>
          </p:nvSpPr>
          <p:spPr>
            <a:xfrm>
              <a:off x="2835" y="2341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48" name="Text Box 201"/>
            <p:cNvSpPr txBox="1"/>
            <p:nvPr/>
          </p:nvSpPr>
          <p:spPr>
            <a:xfrm>
              <a:off x="2835" y="297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49" name="Rectangle 202"/>
            <p:cNvSpPr/>
            <p:nvPr/>
          </p:nvSpPr>
          <p:spPr>
            <a:xfrm>
              <a:off x="4060" y="234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8509" name="Text Box 205"/>
          <p:cNvSpPr txBox="1"/>
          <p:nvPr/>
        </p:nvSpPr>
        <p:spPr>
          <a:xfrm>
            <a:off x="719138" y="5707063"/>
            <a:ext cx="2736850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前一个稳定状态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510" name="Text Box 206"/>
          <p:cNvSpPr txBox="1"/>
          <p:nvPr/>
        </p:nvSpPr>
        <p:spPr>
          <a:xfrm>
            <a:off x="3311525" y="5732463"/>
            <a:ext cx="1728788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过渡状态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8511" name="Text Box 207"/>
          <p:cNvSpPr txBox="1"/>
          <p:nvPr/>
        </p:nvSpPr>
        <p:spPr>
          <a:xfrm>
            <a:off x="6048375" y="3860801"/>
            <a:ext cx="2592388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新的稳定状态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8512" name="Group 208"/>
          <p:cNvGrpSpPr/>
          <p:nvPr/>
        </p:nvGrpSpPr>
        <p:grpSpPr>
          <a:xfrm>
            <a:off x="4395788" y="3789363"/>
            <a:ext cx="396875" cy="1968500"/>
            <a:chOff x="3716" y="336"/>
            <a:chExt cx="250" cy="1106"/>
          </a:xfrm>
        </p:grpSpPr>
        <p:sp>
          <p:nvSpPr>
            <p:cNvPr id="8232" name="Text Box 209"/>
            <p:cNvSpPr txBox="1"/>
            <p:nvPr/>
          </p:nvSpPr>
          <p:spPr>
            <a:xfrm>
              <a:off x="3716" y="1149"/>
              <a:ext cx="250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33" name="Line 210"/>
            <p:cNvSpPr/>
            <p:nvPr/>
          </p:nvSpPr>
          <p:spPr>
            <a:xfrm>
              <a:off x="3840" y="336"/>
              <a:ext cx="0" cy="912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98515" name="Group 211"/>
          <p:cNvGrpSpPr/>
          <p:nvPr/>
        </p:nvGrpSpPr>
        <p:grpSpPr>
          <a:xfrm>
            <a:off x="4608513" y="3513137"/>
            <a:ext cx="1447800" cy="565151"/>
            <a:chOff x="3840" y="220"/>
            <a:chExt cx="912" cy="356"/>
          </a:xfrm>
        </p:grpSpPr>
        <p:sp>
          <p:nvSpPr>
            <p:cNvPr id="8230" name="Line 212"/>
            <p:cNvSpPr/>
            <p:nvPr/>
          </p:nvSpPr>
          <p:spPr>
            <a:xfrm>
              <a:off x="3840" y="576"/>
              <a:ext cx="912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31" name="Text Box 213"/>
            <p:cNvSpPr txBox="1"/>
            <p:nvPr/>
          </p:nvSpPr>
          <p:spPr>
            <a:xfrm>
              <a:off x="4161" y="220"/>
              <a:ext cx="3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98518" name="Group 214"/>
          <p:cNvGrpSpPr/>
          <p:nvPr/>
        </p:nvGrpSpPr>
        <p:grpSpPr>
          <a:xfrm>
            <a:off x="1655763" y="3355976"/>
            <a:ext cx="5105400" cy="2611437"/>
            <a:chOff x="748" y="163"/>
            <a:chExt cx="3216" cy="1645"/>
          </a:xfrm>
        </p:grpSpPr>
        <p:sp>
          <p:nvSpPr>
            <p:cNvPr id="8225" name="Line 215"/>
            <p:cNvSpPr/>
            <p:nvPr/>
          </p:nvSpPr>
          <p:spPr>
            <a:xfrm>
              <a:off x="748" y="1480"/>
              <a:ext cx="3085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6" name="Line 216"/>
            <p:cNvSpPr/>
            <p:nvPr/>
          </p:nvSpPr>
          <p:spPr>
            <a:xfrm flipV="1">
              <a:off x="1655" y="300"/>
              <a:ext cx="19" cy="137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7" name="Text Box 217"/>
            <p:cNvSpPr txBox="1"/>
            <p:nvPr/>
          </p:nvSpPr>
          <p:spPr>
            <a:xfrm>
              <a:off x="1703" y="163"/>
              <a:ext cx="29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28" name="Text Box 218"/>
            <p:cNvSpPr txBox="1"/>
            <p:nvPr/>
          </p:nvSpPr>
          <p:spPr>
            <a:xfrm>
              <a:off x="3786" y="1419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29" name="Text Box 219"/>
            <p:cNvSpPr txBox="1"/>
            <p:nvPr/>
          </p:nvSpPr>
          <p:spPr>
            <a:xfrm>
              <a:off x="1701" y="147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98524" name="Line 220"/>
          <p:cNvSpPr/>
          <p:nvPr/>
        </p:nvSpPr>
        <p:spPr>
          <a:xfrm>
            <a:off x="2016125" y="5446713"/>
            <a:ext cx="10668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8525" name="Text Box 221"/>
          <p:cNvSpPr txBox="1"/>
          <p:nvPr/>
        </p:nvSpPr>
        <p:spPr>
          <a:xfrm>
            <a:off x="3600450" y="4362609"/>
            <a:ext cx="869950" cy="8299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sz="4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526" name="Freeform 222"/>
          <p:cNvSpPr/>
          <p:nvPr/>
        </p:nvSpPr>
        <p:spPr>
          <a:xfrm>
            <a:off x="3095625" y="4078288"/>
            <a:ext cx="1512888" cy="134461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8527" name="Group 223"/>
          <p:cNvGrpSpPr/>
          <p:nvPr/>
        </p:nvGrpSpPr>
        <p:grpSpPr>
          <a:xfrm>
            <a:off x="2087563" y="3933825"/>
            <a:ext cx="4400550" cy="1528763"/>
            <a:chOff x="1020" y="1616"/>
            <a:chExt cx="2772" cy="963"/>
          </a:xfrm>
        </p:grpSpPr>
        <p:sp>
          <p:nvSpPr>
            <p:cNvPr id="8218" name="Line 224"/>
            <p:cNvSpPr/>
            <p:nvPr/>
          </p:nvSpPr>
          <p:spPr>
            <a:xfrm>
              <a:off x="1020" y="2579"/>
              <a:ext cx="64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9" name="Line 225"/>
            <p:cNvSpPr/>
            <p:nvPr/>
          </p:nvSpPr>
          <p:spPr>
            <a:xfrm>
              <a:off x="2880" y="2568"/>
              <a:ext cx="91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0" name="Freeform 226"/>
            <p:cNvSpPr/>
            <p:nvPr/>
          </p:nvSpPr>
          <p:spPr>
            <a:xfrm flipV="1">
              <a:off x="1655" y="1933"/>
              <a:ext cx="1225" cy="635"/>
            </a:xfrm>
            <a:custGeom>
              <a:avLst/>
              <a:gdLst/>
              <a:ahLst/>
              <a:cxnLst>
                <a:cxn ang="0">
                  <a:pos x="0" y="3877"/>
                </a:cxn>
                <a:cxn ang="0">
                  <a:pos x="80580" y="2020"/>
                </a:cxn>
                <a:cxn ang="0">
                  <a:pos x="188264" y="659"/>
                </a:cxn>
                <a:cxn ang="0">
                  <a:pos x="350611" y="153"/>
                </a:cxn>
                <a:cxn ang="0">
                  <a:pos x="498331" y="24"/>
                </a:cxn>
                <a:cxn ang="0">
                  <a:pos x="567885" y="24"/>
                </a:cxn>
              </a:cxnLst>
              <a:pathLst>
                <a:path w="663" h="530">
                  <a:moveTo>
                    <a:pt x="0" y="530"/>
                  </a:moveTo>
                  <a:cubicBezTo>
                    <a:pt x="16" y="488"/>
                    <a:pt x="57" y="349"/>
                    <a:pt x="94" y="276"/>
                  </a:cubicBezTo>
                  <a:cubicBezTo>
                    <a:pt x="131" y="203"/>
                    <a:pt x="168" y="132"/>
                    <a:pt x="220" y="90"/>
                  </a:cubicBezTo>
                  <a:cubicBezTo>
                    <a:pt x="272" y="48"/>
                    <a:pt x="349" y="36"/>
                    <a:pt x="409" y="21"/>
                  </a:cubicBezTo>
                  <a:cubicBezTo>
                    <a:pt x="469" y="6"/>
                    <a:pt x="540" y="6"/>
                    <a:pt x="582" y="3"/>
                  </a:cubicBezTo>
                  <a:cubicBezTo>
                    <a:pt x="624" y="0"/>
                    <a:pt x="651" y="3"/>
                    <a:pt x="663" y="3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1" name="Line 227"/>
            <p:cNvSpPr/>
            <p:nvPr/>
          </p:nvSpPr>
          <p:spPr>
            <a:xfrm>
              <a:off x="1655" y="1933"/>
              <a:ext cx="0" cy="63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2" name="Line 228"/>
            <p:cNvSpPr/>
            <p:nvPr/>
          </p:nvSpPr>
          <p:spPr>
            <a:xfrm flipV="1">
              <a:off x="2109" y="2251"/>
              <a:ext cx="1032" cy="204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223" name="Text Box 229"/>
            <p:cNvSpPr txBox="1"/>
            <p:nvPr/>
          </p:nvSpPr>
          <p:spPr>
            <a:xfrm>
              <a:off x="3198" y="2023"/>
              <a:ext cx="1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8224" name="Object 230"/>
            <p:cNvGraphicFramePr>
              <a:graphicFrameLocks noChangeAspect="1"/>
            </p:cNvGraphicFramePr>
            <p:nvPr/>
          </p:nvGraphicFramePr>
          <p:xfrm>
            <a:off x="1066" y="1616"/>
            <a:ext cx="306" cy="5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73990" imgH="348615" progId="Equation.3">
                    <p:embed/>
                  </p:oleObj>
                </mc:Choice>
                <mc:Fallback>
                  <p:oleObj name="" r:id="rId1" imgW="173990" imgH="34861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6" y="1616"/>
                          <a:ext cx="306" cy="5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535" name="AutoShape 231" descr="羊皮纸"/>
          <p:cNvSpPr/>
          <p:nvPr/>
        </p:nvSpPr>
        <p:spPr>
          <a:xfrm>
            <a:off x="5867400" y="4797425"/>
            <a:ext cx="2592388" cy="576263"/>
          </a:xfrm>
          <a:prstGeom prst="wedgeRoundRectCallout">
            <a:avLst>
              <a:gd name="adj1" fmla="val -118218"/>
              <a:gd name="adj2" fmla="val 45866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有一过渡期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8507" grpId="0"/>
      <p:bldP spid="98307" grpId="0"/>
      <p:bldP spid="98373" grpId="0"/>
      <p:bldP spid="98306" grpId="0"/>
      <p:bldP spid="98508" grpId="0" animBg="1"/>
      <p:bldP spid="98439" grpId="0" animBg="1"/>
      <p:bldP spid="98509" grpId="0" build="p"/>
      <p:bldP spid="98510" grpId="0" build="p"/>
      <p:bldP spid="98511" grpId="0" build="p"/>
      <p:bldP spid="98525" grpId="0"/>
      <p:bldP spid="985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873" name="Text Box 153"/>
          <p:cNvSpPr txBox="1"/>
          <p:nvPr/>
        </p:nvSpPr>
        <p:spPr>
          <a:xfrm>
            <a:off x="4716939" y="4506437"/>
            <a:ext cx="27406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0,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/R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872" name="Text Box 152"/>
          <p:cNvSpPr txBox="1"/>
          <p:nvPr/>
        </p:nvSpPr>
        <p:spPr>
          <a:xfrm>
            <a:off x="5944870" y="3355499"/>
            <a:ext cx="24834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722" name="Text Box 2"/>
          <p:cNvSpPr txBox="1"/>
          <p:nvPr/>
        </p:nvSpPr>
        <p:spPr>
          <a:xfrm>
            <a:off x="173355" y="3428365"/>
            <a:ext cx="177292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未动作前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，电路处于稳定状态：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903" name="Rectangle 183"/>
          <p:cNvSpPr/>
          <p:nvPr/>
        </p:nvSpPr>
        <p:spPr>
          <a:xfrm>
            <a:off x="395288" y="3284538"/>
            <a:ext cx="8388350" cy="30241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8725" name="Text Box 5"/>
          <p:cNvSpPr txBox="1"/>
          <p:nvPr/>
        </p:nvSpPr>
        <p:spPr>
          <a:xfrm>
            <a:off x="684213" y="549275"/>
            <a:ext cx="1728787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58816" name="Group 96"/>
          <p:cNvGrpSpPr/>
          <p:nvPr/>
        </p:nvGrpSpPr>
        <p:grpSpPr>
          <a:xfrm>
            <a:off x="830263" y="1050238"/>
            <a:ext cx="3692525" cy="2105712"/>
            <a:chOff x="750" y="2295"/>
            <a:chExt cx="2326" cy="1326"/>
          </a:xfrm>
        </p:grpSpPr>
        <p:sp>
          <p:nvSpPr>
            <p:cNvPr id="9282" name="Oval 97"/>
            <p:cNvSpPr/>
            <p:nvPr/>
          </p:nvSpPr>
          <p:spPr>
            <a:xfrm>
              <a:off x="1066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283" name="Text Box 98"/>
            <p:cNvSpPr txBox="1"/>
            <p:nvPr/>
          </p:nvSpPr>
          <p:spPr>
            <a:xfrm>
              <a:off x="1479" y="288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84" name="Group 99"/>
            <p:cNvGrpSpPr/>
            <p:nvPr/>
          </p:nvGrpSpPr>
          <p:grpSpPr>
            <a:xfrm>
              <a:off x="2245" y="2657"/>
              <a:ext cx="367" cy="880"/>
              <a:chOff x="1576" y="1277"/>
              <a:chExt cx="253" cy="614"/>
            </a:xfrm>
          </p:grpSpPr>
          <p:grpSp>
            <p:nvGrpSpPr>
              <p:cNvPr id="9308" name="Group 100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9310" name="Text Box 101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9311" name="Text Box 102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9309" name="Text Box 103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285" name="Text Box 104"/>
            <p:cNvSpPr txBox="1"/>
            <p:nvPr/>
          </p:nvSpPr>
          <p:spPr>
            <a:xfrm>
              <a:off x="750" y="2975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86" name="Line 105"/>
            <p:cNvSpPr/>
            <p:nvPr/>
          </p:nvSpPr>
          <p:spPr>
            <a:xfrm>
              <a:off x="1250" y="2704"/>
              <a:ext cx="4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9287" name="Line 106"/>
            <p:cNvSpPr/>
            <p:nvPr/>
          </p:nvSpPr>
          <p:spPr>
            <a:xfrm>
              <a:off x="1250" y="3528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8" name="Line 107"/>
            <p:cNvSpPr/>
            <p:nvPr/>
          </p:nvSpPr>
          <p:spPr>
            <a:xfrm flipH="1">
              <a:off x="1874" y="2704"/>
              <a:ext cx="8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9289" name="Line 108"/>
            <p:cNvSpPr/>
            <p:nvPr/>
          </p:nvSpPr>
          <p:spPr>
            <a:xfrm flipH="1">
              <a:off x="1247" y="2704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0" name="Line 109"/>
            <p:cNvSpPr/>
            <p:nvPr/>
          </p:nvSpPr>
          <p:spPr>
            <a:xfrm flipH="1">
              <a:off x="2699" y="2704"/>
              <a:ext cx="7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1" name="Line 110"/>
            <p:cNvSpPr/>
            <p:nvPr/>
          </p:nvSpPr>
          <p:spPr>
            <a:xfrm flipH="1" flipV="1">
              <a:off x="2699" y="3294"/>
              <a:ext cx="7" cy="2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2" name="Text Box 111"/>
            <p:cNvSpPr txBox="1"/>
            <p:nvPr/>
          </p:nvSpPr>
          <p:spPr>
            <a:xfrm>
              <a:off x="2155" y="2340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93" name="Group 112"/>
            <p:cNvGrpSpPr/>
            <p:nvPr/>
          </p:nvGrpSpPr>
          <p:grpSpPr>
            <a:xfrm>
              <a:off x="2426" y="2295"/>
              <a:ext cx="238" cy="342"/>
              <a:chOff x="1803" y="2593"/>
              <a:chExt cx="165" cy="239"/>
            </a:xfrm>
          </p:grpSpPr>
          <p:sp>
            <p:nvSpPr>
              <p:cNvPr id="9306" name="Text Box 113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9307" name="Line 114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94" name="Line 115"/>
            <p:cNvSpPr/>
            <p:nvPr/>
          </p:nvSpPr>
          <p:spPr>
            <a:xfrm flipH="1">
              <a:off x="1546" y="2705"/>
              <a:ext cx="348" cy="13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5" name="Line 116"/>
            <p:cNvSpPr/>
            <p:nvPr/>
          </p:nvSpPr>
          <p:spPr>
            <a:xfrm>
              <a:off x="1754" y="2774"/>
              <a:ext cx="0" cy="75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9296" name="Line 117"/>
            <p:cNvSpPr/>
            <p:nvPr/>
          </p:nvSpPr>
          <p:spPr>
            <a:xfrm flipH="1" flipV="1">
              <a:off x="1616" y="2842"/>
              <a:ext cx="70" cy="20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97" name="Text Box 118"/>
            <p:cNvSpPr txBox="1"/>
            <p:nvPr/>
          </p:nvSpPr>
          <p:spPr>
            <a:xfrm>
              <a:off x="1321" y="2396"/>
              <a:ext cx="73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98" name="Text Box 119"/>
            <p:cNvSpPr txBox="1"/>
            <p:nvPr/>
          </p:nvSpPr>
          <p:spPr>
            <a:xfrm>
              <a:off x="884" y="2658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99" name="Text Box 120"/>
            <p:cNvSpPr txBox="1"/>
            <p:nvPr/>
          </p:nvSpPr>
          <p:spPr>
            <a:xfrm>
              <a:off x="884" y="329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00" name="Rectangle 121"/>
            <p:cNvSpPr/>
            <p:nvPr/>
          </p:nvSpPr>
          <p:spPr>
            <a:xfrm>
              <a:off x="2109" y="265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01" name="Text Box 122"/>
            <p:cNvSpPr txBox="1"/>
            <p:nvPr/>
          </p:nvSpPr>
          <p:spPr>
            <a:xfrm>
              <a:off x="2836" y="2930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302" name="Group 123"/>
            <p:cNvGrpSpPr/>
            <p:nvPr/>
          </p:nvGrpSpPr>
          <p:grpSpPr>
            <a:xfrm>
              <a:off x="2699" y="2931"/>
              <a:ext cx="91" cy="363"/>
              <a:chOff x="2744" y="2931"/>
              <a:chExt cx="57" cy="283"/>
            </a:xfrm>
          </p:grpSpPr>
          <p:sp>
            <p:nvSpPr>
              <p:cNvPr id="9303" name="Arc 124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304" name="Arc 125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305" name="Arc 126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158847" name="Group 127"/>
          <p:cNvGrpSpPr/>
          <p:nvPr/>
        </p:nvGrpSpPr>
        <p:grpSpPr>
          <a:xfrm>
            <a:off x="4791075" y="978800"/>
            <a:ext cx="3236913" cy="2105713"/>
            <a:chOff x="433" y="2068"/>
            <a:chExt cx="2039" cy="1326"/>
          </a:xfrm>
        </p:grpSpPr>
        <p:sp>
          <p:nvSpPr>
            <p:cNvPr id="9258" name="Text Box 128"/>
            <p:cNvSpPr txBox="1"/>
            <p:nvPr/>
          </p:nvSpPr>
          <p:spPr>
            <a:xfrm>
              <a:off x="1022" y="2113"/>
              <a:ext cx="82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→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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9" name="Oval 129"/>
            <p:cNvSpPr/>
            <p:nvPr/>
          </p:nvSpPr>
          <p:spPr>
            <a:xfrm>
              <a:off x="749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9260" name="Group 130"/>
            <p:cNvGrpSpPr/>
            <p:nvPr/>
          </p:nvGrpSpPr>
          <p:grpSpPr>
            <a:xfrm>
              <a:off x="1928" y="2430"/>
              <a:ext cx="367" cy="880"/>
              <a:chOff x="1576" y="1277"/>
              <a:chExt cx="253" cy="614"/>
            </a:xfrm>
          </p:grpSpPr>
          <p:grpSp>
            <p:nvGrpSpPr>
              <p:cNvPr id="9278" name="Group 131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9280" name="Text Box 132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9281" name="Text Box 133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9279" name="Text Box 134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261" name="Text Box 135"/>
            <p:cNvSpPr txBox="1"/>
            <p:nvPr/>
          </p:nvSpPr>
          <p:spPr>
            <a:xfrm>
              <a:off x="433" y="2748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62" name="Line 136"/>
            <p:cNvSpPr/>
            <p:nvPr/>
          </p:nvSpPr>
          <p:spPr>
            <a:xfrm>
              <a:off x="933" y="2477"/>
              <a:ext cx="14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3" name="Line 137"/>
            <p:cNvSpPr/>
            <p:nvPr/>
          </p:nvSpPr>
          <p:spPr>
            <a:xfrm>
              <a:off x="933" y="3301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4" name="Line 138"/>
            <p:cNvSpPr/>
            <p:nvPr/>
          </p:nvSpPr>
          <p:spPr>
            <a:xfrm flipH="1">
              <a:off x="930" y="2477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5" name="Line 139"/>
            <p:cNvSpPr/>
            <p:nvPr/>
          </p:nvSpPr>
          <p:spPr>
            <a:xfrm flipH="1">
              <a:off x="2381" y="2477"/>
              <a:ext cx="8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6" name="Line 140"/>
            <p:cNvSpPr/>
            <p:nvPr/>
          </p:nvSpPr>
          <p:spPr>
            <a:xfrm flipH="1" flipV="1">
              <a:off x="2381" y="302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7" name="Text Box 141"/>
            <p:cNvSpPr txBox="1"/>
            <p:nvPr/>
          </p:nvSpPr>
          <p:spPr>
            <a:xfrm>
              <a:off x="1838" y="2113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68" name="Group 142"/>
            <p:cNvGrpSpPr/>
            <p:nvPr/>
          </p:nvGrpSpPr>
          <p:grpSpPr>
            <a:xfrm>
              <a:off x="2109" y="2068"/>
              <a:ext cx="238" cy="342"/>
              <a:chOff x="1803" y="2593"/>
              <a:chExt cx="165" cy="239"/>
            </a:xfrm>
          </p:grpSpPr>
          <p:sp>
            <p:nvSpPr>
              <p:cNvPr id="9276" name="Text Box 143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9277" name="Line 144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69" name="Text Box 145"/>
            <p:cNvSpPr txBox="1"/>
            <p:nvPr/>
          </p:nvSpPr>
          <p:spPr>
            <a:xfrm>
              <a:off x="567" y="2431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70" name="Text Box 146"/>
            <p:cNvSpPr txBox="1"/>
            <p:nvPr/>
          </p:nvSpPr>
          <p:spPr>
            <a:xfrm>
              <a:off x="567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71" name="Rectangle 147"/>
            <p:cNvSpPr/>
            <p:nvPr/>
          </p:nvSpPr>
          <p:spPr>
            <a:xfrm>
              <a:off x="1792" y="24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9272" name="Group 148"/>
            <p:cNvGrpSpPr/>
            <p:nvPr/>
          </p:nvGrpSpPr>
          <p:grpSpPr>
            <a:xfrm>
              <a:off x="2381" y="2659"/>
              <a:ext cx="91" cy="363"/>
              <a:chOff x="2744" y="2931"/>
              <a:chExt cx="57" cy="283"/>
            </a:xfrm>
          </p:grpSpPr>
          <p:sp>
            <p:nvSpPr>
              <p:cNvPr id="9273" name="Arc 149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74" name="Arc 150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75" name="Arc 151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58904" name="Text Box 184"/>
          <p:cNvSpPr txBox="1"/>
          <p:nvPr/>
        </p:nvSpPr>
        <p:spPr>
          <a:xfrm>
            <a:off x="719138" y="5634038"/>
            <a:ext cx="2736850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前一个稳定状态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905" name="Text Box 185"/>
          <p:cNvSpPr txBox="1"/>
          <p:nvPr/>
        </p:nvSpPr>
        <p:spPr>
          <a:xfrm>
            <a:off x="3311525" y="5659438"/>
            <a:ext cx="1728788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过渡状态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58907" name="Group 187"/>
          <p:cNvGrpSpPr/>
          <p:nvPr/>
        </p:nvGrpSpPr>
        <p:grpSpPr>
          <a:xfrm>
            <a:off x="4395788" y="3716338"/>
            <a:ext cx="396875" cy="1968500"/>
            <a:chOff x="3716" y="336"/>
            <a:chExt cx="250" cy="1106"/>
          </a:xfrm>
        </p:grpSpPr>
        <p:sp>
          <p:nvSpPr>
            <p:cNvPr id="9256" name="Text Box 188"/>
            <p:cNvSpPr txBox="1"/>
            <p:nvPr/>
          </p:nvSpPr>
          <p:spPr>
            <a:xfrm>
              <a:off x="3716" y="1149"/>
              <a:ext cx="250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7" name="Line 189"/>
            <p:cNvSpPr/>
            <p:nvPr/>
          </p:nvSpPr>
          <p:spPr>
            <a:xfrm>
              <a:off x="3840" y="336"/>
              <a:ext cx="0" cy="912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158910" name="Group 190"/>
          <p:cNvGrpSpPr/>
          <p:nvPr/>
        </p:nvGrpSpPr>
        <p:grpSpPr>
          <a:xfrm>
            <a:off x="4608513" y="3440112"/>
            <a:ext cx="1447800" cy="565151"/>
            <a:chOff x="3840" y="220"/>
            <a:chExt cx="912" cy="356"/>
          </a:xfrm>
        </p:grpSpPr>
        <p:sp>
          <p:nvSpPr>
            <p:cNvPr id="9254" name="Line 191"/>
            <p:cNvSpPr/>
            <p:nvPr/>
          </p:nvSpPr>
          <p:spPr>
            <a:xfrm>
              <a:off x="3840" y="576"/>
              <a:ext cx="912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5" name="Text Box 192"/>
            <p:cNvSpPr txBox="1"/>
            <p:nvPr/>
          </p:nvSpPr>
          <p:spPr>
            <a:xfrm>
              <a:off x="4062" y="220"/>
              <a:ext cx="557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/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58913" name="Group 193"/>
          <p:cNvGrpSpPr/>
          <p:nvPr/>
        </p:nvGrpSpPr>
        <p:grpSpPr>
          <a:xfrm>
            <a:off x="1655763" y="3282951"/>
            <a:ext cx="5105400" cy="2611437"/>
            <a:chOff x="748" y="163"/>
            <a:chExt cx="3216" cy="1645"/>
          </a:xfrm>
        </p:grpSpPr>
        <p:sp>
          <p:nvSpPr>
            <p:cNvPr id="9249" name="Line 194"/>
            <p:cNvSpPr/>
            <p:nvPr/>
          </p:nvSpPr>
          <p:spPr>
            <a:xfrm>
              <a:off x="748" y="1480"/>
              <a:ext cx="3085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50" name="Line 195"/>
            <p:cNvSpPr/>
            <p:nvPr/>
          </p:nvSpPr>
          <p:spPr>
            <a:xfrm flipV="1">
              <a:off x="1655" y="300"/>
              <a:ext cx="19" cy="137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51" name="Text Box 196"/>
            <p:cNvSpPr txBox="1"/>
            <p:nvPr/>
          </p:nvSpPr>
          <p:spPr>
            <a:xfrm>
              <a:off x="1759" y="163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2" name="Text Box 197"/>
            <p:cNvSpPr txBox="1"/>
            <p:nvPr/>
          </p:nvSpPr>
          <p:spPr>
            <a:xfrm>
              <a:off x="3786" y="1419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3" name="Text Box 198"/>
            <p:cNvSpPr txBox="1"/>
            <p:nvPr/>
          </p:nvSpPr>
          <p:spPr>
            <a:xfrm>
              <a:off x="1701" y="147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158919" name="Line 199"/>
          <p:cNvSpPr/>
          <p:nvPr/>
        </p:nvSpPr>
        <p:spPr>
          <a:xfrm>
            <a:off x="2016125" y="5373688"/>
            <a:ext cx="10668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8920" name="Text Box 200"/>
          <p:cNvSpPr txBox="1"/>
          <p:nvPr/>
        </p:nvSpPr>
        <p:spPr>
          <a:xfrm>
            <a:off x="3600450" y="4289584"/>
            <a:ext cx="869950" cy="8299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sz="4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921" name="Freeform 201"/>
          <p:cNvSpPr/>
          <p:nvPr/>
        </p:nvSpPr>
        <p:spPr>
          <a:xfrm>
            <a:off x="3095625" y="4005263"/>
            <a:ext cx="1512888" cy="134461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58922" name="Group 202"/>
          <p:cNvGrpSpPr/>
          <p:nvPr/>
        </p:nvGrpSpPr>
        <p:grpSpPr>
          <a:xfrm>
            <a:off x="2087563" y="4044950"/>
            <a:ext cx="4400550" cy="1344613"/>
            <a:chOff x="1020" y="1732"/>
            <a:chExt cx="2772" cy="847"/>
          </a:xfrm>
        </p:grpSpPr>
        <p:sp>
          <p:nvSpPr>
            <p:cNvPr id="9242" name="Line 203"/>
            <p:cNvSpPr/>
            <p:nvPr/>
          </p:nvSpPr>
          <p:spPr>
            <a:xfrm>
              <a:off x="1020" y="2579"/>
              <a:ext cx="64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Line 204"/>
            <p:cNvSpPr/>
            <p:nvPr/>
          </p:nvSpPr>
          <p:spPr>
            <a:xfrm>
              <a:off x="2880" y="2568"/>
              <a:ext cx="91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4" name="Freeform 205"/>
            <p:cNvSpPr/>
            <p:nvPr/>
          </p:nvSpPr>
          <p:spPr>
            <a:xfrm flipV="1">
              <a:off x="1655" y="1933"/>
              <a:ext cx="1225" cy="635"/>
            </a:xfrm>
            <a:custGeom>
              <a:avLst/>
              <a:gdLst/>
              <a:ahLst/>
              <a:cxnLst>
                <a:cxn ang="0">
                  <a:pos x="0" y="3877"/>
                </a:cxn>
                <a:cxn ang="0">
                  <a:pos x="80580" y="2020"/>
                </a:cxn>
                <a:cxn ang="0">
                  <a:pos x="188264" y="659"/>
                </a:cxn>
                <a:cxn ang="0">
                  <a:pos x="350611" y="153"/>
                </a:cxn>
                <a:cxn ang="0">
                  <a:pos x="498331" y="24"/>
                </a:cxn>
                <a:cxn ang="0">
                  <a:pos x="567885" y="24"/>
                </a:cxn>
              </a:cxnLst>
              <a:pathLst>
                <a:path w="663" h="530">
                  <a:moveTo>
                    <a:pt x="0" y="530"/>
                  </a:moveTo>
                  <a:cubicBezTo>
                    <a:pt x="16" y="488"/>
                    <a:pt x="57" y="349"/>
                    <a:pt x="94" y="276"/>
                  </a:cubicBezTo>
                  <a:cubicBezTo>
                    <a:pt x="131" y="203"/>
                    <a:pt x="168" y="132"/>
                    <a:pt x="220" y="90"/>
                  </a:cubicBezTo>
                  <a:cubicBezTo>
                    <a:pt x="272" y="48"/>
                    <a:pt x="349" y="36"/>
                    <a:pt x="409" y="21"/>
                  </a:cubicBezTo>
                  <a:cubicBezTo>
                    <a:pt x="469" y="6"/>
                    <a:pt x="540" y="6"/>
                    <a:pt x="582" y="3"/>
                  </a:cubicBezTo>
                  <a:cubicBezTo>
                    <a:pt x="624" y="0"/>
                    <a:pt x="651" y="3"/>
                    <a:pt x="663" y="3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45" name="Line 206"/>
            <p:cNvSpPr/>
            <p:nvPr/>
          </p:nvSpPr>
          <p:spPr>
            <a:xfrm>
              <a:off x="1655" y="1933"/>
              <a:ext cx="0" cy="63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6" name="Line 207"/>
            <p:cNvSpPr/>
            <p:nvPr/>
          </p:nvSpPr>
          <p:spPr>
            <a:xfrm flipV="1">
              <a:off x="2109" y="2251"/>
              <a:ext cx="1032" cy="204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9247" name="Text Box 208"/>
            <p:cNvSpPr txBox="1"/>
            <p:nvPr/>
          </p:nvSpPr>
          <p:spPr>
            <a:xfrm>
              <a:off x="3130" y="2023"/>
              <a:ext cx="3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9248" name="Object 209"/>
            <p:cNvGraphicFramePr>
              <a:graphicFrameLocks noChangeAspect="1"/>
            </p:cNvGraphicFramePr>
            <p:nvPr/>
          </p:nvGraphicFramePr>
          <p:xfrm>
            <a:off x="1096" y="1732"/>
            <a:ext cx="24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139065" imgH="147955" progId="Equation.3">
                    <p:embed/>
                  </p:oleObj>
                </mc:Choice>
                <mc:Fallback>
                  <p:oleObj name="" r:id="rId1" imgW="139065" imgH="14795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6" y="1732"/>
                          <a:ext cx="247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930" name="AutoShape 210" descr="羊皮纸"/>
          <p:cNvSpPr/>
          <p:nvPr/>
        </p:nvSpPr>
        <p:spPr>
          <a:xfrm>
            <a:off x="6300153" y="5799455"/>
            <a:ext cx="2376487" cy="576263"/>
          </a:xfrm>
          <a:prstGeom prst="wedgeRoundRectCallout">
            <a:avLst>
              <a:gd name="adj1" fmla="val -154542"/>
              <a:gd name="adj2" fmla="val -109944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有一过渡期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58873" grpId="0"/>
      <p:bldP spid="158872" grpId="0"/>
      <p:bldP spid="158722" grpId="0"/>
      <p:bldP spid="158903" grpId="0" animBg="1"/>
      <p:bldP spid="158725" grpId="0" animBg="1"/>
      <p:bldP spid="158904" grpId="0" build="p"/>
      <p:bldP spid="158905" grpId="0" build="p"/>
      <p:bldP spid="158920" grpId="0"/>
      <p:bldP spid="1589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873" name="Text Box 153"/>
          <p:cNvSpPr txBox="1"/>
          <p:nvPr/>
        </p:nvSpPr>
        <p:spPr>
          <a:xfrm>
            <a:off x="4716939" y="4506437"/>
            <a:ext cx="27406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0,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/R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872" name="Text Box 152"/>
          <p:cNvSpPr txBox="1"/>
          <p:nvPr/>
        </p:nvSpPr>
        <p:spPr>
          <a:xfrm>
            <a:off x="5944870" y="3355499"/>
            <a:ext cx="24834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903" name="Rectangle 183"/>
          <p:cNvSpPr/>
          <p:nvPr/>
        </p:nvSpPr>
        <p:spPr>
          <a:xfrm>
            <a:off x="395288" y="3284538"/>
            <a:ext cx="8388350" cy="30241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8725" name="Text Box 5"/>
          <p:cNvSpPr txBox="1"/>
          <p:nvPr/>
        </p:nvSpPr>
        <p:spPr>
          <a:xfrm>
            <a:off x="684213" y="549275"/>
            <a:ext cx="1728787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58816" name="Group 96"/>
          <p:cNvGrpSpPr/>
          <p:nvPr/>
        </p:nvGrpSpPr>
        <p:grpSpPr>
          <a:xfrm>
            <a:off x="830263" y="1050238"/>
            <a:ext cx="3692525" cy="2105712"/>
            <a:chOff x="750" y="2295"/>
            <a:chExt cx="2326" cy="1326"/>
          </a:xfrm>
        </p:grpSpPr>
        <p:sp>
          <p:nvSpPr>
            <p:cNvPr id="9282" name="Oval 97"/>
            <p:cNvSpPr/>
            <p:nvPr/>
          </p:nvSpPr>
          <p:spPr>
            <a:xfrm>
              <a:off x="1066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283" name="Text Box 98"/>
            <p:cNvSpPr txBox="1"/>
            <p:nvPr/>
          </p:nvSpPr>
          <p:spPr>
            <a:xfrm>
              <a:off x="1479" y="288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84" name="Group 99"/>
            <p:cNvGrpSpPr/>
            <p:nvPr/>
          </p:nvGrpSpPr>
          <p:grpSpPr>
            <a:xfrm>
              <a:off x="2245" y="2657"/>
              <a:ext cx="367" cy="880"/>
              <a:chOff x="1576" y="1277"/>
              <a:chExt cx="253" cy="614"/>
            </a:xfrm>
          </p:grpSpPr>
          <p:grpSp>
            <p:nvGrpSpPr>
              <p:cNvPr id="9308" name="Group 100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9310" name="Text Box 101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9311" name="Text Box 102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9309" name="Text Box 103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285" name="Text Box 104"/>
            <p:cNvSpPr txBox="1"/>
            <p:nvPr/>
          </p:nvSpPr>
          <p:spPr>
            <a:xfrm>
              <a:off x="750" y="2975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86" name="Line 105"/>
            <p:cNvSpPr/>
            <p:nvPr/>
          </p:nvSpPr>
          <p:spPr>
            <a:xfrm>
              <a:off x="1250" y="2704"/>
              <a:ext cx="4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9287" name="Line 106"/>
            <p:cNvSpPr/>
            <p:nvPr/>
          </p:nvSpPr>
          <p:spPr>
            <a:xfrm>
              <a:off x="1250" y="3528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8" name="Line 107"/>
            <p:cNvSpPr/>
            <p:nvPr/>
          </p:nvSpPr>
          <p:spPr>
            <a:xfrm flipH="1">
              <a:off x="1874" y="2704"/>
              <a:ext cx="8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9289" name="Line 108"/>
            <p:cNvSpPr/>
            <p:nvPr/>
          </p:nvSpPr>
          <p:spPr>
            <a:xfrm flipH="1">
              <a:off x="1247" y="2704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0" name="Line 109"/>
            <p:cNvSpPr/>
            <p:nvPr/>
          </p:nvSpPr>
          <p:spPr>
            <a:xfrm flipH="1">
              <a:off x="2699" y="2704"/>
              <a:ext cx="7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1" name="Line 110"/>
            <p:cNvSpPr/>
            <p:nvPr/>
          </p:nvSpPr>
          <p:spPr>
            <a:xfrm flipH="1" flipV="1">
              <a:off x="2699" y="3294"/>
              <a:ext cx="7" cy="2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2" name="Text Box 111"/>
            <p:cNvSpPr txBox="1"/>
            <p:nvPr/>
          </p:nvSpPr>
          <p:spPr>
            <a:xfrm>
              <a:off x="2155" y="2340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93" name="Group 112"/>
            <p:cNvGrpSpPr/>
            <p:nvPr/>
          </p:nvGrpSpPr>
          <p:grpSpPr>
            <a:xfrm>
              <a:off x="2426" y="2295"/>
              <a:ext cx="238" cy="342"/>
              <a:chOff x="1803" y="2593"/>
              <a:chExt cx="165" cy="239"/>
            </a:xfrm>
          </p:grpSpPr>
          <p:sp>
            <p:nvSpPr>
              <p:cNvPr id="9306" name="Text Box 113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9307" name="Line 114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94" name="Line 115"/>
            <p:cNvSpPr/>
            <p:nvPr/>
          </p:nvSpPr>
          <p:spPr>
            <a:xfrm flipH="1">
              <a:off x="1546" y="2705"/>
              <a:ext cx="348" cy="13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5" name="Line 116"/>
            <p:cNvSpPr/>
            <p:nvPr/>
          </p:nvSpPr>
          <p:spPr>
            <a:xfrm>
              <a:off x="1754" y="2774"/>
              <a:ext cx="0" cy="75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9296" name="Line 117"/>
            <p:cNvSpPr/>
            <p:nvPr/>
          </p:nvSpPr>
          <p:spPr>
            <a:xfrm flipH="1" flipV="1">
              <a:off x="1616" y="2842"/>
              <a:ext cx="70" cy="20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97" name="Text Box 118"/>
            <p:cNvSpPr txBox="1"/>
            <p:nvPr/>
          </p:nvSpPr>
          <p:spPr>
            <a:xfrm>
              <a:off x="1321" y="2396"/>
              <a:ext cx="73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98" name="Text Box 119"/>
            <p:cNvSpPr txBox="1"/>
            <p:nvPr/>
          </p:nvSpPr>
          <p:spPr>
            <a:xfrm>
              <a:off x="884" y="2658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99" name="Text Box 120"/>
            <p:cNvSpPr txBox="1"/>
            <p:nvPr/>
          </p:nvSpPr>
          <p:spPr>
            <a:xfrm>
              <a:off x="884" y="329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00" name="Rectangle 121"/>
            <p:cNvSpPr/>
            <p:nvPr/>
          </p:nvSpPr>
          <p:spPr>
            <a:xfrm>
              <a:off x="2109" y="265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01" name="Text Box 122"/>
            <p:cNvSpPr txBox="1"/>
            <p:nvPr/>
          </p:nvSpPr>
          <p:spPr>
            <a:xfrm>
              <a:off x="2836" y="2930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302" name="Group 123"/>
            <p:cNvGrpSpPr/>
            <p:nvPr/>
          </p:nvGrpSpPr>
          <p:grpSpPr>
            <a:xfrm>
              <a:off x="2699" y="2931"/>
              <a:ext cx="91" cy="363"/>
              <a:chOff x="2744" y="2931"/>
              <a:chExt cx="57" cy="283"/>
            </a:xfrm>
          </p:grpSpPr>
          <p:sp>
            <p:nvSpPr>
              <p:cNvPr id="9303" name="Arc 124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304" name="Arc 125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305" name="Arc 126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158847" name="Group 127"/>
          <p:cNvGrpSpPr/>
          <p:nvPr/>
        </p:nvGrpSpPr>
        <p:grpSpPr>
          <a:xfrm>
            <a:off x="4791075" y="978800"/>
            <a:ext cx="3236913" cy="2105713"/>
            <a:chOff x="433" y="2068"/>
            <a:chExt cx="2039" cy="1326"/>
          </a:xfrm>
        </p:grpSpPr>
        <p:sp>
          <p:nvSpPr>
            <p:cNvPr id="9258" name="Text Box 128"/>
            <p:cNvSpPr txBox="1"/>
            <p:nvPr/>
          </p:nvSpPr>
          <p:spPr>
            <a:xfrm>
              <a:off x="1022" y="2113"/>
              <a:ext cx="82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→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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9" name="Oval 129"/>
            <p:cNvSpPr/>
            <p:nvPr/>
          </p:nvSpPr>
          <p:spPr>
            <a:xfrm>
              <a:off x="749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9260" name="Group 130"/>
            <p:cNvGrpSpPr/>
            <p:nvPr/>
          </p:nvGrpSpPr>
          <p:grpSpPr>
            <a:xfrm>
              <a:off x="1928" y="2430"/>
              <a:ext cx="367" cy="880"/>
              <a:chOff x="1576" y="1277"/>
              <a:chExt cx="253" cy="614"/>
            </a:xfrm>
          </p:grpSpPr>
          <p:grpSp>
            <p:nvGrpSpPr>
              <p:cNvPr id="9278" name="Group 131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9280" name="Text Box 132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9281" name="Text Box 133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9279" name="Text Box 134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261" name="Text Box 135"/>
            <p:cNvSpPr txBox="1"/>
            <p:nvPr/>
          </p:nvSpPr>
          <p:spPr>
            <a:xfrm>
              <a:off x="433" y="2748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62" name="Line 136"/>
            <p:cNvSpPr/>
            <p:nvPr/>
          </p:nvSpPr>
          <p:spPr>
            <a:xfrm>
              <a:off x="933" y="2477"/>
              <a:ext cx="14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3" name="Line 137"/>
            <p:cNvSpPr/>
            <p:nvPr/>
          </p:nvSpPr>
          <p:spPr>
            <a:xfrm>
              <a:off x="933" y="3301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4" name="Line 138"/>
            <p:cNvSpPr/>
            <p:nvPr/>
          </p:nvSpPr>
          <p:spPr>
            <a:xfrm flipH="1">
              <a:off x="930" y="2477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5" name="Line 139"/>
            <p:cNvSpPr/>
            <p:nvPr/>
          </p:nvSpPr>
          <p:spPr>
            <a:xfrm flipH="1">
              <a:off x="2381" y="2477"/>
              <a:ext cx="8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6" name="Line 140"/>
            <p:cNvSpPr/>
            <p:nvPr/>
          </p:nvSpPr>
          <p:spPr>
            <a:xfrm flipH="1" flipV="1">
              <a:off x="2381" y="302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7" name="Text Box 141"/>
            <p:cNvSpPr txBox="1"/>
            <p:nvPr/>
          </p:nvSpPr>
          <p:spPr>
            <a:xfrm>
              <a:off x="1838" y="2113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9268" name="Group 142"/>
            <p:cNvGrpSpPr/>
            <p:nvPr/>
          </p:nvGrpSpPr>
          <p:grpSpPr>
            <a:xfrm>
              <a:off x="2109" y="2068"/>
              <a:ext cx="238" cy="342"/>
              <a:chOff x="1803" y="2593"/>
              <a:chExt cx="165" cy="239"/>
            </a:xfrm>
          </p:grpSpPr>
          <p:sp>
            <p:nvSpPr>
              <p:cNvPr id="9276" name="Text Box 143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9277" name="Line 144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69" name="Text Box 145"/>
            <p:cNvSpPr txBox="1"/>
            <p:nvPr/>
          </p:nvSpPr>
          <p:spPr>
            <a:xfrm>
              <a:off x="567" y="2431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70" name="Text Box 146"/>
            <p:cNvSpPr txBox="1"/>
            <p:nvPr/>
          </p:nvSpPr>
          <p:spPr>
            <a:xfrm>
              <a:off x="567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71" name="Rectangle 147"/>
            <p:cNvSpPr/>
            <p:nvPr/>
          </p:nvSpPr>
          <p:spPr>
            <a:xfrm>
              <a:off x="1792" y="24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9272" name="Group 148"/>
            <p:cNvGrpSpPr/>
            <p:nvPr/>
          </p:nvGrpSpPr>
          <p:grpSpPr>
            <a:xfrm>
              <a:off x="2381" y="2659"/>
              <a:ext cx="91" cy="363"/>
              <a:chOff x="2744" y="2931"/>
              <a:chExt cx="57" cy="283"/>
            </a:xfrm>
          </p:grpSpPr>
          <p:sp>
            <p:nvSpPr>
              <p:cNvPr id="9273" name="Arc 149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74" name="Arc 150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75" name="Arc 151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58904" name="Text Box 184"/>
          <p:cNvSpPr txBox="1"/>
          <p:nvPr/>
        </p:nvSpPr>
        <p:spPr>
          <a:xfrm>
            <a:off x="719138" y="5634038"/>
            <a:ext cx="2736850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前一个稳定状态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905" name="Text Box 185"/>
          <p:cNvSpPr txBox="1"/>
          <p:nvPr/>
        </p:nvSpPr>
        <p:spPr>
          <a:xfrm>
            <a:off x="3311525" y="5659438"/>
            <a:ext cx="1728788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过渡状态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8906" name="Text Box 186"/>
          <p:cNvSpPr txBox="1"/>
          <p:nvPr/>
        </p:nvSpPr>
        <p:spPr>
          <a:xfrm>
            <a:off x="6048375" y="3787776"/>
            <a:ext cx="2592388" cy="4603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新的稳定状态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58907" name="Group 187"/>
          <p:cNvGrpSpPr/>
          <p:nvPr/>
        </p:nvGrpSpPr>
        <p:grpSpPr>
          <a:xfrm>
            <a:off x="4395788" y="3716338"/>
            <a:ext cx="396875" cy="1968500"/>
            <a:chOff x="3716" y="336"/>
            <a:chExt cx="250" cy="1106"/>
          </a:xfrm>
        </p:grpSpPr>
        <p:sp>
          <p:nvSpPr>
            <p:cNvPr id="9256" name="Text Box 188"/>
            <p:cNvSpPr txBox="1"/>
            <p:nvPr/>
          </p:nvSpPr>
          <p:spPr>
            <a:xfrm>
              <a:off x="3716" y="1149"/>
              <a:ext cx="250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7" name="Line 189"/>
            <p:cNvSpPr/>
            <p:nvPr/>
          </p:nvSpPr>
          <p:spPr>
            <a:xfrm>
              <a:off x="3840" y="336"/>
              <a:ext cx="0" cy="912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158910" name="Group 190"/>
          <p:cNvGrpSpPr/>
          <p:nvPr/>
        </p:nvGrpSpPr>
        <p:grpSpPr>
          <a:xfrm>
            <a:off x="4608513" y="3440112"/>
            <a:ext cx="1447800" cy="565151"/>
            <a:chOff x="3840" y="220"/>
            <a:chExt cx="912" cy="356"/>
          </a:xfrm>
        </p:grpSpPr>
        <p:sp>
          <p:nvSpPr>
            <p:cNvPr id="9254" name="Line 191"/>
            <p:cNvSpPr/>
            <p:nvPr/>
          </p:nvSpPr>
          <p:spPr>
            <a:xfrm>
              <a:off x="3840" y="576"/>
              <a:ext cx="912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5" name="Text Box 192"/>
            <p:cNvSpPr txBox="1"/>
            <p:nvPr/>
          </p:nvSpPr>
          <p:spPr>
            <a:xfrm>
              <a:off x="4062" y="220"/>
              <a:ext cx="557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/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58913" name="Group 193"/>
          <p:cNvGrpSpPr/>
          <p:nvPr/>
        </p:nvGrpSpPr>
        <p:grpSpPr>
          <a:xfrm>
            <a:off x="1655763" y="3282951"/>
            <a:ext cx="5105400" cy="2611437"/>
            <a:chOff x="748" y="163"/>
            <a:chExt cx="3216" cy="1645"/>
          </a:xfrm>
        </p:grpSpPr>
        <p:sp>
          <p:nvSpPr>
            <p:cNvPr id="9249" name="Line 194"/>
            <p:cNvSpPr/>
            <p:nvPr/>
          </p:nvSpPr>
          <p:spPr>
            <a:xfrm>
              <a:off x="748" y="1480"/>
              <a:ext cx="3085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50" name="Line 195"/>
            <p:cNvSpPr/>
            <p:nvPr/>
          </p:nvSpPr>
          <p:spPr>
            <a:xfrm flipV="1">
              <a:off x="1655" y="300"/>
              <a:ext cx="19" cy="137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51" name="Text Box 196"/>
            <p:cNvSpPr txBox="1"/>
            <p:nvPr/>
          </p:nvSpPr>
          <p:spPr>
            <a:xfrm>
              <a:off x="1759" y="163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2" name="Text Box 197"/>
            <p:cNvSpPr txBox="1"/>
            <p:nvPr/>
          </p:nvSpPr>
          <p:spPr>
            <a:xfrm>
              <a:off x="3786" y="1419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9253" name="Text Box 198"/>
            <p:cNvSpPr txBox="1"/>
            <p:nvPr/>
          </p:nvSpPr>
          <p:spPr>
            <a:xfrm>
              <a:off x="1701" y="147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158919" name="Line 199"/>
          <p:cNvSpPr/>
          <p:nvPr/>
        </p:nvSpPr>
        <p:spPr>
          <a:xfrm>
            <a:off x="2016125" y="5373688"/>
            <a:ext cx="10668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8920" name="Text Box 200"/>
          <p:cNvSpPr txBox="1"/>
          <p:nvPr/>
        </p:nvSpPr>
        <p:spPr>
          <a:xfrm>
            <a:off x="3600450" y="4289584"/>
            <a:ext cx="869950" cy="8299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sz="4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921" name="Freeform 201"/>
          <p:cNvSpPr/>
          <p:nvPr/>
        </p:nvSpPr>
        <p:spPr>
          <a:xfrm>
            <a:off x="3095625" y="4005263"/>
            <a:ext cx="1512888" cy="134461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58922" name="Group 202"/>
          <p:cNvGrpSpPr/>
          <p:nvPr/>
        </p:nvGrpSpPr>
        <p:grpSpPr>
          <a:xfrm>
            <a:off x="2087563" y="4044950"/>
            <a:ext cx="4400550" cy="1344613"/>
            <a:chOff x="1020" y="1732"/>
            <a:chExt cx="2772" cy="847"/>
          </a:xfrm>
        </p:grpSpPr>
        <p:sp>
          <p:nvSpPr>
            <p:cNvPr id="9242" name="Line 203"/>
            <p:cNvSpPr/>
            <p:nvPr/>
          </p:nvSpPr>
          <p:spPr>
            <a:xfrm>
              <a:off x="1020" y="2579"/>
              <a:ext cx="64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Line 204"/>
            <p:cNvSpPr/>
            <p:nvPr/>
          </p:nvSpPr>
          <p:spPr>
            <a:xfrm>
              <a:off x="2880" y="2568"/>
              <a:ext cx="91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4" name="Freeform 205"/>
            <p:cNvSpPr/>
            <p:nvPr/>
          </p:nvSpPr>
          <p:spPr>
            <a:xfrm flipV="1">
              <a:off x="1655" y="1933"/>
              <a:ext cx="1225" cy="635"/>
            </a:xfrm>
            <a:custGeom>
              <a:avLst/>
              <a:gdLst/>
              <a:ahLst/>
              <a:cxnLst>
                <a:cxn ang="0">
                  <a:pos x="0" y="3877"/>
                </a:cxn>
                <a:cxn ang="0">
                  <a:pos x="80580" y="2020"/>
                </a:cxn>
                <a:cxn ang="0">
                  <a:pos x="188264" y="659"/>
                </a:cxn>
                <a:cxn ang="0">
                  <a:pos x="350611" y="153"/>
                </a:cxn>
                <a:cxn ang="0">
                  <a:pos x="498331" y="24"/>
                </a:cxn>
                <a:cxn ang="0">
                  <a:pos x="567885" y="24"/>
                </a:cxn>
              </a:cxnLst>
              <a:pathLst>
                <a:path w="663" h="530">
                  <a:moveTo>
                    <a:pt x="0" y="530"/>
                  </a:moveTo>
                  <a:cubicBezTo>
                    <a:pt x="16" y="488"/>
                    <a:pt x="57" y="349"/>
                    <a:pt x="94" y="276"/>
                  </a:cubicBezTo>
                  <a:cubicBezTo>
                    <a:pt x="131" y="203"/>
                    <a:pt x="168" y="132"/>
                    <a:pt x="220" y="90"/>
                  </a:cubicBezTo>
                  <a:cubicBezTo>
                    <a:pt x="272" y="48"/>
                    <a:pt x="349" y="36"/>
                    <a:pt x="409" y="21"/>
                  </a:cubicBezTo>
                  <a:cubicBezTo>
                    <a:pt x="469" y="6"/>
                    <a:pt x="540" y="6"/>
                    <a:pt x="582" y="3"/>
                  </a:cubicBezTo>
                  <a:cubicBezTo>
                    <a:pt x="624" y="0"/>
                    <a:pt x="651" y="3"/>
                    <a:pt x="663" y="3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45" name="Line 206"/>
            <p:cNvSpPr/>
            <p:nvPr/>
          </p:nvSpPr>
          <p:spPr>
            <a:xfrm>
              <a:off x="1655" y="1933"/>
              <a:ext cx="0" cy="63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6" name="Line 207"/>
            <p:cNvSpPr/>
            <p:nvPr/>
          </p:nvSpPr>
          <p:spPr>
            <a:xfrm flipV="1">
              <a:off x="2109" y="2251"/>
              <a:ext cx="1032" cy="204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9247" name="Text Box 208"/>
            <p:cNvSpPr txBox="1"/>
            <p:nvPr/>
          </p:nvSpPr>
          <p:spPr>
            <a:xfrm>
              <a:off x="3130" y="2023"/>
              <a:ext cx="3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9248" name="Object 209"/>
            <p:cNvGraphicFramePr>
              <a:graphicFrameLocks noChangeAspect="1"/>
            </p:cNvGraphicFramePr>
            <p:nvPr/>
          </p:nvGraphicFramePr>
          <p:xfrm>
            <a:off x="1096" y="1732"/>
            <a:ext cx="24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139065" imgH="147955" progId="Equation.3">
                    <p:embed/>
                  </p:oleObj>
                </mc:Choice>
                <mc:Fallback>
                  <p:oleObj name="" r:id="rId1" imgW="139065" imgH="14795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6" y="1732"/>
                          <a:ext cx="247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58873" grpId="0"/>
      <p:bldP spid="158872" grpId="0"/>
      <p:bldP spid="158903" grpId="0" animBg="1"/>
      <p:bldP spid="158725" grpId="0" animBg="1"/>
      <p:bldP spid="158904" grpId="0" build="p"/>
      <p:bldP spid="158905" grpId="0" build="p"/>
      <p:bldP spid="158906" grpId="0" build="p"/>
      <p:bldP spid="1589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0864" name="Group 96"/>
          <p:cNvGrpSpPr/>
          <p:nvPr/>
        </p:nvGrpSpPr>
        <p:grpSpPr>
          <a:xfrm>
            <a:off x="903288" y="547000"/>
            <a:ext cx="3236912" cy="2105713"/>
            <a:chOff x="433" y="2068"/>
            <a:chExt cx="2039" cy="1326"/>
          </a:xfrm>
        </p:grpSpPr>
        <p:sp>
          <p:nvSpPr>
            <p:cNvPr id="10288" name="Text Box 97"/>
            <p:cNvSpPr txBox="1"/>
            <p:nvPr/>
          </p:nvSpPr>
          <p:spPr>
            <a:xfrm>
              <a:off x="1021" y="2113"/>
              <a:ext cx="82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→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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89" name="Oval 98"/>
            <p:cNvSpPr/>
            <p:nvPr/>
          </p:nvSpPr>
          <p:spPr>
            <a:xfrm>
              <a:off x="749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0290" name="Group 99"/>
            <p:cNvGrpSpPr/>
            <p:nvPr/>
          </p:nvGrpSpPr>
          <p:grpSpPr>
            <a:xfrm>
              <a:off x="1928" y="2430"/>
              <a:ext cx="367" cy="880"/>
              <a:chOff x="1576" y="1277"/>
              <a:chExt cx="253" cy="614"/>
            </a:xfrm>
          </p:grpSpPr>
          <p:grpSp>
            <p:nvGrpSpPr>
              <p:cNvPr id="10308" name="Group 100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10310" name="Text Box 101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0311" name="Text Box 102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10309" name="Text Box 103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10291" name="Text Box 104"/>
            <p:cNvSpPr txBox="1"/>
            <p:nvPr/>
          </p:nvSpPr>
          <p:spPr>
            <a:xfrm>
              <a:off x="433" y="2748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92" name="Line 105"/>
            <p:cNvSpPr/>
            <p:nvPr/>
          </p:nvSpPr>
          <p:spPr>
            <a:xfrm>
              <a:off x="933" y="2477"/>
              <a:ext cx="14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3" name="Line 106"/>
            <p:cNvSpPr/>
            <p:nvPr/>
          </p:nvSpPr>
          <p:spPr>
            <a:xfrm>
              <a:off x="933" y="3301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4" name="Line 107"/>
            <p:cNvSpPr/>
            <p:nvPr/>
          </p:nvSpPr>
          <p:spPr>
            <a:xfrm flipH="1">
              <a:off x="930" y="2477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5" name="Line 108"/>
            <p:cNvSpPr/>
            <p:nvPr/>
          </p:nvSpPr>
          <p:spPr>
            <a:xfrm flipH="1">
              <a:off x="2381" y="2477"/>
              <a:ext cx="8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6" name="Line 109"/>
            <p:cNvSpPr/>
            <p:nvPr/>
          </p:nvSpPr>
          <p:spPr>
            <a:xfrm flipH="1" flipV="1">
              <a:off x="2381" y="302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7" name="Text Box 110"/>
            <p:cNvSpPr txBox="1"/>
            <p:nvPr/>
          </p:nvSpPr>
          <p:spPr>
            <a:xfrm>
              <a:off x="1837" y="2113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10298" name="Group 111"/>
            <p:cNvGrpSpPr/>
            <p:nvPr/>
          </p:nvGrpSpPr>
          <p:grpSpPr>
            <a:xfrm>
              <a:off x="2109" y="2068"/>
              <a:ext cx="238" cy="342"/>
              <a:chOff x="1803" y="2593"/>
              <a:chExt cx="165" cy="239"/>
            </a:xfrm>
          </p:grpSpPr>
          <p:sp>
            <p:nvSpPr>
              <p:cNvPr id="10306" name="Text Box 112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0307" name="Line 113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0299" name="Text Box 114"/>
            <p:cNvSpPr txBox="1"/>
            <p:nvPr/>
          </p:nvSpPr>
          <p:spPr>
            <a:xfrm>
              <a:off x="567" y="2431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300" name="Text Box 115"/>
            <p:cNvSpPr txBox="1"/>
            <p:nvPr/>
          </p:nvSpPr>
          <p:spPr>
            <a:xfrm>
              <a:off x="567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01" name="Rectangle 116"/>
            <p:cNvSpPr/>
            <p:nvPr/>
          </p:nvSpPr>
          <p:spPr>
            <a:xfrm>
              <a:off x="1792" y="24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0302" name="Group 117"/>
            <p:cNvGrpSpPr/>
            <p:nvPr/>
          </p:nvGrpSpPr>
          <p:grpSpPr>
            <a:xfrm>
              <a:off x="2381" y="2659"/>
              <a:ext cx="91" cy="363"/>
              <a:chOff x="2744" y="2931"/>
              <a:chExt cx="57" cy="283"/>
            </a:xfrm>
          </p:grpSpPr>
          <p:sp>
            <p:nvSpPr>
              <p:cNvPr id="10303" name="Arc 118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04" name="Arc 119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05" name="Arc 120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60889" name="Text Box 121"/>
          <p:cNvSpPr txBox="1"/>
          <p:nvPr/>
        </p:nvSpPr>
        <p:spPr>
          <a:xfrm>
            <a:off x="696913" y="2922747"/>
            <a:ext cx="536575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未动作前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，电路处于稳定状态：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0890" name="Text Box 122"/>
          <p:cNvSpPr txBox="1"/>
          <p:nvPr/>
        </p:nvSpPr>
        <p:spPr>
          <a:xfrm>
            <a:off x="5974239" y="2850674"/>
            <a:ext cx="27406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0,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/R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0891" name="Text Box 123"/>
          <p:cNvSpPr txBox="1"/>
          <p:nvPr/>
        </p:nvSpPr>
        <p:spPr>
          <a:xfrm>
            <a:off x="684213" y="3643472"/>
            <a:ext cx="2303462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断开瞬间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0892" name="Text Box 124"/>
          <p:cNvSpPr txBox="1"/>
          <p:nvPr/>
        </p:nvSpPr>
        <p:spPr>
          <a:xfrm>
            <a:off x="2848134" y="3571399"/>
            <a:ext cx="256984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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0893" name="Text Box 125"/>
          <p:cNvSpPr txBox="1"/>
          <p:nvPr/>
        </p:nvSpPr>
        <p:spPr>
          <a:xfrm>
            <a:off x="2268538" y="4289108"/>
            <a:ext cx="5905500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工程实际中在切断电容或电感电路时会出现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过电压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过电流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现象。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60894" name="Group 126"/>
          <p:cNvGrpSpPr/>
          <p:nvPr/>
        </p:nvGrpSpPr>
        <p:grpSpPr>
          <a:xfrm>
            <a:off x="539750" y="4292600"/>
            <a:ext cx="1643063" cy="850900"/>
            <a:chOff x="385" y="3022"/>
            <a:chExt cx="1035" cy="536"/>
          </a:xfrm>
        </p:grpSpPr>
        <p:pic>
          <p:nvPicPr>
            <p:cNvPr id="10286" name="Picture 127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87" name="Text Box 128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60897" name="Group 129"/>
          <p:cNvGrpSpPr/>
          <p:nvPr/>
        </p:nvGrpSpPr>
        <p:grpSpPr>
          <a:xfrm>
            <a:off x="4935538" y="618438"/>
            <a:ext cx="3236912" cy="2105712"/>
            <a:chOff x="3109" y="980"/>
            <a:chExt cx="2039" cy="1326"/>
          </a:xfrm>
        </p:grpSpPr>
        <p:sp>
          <p:nvSpPr>
            <p:cNvPr id="10256" name="Text Box 130"/>
            <p:cNvSpPr txBox="1"/>
            <p:nvPr/>
          </p:nvSpPr>
          <p:spPr>
            <a:xfrm>
              <a:off x="3923" y="1521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57" name="Line 131"/>
            <p:cNvSpPr/>
            <p:nvPr/>
          </p:nvSpPr>
          <p:spPr>
            <a:xfrm>
              <a:off x="3606" y="1389"/>
              <a:ext cx="4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8" name="Line 132"/>
            <p:cNvSpPr/>
            <p:nvPr/>
          </p:nvSpPr>
          <p:spPr>
            <a:xfrm flipH="1">
              <a:off x="3923" y="1434"/>
              <a:ext cx="347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9" name="Line 133"/>
            <p:cNvSpPr/>
            <p:nvPr/>
          </p:nvSpPr>
          <p:spPr>
            <a:xfrm flipH="1" flipV="1">
              <a:off x="4105" y="1480"/>
              <a:ext cx="70" cy="20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0260" name="Text Box 134"/>
            <p:cNvSpPr txBox="1"/>
            <p:nvPr/>
          </p:nvSpPr>
          <p:spPr>
            <a:xfrm>
              <a:off x="3697" y="1025"/>
              <a:ext cx="82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→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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61" name="Oval 135"/>
            <p:cNvSpPr/>
            <p:nvPr/>
          </p:nvSpPr>
          <p:spPr>
            <a:xfrm>
              <a:off x="3425" y="161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0262" name="Group 136"/>
            <p:cNvGrpSpPr/>
            <p:nvPr/>
          </p:nvGrpSpPr>
          <p:grpSpPr>
            <a:xfrm>
              <a:off x="4604" y="1342"/>
              <a:ext cx="367" cy="880"/>
              <a:chOff x="1576" y="1277"/>
              <a:chExt cx="253" cy="614"/>
            </a:xfrm>
          </p:grpSpPr>
          <p:grpSp>
            <p:nvGrpSpPr>
              <p:cNvPr id="10282" name="Group 137"/>
              <p:cNvGrpSpPr/>
              <p:nvPr/>
            </p:nvGrpSpPr>
            <p:grpSpPr>
              <a:xfrm>
                <a:off x="1658" y="1277"/>
                <a:ext cx="171" cy="614"/>
                <a:chOff x="1658" y="1277"/>
                <a:chExt cx="171" cy="614"/>
              </a:xfrm>
            </p:grpSpPr>
            <p:sp>
              <p:nvSpPr>
                <p:cNvPr id="10284" name="Text Box 138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0285" name="Text Box 139"/>
                <p:cNvSpPr txBox="1"/>
                <p:nvPr/>
              </p:nvSpPr>
              <p:spPr>
                <a:xfrm>
                  <a:off x="1658" y="1661"/>
                  <a:ext cx="15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10283" name="Text Box 140"/>
              <p:cNvSpPr txBox="1"/>
              <p:nvPr/>
            </p:nvSpPr>
            <p:spPr>
              <a:xfrm>
                <a:off x="1576" y="1458"/>
                <a:ext cx="250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10263" name="Text Box 141"/>
            <p:cNvSpPr txBox="1"/>
            <p:nvPr/>
          </p:nvSpPr>
          <p:spPr>
            <a:xfrm>
              <a:off x="3109" y="1660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64" name="Line 142"/>
            <p:cNvSpPr/>
            <p:nvPr/>
          </p:nvSpPr>
          <p:spPr>
            <a:xfrm>
              <a:off x="4286" y="1389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5" name="Line 143"/>
            <p:cNvSpPr/>
            <p:nvPr/>
          </p:nvSpPr>
          <p:spPr>
            <a:xfrm>
              <a:off x="3609" y="2213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6" name="Line 144"/>
            <p:cNvSpPr/>
            <p:nvPr/>
          </p:nvSpPr>
          <p:spPr>
            <a:xfrm flipH="1">
              <a:off x="3606" y="1389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7" name="Line 145"/>
            <p:cNvSpPr/>
            <p:nvPr/>
          </p:nvSpPr>
          <p:spPr>
            <a:xfrm flipH="1">
              <a:off x="5057" y="1389"/>
              <a:ext cx="8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8" name="Line 146"/>
            <p:cNvSpPr/>
            <p:nvPr/>
          </p:nvSpPr>
          <p:spPr>
            <a:xfrm flipH="1" flipV="1">
              <a:off x="5057" y="1934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9" name="Text Box 147"/>
            <p:cNvSpPr txBox="1"/>
            <p:nvPr/>
          </p:nvSpPr>
          <p:spPr>
            <a:xfrm>
              <a:off x="4513" y="1025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10270" name="Group 148"/>
            <p:cNvGrpSpPr/>
            <p:nvPr/>
          </p:nvGrpSpPr>
          <p:grpSpPr>
            <a:xfrm>
              <a:off x="4785" y="980"/>
              <a:ext cx="238" cy="342"/>
              <a:chOff x="1803" y="2593"/>
              <a:chExt cx="165" cy="239"/>
            </a:xfrm>
          </p:grpSpPr>
          <p:sp>
            <p:nvSpPr>
              <p:cNvPr id="10280" name="Text Box 149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0281" name="Line 150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0271" name="Text Box 151"/>
            <p:cNvSpPr txBox="1"/>
            <p:nvPr/>
          </p:nvSpPr>
          <p:spPr>
            <a:xfrm>
              <a:off x="3243" y="1343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0272" name="Text Box 152"/>
            <p:cNvSpPr txBox="1"/>
            <p:nvPr/>
          </p:nvSpPr>
          <p:spPr>
            <a:xfrm>
              <a:off x="3243" y="1979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73" name="Rectangle 153"/>
            <p:cNvSpPr/>
            <p:nvPr/>
          </p:nvSpPr>
          <p:spPr>
            <a:xfrm>
              <a:off x="4468" y="134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0274" name="Group 154"/>
            <p:cNvGrpSpPr/>
            <p:nvPr/>
          </p:nvGrpSpPr>
          <p:grpSpPr>
            <a:xfrm>
              <a:off x="5057" y="1571"/>
              <a:ext cx="91" cy="363"/>
              <a:chOff x="2744" y="2931"/>
              <a:chExt cx="57" cy="283"/>
            </a:xfrm>
          </p:grpSpPr>
          <p:sp>
            <p:nvSpPr>
              <p:cNvPr id="10277" name="Arc 155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78" name="Arc 156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79" name="Arc 157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275" name="Oval 158"/>
            <p:cNvSpPr/>
            <p:nvPr/>
          </p:nvSpPr>
          <p:spPr>
            <a:xfrm>
              <a:off x="3969" y="138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76" name="Oval 159"/>
            <p:cNvSpPr/>
            <p:nvPr/>
          </p:nvSpPr>
          <p:spPr>
            <a:xfrm>
              <a:off x="4241" y="138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60928" name="AutoShape 160"/>
          <p:cNvSpPr/>
          <p:nvPr/>
        </p:nvSpPr>
        <p:spPr>
          <a:xfrm>
            <a:off x="5724525" y="1052513"/>
            <a:ext cx="576263" cy="503237"/>
          </a:xfrm>
          <a:prstGeom prst="irregularSeal1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60889" grpId="0"/>
      <p:bldP spid="160890" grpId="0"/>
      <p:bldP spid="160891" grpId="0"/>
      <p:bldP spid="160892" grpId="0"/>
      <p:bldP spid="160893" grpId="0"/>
      <p:bldP spid="160928" grpId="0" animBg="1"/>
      <p:bldP spid="1609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94" name="Text Box 38"/>
          <p:cNvSpPr txBox="1"/>
          <p:nvPr/>
        </p:nvSpPr>
        <p:spPr>
          <a:xfrm>
            <a:off x="2843213" y="690721"/>
            <a:ext cx="41154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电路结构、状态发生变化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6299" name="Text Box 43"/>
          <p:cNvSpPr txBox="1"/>
          <p:nvPr/>
        </p:nvSpPr>
        <p:spPr>
          <a:xfrm>
            <a:off x="755650" y="765175"/>
            <a:ext cx="1079500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换路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6300" name="AutoShape 44"/>
          <p:cNvSpPr/>
          <p:nvPr/>
        </p:nvSpPr>
        <p:spPr>
          <a:xfrm>
            <a:off x="1979613" y="908050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772920"/>
            <a:ext cx="6576060" cy="3375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96294" grpId="0" build="p"/>
      <p:bldP spid="96299" grpId="0" animBg="1"/>
      <p:bldP spid="9630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90" name="Text Box 34"/>
          <p:cNvSpPr txBox="1"/>
          <p:nvPr/>
        </p:nvSpPr>
        <p:spPr>
          <a:xfrm>
            <a:off x="684530" y="1124427"/>
            <a:ext cx="3400425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过渡过程产生的原因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6291" name="Text Box 35"/>
          <p:cNvSpPr txBox="1"/>
          <p:nvPr/>
        </p:nvSpPr>
        <p:spPr>
          <a:xfrm>
            <a:off x="613093" y="1750536"/>
            <a:ext cx="8135937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电路内部含有储能元件 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，电路在换路时能量发生变化，而能量的储存和释放都需要一定的时间来完成。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6293" name="Object 37"/>
          <p:cNvGraphicFramePr>
            <a:graphicFrameLocks noChangeAspect="1"/>
          </p:cNvGraphicFramePr>
          <p:nvPr/>
        </p:nvGraphicFramePr>
        <p:xfrm>
          <a:off x="1260793" y="3338830"/>
          <a:ext cx="1690687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70535" imgH="348615" progId="Equation.3">
                  <p:embed/>
                </p:oleObj>
              </mc:Choice>
              <mc:Fallback>
                <p:oleObj name="" r:id="rId1" imgW="470535" imgH="34861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60793" y="3338830"/>
                        <a:ext cx="1690687" cy="132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4" name="AutoShape 48"/>
          <p:cNvSpPr/>
          <p:nvPr/>
        </p:nvSpPr>
        <p:spPr>
          <a:xfrm>
            <a:off x="4356418" y="1322705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6345" name="Object 89"/>
          <p:cNvGraphicFramePr>
            <a:graphicFrameLocks noChangeAspect="1"/>
          </p:cNvGraphicFramePr>
          <p:nvPr/>
        </p:nvGraphicFramePr>
        <p:xfrm>
          <a:off x="5508943" y="3772218"/>
          <a:ext cx="15652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417830" imgH="113030" progId="Equation.3">
                  <p:embed/>
                </p:oleObj>
              </mc:Choice>
              <mc:Fallback>
                <p:oleObj name="" r:id="rId3" imgW="417830" imgH="11303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943" y="3772218"/>
                        <a:ext cx="1565275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46" name="Object 90"/>
          <p:cNvGraphicFramePr>
            <a:graphicFrameLocks noChangeAspect="1"/>
          </p:cNvGraphicFramePr>
          <p:nvPr/>
        </p:nvGraphicFramePr>
        <p:xfrm>
          <a:off x="3708718" y="3772218"/>
          <a:ext cx="13081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435610" imgH="104775" progId="Equation.3">
                  <p:embed/>
                </p:oleObj>
              </mc:Choice>
              <mc:Fallback>
                <p:oleObj name="" r:id="rId5" imgW="435610" imgH="10477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718" y="3772218"/>
                        <a:ext cx="1308100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96290" grpId="0" animBg="1"/>
      <p:bldP spid="96291" grpId="0" build="p"/>
      <p:bldP spid="9630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459" name="Text Box 83"/>
          <p:cNvSpPr txBox="1"/>
          <p:nvPr/>
        </p:nvSpPr>
        <p:spPr>
          <a:xfrm>
            <a:off x="2123123" y="1475264"/>
            <a:ext cx="4679950" cy="132207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en-US" altLang="zh-CN" sz="320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动态电路的方程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14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422" name="Text Box 46"/>
          <p:cNvSpPr txBox="1"/>
          <p:nvPr/>
        </p:nvSpPr>
        <p:spPr>
          <a:xfrm>
            <a:off x="684530" y="5444808"/>
            <a:ext cx="4679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应用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KVL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和电容的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VCR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1459" name="Text Box 83"/>
          <p:cNvSpPr txBox="1"/>
          <p:nvPr/>
        </p:nvSpPr>
        <p:spPr>
          <a:xfrm>
            <a:off x="611188" y="474186"/>
            <a:ext cx="4679950" cy="583565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动态电路的方程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1499" name="Text Box 123"/>
          <p:cNvSpPr txBox="1"/>
          <p:nvPr/>
        </p:nvSpPr>
        <p:spPr>
          <a:xfrm>
            <a:off x="611188" y="1125538"/>
            <a:ext cx="5032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1500" name="Text Box 124"/>
          <p:cNvSpPr txBox="1"/>
          <p:nvPr/>
        </p:nvSpPr>
        <p:spPr>
          <a:xfrm>
            <a:off x="1258888" y="1125538"/>
            <a:ext cx="1657350" cy="521970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31820" y="1196975"/>
            <a:ext cx="5603240" cy="4104005"/>
          </a:xfrm>
          <a:prstGeom prst="rect">
            <a:avLst/>
          </a:prstGeom>
        </p:spPr>
      </p:pic>
      <p:graphicFrame>
        <p:nvGraphicFramePr>
          <p:cNvPr id="9" name="对象 8"/>
          <p:cNvGraphicFramePr/>
          <p:nvPr>
            <p:custDataLst>
              <p:tags r:id="rId3"/>
            </p:custDataLst>
          </p:nvPr>
        </p:nvGraphicFramePr>
        <p:xfrm>
          <a:off x="5147945" y="5300980"/>
          <a:ext cx="3808730" cy="94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" imgW="3625215" imgH="892810" progId="Equation.KSEE3">
                  <p:embed/>
                </p:oleObj>
              </mc:Choice>
              <mc:Fallback>
                <p:oleObj name="" r:id="rId4" imgW="3625215" imgH="892810" progId="Equation.KSEE3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7945" y="5300980"/>
                        <a:ext cx="3808730" cy="94170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01422" grpId="0"/>
      <p:bldP spid="101459" grpId="0"/>
      <p:bldP spid="101499" grpId="0"/>
      <p:bldP spid="10150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1390" name="Object 14"/>
          <p:cNvGraphicFramePr>
            <a:graphicFrameLocks noChangeAspect="1"/>
          </p:cNvGraphicFramePr>
          <p:nvPr/>
        </p:nvGraphicFramePr>
        <p:xfrm>
          <a:off x="2339023" y="4725035"/>
          <a:ext cx="35750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228090" imgH="382905" progId="Equation.3">
                  <p:embed/>
                </p:oleObj>
              </mc:Choice>
              <mc:Fallback>
                <p:oleObj name="" r:id="rId1" imgW="1228090" imgH="38290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39023" y="4725035"/>
                        <a:ext cx="3575050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21" name="AutoShape 45"/>
          <p:cNvSpPr/>
          <p:nvPr/>
        </p:nvSpPr>
        <p:spPr>
          <a:xfrm>
            <a:off x="973138" y="5084763"/>
            <a:ext cx="649287" cy="144462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101498" name="Group 122"/>
          <p:cNvGrpSpPr/>
          <p:nvPr/>
        </p:nvGrpSpPr>
        <p:grpSpPr>
          <a:xfrm>
            <a:off x="900113" y="2420938"/>
            <a:ext cx="2889250" cy="1912937"/>
            <a:chOff x="657" y="1207"/>
            <a:chExt cx="1820" cy="1205"/>
          </a:xfrm>
        </p:grpSpPr>
        <p:graphicFrame>
          <p:nvGraphicFramePr>
            <p:cNvPr id="12307" name="Object 44"/>
            <p:cNvGraphicFramePr>
              <a:graphicFrameLocks noChangeAspect="1"/>
            </p:cNvGraphicFramePr>
            <p:nvPr/>
          </p:nvGraphicFramePr>
          <p:xfrm>
            <a:off x="793" y="1207"/>
            <a:ext cx="168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888365" imgH="147955" progId="Equation.3">
                    <p:embed/>
                  </p:oleObj>
                </mc:Choice>
                <mc:Fallback>
                  <p:oleObj name="" r:id="rId3" imgW="888365" imgH="14795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1207"/>
                          <a:ext cx="1684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8" name="Object 49"/>
            <p:cNvGraphicFramePr>
              <a:graphicFrameLocks noChangeAspect="1"/>
            </p:cNvGraphicFramePr>
            <p:nvPr/>
          </p:nvGraphicFramePr>
          <p:xfrm>
            <a:off x="783" y="1616"/>
            <a:ext cx="1100" cy="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557530" imgH="382905" progId="Equation.3">
                    <p:embed/>
                  </p:oleObj>
                </mc:Choice>
                <mc:Fallback>
                  <p:oleObj name="" r:id="rId5" imgW="557530" imgH="38290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3" y="1616"/>
                          <a:ext cx="1100" cy="7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9" name="AutoShape 121"/>
            <p:cNvSpPr/>
            <p:nvPr/>
          </p:nvSpPr>
          <p:spPr>
            <a:xfrm>
              <a:off x="657" y="1207"/>
              <a:ext cx="46" cy="953"/>
            </a:xfrm>
            <a:prstGeom prst="leftBrace">
              <a:avLst>
                <a:gd name="adj1" fmla="val 172644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43305" y="116840"/>
            <a:ext cx="1716405" cy="20307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27400" y="546100"/>
            <a:ext cx="4877435" cy="1294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在该参考方向下，实际电流流入，电压增大；即电压正梯度，电流</a:t>
            </a:r>
            <a:r>
              <a:rPr lang="zh-CN" altLang="en-US"/>
              <a:t>增加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14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426" name="Text Box 50"/>
          <p:cNvSpPr txBox="1"/>
          <p:nvPr/>
        </p:nvSpPr>
        <p:spPr>
          <a:xfrm>
            <a:off x="827088" y="1124268"/>
            <a:ext cx="33131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若以电流为变量：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01427" name="Object 51"/>
          <p:cNvGraphicFramePr>
            <a:graphicFrameLocks noChangeAspect="1"/>
          </p:cNvGraphicFramePr>
          <p:nvPr/>
        </p:nvGraphicFramePr>
        <p:xfrm>
          <a:off x="2627313" y="2276793"/>
          <a:ext cx="3335337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149350" imgH="348615" progId="Equation.3">
                  <p:embed/>
                </p:oleObj>
              </mc:Choice>
              <mc:Fallback>
                <p:oleObj name="" r:id="rId1" imgW="1149350" imgH="34861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2276793"/>
                        <a:ext cx="3335337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57" name="AutoShape 81"/>
          <p:cNvSpPr/>
          <p:nvPr/>
        </p:nvSpPr>
        <p:spPr>
          <a:xfrm>
            <a:off x="1331278" y="3500438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1458" name="Object 82"/>
          <p:cNvGraphicFramePr>
            <a:graphicFrameLocks noChangeAspect="1"/>
          </p:cNvGraphicFramePr>
          <p:nvPr/>
        </p:nvGraphicFramePr>
        <p:xfrm>
          <a:off x="2641600" y="4004945"/>
          <a:ext cx="303371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114425" imgH="382905" progId="Equation.3">
                  <p:embed/>
                </p:oleObj>
              </mc:Choice>
              <mc:Fallback>
                <p:oleObj name="" r:id="rId3" imgW="1114425" imgH="38290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41600" y="4004945"/>
                        <a:ext cx="3033713" cy="1176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01426" grpId="0"/>
      <p:bldP spid="1014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19" name="Text Box 187"/>
          <p:cNvSpPr txBox="1"/>
          <p:nvPr/>
        </p:nvSpPr>
        <p:spPr>
          <a:xfrm>
            <a:off x="611188" y="620713"/>
            <a:ext cx="1657350" cy="521970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341120"/>
            <a:ext cx="7670165" cy="5240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954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5316" name="Object 84"/>
          <p:cNvGraphicFramePr>
            <a:graphicFrameLocks noChangeAspect="1"/>
          </p:cNvGraphicFramePr>
          <p:nvPr/>
        </p:nvGraphicFramePr>
        <p:xfrm>
          <a:off x="842963" y="2052638"/>
          <a:ext cx="26320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888365" imgH="147955" progId="Equation.3">
                  <p:embed/>
                </p:oleObj>
              </mc:Choice>
              <mc:Fallback>
                <p:oleObj name="" r:id="rId1" imgW="888365" imgH="14795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2963" y="2052638"/>
                        <a:ext cx="2632075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17" name="AutoShape 85"/>
          <p:cNvSpPr/>
          <p:nvPr/>
        </p:nvSpPr>
        <p:spPr>
          <a:xfrm>
            <a:off x="1331278" y="5229225"/>
            <a:ext cx="649287" cy="142875"/>
          </a:xfrm>
          <a:prstGeom prst="rightArrow">
            <a:avLst>
              <a:gd name="adj1" fmla="val 50000"/>
              <a:gd name="adj2" fmla="val 11361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5318" name="Object 86"/>
          <p:cNvGraphicFramePr>
            <a:graphicFrameLocks noChangeAspect="1"/>
          </p:cNvGraphicFramePr>
          <p:nvPr/>
        </p:nvGraphicFramePr>
        <p:xfrm>
          <a:off x="2627313" y="4725035"/>
          <a:ext cx="2592387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010285" imgH="382905" progId="Equation.3">
                  <p:embed/>
                </p:oleObj>
              </mc:Choice>
              <mc:Fallback>
                <p:oleObj name="" r:id="rId3" imgW="1010285" imgH="38290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4725035"/>
                        <a:ext cx="2592387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66" name="Text Box 134"/>
          <p:cNvSpPr txBox="1"/>
          <p:nvPr/>
        </p:nvSpPr>
        <p:spPr>
          <a:xfrm>
            <a:off x="468313" y="1371600"/>
            <a:ext cx="48974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应用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KVL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和电感的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VCR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5367" name="Object 135"/>
          <p:cNvGraphicFramePr>
            <a:graphicFrameLocks noChangeAspect="1"/>
          </p:cNvGraphicFramePr>
          <p:nvPr/>
        </p:nvGraphicFramePr>
        <p:xfrm>
          <a:off x="755650" y="2628900"/>
          <a:ext cx="157162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557530" imgH="382905" progId="Equation.3">
                  <p:embed/>
                </p:oleObj>
              </mc:Choice>
              <mc:Fallback>
                <p:oleObj name="" r:id="rId5" imgW="557530" imgH="38290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2628900"/>
                        <a:ext cx="1571625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408" name="Group 176"/>
          <p:cNvGrpSpPr/>
          <p:nvPr/>
        </p:nvGrpSpPr>
        <p:grpSpPr>
          <a:xfrm>
            <a:off x="5435600" y="648600"/>
            <a:ext cx="2735263" cy="1969188"/>
            <a:chOff x="3697" y="390"/>
            <a:chExt cx="1723" cy="1240"/>
          </a:xfrm>
        </p:grpSpPr>
        <p:sp>
          <p:nvSpPr>
            <p:cNvPr id="13331" name="Text Box 152"/>
            <p:cNvSpPr txBox="1"/>
            <p:nvPr/>
          </p:nvSpPr>
          <p:spPr>
            <a:xfrm>
              <a:off x="4029" y="435"/>
              <a:ext cx="70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&gt;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332" name="Oval 153"/>
            <p:cNvSpPr/>
            <p:nvPr/>
          </p:nvSpPr>
          <p:spPr>
            <a:xfrm>
              <a:off x="3697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3333" name="Group 154"/>
            <p:cNvGrpSpPr/>
            <p:nvPr/>
          </p:nvGrpSpPr>
          <p:grpSpPr>
            <a:xfrm>
              <a:off x="4876" y="752"/>
              <a:ext cx="367" cy="878"/>
              <a:chOff x="1576" y="1277"/>
              <a:chExt cx="253" cy="613"/>
            </a:xfrm>
          </p:grpSpPr>
          <p:grpSp>
            <p:nvGrpSpPr>
              <p:cNvPr id="13351" name="Group 155"/>
              <p:cNvGrpSpPr/>
              <p:nvPr/>
            </p:nvGrpSpPr>
            <p:grpSpPr>
              <a:xfrm>
                <a:off x="1658" y="1277"/>
                <a:ext cx="171" cy="613"/>
                <a:chOff x="1658" y="1277"/>
                <a:chExt cx="171" cy="613"/>
              </a:xfrm>
            </p:grpSpPr>
            <p:sp>
              <p:nvSpPr>
                <p:cNvPr id="13353" name="Text Box 156"/>
                <p:cNvSpPr txBox="1"/>
                <p:nvPr/>
              </p:nvSpPr>
              <p:spPr>
                <a:xfrm>
                  <a:off x="1662" y="1277"/>
                  <a:ext cx="167" cy="23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354" name="Text Box 157"/>
                <p:cNvSpPr txBox="1"/>
                <p:nvPr/>
              </p:nvSpPr>
              <p:spPr>
                <a:xfrm>
                  <a:off x="1658" y="1661"/>
                  <a:ext cx="157" cy="22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13352" name="Text Box 158"/>
              <p:cNvSpPr txBox="1"/>
              <p:nvPr/>
            </p:nvSpPr>
            <p:spPr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13334" name="Text Box 159"/>
            <p:cNvSpPr txBox="1"/>
            <p:nvPr/>
          </p:nvSpPr>
          <p:spPr>
            <a:xfrm>
              <a:off x="4061" y="1025"/>
              <a:ext cx="33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335" name="Line 160"/>
            <p:cNvSpPr/>
            <p:nvPr/>
          </p:nvSpPr>
          <p:spPr>
            <a:xfrm>
              <a:off x="3881" y="799"/>
              <a:ext cx="14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6" name="Line 161"/>
            <p:cNvSpPr/>
            <p:nvPr/>
          </p:nvSpPr>
          <p:spPr>
            <a:xfrm>
              <a:off x="3881" y="1623"/>
              <a:ext cx="14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7" name="Line 162"/>
            <p:cNvSpPr/>
            <p:nvPr/>
          </p:nvSpPr>
          <p:spPr>
            <a:xfrm flipH="1">
              <a:off x="3878" y="799"/>
              <a:ext cx="3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8" name="Line 163"/>
            <p:cNvSpPr/>
            <p:nvPr/>
          </p:nvSpPr>
          <p:spPr>
            <a:xfrm flipH="1">
              <a:off x="5329" y="799"/>
              <a:ext cx="8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9" name="Line 164"/>
            <p:cNvSpPr/>
            <p:nvPr/>
          </p:nvSpPr>
          <p:spPr>
            <a:xfrm flipH="1" flipV="1">
              <a:off x="5329" y="1344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0" name="Text Box 165"/>
            <p:cNvSpPr txBox="1"/>
            <p:nvPr/>
          </p:nvSpPr>
          <p:spPr>
            <a:xfrm>
              <a:off x="4786" y="435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13341" name="Group 166"/>
            <p:cNvGrpSpPr/>
            <p:nvPr/>
          </p:nvGrpSpPr>
          <p:grpSpPr>
            <a:xfrm>
              <a:off x="5057" y="390"/>
              <a:ext cx="238" cy="342"/>
              <a:chOff x="1803" y="2593"/>
              <a:chExt cx="165" cy="239"/>
            </a:xfrm>
          </p:grpSpPr>
          <p:sp>
            <p:nvSpPr>
              <p:cNvPr id="13349" name="Text Box 167"/>
              <p:cNvSpPr txBox="1"/>
              <p:nvPr/>
            </p:nvSpPr>
            <p:spPr>
              <a:xfrm>
                <a:off x="1803" y="2593"/>
                <a:ext cx="123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50" name="Line 168"/>
              <p:cNvSpPr/>
              <p:nvPr/>
            </p:nvSpPr>
            <p:spPr>
              <a:xfrm>
                <a:off x="1824" y="2832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3342" name="Text Box 169"/>
            <p:cNvSpPr txBox="1"/>
            <p:nvPr/>
          </p:nvSpPr>
          <p:spPr>
            <a:xfrm>
              <a:off x="3923" y="754"/>
              <a:ext cx="3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343" name="Text Box 170"/>
            <p:cNvSpPr txBox="1"/>
            <p:nvPr/>
          </p:nvSpPr>
          <p:spPr>
            <a:xfrm>
              <a:off x="3923" y="129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44" name="Rectangle 171"/>
            <p:cNvSpPr/>
            <p:nvPr/>
          </p:nvSpPr>
          <p:spPr>
            <a:xfrm>
              <a:off x="4740" y="7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3345" name="Group 172"/>
            <p:cNvGrpSpPr/>
            <p:nvPr/>
          </p:nvGrpSpPr>
          <p:grpSpPr>
            <a:xfrm>
              <a:off x="5329" y="981"/>
              <a:ext cx="91" cy="363"/>
              <a:chOff x="2744" y="2931"/>
              <a:chExt cx="57" cy="283"/>
            </a:xfrm>
          </p:grpSpPr>
          <p:sp>
            <p:nvSpPr>
              <p:cNvPr id="13346" name="Arc 173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47" name="Arc 174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48" name="Arc 175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95419" name="Text Box 187"/>
          <p:cNvSpPr txBox="1"/>
          <p:nvPr/>
        </p:nvSpPr>
        <p:spPr>
          <a:xfrm>
            <a:off x="611188" y="620713"/>
            <a:ext cx="1657350" cy="521970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5420" name="AutoShape 188"/>
          <p:cNvSpPr/>
          <p:nvPr/>
        </p:nvSpPr>
        <p:spPr>
          <a:xfrm>
            <a:off x="539750" y="2068513"/>
            <a:ext cx="144463" cy="1431925"/>
          </a:xfrm>
          <a:prstGeom prst="leftBrace">
            <a:avLst>
              <a:gd name="adj1" fmla="val 82600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5317" grpId="0" animBg="1"/>
      <p:bldP spid="95366" grpId="0"/>
      <p:bldP spid="95419" grpId="0" animBg="1"/>
      <p:bldP spid="954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368" name="Text Box 136"/>
          <p:cNvSpPr txBox="1"/>
          <p:nvPr/>
        </p:nvSpPr>
        <p:spPr>
          <a:xfrm>
            <a:off x="899160" y="1052830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若以电感电压为变量：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5369" name="Object 137"/>
          <p:cNvGraphicFramePr>
            <a:graphicFrameLocks noChangeAspect="1"/>
          </p:cNvGraphicFramePr>
          <p:nvPr/>
        </p:nvGraphicFramePr>
        <p:xfrm>
          <a:off x="1691640" y="2780348"/>
          <a:ext cx="33242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228090" imgH="348615" progId="Equation.3">
                  <p:embed/>
                </p:oleObj>
              </mc:Choice>
              <mc:Fallback>
                <p:oleObj name="" r:id="rId1" imgW="1228090" imgH="34861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1640" y="2780348"/>
                        <a:ext cx="3324225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70" name="AutoShape 138"/>
          <p:cNvSpPr/>
          <p:nvPr/>
        </p:nvSpPr>
        <p:spPr>
          <a:xfrm>
            <a:off x="1835150" y="5229225"/>
            <a:ext cx="720725" cy="142875"/>
          </a:xfrm>
          <a:prstGeom prst="rightArrow">
            <a:avLst>
              <a:gd name="adj1" fmla="val 50000"/>
              <a:gd name="adj2" fmla="val 12611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5371" name="Object 139"/>
          <p:cNvGraphicFramePr>
            <a:graphicFrameLocks noChangeAspect="1"/>
          </p:cNvGraphicFramePr>
          <p:nvPr/>
        </p:nvGraphicFramePr>
        <p:xfrm>
          <a:off x="2771775" y="4868863"/>
          <a:ext cx="32829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254125" imgH="348615" progId="Equation.3">
                  <p:embed/>
                </p:oleObj>
              </mc:Choice>
              <mc:Fallback>
                <p:oleObj name="" r:id="rId3" imgW="1254125" imgH="34861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1775" y="4868863"/>
                        <a:ext cx="328295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95368" grpId="0"/>
      <p:bldP spid="953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1973" name="Group 5"/>
          <p:cNvGrpSpPr/>
          <p:nvPr/>
        </p:nvGrpSpPr>
        <p:grpSpPr>
          <a:xfrm>
            <a:off x="2555875" y="935038"/>
            <a:ext cx="3529013" cy="1512887"/>
            <a:chOff x="1610" y="3067"/>
            <a:chExt cx="2223" cy="953"/>
          </a:xfrm>
        </p:grpSpPr>
        <p:sp>
          <p:nvSpPr>
            <p:cNvPr id="14353" name="Rectangle 6"/>
            <p:cNvSpPr/>
            <p:nvPr/>
          </p:nvSpPr>
          <p:spPr>
            <a:xfrm>
              <a:off x="2290" y="3158"/>
              <a:ext cx="1026" cy="79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54" name="Rectangle 7"/>
            <p:cNvSpPr/>
            <p:nvPr/>
          </p:nvSpPr>
          <p:spPr>
            <a:xfrm>
              <a:off x="1610" y="3067"/>
              <a:ext cx="817" cy="9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198000" rIns="198000" anchor="ctr" anchorCtr="0"/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有源 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电阻 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电路 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4355" name="Rectangle 8" descr="水滴"/>
            <p:cNvSpPr/>
            <p:nvPr/>
          </p:nvSpPr>
          <p:spPr>
            <a:xfrm>
              <a:off x="2880" y="3203"/>
              <a:ext cx="953" cy="635"/>
            </a:xfrm>
            <a:prstGeom prst="rect">
              <a:avLst/>
            </a:prstGeom>
            <a:blipFill rotWithShape="1">
              <a:blip r:embed="rId1"/>
            </a:blipFill>
            <a:ln w="9525">
              <a:noFill/>
            </a:ln>
          </p:spPr>
          <p:txBody>
            <a:bodyPr wrap="none" lIns="198000" rIns="198000" anchor="ctr" anchorCtr="0"/>
            <a:p>
              <a:pPr algn="ctr"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一个动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态元件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211977" name="AutoShape 9"/>
          <p:cNvSpPr/>
          <p:nvPr/>
        </p:nvSpPr>
        <p:spPr>
          <a:xfrm>
            <a:off x="7308850" y="719138"/>
            <a:ext cx="1008063" cy="1081087"/>
          </a:xfrm>
          <a:prstGeom prst="wedgeRoundRectCallout">
            <a:avLst>
              <a:gd name="adj1" fmla="val -167639"/>
              <a:gd name="adj2" fmla="val 67472"/>
              <a:gd name="adj3" fmla="val 16667"/>
            </a:avLst>
          </a:prstGeom>
          <a:gradFill rotWithShape="1">
            <a:gsLst>
              <a:gs pos="0">
                <a:srgbClr val="F3ABF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212015" name="Group 47"/>
          <p:cNvGrpSpPr/>
          <p:nvPr/>
        </p:nvGrpSpPr>
        <p:grpSpPr>
          <a:xfrm>
            <a:off x="755650" y="935038"/>
            <a:ext cx="1643063" cy="850900"/>
            <a:chOff x="385" y="3022"/>
            <a:chExt cx="1035" cy="536"/>
          </a:xfrm>
        </p:grpSpPr>
        <p:pic>
          <p:nvPicPr>
            <p:cNvPr id="14347" name="Picture 4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8" name="Text Box 49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结论</a:t>
              </a:r>
              <a:endParaRPr lang="zh-CN" altLang="en-US" sz="32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212020" name="Text Box 52"/>
          <p:cNvSpPr txBox="1"/>
          <p:nvPr/>
        </p:nvSpPr>
        <p:spPr>
          <a:xfrm>
            <a:off x="1043305" y="2997200"/>
            <a:ext cx="7274560" cy="27482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2" charset="-122"/>
              </a:rPr>
              <a:t>含有一个动态元件电容或电感的线性电路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2" charset="-122"/>
              </a:rPr>
              <a:t>电路方程为一阶线性常微分方程，称一阶电路。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11977" grpId="0" animBg="1"/>
      <p:bldP spid="2120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25" name="Text Box 17"/>
          <p:cNvSpPr txBox="1"/>
          <p:nvPr/>
        </p:nvSpPr>
        <p:spPr>
          <a:xfrm>
            <a:off x="5003483" y="1266984"/>
            <a:ext cx="2327910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复频域分析法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4226" name="Rectangle 18"/>
          <p:cNvSpPr/>
          <p:nvPr/>
        </p:nvSpPr>
        <p:spPr>
          <a:xfrm>
            <a:off x="1908017" y="1340009"/>
            <a:ext cx="1970405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时域分析法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4230" name="Text Box 22"/>
          <p:cNvSpPr txBox="1"/>
          <p:nvPr/>
        </p:nvSpPr>
        <p:spPr>
          <a:xfrm>
            <a:off x="684213" y="547846"/>
            <a:ext cx="3673475" cy="52197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求解微分方程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4237" name="Group 29"/>
          <p:cNvGrpSpPr/>
          <p:nvPr/>
        </p:nvGrpSpPr>
        <p:grpSpPr>
          <a:xfrm>
            <a:off x="1619250" y="2058769"/>
            <a:ext cx="3024188" cy="2324537"/>
            <a:chOff x="884" y="2386"/>
            <a:chExt cx="1394" cy="1287"/>
          </a:xfrm>
        </p:grpSpPr>
        <p:sp>
          <p:nvSpPr>
            <p:cNvPr id="18455" name="Text Box 15"/>
            <p:cNvSpPr txBox="1"/>
            <p:nvPr/>
          </p:nvSpPr>
          <p:spPr>
            <a:xfrm>
              <a:off x="1111" y="2386"/>
              <a:ext cx="579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经典法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6" name="Text Box 20"/>
            <p:cNvSpPr txBox="1"/>
            <p:nvPr/>
          </p:nvSpPr>
          <p:spPr>
            <a:xfrm>
              <a:off x="1020" y="2705"/>
              <a:ext cx="1258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状态变量法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7" name="Text Box 21"/>
            <p:cNvSpPr txBox="1"/>
            <p:nvPr/>
          </p:nvSpPr>
          <p:spPr>
            <a:xfrm>
              <a:off x="1067" y="3384"/>
              <a:ext cx="695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数值法</a:t>
              </a:r>
              <a:endPara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8" name="AutoShape 27"/>
            <p:cNvSpPr/>
            <p:nvPr/>
          </p:nvSpPr>
          <p:spPr>
            <a:xfrm>
              <a:off x="884" y="2478"/>
              <a:ext cx="136" cy="1179"/>
            </a:xfrm>
            <a:prstGeom prst="leftBrace">
              <a:avLst>
                <a:gd name="adj1" fmla="val 72242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9" name="Text Box 28"/>
            <p:cNvSpPr txBox="1"/>
            <p:nvPr/>
          </p:nvSpPr>
          <p:spPr>
            <a:xfrm>
              <a:off x="1111" y="3022"/>
              <a:ext cx="953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卷积积分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94244" name="Group 36"/>
          <p:cNvGrpSpPr/>
          <p:nvPr/>
        </p:nvGrpSpPr>
        <p:grpSpPr>
          <a:xfrm>
            <a:off x="5003800" y="2133600"/>
            <a:ext cx="2956094" cy="2016125"/>
            <a:chOff x="3243" y="2705"/>
            <a:chExt cx="1683" cy="1179"/>
          </a:xfrm>
        </p:grpSpPr>
        <p:sp>
          <p:nvSpPr>
            <p:cNvPr id="18451" name="Text Box 19"/>
            <p:cNvSpPr txBox="1"/>
            <p:nvPr/>
          </p:nvSpPr>
          <p:spPr>
            <a:xfrm>
              <a:off x="3397" y="2741"/>
              <a:ext cx="1529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拉普拉斯变换法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2" name="Text Box 32"/>
            <p:cNvSpPr txBox="1"/>
            <p:nvPr/>
          </p:nvSpPr>
          <p:spPr>
            <a:xfrm>
              <a:off x="3334" y="3104"/>
              <a:ext cx="125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状态变量法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3" name="Text Box 33"/>
            <p:cNvSpPr txBox="1"/>
            <p:nvPr/>
          </p:nvSpPr>
          <p:spPr>
            <a:xfrm>
              <a:off x="3295" y="3422"/>
              <a:ext cx="1150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8000" rIns="198000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付氏变换</a:t>
              </a:r>
              <a:endPara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8454" name="AutoShape 34"/>
            <p:cNvSpPr/>
            <p:nvPr/>
          </p:nvSpPr>
          <p:spPr>
            <a:xfrm>
              <a:off x="3243" y="2705"/>
              <a:ext cx="136" cy="1179"/>
            </a:xfrm>
            <a:prstGeom prst="leftBrace">
              <a:avLst>
                <a:gd name="adj1" fmla="val 72242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4245" name="Rectangle 37"/>
          <p:cNvSpPr/>
          <p:nvPr/>
        </p:nvSpPr>
        <p:spPr>
          <a:xfrm>
            <a:off x="1692275" y="1122363"/>
            <a:ext cx="2376488" cy="1368425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4246" name="AutoShape 38"/>
          <p:cNvSpPr/>
          <p:nvPr/>
        </p:nvSpPr>
        <p:spPr>
          <a:xfrm>
            <a:off x="323850" y="1555750"/>
            <a:ext cx="1152525" cy="1008063"/>
          </a:xfrm>
          <a:prstGeom prst="wedgeEllipseCallout">
            <a:avLst>
              <a:gd name="adj1" fmla="val 111569"/>
              <a:gd name="adj2" fmla="val 79"/>
            </a:avLst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本章采用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4249" name="Text Box 41"/>
          <p:cNvSpPr txBox="1"/>
          <p:nvPr/>
        </p:nvSpPr>
        <p:spPr>
          <a:xfrm>
            <a:off x="611188" y="4580097"/>
            <a:ext cx="8064500" cy="52197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工程中高阶微分方程应用计算机辅助分析求解。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4225" grpId="0" animBg="1"/>
      <p:bldP spid="94226" grpId="0" animBg="1"/>
      <p:bldP spid="94230" grpId="0"/>
      <p:bldP spid="94245" grpId="0" animBg="1"/>
      <p:bldP spid="94246" grpId="0" animBg="1"/>
      <p:bldP spid="942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7" name="Text Box 5"/>
          <p:cNvSpPr txBox="1"/>
          <p:nvPr/>
        </p:nvSpPr>
        <p:spPr>
          <a:xfrm>
            <a:off x="684213" y="705009"/>
            <a:ext cx="4685030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稳态分析和动态分析的区别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0358" name="Text Box 6"/>
          <p:cNvSpPr txBox="1"/>
          <p:nvPr/>
        </p:nvSpPr>
        <p:spPr>
          <a:xfrm>
            <a:off x="1568450" y="1452722"/>
            <a:ext cx="1490663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稳态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0359" name="Text Box 7"/>
          <p:cNvSpPr txBox="1"/>
          <p:nvPr/>
        </p:nvSpPr>
        <p:spPr>
          <a:xfrm>
            <a:off x="5280025" y="1452722"/>
            <a:ext cx="1379538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动态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0360" name="Group 8"/>
          <p:cNvGrpSpPr/>
          <p:nvPr/>
        </p:nvGrpSpPr>
        <p:grpSpPr>
          <a:xfrm>
            <a:off x="323850" y="2077772"/>
            <a:ext cx="4824413" cy="1927491"/>
            <a:chOff x="657" y="3025"/>
            <a:chExt cx="2606" cy="1040"/>
          </a:xfrm>
        </p:grpSpPr>
        <p:sp>
          <p:nvSpPr>
            <p:cNvPr id="19481" name="Text Box 9"/>
            <p:cNvSpPr txBox="1"/>
            <p:nvPr/>
          </p:nvSpPr>
          <p:spPr>
            <a:xfrm>
              <a:off x="839" y="3388"/>
              <a:ext cx="2424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换路发生很长时间后状态</a:t>
              </a:r>
              <a:endPara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82" name="Text Box 10"/>
            <p:cNvSpPr txBox="1"/>
            <p:nvPr/>
          </p:nvSpPr>
          <p:spPr>
            <a:xfrm>
              <a:off x="657" y="3751"/>
              <a:ext cx="1862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微分方程的特解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83" name="Text Box 11"/>
            <p:cNvSpPr txBox="1"/>
            <p:nvPr/>
          </p:nvSpPr>
          <p:spPr>
            <a:xfrm>
              <a:off x="839" y="3025"/>
              <a:ext cx="1812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8000" rIns="198000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恒定或周期性激励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84" name="AutoShape 12"/>
            <p:cNvSpPr/>
            <p:nvPr/>
          </p:nvSpPr>
          <p:spPr>
            <a:xfrm>
              <a:off x="748" y="3067"/>
              <a:ext cx="91" cy="998"/>
            </a:xfrm>
            <a:prstGeom prst="leftBrace">
              <a:avLst>
                <a:gd name="adj1" fmla="val 91391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0365" name="Group 13"/>
          <p:cNvGrpSpPr/>
          <p:nvPr/>
        </p:nvGrpSpPr>
        <p:grpSpPr>
          <a:xfrm>
            <a:off x="4787900" y="2205038"/>
            <a:ext cx="4141788" cy="1866900"/>
            <a:chOff x="3651" y="3022"/>
            <a:chExt cx="2553" cy="998"/>
          </a:xfrm>
        </p:grpSpPr>
        <p:sp>
          <p:nvSpPr>
            <p:cNvPr id="19477" name="Text Box 14"/>
            <p:cNvSpPr txBox="1"/>
            <p:nvPr/>
          </p:nvSpPr>
          <p:spPr>
            <a:xfrm>
              <a:off x="3704" y="3343"/>
              <a:ext cx="2500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8000" rIns="198000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换路发生后的整个过程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78" name="Text Box 15"/>
            <p:cNvSpPr txBox="1"/>
            <p:nvPr/>
          </p:nvSpPr>
          <p:spPr>
            <a:xfrm>
              <a:off x="3696" y="3707"/>
              <a:ext cx="1786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98000" rIns="198000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微分方程的通解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79" name="Text Box 16"/>
            <p:cNvSpPr txBox="1"/>
            <p:nvPr/>
          </p:nvSpPr>
          <p:spPr>
            <a:xfrm>
              <a:off x="3742" y="3027"/>
              <a:ext cx="1125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98000" rIns="198000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任意激励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9480" name="AutoShape 17"/>
            <p:cNvSpPr/>
            <p:nvPr/>
          </p:nvSpPr>
          <p:spPr>
            <a:xfrm>
              <a:off x="3651" y="3022"/>
              <a:ext cx="91" cy="998"/>
            </a:xfrm>
            <a:prstGeom prst="leftBrace">
              <a:avLst>
                <a:gd name="adj1" fmla="val 91391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00373" name="Object 21"/>
          <p:cNvGraphicFramePr>
            <a:graphicFrameLocks noChangeAspect="1"/>
          </p:cNvGraphicFramePr>
          <p:nvPr/>
        </p:nvGraphicFramePr>
        <p:xfrm>
          <a:off x="2484438" y="3933825"/>
          <a:ext cx="32702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167130" imgH="348615" progId="Equation.3">
                  <p:embed/>
                </p:oleObj>
              </mc:Choice>
              <mc:Fallback>
                <p:oleObj name="" r:id="rId1" imgW="1167130" imgH="34861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3933825"/>
                        <a:ext cx="3270250" cy="1109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4" name="Object 22"/>
          <p:cNvGraphicFramePr>
            <a:graphicFrameLocks noChangeAspect="1"/>
          </p:cNvGraphicFramePr>
          <p:nvPr/>
        </p:nvGraphicFramePr>
        <p:xfrm>
          <a:off x="2843213" y="5157788"/>
          <a:ext cx="12319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391795" imgH="348615" progId="Equation.3">
                  <p:embed/>
                </p:oleObj>
              </mc:Choice>
              <mc:Fallback>
                <p:oleObj name="" r:id="rId3" imgW="391795" imgH="34861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5157788"/>
                        <a:ext cx="1231900" cy="1077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5" name="Object 23"/>
          <p:cNvGraphicFramePr>
            <a:graphicFrameLocks noChangeAspect="1"/>
          </p:cNvGraphicFramePr>
          <p:nvPr/>
        </p:nvGraphicFramePr>
        <p:xfrm>
          <a:off x="1403350" y="5516563"/>
          <a:ext cx="10477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330835" imgH="78105" progId="Equation.3">
                  <p:embed/>
                </p:oleObj>
              </mc:Choice>
              <mc:Fallback>
                <p:oleObj name="" r:id="rId5" imgW="330835" imgH="7810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5516563"/>
                        <a:ext cx="1047750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6" name="Object 24"/>
          <p:cNvGraphicFramePr>
            <a:graphicFrameLocks noChangeAspect="1"/>
          </p:cNvGraphicFramePr>
          <p:nvPr/>
        </p:nvGraphicFramePr>
        <p:xfrm>
          <a:off x="4643438" y="5445125"/>
          <a:ext cx="203517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696595" imgH="147955" progId="Equation.3">
                  <p:embed/>
                </p:oleObj>
              </mc:Choice>
              <mc:Fallback>
                <p:oleObj name="" r:id="rId7" imgW="696595" imgH="14795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5445125"/>
                        <a:ext cx="2035175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7" name="Text Box 35"/>
          <p:cNvSpPr txBox="1"/>
          <p:nvPr/>
        </p:nvSpPr>
        <p:spPr>
          <a:xfrm>
            <a:off x="1116013" y="4221163"/>
            <a:ext cx="13684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直流时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0357" grpId="0" animBg="1"/>
      <p:bldP spid="100358" grpId="0" animBg="1"/>
      <p:bldP spid="100359" grpId="0" animBg="1"/>
      <p:bldP spid="10038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8" name="Text Box 8"/>
          <p:cNvSpPr txBox="1"/>
          <p:nvPr/>
        </p:nvSpPr>
        <p:spPr>
          <a:xfrm>
            <a:off x="2447925" y="1742281"/>
            <a:ext cx="4248150" cy="107632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电路的初始条件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21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Text Box 2"/>
          <p:cNvSpPr txBox="1"/>
          <p:nvPr/>
        </p:nvSpPr>
        <p:spPr>
          <a:xfrm>
            <a:off x="611188" y="1281272"/>
            <a:ext cx="4321175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98000" rIns="198000"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= 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的概念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2165" name="Text Box 5"/>
          <p:cNvSpPr txBox="1"/>
          <p:nvPr/>
        </p:nvSpPr>
        <p:spPr>
          <a:xfrm>
            <a:off x="4716463" y="1266984"/>
            <a:ext cx="4176712" cy="52197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认为换路在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时刻进行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2166" name="Text Box 6"/>
          <p:cNvSpPr txBox="1"/>
          <p:nvPr/>
        </p:nvSpPr>
        <p:spPr>
          <a:xfrm>
            <a:off x="900113" y="2059147"/>
            <a:ext cx="3239135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换路前一瞬间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2167" name="Text Box 7"/>
          <p:cNvSpPr txBox="1"/>
          <p:nvPr/>
        </p:nvSpPr>
        <p:spPr>
          <a:xfrm>
            <a:off x="900113" y="3572034"/>
            <a:ext cx="358140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zh-CN" altLang="en-US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换路后一瞬间</a:t>
            </a:r>
            <a:endParaRPr lang="zh-CN" altLang="en-US" baseline="30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1073150" y="2746375"/>
          <a:ext cx="27066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010285" imgH="287655" progId="Equation.3">
                  <p:embed/>
                </p:oleObj>
              </mc:Choice>
              <mc:Fallback>
                <p:oleObj name="" r:id="rId1" imgW="1010285" imgH="28765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3150" y="2746375"/>
                        <a:ext cx="2706688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1042988" y="4221163"/>
          <a:ext cx="259715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027430" imgH="287655" progId="Equation.3">
                  <p:embed/>
                </p:oleObj>
              </mc:Choice>
              <mc:Fallback>
                <p:oleObj name="" r:id="rId3" imgW="1027430" imgH="28765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221163"/>
                        <a:ext cx="2597150" cy="852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1" name="Text Box 11"/>
          <p:cNvSpPr txBox="1"/>
          <p:nvPr/>
        </p:nvSpPr>
        <p:spPr>
          <a:xfrm>
            <a:off x="1908175" y="5225733"/>
            <a:ext cx="6767513" cy="95313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初始条件为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= 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u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及其各阶导数的值。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2211" name="Group 51"/>
          <p:cNvGrpSpPr/>
          <p:nvPr/>
        </p:nvGrpSpPr>
        <p:grpSpPr>
          <a:xfrm>
            <a:off x="323850" y="5013325"/>
            <a:ext cx="1643063" cy="850900"/>
            <a:chOff x="385" y="3022"/>
            <a:chExt cx="1035" cy="536"/>
          </a:xfrm>
        </p:grpSpPr>
        <p:pic>
          <p:nvPicPr>
            <p:cNvPr id="20523" name="Picture 52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4" name="Text Box 53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92214" name="Group 54"/>
          <p:cNvGrpSpPr/>
          <p:nvPr/>
        </p:nvGrpSpPr>
        <p:grpSpPr>
          <a:xfrm>
            <a:off x="4356100" y="2828925"/>
            <a:ext cx="3960813" cy="2041832"/>
            <a:chOff x="2976" y="507"/>
            <a:chExt cx="2016" cy="1078"/>
          </a:xfrm>
        </p:grpSpPr>
        <p:sp>
          <p:nvSpPr>
            <p:cNvPr id="20519" name="Line 55"/>
            <p:cNvSpPr/>
            <p:nvPr/>
          </p:nvSpPr>
          <p:spPr>
            <a:xfrm>
              <a:off x="2976" y="1303"/>
              <a:ext cx="201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20" name="Line 56"/>
            <p:cNvSpPr/>
            <p:nvPr/>
          </p:nvSpPr>
          <p:spPr>
            <a:xfrm flipV="1">
              <a:off x="3737" y="507"/>
              <a:ext cx="0" cy="85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21" name="Text Box 57"/>
            <p:cNvSpPr txBox="1"/>
            <p:nvPr/>
          </p:nvSpPr>
          <p:spPr>
            <a:xfrm>
              <a:off x="3651" y="1309"/>
              <a:ext cx="184" cy="27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0522" name="Text Box 58"/>
            <p:cNvSpPr txBox="1"/>
            <p:nvPr/>
          </p:nvSpPr>
          <p:spPr>
            <a:xfrm>
              <a:off x="4804" y="1034"/>
              <a:ext cx="93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endParaRPr lang="en-US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2219" name="Group 59"/>
          <p:cNvGrpSpPr/>
          <p:nvPr/>
        </p:nvGrpSpPr>
        <p:grpSpPr>
          <a:xfrm>
            <a:off x="4572000" y="2682876"/>
            <a:ext cx="2592388" cy="1073149"/>
            <a:chOff x="3080" y="340"/>
            <a:chExt cx="1303" cy="676"/>
          </a:xfrm>
        </p:grpSpPr>
        <p:sp>
          <p:nvSpPr>
            <p:cNvPr id="20517" name="Freeform 60"/>
            <p:cNvSpPr/>
            <p:nvPr/>
          </p:nvSpPr>
          <p:spPr>
            <a:xfrm>
              <a:off x="3080" y="599"/>
              <a:ext cx="1303" cy="417"/>
            </a:xfrm>
            <a:custGeom>
              <a:avLst/>
              <a:gdLst/>
              <a:ahLst/>
              <a:cxnLst>
                <a:cxn ang="0">
                  <a:pos x="0" y="417"/>
                </a:cxn>
                <a:cxn ang="0">
                  <a:pos x="286" y="395"/>
                </a:cxn>
                <a:cxn ang="0">
                  <a:pos x="388" y="330"/>
                </a:cxn>
                <a:cxn ang="0">
                  <a:pos x="542" y="198"/>
                </a:cxn>
                <a:cxn ang="0">
                  <a:pos x="703" y="125"/>
                </a:cxn>
                <a:cxn ang="0">
                  <a:pos x="1127" y="88"/>
                </a:cxn>
                <a:cxn ang="0">
                  <a:pos x="1303" y="0"/>
                </a:cxn>
              </a:cxnLst>
              <a:pathLst>
                <a:path w="1303" h="417">
                  <a:moveTo>
                    <a:pt x="0" y="417"/>
                  </a:moveTo>
                  <a:cubicBezTo>
                    <a:pt x="110" y="413"/>
                    <a:pt x="221" y="409"/>
                    <a:pt x="286" y="395"/>
                  </a:cubicBezTo>
                  <a:cubicBezTo>
                    <a:pt x="351" y="381"/>
                    <a:pt x="345" y="363"/>
                    <a:pt x="388" y="330"/>
                  </a:cubicBezTo>
                  <a:cubicBezTo>
                    <a:pt x="431" y="297"/>
                    <a:pt x="490" y="232"/>
                    <a:pt x="542" y="198"/>
                  </a:cubicBezTo>
                  <a:cubicBezTo>
                    <a:pt x="594" y="164"/>
                    <a:pt x="606" y="143"/>
                    <a:pt x="703" y="125"/>
                  </a:cubicBezTo>
                  <a:cubicBezTo>
                    <a:pt x="800" y="107"/>
                    <a:pt x="1027" y="109"/>
                    <a:pt x="1127" y="88"/>
                  </a:cubicBezTo>
                  <a:cubicBezTo>
                    <a:pt x="1227" y="67"/>
                    <a:pt x="1274" y="15"/>
                    <a:pt x="1303" y="0"/>
                  </a:cubicBezTo>
                </a:path>
              </a:pathLst>
            </a:custGeom>
            <a:noFill/>
            <a:ln w="28575" cap="flat" cmpd="sng">
              <a:solidFill>
                <a:srgbClr val="FF99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8" name="Text Box 61"/>
            <p:cNvSpPr txBox="1"/>
            <p:nvPr/>
          </p:nvSpPr>
          <p:spPr>
            <a:xfrm>
              <a:off x="3861" y="340"/>
              <a:ext cx="31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f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92232" name="Group 72"/>
          <p:cNvGrpSpPr/>
          <p:nvPr/>
        </p:nvGrpSpPr>
        <p:grpSpPr>
          <a:xfrm>
            <a:off x="4779963" y="3333750"/>
            <a:ext cx="1089025" cy="647700"/>
            <a:chOff x="3147" y="1979"/>
            <a:chExt cx="686" cy="408"/>
          </a:xfrm>
        </p:grpSpPr>
        <p:sp>
          <p:nvSpPr>
            <p:cNvPr id="20515" name="Line 66"/>
            <p:cNvSpPr/>
            <p:nvPr/>
          </p:nvSpPr>
          <p:spPr>
            <a:xfrm>
              <a:off x="3198" y="2387"/>
              <a:ext cx="35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6" name="Freeform 67"/>
            <p:cNvSpPr/>
            <p:nvPr/>
          </p:nvSpPr>
          <p:spPr>
            <a:xfrm>
              <a:off x="3147" y="1979"/>
              <a:ext cx="686" cy="266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217" y="126"/>
                </a:cxn>
                <a:cxn ang="0">
                  <a:pos x="447" y="124"/>
                </a:cxn>
                <a:cxn ang="0">
                  <a:pos x="691" y="67"/>
                </a:cxn>
                <a:cxn ang="0">
                  <a:pos x="908" y="20"/>
                </a:cxn>
                <a:cxn ang="0">
                  <a:pos x="1108" y="0"/>
                </a:cxn>
              </a:cxnLst>
              <a:pathLst>
                <a:path w="654" h="285">
                  <a:moveTo>
                    <a:pt x="0" y="280"/>
                  </a:moveTo>
                  <a:cubicBezTo>
                    <a:pt x="21" y="278"/>
                    <a:pt x="84" y="274"/>
                    <a:pt x="128" y="271"/>
                  </a:cubicBezTo>
                  <a:cubicBezTo>
                    <a:pt x="172" y="268"/>
                    <a:pt x="217" y="285"/>
                    <a:pt x="264" y="264"/>
                  </a:cubicBezTo>
                  <a:cubicBezTo>
                    <a:pt x="311" y="243"/>
                    <a:pt x="364" y="181"/>
                    <a:pt x="409" y="144"/>
                  </a:cubicBezTo>
                  <a:cubicBezTo>
                    <a:pt x="454" y="107"/>
                    <a:pt x="496" y="68"/>
                    <a:pt x="537" y="44"/>
                  </a:cubicBezTo>
                  <a:cubicBezTo>
                    <a:pt x="578" y="20"/>
                    <a:pt x="630" y="9"/>
                    <a:pt x="654" y="0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31" name="Group 71"/>
          <p:cNvGrpSpPr/>
          <p:nvPr/>
        </p:nvGrpSpPr>
        <p:grpSpPr>
          <a:xfrm>
            <a:off x="5868988" y="3116263"/>
            <a:ext cx="1225550" cy="504825"/>
            <a:chOff x="3833" y="1842"/>
            <a:chExt cx="772" cy="318"/>
          </a:xfrm>
        </p:grpSpPr>
        <p:sp>
          <p:nvSpPr>
            <p:cNvPr id="20513" name="Line 69"/>
            <p:cNvSpPr/>
            <p:nvPr/>
          </p:nvSpPr>
          <p:spPr>
            <a:xfrm flipH="1">
              <a:off x="4195" y="2160"/>
              <a:ext cx="34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4" name="Freeform 70"/>
            <p:cNvSpPr/>
            <p:nvPr/>
          </p:nvSpPr>
          <p:spPr>
            <a:xfrm>
              <a:off x="3833" y="1842"/>
              <a:ext cx="772" cy="137"/>
            </a:xfrm>
            <a:custGeom>
              <a:avLst/>
              <a:gdLst/>
              <a:ahLst/>
              <a:cxnLst>
                <a:cxn ang="0">
                  <a:pos x="0" y="137"/>
                </a:cxn>
                <a:cxn ang="0">
                  <a:pos x="1560" y="118"/>
                </a:cxn>
                <a:cxn ang="0">
                  <a:pos x="3220" y="99"/>
                </a:cxn>
                <a:cxn ang="0">
                  <a:pos x="4880" y="0"/>
                </a:cxn>
              </a:cxnLst>
              <a:pathLst>
                <a:path w="642" h="137">
                  <a:moveTo>
                    <a:pt x="0" y="137"/>
                  </a:moveTo>
                  <a:cubicBezTo>
                    <a:pt x="34" y="134"/>
                    <a:pt x="134" y="124"/>
                    <a:pt x="205" y="118"/>
                  </a:cubicBezTo>
                  <a:cubicBezTo>
                    <a:pt x="276" y="112"/>
                    <a:pt x="351" y="119"/>
                    <a:pt x="424" y="99"/>
                  </a:cubicBezTo>
                  <a:cubicBezTo>
                    <a:pt x="497" y="79"/>
                    <a:pt x="597" y="21"/>
                    <a:pt x="642" y="0"/>
                  </a:cubicBezTo>
                </a:path>
              </a:pathLst>
            </a:custGeom>
            <a:noFill/>
            <a:ln w="28575" cap="flat" cmpd="sng">
              <a:solidFill>
                <a:srgbClr val="FFF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33" name="Group 73"/>
          <p:cNvGrpSpPr/>
          <p:nvPr/>
        </p:nvGrpSpPr>
        <p:grpSpPr>
          <a:xfrm>
            <a:off x="4481513" y="2095500"/>
            <a:ext cx="2111375" cy="1165225"/>
            <a:chOff x="2868" y="247"/>
            <a:chExt cx="1330" cy="734"/>
          </a:xfrm>
        </p:grpSpPr>
        <p:graphicFrame>
          <p:nvGraphicFramePr>
            <p:cNvPr id="20511" name="Object 74"/>
            <p:cNvGraphicFramePr>
              <a:graphicFrameLocks noChangeAspect="1"/>
            </p:cNvGraphicFramePr>
            <p:nvPr/>
          </p:nvGraphicFramePr>
          <p:xfrm>
            <a:off x="2868" y="247"/>
            <a:ext cx="133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6" imgW="888365" imgH="147955" progId="Equation.3">
                    <p:embed/>
                  </p:oleObj>
                </mc:Choice>
                <mc:Fallback>
                  <p:oleObj name="" r:id="rId6" imgW="888365" imgH="147955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68" y="247"/>
                          <a:ext cx="1330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2" name="Line 75"/>
            <p:cNvSpPr/>
            <p:nvPr/>
          </p:nvSpPr>
          <p:spPr>
            <a:xfrm>
              <a:off x="3424" y="572"/>
              <a:ext cx="272" cy="409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2236" name="Group 76"/>
          <p:cNvGrpSpPr/>
          <p:nvPr/>
        </p:nvGrpSpPr>
        <p:grpSpPr>
          <a:xfrm>
            <a:off x="4860925" y="3836988"/>
            <a:ext cx="1951038" cy="544512"/>
            <a:chOff x="3125" y="886"/>
            <a:chExt cx="1229" cy="343"/>
          </a:xfrm>
        </p:grpSpPr>
        <p:sp>
          <p:nvSpPr>
            <p:cNvPr id="20508" name="Line 77"/>
            <p:cNvSpPr/>
            <p:nvPr/>
          </p:nvSpPr>
          <p:spPr>
            <a:xfrm>
              <a:off x="3125" y="1193"/>
              <a:ext cx="60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9" name="Freeform 78"/>
            <p:cNvSpPr/>
            <p:nvPr/>
          </p:nvSpPr>
          <p:spPr>
            <a:xfrm>
              <a:off x="3739" y="907"/>
              <a:ext cx="615" cy="3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7" y="176"/>
                </a:cxn>
                <a:cxn ang="0">
                  <a:pos x="359" y="286"/>
                </a:cxn>
                <a:cxn ang="0">
                  <a:pos x="615" y="322"/>
                </a:cxn>
              </a:cxnLst>
              <a:pathLst>
                <a:path w="615" h="322">
                  <a:moveTo>
                    <a:pt x="0" y="0"/>
                  </a:moveTo>
                  <a:cubicBezTo>
                    <a:pt x="28" y="64"/>
                    <a:pt x="57" y="128"/>
                    <a:pt x="117" y="176"/>
                  </a:cubicBezTo>
                  <a:cubicBezTo>
                    <a:pt x="177" y="224"/>
                    <a:pt x="276" y="262"/>
                    <a:pt x="359" y="286"/>
                  </a:cubicBezTo>
                  <a:cubicBezTo>
                    <a:pt x="442" y="310"/>
                    <a:pt x="572" y="316"/>
                    <a:pt x="615" y="322"/>
                  </a:cubicBezTo>
                </a:path>
              </a:pathLst>
            </a:custGeom>
            <a:noFill/>
            <a:ln w="3810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0" name="Line 79"/>
            <p:cNvSpPr/>
            <p:nvPr/>
          </p:nvSpPr>
          <p:spPr>
            <a:xfrm flipH="1" flipV="1">
              <a:off x="3725" y="886"/>
              <a:ext cx="1" cy="29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2240" name="Text Box 80"/>
          <p:cNvSpPr txBox="1"/>
          <p:nvPr/>
        </p:nvSpPr>
        <p:spPr>
          <a:xfrm>
            <a:off x="5154296" y="4340384"/>
            <a:ext cx="803910" cy="521970"/>
          </a:xfrm>
          <a:prstGeom prst="rect">
            <a:avLst/>
          </a:prstGeom>
          <a:noFill/>
          <a:ln w="25400">
            <a:noFill/>
          </a:ln>
        </p:spPr>
        <p:txBody>
          <a:bodyPr wrap="none" lIns="198000" rIns="198000" anchor="ctr" anchorCtr="0">
            <a:spAutoFit/>
          </a:bodyPr>
          <a:p>
            <a:pPr algn="ctr"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endParaRPr lang="zh-CN" altLang="en-US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2241" name="Text Box 81"/>
          <p:cNvSpPr txBox="1"/>
          <p:nvPr/>
        </p:nvSpPr>
        <p:spPr>
          <a:xfrm>
            <a:off x="5724525" y="4340384"/>
            <a:ext cx="1079500" cy="521970"/>
          </a:xfrm>
          <a:prstGeom prst="rect">
            <a:avLst/>
          </a:prstGeom>
          <a:noFill/>
          <a:ln w="25400">
            <a:noFill/>
          </a:ln>
        </p:spPr>
        <p:txBody>
          <a:bodyPr lIns="198000" rIns="198000" anchor="ctr" anchorCtr="0">
            <a:spAutoFit/>
          </a:bodyPr>
          <a:p>
            <a:pPr algn="ctr"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endParaRPr lang="zh-CN" altLang="en-US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2242" name="Group 82"/>
          <p:cNvGrpSpPr/>
          <p:nvPr/>
        </p:nvGrpSpPr>
        <p:grpSpPr>
          <a:xfrm>
            <a:off x="6011863" y="3716338"/>
            <a:ext cx="2881312" cy="531812"/>
            <a:chOff x="3787" y="1019"/>
            <a:chExt cx="1818" cy="287"/>
          </a:xfrm>
        </p:grpSpPr>
        <p:graphicFrame>
          <p:nvGraphicFramePr>
            <p:cNvPr id="20506" name="Object 83"/>
            <p:cNvGraphicFramePr>
              <a:graphicFrameLocks noChangeAspect="1"/>
            </p:cNvGraphicFramePr>
            <p:nvPr/>
          </p:nvGraphicFramePr>
          <p:xfrm>
            <a:off x="4275" y="1019"/>
            <a:ext cx="133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8" imgW="888365" imgH="147955" progId="Equation.3">
                    <p:embed/>
                  </p:oleObj>
                </mc:Choice>
                <mc:Fallback>
                  <p:oleObj name="" r:id="rId8" imgW="888365" imgH="14795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75" y="1019"/>
                          <a:ext cx="1330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Line 84"/>
            <p:cNvSpPr/>
            <p:nvPr/>
          </p:nvSpPr>
          <p:spPr>
            <a:xfrm flipH="1">
              <a:off x="3787" y="1117"/>
              <a:ext cx="545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2245" name="Text Box 85"/>
          <p:cNvSpPr txBox="1"/>
          <p:nvPr/>
        </p:nvSpPr>
        <p:spPr>
          <a:xfrm>
            <a:off x="8027988" y="4292600"/>
            <a:ext cx="431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endParaRPr lang="en-US" altLang="zh-CN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2162" grpId="0" animBg="1"/>
      <p:bldP spid="92165" grpId="0" build="p"/>
      <p:bldP spid="92166" grpId="0" build="p"/>
      <p:bldP spid="92167" grpId="0" build="p"/>
      <p:bldP spid="92171" grpId="0"/>
      <p:bldP spid="92240" grpId="0" build="p"/>
      <p:bldP spid="92241" grpId="0" build="p"/>
      <p:bldP spid="922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Text Box 2"/>
          <p:cNvSpPr txBox="1"/>
          <p:nvPr/>
        </p:nvSpPr>
        <p:spPr>
          <a:xfrm>
            <a:off x="1116013" y="472758"/>
            <a:ext cx="7704137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图示为电容放电电路，电容原先带有电压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求开关闭合后电容电压随时间的变化。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1139" name="Text Box 3"/>
          <p:cNvSpPr txBox="1"/>
          <p:nvPr/>
        </p:nvSpPr>
        <p:spPr>
          <a:xfrm>
            <a:off x="468313" y="618649"/>
            <a:ext cx="576262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1164" name="Text Box 28"/>
          <p:cNvSpPr txBox="1"/>
          <p:nvPr/>
        </p:nvSpPr>
        <p:spPr>
          <a:xfrm>
            <a:off x="468313" y="1698784"/>
            <a:ext cx="576262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1165" name="Object 29"/>
          <p:cNvGraphicFramePr>
            <a:graphicFrameLocks noChangeAspect="1"/>
          </p:cNvGraphicFramePr>
          <p:nvPr/>
        </p:nvGraphicFramePr>
        <p:xfrm>
          <a:off x="1908175" y="2205038"/>
          <a:ext cx="27051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975360" imgH="382905" progId="Equation.3">
                  <p:embed/>
                </p:oleObj>
              </mc:Choice>
              <mc:Fallback>
                <p:oleObj name="" r:id="rId1" imgW="975360" imgH="38290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2205038"/>
                        <a:ext cx="2705100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66" name="Object 30"/>
          <p:cNvGraphicFramePr>
            <a:graphicFrameLocks noChangeAspect="1"/>
          </p:cNvGraphicFramePr>
          <p:nvPr/>
        </p:nvGraphicFramePr>
        <p:xfrm>
          <a:off x="1635125" y="1628775"/>
          <a:ext cx="35671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1193165" imgH="147955" progId="Equation.3">
                  <p:embed/>
                </p:oleObj>
              </mc:Choice>
              <mc:Fallback>
                <p:oleObj name="" r:id="rId3" imgW="1193165" imgH="14795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35125" y="1628775"/>
                        <a:ext cx="3567113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67" name="AutoShape 31"/>
          <p:cNvSpPr/>
          <p:nvPr/>
        </p:nvSpPr>
        <p:spPr>
          <a:xfrm>
            <a:off x="1116013" y="2636838"/>
            <a:ext cx="649287" cy="142875"/>
          </a:xfrm>
          <a:prstGeom prst="rightArrow">
            <a:avLst>
              <a:gd name="adj1" fmla="val 50000"/>
              <a:gd name="adj2" fmla="val 11361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1168" name="Text Box 32"/>
          <p:cNvSpPr txBox="1"/>
          <p:nvPr/>
        </p:nvSpPr>
        <p:spPr>
          <a:xfrm>
            <a:off x="395288" y="3284538"/>
            <a:ext cx="24495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特征根方程：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1169" name="Object 33"/>
          <p:cNvGraphicFramePr>
            <a:graphicFrameLocks noChangeAspect="1"/>
          </p:cNvGraphicFramePr>
          <p:nvPr/>
        </p:nvGraphicFramePr>
        <p:xfrm>
          <a:off x="2641600" y="3357563"/>
          <a:ext cx="19764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714375" imgH="139065" progId="Equation.3">
                  <p:embed/>
                </p:oleObj>
              </mc:Choice>
              <mc:Fallback>
                <p:oleObj name="" r:id="rId5" imgW="714375" imgH="13906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41600" y="3357563"/>
                        <a:ext cx="197643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0" name="Object 34"/>
          <p:cNvGraphicFramePr>
            <a:graphicFrameLocks noChangeAspect="1"/>
          </p:cNvGraphicFramePr>
          <p:nvPr/>
        </p:nvGraphicFramePr>
        <p:xfrm>
          <a:off x="6011863" y="3284538"/>
          <a:ext cx="19446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696595" imgH="147955" progId="Equation.3">
                  <p:embed/>
                </p:oleObj>
              </mc:Choice>
              <mc:Fallback>
                <p:oleObj name="" r:id="rId7" imgW="696595" imgH="14795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1863" y="3284538"/>
                        <a:ext cx="1944687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71" name="AutoShape 35"/>
          <p:cNvSpPr/>
          <p:nvPr/>
        </p:nvSpPr>
        <p:spPr>
          <a:xfrm>
            <a:off x="5219700" y="3500438"/>
            <a:ext cx="576263" cy="144462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1172" name="Text Box 36"/>
          <p:cNvSpPr txBox="1"/>
          <p:nvPr/>
        </p:nvSpPr>
        <p:spPr>
          <a:xfrm>
            <a:off x="971550" y="4005263"/>
            <a:ext cx="18716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通解：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1173" name="Object 37"/>
          <p:cNvGraphicFramePr>
            <a:graphicFrameLocks noChangeAspect="1"/>
          </p:cNvGraphicFramePr>
          <p:nvPr/>
        </p:nvGraphicFramePr>
        <p:xfrm>
          <a:off x="3348038" y="4652963"/>
          <a:ext cx="11525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382905" imgH="147955" progId="Equation.3">
                  <p:embed/>
                </p:oleObj>
              </mc:Choice>
              <mc:Fallback>
                <p:oleObj name="" r:id="rId9" imgW="382905" imgH="14795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4652963"/>
                        <a:ext cx="1152525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4" name="Object 38"/>
          <p:cNvGraphicFramePr>
            <a:graphicFrameLocks noChangeAspect="1"/>
          </p:cNvGraphicFramePr>
          <p:nvPr/>
        </p:nvGraphicFramePr>
        <p:xfrm>
          <a:off x="2411413" y="3716338"/>
          <a:ext cx="35290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1167130" imgH="252730" progId="Equation.3">
                  <p:embed/>
                </p:oleObj>
              </mc:Choice>
              <mc:Fallback>
                <p:oleObj name="" r:id="rId11" imgW="1167130" imgH="25273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3716338"/>
                        <a:ext cx="3529012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75" name="AutoShape 39"/>
          <p:cNvSpPr/>
          <p:nvPr/>
        </p:nvSpPr>
        <p:spPr>
          <a:xfrm>
            <a:off x="4859338" y="4868863"/>
            <a:ext cx="649287" cy="144462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1176" name="Text Box 40"/>
          <p:cNvSpPr txBox="1"/>
          <p:nvPr/>
        </p:nvSpPr>
        <p:spPr>
          <a:xfrm>
            <a:off x="395288" y="4652963"/>
            <a:ext cx="33115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代入初始条件得：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1177" name="Object 41"/>
          <p:cNvGraphicFramePr>
            <a:graphicFrameLocks noChangeAspect="1"/>
          </p:cNvGraphicFramePr>
          <p:nvPr/>
        </p:nvGraphicFramePr>
        <p:xfrm>
          <a:off x="5580063" y="4292600"/>
          <a:ext cx="25209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853440" imgH="252730" progId="Equation.3">
                  <p:embed/>
                </p:oleObj>
              </mc:Choice>
              <mc:Fallback>
                <p:oleObj name="" r:id="rId13" imgW="853440" imgH="25273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4292600"/>
                        <a:ext cx="2520950" cy="900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78" name="Text Box 42"/>
          <p:cNvSpPr txBox="1"/>
          <p:nvPr/>
        </p:nvSpPr>
        <p:spPr>
          <a:xfrm>
            <a:off x="1908175" y="5297171"/>
            <a:ext cx="6553200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在动态电路分析中，初始条件是得到确定解答的必需条件。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1191" name="Group 55"/>
          <p:cNvGrpSpPr/>
          <p:nvPr/>
        </p:nvGrpSpPr>
        <p:grpSpPr>
          <a:xfrm>
            <a:off x="323850" y="5300663"/>
            <a:ext cx="1643063" cy="850900"/>
            <a:chOff x="385" y="3022"/>
            <a:chExt cx="1035" cy="536"/>
          </a:xfrm>
        </p:grpSpPr>
        <p:pic>
          <p:nvPicPr>
            <p:cNvPr id="21552" name="Picture 56" descr="12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53" name="Text Box 57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明确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91194" name="Group 58"/>
          <p:cNvGrpSpPr/>
          <p:nvPr/>
        </p:nvGrpSpPr>
        <p:grpSpPr>
          <a:xfrm>
            <a:off x="5795963" y="1314450"/>
            <a:ext cx="2736850" cy="1827213"/>
            <a:chOff x="2653" y="754"/>
            <a:chExt cx="1724" cy="1151"/>
          </a:xfrm>
        </p:grpSpPr>
        <p:sp>
          <p:nvSpPr>
            <p:cNvPr id="21530" name="Line 59"/>
            <p:cNvSpPr/>
            <p:nvPr/>
          </p:nvSpPr>
          <p:spPr>
            <a:xfrm>
              <a:off x="2699" y="1117"/>
              <a:ext cx="0" cy="7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1" name="Line 60"/>
            <p:cNvSpPr/>
            <p:nvPr/>
          </p:nvSpPr>
          <p:spPr>
            <a:xfrm>
              <a:off x="2699" y="1888"/>
              <a:ext cx="11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2" name="Line 61"/>
            <p:cNvSpPr/>
            <p:nvPr/>
          </p:nvSpPr>
          <p:spPr>
            <a:xfrm>
              <a:off x="3878" y="1525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3" name="Line 62"/>
            <p:cNvSpPr/>
            <p:nvPr/>
          </p:nvSpPr>
          <p:spPr>
            <a:xfrm flipH="1">
              <a:off x="3876" y="1117"/>
              <a:ext cx="2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4" name="Line 63"/>
            <p:cNvSpPr/>
            <p:nvPr/>
          </p:nvSpPr>
          <p:spPr>
            <a:xfrm>
              <a:off x="2699" y="1117"/>
              <a:ext cx="3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5" name="Line 64"/>
            <p:cNvSpPr/>
            <p:nvPr/>
          </p:nvSpPr>
          <p:spPr>
            <a:xfrm>
              <a:off x="3334" y="1117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6" name="Line 65"/>
            <p:cNvSpPr/>
            <p:nvPr/>
          </p:nvSpPr>
          <p:spPr>
            <a:xfrm>
              <a:off x="3061" y="935"/>
              <a:ext cx="223" cy="17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7" name="Line 66"/>
            <p:cNvSpPr/>
            <p:nvPr/>
          </p:nvSpPr>
          <p:spPr>
            <a:xfrm flipH="1">
              <a:off x="3198" y="890"/>
              <a:ext cx="223" cy="17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8" name="Text Box 67"/>
            <p:cNvSpPr txBox="1"/>
            <p:nvPr/>
          </p:nvSpPr>
          <p:spPr>
            <a:xfrm>
              <a:off x="2789" y="1344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1539" name="Text Box 68"/>
            <p:cNvSpPr txBox="1"/>
            <p:nvPr/>
          </p:nvSpPr>
          <p:spPr>
            <a:xfrm>
              <a:off x="3833" y="157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1540" name="Text Box 69"/>
            <p:cNvSpPr txBox="1"/>
            <p:nvPr/>
          </p:nvSpPr>
          <p:spPr>
            <a:xfrm>
              <a:off x="3833" y="1026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1541" name="Text Box 70"/>
            <p:cNvSpPr txBox="1"/>
            <p:nvPr/>
          </p:nvSpPr>
          <p:spPr>
            <a:xfrm>
              <a:off x="3470" y="1298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1542" name="Text Box 71"/>
            <p:cNvSpPr txBox="1"/>
            <p:nvPr/>
          </p:nvSpPr>
          <p:spPr>
            <a:xfrm>
              <a:off x="3515" y="1570"/>
              <a:ext cx="2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1543" name="Text Box 72"/>
            <p:cNvSpPr txBox="1"/>
            <p:nvPr/>
          </p:nvSpPr>
          <p:spPr>
            <a:xfrm>
              <a:off x="3969" y="1298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1544" name="Line 73"/>
            <p:cNvSpPr/>
            <p:nvPr/>
          </p:nvSpPr>
          <p:spPr>
            <a:xfrm>
              <a:off x="3787" y="1616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45" name="Text Box 74"/>
            <p:cNvSpPr txBox="1"/>
            <p:nvPr/>
          </p:nvSpPr>
          <p:spPr>
            <a:xfrm>
              <a:off x="3334" y="754"/>
              <a:ext cx="6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21546" name="Group 75"/>
            <p:cNvGrpSpPr/>
            <p:nvPr/>
          </p:nvGrpSpPr>
          <p:grpSpPr>
            <a:xfrm>
              <a:off x="3742" y="1434"/>
              <a:ext cx="240" cy="93"/>
              <a:chOff x="3787" y="2478"/>
              <a:chExt cx="240" cy="93"/>
            </a:xfrm>
          </p:grpSpPr>
          <p:sp>
            <p:nvSpPr>
              <p:cNvPr id="21550" name="Line 7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1" name="Line 7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47" name="Rectangle 78"/>
            <p:cNvSpPr/>
            <p:nvPr/>
          </p:nvSpPr>
          <p:spPr>
            <a:xfrm>
              <a:off x="2653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48" name="Oval 79"/>
            <p:cNvSpPr/>
            <p:nvPr/>
          </p:nvSpPr>
          <p:spPr>
            <a:xfrm>
              <a:off x="3288" y="107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49" name="Oval 80"/>
            <p:cNvSpPr/>
            <p:nvPr/>
          </p:nvSpPr>
          <p:spPr>
            <a:xfrm>
              <a:off x="3016" y="107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91138" grpId="0"/>
      <p:bldP spid="91139" grpId="0"/>
      <p:bldP spid="91164" grpId="0" animBg="1"/>
      <p:bldP spid="91167" grpId="0" animBg="1"/>
      <p:bldP spid="91168" grpId="0"/>
      <p:bldP spid="91171" grpId="0" animBg="1"/>
      <p:bldP spid="91172" grpId="0"/>
      <p:bldP spid="91175" grpId="0" animBg="1"/>
      <p:bldP spid="91176" grpId="0"/>
      <p:bldP spid="911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1004888" y="1254125"/>
          <a:ext cx="36385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219200" imgH="348615" progId="Equation.3">
                  <p:embed/>
                </p:oleObj>
              </mc:Choice>
              <mc:Fallback>
                <p:oleObj name="" r:id="rId1" imgW="1219200" imgH="34861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4888" y="1254125"/>
                        <a:ext cx="363855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1979613" y="2420938"/>
          <a:ext cx="4976812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1776730" imgH="348615" progId="Equation.3">
                  <p:embed/>
                </p:oleObj>
              </mc:Choice>
              <mc:Fallback>
                <p:oleObj name="" r:id="rId3" imgW="1776730" imgH="34861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2420938"/>
                        <a:ext cx="4976812" cy="1125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979613" y="3429000"/>
          <a:ext cx="4170362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1428115" imgH="348615" progId="Equation.3">
                  <p:embed/>
                </p:oleObj>
              </mc:Choice>
              <mc:Fallback>
                <p:oleObj name="" r:id="rId5" imgW="1428115" imgH="34861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3429000"/>
                        <a:ext cx="4170362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1" name="Text Box 9"/>
          <p:cNvSpPr txBox="1"/>
          <p:nvPr/>
        </p:nvSpPr>
        <p:spPr>
          <a:xfrm>
            <a:off x="615315" y="4722972"/>
            <a:ext cx="174117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0122" name="Object 10"/>
          <p:cNvGraphicFramePr>
            <a:graphicFrameLocks noChangeAspect="1"/>
          </p:cNvGraphicFramePr>
          <p:nvPr/>
        </p:nvGraphicFramePr>
        <p:xfrm>
          <a:off x="2587625" y="4492625"/>
          <a:ext cx="53086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7" imgW="1872615" imgH="348615" progId="Equation.3">
                  <p:embed/>
                </p:oleObj>
              </mc:Choice>
              <mc:Fallback>
                <p:oleObj name="" r:id="rId7" imgW="1872615" imgH="34861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87625" y="4492625"/>
                        <a:ext cx="5308600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125" name="Group 13"/>
          <p:cNvGrpSpPr/>
          <p:nvPr/>
        </p:nvGrpSpPr>
        <p:grpSpPr>
          <a:xfrm>
            <a:off x="5867400" y="692150"/>
            <a:ext cx="2006600" cy="1439863"/>
            <a:chOff x="591" y="538"/>
            <a:chExt cx="1111" cy="779"/>
          </a:xfrm>
        </p:grpSpPr>
        <p:sp>
          <p:nvSpPr>
            <p:cNvPr id="22550" name="Line 14"/>
            <p:cNvSpPr/>
            <p:nvPr/>
          </p:nvSpPr>
          <p:spPr>
            <a:xfrm>
              <a:off x="1363" y="920"/>
              <a:ext cx="269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1" name="Line 15"/>
            <p:cNvSpPr/>
            <p:nvPr/>
          </p:nvSpPr>
          <p:spPr>
            <a:xfrm>
              <a:off x="1363" y="1000"/>
              <a:ext cx="269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2" name="Line 16"/>
            <p:cNvSpPr/>
            <p:nvPr/>
          </p:nvSpPr>
          <p:spPr>
            <a:xfrm flipV="1">
              <a:off x="673" y="576"/>
              <a:ext cx="805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3" name="Line 17"/>
            <p:cNvSpPr/>
            <p:nvPr/>
          </p:nvSpPr>
          <p:spPr>
            <a:xfrm>
              <a:off x="636" y="1296"/>
              <a:ext cx="8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4" name="Line 18"/>
            <p:cNvSpPr/>
            <p:nvPr/>
          </p:nvSpPr>
          <p:spPr>
            <a:xfrm>
              <a:off x="785" y="615"/>
              <a:ext cx="236" cy="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55" name="Text Box 19"/>
            <p:cNvSpPr txBox="1"/>
            <p:nvPr/>
          </p:nvSpPr>
          <p:spPr>
            <a:xfrm>
              <a:off x="848" y="650"/>
              <a:ext cx="156" cy="28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2556" name="Text Box 20"/>
            <p:cNvSpPr txBox="1"/>
            <p:nvPr/>
          </p:nvSpPr>
          <p:spPr>
            <a:xfrm>
              <a:off x="1096" y="801"/>
              <a:ext cx="307" cy="282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2557" name="Line 21"/>
            <p:cNvSpPr/>
            <p:nvPr/>
          </p:nvSpPr>
          <p:spPr>
            <a:xfrm flipH="1">
              <a:off x="1440" y="1296"/>
              <a:ext cx="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8" name="Line 22"/>
            <p:cNvSpPr/>
            <p:nvPr/>
          </p:nvSpPr>
          <p:spPr>
            <a:xfrm>
              <a:off x="1488" y="1008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9" name="Line 23"/>
            <p:cNvSpPr/>
            <p:nvPr/>
          </p:nvSpPr>
          <p:spPr>
            <a:xfrm flipV="1">
              <a:off x="1488" y="576"/>
              <a:ext cx="0" cy="3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0" name="Text Box 24"/>
            <p:cNvSpPr txBox="1"/>
            <p:nvPr/>
          </p:nvSpPr>
          <p:spPr>
            <a:xfrm>
              <a:off x="1469" y="1011"/>
              <a:ext cx="233" cy="28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2561" name="Oval 25"/>
            <p:cNvSpPr/>
            <p:nvPr/>
          </p:nvSpPr>
          <p:spPr>
            <a:xfrm>
              <a:off x="591" y="538"/>
              <a:ext cx="72" cy="8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2" name="Oval 26"/>
            <p:cNvSpPr/>
            <p:nvPr/>
          </p:nvSpPr>
          <p:spPr>
            <a:xfrm>
              <a:off x="595" y="1235"/>
              <a:ext cx="72" cy="8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3" name="Text Box 27"/>
            <p:cNvSpPr txBox="1"/>
            <p:nvPr/>
          </p:nvSpPr>
          <p:spPr>
            <a:xfrm>
              <a:off x="1245" y="618"/>
              <a:ext cx="212" cy="28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2564" name="Text Box 28"/>
            <p:cNvSpPr txBox="1"/>
            <p:nvPr/>
          </p:nvSpPr>
          <p:spPr>
            <a:xfrm>
              <a:off x="1289" y="979"/>
              <a:ext cx="168" cy="28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0149" name="Text Box 37"/>
          <p:cNvSpPr txBox="1"/>
          <p:nvPr/>
        </p:nvSpPr>
        <p:spPr>
          <a:xfrm>
            <a:off x="611188" y="638334"/>
            <a:ext cx="3744912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电容的初始条件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90152" name="Group 40"/>
          <p:cNvGrpSpPr/>
          <p:nvPr/>
        </p:nvGrpSpPr>
        <p:grpSpPr>
          <a:xfrm>
            <a:off x="6300788" y="4078288"/>
            <a:ext cx="1366837" cy="1655762"/>
            <a:chOff x="3833" y="1525"/>
            <a:chExt cx="1043" cy="862"/>
          </a:xfrm>
        </p:grpSpPr>
        <p:sp>
          <p:nvSpPr>
            <p:cNvPr id="22548" name="Line 38"/>
            <p:cNvSpPr/>
            <p:nvPr/>
          </p:nvSpPr>
          <p:spPr>
            <a:xfrm flipV="1">
              <a:off x="3833" y="1752"/>
              <a:ext cx="771" cy="63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49" name="Text Box 39"/>
            <p:cNvSpPr txBox="1"/>
            <p:nvPr/>
          </p:nvSpPr>
          <p:spPr>
            <a:xfrm>
              <a:off x="4603" y="1525"/>
              <a:ext cx="273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sz="3200" b="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90172" name="Rectangle 60"/>
          <p:cNvSpPr/>
          <p:nvPr/>
        </p:nvSpPr>
        <p:spPr>
          <a:xfrm>
            <a:off x="685007" y="5515134"/>
            <a:ext cx="283845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当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)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为有限值时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0121" grpId="0" build="p"/>
      <p:bldP spid="90149" grpId="0" animBg="1"/>
      <p:bldP spid="9017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44" name="Text Box 24"/>
          <p:cNvSpPr txBox="1"/>
          <p:nvPr/>
        </p:nvSpPr>
        <p:spPr>
          <a:xfrm>
            <a:off x="2627313" y="1685608"/>
            <a:ext cx="3457575" cy="64516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q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q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3600" b="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7545" name="Text Box 25"/>
          <p:cNvSpPr txBox="1"/>
          <p:nvPr/>
        </p:nvSpPr>
        <p:spPr>
          <a:xfrm>
            <a:off x="2700338" y="729933"/>
            <a:ext cx="3384550" cy="64516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3600" b="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7546" name="Text Box 26"/>
          <p:cNvSpPr txBox="1"/>
          <p:nvPr/>
        </p:nvSpPr>
        <p:spPr>
          <a:xfrm>
            <a:off x="1187450" y="3138171"/>
            <a:ext cx="7200900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换路瞬间，若电容电流保持为有限值， 则电容电压（电荷）换路前后保持不变。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7551" name="Group 31"/>
          <p:cNvGrpSpPr/>
          <p:nvPr/>
        </p:nvGrpSpPr>
        <p:grpSpPr>
          <a:xfrm>
            <a:off x="901700" y="1482725"/>
            <a:ext cx="1477963" cy="649288"/>
            <a:chOff x="541" y="2613"/>
            <a:chExt cx="931" cy="409"/>
          </a:xfrm>
        </p:grpSpPr>
        <p:sp>
          <p:nvSpPr>
            <p:cNvPr id="23571" name="Text Box 32"/>
            <p:cNvSpPr txBox="1"/>
            <p:nvPr/>
          </p:nvSpPr>
          <p:spPr>
            <a:xfrm>
              <a:off x="541" y="2613"/>
              <a:ext cx="93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q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=C 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3572" name="Line 33"/>
            <p:cNvSpPr/>
            <p:nvPr/>
          </p:nvSpPr>
          <p:spPr>
            <a:xfrm>
              <a:off x="703" y="3022"/>
              <a:ext cx="635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07554" name="AutoShape 34" descr="羊皮纸"/>
          <p:cNvSpPr/>
          <p:nvPr/>
        </p:nvSpPr>
        <p:spPr>
          <a:xfrm>
            <a:off x="6948488" y="1052513"/>
            <a:ext cx="1079500" cy="1008062"/>
          </a:xfrm>
          <a:prstGeom prst="wedgeRoundRectCallout">
            <a:avLst>
              <a:gd name="adj1" fmla="val -134264"/>
              <a:gd name="adj2" fmla="val 49056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电荷守恒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7561" name="Group 41"/>
          <p:cNvGrpSpPr/>
          <p:nvPr/>
        </p:nvGrpSpPr>
        <p:grpSpPr>
          <a:xfrm>
            <a:off x="684213" y="2565400"/>
            <a:ext cx="1643063" cy="850900"/>
            <a:chOff x="385" y="3022"/>
            <a:chExt cx="1035" cy="536"/>
          </a:xfrm>
        </p:grpSpPr>
        <p:pic>
          <p:nvPicPr>
            <p:cNvPr id="23565" name="Picture 42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6" name="Text Box 43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07544" grpId="0" animBg="1"/>
      <p:bldP spid="107545" grpId="0" animBg="1"/>
      <p:bldP spid="107546" grpId="0"/>
      <p:bldP spid="1075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971550" y="1268413"/>
          <a:ext cx="36385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184275" imgH="348615" progId="Equation.3">
                  <p:embed/>
                </p:oleObj>
              </mc:Choice>
              <mc:Fallback>
                <p:oleObj name="" r:id="rId1" imgW="1184275" imgH="34861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268413"/>
                        <a:ext cx="3638550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1763713" y="2420938"/>
          <a:ext cx="515461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863725" imgH="348615" progId="Equation.3">
                  <p:embed/>
                </p:oleObj>
              </mc:Choice>
              <mc:Fallback>
                <p:oleObj name="" r:id="rId3" imgW="1863725" imgH="34861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2420938"/>
                        <a:ext cx="5154612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2484438" y="4581525"/>
          <a:ext cx="544988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1784985" imgH="348615" progId="Equation.3">
                  <p:embed/>
                </p:oleObj>
              </mc:Choice>
              <mc:Fallback>
                <p:oleObj name="" r:id="rId5" imgW="1784985" imgH="34861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4581525"/>
                        <a:ext cx="5449887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25" name="Text Box 37"/>
          <p:cNvSpPr txBox="1"/>
          <p:nvPr/>
        </p:nvSpPr>
        <p:spPr>
          <a:xfrm>
            <a:off x="831850" y="638334"/>
            <a:ext cx="3884613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电感的初始条件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9126" name="Text Box 38"/>
          <p:cNvSpPr txBox="1"/>
          <p:nvPr/>
        </p:nvSpPr>
        <p:spPr>
          <a:xfrm>
            <a:off x="615633" y="5011897"/>
            <a:ext cx="1683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9127" name="Group 39"/>
          <p:cNvGrpSpPr/>
          <p:nvPr/>
        </p:nvGrpSpPr>
        <p:grpSpPr>
          <a:xfrm>
            <a:off x="6227763" y="4292600"/>
            <a:ext cx="1439862" cy="1657350"/>
            <a:chOff x="3833" y="1525"/>
            <a:chExt cx="1043" cy="862"/>
          </a:xfrm>
        </p:grpSpPr>
        <p:sp>
          <p:nvSpPr>
            <p:cNvPr id="24613" name="Line 40"/>
            <p:cNvSpPr/>
            <p:nvPr/>
          </p:nvSpPr>
          <p:spPr>
            <a:xfrm flipV="1">
              <a:off x="3833" y="1752"/>
              <a:ext cx="771" cy="63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4" name="Text Box 41"/>
            <p:cNvSpPr txBox="1"/>
            <p:nvPr/>
          </p:nvSpPr>
          <p:spPr>
            <a:xfrm>
              <a:off x="4603" y="1525"/>
              <a:ext cx="273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sz="3200" b="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89130" name="Object 42"/>
          <p:cNvGraphicFramePr>
            <a:graphicFrameLocks noChangeAspect="1"/>
          </p:cNvGraphicFramePr>
          <p:nvPr/>
        </p:nvGraphicFramePr>
        <p:xfrm>
          <a:off x="1835150" y="3573463"/>
          <a:ext cx="41036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1393190" imgH="348615" progId="Equation.3">
                  <p:embed/>
                </p:oleObj>
              </mc:Choice>
              <mc:Fallback>
                <p:oleObj name="" r:id="rId7" imgW="1393190" imgH="34861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3573463"/>
                        <a:ext cx="4103688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53" name="Rectangle 65"/>
          <p:cNvSpPr/>
          <p:nvPr/>
        </p:nvSpPr>
        <p:spPr>
          <a:xfrm>
            <a:off x="683895" y="5732622"/>
            <a:ext cx="25057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当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为有限值时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9154" name="Group 66"/>
          <p:cNvGrpSpPr/>
          <p:nvPr/>
        </p:nvGrpSpPr>
        <p:grpSpPr>
          <a:xfrm>
            <a:off x="5724525" y="765175"/>
            <a:ext cx="2254250" cy="1439863"/>
            <a:chOff x="3515" y="1026"/>
            <a:chExt cx="1420" cy="907"/>
          </a:xfrm>
        </p:grpSpPr>
        <p:sp>
          <p:nvSpPr>
            <p:cNvPr id="24592" name="Line 67"/>
            <p:cNvSpPr/>
            <p:nvPr/>
          </p:nvSpPr>
          <p:spPr>
            <a:xfrm>
              <a:off x="3608" y="1067"/>
              <a:ext cx="10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3" name="Line 68"/>
            <p:cNvSpPr/>
            <p:nvPr/>
          </p:nvSpPr>
          <p:spPr>
            <a:xfrm>
              <a:off x="3608" y="1904"/>
              <a:ext cx="10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4" name="Line 69"/>
            <p:cNvSpPr/>
            <p:nvPr/>
          </p:nvSpPr>
          <p:spPr>
            <a:xfrm>
              <a:off x="3763" y="1144"/>
              <a:ext cx="28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95" name="Text Box 70"/>
            <p:cNvSpPr txBox="1"/>
            <p:nvPr/>
          </p:nvSpPr>
          <p:spPr>
            <a:xfrm>
              <a:off x="3787" y="1070"/>
              <a:ext cx="36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4596" name="Text Box 71"/>
            <p:cNvSpPr txBox="1"/>
            <p:nvPr/>
          </p:nvSpPr>
          <p:spPr>
            <a:xfrm>
              <a:off x="4200" y="134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4597" name="Text Box 72"/>
            <p:cNvSpPr txBox="1"/>
            <p:nvPr/>
          </p:nvSpPr>
          <p:spPr>
            <a:xfrm>
              <a:off x="4695" y="1252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4598" name="Oval 73"/>
            <p:cNvSpPr/>
            <p:nvPr/>
          </p:nvSpPr>
          <p:spPr>
            <a:xfrm>
              <a:off x="3515" y="1852"/>
              <a:ext cx="84" cy="8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99" name="Oval 74"/>
            <p:cNvSpPr/>
            <p:nvPr/>
          </p:nvSpPr>
          <p:spPr>
            <a:xfrm>
              <a:off x="3515" y="1026"/>
              <a:ext cx="84" cy="8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00" name="Line 75"/>
            <p:cNvSpPr/>
            <p:nvPr/>
          </p:nvSpPr>
          <p:spPr>
            <a:xfrm>
              <a:off x="4610" y="1061"/>
              <a:ext cx="0" cy="1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1" name="Line 76"/>
            <p:cNvSpPr/>
            <p:nvPr/>
          </p:nvSpPr>
          <p:spPr>
            <a:xfrm flipV="1">
              <a:off x="4599" y="1616"/>
              <a:ext cx="5" cy="29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Text Box 77"/>
            <p:cNvSpPr txBox="1"/>
            <p:nvPr/>
          </p:nvSpPr>
          <p:spPr>
            <a:xfrm>
              <a:off x="4289" y="1085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4603" name="Text Box 78"/>
            <p:cNvSpPr txBox="1"/>
            <p:nvPr/>
          </p:nvSpPr>
          <p:spPr>
            <a:xfrm>
              <a:off x="4294" y="159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04" name="Text Box 79"/>
            <p:cNvSpPr txBox="1"/>
            <p:nvPr/>
          </p:nvSpPr>
          <p:spPr>
            <a:xfrm>
              <a:off x="4363" y="1401"/>
              <a:ext cx="116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endParaRPr lang="en-US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4605" name="Group 80"/>
            <p:cNvGrpSpPr/>
            <p:nvPr/>
          </p:nvGrpSpPr>
          <p:grpSpPr>
            <a:xfrm>
              <a:off x="4604" y="1253"/>
              <a:ext cx="91" cy="363"/>
              <a:chOff x="2744" y="2931"/>
              <a:chExt cx="57" cy="283"/>
            </a:xfrm>
          </p:grpSpPr>
          <p:sp>
            <p:nvSpPr>
              <p:cNvPr id="24606" name="Arc 8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07" name="Arc 8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08" name="Arc 8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9125" grpId="0" animBg="1"/>
      <p:bldP spid="89126" grpId="0" build="p"/>
      <p:bldP spid="8915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50" name="Text Box 6"/>
          <p:cNvSpPr txBox="1"/>
          <p:nvPr/>
        </p:nvSpPr>
        <p:spPr>
          <a:xfrm>
            <a:off x="2787015" y="1555433"/>
            <a:ext cx="3322320" cy="64516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3600" b="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8551" name="Text Box 7"/>
          <p:cNvSpPr txBox="1"/>
          <p:nvPr/>
        </p:nvSpPr>
        <p:spPr>
          <a:xfrm>
            <a:off x="2771775" y="763270"/>
            <a:ext cx="3240088" cy="64516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6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3600" b="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8594" name="Group 50"/>
          <p:cNvGrpSpPr/>
          <p:nvPr/>
        </p:nvGrpSpPr>
        <p:grpSpPr>
          <a:xfrm>
            <a:off x="971550" y="1484313"/>
            <a:ext cx="1296988" cy="647700"/>
            <a:chOff x="431" y="391"/>
            <a:chExt cx="817" cy="408"/>
          </a:xfrm>
        </p:grpSpPr>
        <p:graphicFrame>
          <p:nvGraphicFramePr>
            <p:cNvPr id="25619" name="Object 37"/>
            <p:cNvGraphicFramePr>
              <a:graphicFrameLocks noChangeAspect="1"/>
            </p:cNvGraphicFramePr>
            <p:nvPr/>
          </p:nvGraphicFramePr>
          <p:xfrm>
            <a:off x="431" y="391"/>
            <a:ext cx="77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" imgW="443865" imgH="147955" progId="Equation.3">
                    <p:embed/>
                  </p:oleObj>
                </mc:Choice>
                <mc:Fallback>
                  <p:oleObj name="" r:id="rId1" imgW="443865" imgH="147955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" y="391"/>
                          <a:ext cx="771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Line 38"/>
            <p:cNvSpPr/>
            <p:nvPr/>
          </p:nvSpPr>
          <p:spPr>
            <a:xfrm>
              <a:off x="431" y="799"/>
              <a:ext cx="817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08583" name="AutoShape 39" descr="羊皮纸"/>
          <p:cNvSpPr/>
          <p:nvPr/>
        </p:nvSpPr>
        <p:spPr>
          <a:xfrm>
            <a:off x="7235825" y="765175"/>
            <a:ext cx="1079500" cy="1008063"/>
          </a:xfrm>
          <a:prstGeom prst="wedgeRoundRectCallout">
            <a:avLst>
              <a:gd name="adj1" fmla="val -159560"/>
              <a:gd name="adj2" fmla="val 38347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磁链守恒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8584" name="Text Box 40"/>
          <p:cNvSpPr txBox="1"/>
          <p:nvPr/>
        </p:nvSpPr>
        <p:spPr>
          <a:xfrm>
            <a:off x="1116013" y="3065146"/>
            <a:ext cx="7272337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换路瞬间，若电感电压保持为有限值， 则电感电流（磁链）换路前后保持不变。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08591" name="Group 47"/>
          <p:cNvGrpSpPr/>
          <p:nvPr/>
        </p:nvGrpSpPr>
        <p:grpSpPr>
          <a:xfrm>
            <a:off x="900113" y="2349500"/>
            <a:ext cx="1643063" cy="850900"/>
            <a:chOff x="385" y="3022"/>
            <a:chExt cx="1035" cy="536"/>
          </a:xfrm>
        </p:grpSpPr>
        <p:pic>
          <p:nvPicPr>
            <p:cNvPr id="25613" name="Picture 48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4" name="Text Box 49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08550" grpId="0" animBg="1"/>
      <p:bldP spid="108551" grpId="0" animBg="1"/>
      <p:bldP spid="108583" grpId="0" animBg="1"/>
      <p:bldP spid="10858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8083" name="Group 19"/>
          <p:cNvGrpSpPr/>
          <p:nvPr/>
        </p:nvGrpSpPr>
        <p:grpSpPr>
          <a:xfrm>
            <a:off x="539750" y="2851151"/>
            <a:ext cx="2898775" cy="1304924"/>
            <a:chOff x="340" y="1660"/>
            <a:chExt cx="1826" cy="822"/>
          </a:xfrm>
        </p:grpSpPr>
        <p:sp>
          <p:nvSpPr>
            <p:cNvPr id="26648" name="Text Box 5"/>
            <p:cNvSpPr txBox="1"/>
            <p:nvPr/>
          </p:nvSpPr>
          <p:spPr>
            <a:xfrm>
              <a:off x="458" y="1660"/>
              <a:ext cx="170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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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20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6649" name="Text Box 6"/>
            <p:cNvSpPr txBox="1"/>
            <p:nvPr/>
          </p:nvSpPr>
          <p:spPr>
            <a:xfrm>
              <a:off x="488" y="2114"/>
              <a:ext cx="144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20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6650" name="AutoShape 7"/>
            <p:cNvSpPr/>
            <p:nvPr/>
          </p:nvSpPr>
          <p:spPr>
            <a:xfrm>
              <a:off x="340" y="1842"/>
              <a:ext cx="91" cy="590"/>
            </a:xfrm>
            <a:prstGeom prst="leftBrace">
              <a:avLst>
                <a:gd name="adj1" fmla="val 54029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8081" name="Group 17"/>
          <p:cNvGrpSpPr/>
          <p:nvPr/>
        </p:nvGrpSpPr>
        <p:grpSpPr>
          <a:xfrm>
            <a:off x="539750" y="1266826"/>
            <a:ext cx="2971800" cy="1231899"/>
            <a:chOff x="340" y="708"/>
            <a:chExt cx="1872" cy="776"/>
          </a:xfrm>
        </p:grpSpPr>
        <p:sp>
          <p:nvSpPr>
            <p:cNvPr id="26645" name="Text Box 9"/>
            <p:cNvSpPr txBox="1"/>
            <p:nvPr/>
          </p:nvSpPr>
          <p:spPr>
            <a:xfrm>
              <a:off x="432" y="708"/>
              <a:ext cx="171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q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q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6646" name="Text Box 10"/>
            <p:cNvSpPr txBox="1"/>
            <p:nvPr/>
          </p:nvSpPr>
          <p:spPr>
            <a:xfrm>
              <a:off x="469" y="1116"/>
              <a:ext cx="174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 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20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6647" name="AutoShape 11"/>
            <p:cNvSpPr/>
            <p:nvPr/>
          </p:nvSpPr>
          <p:spPr>
            <a:xfrm>
              <a:off x="340" y="845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8076" name="Rectangle 12"/>
          <p:cNvSpPr/>
          <p:nvPr/>
        </p:nvSpPr>
        <p:spPr>
          <a:xfrm>
            <a:off x="611188" y="633571"/>
            <a:ext cx="2933700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34000" rIns="198000" anchor="ctr" anchorCtr="0">
            <a:spAutoFit/>
          </a:bodyPr>
          <a:p>
            <a:pPr marL="342900" indent="-342900" eaLnBrk="1" hangingPunct="1">
              <a:buAutoNum type="circleNumDbPlain" startAt="4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换路定律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8077" name="Text Box 13"/>
          <p:cNvSpPr txBox="1"/>
          <p:nvPr/>
        </p:nvSpPr>
        <p:spPr>
          <a:xfrm>
            <a:off x="1835150" y="4347846"/>
            <a:ext cx="7058025" cy="112458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电容电流和电感电压为有限值是换路定律成立的条件。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8079" name="Text Box 15"/>
          <p:cNvSpPr txBox="1"/>
          <p:nvPr/>
        </p:nvSpPr>
        <p:spPr>
          <a:xfrm>
            <a:off x="3627438" y="2718594"/>
            <a:ext cx="5192712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换路瞬间，若电感电压保持为有限值，则电感电流（磁链）换路前后保持不变。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8080" name="Text Box 16"/>
          <p:cNvSpPr txBox="1"/>
          <p:nvPr/>
        </p:nvSpPr>
        <p:spPr>
          <a:xfrm>
            <a:off x="3563938" y="1191419"/>
            <a:ext cx="5329237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换路瞬间，若电容电流保持为有限值，则电容电压（电荷）换路前后保持不变。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8082" name="Text Box 18"/>
          <p:cNvSpPr txBox="1"/>
          <p:nvPr/>
        </p:nvSpPr>
        <p:spPr>
          <a:xfrm>
            <a:off x="1835150" y="5515134"/>
            <a:ext cx="6048375" cy="52197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换路定律反映了能量不能跃变。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8096" name="Group 32"/>
          <p:cNvGrpSpPr/>
          <p:nvPr/>
        </p:nvGrpSpPr>
        <p:grpSpPr>
          <a:xfrm>
            <a:off x="323850" y="4292600"/>
            <a:ext cx="1643063" cy="850900"/>
            <a:chOff x="385" y="3022"/>
            <a:chExt cx="1035" cy="536"/>
          </a:xfrm>
        </p:grpSpPr>
        <p:pic>
          <p:nvPicPr>
            <p:cNvPr id="26639" name="Picture 33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0" name="Text Box 34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8076" grpId="0" animBg="1"/>
      <p:bldP spid="88077" grpId="0" build="p"/>
      <p:bldP spid="88079" grpId="0"/>
      <p:bldP spid="88080" grpId="0"/>
      <p:bldP spid="8808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4" name="Text Box 4"/>
          <p:cNvSpPr txBox="1"/>
          <p:nvPr/>
        </p:nvSpPr>
        <p:spPr>
          <a:xfrm>
            <a:off x="468630" y="562293"/>
            <a:ext cx="8274050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198000" rIns="198000"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5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电路初始值的确定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一开始开关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闭合开关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098" name="Text Box 58"/>
          <p:cNvSpPr txBox="1"/>
          <p:nvPr/>
        </p:nvSpPr>
        <p:spPr>
          <a:xfrm>
            <a:off x="468313" y="1266349"/>
            <a:ext cx="1296987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124" name="Text Box 84"/>
          <p:cNvSpPr txBox="1"/>
          <p:nvPr/>
        </p:nvSpPr>
        <p:spPr>
          <a:xfrm>
            <a:off x="1340009" y="1266984"/>
            <a:ext cx="15157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8085" y="1845310"/>
            <a:ext cx="7185025" cy="465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87044" grpId="0" animBg="1"/>
      <p:bldP spid="87098" grpId="0"/>
      <p:bldP spid="871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7" name="Text Box 7"/>
          <p:cNvSpPr txBox="1"/>
          <p:nvPr/>
        </p:nvSpPr>
        <p:spPr>
          <a:xfrm>
            <a:off x="4623435" y="4499134"/>
            <a:ext cx="24733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由换路定律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048" name="Rectangle 8"/>
          <p:cNvSpPr/>
          <p:nvPr/>
        </p:nvSpPr>
        <p:spPr>
          <a:xfrm>
            <a:off x="4839335" y="4930299"/>
            <a:ext cx="381635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)=8V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071" name="Text Box 31"/>
          <p:cNvSpPr txBox="1"/>
          <p:nvPr/>
        </p:nvSpPr>
        <p:spPr>
          <a:xfrm>
            <a:off x="4623118" y="1198086"/>
            <a:ext cx="35909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电路求 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089" name="Text Box 49"/>
          <p:cNvSpPr txBox="1"/>
          <p:nvPr/>
        </p:nvSpPr>
        <p:spPr>
          <a:xfrm>
            <a:off x="5075555" y="3429477"/>
            <a:ext cx="208915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)=8V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098" name="Text Box 58"/>
          <p:cNvSpPr txBox="1"/>
          <p:nvPr/>
        </p:nvSpPr>
        <p:spPr>
          <a:xfrm>
            <a:off x="468313" y="1266349"/>
            <a:ext cx="1296987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124" name="Text Box 84"/>
          <p:cNvSpPr txBox="1"/>
          <p:nvPr/>
        </p:nvSpPr>
        <p:spPr>
          <a:xfrm>
            <a:off x="1340009" y="1266984"/>
            <a:ext cx="15157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7129" name="AutoShape 89" descr="羊皮纸"/>
          <p:cNvSpPr/>
          <p:nvPr/>
        </p:nvSpPr>
        <p:spPr>
          <a:xfrm>
            <a:off x="8244205" y="1848803"/>
            <a:ext cx="539750" cy="1871662"/>
          </a:xfrm>
          <a:prstGeom prst="wedgeRoundRectCallout">
            <a:avLst>
              <a:gd name="adj1" fmla="val -161176"/>
              <a:gd name="adj2" fmla="val 7931"/>
              <a:gd name="adj3" fmla="val 16667"/>
            </a:avLst>
          </a:prstGeom>
          <a:blipFill rotWithShape="1">
            <a:blip r:embed="rId1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电容开路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7143" name="Group 103"/>
          <p:cNvGrpSpPr/>
          <p:nvPr/>
        </p:nvGrpSpPr>
        <p:grpSpPr>
          <a:xfrm>
            <a:off x="685800" y="1698625"/>
            <a:ext cx="3298825" cy="2017713"/>
            <a:chOff x="2926" y="299"/>
            <a:chExt cx="2078" cy="1271"/>
          </a:xfrm>
        </p:grpSpPr>
        <p:sp>
          <p:nvSpPr>
            <p:cNvPr id="27703" name="Oval 104"/>
            <p:cNvSpPr/>
            <p:nvPr/>
          </p:nvSpPr>
          <p:spPr>
            <a:xfrm>
              <a:off x="2971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4" name="Line 105"/>
            <p:cNvSpPr/>
            <p:nvPr/>
          </p:nvSpPr>
          <p:spPr>
            <a:xfrm>
              <a:off x="4146" y="1426"/>
              <a:ext cx="1" cy="1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7705" name="Line 106"/>
            <p:cNvSpPr/>
            <p:nvPr/>
          </p:nvSpPr>
          <p:spPr>
            <a:xfrm flipV="1">
              <a:off x="4195" y="1162"/>
              <a:ext cx="177" cy="14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06" name="Line 107"/>
            <p:cNvSpPr/>
            <p:nvPr/>
          </p:nvSpPr>
          <p:spPr>
            <a:xfrm flipH="1" flipV="1">
              <a:off x="4150" y="663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707" name="Line 108"/>
            <p:cNvSpPr/>
            <p:nvPr/>
          </p:nvSpPr>
          <p:spPr>
            <a:xfrm flipH="1">
              <a:off x="4604" y="1071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109"/>
            <p:cNvSpPr/>
            <p:nvPr/>
          </p:nvSpPr>
          <p:spPr>
            <a:xfrm flipH="1" flipV="1">
              <a:off x="4604" y="663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110"/>
            <p:cNvSpPr/>
            <p:nvPr/>
          </p:nvSpPr>
          <p:spPr>
            <a:xfrm flipV="1">
              <a:off x="3152" y="663"/>
              <a:ext cx="14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111"/>
            <p:cNvSpPr/>
            <p:nvPr/>
          </p:nvSpPr>
          <p:spPr>
            <a:xfrm>
              <a:off x="3152" y="663"/>
              <a:ext cx="19" cy="8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112"/>
            <p:cNvSpPr/>
            <p:nvPr/>
          </p:nvSpPr>
          <p:spPr>
            <a:xfrm>
              <a:off x="3170" y="1552"/>
              <a:ext cx="1449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Text Box 113"/>
            <p:cNvSpPr txBox="1"/>
            <p:nvPr/>
          </p:nvSpPr>
          <p:spPr>
            <a:xfrm>
              <a:off x="2926" y="691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3" name="Text Box 114"/>
            <p:cNvSpPr txBox="1"/>
            <p:nvPr/>
          </p:nvSpPr>
          <p:spPr>
            <a:xfrm>
              <a:off x="3289" y="1025"/>
              <a:ext cx="50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4" name="Line 115"/>
            <p:cNvSpPr/>
            <p:nvPr/>
          </p:nvSpPr>
          <p:spPr>
            <a:xfrm>
              <a:off x="3198" y="618"/>
              <a:ext cx="226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15" name="Text Box 116"/>
            <p:cNvSpPr txBox="1"/>
            <p:nvPr/>
          </p:nvSpPr>
          <p:spPr>
            <a:xfrm>
              <a:off x="3198" y="299"/>
              <a:ext cx="17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6" name="Line 117"/>
            <p:cNvSpPr/>
            <p:nvPr/>
          </p:nvSpPr>
          <p:spPr>
            <a:xfrm>
              <a:off x="4526" y="729"/>
              <a:ext cx="1" cy="19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17" name="Text Box 118"/>
            <p:cNvSpPr txBox="1"/>
            <p:nvPr/>
          </p:nvSpPr>
          <p:spPr>
            <a:xfrm>
              <a:off x="4243" y="662"/>
              <a:ext cx="27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8" name="Text Box 119"/>
            <p:cNvSpPr txBox="1"/>
            <p:nvPr/>
          </p:nvSpPr>
          <p:spPr>
            <a:xfrm>
              <a:off x="4657" y="646"/>
              <a:ext cx="347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9" name="Text Box 120"/>
            <p:cNvSpPr txBox="1"/>
            <p:nvPr/>
          </p:nvSpPr>
          <p:spPr>
            <a:xfrm>
              <a:off x="4281" y="1206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0" name="Text Box 121"/>
            <p:cNvSpPr txBox="1"/>
            <p:nvPr/>
          </p:nvSpPr>
          <p:spPr>
            <a:xfrm>
              <a:off x="3379" y="299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1" name="Text Box 122"/>
            <p:cNvSpPr txBox="1"/>
            <p:nvPr/>
          </p:nvSpPr>
          <p:spPr>
            <a:xfrm>
              <a:off x="3651" y="753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2" name="Line 123"/>
            <p:cNvSpPr/>
            <p:nvPr/>
          </p:nvSpPr>
          <p:spPr>
            <a:xfrm>
              <a:off x="4150" y="1253"/>
              <a:ext cx="136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Rectangle 124"/>
            <p:cNvSpPr/>
            <p:nvPr/>
          </p:nvSpPr>
          <p:spPr>
            <a:xfrm>
              <a:off x="3424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724" name="Group 125"/>
            <p:cNvGrpSpPr/>
            <p:nvPr/>
          </p:nvGrpSpPr>
          <p:grpSpPr>
            <a:xfrm>
              <a:off x="4468" y="981"/>
              <a:ext cx="240" cy="93"/>
              <a:chOff x="3787" y="2478"/>
              <a:chExt cx="240" cy="93"/>
            </a:xfrm>
          </p:grpSpPr>
          <p:sp>
            <p:nvSpPr>
              <p:cNvPr id="27726" name="Line 12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27" name="Line 12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725" name="Rectangle 128"/>
            <p:cNvSpPr/>
            <p:nvPr/>
          </p:nvSpPr>
          <p:spPr>
            <a:xfrm>
              <a:off x="4068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7169" name="Group 129"/>
          <p:cNvGrpSpPr/>
          <p:nvPr/>
        </p:nvGrpSpPr>
        <p:grpSpPr>
          <a:xfrm>
            <a:off x="4573905" y="1848803"/>
            <a:ext cx="3298825" cy="1511300"/>
            <a:chOff x="2972" y="2342"/>
            <a:chExt cx="2078" cy="952"/>
          </a:xfrm>
        </p:grpSpPr>
        <p:sp>
          <p:nvSpPr>
            <p:cNvPr id="27689" name="Oval 130"/>
            <p:cNvSpPr/>
            <p:nvPr/>
          </p:nvSpPr>
          <p:spPr>
            <a:xfrm>
              <a:off x="3017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90" name="Line 131"/>
            <p:cNvSpPr/>
            <p:nvPr/>
          </p:nvSpPr>
          <p:spPr>
            <a:xfrm flipV="1">
              <a:off x="4195" y="2387"/>
              <a:ext cx="1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91" name="Line 132"/>
            <p:cNvSpPr/>
            <p:nvPr/>
          </p:nvSpPr>
          <p:spPr>
            <a:xfrm>
              <a:off x="4649" y="2886"/>
              <a:ext cx="1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7692" name="Line 133"/>
            <p:cNvSpPr/>
            <p:nvPr/>
          </p:nvSpPr>
          <p:spPr>
            <a:xfrm flipH="1">
              <a:off x="4649" y="238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7693" name="Line 134"/>
            <p:cNvSpPr/>
            <p:nvPr/>
          </p:nvSpPr>
          <p:spPr>
            <a:xfrm flipV="1">
              <a:off x="3198" y="2387"/>
              <a:ext cx="145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135"/>
            <p:cNvSpPr/>
            <p:nvPr/>
          </p:nvSpPr>
          <p:spPr>
            <a:xfrm>
              <a:off x="3198" y="2387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136"/>
            <p:cNvSpPr/>
            <p:nvPr/>
          </p:nvSpPr>
          <p:spPr>
            <a:xfrm>
              <a:off x="3198" y="3294"/>
              <a:ext cx="145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Text Box 137"/>
            <p:cNvSpPr txBox="1"/>
            <p:nvPr/>
          </p:nvSpPr>
          <p:spPr>
            <a:xfrm>
              <a:off x="2972" y="2415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97" name="Text Box 138"/>
            <p:cNvSpPr txBox="1"/>
            <p:nvPr/>
          </p:nvSpPr>
          <p:spPr>
            <a:xfrm>
              <a:off x="3335" y="2749"/>
              <a:ext cx="50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98" name="Text Box 139"/>
            <p:cNvSpPr txBox="1"/>
            <p:nvPr/>
          </p:nvSpPr>
          <p:spPr>
            <a:xfrm>
              <a:off x="4703" y="2370"/>
              <a:ext cx="347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99" name="Text Box 140"/>
            <p:cNvSpPr txBox="1"/>
            <p:nvPr/>
          </p:nvSpPr>
          <p:spPr>
            <a:xfrm>
              <a:off x="3424" y="2386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00" name="Text Box 141"/>
            <p:cNvSpPr txBox="1"/>
            <p:nvPr/>
          </p:nvSpPr>
          <p:spPr>
            <a:xfrm>
              <a:off x="3742" y="2658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01" name="Rectangle 142"/>
            <p:cNvSpPr/>
            <p:nvPr/>
          </p:nvSpPr>
          <p:spPr>
            <a:xfrm>
              <a:off x="3470" y="234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02" name="Rectangle 143"/>
            <p:cNvSpPr/>
            <p:nvPr/>
          </p:nvSpPr>
          <p:spPr>
            <a:xfrm>
              <a:off x="4150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7047" grpId="0" build="p"/>
      <p:bldP spid="87048" grpId="0" build="p"/>
      <p:bldP spid="87071" grpId="0" build="p"/>
      <p:bldP spid="87089" grpId="0" build="p"/>
      <p:bldP spid="87098" grpId="0"/>
      <p:bldP spid="87124" grpId="0"/>
      <p:bldP spid="871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070" name="Object 30"/>
          <p:cNvGraphicFramePr>
            <a:graphicFrameLocks noChangeAspect="1"/>
          </p:cNvGraphicFramePr>
          <p:nvPr/>
        </p:nvGraphicFramePr>
        <p:xfrm>
          <a:off x="4933950" y="1457643"/>
          <a:ext cx="35274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497965" imgH="348615" progId="Equation.3">
                  <p:embed/>
                </p:oleObj>
              </mc:Choice>
              <mc:Fallback>
                <p:oleObj name="" r:id="rId1" imgW="1497965" imgH="34861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3950" y="1457643"/>
                        <a:ext cx="3527425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90" name="Text Box 50"/>
          <p:cNvSpPr txBox="1"/>
          <p:nvPr/>
        </p:nvSpPr>
        <p:spPr>
          <a:xfrm>
            <a:off x="4572000" y="489744"/>
            <a:ext cx="425132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(3)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等效电路求  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7128" name="Group 88"/>
          <p:cNvGrpSpPr/>
          <p:nvPr/>
        </p:nvGrpSpPr>
        <p:grpSpPr>
          <a:xfrm>
            <a:off x="3227388" y="6021706"/>
            <a:ext cx="2790825" cy="522287"/>
            <a:chOff x="3061" y="3002"/>
            <a:chExt cx="1758" cy="329"/>
          </a:xfrm>
        </p:grpSpPr>
        <p:sp>
          <p:nvSpPr>
            <p:cNvPr id="27732" name="Text Box 52"/>
            <p:cNvSpPr txBox="1"/>
            <p:nvPr/>
          </p:nvSpPr>
          <p:spPr>
            <a:xfrm>
              <a:off x="3061" y="3002"/>
              <a:ext cx="175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)=0     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27733" name="Group 53"/>
            <p:cNvGrpSpPr/>
            <p:nvPr/>
          </p:nvGrpSpPr>
          <p:grpSpPr>
            <a:xfrm>
              <a:off x="4023" y="3081"/>
              <a:ext cx="172" cy="164"/>
              <a:chOff x="3854" y="3353"/>
              <a:chExt cx="172" cy="164"/>
            </a:xfrm>
          </p:grpSpPr>
          <p:sp>
            <p:nvSpPr>
              <p:cNvPr id="27734" name="Line 54"/>
              <p:cNvSpPr/>
              <p:nvPr/>
            </p:nvSpPr>
            <p:spPr>
              <a:xfrm>
                <a:off x="3854" y="3418"/>
                <a:ext cx="17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35" name="Line 55"/>
              <p:cNvSpPr/>
              <p:nvPr/>
            </p:nvSpPr>
            <p:spPr>
              <a:xfrm>
                <a:off x="3854" y="3472"/>
                <a:ext cx="163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36" name="Line 56"/>
              <p:cNvSpPr/>
              <p:nvPr/>
            </p:nvSpPr>
            <p:spPr>
              <a:xfrm>
                <a:off x="3908" y="3353"/>
                <a:ext cx="64" cy="16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87124" name="Text Box 84"/>
          <p:cNvSpPr txBox="1"/>
          <p:nvPr/>
        </p:nvSpPr>
        <p:spPr>
          <a:xfrm>
            <a:off x="1070134" y="620554"/>
            <a:ext cx="15157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7143" name="Group 103"/>
          <p:cNvGrpSpPr/>
          <p:nvPr/>
        </p:nvGrpSpPr>
        <p:grpSpPr>
          <a:xfrm>
            <a:off x="685800" y="1698625"/>
            <a:ext cx="3298825" cy="2017713"/>
            <a:chOff x="2926" y="299"/>
            <a:chExt cx="2078" cy="1271"/>
          </a:xfrm>
        </p:grpSpPr>
        <p:sp>
          <p:nvSpPr>
            <p:cNvPr id="27703" name="Oval 104"/>
            <p:cNvSpPr/>
            <p:nvPr/>
          </p:nvSpPr>
          <p:spPr>
            <a:xfrm>
              <a:off x="2971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4" name="Line 105"/>
            <p:cNvSpPr/>
            <p:nvPr/>
          </p:nvSpPr>
          <p:spPr>
            <a:xfrm>
              <a:off x="4146" y="1426"/>
              <a:ext cx="1" cy="1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7705" name="Line 106"/>
            <p:cNvSpPr/>
            <p:nvPr/>
          </p:nvSpPr>
          <p:spPr>
            <a:xfrm flipV="1">
              <a:off x="4195" y="1162"/>
              <a:ext cx="177" cy="14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06" name="Line 107"/>
            <p:cNvSpPr/>
            <p:nvPr/>
          </p:nvSpPr>
          <p:spPr>
            <a:xfrm flipH="1" flipV="1">
              <a:off x="4150" y="663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707" name="Line 108"/>
            <p:cNvSpPr/>
            <p:nvPr/>
          </p:nvSpPr>
          <p:spPr>
            <a:xfrm flipH="1">
              <a:off x="4604" y="1071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109"/>
            <p:cNvSpPr/>
            <p:nvPr/>
          </p:nvSpPr>
          <p:spPr>
            <a:xfrm flipH="1" flipV="1">
              <a:off x="4604" y="663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110"/>
            <p:cNvSpPr/>
            <p:nvPr/>
          </p:nvSpPr>
          <p:spPr>
            <a:xfrm flipV="1">
              <a:off x="3152" y="663"/>
              <a:ext cx="14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111"/>
            <p:cNvSpPr/>
            <p:nvPr/>
          </p:nvSpPr>
          <p:spPr>
            <a:xfrm>
              <a:off x="3152" y="663"/>
              <a:ext cx="19" cy="8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112"/>
            <p:cNvSpPr/>
            <p:nvPr/>
          </p:nvSpPr>
          <p:spPr>
            <a:xfrm>
              <a:off x="3170" y="1552"/>
              <a:ext cx="1449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Text Box 113"/>
            <p:cNvSpPr txBox="1"/>
            <p:nvPr/>
          </p:nvSpPr>
          <p:spPr>
            <a:xfrm>
              <a:off x="2926" y="691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3" name="Text Box 114"/>
            <p:cNvSpPr txBox="1"/>
            <p:nvPr/>
          </p:nvSpPr>
          <p:spPr>
            <a:xfrm>
              <a:off x="3289" y="1025"/>
              <a:ext cx="50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4" name="Line 115"/>
            <p:cNvSpPr/>
            <p:nvPr/>
          </p:nvSpPr>
          <p:spPr>
            <a:xfrm>
              <a:off x="3198" y="618"/>
              <a:ext cx="226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15" name="Text Box 116"/>
            <p:cNvSpPr txBox="1"/>
            <p:nvPr/>
          </p:nvSpPr>
          <p:spPr>
            <a:xfrm>
              <a:off x="3198" y="299"/>
              <a:ext cx="17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6" name="Line 117"/>
            <p:cNvSpPr/>
            <p:nvPr/>
          </p:nvSpPr>
          <p:spPr>
            <a:xfrm>
              <a:off x="4526" y="729"/>
              <a:ext cx="1" cy="19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17" name="Text Box 118"/>
            <p:cNvSpPr txBox="1"/>
            <p:nvPr/>
          </p:nvSpPr>
          <p:spPr>
            <a:xfrm>
              <a:off x="4243" y="662"/>
              <a:ext cx="27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8" name="Text Box 119"/>
            <p:cNvSpPr txBox="1"/>
            <p:nvPr/>
          </p:nvSpPr>
          <p:spPr>
            <a:xfrm>
              <a:off x="4657" y="646"/>
              <a:ext cx="347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19" name="Text Box 120"/>
            <p:cNvSpPr txBox="1"/>
            <p:nvPr/>
          </p:nvSpPr>
          <p:spPr>
            <a:xfrm>
              <a:off x="4281" y="1206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0" name="Text Box 121"/>
            <p:cNvSpPr txBox="1"/>
            <p:nvPr/>
          </p:nvSpPr>
          <p:spPr>
            <a:xfrm>
              <a:off x="3379" y="299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1" name="Text Box 122"/>
            <p:cNvSpPr txBox="1"/>
            <p:nvPr/>
          </p:nvSpPr>
          <p:spPr>
            <a:xfrm>
              <a:off x="3651" y="753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722" name="Line 123"/>
            <p:cNvSpPr/>
            <p:nvPr/>
          </p:nvSpPr>
          <p:spPr>
            <a:xfrm>
              <a:off x="4150" y="1253"/>
              <a:ext cx="136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Rectangle 124"/>
            <p:cNvSpPr/>
            <p:nvPr/>
          </p:nvSpPr>
          <p:spPr>
            <a:xfrm>
              <a:off x="3424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724" name="Group 125"/>
            <p:cNvGrpSpPr/>
            <p:nvPr/>
          </p:nvGrpSpPr>
          <p:grpSpPr>
            <a:xfrm>
              <a:off x="4468" y="981"/>
              <a:ext cx="240" cy="93"/>
              <a:chOff x="3787" y="2478"/>
              <a:chExt cx="240" cy="93"/>
            </a:xfrm>
          </p:grpSpPr>
          <p:sp>
            <p:nvSpPr>
              <p:cNvPr id="27726" name="Line 12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27" name="Line 12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725" name="Rectangle 128"/>
            <p:cNvSpPr/>
            <p:nvPr/>
          </p:nvSpPr>
          <p:spPr>
            <a:xfrm>
              <a:off x="4068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7201" name="Group 161"/>
          <p:cNvGrpSpPr/>
          <p:nvPr/>
        </p:nvGrpSpPr>
        <p:grpSpPr>
          <a:xfrm>
            <a:off x="4860925" y="2705101"/>
            <a:ext cx="3175000" cy="1962150"/>
            <a:chOff x="386" y="2703"/>
            <a:chExt cx="2000" cy="1236"/>
          </a:xfrm>
        </p:grpSpPr>
        <p:sp>
          <p:nvSpPr>
            <p:cNvPr id="27673" name="Oval 162"/>
            <p:cNvSpPr/>
            <p:nvPr/>
          </p:nvSpPr>
          <p:spPr>
            <a:xfrm>
              <a:off x="1882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4" name="Text Box 163"/>
            <p:cNvSpPr txBox="1"/>
            <p:nvPr/>
          </p:nvSpPr>
          <p:spPr>
            <a:xfrm>
              <a:off x="1520" y="2794"/>
              <a:ext cx="389" cy="77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8V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75" name="Text Box 164"/>
            <p:cNvSpPr txBox="1"/>
            <p:nvPr/>
          </p:nvSpPr>
          <p:spPr>
            <a:xfrm>
              <a:off x="748" y="3610"/>
              <a:ext cx="121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r>
                <a:rPr lang="en-US" altLang="zh-CN" b="0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等效电路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76" name="Oval 165"/>
            <p:cNvSpPr/>
            <p:nvPr/>
          </p:nvSpPr>
          <p:spPr>
            <a:xfrm>
              <a:off x="431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7" name="Line 166"/>
            <p:cNvSpPr/>
            <p:nvPr/>
          </p:nvSpPr>
          <p:spPr>
            <a:xfrm flipV="1">
              <a:off x="2063" y="2750"/>
              <a:ext cx="1" cy="8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Line 167"/>
            <p:cNvSpPr/>
            <p:nvPr/>
          </p:nvSpPr>
          <p:spPr>
            <a:xfrm flipV="1">
              <a:off x="612" y="2750"/>
              <a:ext cx="14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Line 168"/>
            <p:cNvSpPr/>
            <p:nvPr/>
          </p:nvSpPr>
          <p:spPr>
            <a:xfrm flipH="1">
              <a:off x="611" y="2750"/>
              <a:ext cx="1" cy="8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169"/>
            <p:cNvSpPr/>
            <p:nvPr/>
          </p:nvSpPr>
          <p:spPr>
            <a:xfrm>
              <a:off x="611" y="3611"/>
              <a:ext cx="14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Text Box 170"/>
            <p:cNvSpPr txBox="1"/>
            <p:nvPr/>
          </p:nvSpPr>
          <p:spPr>
            <a:xfrm>
              <a:off x="386" y="2778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82" name="Text Box 171"/>
            <p:cNvSpPr txBox="1"/>
            <p:nvPr/>
          </p:nvSpPr>
          <p:spPr>
            <a:xfrm>
              <a:off x="749" y="3112"/>
              <a:ext cx="50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83" name="Line 172"/>
            <p:cNvSpPr/>
            <p:nvPr/>
          </p:nvSpPr>
          <p:spPr>
            <a:xfrm>
              <a:off x="658" y="2705"/>
              <a:ext cx="226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84" name="Text Box 173"/>
            <p:cNvSpPr txBox="1"/>
            <p:nvPr/>
          </p:nvSpPr>
          <p:spPr>
            <a:xfrm>
              <a:off x="657" y="2703"/>
              <a:ext cx="17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85" name="Line 174"/>
            <p:cNvSpPr/>
            <p:nvPr/>
          </p:nvSpPr>
          <p:spPr>
            <a:xfrm>
              <a:off x="2109" y="2795"/>
              <a:ext cx="1" cy="19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86" name="Text Box 175"/>
            <p:cNvSpPr txBox="1"/>
            <p:nvPr/>
          </p:nvSpPr>
          <p:spPr>
            <a:xfrm>
              <a:off x="2111" y="2703"/>
              <a:ext cx="27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87" name="Text Box 176"/>
            <p:cNvSpPr txBox="1"/>
            <p:nvPr/>
          </p:nvSpPr>
          <p:spPr>
            <a:xfrm>
              <a:off x="975" y="2794"/>
              <a:ext cx="45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7688" name="Rectangle 177"/>
            <p:cNvSpPr/>
            <p:nvPr/>
          </p:nvSpPr>
          <p:spPr>
            <a:xfrm>
              <a:off x="1066" y="27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7130" name="AutoShape 90" descr="羊皮纸"/>
          <p:cNvSpPr/>
          <p:nvPr/>
        </p:nvSpPr>
        <p:spPr>
          <a:xfrm>
            <a:off x="5796280" y="4797425"/>
            <a:ext cx="2182495" cy="949960"/>
          </a:xfrm>
          <a:prstGeom prst="wedgeRoundRectCallout">
            <a:avLst>
              <a:gd name="adj1" fmla="val -36587"/>
              <a:gd name="adj2" fmla="val -68281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电容用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电压源替代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7218" name="Group 178"/>
          <p:cNvGrpSpPr/>
          <p:nvPr/>
        </p:nvGrpSpPr>
        <p:grpSpPr>
          <a:xfrm>
            <a:off x="1330325" y="5661660"/>
            <a:ext cx="1643063" cy="850900"/>
            <a:chOff x="385" y="3022"/>
            <a:chExt cx="1035" cy="536"/>
          </a:xfrm>
        </p:grpSpPr>
        <p:pic>
          <p:nvPicPr>
            <p:cNvPr id="27671" name="Picture 179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72" name="Text Box 180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7090" grpId="0" build="p"/>
      <p:bldP spid="87124" grpId="0"/>
      <p:bldP spid="871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29" name="Text Box 13"/>
          <p:cNvSpPr txBox="1"/>
          <p:nvPr/>
        </p:nvSpPr>
        <p:spPr>
          <a:xfrm>
            <a:off x="250825" y="444024"/>
            <a:ext cx="108108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6055" name="Text Box 39"/>
          <p:cNvSpPr txBox="1"/>
          <p:nvPr/>
        </p:nvSpPr>
        <p:spPr>
          <a:xfrm>
            <a:off x="2267268" y="5444966"/>
            <a:ext cx="453707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闭合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260" y="1124585"/>
            <a:ext cx="7361555" cy="387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86029" grpId="0"/>
      <p:bldP spid="860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55" name="Text Box 39"/>
          <p:cNvSpPr txBox="1"/>
          <p:nvPr/>
        </p:nvSpPr>
        <p:spPr>
          <a:xfrm>
            <a:off x="1128713" y="260191"/>
            <a:ext cx="453707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时闭合开关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6089" name="Text Box 73"/>
          <p:cNvSpPr txBox="1"/>
          <p:nvPr/>
        </p:nvSpPr>
        <p:spPr>
          <a:xfrm>
            <a:off x="1187450" y="3037047"/>
            <a:ext cx="1512888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先求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6090" name="Object 74"/>
          <p:cNvGraphicFramePr>
            <a:graphicFrameLocks noChangeAspect="1"/>
          </p:cNvGraphicFramePr>
          <p:nvPr/>
        </p:nvGraphicFramePr>
        <p:xfrm>
          <a:off x="5219383" y="4432300"/>
          <a:ext cx="28638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167130" imgH="348615" progId="Equation.3">
                  <p:embed/>
                </p:oleObj>
              </mc:Choice>
              <mc:Fallback>
                <p:oleObj name="" r:id="rId1" imgW="1167130" imgH="34861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9383" y="4432300"/>
                        <a:ext cx="2863850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95" name="Object 79"/>
          <p:cNvGraphicFramePr>
            <a:graphicFrameLocks noChangeAspect="1"/>
          </p:cNvGraphicFramePr>
          <p:nvPr/>
        </p:nvGraphicFramePr>
        <p:xfrm>
          <a:off x="2476500" y="3054350"/>
          <a:ext cx="1016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348615" imgH="173990" progId="Equation.3">
                  <p:embed/>
                </p:oleObj>
              </mc:Choice>
              <mc:Fallback>
                <p:oleObj name="" r:id="rId3" imgW="348615" imgH="17399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6500" y="3054350"/>
                        <a:ext cx="1016000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123" name="Text Box 107"/>
          <p:cNvSpPr txBox="1"/>
          <p:nvPr/>
        </p:nvSpPr>
        <p:spPr>
          <a:xfrm>
            <a:off x="468313" y="3067209"/>
            <a:ext cx="574675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6124" name="AutoShape 108" descr="羊皮纸"/>
          <p:cNvSpPr/>
          <p:nvPr/>
        </p:nvSpPr>
        <p:spPr>
          <a:xfrm>
            <a:off x="3348038" y="4437063"/>
            <a:ext cx="1081087" cy="1008062"/>
          </a:xfrm>
          <a:prstGeom prst="wedgeRoundRectCallout">
            <a:avLst>
              <a:gd name="adj1" fmla="val -91852"/>
              <a:gd name="adj2" fmla="val -8583"/>
              <a:gd name="adj3" fmla="val 16667"/>
            </a:avLst>
          </a:prstGeom>
          <a:blipFill rotWithShape="1">
            <a:blip r:embed="rId5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电感短路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6164" name="Group 148"/>
          <p:cNvGrpSpPr/>
          <p:nvPr/>
        </p:nvGrpSpPr>
        <p:grpSpPr>
          <a:xfrm>
            <a:off x="468313" y="3571876"/>
            <a:ext cx="2665412" cy="1887538"/>
            <a:chOff x="793" y="2340"/>
            <a:chExt cx="1679" cy="1189"/>
          </a:xfrm>
        </p:grpSpPr>
        <p:sp>
          <p:nvSpPr>
            <p:cNvPr id="28717" name="Oval 149"/>
            <p:cNvSpPr/>
            <p:nvPr/>
          </p:nvSpPr>
          <p:spPr>
            <a:xfrm>
              <a:off x="793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718" name="Text Box 150"/>
            <p:cNvSpPr txBox="1"/>
            <p:nvPr/>
          </p:nvSpPr>
          <p:spPr>
            <a:xfrm>
              <a:off x="2092" y="3154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19" name="Line 151"/>
            <p:cNvSpPr/>
            <p:nvPr/>
          </p:nvSpPr>
          <p:spPr>
            <a:xfrm flipV="1">
              <a:off x="975" y="2658"/>
              <a:ext cx="8" cy="8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0" name="Line 152"/>
            <p:cNvSpPr/>
            <p:nvPr/>
          </p:nvSpPr>
          <p:spPr>
            <a:xfrm>
              <a:off x="983" y="3490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1" name="Line 153"/>
            <p:cNvSpPr/>
            <p:nvPr/>
          </p:nvSpPr>
          <p:spPr>
            <a:xfrm flipV="1">
              <a:off x="975" y="2658"/>
              <a:ext cx="14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2" name="Line 154"/>
            <p:cNvSpPr/>
            <p:nvPr/>
          </p:nvSpPr>
          <p:spPr>
            <a:xfrm>
              <a:off x="2472" y="2659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3" name="Text Box 155"/>
            <p:cNvSpPr txBox="1"/>
            <p:nvPr/>
          </p:nvSpPr>
          <p:spPr>
            <a:xfrm>
              <a:off x="1112" y="2884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24" name="Text Box 156"/>
            <p:cNvSpPr txBox="1"/>
            <p:nvPr/>
          </p:nvSpPr>
          <p:spPr>
            <a:xfrm>
              <a:off x="1156" y="234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25" name="Text Box 157"/>
            <p:cNvSpPr txBox="1"/>
            <p:nvPr/>
          </p:nvSpPr>
          <p:spPr>
            <a:xfrm>
              <a:off x="1882" y="234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26" name="Line 158"/>
            <p:cNvSpPr/>
            <p:nvPr/>
          </p:nvSpPr>
          <p:spPr>
            <a:xfrm>
              <a:off x="2350" y="3162"/>
              <a:ext cx="0" cy="26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27" name="Rectangle 159"/>
            <p:cNvSpPr/>
            <p:nvPr/>
          </p:nvSpPr>
          <p:spPr>
            <a:xfrm>
              <a:off x="1927" y="26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28" name="Rectangle 160"/>
            <p:cNvSpPr/>
            <p:nvPr/>
          </p:nvSpPr>
          <p:spPr>
            <a:xfrm>
              <a:off x="1201" y="26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29" name="Text Box 161"/>
            <p:cNvSpPr txBox="1"/>
            <p:nvPr/>
          </p:nvSpPr>
          <p:spPr>
            <a:xfrm>
              <a:off x="975" y="2657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0" name="Text Box 162"/>
            <p:cNvSpPr txBox="1"/>
            <p:nvPr/>
          </p:nvSpPr>
          <p:spPr>
            <a:xfrm>
              <a:off x="929" y="320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30475" y="764540"/>
            <a:ext cx="4003675" cy="2128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86055" grpId="0"/>
      <p:bldP spid="86089" grpId="0"/>
      <p:bldP spid="86123" grpId="0" animBg="1"/>
      <p:bldP spid="861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24" name="Rectangle 8"/>
          <p:cNvSpPr/>
          <p:nvPr/>
        </p:nvSpPr>
        <p:spPr>
          <a:xfrm>
            <a:off x="3204210" y="4941412"/>
            <a:ext cx="28403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=2A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6055" name="Text Box 39"/>
          <p:cNvSpPr txBox="1"/>
          <p:nvPr/>
        </p:nvSpPr>
        <p:spPr>
          <a:xfrm>
            <a:off x="1331913" y="474821"/>
            <a:ext cx="453707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时闭合开关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6091" name="Text Box 75"/>
          <p:cNvSpPr txBox="1"/>
          <p:nvPr/>
        </p:nvSpPr>
        <p:spPr>
          <a:xfrm>
            <a:off x="2771775" y="4365149"/>
            <a:ext cx="28035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应用换路定律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6137" name="Group 121"/>
          <p:cNvGrpSpPr/>
          <p:nvPr/>
        </p:nvGrpSpPr>
        <p:grpSpPr>
          <a:xfrm>
            <a:off x="2254250" y="1346518"/>
            <a:ext cx="3354388" cy="1887538"/>
            <a:chOff x="3152" y="345"/>
            <a:chExt cx="2113" cy="1189"/>
          </a:xfrm>
        </p:grpSpPr>
        <p:sp>
          <p:nvSpPr>
            <p:cNvPr id="28731" name="Oval 122"/>
            <p:cNvSpPr/>
            <p:nvPr/>
          </p:nvSpPr>
          <p:spPr>
            <a:xfrm>
              <a:off x="315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732" name="Line 123"/>
            <p:cNvSpPr/>
            <p:nvPr/>
          </p:nvSpPr>
          <p:spPr>
            <a:xfrm>
              <a:off x="4830" y="1207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3" name="Text Box 124"/>
            <p:cNvSpPr txBox="1"/>
            <p:nvPr/>
          </p:nvSpPr>
          <p:spPr>
            <a:xfrm>
              <a:off x="4451" y="1159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4" name="Text Box 125"/>
            <p:cNvSpPr txBox="1"/>
            <p:nvPr/>
          </p:nvSpPr>
          <p:spPr>
            <a:xfrm>
              <a:off x="4957" y="621"/>
              <a:ext cx="308" cy="87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5" name="Text Box 126"/>
            <p:cNvSpPr txBox="1"/>
            <p:nvPr/>
          </p:nvSpPr>
          <p:spPr>
            <a:xfrm>
              <a:off x="4605" y="844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6" name="Line 127"/>
            <p:cNvSpPr/>
            <p:nvPr/>
          </p:nvSpPr>
          <p:spPr>
            <a:xfrm flipV="1">
              <a:off x="3334" y="663"/>
              <a:ext cx="8" cy="8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7" name="Line 128"/>
            <p:cNvSpPr/>
            <p:nvPr/>
          </p:nvSpPr>
          <p:spPr>
            <a:xfrm>
              <a:off x="3342" y="1495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8" name="Line 129"/>
            <p:cNvSpPr/>
            <p:nvPr/>
          </p:nvSpPr>
          <p:spPr>
            <a:xfrm flipV="1">
              <a:off x="3334" y="663"/>
              <a:ext cx="14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9" name="Line 130"/>
            <p:cNvSpPr/>
            <p:nvPr/>
          </p:nvSpPr>
          <p:spPr>
            <a:xfrm>
              <a:off x="4830" y="663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0" name="Line 131"/>
            <p:cNvSpPr/>
            <p:nvPr/>
          </p:nvSpPr>
          <p:spPr>
            <a:xfrm>
              <a:off x="4105" y="663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41" name="Line 132"/>
            <p:cNvSpPr/>
            <p:nvPr/>
          </p:nvSpPr>
          <p:spPr>
            <a:xfrm>
              <a:off x="4110" y="967"/>
              <a:ext cx="131" cy="1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2" name="Line 133"/>
            <p:cNvSpPr/>
            <p:nvPr/>
          </p:nvSpPr>
          <p:spPr>
            <a:xfrm>
              <a:off x="4110" y="1111"/>
              <a:ext cx="0" cy="3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43" name="Line 134"/>
            <p:cNvSpPr/>
            <p:nvPr/>
          </p:nvSpPr>
          <p:spPr>
            <a:xfrm flipH="1">
              <a:off x="4195" y="890"/>
              <a:ext cx="131" cy="14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44" name="Text Box 135"/>
            <p:cNvSpPr txBox="1"/>
            <p:nvPr/>
          </p:nvSpPr>
          <p:spPr>
            <a:xfrm>
              <a:off x="3471" y="889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5" name="Text Box 136"/>
            <p:cNvSpPr txBox="1"/>
            <p:nvPr/>
          </p:nvSpPr>
          <p:spPr>
            <a:xfrm>
              <a:off x="4215" y="934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6" name="Text Box 137"/>
            <p:cNvSpPr txBox="1"/>
            <p:nvPr/>
          </p:nvSpPr>
          <p:spPr>
            <a:xfrm>
              <a:off x="3515" y="34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7" name="Text Box 138"/>
            <p:cNvSpPr txBox="1"/>
            <p:nvPr/>
          </p:nvSpPr>
          <p:spPr>
            <a:xfrm>
              <a:off x="4241" y="34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48" name="Line 139"/>
            <p:cNvSpPr/>
            <p:nvPr/>
          </p:nvSpPr>
          <p:spPr>
            <a:xfrm>
              <a:off x="4709" y="1167"/>
              <a:ext cx="0" cy="26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8749" name="Group 140"/>
            <p:cNvGrpSpPr/>
            <p:nvPr/>
          </p:nvGrpSpPr>
          <p:grpSpPr>
            <a:xfrm>
              <a:off x="4830" y="845"/>
              <a:ext cx="91" cy="363"/>
              <a:chOff x="2744" y="2931"/>
              <a:chExt cx="57" cy="283"/>
            </a:xfrm>
          </p:grpSpPr>
          <p:sp>
            <p:nvSpPr>
              <p:cNvPr id="28754" name="Arc 14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755" name="Arc 14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756" name="Arc 14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8750" name="Rectangle 144"/>
            <p:cNvSpPr/>
            <p:nvPr/>
          </p:nvSpPr>
          <p:spPr>
            <a:xfrm>
              <a:off x="4286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51" name="Rectangle 145"/>
            <p:cNvSpPr/>
            <p:nvPr/>
          </p:nvSpPr>
          <p:spPr>
            <a:xfrm>
              <a:off x="3560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52" name="Text Box 146"/>
            <p:cNvSpPr txBox="1"/>
            <p:nvPr/>
          </p:nvSpPr>
          <p:spPr>
            <a:xfrm>
              <a:off x="3334" y="662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53" name="Text Box 147"/>
            <p:cNvSpPr txBox="1"/>
            <p:nvPr/>
          </p:nvSpPr>
          <p:spPr>
            <a:xfrm>
              <a:off x="3288" y="120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6024" grpId="0" build="p"/>
      <p:bldP spid="86055" grpId="0"/>
      <p:bldP spid="8609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3564573" y="5769293"/>
          <a:ext cx="26320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940435" imgH="147955" progId="Equation.3">
                  <p:embed/>
                </p:oleObj>
              </mc:Choice>
              <mc:Fallback>
                <p:oleObj name="" r:id="rId1" imgW="940435" imgH="14795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4573" y="5769293"/>
                        <a:ext cx="263207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>
            <a:graphicFrameLocks noChangeAspect="1"/>
          </p:cNvGraphicFramePr>
          <p:nvPr/>
        </p:nvGraphicFramePr>
        <p:xfrm>
          <a:off x="3059748" y="5156518"/>
          <a:ext cx="3527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1367155" imgH="147955" progId="Equation.3">
                  <p:embed/>
                </p:oleObj>
              </mc:Choice>
              <mc:Fallback>
                <p:oleObj name="" r:id="rId3" imgW="1367155" imgH="14795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748" y="5156518"/>
                        <a:ext cx="35274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94" name="AutoShape 78" descr="羊皮纸"/>
          <p:cNvSpPr/>
          <p:nvPr/>
        </p:nvSpPr>
        <p:spPr>
          <a:xfrm>
            <a:off x="8028305" y="3789045"/>
            <a:ext cx="995045" cy="1656080"/>
          </a:xfrm>
          <a:prstGeom prst="wedgeRoundRectCallout">
            <a:avLst>
              <a:gd name="adj1" fmla="val -144767"/>
              <a:gd name="adj2" fmla="val 2492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电感用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电流源替代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6137" name="Group 121"/>
          <p:cNvGrpSpPr/>
          <p:nvPr/>
        </p:nvGrpSpPr>
        <p:grpSpPr>
          <a:xfrm>
            <a:off x="1804035" y="383858"/>
            <a:ext cx="3354388" cy="1887538"/>
            <a:chOff x="3152" y="345"/>
            <a:chExt cx="2113" cy="1189"/>
          </a:xfrm>
        </p:grpSpPr>
        <p:sp>
          <p:nvSpPr>
            <p:cNvPr id="28731" name="Oval 122"/>
            <p:cNvSpPr/>
            <p:nvPr/>
          </p:nvSpPr>
          <p:spPr>
            <a:xfrm>
              <a:off x="315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732" name="Line 123"/>
            <p:cNvSpPr/>
            <p:nvPr/>
          </p:nvSpPr>
          <p:spPr>
            <a:xfrm>
              <a:off x="4830" y="1207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3" name="Text Box 124"/>
            <p:cNvSpPr txBox="1"/>
            <p:nvPr/>
          </p:nvSpPr>
          <p:spPr>
            <a:xfrm>
              <a:off x="4451" y="1159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4" name="Text Box 125"/>
            <p:cNvSpPr txBox="1"/>
            <p:nvPr/>
          </p:nvSpPr>
          <p:spPr>
            <a:xfrm>
              <a:off x="4957" y="621"/>
              <a:ext cx="308" cy="87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5" name="Text Box 126"/>
            <p:cNvSpPr txBox="1"/>
            <p:nvPr/>
          </p:nvSpPr>
          <p:spPr>
            <a:xfrm>
              <a:off x="4605" y="844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36" name="Line 127"/>
            <p:cNvSpPr/>
            <p:nvPr/>
          </p:nvSpPr>
          <p:spPr>
            <a:xfrm flipV="1">
              <a:off x="3334" y="663"/>
              <a:ext cx="8" cy="8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7" name="Line 128"/>
            <p:cNvSpPr/>
            <p:nvPr/>
          </p:nvSpPr>
          <p:spPr>
            <a:xfrm>
              <a:off x="3342" y="1495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8" name="Line 129"/>
            <p:cNvSpPr/>
            <p:nvPr/>
          </p:nvSpPr>
          <p:spPr>
            <a:xfrm flipV="1">
              <a:off x="3334" y="663"/>
              <a:ext cx="14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9" name="Line 130"/>
            <p:cNvSpPr/>
            <p:nvPr/>
          </p:nvSpPr>
          <p:spPr>
            <a:xfrm>
              <a:off x="4830" y="663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0" name="Line 131"/>
            <p:cNvSpPr/>
            <p:nvPr/>
          </p:nvSpPr>
          <p:spPr>
            <a:xfrm>
              <a:off x="4105" y="663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41" name="Line 132"/>
            <p:cNvSpPr/>
            <p:nvPr/>
          </p:nvSpPr>
          <p:spPr>
            <a:xfrm>
              <a:off x="4110" y="967"/>
              <a:ext cx="131" cy="1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2" name="Line 133"/>
            <p:cNvSpPr/>
            <p:nvPr/>
          </p:nvSpPr>
          <p:spPr>
            <a:xfrm>
              <a:off x="4110" y="1111"/>
              <a:ext cx="0" cy="3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43" name="Line 134"/>
            <p:cNvSpPr/>
            <p:nvPr/>
          </p:nvSpPr>
          <p:spPr>
            <a:xfrm flipH="1">
              <a:off x="4195" y="890"/>
              <a:ext cx="131" cy="14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44" name="Text Box 135"/>
            <p:cNvSpPr txBox="1"/>
            <p:nvPr/>
          </p:nvSpPr>
          <p:spPr>
            <a:xfrm>
              <a:off x="3471" y="889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5" name="Text Box 136"/>
            <p:cNvSpPr txBox="1"/>
            <p:nvPr/>
          </p:nvSpPr>
          <p:spPr>
            <a:xfrm>
              <a:off x="4215" y="934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6" name="Text Box 137"/>
            <p:cNvSpPr txBox="1"/>
            <p:nvPr/>
          </p:nvSpPr>
          <p:spPr>
            <a:xfrm>
              <a:off x="3515" y="34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47" name="Text Box 138"/>
            <p:cNvSpPr txBox="1"/>
            <p:nvPr/>
          </p:nvSpPr>
          <p:spPr>
            <a:xfrm>
              <a:off x="4241" y="34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48" name="Line 139"/>
            <p:cNvSpPr/>
            <p:nvPr/>
          </p:nvSpPr>
          <p:spPr>
            <a:xfrm>
              <a:off x="4709" y="1167"/>
              <a:ext cx="0" cy="26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8749" name="Group 140"/>
            <p:cNvGrpSpPr/>
            <p:nvPr/>
          </p:nvGrpSpPr>
          <p:grpSpPr>
            <a:xfrm>
              <a:off x="4830" y="845"/>
              <a:ext cx="91" cy="363"/>
              <a:chOff x="2744" y="2931"/>
              <a:chExt cx="57" cy="283"/>
            </a:xfrm>
          </p:grpSpPr>
          <p:sp>
            <p:nvSpPr>
              <p:cNvPr id="28754" name="Arc 14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755" name="Arc 14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756" name="Arc 14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8750" name="Rectangle 144"/>
            <p:cNvSpPr/>
            <p:nvPr/>
          </p:nvSpPr>
          <p:spPr>
            <a:xfrm>
              <a:off x="4286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51" name="Rectangle 145"/>
            <p:cNvSpPr/>
            <p:nvPr/>
          </p:nvSpPr>
          <p:spPr>
            <a:xfrm>
              <a:off x="3560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52" name="Text Box 146"/>
            <p:cNvSpPr txBox="1"/>
            <p:nvPr/>
          </p:nvSpPr>
          <p:spPr>
            <a:xfrm>
              <a:off x="3334" y="662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53" name="Text Box 147"/>
            <p:cNvSpPr txBox="1"/>
            <p:nvPr/>
          </p:nvSpPr>
          <p:spPr>
            <a:xfrm>
              <a:off x="3288" y="120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6179" name="Text Box 163"/>
          <p:cNvSpPr txBox="1"/>
          <p:nvPr/>
        </p:nvSpPr>
        <p:spPr>
          <a:xfrm>
            <a:off x="467995" y="3644583"/>
            <a:ext cx="285877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marL="342900" indent="-342900" eaLnBrk="1" hangingPunct="1"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等效电路求 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6209" name="Group 193"/>
          <p:cNvGrpSpPr/>
          <p:nvPr/>
        </p:nvGrpSpPr>
        <p:grpSpPr>
          <a:xfrm>
            <a:off x="4364038" y="2836863"/>
            <a:ext cx="3438525" cy="1887538"/>
            <a:chOff x="2794" y="1787"/>
            <a:chExt cx="2166" cy="1189"/>
          </a:xfrm>
        </p:grpSpPr>
        <p:sp>
          <p:nvSpPr>
            <p:cNvPr id="28698" name="Oval 165"/>
            <p:cNvSpPr/>
            <p:nvPr/>
          </p:nvSpPr>
          <p:spPr>
            <a:xfrm>
              <a:off x="2794" y="233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699" name="Text Box 166"/>
            <p:cNvSpPr txBox="1"/>
            <p:nvPr/>
          </p:nvSpPr>
          <p:spPr>
            <a:xfrm>
              <a:off x="4079" y="2558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00" name="Text Box 167"/>
            <p:cNvSpPr txBox="1"/>
            <p:nvPr/>
          </p:nvSpPr>
          <p:spPr>
            <a:xfrm>
              <a:off x="4652" y="1930"/>
              <a:ext cx="308" cy="87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01" name="Line 168"/>
            <p:cNvSpPr/>
            <p:nvPr/>
          </p:nvSpPr>
          <p:spPr>
            <a:xfrm flipV="1">
              <a:off x="2976" y="2105"/>
              <a:ext cx="8" cy="8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2" name="Line 169"/>
            <p:cNvSpPr/>
            <p:nvPr/>
          </p:nvSpPr>
          <p:spPr>
            <a:xfrm>
              <a:off x="2975" y="2967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3" name="Line 170"/>
            <p:cNvSpPr/>
            <p:nvPr/>
          </p:nvSpPr>
          <p:spPr>
            <a:xfrm flipV="1">
              <a:off x="2976" y="2105"/>
              <a:ext cx="14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4" name="Line 171"/>
            <p:cNvSpPr/>
            <p:nvPr/>
          </p:nvSpPr>
          <p:spPr>
            <a:xfrm>
              <a:off x="4472" y="2105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5" name="Line 172"/>
            <p:cNvSpPr/>
            <p:nvPr/>
          </p:nvSpPr>
          <p:spPr>
            <a:xfrm>
              <a:off x="3747" y="2105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06" name="Text Box 173"/>
            <p:cNvSpPr txBox="1"/>
            <p:nvPr/>
          </p:nvSpPr>
          <p:spPr>
            <a:xfrm>
              <a:off x="3113" y="2331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07" name="Text Box 174"/>
            <p:cNvSpPr txBox="1"/>
            <p:nvPr/>
          </p:nvSpPr>
          <p:spPr>
            <a:xfrm>
              <a:off x="3157" y="178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08" name="Text Box 175"/>
            <p:cNvSpPr txBox="1"/>
            <p:nvPr/>
          </p:nvSpPr>
          <p:spPr>
            <a:xfrm>
              <a:off x="3883" y="178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09" name="Line 176"/>
            <p:cNvSpPr/>
            <p:nvPr/>
          </p:nvSpPr>
          <p:spPr>
            <a:xfrm>
              <a:off x="4468" y="2478"/>
              <a:ext cx="0" cy="39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10" name="Rectangle 177"/>
            <p:cNvSpPr/>
            <p:nvPr/>
          </p:nvSpPr>
          <p:spPr>
            <a:xfrm>
              <a:off x="3928" y="20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1" name="Rectangle 178"/>
            <p:cNvSpPr/>
            <p:nvPr/>
          </p:nvSpPr>
          <p:spPr>
            <a:xfrm>
              <a:off x="3202" y="20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2" name="Text Box 179"/>
            <p:cNvSpPr txBox="1"/>
            <p:nvPr/>
          </p:nvSpPr>
          <p:spPr>
            <a:xfrm>
              <a:off x="2976" y="2104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8713" name="Text Box 180"/>
            <p:cNvSpPr txBox="1"/>
            <p:nvPr/>
          </p:nvSpPr>
          <p:spPr>
            <a:xfrm>
              <a:off x="2930" y="264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8714" name="Group 181"/>
            <p:cNvGrpSpPr/>
            <p:nvPr/>
          </p:nvGrpSpPr>
          <p:grpSpPr>
            <a:xfrm>
              <a:off x="4291" y="2205"/>
              <a:ext cx="363" cy="363"/>
              <a:chOff x="4785" y="709"/>
              <a:chExt cx="363" cy="363"/>
            </a:xfrm>
          </p:grpSpPr>
          <p:sp>
            <p:nvSpPr>
              <p:cNvPr id="28715" name="Oval 18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16" name="Line 18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6200" name="Group 184"/>
          <p:cNvGrpSpPr/>
          <p:nvPr/>
        </p:nvGrpSpPr>
        <p:grpSpPr>
          <a:xfrm>
            <a:off x="1764348" y="5624830"/>
            <a:ext cx="1643063" cy="850900"/>
            <a:chOff x="385" y="3022"/>
            <a:chExt cx="1035" cy="536"/>
          </a:xfrm>
        </p:grpSpPr>
        <p:pic>
          <p:nvPicPr>
            <p:cNvPr id="28696" name="Picture 185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7" name="Text Box 186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617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6" name="Text Box 4" descr="绿色大理石"/>
          <p:cNvSpPr txBox="1"/>
          <p:nvPr/>
        </p:nvSpPr>
        <p:spPr>
          <a:xfrm>
            <a:off x="2268538" y="547211"/>
            <a:ext cx="317627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求初始值的步骤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997" name="Text Box 5"/>
          <p:cNvSpPr txBox="1"/>
          <p:nvPr/>
        </p:nvSpPr>
        <p:spPr>
          <a:xfrm>
            <a:off x="539750" y="1252697"/>
            <a:ext cx="813752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由换路前电路（稳定状态）求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；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998" name="Text Box 6"/>
          <p:cNvSpPr txBox="1"/>
          <p:nvPr/>
        </p:nvSpPr>
        <p:spPr>
          <a:xfrm>
            <a:off x="557213" y="1755934"/>
            <a:ext cx="754380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由换路定律得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和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999" name="Text Box 7"/>
          <p:cNvSpPr txBox="1"/>
          <p:nvPr/>
        </p:nvSpPr>
        <p:spPr>
          <a:xfrm>
            <a:off x="539750" y="2405222"/>
            <a:ext cx="29025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画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5000" name="Text Box 8"/>
          <p:cNvSpPr txBox="1"/>
          <p:nvPr/>
        </p:nvSpPr>
        <p:spPr>
          <a:xfrm>
            <a:off x="663099" y="5500847"/>
            <a:ext cx="53555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电路求所需各变量的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值。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5003" name="Text Box 11"/>
          <p:cNvSpPr txBox="1"/>
          <p:nvPr/>
        </p:nvSpPr>
        <p:spPr>
          <a:xfrm>
            <a:off x="1116013" y="3629184"/>
            <a:ext cx="7180262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b.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电容（电感）用电压源（电流源）替代。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5004" name="Text Box 12"/>
          <p:cNvSpPr txBox="1"/>
          <p:nvPr/>
        </p:nvSpPr>
        <p:spPr>
          <a:xfrm>
            <a:off x="1187450" y="2979897"/>
            <a:ext cx="26835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a.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换路后的电路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5005" name="Text Box 13"/>
          <p:cNvSpPr txBox="1"/>
          <p:nvPr/>
        </p:nvSpPr>
        <p:spPr>
          <a:xfrm>
            <a:off x="1042988" y="4346258"/>
            <a:ext cx="7416800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（取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时刻值，方向与原假定的电容电压、电感电流方向相同）。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5007" name="AutoShape 15"/>
          <p:cNvSpPr/>
          <p:nvPr/>
        </p:nvSpPr>
        <p:spPr>
          <a:xfrm>
            <a:off x="900113" y="3198813"/>
            <a:ext cx="142875" cy="1008062"/>
          </a:xfrm>
          <a:prstGeom prst="leftBrace">
            <a:avLst>
              <a:gd name="adj1" fmla="val 58796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85020" name="Group 28"/>
          <p:cNvGrpSpPr/>
          <p:nvPr/>
        </p:nvGrpSpPr>
        <p:grpSpPr>
          <a:xfrm>
            <a:off x="539750" y="476250"/>
            <a:ext cx="1643063" cy="850900"/>
            <a:chOff x="385" y="3022"/>
            <a:chExt cx="1035" cy="536"/>
          </a:xfrm>
        </p:grpSpPr>
        <p:pic>
          <p:nvPicPr>
            <p:cNvPr id="29713" name="Picture 29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4" name="Text Box 30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小结</a:t>
              </a:r>
              <a:endParaRPr lang="zh-CN" altLang="en-US" sz="3200" b="0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4996" grpId="0"/>
      <p:bldP spid="84997" grpId="0" build="p"/>
      <p:bldP spid="84998" grpId="0" build="p"/>
      <p:bldP spid="84999" grpId="0"/>
      <p:bldP spid="85000" grpId="0" build="p"/>
      <p:bldP spid="85003" grpId="0"/>
      <p:bldP spid="85004" grpId="0"/>
      <p:bldP spid="85005" grpId="0"/>
      <p:bldP spid="8500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7" name="Text Box 9"/>
          <p:cNvSpPr txBox="1"/>
          <p:nvPr/>
        </p:nvSpPr>
        <p:spPr>
          <a:xfrm>
            <a:off x="3275013" y="1914366"/>
            <a:ext cx="27216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 ,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003" name="Text Box 35"/>
          <p:cNvSpPr txBox="1"/>
          <p:nvPr/>
        </p:nvSpPr>
        <p:spPr>
          <a:xfrm>
            <a:off x="1331278" y="1124426"/>
            <a:ext cx="863600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4179" name="Group 211"/>
          <p:cNvGrpSpPr/>
          <p:nvPr/>
        </p:nvGrpSpPr>
        <p:grpSpPr>
          <a:xfrm>
            <a:off x="2559050" y="2346007"/>
            <a:ext cx="4330700" cy="2187576"/>
            <a:chOff x="342" y="571"/>
            <a:chExt cx="2728" cy="1378"/>
          </a:xfrm>
        </p:grpSpPr>
        <p:sp>
          <p:nvSpPr>
            <p:cNvPr id="30773" name="Text Box 31"/>
            <p:cNvSpPr txBox="1"/>
            <p:nvPr/>
          </p:nvSpPr>
          <p:spPr>
            <a:xfrm>
              <a:off x="1417" y="1661"/>
              <a:ext cx="11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4" name="Line 128"/>
            <p:cNvSpPr/>
            <p:nvPr/>
          </p:nvSpPr>
          <p:spPr>
            <a:xfrm>
              <a:off x="1882" y="980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pSp>
          <p:nvGrpSpPr>
            <p:cNvPr id="30775" name="Group 129"/>
            <p:cNvGrpSpPr/>
            <p:nvPr/>
          </p:nvGrpSpPr>
          <p:grpSpPr>
            <a:xfrm>
              <a:off x="2517" y="1343"/>
              <a:ext cx="240" cy="93"/>
              <a:chOff x="3787" y="2478"/>
              <a:chExt cx="240" cy="93"/>
            </a:xfrm>
          </p:grpSpPr>
          <p:sp>
            <p:nvSpPr>
              <p:cNvPr id="30813" name="Line 13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4" name="Line 13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76" name="Rectangle 132"/>
            <p:cNvSpPr/>
            <p:nvPr/>
          </p:nvSpPr>
          <p:spPr>
            <a:xfrm>
              <a:off x="180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77" name="Line 133"/>
            <p:cNvSpPr/>
            <p:nvPr/>
          </p:nvSpPr>
          <p:spPr>
            <a:xfrm flipH="1" flipV="1">
              <a:off x="1111" y="1343"/>
              <a:ext cx="181" cy="13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78" name="Text Box 134"/>
            <p:cNvSpPr txBox="1"/>
            <p:nvPr/>
          </p:nvSpPr>
          <p:spPr>
            <a:xfrm>
              <a:off x="1040" y="1432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79" name="Line 135"/>
            <p:cNvSpPr/>
            <p:nvPr/>
          </p:nvSpPr>
          <p:spPr>
            <a:xfrm>
              <a:off x="1610" y="980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0" name="Line 136"/>
            <p:cNvSpPr/>
            <p:nvPr/>
          </p:nvSpPr>
          <p:spPr>
            <a:xfrm flipH="1">
              <a:off x="612" y="980"/>
              <a:ext cx="58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1" name="Line 137"/>
            <p:cNvSpPr/>
            <p:nvPr/>
          </p:nvSpPr>
          <p:spPr>
            <a:xfrm>
              <a:off x="612" y="980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2" name="Line 138"/>
            <p:cNvSpPr/>
            <p:nvPr/>
          </p:nvSpPr>
          <p:spPr>
            <a:xfrm flipH="1" flipV="1">
              <a:off x="612" y="1796"/>
              <a:ext cx="20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83" name="Group 139"/>
            <p:cNvGrpSpPr/>
            <p:nvPr/>
          </p:nvGrpSpPr>
          <p:grpSpPr>
            <a:xfrm>
              <a:off x="1104" y="930"/>
              <a:ext cx="614" cy="370"/>
              <a:chOff x="806" y="745"/>
              <a:chExt cx="614" cy="370"/>
            </a:xfrm>
          </p:grpSpPr>
          <p:grpSp>
            <p:nvGrpSpPr>
              <p:cNvPr id="30809" name="Group 140"/>
              <p:cNvGrpSpPr/>
              <p:nvPr/>
            </p:nvGrpSpPr>
            <p:grpSpPr>
              <a:xfrm>
                <a:off x="806" y="745"/>
                <a:ext cx="614" cy="335"/>
                <a:chOff x="806" y="745"/>
                <a:chExt cx="614" cy="335"/>
              </a:xfrm>
            </p:grpSpPr>
            <p:sp>
              <p:nvSpPr>
                <p:cNvPr id="30811" name="Text Box 141"/>
                <p:cNvSpPr txBox="1"/>
                <p:nvPr/>
              </p:nvSpPr>
              <p:spPr>
                <a:xfrm>
                  <a:off x="806" y="747"/>
                  <a:ext cx="242" cy="33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0812" name="Text Box 142"/>
                <p:cNvSpPr txBox="1"/>
                <p:nvPr/>
              </p:nvSpPr>
              <p:spPr>
                <a:xfrm>
                  <a:off x="1190" y="745"/>
                  <a:ext cx="230" cy="33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30810" name="Text Box 143"/>
              <p:cNvSpPr txBox="1"/>
              <p:nvPr/>
            </p:nvSpPr>
            <p:spPr>
              <a:xfrm>
                <a:off x="964" y="782"/>
                <a:ext cx="312" cy="33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30784" name="Line 144"/>
            <p:cNvSpPr/>
            <p:nvPr/>
          </p:nvSpPr>
          <p:spPr>
            <a:xfrm>
              <a:off x="748" y="934"/>
              <a:ext cx="24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85" name="Text Box 145"/>
            <p:cNvSpPr txBox="1"/>
            <p:nvPr/>
          </p:nvSpPr>
          <p:spPr>
            <a:xfrm>
              <a:off x="886" y="571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86" name="Line 146"/>
            <p:cNvSpPr/>
            <p:nvPr/>
          </p:nvSpPr>
          <p:spPr>
            <a:xfrm flipV="1">
              <a:off x="2653" y="1433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7" name="Line 147"/>
            <p:cNvSpPr/>
            <p:nvPr/>
          </p:nvSpPr>
          <p:spPr>
            <a:xfrm>
              <a:off x="2653" y="98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8" name="Text Box 148"/>
            <p:cNvSpPr txBox="1"/>
            <p:nvPr/>
          </p:nvSpPr>
          <p:spPr>
            <a:xfrm>
              <a:off x="2290" y="1251"/>
              <a:ext cx="26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30789" name="Group 149"/>
            <p:cNvGrpSpPr/>
            <p:nvPr/>
          </p:nvGrpSpPr>
          <p:grpSpPr>
            <a:xfrm>
              <a:off x="2739" y="1024"/>
              <a:ext cx="244" cy="714"/>
              <a:chOff x="1619" y="1228"/>
              <a:chExt cx="244" cy="714"/>
            </a:xfrm>
          </p:grpSpPr>
          <p:sp>
            <p:nvSpPr>
              <p:cNvPr id="30807" name="Text Box 150"/>
              <p:cNvSpPr txBox="1"/>
              <p:nvPr/>
            </p:nvSpPr>
            <p:spPr>
              <a:xfrm>
                <a:off x="1622" y="1228"/>
                <a:ext cx="241" cy="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30808" name="Text Box 151"/>
              <p:cNvSpPr txBox="1"/>
              <p:nvPr/>
            </p:nvSpPr>
            <p:spPr>
              <a:xfrm>
                <a:off x="1619" y="1612"/>
                <a:ext cx="237" cy="3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30790" name="Text Box 152"/>
            <p:cNvSpPr txBox="1"/>
            <p:nvPr/>
          </p:nvSpPr>
          <p:spPr>
            <a:xfrm>
              <a:off x="2746" y="1206"/>
              <a:ext cx="32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91" name="Text Box 153"/>
            <p:cNvSpPr txBox="1"/>
            <p:nvPr/>
          </p:nvSpPr>
          <p:spPr>
            <a:xfrm>
              <a:off x="1293" y="571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92" name="Text Box 154"/>
            <p:cNvSpPr txBox="1"/>
            <p:nvPr/>
          </p:nvSpPr>
          <p:spPr>
            <a:xfrm>
              <a:off x="1928" y="1206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93" name="Text Box 155"/>
            <p:cNvSpPr txBox="1"/>
            <p:nvPr/>
          </p:nvSpPr>
          <p:spPr>
            <a:xfrm>
              <a:off x="342" y="970"/>
              <a:ext cx="2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94" name="Line 156"/>
            <p:cNvSpPr/>
            <p:nvPr/>
          </p:nvSpPr>
          <p:spPr>
            <a:xfrm flipV="1">
              <a:off x="612" y="1026"/>
              <a:ext cx="0" cy="334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95" name="Line 157"/>
            <p:cNvSpPr/>
            <p:nvPr/>
          </p:nvSpPr>
          <p:spPr>
            <a:xfrm>
              <a:off x="2608" y="1071"/>
              <a:ext cx="0" cy="22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96" name="Text Box 158"/>
            <p:cNvSpPr txBox="1"/>
            <p:nvPr/>
          </p:nvSpPr>
          <p:spPr>
            <a:xfrm>
              <a:off x="2337" y="979"/>
              <a:ext cx="27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97" name="Line 159"/>
            <p:cNvSpPr/>
            <p:nvPr/>
          </p:nvSpPr>
          <p:spPr>
            <a:xfrm>
              <a:off x="1020" y="980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798" name="Line 160"/>
            <p:cNvSpPr/>
            <p:nvPr/>
          </p:nvSpPr>
          <p:spPr>
            <a:xfrm flipV="1">
              <a:off x="1020" y="1252"/>
              <a:ext cx="181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9" name="Line 161"/>
            <p:cNvSpPr/>
            <p:nvPr/>
          </p:nvSpPr>
          <p:spPr>
            <a:xfrm>
              <a:off x="1020" y="1433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pSp>
          <p:nvGrpSpPr>
            <p:cNvPr id="30800" name="Group 162"/>
            <p:cNvGrpSpPr/>
            <p:nvPr/>
          </p:nvGrpSpPr>
          <p:grpSpPr>
            <a:xfrm>
              <a:off x="430" y="1343"/>
              <a:ext cx="363" cy="363"/>
              <a:chOff x="4785" y="709"/>
              <a:chExt cx="363" cy="363"/>
            </a:xfrm>
          </p:grpSpPr>
          <p:sp>
            <p:nvSpPr>
              <p:cNvPr id="30805" name="Oval 16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0806" name="Line 16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801" name="Group 165"/>
            <p:cNvGrpSpPr/>
            <p:nvPr/>
          </p:nvGrpSpPr>
          <p:grpSpPr>
            <a:xfrm rot="-5400000">
              <a:off x="1360" y="730"/>
              <a:ext cx="90" cy="408"/>
              <a:chOff x="2744" y="2931"/>
              <a:chExt cx="57" cy="283"/>
            </a:xfrm>
          </p:grpSpPr>
          <p:sp>
            <p:nvSpPr>
              <p:cNvPr id="30802" name="Arc 16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03" name="Arc 16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04" name="Arc 16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3977" grpId="0"/>
      <p:bldP spid="8400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2" name="Text Box 4"/>
          <p:cNvSpPr txBox="1"/>
          <p:nvPr/>
        </p:nvSpPr>
        <p:spPr>
          <a:xfrm>
            <a:off x="770255" y="3642837"/>
            <a:ext cx="317309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3973" name="Text Box 5"/>
          <p:cNvSpPr txBox="1"/>
          <p:nvPr/>
        </p:nvSpPr>
        <p:spPr>
          <a:xfrm>
            <a:off x="771208" y="4290537"/>
            <a:ext cx="366014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3974" name="Text Box 6"/>
          <p:cNvSpPr txBox="1"/>
          <p:nvPr/>
        </p:nvSpPr>
        <p:spPr>
          <a:xfrm>
            <a:off x="4643438" y="4722337"/>
            <a:ext cx="381635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 Ri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4000" name="Object 32"/>
          <p:cNvGraphicFramePr>
            <a:graphicFrameLocks noChangeAspect="1"/>
          </p:cNvGraphicFramePr>
          <p:nvPr/>
        </p:nvGraphicFramePr>
        <p:xfrm>
          <a:off x="5076825" y="3789363"/>
          <a:ext cx="29908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219200" imgH="348615" progId="Equation.3">
                  <p:embed/>
                </p:oleObj>
              </mc:Choice>
              <mc:Fallback>
                <p:oleObj name="" r:id="rId1" imgW="1219200" imgH="34861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3789363"/>
                        <a:ext cx="299085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50" name="Text Box 82"/>
          <p:cNvSpPr txBox="1"/>
          <p:nvPr/>
        </p:nvSpPr>
        <p:spPr>
          <a:xfrm>
            <a:off x="540703" y="1482884"/>
            <a:ext cx="647700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076" name="Text Box 108"/>
          <p:cNvSpPr txBox="1"/>
          <p:nvPr/>
        </p:nvSpPr>
        <p:spPr>
          <a:xfrm>
            <a:off x="1331278" y="1484313"/>
            <a:ext cx="30972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4093" name="Text Box 125"/>
          <p:cNvSpPr txBox="1"/>
          <p:nvPr/>
        </p:nvSpPr>
        <p:spPr>
          <a:xfrm>
            <a:off x="5003800" y="3213100"/>
            <a:ext cx="30972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4180" name="Group 212"/>
          <p:cNvGrpSpPr/>
          <p:nvPr/>
        </p:nvGrpSpPr>
        <p:grpSpPr>
          <a:xfrm>
            <a:off x="683578" y="2203451"/>
            <a:ext cx="3970337" cy="1344613"/>
            <a:chOff x="385" y="2386"/>
            <a:chExt cx="2501" cy="847"/>
          </a:xfrm>
        </p:grpSpPr>
        <p:sp>
          <p:nvSpPr>
            <p:cNvPr id="30757" name="Oval 170"/>
            <p:cNvSpPr/>
            <p:nvPr/>
          </p:nvSpPr>
          <p:spPr>
            <a:xfrm>
              <a:off x="2018" y="2887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58" name="Line 171"/>
            <p:cNvSpPr/>
            <p:nvPr/>
          </p:nvSpPr>
          <p:spPr>
            <a:xfrm>
              <a:off x="2063" y="2931"/>
              <a:ext cx="0" cy="2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9" name="Line 172"/>
            <p:cNvSpPr/>
            <p:nvPr/>
          </p:nvSpPr>
          <p:spPr>
            <a:xfrm flipV="1">
              <a:off x="567" y="2387"/>
              <a:ext cx="8" cy="8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0" name="Line 173"/>
            <p:cNvSpPr/>
            <p:nvPr/>
          </p:nvSpPr>
          <p:spPr>
            <a:xfrm>
              <a:off x="575" y="3219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174"/>
            <p:cNvSpPr/>
            <p:nvPr/>
          </p:nvSpPr>
          <p:spPr>
            <a:xfrm flipV="1">
              <a:off x="567" y="2387"/>
              <a:ext cx="14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2" name="Line 175"/>
            <p:cNvSpPr/>
            <p:nvPr/>
          </p:nvSpPr>
          <p:spPr>
            <a:xfrm>
              <a:off x="2063" y="2387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3" name="Line 176"/>
            <p:cNvSpPr/>
            <p:nvPr/>
          </p:nvSpPr>
          <p:spPr>
            <a:xfrm>
              <a:off x="1337" y="238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764" name="Text Box 177"/>
            <p:cNvSpPr txBox="1"/>
            <p:nvPr/>
          </p:nvSpPr>
          <p:spPr>
            <a:xfrm>
              <a:off x="1428" y="2614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65" name="Line 178"/>
            <p:cNvSpPr/>
            <p:nvPr/>
          </p:nvSpPr>
          <p:spPr>
            <a:xfrm flipV="1">
              <a:off x="567" y="2432"/>
              <a:ext cx="0" cy="31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66" name="Text Box 179"/>
            <p:cNvSpPr txBox="1"/>
            <p:nvPr/>
          </p:nvSpPr>
          <p:spPr>
            <a:xfrm>
              <a:off x="614" y="2386"/>
              <a:ext cx="2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67" name="Text Box 180"/>
            <p:cNvSpPr txBox="1"/>
            <p:nvPr/>
          </p:nvSpPr>
          <p:spPr>
            <a:xfrm>
              <a:off x="1972" y="2614"/>
              <a:ext cx="91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r>
                <a:rPr lang="zh-CN" altLang="en-US" b="0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68" name="Oval 181"/>
            <p:cNvSpPr/>
            <p:nvPr/>
          </p:nvSpPr>
          <p:spPr>
            <a:xfrm>
              <a:off x="2018" y="256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69" name="Rectangle 182"/>
            <p:cNvSpPr/>
            <p:nvPr/>
          </p:nvSpPr>
          <p:spPr>
            <a:xfrm>
              <a:off x="1292" y="26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770" name="Group 183"/>
            <p:cNvGrpSpPr/>
            <p:nvPr/>
          </p:nvGrpSpPr>
          <p:grpSpPr>
            <a:xfrm>
              <a:off x="385" y="2750"/>
              <a:ext cx="363" cy="363"/>
              <a:chOff x="4785" y="709"/>
              <a:chExt cx="363" cy="363"/>
            </a:xfrm>
          </p:grpSpPr>
          <p:sp>
            <p:nvSpPr>
              <p:cNvPr id="30771" name="Oval 18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0772" name="Line 18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4181" name="Group 213"/>
          <p:cNvGrpSpPr/>
          <p:nvPr/>
        </p:nvGrpSpPr>
        <p:grpSpPr>
          <a:xfrm>
            <a:off x="5041900" y="835026"/>
            <a:ext cx="3851275" cy="2106612"/>
            <a:chOff x="3176" y="526"/>
            <a:chExt cx="2426" cy="1327"/>
          </a:xfrm>
        </p:grpSpPr>
        <p:sp>
          <p:nvSpPr>
            <p:cNvPr id="30739" name="Oval 187"/>
            <p:cNvSpPr/>
            <p:nvPr/>
          </p:nvSpPr>
          <p:spPr>
            <a:xfrm>
              <a:off x="4719" y="125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0740" name="Rectangle 188"/>
            <p:cNvSpPr/>
            <p:nvPr/>
          </p:nvSpPr>
          <p:spPr>
            <a:xfrm>
              <a:off x="3176" y="890"/>
              <a:ext cx="1712" cy="96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41" name="Line 189"/>
            <p:cNvSpPr/>
            <p:nvPr/>
          </p:nvSpPr>
          <p:spPr>
            <a:xfrm>
              <a:off x="4283" y="876"/>
              <a:ext cx="0" cy="9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2" name="Text Box 190"/>
            <p:cNvSpPr txBox="1"/>
            <p:nvPr/>
          </p:nvSpPr>
          <p:spPr>
            <a:xfrm>
              <a:off x="3518" y="1016"/>
              <a:ext cx="3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43" name="Text Box 191"/>
            <p:cNvSpPr txBox="1"/>
            <p:nvPr/>
          </p:nvSpPr>
          <p:spPr>
            <a:xfrm>
              <a:off x="3198" y="879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44" name="Text Box 192"/>
            <p:cNvSpPr txBox="1"/>
            <p:nvPr/>
          </p:nvSpPr>
          <p:spPr>
            <a:xfrm>
              <a:off x="3877" y="87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45" name="Text Box 193"/>
            <p:cNvSpPr txBox="1"/>
            <p:nvPr/>
          </p:nvSpPr>
          <p:spPr>
            <a:xfrm>
              <a:off x="5023" y="798"/>
              <a:ext cx="27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46" name="Line 194"/>
            <p:cNvSpPr/>
            <p:nvPr/>
          </p:nvSpPr>
          <p:spPr>
            <a:xfrm>
              <a:off x="4995" y="867"/>
              <a:ext cx="0" cy="19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47" name="Text Box 195"/>
            <p:cNvSpPr txBox="1"/>
            <p:nvPr/>
          </p:nvSpPr>
          <p:spPr>
            <a:xfrm>
              <a:off x="3983" y="1192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48" name="Line 196"/>
            <p:cNvSpPr/>
            <p:nvPr/>
          </p:nvSpPr>
          <p:spPr>
            <a:xfrm>
              <a:off x="3833" y="890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49" name="Text Box 197"/>
            <p:cNvSpPr txBox="1"/>
            <p:nvPr/>
          </p:nvSpPr>
          <p:spPr>
            <a:xfrm>
              <a:off x="3880" y="526"/>
              <a:ext cx="2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50" name="Text Box 198"/>
            <p:cNvSpPr txBox="1"/>
            <p:nvPr/>
          </p:nvSpPr>
          <p:spPr>
            <a:xfrm>
              <a:off x="5082" y="1207"/>
              <a:ext cx="52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51" name="Text Box 199"/>
            <p:cNvSpPr txBox="1"/>
            <p:nvPr/>
          </p:nvSpPr>
          <p:spPr>
            <a:xfrm>
              <a:off x="4945" y="980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52" name="Text Box 200"/>
            <p:cNvSpPr txBox="1"/>
            <p:nvPr/>
          </p:nvSpPr>
          <p:spPr>
            <a:xfrm>
              <a:off x="4945" y="152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30753" name="Group 201"/>
            <p:cNvGrpSpPr/>
            <p:nvPr/>
          </p:nvGrpSpPr>
          <p:grpSpPr>
            <a:xfrm rot="5400000">
              <a:off x="3470" y="709"/>
              <a:ext cx="363" cy="363"/>
              <a:chOff x="4785" y="709"/>
              <a:chExt cx="363" cy="363"/>
            </a:xfrm>
          </p:grpSpPr>
          <p:sp>
            <p:nvSpPr>
              <p:cNvPr id="30755" name="Oval 20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0756" name="Line 20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54" name="Rectangle 204"/>
            <p:cNvSpPr/>
            <p:nvPr/>
          </p:nvSpPr>
          <p:spPr>
            <a:xfrm>
              <a:off x="4220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3972" grpId="0"/>
      <p:bldP spid="83973" grpId="0"/>
      <p:bldP spid="83974" grpId="0"/>
      <p:bldP spid="84050" grpId="0" animBg="1"/>
      <p:bldP spid="84076" grpId="0"/>
      <p:bldP spid="840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52" name="Rectangle 8"/>
          <p:cNvSpPr/>
          <p:nvPr/>
        </p:nvSpPr>
        <p:spPr>
          <a:xfrm>
            <a:off x="468789" y="547211"/>
            <a:ext cx="7943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3006" name="Text Box 62"/>
          <p:cNvSpPr txBox="1"/>
          <p:nvPr/>
        </p:nvSpPr>
        <p:spPr>
          <a:xfrm>
            <a:off x="1258888" y="547846"/>
            <a:ext cx="5935345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闭合瞬间各支路电流和电感电压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3102" name="Group 158"/>
          <p:cNvGrpSpPr/>
          <p:nvPr/>
        </p:nvGrpSpPr>
        <p:grpSpPr>
          <a:xfrm>
            <a:off x="2043430" y="1840230"/>
            <a:ext cx="4521200" cy="2763838"/>
            <a:chOff x="1066" y="2204"/>
            <a:chExt cx="2848" cy="1741"/>
          </a:xfrm>
        </p:grpSpPr>
        <p:sp>
          <p:nvSpPr>
            <p:cNvPr id="31810" name="Line 159"/>
            <p:cNvSpPr/>
            <p:nvPr/>
          </p:nvSpPr>
          <p:spPr>
            <a:xfrm>
              <a:off x="1247" y="2568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11" name="Group 160"/>
            <p:cNvGrpSpPr/>
            <p:nvPr/>
          </p:nvGrpSpPr>
          <p:grpSpPr>
            <a:xfrm>
              <a:off x="3334" y="3294"/>
              <a:ext cx="240" cy="93"/>
              <a:chOff x="3787" y="2478"/>
              <a:chExt cx="240" cy="93"/>
            </a:xfrm>
          </p:grpSpPr>
          <p:sp>
            <p:nvSpPr>
              <p:cNvPr id="31844" name="Line 16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5" name="Line 16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812" name="Oval 163"/>
            <p:cNvSpPr/>
            <p:nvPr/>
          </p:nvSpPr>
          <p:spPr>
            <a:xfrm>
              <a:off x="1066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813" name="Rectangle 164"/>
            <p:cNvSpPr/>
            <p:nvPr/>
          </p:nvSpPr>
          <p:spPr>
            <a:xfrm>
              <a:off x="1701" y="252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4" name="Rectangle 165"/>
            <p:cNvSpPr/>
            <p:nvPr/>
          </p:nvSpPr>
          <p:spPr>
            <a:xfrm>
              <a:off x="3107" y="3521"/>
              <a:ext cx="187" cy="424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5" name="Text Box 166"/>
            <p:cNvSpPr txBox="1"/>
            <p:nvPr/>
          </p:nvSpPr>
          <p:spPr>
            <a:xfrm>
              <a:off x="2882" y="3293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6" name="Text Box 167"/>
            <p:cNvSpPr txBox="1"/>
            <p:nvPr/>
          </p:nvSpPr>
          <p:spPr>
            <a:xfrm>
              <a:off x="2883" y="2657"/>
              <a:ext cx="308" cy="6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lnSpc>
                  <a:spcPct val="7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>
                <a:lnSpc>
                  <a:spcPct val="7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>
                <a:lnSpc>
                  <a:spcPct val="70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7" name="Text Box 168"/>
            <p:cNvSpPr txBox="1"/>
            <p:nvPr/>
          </p:nvSpPr>
          <p:spPr>
            <a:xfrm>
              <a:off x="2518" y="2749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8" name="Line 169"/>
            <p:cNvSpPr/>
            <p:nvPr/>
          </p:nvSpPr>
          <p:spPr>
            <a:xfrm>
              <a:off x="2789" y="2568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19" name="Text Box 170"/>
            <p:cNvSpPr txBox="1"/>
            <p:nvPr/>
          </p:nvSpPr>
          <p:spPr>
            <a:xfrm>
              <a:off x="2059" y="2794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20" name="Text Box 171"/>
            <p:cNvSpPr txBox="1"/>
            <p:nvPr/>
          </p:nvSpPr>
          <p:spPr>
            <a:xfrm>
              <a:off x="1655" y="220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21" name="Line 172"/>
            <p:cNvSpPr/>
            <p:nvPr/>
          </p:nvSpPr>
          <p:spPr>
            <a:xfrm flipH="1">
              <a:off x="2880" y="3339"/>
              <a:ext cx="1" cy="28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22" name="Line 173"/>
            <p:cNvSpPr/>
            <p:nvPr/>
          </p:nvSpPr>
          <p:spPr>
            <a:xfrm>
              <a:off x="1519" y="2568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23" name="Line 174"/>
            <p:cNvSpPr/>
            <p:nvPr/>
          </p:nvSpPr>
          <p:spPr>
            <a:xfrm flipH="1">
              <a:off x="1791" y="2795"/>
              <a:ext cx="240" cy="11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4" name="Line 175"/>
            <p:cNvSpPr/>
            <p:nvPr/>
          </p:nvSpPr>
          <p:spPr>
            <a:xfrm>
              <a:off x="1927" y="2840"/>
              <a:ext cx="144" cy="11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825" name="Text Box 176"/>
            <p:cNvSpPr txBox="1"/>
            <p:nvPr/>
          </p:nvSpPr>
          <p:spPr>
            <a:xfrm>
              <a:off x="1248" y="2700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26" name="Line 177"/>
            <p:cNvSpPr/>
            <p:nvPr/>
          </p:nvSpPr>
          <p:spPr>
            <a:xfrm>
              <a:off x="1247" y="370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7" name="Line 178"/>
            <p:cNvSpPr/>
            <p:nvPr/>
          </p:nvSpPr>
          <p:spPr>
            <a:xfrm>
              <a:off x="1247" y="2568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8" name="Line 179"/>
            <p:cNvSpPr/>
            <p:nvPr/>
          </p:nvSpPr>
          <p:spPr>
            <a:xfrm>
              <a:off x="2789" y="3113"/>
              <a:ext cx="0" cy="5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1829" name="Line 180"/>
            <p:cNvSpPr/>
            <p:nvPr/>
          </p:nvSpPr>
          <p:spPr>
            <a:xfrm>
              <a:off x="3470" y="2568"/>
              <a:ext cx="0" cy="7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0" name="Line 181"/>
            <p:cNvSpPr/>
            <p:nvPr/>
          </p:nvSpPr>
          <p:spPr>
            <a:xfrm>
              <a:off x="3470" y="3385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1" name="Text Box 182"/>
            <p:cNvSpPr txBox="1"/>
            <p:nvPr/>
          </p:nvSpPr>
          <p:spPr>
            <a:xfrm>
              <a:off x="1383" y="2975"/>
              <a:ext cx="63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32" name="Text Box 183"/>
            <p:cNvSpPr txBox="1"/>
            <p:nvPr/>
          </p:nvSpPr>
          <p:spPr>
            <a:xfrm>
              <a:off x="3515" y="2749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3" name="Text Box 184"/>
            <p:cNvSpPr txBox="1"/>
            <p:nvPr/>
          </p:nvSpPr>
          <p:spPr>
            <a:xfrm>
              <a:off x="2336" y="3202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4" name="Text Box 185"/>
            <p:cNvSpPr txBox="1"/>
            <p:nvPr/>
          </p:nvSpPr>
          <p:spPr>
            <a:xfrm>
              <a:off x="3560" y="3202"/>
              <a:ext cx="26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5" name="Rectangle 186"/>
            <p:cNvSpPr/>
            <p:nvPr/>
          </p:nvSpPr>
          <p:spPr>
            <a:xfrm>
              <a:off x="3388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36" name="Line 187"/>
            <p:cNvSpPr/>
            <p:nvPr/>
          </p:nvSpPr>
          <p:spPr>
            <a:xfrm>
              <a:off x="2290" y="2568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37" name="Line 188"/>
            <p:cNvSpPr/>
            <p:nvPr/>
          </p:nvSpPr>
          <p:spPr>
            <a:xfrm flipH="1" flipV="1">
              <a:off x="1519" y="2795"/>
              <a:ext cx="227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38" name="Line 189"/>
            <p:cNvSpPr/>
            <p:nvPr/>
          </p:nvSpPr>
          <p:spPr>
            <a:xfrm>
              <a:off x="2018" y="2795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grpSp>
          <p:nvGrpSpPr>
            <p:cNvPr id="31839" name="Group 190"/>
            <p:cNvGrpSpPr/>
            <p:nvPr/>
          </p:nvGrpSpPr>
          <p:grpSpPr>
            <a:xfrm>
              <a:off x="2789" y="2750"/>
              <a:ext cx="91" cy="363"/>
              <a:chOff x="2744" y="2931"/>
              <a:chExt cx="57" cy="283"/>
            </a:xfrm>
          </p:grpSpPr>
          <p:sp>
            <p:nvSpPr>
              <p:cNvPr id="31841" name="Arc 19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42" name="Arc 19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43" name="Arc 19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840" name="Rectangle 194"/>
            <p:cNvSpPr/>
            <p:nvPr/>
          </p:nvSpPr>
          <p:spPr>
            <a:xfrm>
              <a:off x="2708" y="32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2952" grpId="0"/>
      <p:bldP spid="8300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754063" y="5300663"/>
          <a:ext cx="24495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949325" imgH="348615" progId="Equation.3">
                  <p:embed/>
                </p:oleObj>
              </mc:Choice>
              <mc:Fallback>
                <p:oleObj name="" r:id="rId1" imgW="949325" imgH="34861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4063" y="5300663"/>
                        <a:ext cx="2449512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755650" y="4076700"/>
          <a:ext cx="2347913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862330" imgH="356870" progId="Equation.3">
                  <p:embed/>
                </p:oleObj>
              </mc:Choice>
              <mc:Fallback>
                <p:oleObj name="" r:id="rId3" imgW="862330" imgH="35687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076700"/>
                        <a:ext cx="2347913" cy="1087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06" name="Text Box 62"/>
          <p:cNvSpPr txBox="1"/>
          <p:nvPr/>
        </p:nvSpPr>
        <p:spPr>
          <a:xfrm>
            <a:off x="1258888" y="547846"/>
            <a:ext cx="5935345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闭合瞬间各支路电流和电感电压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3007" name="Text Box 63"/>
          <p:cNvSpPr txBox="1"/>
          <p:nvPr/>
        </p:nvSpPr>
        <p:spPr>
          <a:xfrm>
            <a:off x="468313" y="3427572"/>
            <a:ext cx="504825" cy="521970"/>
          </a:xfrm>
          <a:prstGeom prst="rect">
            <a:avLst/>
          </a:prstGeom>
          <a:solidFill>
            <a:srgbClr val="66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3080" name="Object 136"/>
          <p:cNvGraphicFramePr>
            <a:graphicFrameLocks noChangeAspect="1"/>
          </p:cNvGraphicFramePr>
          <p:nvPr/>
        </p:nvGraphicFramePr>
        <p:xfrm>
          <a:off x="4140200" y="4149725"/>
          <a:ext cx="42275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602105" imgH="147955" progId="Equation.3">
                  <p:embed/>
                </p:oleObj>
              </mc:Choice>
              <mc:Fallback>
                <p:oleObj name="" r:id="rId5" imgW="1602105" imgH="14795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4149725"/>
                        <a:ext cx="4227513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81" name="Object 137"/>
          <p:cNvGraphicFramePr>
            <a:graphicFrameLocks noChangeAspect="1"/>
          </p:cNvGraphicFramePr>
          <p:nvPr/>
        </p:nvGraphicFramePr>
        <p:xfrm>
          <a:off x="4140200" y="4797425"/>
          <a:ext cx="33464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1254125" imgH="147955" progId="Equation.3">
                  <p:embed/>
                </p:oleObj>
              </mc:Choice>
              <mc:Fallback>
                <p:oleObj name="" r:id="rId7" imgW="1254125" imgH="14795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4797425"/>
                        <a:ext cx="334645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82" name="Object 138"/>
          <p:cNvGraphicFramePr>
            <a:graphicFrameLocks noChangeAspect="1"/>
          </p:cNvGraphicFramePr>
          <p:nvPr/>
        </p:nvGraphicFramePr>
        <p:xfrm>
          <a:off x="4140200" y="5445125"/>
          <a:ext cx="43465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9" imgW="1645920" imgH="147955" progId="Equation.3">
                  <p:embed/>
                </p:oleObj>
              </mc:Choice>
              <mc:Fallback>
                <p:oleObj name="" r:id="rId9" imgW="1645920" imgH="147955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5445125"/>
                        <a:ext cx="434657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100" name="Text Box 156"/>
          <p:cNvSpPr txBox="1"/>
          <p:nvPr/>
        </p:nvSpPr>
        <p:spPr>
          <a:xfrm>
            <a:off x="1116013" y="3429000"/>
            <a:ext cx="30972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3101" name="Text Box 157"/>
          <p:cNvSpPr txBox="1"/>
          <p:nvPr/>
        </p:nvSpPr>
        <p:spPr>
          <a:xfrm>
            <a:off x="4932363" y="3500438"/>
            <a:ext cx="30972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3102" name="Group 158"/>
          <p:cNvGrpSpPr/>
          <p:nvPr/>
        </p:nvGrpSpPr>
        <p:grpSpPr>
          <a:xfrm>
            <a:off x="250825" y="952500"/>
            <a:ext cx="4521200" cy="2763838"/>
            <a:chOff x="1066" y="2204"/>
            <a:chExt cx="2848" cy="1741"/>
          </a:xfrm>
        </p:grpSpPr>
        <p:sp>
          <p:nvSpPr>
            <p:cNvPr id="31810" name="Line 159"/>
            <p:cNvSpPr/>
            <p:nvPr/>
          </p:nvSpPr>
          <p:spPr>
            <a:xfrm>
              <a:off x="1247" y="2568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11" name="Group 160"/>
            <p:cNvGrpSpPr/>
            <p:nvPr/>
          </p:nvGrpSpPr>
          <p:grpSpPr>
            <a:xfrm>
              <a:off x="3334" y="3294"/>
              <a:ext cx="240" cy="93"/>
              <a:chOff x="3787" y="2478"/>
              <a:chExt cx="240" cy="93"/>
            </a:xfrm>
          </p:grpSpPr>
          <p:sp>
            <p:nvSpPr>
              <p:cNvPr id="31844" name="Line 16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5" name="Line 16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812" name="Oval 163"/>
            <p:cNvSpPr/>
            <p:nvPr/>
          </p:nvSpPr>
          <p:spPr>
            <a:xfrm>
              <a:off x="1066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813" name="Rectangle 164"/>
            <p:cNvSpPr/>
            <p:nvPr/>
          </p:nvSpPr>
          <p:spPr>
            <a:xfrm>
              <a:off x="1701" y="252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4" name="Rectangle 165"/>
            <p:cNvSpPr/>
            <p:nvPr/>
          </p:nvSpPr>
          <p:spPr>
            <a:xfrm>
              <a:off x="3107" y="3521"/>
              <a:ext cx="187" cy="424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5" name="Text Box 166"/>
            <p:cNvSpPr txBox="1"/>
            <p:nvPr/>
          </p:nvSpPr>
          <p:spPr>
            <a:xfrm>
              <a:off x="2882" y="3293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6" name="Text Box 167"/>
            <p:cNvSpPr txBox="1"/>
            <p:nvPr/>
          </p:nvSpPr>
          <p:spPr>
            <a:xfrm>
              <a:off x="2883" y="2657"/>
              <a:ext cx="308" cy="6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lnSpc>
                  <a:spcPct val="7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>
                <a:lnSpc>
                  <a:spcPct val="7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>
                <a:lnSpc>
                  <a:spcPct val="70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7" name="Text Box 168"/>
            <p:cNvSpPr txBox="1"/>
            <p:nvPr/>
          </p:nvSpPr>
          <p:spPr>
            <a:xfrm>
              <a:off x="2518" y="2749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18" name="Line 169"/>
            <p:cNvSpPr/>
            <p:nvPr/>
          </p:nvSpPr>
          <p:spPr>
            <a:xfrm>
              <a:off x="2789" y="2568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19" name="Text Box 170"/>
            <p:cNvSpPr txBox="1"/>
            <p:nvPr/>
          </p:nvSpPr>
          <p:spPr>
            <a:xfrm>
              <a:off x="2059" y="2794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20" name="Text Box 171"/>
            <p:cNvSpPr txBox="1"/>
            <p:nvPr/>
          </p:nvSpPr>
          <p:spPr>
            <a:xfrm>
              <a:off x="1655" y="220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21" name="Line 172"/>
            <p:cNvSpPr/>
            <p:nvPr/>
          </p:nvSpPr>
          <p:spPr>
            <a:xfrm flipH="1">
              <a:off x="2880" y="3339"/>
              <a:ext cx="1" cy="28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22" name="Line 173"/>
            <p:cNvSpPr/>
            <p:nvPr/>
          </p:nvSpPr>
          <p:spPr>
            <a:xfrm>
              <a:off x="1519" y="2568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23" name="Line 174"/>
            <p:cNvSpPr/>
            <p:nvPr/>
          </p:nvSpPr>
          <p:spPr>
            <a:xfrm flipH="1">
              <a:off x="1791" y="2795"/>
              <a:ext cx="240" cy="11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4" name="Line 175"/>
            <p:cNvSpPr/>
            <p:nvPr/>
          </p:nvSpPr>
          <p:spPr>
            <a:xfrm>
              <a:off x="1927" y="2840"/>
              <a:ext cx="144" cy="11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825" name="Text Box 176"/>
            <p:cNvSpPr txBox="1"/>
            <p:nvPr/>
          </p:nvSpPr>
          <p:spPr>
            <a:xfrm>
              <a:off x="1248" y="2700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26" name="Line 177"/>
            <p:cNvSpPr/>
            <p:nvPr/>
          </p:nvSpPr>
          <p:spPr>
            <a:xfrm>
              <a:off x="1247" y="370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7" name="Line 178"/>
            <p:cNvSpPr/>
            <p:nvPr/>
          </p:nvSpPr>
          <p:spPr>
            <a:xfrm>
              <a:off x="1247" y="2568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8" name="Line 179"/>
            <p:cNvSpPr/>
            <p:nvPr/>
          </p:nvSpPr>
          <p:spPr>
            <a:xfrm>
              <a:off x="2789" y="3113"/>
              <a:ext cx="0" cy="5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1829" name="Line 180"/>
            <p:cNvSpPr/>
            <p:nvPr/>
          </p:nvSpPr>
          <p:spPr>
            <a:xfrm>
              <a:off x="3470" y="2568"/>
              <a:ext cx="0" cy="7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0" name="Line 181"/>
            <p:cNvSpPr/>
            <p:nvPr/>
          </p:nvSpPr>
          <p:spPr>
            <a:xfrm>
              <a:off x="3470" y="3385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1" name="Text Box 182"/>
            <p:cNvSpPr txBox="1"/>
            <p:nvPr/>
          </p:nvSpPr>
          <p:spPr>
            <a:xfrm>
              <a:off x="1383" y="2975"/>
              <a:ext cx="63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32" name="Text Box 183"/>
            <p:cNvSpPr txBox="1"/>
            <p:nvPr/>
          </p:nvSpPr>
          <p:spPr>
            <a:xfrm>
              <a:off x="3515" y="2749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3" name="Text Box 184"/>
            <p:cNvSpPr txBox="1"/>
            <p:nvPr/>
          </p:nvSpPr>
          <p:spPr>
            <a:xfrm>
              <a:off x="2336" y="3202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4" name="Text Box 185"/>
            <p:cNvSpPr txBox="1"/>
            <p:nvPr/>
          </p:nvSpPr>
          <p:spPr>
            <a:xfrm>
              <a:off x="3560" y="3202"/>
              <a:ext cx="26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35" name="Rectangle 186"/>
            <p:cNvSpPr/>
            <p:nvPr/>
          </p:nvSpPr>
          <p:spPr>
            <a:xfrm>
              <a:off x="3388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36" name="Line 187"/>
            <p:cNvSpPr/>
            <p:nvPr/>
          </p:nvSpPr>
          <p:spPr>
            <a:xfrm>
              <a:off x="2290" y="2568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37" name="Line 188"/>
            <p:cNvSpPr/>
            <p:nvPr/>
          </p:nvSpPr>
          <p:spPr>
            <a:xfrm flipH="1" flipV="1">
              <a:off x="1519" y="2795"/>
              <a:ext cx="227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1838" name="Line 189"/>
            <p:cNvSpPr/>
            <p:nvPr/>
          </p:nvSpPr>
          <p:spPr>
            <a:xfrm>
              <a:off x="2018" y="2795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grpSp>
          <p:nvGrpSpPr>
            <p:cNvPr id="31839" name="Group 190"/>
            <p:cNvGrpSpPr/>
            <p:nvPr/>
          </p:nvGrpSpPr>
          <p:grpSpPr>
            <a:xfrm>
              <a:off x="2789" y="2750"/>
              <a:ext cx="91" cy="363"/>
              <a:chOff x="2744" y="2931"/>
              <a:chExt cx="57" cy="283"/>
            </a:xfrm>
          </p:grpSpPr>
          <p:sp>
            <p:nvSpPr>
              <p:cNvPr id="31841" name="Arc 19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42" name="Arc 19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43" name="Arc 19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1840" name="Rectangle 194"/>
            <p:cNvSpPr/>
            <p:nvPr/>
          </p:nvSpPr>
          <p:spPr>
            <a:xfrm>
              <a:off x="2708" y="32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3139" name="Group 195"/>
          <p:cNvGrpSpPr/>
          <p:nvPr/>
        </p:nvGrpSpPr>
        <p:grpSpPr>
          <a:xfrm>
            <a:off x="5003800" y="1555750"/>
            <a:ext cx="3922713" cy="1743075"/>
            <a:chOff x="1701" y="2205"/>
            <a:chExt cx="2471" cy="1098"/>
          </a:xfrm>
        </p:grpSpPr>
        <p:sp>
          <p:nvSpPr>
            <p:cNvPr id="31788" name="Line 196"/>
            <p:cNvSpPr/>
            <p:nvPr/>
          </p:nvSpPr>
          <p:spPr>
            <a:xfrm flipV="1">
              <a:off x="1882" y="2251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9" name="Oval 197"/>
            <p:cNvSpPr/>
            <p:nvPr/>
          </p:nvSpPr>
          <p:spPr>
            <a:xfrm>
              <a:off x="1701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790" name="Rectangle 198"/>
            <p:cNvSpPr/>
            <p:nvPr/>
          </p:nvSpPr>
          <p:spPr>
            <a:xfrm>
              <a:off x="2290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1" name="Text Box 199"/>
            <p:cNvSpPr txBox="1"/>
            <p:nvPr/>
          </p:nvSpPr>
          <p:spPr>
            <a:xfrm>
              <a:off x="2610" y="2522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92" name="Line 200"/>
            <p:cNvSpPr/>
            <p:nvPr/>
          </p:nvSpPr>
          <p:spPr>
            <a:xfrm>
              <a:off x="3007" y="2257"/>
              <a:ext cx="9" cy="9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1793" name="Text Box 201"/>
            <p:cNvSpPr txBox="1"/>
            <p:nvPr/>
          </p:nvSpPr>
          <p:spPr>
            <a:xfrm>
              <a:off x="2245" y="2295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94" name="Line 202"/>
            <p:cNvSpPr/>
            <p:nvPr/>
          </p:nvSpPr>
          <p:spPr>
            <a:xfrm flipH="1">
              <a:off x="2880" y="2568"/>
              <a:ext cx="1" cy="26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95" name="Text Box 203"/>
            <p:cNvSpPr txBox="1"/>
            <p:nvPr/>
          </p:nvSpPr>
          <p:spPr>
            <a:xfrm>
              <a:off x="2020" y="2372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96" name="Line 204"/>
            <p:cNvSpPr/>
            <p:nvPr/>
          </p:nvSpPr>
          <p:spPr>
            <a:xfrm flipV="1">
              <a:off x="1882" y="3203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7" name="Line 205"/>
            <p:cNvSpPr/>
            <p:nvPr/>
          </p:nvSpPr>
          <p:spPr>
            <a:xfrm flipH="1">
              <a:off x="1882" y="2251"/>
              <a:ext cx="0" cy="9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8" name="Line 206"/>
            <p:cNvSpPr/>
            <p:nvPr/>
          </p:nvSpPr>
          <p:spPr>
            <a:xfrm>
              <a:off x="3787" y="2251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9" name="Line 207"/>
            <p:cNvSpPr/>
            <p:nvPr/>
          </p:nvSpPr>
          <p:spPr>
            <a:xfrm>
              <a:off x="3787" y="3022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0" name="Text Box 208"/>
            <p:cNvSpPr txBox="1"/>
            <p:nvPr/>
          </p:nvSpPr>
          <p:spPr>
            <a:xfrm>
              <a:off x="2019" y="2626"/>
              <a:ext cx="54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01" name="Text Box 209"/>
            <p:cNvSpPr txBox="1"/>
            <p:nvPr/>
          </p:nvSpPr>
          <p:spPr>
            <a:xfrm>
              <a:off x="3334" y="2295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02" name="Text Box 210"/>
            <p:cNvSpPr txBox="1"/>
            <p:nvPr/>
          </p:nvSpPr>
          <p:spPr>
            <a:xfrm>
              <a:off x="3061" y="2567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803" name="Text Box 211"/>
            <p:cNvSpPr txBox="1"/>
            <p:nvPr/>
          </p:nvSpPr>
          <p:spPr>
            <a:xfrm>
              <a:off x="3787" y="2568"/>
              <a:ext cx="3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04" name="Text Box 212"/>
            <p:cNvSpPr txBox="1"/>
            <p:nvPr/>
          </p:nvSpPr>
          <p:spPr>
            <a:xfrm>
              <a:off x="3742" y="2976"/>
              <a:ext cx="3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05" name="Text Box 213"/>
            <p:cNvSpPr txBox="1"/>
            <p:nvPr/>
          </p:nvSpPr>
          <p:spPr>
            <a:xfrm>
              <a:off x="3787" y="2750"/>
              <a:ext cx="3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806" name="Rectangle 214"/>
            <p:cNvSpPr/>
            <p:nvPr/>
          </p:nvSpPr>
          <p:spPr>
            <a:xfrm>
              <a:off x="3706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07" name="Rectangle 215"/>
            <p:cNvSpPr/>
            <p:nvPr/>
          </p:nvSpPr>
          <p:spPr>
            <a:xfrm>
              <a:off x="2925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08" name="Oval 216"/>
            <p:cNvSpPr/>
            <p:nvPr/>
          </p:nvSpPr>
          <p:spPr>
            <a:xfrm>
              <a:off x="3742" y="2976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09" name="Oval 217"/>
            <p:cNvSpPr/>
            <p:nvPr/>
          </p:nvSpPr>
          <p:spPr>
            <a:xfrm>
              <a:off x="3742" y="2795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3193" name="Group 249"/>
          <p:cNvGrpSpPr/>
          <p:nvPr/>
        </p:nvGrpSpPr>
        <p:grpSpPr>
          <a:xfrm>
            <a:off x="4856163" y="1125538"/>
            <a:ext cx="4252912" cy="2303462"/>
            <a:chOff x="5145" y="346"/>
            <a:chExt cx="2679" cy="1451"/>
          </a:xfrm>
        </p:grpSpPr>
        <p:sp>
          <p:nvSpPr>
            <p:cNvPr id="31762" name="Rectangle 219"/>
            <p:cNvSpPr/>
            <p:nvPr/>
          </p:nvSpPr>
          <p:spPr>
            <a:xfrm>
              <a:off x="5145" y="346"/>
              <a:ext cx="2676" cy="1451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63" name="Oval 220"/>
            <p:cNvSpPr/>
            <p:nvPr/>
          </p:nvSpPr>
          <p:spPr>
            <a:xfrm>
              <a:off x="6959" y="116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764" name="Oval 221"/>
            <p:cNvSpPr/>
            <p:nvPr/>
          </p:nvSpPr>
          <p:spPr>
            <a:xfrm>
              <a:off x="5190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765" name="Text Box 222"/>
            <p:cNvSpPr txBox="1"/>
            <p:nvPr/>
          </p:nvSpPr>
          <p:spPr>
            <a:xfrm>
              <a:off x="6328" y="925"/>
              <a:ext cx="544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66" name="Text Box 223"/>
            <p:cNvSpPr txBox="1"/>
            <p:nvPr/>
          </p:nvSpPr>
          <p:spPr>
            <a:xfrm>
              <a:off x="7322" y="1207"/>
              <a:ext cx="50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67" name="Text Box 225"/>
            <p:cNvSpPr txBox="1"/>
            <p:nvPr/>
          </p:nvSpPr>
          <p:spPr>
            <a:xfrm>
              <a:off x="5372" y="660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68" name="Line 226"/>
            <p:cNvSpPr/>
            <p:nvPr/>
          </p:nvSpPr>
          <p:spPr>
            <a:xfrm>
              <a:off x="6324" y="527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1769" name="Text Box 227"/>
            <p:cNvSpPr txBox="1"/>
            <p:nvPr/>
          </p:nvSpPr>
          <p:spPr>
            <a:xfrm>
              <a:off x="5508" y="934"/>
              <a:ext cx="544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0" name="Text Box 228"/>
            <p:cNvSpPr txBox="1"/>
            <p:nvPr/>
          </p:nvSpPr>
          <p:spPr>
            <a:xfrm>
              <a:off x="7186" y="617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31771" name="Text Box 229"/>
            <p:cNvSpPr txBox="1"/>
            <p:nvPr/>
          </p:nvSpPr>
          <p:spPr>
            <a:xfrm>
              <a:off x="6336" y="1288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31772" name="Text Box 230"/>
            <p:cNvSpPr txBox="1"/>
            <p:nvPr/>
          </p:nvSpPr>
          <p:spPr>
            <a:xfrm>
              <a:off x="7186" y="887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3" name="Line 231"/>
            <p:cNvSpPr/>
            <p:nvPr/>
          </p:nvSpPr>
          <p:spPr>
            <a:xfrm>
              <a:off x="7005" y="663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74" name="Line 232"/>
            <p:cNvSpPr/>
            <p:nvPr/>
          </p:nvSpPr>
          <p:spPr>
            <a:xfrm>
              <a:off x="5556" y="482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75" name="Text Box 233"/>
            <p:cNvSpPr txBox="1"/>
            <p:nvPr/>
          </p:nvSpPr>
          <p:spPr>
            <a:xfrm>
              <a:off x="5556" y="472"/>
              <a:ext cx="3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6" name="Text Box 234"/>
            <p:cNvSpPr txBox="1"/>
            <p:nvPr/>
          </p:nvSpPr>
          <p:spPr>
            <a:xfrm>
              <a:off x="6687" y="618"/>
              <a:ext cx="3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7" name="Text Box 235"/>
            <p:cNvSpPr txBox="1"/>
            <p:nvPr/>
          </p:nvSpPr>
          <p:spPr>
            <a:xfrm>
              <a:off x="5964" y="433"/>
              <a:ext cx="242" cy="8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8" name="Text Box 236"/>
            <p:cNvSpPr txBox="1"/>
            <p:nvPr/>
          </p:nvSpPr>
          <p:spPr>
            <a:xfrm>
              <a:off x="5825" y="618"/>
              <a:ext cx="4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1779" name="Rectangle 237"/>
            <p:cNvSpPr/>
            <p:nvPr/>
          </p:nvSpPr>
          <p:spPr>
            <a:xfrm>
              <a:off x="5372" y="527"/>
              <a:ext cx="1769" cy="117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0" name="Rectangle 238"/>
            <p:cNvSpPr/>
            <p:nvPr/>
          </p:nvSpPr>
          <p:spPr>
            <a:xfrm>
              <a:off x="7059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1" name="Rectangle 239"/>
            <p:cNvSpPr/>
            <p:nvPr/>
          </p:nvSpPr>
          <p:spPr>
            <a:xfrm>
              <a:off x="6246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2" name="Line 224"/>
            <p:cNvSpPr/>
            <p:nvPr/>
          </p:nvSpPr>
          <p:spPr>
            <a:xfrm flipH="1">
              <a:off x="6327" y="984"/>
              <a:ext cx="1" cy="26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1783" name="Group 240"/>
            <p:cNvGrpSpPr/>
            <p:nvPr/>
          </p:nvGrpSpPr>
          <p:grpSpPr>
            <a:xfrm>
              <a:off x="6143" y="618"/>
              <a:ext cx="363" cy="363"/>
              <a:chOff x="4785" y="709"/>
              <a:chExt cx="363" cy="363"/>
            </a:xfrm>
          </p:grpSpPr>
          <p:sp>
            <p:nvSpPr>
              <p:cNvPr id="31784" name="Oval 241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1785" name="Line 242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3006" grpId="0"/>
      <p:bldP spid="83007" grpId="0" animBg="1"/>
      <p:bldP spid="83100" grpId="0"/>
      <p:bldP spid="8310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5" name="Text Box 5"/>
          <p:cNvSpPr txBox="1"/>
          <p:nvPr/>
        </p:nvSpPr>
        <p:spPr>
          <a:xfrm>
            <a:off x="1042988" y="474821"/>
            <a:ext cx="4862830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闭合瞬间流过它的电流值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1924" name="Rectangle 4"/>
          <p:cNvSpPr/>
          <p:nvPr/>
        </p:nvSpPr>
        <p:spPr>
          <a:xfrm>
            <a:off x="395288" y="547211"/>
            <a:ext cx="1152525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2123" name="Group 203"/>
          <p:cNvGrpSpPr/>
          <p:nvPr/>
        </p:nvGrpSpPr>
        <p:grpSpPr>
          <a:xfrm>
            <a:off x="4859338" y="1266825"/>
            <a:ext cx="3787775" cy="2090738"/>
            <a:chOff x="612" y="2295"/>
            <a:chExt cx="2386" cy="1317"/>
          </a:xfrm>
        </p:grpSpPr>
        <p:sp>
          <p:nvSpPr>
            <p:cNvPr id="32857" name="Oval 204"/>
            <p:cNvSpPr/>
            <p:nvPr/>
          </p:nvSpPr>
          <p:spPr>
            <a:xfrm>
              <a:off x="165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58" name="Line 205"/>
            <p:cNvSpPr/>
            <p:nvPr/>
          </p:nvSpPr>
          <p:spPr>
            <a:xfrm>
              <a:off x="1610" y="238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59" name="Text Box 206"/>
            <p:cNvSpPr txBox="1"/>
            <p:nvPr/>
          </p:nvSpPr>
          <p:spPr>
            <a:xfrm>
              <a:off x="741" y="2341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0" name="Text Box 207"/>
            <p:cNvSpPr txBox="1"/>
            <p:nvPr/>
          </p:nvSpPr>
          <p:spPr>
            <a:xfrm>
              <a:off x="2018" y="3021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1" name="Text Box 208"/>
            <p:cNvSpPr txBox="1"/>
            <p:nvPr/>
          </p:nvSpPr>
          <p:spPr>
            <a:xfrm>
              <a:off x="714" y="2821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62" name="Line 209"/>
            <p:cNvSpPr/>
            <p:nvPr/>
          </p:nvSpPr>
          <p:spPr>
            <a:xfrm flipH="1">
              <a:off x="1010" y="2478"/>
              <a:ext cx="31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63" name="Text Box 210"/>
            <p:cNvSpPr txBox="1"/>
            <p:nvPr/>
          </p:nvSpPr>
          <p:spPr>
            <a:xfrm>
              <a:off x="1974" y="2295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4" name="Line 211"/>
            <p:cNvSpPr/>
            <p:nvPr/>
          </p:nvSpPr>
          <p:spPr>
            <a:xfrm flipH="1" flipV="1">
              <a:off x="2916" y="2387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5" name="Line 212"/>
            <p:cNvSpPr/>
            <p:nvPr/>
          </p:nvSpPr>
          <p:spPr>
            <a:xfrm>
              <a:off x="694" y="2388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6" name="Line 213"/>
            <p:cNvSpPr/>
            <p:nvPr/>
          </p:nvSpPr>
          <p:spPr>
            <a:xfrm>
              <a:off x="694" y="361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7" name="Text Box 214"/>
            <p:cNvSpPr txBox="1"/>
            <p:nvPr/>
          </p:nvSpPr>
          <p:spPr>
            <a:xfrm>
              <a:off x="2191" y="2341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8" name="Text Box 215"/>
            <p:cNvSpPr txBox="1"/>
            <p:nvPr/>
          </p:nvSpPr>
          <p:spPr>
            <a:xfrm>
              <a:off x="1893" y="2658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69" name="Text Box 216"/>
            <p:cNvSpPr txBox="1"/>
            <p:nvPr/>
          </p:nvSpPr>
          <p:spPr>
            <a:xfrm>
              <a:off x="2346" y="2839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70" name="Line 217"/>
            <p:cNvSpPr/>
            <p:nvPr/>
          </p:nvSpPr>
          <p:spPr>
            <a:xfrm>
              <a:off x="1338" y="2660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1" name="Line 218"/>
            <p:cNvSpPr/>
            <p:nvPr/>
          </p:nvSpPr>
          <p:spPr>
            <a:xfrm>
              <a:off x="1836" y="266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72" name="Line 219"/>
            <p:cNvSpPr/>
            <p:nvPr/>
          </p:nvSpPr>
          <p:spPr>
            <a:xfrm>
              <a:off x="1338" y="266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73" name="Line 220"/>
            <p:cNvSpPr/>
            <p:nvPr/>
          </p:nvSpPr>
          <p:spPr>
            <a:xfrm>
              <a:off x="1338" y="320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74" name="Line 221"/>
            <p:cNvSpPr/>
            <p:nvPr/>
          </p:nvSpPr>
          <p:spPr>
            <a:xfrm>
              <a:off x="694" y="2387"/>
              <a:ext cx="158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5" name="Line 222"/>
            <p:cNvSpPr/>
            <p:nvPr/>
          </p:nvSpPr>
          <p:spPr>
            <a:xfrm>
              <a:off x="2508" y="238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6" name="Text Box 223"/>
            <p:cNvSpPr txBox="1"/>
            <p:nvPr/>
          </p:nvSpPr>
          <p:spPr>
            <a:xfrm>
              <a:off x="2508" y="229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77" name="Rectangle 224"/>
            <p:cNvSpPr/>
            <p:nvPr/>
          </p:nvSpPr>
          <p:spPr>
            <a:xfrm>
              <a:off x="612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78" name="Rectangle 225"/>
            <p:cNvSpPr/>
            <p:nvPr/>
          </p:nvSpPr>
          <p:spPr>
            <a:xfrm>
              <a:off x="1791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79" name="Rectangle 226"/>
            <p:cNvSpPr/>
            <p:nvPr/>
          </p:nvSpPr>
          <p:spPr>
            <a:xfrm>
              <a:off x="2871" y="279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80" name="Oval 227"/>
            <p:cNvSpPr/>
            <p:nvPr/>
          </p:nvSpPr>
          <p:spPr>
            <a:xfrm>
              <a:off x="2437" y="234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81" name="Oval 228"/>
            <p:cNvSpPr/>
            <p:nvPr/>
          </p:nvSpPr>
          <p:spPr>
            <a:xfrm>
              <a:off x="2281" y="234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2149" name="Group 229"/>
          <p:cNvGrpSpPr/>
          <p:nvPr/>
        </p:nvGrpSpPr>
        <p:grpSpPr>
          <a:xfrm>
            <a:off x="684213" y="835026"/>
            <a:ext cx="3787775" cy="2593974"/>
            <a:chOff x="385" y="2068"/>
            <a:chExt cx="2386" cy="1634"/>
          </a:xfrm>
        </p:grpSpPr>
        <p:sp>
          <p:nvSpPr>
            <p:cNvPr id="32821" name="Oval 230"/>
            <p:cNvSpPr/>
            <p:nvPr/>
          </p:nvSpPr>
          <p:spPr>
            <a:xfrm>
              <a:off x="1473" y="320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22" name="Line 231"/>
            <p:cNvSpPr/>
            <p:nvPr/>
          </p:nvSpPr>
          <p:spPr>
            <a:xfrm>
              <a:off x="1428" y="247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23" name="Text Box 232"/>
            <p:cNvSpPr txBox="1"/>
            <p:nvPr/>
          </p:nvSpPr>
          <p:spPr>
            <a:xfrm>
              <a:off x="514" y="2431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4" name="Text Box 233"/>
            <p:cNvSpPr txBox="1"/>
            <p:nvPr/>
          </p:nvSpPr>
          <p:spPr>
            <a:xfrm>
              <a:off x="1791" y="3112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5" name="Text Box 234"/>
            <p:cNvSpPr txBox="1"/>
            <p:nvPr/>
          </p:nvSpPr>
          <p:spPr>
            <a:xfrm>
              <a:off x="831" y="2068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6" name="Text Box 235"/>
            <p:cNvSpPr txBox="1"/>
            <p:nvPr/>
          </p:nvSpPr>
          <p:spPr>
            <a:xfrm>
              <a:off x="879" y="3293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7" name="Text Box 236"/>
            <p:cNvSpPr txBox="1"/>
            <p:nvPr/>
          </p:nvSpPr>
          <p:spPr>
            <a:xfrm>
              <a:off x="431" y="2930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8" name="Line 237"/>
            <p:cNvSpPr/>
            <p:nvPr/>
          </p:nvSpPr>
          <p:spPr>
            <a:xfrm flipH="1">
              <a:off x="783" y="2568"/>
              <a:ext cx="31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29" name="Line 238"/>
            <p:cNvSpPr/>
            <p:nvPr/>
          </p:nvSpPr>
          <p:spPr>
            <a:xfrm>
              <a:off x="884" y="2931"/>
              <a:ext cx="227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30" name="Text Box 239"/>
            <p:cNvSpPr txBox="1"/>
            <p:nvPr/>
          </p:nvSpPr>
          <p:spPr>
            <a:xfrm>
              <a:off x="1883" y="2386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31" name="Line 240"/>
            <p:cNvSpPr/>
            <p:nvPr/>
          </p:nvSpPr>
          <p:spPr>
            <a:xfrm flipH="1" flipV="1">
              <a:off x="2689" y="2477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2" name="Line 241"/>
            <p:cNvSpPr/>
            <p:nvPr/>
          </p:nvSpPr>
          <p:spPr>
            <a:xfrm>
              <a:off x="467" y="2478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3" name="Line 242"/>
            <p:cNvSpPr/>
            <p:nvPr/>
          </p:nvSpPr>
          <p:spPr>
            <a:xfrm>
              <a:off x="467" y="370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4" name="Text Box 243"/>
            <p:cNvSpPr txBox="1"/>
            <p:nvPr/>
          </p:nvSpPr>
          <p:spPr>
            <a:xfrm>
              <a:off x="2054" y="2521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35" name="Text Box 244"/>
            <p:cNvSpPr txBox="1"/>
            <p:nvPr/>
          </p:nvSpPr>
          <p:spPr>
            <a:xfrm>
              <a:off x="1701" y="2794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6" name="Text Box 245"/>
            <p:cNvSpPr txBox="1"/>
            <p:nvPr/>
          </p:nvSpPr>
          <p:spPr>
            <a:xfrm>
              <a:off x="2154" y="2885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7" name="Text Box 246"/>
            <p:cNvSpPr txBox="1"/>
            <p:nvPr/>
          </p:nvSpPr>
          <p:spPr>
            <a:xfrm>
              <a:off x="2145" y="2068"/>
              <a:ext cx="26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8" name="Line 247"/>
            <p:cNvSpPr/>
            <p:nvPr/>
          </p:nvSpPr>
          <p:spPr>
            <a:xfrm>
              <a:off x="1156" y="2750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9" name="Line 248"/>
            <p:cNvSpPr/>
            <p:nvPr/>
          </p:nvSpPr>
          <p:spPr>
            <a:xfrm>
              <a:off x="1654" y="275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40" name="Line 249"/>
            <p:cNvSpPr/>
            <p:nvPr/>
          </p:nvSpPr>
          <p:spPr>
            <a:xfrm>
              <a:off x="1156" y="275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41" name="Line 250"/>
            <p:cNvSpPr/>
            <p:nvPr/>
          </p:nvSpPr>
          <p:spPr>
            <a:xfrm>
              <a:off x="1156" y="329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42" name="Line 251"/>
            <p:cNvSpPr/>
            <p:nvPr/>
          </p:nvSpPr>
          <p:spPr>
            <a:xfrm flipH="1">
              <a:off x="884" y="3113"/>
              <a:ext cx="273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3" name="Line 252"/>
            <p:cNvSpPr/>
            <p:nvPr/>
          </p:nvSpPr>
          <p:spPr>
            <a:xfrm>
              <a:off x="1147" y="2477"/>
              <a:ext cx="104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4" name="Line 253"/>
            <p:cNvSpPr/>
            <p:nvPr/>
          </p:nvSpPr>
          <p:spPr>
            <a:xfrm>
              <a:off x="2281" y="247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5" name="Line 254"/>
            <p:cNvSpPr/>
            <p:nvPr/>
          </p:nvSpPr>
          <p:spPr>
            <a:xfrm>
              <a:off x="467" y="2478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6" name="Text Box 255"/>
            <p:cNvSpPr txBox="1"/>
            <p:nvPr/>
          </p:nvSpPr>
          <p:spPr>
            <a:xfrm>
              <a:off x="2281" y="238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847" name="Group 256"/>
            <p:cNvGrpSpPr/>
            <p:nvPr/>
          </p:nvGrpSpPr>
          <p:grpSpPr>
            <a:xfrm rot="-5400000">
              <a:off x="898" y="2227"/>
              <a:ext cx="90" cy="408"/>
              <a:chOff x="2744" y="2931"/>
              <a:chExt cx="57" cy="283"/>
            </a:xfrm>
          </p:grpSpPr>
          <p:sp>
            <p:nvSpPr>
              <p:cNvPr id="32854" name="Arc 257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55" name="Arc 258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56" name="Arc 259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2848" name="Group 260"/>
            <p:cNvGrpSpPr/>
            <p:nvPr/>
          </p:nvGrpSpPr>
          <p:grpSpPr>
            <a:xfrm rot="5400000">
              <a:off x="2116" y="2459"/>
              <a:ext cx="240" cy="93"/>
              <a:chOff x="3787" y="2478"/>
              <a:chExt cx="240" cy="93"/>
            </a:xfrm>
          </p:grpSpPr>
          <p:sp>
            <p:nvSpPr>
              <p:cNvPr id="32852" name="Line 26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3" name="Line 26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849" name="Rectangle 263"/>
            <p:cNvSpPr/>
            <p:nvPr/>
          </p:nvSpPr>
          <p:spPr>
            <a:xfrm>
              <a:off x="385" y="293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50" name="Rectangle 264"/>
            <p:cNvSpPr/>
            <p:nvPr/>
          </p:nvSpPr>
          <p:spPr>
            <a:xfrm>
              <a:off x="1609" y="27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51" name="Rectangle 265"/>
            <p:cNvSpPr/>
            <p:nvPr/>
          </p:nvSpPr>
          <p:spPr>
            <a:xfrm>
              <a:off x="2644" y="288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2227" name="Group 307"/>
          <p:cNvGrpSpPr/>
          <p:nvPr/>
        </p:nvGrpSpPr>
        <p:grpSpPr>
          <a:xfrm>
            <a:off x="4787900" y="908050"/>
            <a:ext cx="4176713" cy="3097213"/>
            <a:chOff x="5760" y="390"/>
            <a:chExt cx="2631" cy="1951"/>
          </a:xfrm>
        </p:grpSpPr>
        <p:sp>
          <p:nvSpPr>
            <p:cNvPr id="32786" name="Rectangle 267"/>
            <p:cNvSpPr/>
            <p:nvPr/>
          </p:nvSpPr>
          <p:spPr>
            <a:xfrm>
              <a:off x="5760" y="436"/>
              <a:ext cx="2631" cy="1905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787" name="Oval 269"/>
            <p:cNvSpPr/>
            <p:nvPr/>
          </p:nvSpPr>
          <p:spPr>
            <a:xfrm>
              <a:off x="7439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88" name="Text Box 270"/>
            <p:cNvSpPr txBox="1"/>
            <p:nvPr/>
          </p:nvSpPr>
          <p:spPr>
            <a:xfrm>
              <a:off x="6102" y="925"/>
              <a:ext cx="38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89" name="Text Box 271"/>
            <p:cNvSpPr txBox="1"/>
            <p:nvPr/>
          </p:nvSpPr>
          <p:spPr>
            <a:xfrm>
              <a:off x="7348" y="481"/>
              <a:ext cx="6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0" name="Line 272"/>
            <p:cNvSpPr/>
            <p:nvPr/>
          </p:nvSpPr>
          <p:spPr>
            <a:xfrm>
              <a:off x="6668" y="161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791" name="Object 273"/>
            <p:cNvGraphicFramePr>
              <a:graphicFrameLocks noChangeAspect="1"/>
            </p:cNvGraphicFramePr>
            <p:nvPr/>
          </p:nvGraphicFramePr>
          <p:xfrm>
            <a:off x="6395" y="1706"/>
            <a:ext cx="24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" imgW="60960" imgH="147955" progId="Equation.3">
                    <p:embed/>
                  </p:oleObj>
                </mc:Choice>
                <mc:Fallback>
                  <p:oleObj name="" r:id="rId1" imgW="60960" imgH="147955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95" y="1706"/>
                          <a:ext cx="241" cy="4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2" name="Line 274"/>
            <p:cNvSpPr/>
            <p:nvPr/>
          </p:nvSpPr>
          <p:spPr>
            <a:xfrm>
              <a:off x="7847" y="1026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3" name="Text Box 275"/>
            <p:cNvSpPr txBox="1"/>
            <p:nvPr/>
          </p:nvSpPr>
          <p:spPr>
            <a:xfrm>
              <a:off x="6124" y="571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4" name="Text Box 276"/>
            <p:cNvSpPr txBox="1"/>
            <p:nvPr/>
          </p:nvSpPr>
          <p:spPr>
            <a:xfrm>
              <a:off x="6418" y="390"/>
              <a:ext cx="40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5" name="Text Box 277"/>
            <p:cNvSpPr txBox="1"/>
            <p:nvPr/>
          </p:nvSpPr>
          <p:spPr>
            <a:xfrm>
              <a:off x="6780" y="572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6" name="Text Box 278"/>
            <p:cNvSpPr txBox="1"/>
            <p:nvPr/>
          </p:nvSpPr>
          <p:spPr>
            <a:xfrm>
              <a:off x="7711" y="980"/>
              <a:ext cx="6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7" name="Oval 279"/>
            <p:cNvSpPr/>
            <p:nvPr/>
          </p:nvSpPr>
          <p:spPr>
            <a:xfrm>
              <a:off x="6939" y="16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98" name="Line 280"/>
            <p:cNvSpPr/>
            <p:nvPr/>
          </p:nvSpPr>
          <p:spPr>
            <a:xfrm>
              <a:off x="6894" y="935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799" name="Text Box 281"/>
            <p:cNvSpPr txBox="1"/>
            <p:nvPr/>
          </p:nvSpPr>
          <p:spPr>
            <a:xfrm>
              <a:off x="7302" y="1569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00" name="Text Box 282"/>
            <p:cNvSpPr txBox="1"/>
            <p:nvPr/>
          </p:nvSpPr>
          <p:spPr>
            <a:xfrm>
              <a:off x="5998" y="1369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1" name="Text Box 284"/>
            <p:cNvSpPr txBox="1"/>
            <p:nvPr/>
          </p:nvSpPr>
          <p:spPr>
            <a:xfrm>
              <a:off x="7168" y="617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02" name="Line 285"/>
            <p:cNvSpPr/>
            <p:nvPr/>
          </p:nvSpPr>
          <p:spPr>
            <a:xfrm flipH="1" flipV="1">
              <a:off x="8200" y="935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3" name="Line 286"/>
            <p:cNvSpPr/>
            <p:nvPr/>
          </p:nvSpPr>
          <p:spPr>
            <a:xfrm>
              <a:off x="5978" y="936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4" name="Line 287"/>
            <p:cNvSpPr/>
            <p:nvPr/>
          </p:nvSpPr>
          <p:spPr>
            <a:xfrm>
              <a:off x="5978" y="2160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5" name="Text Box 288"/>
            <p:cNvSpPr txBox="1"/>
            <p:nvPr/>
          </p:nvSpPr>
          <p:spPr>
            <a:xfrm>
              <a:off x="7177" y="1206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6" name="Text Box 289"/>
            <p:cNvSpPr txBox="1"/>
            <p:nvPr/>
          </p:nvSpPr>
          <p:spPr>
            <a:xfrm>
              <a:off x="7665" y="1388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7" name="Line 290"/>
            <p:cNvSpPr/>
            <p:nvPr/>
          </p:nvSpPr>
          <p:spPr>
            <a:xfrm>
              <a:off x="6622" y="1208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8" name="Line 291"/>
            <p:cNvSpPr/>
            <p:nvPr/>
          </p:nvSpPr>
          <p:spPr>
            <a:xfrm>
              <a:off x="7120" y="1208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09" name="Line 292"/>
            <p:cNvSpPr/>
            <p:nvPr/>
          </p:nvSpPr>
          <p:spPr>
            <a:xfrm>
              <a:off x="6622" y="1208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0" name="Line 293"/>
            <p:cNvSpPr/>
            <p:nvPr/>
          </p:nvSpPr>
          <p:spPr>
            <a:xfrm>
              <a:off x="5978" y="935"/>
              <a:ext cx="22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1" name="Text Box 294"/>
            <p:cNvSpPr txBox="1"/>
            <p:nvPr/>
          </p:nvSpPr>
          <p:spPr>
            <a:xfrm>
              <a:off x="7847" y="618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2" name="Rectangle 295"/>
            <p:cNvSpPr/>
            <p:nvPr/>
          </p:nvSpPr>
          <p:spPr>
            <a:xfrm>
              <a:off x="5896" y="138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3" name="Rectangle 296"/>
            <p:cNvSpPr/>
            <p:nvPr/>
          </p:nvSpPr>
          <p:spPr>
            <a:xfrm>
              <a:off x="7075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4" name="Rectangle 297"/>
            <p:cNvSpPr/>
            <p:nvPr/>
          </p:nvSpPr>
          <p:spPr>
            <a:xfrm>
              <a:off x="8155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5" name="Line 283"/>
            <p:cNvSpPr/>
            <p:nvPr/>
          </p:nvSpPr>
          <p:spPr>
            <a:xfrm flipH="1">
              <a:off x="6078" y="935"/>
              <a:ext cx="385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2816" name="Group 298"/>
            <p:cNvGrpSpPr/>
            <p:nvPr/>
          </p:nvGrpSpPr>
          <p:grpSpPr>
            <a:xfrm rot="-5400000">
              <a:off x="6418" y="754"/>
              <a:ext cx="363" cy="363"/>
              <a:chOff x="4785" y="709"/>
              <a:chExt cx="363" cy="363"/>
            </a:xfrm>
          </p:grpSpPr>
          <p:sp>
            <p:nvSpPr>
              <p:cNvPr id="32817" name="Oval 29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2818" name="Line 30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1925" grpId="0"/>
      <p:bldP spid="819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5" name="Text Box 5"/>
          <p:cNvSpPr txBox="1"/>
          <p:nvPr/>
        </p:nvSpPr>
        <p:spPr>
          <a:xfrm>
            <a:off x="1042988" y="474821"/>
            <a:ext cx="4862830" cy="521970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闭合瞬间流过它的电流值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1978" name="Text Box 58"/>
          <p:cNvSpPr txBox="1"/>
          <p:nvPr/>
        </p:nvSpPr>
        <p:spPr>
          <a:xfrm>
            <a:off x="395288" y="3714909"/>
            <a:ext cx="504825" cy="521970"/>
          </a:xfrm>
          <a:prstGeom prst="rect">
            <a:avLst/>
          </a:prstGeom>
          <a:solidFill>
            <a:srgbClr val="66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1979" name="Text Box 59"/>
          <p:cNvSpPr txBox="1"/>
          <p:nvPr/>
        </p:nvSpPr>
        <p:spPr>
          <a:xfrm>
            <a:off x="971550" y="3716338"/>
            <a:ext cx="28813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确定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值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1986" name="Object 66"/>
          <p:cNvGraphicFramePr>
            <a:graphicFrameLocks noChangeAspect="1"/>
          </p:cNvGraphicFramePr>
          <p:nvPr/>
        </p:nvGraphicFramePr>
        <p:xfrm>
          <a:off x="611188" y="4149725"/>
          <a:ext cx="35639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1532890" imgH="348615" progId="Equation.3">
                  <p:embed/>
                </p:oleObj>
              </mc:Choice>
              <mc:Fallback>
                <p:oleObj name="" r:id="rId1" imgW="1532890" imgH="348615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4149725"/>
                        <a:ext cx="3563937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7" name="Object 67"/>
          <p:cNvGraphicFramePr>
            <a:graphicFrameLocks noChangeAspect="1"/>
          </p:cNvGraphicFramePr>
          <p:nvPr/>
        </p:nvGraphicFramePr>
        <p:xfrm>
          <a:off x="611188" y="5157788"/>
          <a:ext cx="3476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1393190" imgH="147955" progId="Equation.3">
                  <p:embed/>
                </p:oleObj>
              </mc:Choice>
              <mc:Fallback>
                <p:oleObj name="" r:id="rId3" imgW="1393190" imgH="14795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157788"/>
                        <a:ext cx="3476625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8" name="Text Box 68"/>
          <p:cNvSpPr txBox="1"/>
          <p:nvPr/>
        </p:nvSpPr>
        <p:spPr>
          <a:xfrm>
            <a:off x="539750" y="5805488"/>
            <a:ext cx="39957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给出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2037" name="Object 117"/>
          <p:cNvGraphicFramePr>
            <a:graphicFrameLocks noChangeAspect="1"/>
          </p:cNvGraphicFramePr>
          <p:nvPr/>
        </p:nvGraphicFramePr>
        <p:xfrm>
          <a:off x="4932363" y="4068763"/>
          <a:ext cx="36639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5" imgW="1558925" imgH="348615" progId="Equation.3">
                  <p:embed/>
                </p:oleObj>
              </mc:Choice>
              <mc:Fallback>
                <p:oleObj name="" r:id="rId5" imgW="1558925" imgH="34861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4068763"/>
                        <a:ext cx="3663950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5" name="Object 125"/>
          <p:cNvGraphicFramePr>
            <a:graphicFrameLocks noChangeAspect="1"/>
          </p:cNvGraphicFramePr>
          <p:nvPr/>
        </p:nvGraphicFramePr>
        <p:xfrm>
          <a:off x="4932363" y="5013325"/>
          <a:ext cx="3660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7" imgW="1602105" imgH="147955" progId="Equation.3">
                  <p:embed/>
                </p:oleObj>
              </mc:Choice>
              <mc:Fallback>
                <p:oleObj name="" r:id="rId7" imgW="1602105" imgH="14795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5013325"/>
                        <a:ext cx="366077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7" name="Object 127"/>
          <p:cNvGraphicFramePr>
            <a:graphicFrameLocks noChangeAspect="1"/>
          </p:cNvGraphicFramePr>
          <p:nvPr/>
        </p:nvGraphicFramePr>
        <p:xfrm>
          <a:off x="4576763" y="5734050"/>
          <a:ext cx="41719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9" imgW="1689735" imgH="147955" progId="Equation.3">
                  <p:embed/>
                </p:oleObj>
              </mc:Choice>
              <mc:Fallback>
                <p:oleObj name="" r:id="rId9" imgW="1689735" imgH="14795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6763" y="5734050"/>
                        <a:ext cx="417195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Rectangle 4"/>
          <p:cNvSpPr/>
          <p:nvPr/>
        </p:nvSpPr>
        <p:spPr>
          <a:xfrm>
            <a:off x="395288" y="547211"/>
            <a:ext cx="1152525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82123" name="Group 203"/>
          <p:cNvGrpSpPr/>
          <p:nvPr/>
        </p:nvGrpSpPr>
        <p:grpSpPr>
          <a:xfrm>
            <a:off x="4859338" y="1266825"/>
            <a:ext cx="3787775" cy="2090738"/>
            <a:chOff x="612" y="2295"/>
            <a:chExt cx="2386" cy="1317"/>
          </a:xfrm>
        </p:grpSpPr>
        <p:sp>
          <p:nvSpPr>
            <p:cNvPr id="32857" name="Oval 204"/>
            <p:cNvSpPr/>
            <p:nvPr/>
          </p:nvSpPr>
          <p:spPr>
            <a:xfrm>
              <a:off x="165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58" name="Line 205"/>
            <p:cNvSpPr/>
            <p:nvPr/>
          </p:nvSpPr>
          <p:spPr>
            <a:xfrm>
              <a:off x="1610" y="238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59" name="Text Box 206"/>
            <p:cNvSpPr txBox="1"/>
            <p:nvPr/>
          </p:nvSpPr>
          <p:spPr>
            <a:xfrm>
              <a:off x="741" y="2341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0" name="Text Box 207"/>
            <p:cNvSpPr txBox="1"/>
            <p:nvPr/>
          </p:nvSpPr>
          <p:spPr>
            <a:xfrm>
              <a:off x="2018" y="3021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1" name="Text Box 208"/>
            <p:cNvSpPr txBox="1"/>
            <p:nvPr/>
          </p:nvSpPr>
          <p:spPr>
            <a:xfrm>
              <a:off x="714" y="2821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62" name="Line 209"/>
            <p:cNvSpPr/>
            <p:nvPr/>
          </p:nvSpPr>
          <p:spPr>
            <a:xfrm flipH="1">
              <a:off x="1010" y="2478"/>
              <a:ext cx="31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63" name="Text Box 210"/>
            <p:cNvSpPr txBox="1"/>
            <p:nvPr/>
          </p:nvSpPr>
          <p:spPr>
            <a:xfrm>
              <a:off x="1974" y="2295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4" name="Line 211"/>
            <p:cNvSpPr/>
            <p:nvPr/>
          </p:nvSpPr>
          <p:spPr>
            <a:xfrm flipH="1" flipV="1">
              <a:off x="2916" y="2387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5" name="Line 212"/>
            <p:cNvSpPr/>
            <p:nvPr/>
          </p:nvSpPr>
          <p:spPr>
            <a:xfrm>
              <a:off x="694" y="2388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6" name="Line 213"/>
            <p:cNvSpPr/>
            <p:nvPr/>
          </p:nvSpPr>
          <p:spPr>
            <a:xfrm>
              <a:off x="694" y="361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67" name="Text Box 214"/>
            <p:cNvSpPr txBox="1"/>
            <p:nvPr/>
          </p:nvSpPr>
          <p:spPr>
            <a:xfrm>
              <a:off x="2191" y="2341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68" name="Text Box 215"/>
            <p:cNvSpPr txBox="1"/>
            <p:nvPr/>
          </p:nvSpPr>
          <p:spPr>
            <a:xfrm>
              <a:off x="1893" y="2658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69" name="Text Box 216"/>
            <p:cNvSpPr txBox="1"/>
            <p:nvPr/>
          </p:nvSpPr>
          <p:spPr>
            <a:xfrm>
              <a:off x="2346" y="2839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70" name="Line 217"/>
            <p:cNvSpPr/>
            <p:nvPr/>
          </p:nvSpPr>
          <p:spPr>
            <a:xfrm>
              <a:off x="1338" y="2660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1" name="Line 218"/>
            <p:cNvSpPr/>
            <p:nvPr/>
          </p:nvSpPr>
          <p:spPr>
            <a:xfrm>
              <a:off x="1836" y="266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72" name="Line 219"/>
            <p:cNvSpPr/>
            <p:nvPr/>
          </p:nvSpPr>
          <p:spPr>
            <a:xfrm>
              <a:off x="1338" y="266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73" name="Line 220"/>
            <p:cNvSpPr/>
            <p:nvPr/>
          </p:nvSpPr>
          <p:spPr>
            <a:xfrm>
              <a:off x="1338" y="320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74" name="Line 221"/>
            <p:cNvSpPr/>
            <p:nvPr/>
          </p:nvSpPr>
          <p:spPr>
            <a:xfrm>
              <a:off x="694" y="2387"/>
              <a:ext cx="158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5" name="Line 222"/>
            <p:cNvSpPr/>
            <p:nvPr/>
          </p:nvSpPr>
          <p:spPr>
            <a:xfrm>
              <a:off x="2508" y="238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76" name="Text Box 223"/>
            <p:cNvSpPr txBox="1"/>
            <p:nvPr/>
          </p:nvSpPr>
          <p:spPr>
            <a:xfrm>
              <a:off x="2508" y="229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77" name="Rectangle 224"/>
            <p:cNvSpPr/>
            <p:nvPr/>
          </p:nvSpPr>
          <p:spPr>
            <a:xfrm>
              <a:off x="612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78" name="Rectangle 225"/>
            <p:cNvSpPr/>
            <p:nvPr/>
          </p:nvSpPr>
          <p:spPr>
            <a:xfrm>
              <a:off x="1791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79" name="Rectangle 226"/>
            <p:cNvSpPr/>
            <p:nvPr/>
          </p:nvSpPr>
          <p:spPr>
            <a:xfrm>
              <a:off x="2871" y="279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80" name="Oval 227"/>
            <p:cNvSpPr/>
            <p:nvPr/>
          </p:nvSpPr>
          <p:spPr>
            <a:xfrm>
              <a:off x="2437" y="234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81" name="Oval 228"/>
            <p:cNvSpPr/>
            <p:nvPr/>
          </p:nvSpPr>
          <p:spPr>
            <a:xfrm>
              <a:off x="2281" y="234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2149" name="Group 229"/>
          <p:cNvGrpSpPr/>
          <p:nvPr/>
        </p:nvGrpSpPr>
        <p:grpSpPr>
          <a:xfrm>
            <a:off x="684213" y="835026"/>
            <a:ext cx="3787775" cy="2593974"/>
            <a:chOff x="385" y="2068"/>
            <a:chExt cx="2386" cy="1634"/>
          </a:xfrm>
        </p:grpSpPr>
        <p:sp>
          <p:nvSpPr>
            <p:cNvPr id="32821" name="Oval 230"/>
            <p:cNvSpPr/>
            <p:nvPr/>
          </p:nvSpPr>
          <p:spPr>
            <a:xfrm>
              <a:off x="1473" y="320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22" name="Line 231"/>
            <p:cNvSpPr/>
            <p:nvPr/>
          </p:nvSpPr>
          <p:spPr>
            <a:xfrm>
              <a:off x="1428" y="247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23" name="Text Box 232"/>
            <p:cNvSpPr txBox="1"/>
            <p:nvPr/>
          </p:nvSpPr>
          <p:spPr>
            <a:xfrm>
              <a:off x="514" y="2431"/>
              <a:ext cx="25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4" name="Text Box 233"/>
            <p:cNvSpPr txBox="1"/>
            <p:nvPr/>
          </p:nvSpPr>
          <p:spPr>
            <a:xfrm>
              <a:off x="1791" y="3112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5" name="Text Box 234"/>
            <p:cNvSpPr txBox="1"/>
            <p:nvPr/>
          </p:nvSpPr>
          <p:spPr>
            <a:xfrm>
              <a:off x="831" y="2068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6" name="Text Box 235"/>
            <p:cNvSpPr txBox="1"/>
            <p:nvPr/>
          </p:nvSpPr>
          <p:spPr>
            <a:xfrm>
              <a:off x="879" y="3293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27" name="Text Box 236"/>
            <p:cNvSpPr txBox="1"/>
            <p:nvPr/>
          </p:nvSpPr>
          <p:spPr>
            <a:xfrm>
              <a:off x="431" y="2930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8" name="Line 237"/>
            <p:cNvSpPr/>
            <p:nvPr/>
          </p:nvSpPr>
          <p:spPr>
            <a:xfrm flipH="1">
              <a:off x="783" y="2568"/>
              <a:ext cx="31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29" name="Line 238"/>
            <p:cNvSpPr/>
            <p:nvPr/>
          </p:nvSpPr>
          <p:spPr>
            <a:xfrm>
              <a:off x="884" y="2931"/>
              <a:ext cx="227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30" name="Text Box 239"/>
            <p:cNvSpPr txBox="1"/>
            <p:nvPr/>
          </p:nvSpPr>
          <p:spPr>
            <a:xfrm>
              <a:off x="1883" y="2386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31" name="Line 240"/>
            <p:cNvSpPr/>
            <p:nvPr/>
          </p:nvSpPr>
          <p:spPr>
            <a:xfrm flipH="1" flipV="1">
              <a:off x="2689" y="2477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2" name="Line 241"/>
            <p:cNvSpPr/>
            <p:nvPr/>
          </p:nvSpPr>
          <p:spPr>
            <a:xfrm>
              <a:off x="467" y="2478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3" name="Line 242"/>
            <p:cNvSpPr/>
            <p:nvPr/>
          </p:nvSpPr>
          <p:spPr>
            <a:xfrm>
              <a:off x="467" y="3702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4" name="Text Box 243"/>
            <p:cNvSpPr txBox="1"/>
            <p:nvPr/>
          </p:nvSpPr>
          <p:spPr>
            <a:xfrm>
              <a:off x="2054" y="2521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35" name="Text Box 244"/>
            <p:cNvSpPr txBox="1"/>
            <p:nvPr/>
          </p:nvSpPr>
          <p:spPr>
            <a:xfrm>
              <a:off x="1701" y="2794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6" name="Text Box 245"/>
            <p:cNvSpPr txBox="1"/>
            <p:nvPr/>
          </p:nvSpPr>
          <p:spPr>
            <a:xfrm>
              <a:off x="2154" y="2885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7" name="Text Box 246"/>
            <p:cNvSpPr txBox="1"/>
            <p:nvPr/>
          </p:nvSpPr>
          <p:spPr>
            <a:xfrm>
              <a:off x="2145" y="2068"/>
              <a:ext cx="265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38" name="Line 247"/>
            <p:cNvSpPr/>
            <p:nvPr/>
          </p:nvSpPr>
          <p:spPr>
            <a:xfrm>
              <a:off x="1156" y="2750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9" name="Line 248"/>
            <p:cNvSpPr/>
            <p:nvPr/>
          </p:nvSpPr>
          <p:spPr>
            <a:xfrm>
              <a:off x="1654" y="275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40" name="Line 249"/>
            <p:cNvSpPr/>
            <p:nvPr/>
          </p:nvSpPr>
          <p:spPr>
            <a:xfrm>
              <a:off x="1156" y="275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41" name="Line 250"/>
            <p:cNvSpPr/>
            <p:nvPr/>
          </p:nvSpPr>
          <p:spPr>
            <a:xfrm>
              <a:off x="1156" y="329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842" name="Line 251"/>
            <p:cNvSpPr/>
            <p:nvPr/>
          </p:nvSpPr>
          <p:spPr>
            <a:xfrm flipH="1">
              <a:off x="884" y="3113"/>
              <a:ext cx="273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3" name="Line 252"/>
            <p:cNvSpPr/>
            <p:nvPr/>
          </p:nvSpPr>
          <p:spPr>
            <a:xfrm>
              <a:off x="1147" y="2477"/>
              <a:ext cx="104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4" name="Line 253"/>
            <p:cNvSpPr/>
            <p:nvPr/>
          </p:nvSpPr>
          <p:spPr>
            <a:xfrm>
              <a:off x="2281" y="247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5" name="Line 254"/>
            <p:cNvSpPr/>
            <p:nvPr/>
          </p:nvSpPr>
          <p:spPr>
            <a:xfrm>
              <a:off x="467" y="2478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6" name="Text Box 255"/>
            <p:cNvSpPr txBox="1"/>
            <p:nvPr/>
          </p:nvSpPr>
          <p:spPr>
            <a:xfrm>
              <a:off x="2281" y="238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847" name="Group 256"/>
            <p:cNvGrpSpPr/>
            <p:nvPr/>
          </p:nvGrpSpPr>
          <p:grpSpPr>
            <a:xfrm rot="-5400000">
              <a:off x="898" y="2227"/>
              <a:ext cx="90" cy="408"/>
              <a:chOff x="2744" y="2931"/>
              <a:chExt cx="57" cy="283"/>
            </a:xfrm>
          </p:grpSpPr>
          <p:sp>
            <p:nvSpPr>
              <p:cNvPr id="32854" name="Arc 257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55" name="Arc 258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56" name="Arc 259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2848" name="Group 260"/>
            <p:cNvGrpSpPr/>
            <p:nvPr/>
          </p:nvGrpSpPr>
          <p:grpSpPr>
            <a:xfrm rot="5400000">
              <a:off x="2116" y="2459"/>
              <a:ext cx="240" cy="93"/>
              <a:chOff x="3787" y="2478"/>
              <a:chExt cx="240" cy="93"/>
            </a:xfrm>
          </p:grpSpPr>
          <p:sp>
            <p:nvSpPr>
              <p:cNvPr id="32852" name="Line 26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3" name="Line 26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849" name="Rectangle 263"/>
            <p:cNvSpPr/>
            <p:nvPr/>
          </p:nvSpPr>
          <p:spPr>
            <a:xfrm>
              <a:off x="385" y="293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50" name="Rectangle 264"/>
            <p:cNvSpPr/>
            <p:nvPr/>
          </p:nvSpPr>
          <p:spPr>
            <a:xfrm>
              <a:off x="1609" y="27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51" name="Rectangle 265"/>
            <p:cNvSpPr/>
            <p:nvPr/>
          </p:nvSpPr>
          <p:spPr>
            <a:xfrm>
              <a:off x="2644" y="288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2227" name="Group 307"/>
          <p:cNvGrpSpPr/>
          <p:nvPr/>
        </p:nvGrpSpPr>
        <p:grpSpPr>
          <a:xfrm>
            <a:off x="4787900" y="908050"/>
            <a:ext cx="4176713" cy="3097213"/>
            <a:chOff x="5760" y="390"/>
            <a:chExt cx="2631" cy="1951"/>
          </a:xfrm>
        </p:grpSpPr>
        <p:sp>
          <p:nvSpPr>
            <p:cNvPr id="32786" name="Rectangle 267"/>
            <p:cNvSpPr/>
            <p:nvPr/>
          </p:nvSpPr>
          <p:spPr>
            <a:xfrm>
              <a:off x="5760" y="436"/>
              <a:ext cx="2631" cy="1905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787" name="Oval 269"/>
            <p:cNvSpPr/>
            <p:nvPr/>
          </p:nvSpPr>
          <p:spPr>
            <a:xfrm>
              <a:off x="7439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88" name="Text Box 270"/>
            <p:cNvSpPr txBox="1"/>
            <p:nvPr/>
          </p:nvSpPr>
          <p:spPr>
            <a:xfrm>
              <a:off x="6102" y="925"/>
              <a:ext cx="38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89" name="Text Box 271"/>
            <p:cNvSpPr txBox="1"/>
            <p:nvPr/>
          </p:nvSpPr>
          <p:spPr>
            <a:xfrm>
              <a:off x="7348" y="481"/>
              <a:ext cx="6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0" name="Line 272"/>
            <p:cNvSpPr/>
            <p:nvPr/>
          </p:nvSpPr>
          <p:spPr>
            <a:xfrm>
              <a:off x="6668" y="161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791" name="Object 273"/>
            <p:cNvGraphicFramePr>
              <a:graphicFrameLocks noChangeAspect="1"/>
            </p:cNvGraphicFramePr>
            <p:nvPr/>
          </p:nvGraphicFramePr>
          <p:xfrm>
            <a:off x="6395" y="1706"/>
            <a:ext cx="24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1" imgW="60960" imgH="147955" progId="Equation.3">
                    <p:embed/>
                  </p:oleObj>
                </mc:Choice>
                <mc:Fallback>
                  <p:oleObj name="" r:id="rId11" imgW="60960" imgH="147955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95" y="1706"/>
                          <a:ext cx="241" cy="4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2" name="Line 274"/>
            <p:cNvSpPr/>
            <p:nvPr/>
          </p:nvSpPr>
          <p:spPr>
            <a:xfrm>
              <a:off x="7847" y="1026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3" name="Text Box 275"/>
            <p:cNvSpPr txBox="1"/>
            <p:nvPr/>
          </p:nvSpPr>
          <p:spPr>
            <a:xfrm>
              <a:off x="6124" y="571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4" name="Text Box 276"/>
            <p:cNvSpPr txBox="1"/>
            <p:nvPr/>
          </p:nvSpPr>
          <p:spPr>
            <a:xfrm>
              <a:off x="6418" y="390"/>
              <a:ext cx="408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5" name="Text Box 277"/>
            <p:cNvSpPr txBox="1"/>
            <p:nvPr/>
          </p:nvSpPr>
          <p:spPr>
            <a:xfrm>
              <a:off x="6780" y="572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6" name="Text Box 278"/>
            <p:cNvSpPr txBox="1"/>
            <p:nvPr/>
          </p:nvSpPr>
          <p:spPr>
            <a:xfrm>
              <a:off x="7711" y="980"/>
              <a:ext cx="6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797" name="Oval 279"/>
            <p:cNvSpPr/>
            <p:nvPr/>
          </p:nvSpPr>
          <p:spPr>
            <a:xfrm>
              <a:off x="6939" y="16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98" name="Line 280"/>
            <p:cNvSpPr/>
            <p:nvPr/>
          </p:nvSpPr>
          <p:spPr>
            <a:xfrm>
              <a:off x="6894" y="935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2799" name="Text Box 281"/>
            <p:cNvSpPr txBox="1"/>
            <p:nvPr/>
          </p:nvSpPr>
          <p:spPr>
            <a:xfrm>
              <a:off x="7302" y="1569"/>
              <a:ext cx="501" cy="5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65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65000"/>
                </a:lnSpc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00" name="Text Box 282"/>
            <p:cNvSpPr txBox="1"/>
            <p:nvPr/>
          </p:nvSpPr>
          <p:spPr>
            <a:xfrm>
              <a:off x="5998" y="1369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1" name="Text Box 284"/>
            <p:cNvSpPr txBox="1"/>
            <p:nvPr/>
          </p:nvSpPr>
          <p:spPr>
            <a:xfrm>
              <a:off x="7168" y="617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2802" name="Line 285"/>
            <p:cNvSpPr/>
            <p:nvPr/>
          </p:nvSpPr>
          <p:spPr>
            <a:xfrm flipH="1" flipV="1">
              <a:off x="8200" y="935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3" name="Line 286"/>
            <p:cNvSpPr/>
            <p:nvPr/>
          </p:nvSpPr>
          <p:spPr>
            <a:xfrm>
              <a:off x="5978" y="936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4" name="Line 287"/>
            <p:cNvSpPr/>
            <p:nvPr/>
          </p:nvSpPr>
          <p:spPr>
            <a:xfrm>
              <a:off x="5978" y="2160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5" name="Text Box 288"/>
            <p:cNvSpPr txBox="1"/>
            <p:nvPr/>
          </p:nvSpPr>
          <p:spPr>
            <a:xfrm>
              <a:off x="7177" y="1206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6" name="Text Box 289"/>
            <p:cNvSpPr txBox="1"/>
            <p:nvPr/>
          </p:nvSpPr>
          <p:spPr>
            <a:xfrm>
              <a:off x="7665" y="1388"/>
              <a:ext cx="51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7" name="Line 290"/>
            <p:cNvSpPr/>
            <p:nvPr/>
          </p:nvSpPr>
          <p:spPr>
            <a:xfrm>
              <a:off x="6622" y="1208"/>
              <a:ext cx="4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8" name="Line 291"/>
            <p:cNvSpPr/>
            <p:nvPr/>
          </p:nvSpPr>
          <p:spPr>
            <a:xfrm>
              <a:off x="7120" y="1208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09" name="Line 292"/>
            <p:cNvSpPr/>
            <p:nvPr/>
          </p:nvSpPr>
          <p:spPr>
            <a:xfrm>
              <a:off x="6622" y="1208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0" name="Line 293"/>
            <p:cNvSpPr/>
            <p:nvPr/>
          </p:nvSpPr>
          <p:spPr>
            <a:xfrm>
              <a:off x="5978" y="935"/>
              <a:ext cx="22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1" name="Text Box 294"/>
            <p:cNvSpPr txBox="1"/>
            <p:nvPr/>
          </p:nvSpPr>
          <p:spPr>
            <a:xfrm>
              <a:off x="7847" y="618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2" name="Rectangle 295"/>
            <p:cNvSpPr/>
            <p:nvPr/>
          </p:nvSpPr>
          <p:spPr>
            <a:xfrm>
              <a:off x="5896" y="138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3" name="Rectangle 296"/>
            <p:cNvSpPr/>
            <p:nvPr/>
          </p:nvSpPr>
          <p:spPr>
            <a:xfrm>
              <a:off x="7075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4" name="Rectangle 297"/>
            <p:cNvSpPr/>
            <p:nvPr/>
          </p:nvSpPr>
          <p:spPr>
            <a:xfrm>
              <a:off x="8155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815" name="Line 283"/>
            <p:cNvSpPr/>
            <p:nvPr/>
          </p:nvSpPr>
          <p:spPr>
            <a:xfrm flipH="1">
              <a:off x="6078" y="935"/>
              <a:ext cx="385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2816" name="Group 298"/>
            <p:cNvGrpSpPr/>
            <p:nvPr/>
          </p:nvGrpSpPr>
          <p:grpSpPr>
            <a:xfrm rot="-5400000">
              <a:off x="6418" y="754"/>
              <a:ext cx="363" cy="363"/>
              <a:chOff x="4785" y="709"/>
              <a:chExt cx="363" cy="363"/>
            </a:xfrm>
          </p:grpSpPr>
          <p:sp>
            <p:nvSpPr>
              <p:cNvPr id="32817" name="Oval 29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p>
                <a:pPr algn="ctr" eaLnBrk="1" hangingPunct="1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2818" name="Line 30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1925" grpId="0"/>
      <p:bldP spid="81978" grpId="0" animBg="1"/>
      <p:bldP spid="81979" grpId="0"/>
      <p:bldP spid="81988" grpId="0"/>
      <p:bldP spid="8192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Box 1"/>
          <p:cNvSpPr txBox="1"/>
          <p:nvPr/>
        </p:nvSpPr>
        <p:spPr>
          <a:xfrm>
            <a:off x="395288" y="795338"/>
            <a:ext cx="8137525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第七章作业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1(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一阶电路零输入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《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》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第七章习题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7-1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IE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7-3</a:t>
            </a:r>
            <a:endParaRPr lang="en-IE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2910,&quot;width&quot;:567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f0c92087-6c93-4081-8a25-06c0cd24e841"/>
  <p:tag name="COMMONDATA" val="eyJoZGlkIjoiMTQ3M2E0N2E3ZDg0N2M3MWRjMmFmZTY1Y2IwZmM3ZjMifQ=="/>
  <p:tag name="FULLTEXTBEAUTIFYED" val="1"/>
  <p:tag name="commondata" val="eyJoZGlkIjoiYWY3YTgwYjBkZTEwOWQ3MWQ3N2E0NjBmNzcyNDg0Mj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2848</Words>
  <Application>WPS 演示</Application>
  <PresentationFormat>全屏显示(4:3)</PresentationFormat>
  <Paragraphs>1108</Paragraphs>
  <Slides>45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61</vt:i4>
      </vt:variant>
      <vt:variant>
        <vt:lpstr>幻灯片标题</vt:lpstr>
      </vt:variant>
      <vt:variant>
        <vt:i4>45</vt:i4>
      </vt:variant>
    </vt:vector>
  </HeadingPairs>
  <TitlesOfParts>
    <vt:vector size="122" baseType="lpstr">
      <vt:lpstr>Arial</vt:lpstr>
      <vt:lpstr>宋体</vt:lpstr>
      <vt:lpstr>Wingdings</vt:lpstr>
      <vt:lpstr>楷体_GB2312</vt:lpstr>
      <vt:lpstr>新宋体</vt:lpstr>
      <vt:lpstr>Times New Roman</vt:lpstr>
      <vt:lpstr>黑体</vt:lpstr>
      <vt:lpstr>Monotype Sorts</vt:lpstr>
      <vt:lpstr>Wingdings</vt:lpstr>
      <vt:lpstr>仿宋_GB2312</vt:lpstr>
      <vt:lpstr>Symbol</vt:lpstr>
      <vt:lpstr>微软雅黑</vt:lpstr>
      <vt:lpstr>Arial Unicode MS</vt:lpstr>
      <vt:lpstr>Calibri</vt:lpstr>
      <vt:lpstr>仿宋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xmu</cp:lastModifiedBy>
  <cp:revision>460</cp:revision>
  <dcterms:created xsi:type="dcterms:W3CDTF">2002-08-11T02:46:00Z</dcterms:created>
  <dcterms:modified xsi:type="dcterms:W3CDTF">2025-03-28T08:20:39Z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FBEC44651E0E4B79A1E24F35F93926F4_13</vt:lpwstr>
  </property>
  <property fmtid="{D5CDD505-2E9C-101B-9397-08002B2CF9AE}" pid="3" name="KSOProductBuildVer">
    <vt:lpwstr>2052-12.1.0.16364</vt:lpwstr>
  </property>
</Properties>
</file>