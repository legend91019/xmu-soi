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73" r:id="rId3"/>
    <p:sldId id="275" r:id="rId4"/>
    <p:sldId id="815" r:id="rId6"/>
    <p:sldId id="356" r:id="rId7"/>
    <p:sldId id="869" r:id="rId8"/>
    <p:sldId id="276" r:id="rId9"/>
    <p:sldId id="277" r:id="rId10"/>
    <p:sldId id="871" r:id="rId11"/>
    <p:sldId id="278" r:id="rId12"/>
    <p:sldId id="872" r:id="rId13"/>
    <p:sldId id="357" r:id="rId14"/>
    <p:sldId id="279" r:id="rId15"/>
    <p:sldId id="873" r:id="rId16"/>
    <p:sldId id="874" r:id="rId17"/>
    <p:sldId id="358" r:id="rId18"/>
    <p:sldId id="282" r:id="rId19"/>
    <p:sldId id="875" r:id="rId20"/>
    <p:sldId id="376" r:id="rId21"/>
    <p:sldId id="375" r:id="rId22"/>
    <p:sldId id="876" r:id="rId23"/>
    <p:sldId id="377" r:id="rId24"/>
    <p:sldId id="877" r:id="rId25"/>
    <p:sldId id="281" r:id="rId26"/>
    <p:sldId id="878" r:id="rId27"/>
    <p:sldId id="879" r:id="rId28"/>
    <p:sldId id="360" r:id="rId29"/>
    <p:sldId id="283" r:id="rId30"/>
    <p:sldId id="880" r:id="rId31"/>
    <p:sldId id="285" r:id="rId32"/>
    <p:sldId id="882" r:id="rId33"/>
    <p:sldId id="881" r:id="rId34"/>
    <p:sldId id="286" r:id="rId35"/>
    <p:sldId id="902" r:id="rId36"/>
    <p:sldId id="287" r:id="rId37"/>
    <p:sldId id="361" r:id="rId38"/>
    <p:sldId id="288" r:id="rId39"/>
    <p:sldId id="362" r:id="rId40"/>
    <p:sldId id="519" r:id="rId41"/>
  </p:sldIdLst>
  <p:sldSz cx="9144000" cy="6858000" type="screen4x3"/>
  <p:notesSz cx="6858000" cy="9144000"/>
  <p:custDataLst>
    <p:tags r:id="rId4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rgbClr val="FFFF00"/>
        </a:solidFill>
        <a:latin typeface="Arial" panose="020B0604020202020204" pitchFamily="34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2" userDrawn="1">
          <p15:clr>
            <a:srgbClr val="A4A3A4"/>
          </p15:clr>
        </p15:guide>
        <p15:guide id="2" pos="28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00CCFF"/>
    <a:srgbClr val="FF3300"/>
    <a:srgbClr val="FFFF00"/>
    <a:srgbClr val="FF9900"/>
    <a:srgbClr val="FF00FF"/>
    <a:srgbClr val="00FF00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5378"/>
  </p:normalViewPr>
  <p:slideViewPr>
    <p:cSldViewPr showGuides="1">
      <p:cViewPr varScale="1">
        <p:scale>
          <a:sx n="67" d="100"/>
          <a:sy n="67" d="100"/>
        </p:scale>
        <p:origin x="1263" y="45"/>
      </p:cViewPr>
      <p:guideLst>
        <p:guide orient="horz" pos="2232"/>
        <p:guide pos="280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08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5" Type="http://schemas.openxmlformats.org/officeDocument/2006/relationships/tags" Target="tags/tag4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4" Type="http://schemas.openxmlformats.org/officeDocument/2006/relationships/image" Target="../media/image23.emf"/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1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8.emf"/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7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2.vml.rels><?xml version="1.0" encoding="UTF-8" standalone="yes"?>
<Relationships xmlns="http://schemas.openxmlformats.org/package/2006/relationships"><Relationship Id="rId6" Type="http://schemas.openxmlformats.org/officeDocument/2006/relationships/image" Target="../media/image48.emf"/><Relationship Id="rId5" Type="http://schemas.openxmlformats.org/officeDocument/2006/relationships/image" Target="../media/image47.emf"/><Relationship Id="rId4" Type="http://schemas.openxmlformats.org/officeDocument/2006/relationships/image" Target="../media/image46.emf"/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D81731E-DBF6-485C-88ED-5BE93C7C9E08}" type="datetimeFigureOut"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31DA160-C6F2-40DB-9B50-C38357EC72EE}" type="slidenum"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emf"/><Relationship Id="rId3" Type="http://schemas.openxmlformats.org/officeDocument/2006/relationships/oleObject" Target="../embeddings/oleObject4.bin"/><Relationship Id="rId2" Type="http://schemas.openxmlformats.org/officeDocument/2006/relationships/image" Target="../media/image3.emf"/><Relationship Id="rId1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6.emf"/><Relationship Id="rId7" Type="http://schemas.openxmlformats.org/officeDocument/2006/relationships/oleObject" Target="../embeddings/oleObject8.bin"/><Relationship Id="rId6" Type="http://schemas.openxmlformats.org/officeDocument/2006/relationships/image" Target="../media/image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4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3.emf"/><Relationship Id="rId10" Type="http://schemas.openxmlformats.org/officeDocument/2006/relationships/vmlDrawing" Target="../drawings/vmlDrawing3.vml"/><Relationship Id="rId1" Type="http://schemas.openxmlformats.org/officeDocument/2006/relationships/oleObject" Target="../embeddings/oleObject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9.wmf"/><Relationship Id="rId6" Type="http://schemas.openxmlformats.org/officeDocument/2006/relationships/oleObject" Target="../embeddings/oleObject11.bin"/><Relationship Id="rId5" Type="http://schemas.openxmlformats.org/officeDocument/2006/relationships/tags" Target="../tags/tag1.xml"/><Relationship Id="rId4" Type="http://schemas.openxmlformats.org/officeDocument/2006/relationships/image" Target="../media/image8.e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7.emf"/><Relationship Id="rId1" Type="http://schemas.openxmlformats.org/officeDocument/2006/relationships/oleObject" Target="../embeddings/oleObject9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emf"/><Relationship Id="rId1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emf"/><Relationship Id="rId1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vmlDrawing" Target="../drawings/vmlDrawing7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emf"/><Relationship Id="rId2" Type="http://schemas.openxmlformats.org/officeDocument/2006/relationships/oleObject" Target="../embeddings/oleObject14.bin"/><Relationship Id="rId1" Type="http://schemas.openxmlformats.org/officeDocument/2006/relationships/tags" Target="../tags/tag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4.emf"/><Relationship Id="rId1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9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16.emf"/><Relationship Id="rId3" Type="http://schemas.openxmlformats.org/officeDocument/2006/relationships/oleObject" Target="../embeddings/oleObject20.bin"/><Relationship Id="rId2" Type="http://schemas.openxmlformats.org/officeDocument/2006/relationships/image" Target="../media/image15.emf"/><Relationship Id="rId1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9.e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18.emf"/><Relationship Id="rId1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23.emf"/><Relationship Id="rId7" Type="http://schemas.openxmlformats.org/officeDocument/2006/relationships/oleObject" Target="../embeddings/oleObject27.bin"/><Relationship Id="rId6" Type="http://schemas.openxmlformats.org/officeDocument/2006/relationships/image" Target="../media/image22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1.e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0.emf"/><Relationship Id="rId10" Type="http://schemas.openxmlformats.org/officeDocument/2006/relationships/vmlDrawing" Target="../drawings/vmlDrawing12.vml"/><Relationship Id="rId1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emf"/><Relationship Id="rId1" Type="http://schemas.openxmlformats.org/officeDocument/2006/relationships/oleObject" Target="../embeddings/oleObject28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4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26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5.emf"/><Relationship Id="rId1" Type="http://schemas.openxmlformats.org/officeDocument/2006/relationships/oleObject" Target="../embeddings/oleObject29.bin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9.emf"/><Relationship Id="rId3" Type="http://schemas.openxmlformats.org/officeDocument/2006/relationships/oleObject" Target="../embeddings/oleObject33.bin"/><Relationship Id="rId2" Type="http://schemas.openxmlformats.org/officeDocument/2006/relationships/image" Target="../media/image28.emf"/><Relationship Id="rId1" Type="http://schemas.openxmlformats.org/officeDocument/2006/relationships/oleObject" Target="../embeddings/oleObject32.bin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3.e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2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1.e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0.e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34.emf"/><Relationship Id="rId1" Type="http://schemas.openxmlformats.org/officeDocument/2006/relationships/oleObject" Target="../embeddings/oleObject34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e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35.emf"/><Relationship Id="rId1" Type="http://schemas.openxmlformats.org/officeDocument/2006/relationships/oleObject" Target="../embeddings/oleObject39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8.e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36.e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35.emf"/><Relationship Id="rId3" Type="http://schemas.openxmlformats.org/officeDocument/2006/relationships/oleObject" Target="../embeddings/oleObject42.bin"/><Relationship Id="rId2" Type="http://schemas.openxmlformats.org/officeDocument/2006/relationships/image" Target="../media/image37.emf"/><Relationship Id="rId10" Type="http://schemas.openxmlformats.org/officeDocument/2006/relationships/vmlDrawing" Target="../drawings/vmlDrawing18.vml"/><Relationship Id="rId1" Type="http://schemas.openxmlformats.org/officeDocument/2006/relationships/oleObject" Target="../embeddings/oleObject4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9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38.emf"/><Relationship Id="rId3" Type="http://schemas.openxmlformats.org/officeDocument/2006/relationships/oleObject" Target="../embeddings/oleObject46.bin"/><Relationship Id="rId2" Type="http://schemas.openxmlformats.org/officeDocument/2006/relationships/image" Target="../media/image37.emf"/><Relationship Id="rId1" Type="http://schemas.openxmlformats.org/officeDocument/2006/relationships/oleObject" Target="../embeddings/oleObject45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0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41.e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0.emf"/><Relationship Id="rId1" Type="http://schemas.openxmlformats.org/officeDocument/2006/relationships/oleObject" Target="../embeddings/oleObject48.bin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2.emf"/><Relationship Id="rId1" Type="http://schemas.openxmlformats.org/officeDocument/2006/relationships/oleObject" Target="../embeddings/oleObject50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5.bin"/><Relationship Id="rId8" Type="http://schemas.openxmlformats.org/officeDocument/2006/relationships/image" Target="../media/image46.emf"/><Relationship Id="rId7" Type="http://schemas.openxmlformats.org/officeDocument/2006/relationships/oleObject" Target="../embeddings/oleObject54.bin"/><Relationship Id="rId6" Type="http://schemas.openxmlformats.org/officeDocument/2006/relationships/image" Target="../media/image45.e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44.emf"/><Relationship Id="rId3" Type="http://schemas.openxmlformats.org/officeDocument/2006/relationships/oleObject" Target="../embeddings/oleObject52.bin"/><Relationship Id="rId2" Type="http://schemas.openxmlformats.org/officeDocument/2006/relationships/image" Target="../media/image43.emf"/><Relationship Id="rId14" Type="http://schemas.openxmlformats.org/officeDocument/2006/relationships/vmlDrawing" Target="../drawings/vmlDrawing22.v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48.emf"/><Relationship Id="rId11" Type="http://schemas.openxmlformats.org/officeDocument/2006/relationships/oleObject" Target="../embeddings/oleObject56.bin"/><Relationship Id="rId10" Type="http://schemas.openxmlformats.org/officeDocument/2006/relationships/image" Target="../media/image47.emf"/><Relationship Id="rId1" Type="http://schemas.openxmlformats.org/officeDocument/2006/relationships/oleObject" Target="../embeddings/oleObject51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3.v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2.emf"/><Relationship Id="rId6" Type="http://schemas.openxmlformats.org/officeDocument/2006/relationships/oleObject" Target="../embeddings/oleObject59.bin"/><Relationship Id="rId5" Type="http://schemas.openxmlformats.org/officeDocument/2006/relationships/image" Target="../media/image51.emf"/><Relationship Id="rId4" Type="http://schemas.openxmlformats.org/officeDocument/2006/relationships/oleObject" Target="../embeddings/oleObject58.bin"/><Relationship Id="rId3" Type="http://schemas.openxmlformats.org/officeDocument/2006/relationships/image" Target="../media/image50.emf"/><Relationship Id="rId2" Type="http://schemas.openxmlformats.org/officeDocument/2006/relationships/oleObject" Target="../embeddings/oleObject57.bin"/><Relationship Id="rId1" Type="http://schemas.openxmlformats.org/officeDocument/2006/relationships/image" Target="../media/image49.jpe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4.v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54.e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53.emf"/><Relationship Id="rId1" Type="http://schemas.openxmlformats.org/officeDocument/2006/relationships/oleObject" Target="../embeddings/oleObject60.bin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7.emf"/><Relationship Id="rId3" Type="http://schemas.openxmlformats.org/officeDocument/2006/relationships/oleObject" Target="../embeddings/oleObject64.bin"/><Relationship Id="rId2" Type="http://schemas.openxmlformats.org/officeDocument/2006/relationships/image" Target="../media/image56.emf"/><Relationship Id="rId1" Type="http://schemas.openxmlformats.org/officeDocument/2006/relationships/oleObject" Target="../embeddings/oleObject63.bin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8.wmf"/><Relationship Id="rId3" Type="http://schemas.openxmlformats.org/officeDocument/2006/relationships/oleObject" Target="../embeddings/oleObject65.bin"/><Relationship Id="rId2" Type="http://schemas.openxmlformats.org/officeDocument/2006/relationships/tags" Target="../tags/tag3.xml"/><Relationship Id="rId1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12" name="Text Box 2"/>
          <p:cNvSpPr txBox="1"/>
          <p:nvPr/>
        </p:nvSpPr>
        <p:spPr>
          <a:xfrm>
            <a:off x="3347720" y="1251585"/>
            <a:ext cx="4348480" cy="92202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p>
            <a:pPr eaLnBrk="1" hangingPunct="1"/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</a:t>
            </a:r>
            <a:r>
              <a:rPr lang="en-US" altLang="zh-CN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</a:t>
            </a:r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章 </a:t>
            </a:r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5650" y="2348865"/>
            <a:ext cx="70434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eaLnBrk="1" hangingPunct="1"/>
            <a:r>
              <a:rPr lang="zh-CN" altLang="en-US" sz="5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+mn-ea"/>
              </a:rPr>
              <a:t>一阶电路和二阶电路的时域分析</a:t>
            </a:r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/>
            <a:endParaRPr lang="zh-CN" altLang="en-US" sz="5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900" name="Text Box 4"/>
          <p:cNvSpPr txBox="1"/>
          <p:nvPr/>
        </p:nvSpPr>
        <p:spPr>
          <a:xfrm>
            <a:off x="1187133" y="980123"/>
            <a:ext cx="6985000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7.2 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一阶电路的零输入响应</a:t>
            </a:r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0901" name="Text Box 5"/>
          <p:cNvSpPr txBox="1"/>
          <p:nvPr/>
        </p:nvSpPr>
        <p:spPr>
          <a:xfrm>
            <a:off x="1402080" y="3429000"/>
            <a:ext cx="6713855" cy="1340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换路后外加激励为零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仅由动态元件初始储能产生的电压和电流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0956" name="Text Box 60"/>
          <p:cNvSpPr txBox="1"/>
          <p:nvPr/>
        </p:nvSpPr>
        <p:spPr>
          <a:xfrm>
            <a:off x="3203575" y="2510790"/>
            <a:ext cx="2303463" cy="521970"/>
          </a:xfrm>
          <a:prstGeom prst="rect">
            <a:avLst/>
          </a:prstGeom>
          <a:noFill/>
          <a:ln w="28575" cap="flat" cmpd="sng">
            <a:solidFill>
              <a:srgbClr val="00FFFF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198000" rIns="19800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零输入响应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0900" grpId="0" advAuto="1000" build="p"/>
      <p:bldP spid="80901" grpId="0"/>
      <p:bldP spid="8095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904" name="Text Box 8"/>
          <p:cNvSpPr txBox="1"/>
          <p:nvPr/>
        </p:nvSpPr>
        <p:spPr>
          <a:xfrm>
            <a:off x="539750" y="1196023"/>
            <a:ext cx="4824413" cy="583565"/>
          </a:xfrm>
          <a:prstGeom prst="rect">
            <a:avLst/>
          </a:prstGeom>
          <a:noFill/>
          <a:ln w="9525">
            <a:noFill/>
          </a:ln>
        </p:spPr>
        <p:txBody>
          <a:bodyPr lIns="198000" rIns="19800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1.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电路的零输入响应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80905" name="Text Box 9"/>
          <p:cNvSpPr txBox="1"/>
          <p:nvPr/>
        </p:nvSpPr>
        <p:spPr>
          <a:xfrm>
            <a:off x="4499610" y="2218373"/>
            <a:ext cx="31496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已知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80953" name="Object 57"/>
          <p:cNvGraphicFramePr>
            <a:graphicFrameLocks noChangeAspect="1"/>
          </p:cNvGraphicFramePr>
          <p:nvPr/>
        </p:nvGraphicFramePr>
        <p:xfrm>
          <a:off x="5579428" y="2967673"/>
          <a:ext cx="2592387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801370" imgH="147955" progId="Equation.3">
                  <p:embed/>
                </p:oleObj>
              </mc:Choice>
              <mc:Fallback>
                <p:oleObj name="" r:id="rId1" imgW="801370" imgH="147955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79428" y="2967673"/>
                        <a:ext cx="2592387" cy="666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0961" name="Group 65"/>
          <p:cNvGrpSpPr/>
          <p:nvPr/>
        </p:nvGrpSpPr>
        <p:grpSpPr>
          <a:xfrm>
            <a:off x="5632450" y="4005263"/>
            <a:ext cx="2386013" cy="2012949"/>
            <a:chOff x="340" y="2441"/>
            <a:chExt cx="1503" cy="1268"/>
          </a:xfrm>
        </p:grpSpPr>
        <p:graphicFrame>
          <p:nvGraphicFramePr>
            <p:cNvPr id="33835" name="Object 11"/>
            <p:cNvGraphicFramePr>
              <a:graphicFrameLocks noChangeAspect="1"/>
            </p:cNvGraphicFramePr>
            <p:nvPr/>
          </p:nvGraphicFramePr>
          <p:xfrm>
            <a:off x="489" y="3030"/>
            <a:ext cx="1354" cy="6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6" name="" r:id="rId3" imgW="661670" imgH="348615" progId="Equation.3">
                    <p:embed/>
                  </p:oleObj>
                </mc:Choice>
                <mc:Fallback>
                  <p:oleObj name="" r:id="rId3" imgW="661670" imgH="348615" progId="Equation.3">
                    <p:embed/>
                    <p:pic>
                      <p:nvPicPr>
                        <p:cNvPr id="0" name="图片 3125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89" y="3030"/>
                          <a:ext cx="1354" cy="67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36" name="Text Box 40"/>
            <p:cNvSpPr txBox="1"/>
            <p:nvPr/>
          </p:nvSpPr>
          <p:spPr>
            <a:xfrm>
              <a:off x="340" y="2441"/>
              <a:ext cx="1270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 Ri</a:t>
              </a:r>
              <a:endPara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80977" name="Group 81"/>
          <p:cNvGrpSpPr/>
          <p:nvPr/>
        </p:nvGrpSpPr>
        <p:grpSpPr>
          <a:xfrm>
            <a:off x="809308" y="2419032"/>
            <a:ext cx="2949575" cy="2184401"/>
            <a:chOff x="431" y="2295"/>
            <a:chExt cx="1858" cy="1376"/>
          </a:xfrm>
        </p:grpSpPr>
        <p:sp>
          <p:nvSpPr>
            <p:cNvPr id="33808" name="Line 82"/>
            <p:cNvSpPr/>
            <p:nvPr/>
          </p:nvSpPr>
          <p:spPr>
            <a:xfrm>
              <a:off x="1870" y="2809"/>
              <a:ext cx="0" cy="8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09" name="Line 83"/>
            <p:cNvSpPr/>
            <p:nvPr/>
          </p:nvSpPr>
          <p:spPr>
            <a:xfrm>
              <a:off x="1461" y="2900"/>
              <a:ext cx="278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810" name="Text Box 84"/>
            <p:cNvSpPr txBox="1"/>
            <p:nvPr/>
          </p:nvSpPr>
          <p:spPr>
            <a:xfrm>
              <a:off x="1556" y="2464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11" name="Line 85"/>
            <p:cNvSpPr/>
            <p:nvPr/>
          </p:nvSpPr>
          <p:spPr>
            <a:xfrm flipH="1">
              <a:off x="1226" y="2544"/>
              <a:ext cx="167" cy="195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3812" name="Text Box 86"/>
            <p:cNvSpPr txBox="1"/>
            <p:nvPr/>
          </p:nvSpPr>
          <p:spPr>
            <a:xfrm>
              <a:off x="796" y="2295"/>
              <a:ext cx="6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13" name="Text Box 87"/>
            <p:cNvSpPr txBox="1"/>
            <p:nvPr/>
          </p:nvSpPr>
          <p:spPr>
            <a:xfrm>
              <a:off x="1907" y="2789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14" name="Text Box 88"/>
            <p:cNvSpPr txBox="1"/>
            <p:nvPr/>
          </p:nvSpPr>
          <p:spPr>
            <a:xfrm>
              <a:off x="1907" y="3333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15" name="Text Box 89"/>
            <p:cNvSpPr txBox="1"/>
            <p:nvPr/>
          </p:nvSpPr>
          <p:spPr>
            <a:xfrm>
              <a:off x="1973" y="3009"/>
              <a:ext cx="31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16" name="Line 90"/>
            <p:cNvSpPr/>
            <p:nvPr/>
          </p:nvSpPr>
          <p:spPr>
            <a:xfrm>
              <a:off x="1325" y="2809"/>
              <a:ext cx="54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7" name="Line 91"/>
            <p:cNvSpPr/>
            <p:nvPr/>
          </p:nvSpPr>
          <p:spPr>
            <a:xfrm>
              <a:off x="788" y="2821"/>
              <a:ext cx="39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18" name="Text Box 92"/>
            <p:cNvSpPr txBox="1"/>
            <p:nvPr/>
          </p:nvSpPr>
          <p:spPr>
            <a:xfrm>
              <a:off x="431" y="2976"/>
              <a:ext cx="26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19" name="Text Box 93"/>
            <p:cNvSpPr txBox="1"/>
            <p:nvPr/>
          </p:nvSpPr>
          <p:spPr>
            <a:xfrm>
              <a:off x="957" y="2822"/>
              <a:ext cx="24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20" name="Text Box 94"/>
            <p:cNvSpPr txBox="1"/>
            <p:nvPr/>
          </p:nvSpPr>
          <p:spPr>
            <a:xfrm>
              <a:off x="965" y="3242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21" name="Text Box 95"/>
            <p:cNvSpPr txBox="1"/>
            <p:nvPr/>
          </p:nvSpPr>
          <p:spPr>
            <a:xfrm>
              <a:off x="970" y="2963"/>
              <a:ext cx="32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22" name="Line 96"/>
            <p:cNvSpPr/>
            <p:nvPr/>
          </p:nvSpPr>
          <p:spPr>
            <a:xfrm flipV="1">
              <a:off x="781" y="3209"/>
              <a:ext cx="7" cy="46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3" name="Line 97"/>
            <p:cNvSpPr/>
            <p:nvPr/>
          </p:nvSpPr>
          <p:spPr>
            <a:xfrm flipH="1" flipV="1">
              <a:off x="788" y="2821"/>
              <a:ext cx="5" cy="29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4" name="Line 98"/>
            <p:cNvSpPr/>
            <p:nvPr/>
          </p:nvSpPr>
          <p:spPr>
            <a:xfrm flipH="1" flipV="1">
              <a:off x="1098" y="2628"/>
              <a:ext cx="247" cy="193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5" name="Line 99"/>
            <p:cNvSpPr/>
            <p:nvPr/>
          </p:nvSpPr>
          <p:spPr>
            <a:xfrm>
              <a:off x="781" y="3671"/>
              <a:ext cx="1095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3826" name="Text Box 100"/>
            <p:cNvSpPr txBox="1"/>
            <p:nvPr/>
          </p:nvSpPr>
          <p:spPr>
            <a:xfrm>
              <a:off x="1549" y="3016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3827" name="Rectangle 101"/>
            <p:cNvSpPr/>
            <p:nvPr/>
          </p:nvSpPr>
          <p:spPr>
            <a:xfrm>
              <a:off x="1791" y="306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3828" name="Group 102"/>
            <p:cNvGrpSpPr/>
            <p:nvPr/>
          </p:nvGrpSpPr>
          <p:grpSpPr>
            <a:xfrm>
              <a:off x="657" y="3113"/>
              <a:ext cx="240" cy="93"/>
              <a:chOff x="3787" y="2478"/>
              <a:chExt cx="240" cy="93"/>
            </a:xfrm>
          </p:grpSpPr>
          <p:sp>
            <p:nvSpPr>
              <p:cNvPr id="33829" name="Line 103"/>
              <p:cNvSpPr/>
              <p:nvPr/>
            </p:nvSpPr>
            <p:spPr>
              <a:xfrm flipV="1">
                <a:off x="3787" y="2568"/>
                <a:ext cx="240" cy="3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830" name="Line 104"/>
              <p:cNvSpPr/>
              <p:nvPr/>
            </p:nvSpPr>
            <p:spPr>
              <a:xfrm>
                <a:off x="3787" y="2478"/>
                <a:ext cx="240" cy="1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80904" grpId="0"/>
      <p:bldP spid="8090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9574" name="Group 6"/>
          <p:cNvGrpSpPr/>
          <p:nvPr/>
        </p:nvGrpSpPr>
        <p:grpSpPr>
          <a:xfrm>
            <a:off x="1907540" y="1124268"/>
            <a:ext cx="3509963" cy="1584325"/>
            <a:chOff x="2484" y="1912"/>
            <a:chExt cx="1543" cy="763"/>
          </a:xfrm>
        </p:grpSpPr>
        <p:graphicFrame>
          <p:nvGraphicFramePr>
            <p:cNvPr id="34865" name="Object 7"/>
            <p:cNvGraphicFramePr>
              <a:graphicFrameLocks noChangeAspect="1"/>
            </p:cNvGraphicFramePr>
            <p:nvPr/>
          </p:nvGraphicFramePr>
          <p:xfrm>
            <a:off x="2608" y="1912"/>
            <a:ext cx="1419" cy="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" imgW="1010285" imgH="565785" progId="Equation.3">
                    <p:embed/>
                  </p:oleObj>
                </mc:Choice>
                <mc:Fallback>
                  <p:oleObj name="" r:id="rId1" imgW="1010285" imgH="565785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08" y="1912"/>
                          <a:ext cx="1419" cy="7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76" name="AutoShape 8"/>
            <p:cNvSpPr/>
            <p:nvPr/>
          </p:nvSpPr>
          <p:spPr bwMode="auto">
            <a:xfrm>
              <a:off x="2484" y="2126"/>
              <a:ext cx="87" cy="435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>
              <a:solidFill>
                <a:schemeClr val="bg1"/>
              </a:solidFill>
              <a:rou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09650" name="Group 82"/>
          <p:cNvGrpSpPr/>
          <p:nvPr/>
        </p:nvGrpSpPr>
        <p:grpSpPr>
          <a:xfrm>
            <a:off x="1979613" y="3909060"/>
            <a:ext cx="3843337" cy="1008063"/>
            <a:chOff x="2318" y="1706"/>
            <a:chExt cx="2529" cy="748"/>
          </a:xfrm>
        </p:grpSpPr>
        <p:graphicFrame>
          <p:nvGraphicFramePr>
            <p:cNvPr id="34863" name="Object 10"/>
            <p:cNvGraphicFramePr>
              <a:graphicFrameLocks noChangeAspect="1"/>
            </p:cNvGraphicFramePr>
            <p:nvPr/>
          </p:nvGraphicFramePr>
          <p:xfrm>
            <a:off x="3606" y="1706"/>
            <a:ext cx="1241" cy="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3" imgW="609600" imgH="348615" progId="Equation.3">
                    <p:embed/>
                  </p:oleObj>
                </mc:Choice>
                <mc:Fallback>
                  <p:oleObj name="" r:id="rId3" imgW="609600" imgH="348615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06" y="1706"/>
                          <a:ext cx="1241" cy="7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4" name="Text Box 11"/>
            <p:cNvSpPr txBox="1"/>
            <p:nvPr/>
          </p:nvSpPr>
          <p:spPr>
            <a:xfrm>
              <a:off x="2318" y="1916"/>
              <a:ext cx="824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特征根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09649" name="Group 81"/>
          <p:cNvGrpSpPr/>
          <p:nvPr/>
        </p:nvGrpSpPr>
        <p:grpSpPr>
          <a:xfrm>
            <a:off x="1908175" y="3404235"/>
            <a:ext cx="4505325" cy="593725"/>
            <a:chOff x="2336" y="1344"/>
            <a:chExt cx="2838" cy="374"/>
          </a:xfrm>
        </p:grpSpPr>
        <p:sp>
          <p:nvSpPr>
            <p:cNvPr id="34861" name="Text Box 13"/>
            <p:cNvSpPr txBox="1"/>
            <p:nvPr/>
          </p:nvSpPr>
          <p:spPr>
            <a:xfrm>
              <a:off x="2336" y="1388"/>
              <a:ext cx="226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eaLnBrk="1" hangingPunct="1"/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特征方程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4862" name="Text Box 14"/>
            <p:cNvSpPr txBox="1"/>
            <p:nvPr/>
          </p:nvSpPr>
          <p:spPr>
            <a:xfrm>
              <a:off x="3696" y="1344"/>
              <a:ext cx="147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RCp+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1=0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9574" name="Group 6"/>
          <p:cNvGrpSpPr/>
          <p:nvPr/>
        </p:nvGrpSpPr>
        <p:grpSpPr>
          <a:xfrm>
            <a:off x="1841500" y="475933"/>
            <a:ext cx="3509963" cy="1584325"/>
            <a:chOff x="2484" y="1912"/>
            <a:chExt cx="1543" cy="763"/>
          </a:xfrm>
        </p:grpSpPr>
        <p:graphicFrame>
          <p:nvGraphicFramePr>
            <p:cNvPr id="34865" name="Object 7"/>
            <p:cNvGraphicFramePr>
              <a:graphicFrameLocks noChangeAspect="1"/>
            </p:cNvGraphicFramePr>
            <p:nvPr/>
          </p:nvGraphicFramePr>
          <p:xfrm>
            <a:off x="2608" y="1912"/>
            <a:ext cx="1419" cy="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1" name="" r:id="rId1" imgW="1010285" imgH="565785" progId="Equation.3">
                    <p:embed/>
                  </p:oleObj>
                </mc:Choice>
                <mc:Fallback>
                  <p:oleObj name="" r:id="rId1" imgW="1010285" imgH="565785" progId="Equation.3">
                    <p:embed/>
                    <p:pic>
                      <p:nvPicPr>
                        <p:cNvPr id="0" name="图片 3130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608" y="1912"/>
                          <a:ext cx="1419" cy="76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9576" name="AutoShape 8"/>
            <p:cNvSpPr/>
            <p:nvPr/>
          </p:nvSpPr>
          <p:spPr bwMode="auto">
            <a:xfrm>
              <a:off x="2484" y="2126"/>
              <a:ext cx="87" cy="435"/>
            </a:xfrm>
            <a:prstGeom prst="leftBrace">
              <a:avLst>
                <a:gd name="adj1" fmla="val 41667"/>
                <a:gd name="adj2" fmla="val 50000"/>
              </a:avLst>
            </a:prstGeom>
            <a:noFill/>
            <a:ln w="19050">
              <a:solidFill>
                <a:schemeClr val="bg1"/>
              </a:solidFill>
              <a:round/>
            </a:ln>
            <a:effectLst>
              <a:prstShdw prst="shdw17" dist="17961" dir="2700000">
                <a:schemeClr val="bg1">
                  <a:gamma/>
                  <a:shade val="60000"/>
                  <a:invGamma/>
                </a:schemeClr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1pPr>
              <a:lvl2pPr marL="742950" indent="-28575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2pPr>
              <a:lvl3pPr marL="11430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3pPr>
              <a:lvl4pPr marL="16002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4pPr>
              <a:lvl5pPr marL="2057400" indent="-228600"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rgbClr val="FFFF00"/>
                  </a:solidFill>
                  <a:latin typeface="Arial" panose="020B0604020202020204" pitchFamily="34" charset="0"/>
                  <a:ea typeface="楷体_GB2312" pitchFamily="49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2800" b="1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109650" name="Group 82"/>
          <p:cNvGrpSpPr/>
          <p:nvPr/>
        </p:nvGrpSpPr>
        <p:grpSpPr>
          <a:xfrm>
            <a:off x="3779838" y="2781300"/>
            <a:ext cx="3843337" cy="1008063"/>
            <a:chOff x="2318" y="1706"/>
            <a:chExt cx="2529" cy="748"/>
          </a:xfrm>
        </p:grpSpPr>
        <p:graphicFrame>
          <p:nvGraphicFramePr>
            <p:cNvPr id="34863" name="Object 10"/>
            <p:cNvGraphicFramePr>
              <a:graphicFrameLocks noChangeAspect="1"/>
            </p:cNvGraphicFramePr>
            <p:nvPr/>
          </p:nvGraphicFramePr>
          <p:xfrm>
            <a:off x="3606" y="1706"/>
            <a:ext cx="1241" cy="7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9" name="" r:id="rId3" imgW="609600" imgH="348615" progId="Equation.3">
                    <p:embed/>
                  </p:oleObj>
                </mc:Choice>
                <mc:Fallback>
                  <p:oleObj name="" r:id="rId3" imgW="609600" imgH="348615" progId="Equation.3">
                    <p:embed/>
                    <p:pic>
                      <p:nvPicPr>
                        <p:cNvPr id="0" name="图片 3128"/>
                        <p:cNvPicPr/>
                        <p:nvPr/>
                      </p:nvPicPr>
                      <p:blipFill>
                        <a:blip r:embed="rId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606" y="1706"/>
                          <a:ext cx="1241" cy="7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4" name="Text Box 11"/>
            <p:cNvSpPr txBox="1"/>
            <p:nvPr/>
          </p:nvSpPr>
          <p:spPr>
            <a:xfrm>
              <a:off x="2318" y="1916"/>
              <a:ext cx="824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特征根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09649" name="Group 81"/>
          <p:cNvGrpSpPr/>
          <p:nvPr/>
        </p:nvGrpSpPr>
        <p:grpSpPr>
          <a:xfrm>
            <a:off x="3708400" y="2276475"/>
            <a:ext cx="4505325" cy="593725"/>
            <a:chOff x="2336" y="1344"/>
            <a:chExt cx="2838" cy="374"/>
          </a:xfrm>
        </p:grpSpPr>
        <p:sp>
          <p:nvSpPr>
            <p:cNvPr id="34861" name="Text Box 13"/>
            <p:cNvSpPr txBox="1"/>
            <p:nvPr/>
          </p:nvSpPr>
          <p:spPr>
            <a:xfrm>
              <a:off x="2336" y="1388"/>
              <a:ext cx="2268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eaLnBrk="1" hangingPunct="1"/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特征方程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4862" name="Text Box 14"/>
            <p:cNvSpPr txBox="1"/>
            <p:nvPr/>
          </p:nvSpPr>
          <p:spPr>
            <a:xfrm>
              <a:off x="3696" y="1344"/>
              <a:ext cx="147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RCp+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1=0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09583" name="Group 15"/>
          <p:cNvGrpSpPr/>
          <p:nvPr/>
        </p:nvGrpSpPr>
        <p:grpSpPr>
          <a:xfrm>
            <a:off x="1116013" y="3644900"/>
            <a:ext cx="4759325" cy="952500"/>
            <a:chOff x="482" y="3521"/>
            <a:chExt cx="2609" cy="503"/>
          </a:xfrm>
        </p:grpSpPr>
        <p:graphicFrame>
          <p:nvGraphicFramePr>
            <p:cNvPr id="34858" name="Object 16"/>
            <p:cNvGraphicFramePr>
              <a:graphicFrameLocks noChangeAspect="1"/>
            </p:cNvGraphicFramePr>
            <p:nvPr/>
          </p:nvGraphicFramePr>
          <p:xfrm>
            <a:off x="2145" y="3521"/>
            <a:ext cx="946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0" name="" r:id="rId5" imgW="522605" imgH="217805" progId="Equation.3">
                    <p:embed/>
                  </p:oleObj>
                </mc:Choice>
                <mc:Fallback>
                  <p:oleObj name="" r:id="rId5" imgW="522605" imgH="217805" progId="Equation.3">
                    <p:embed/>
                    <p:pic>
                      <p:nvPicPr>
                        <p:cNvPr id="0" name="图片 3129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45" y="3521"/>
                          <a:ext cx="946" cy="4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59" name="Object 17"/>
            <p:cNvGraphicFramePr>
              <a:graphicFrameLocks noChangeAspect="1"/>
            </p:cNvGraphicFramePr>
            <p:nvPr/>
          </p:nvGraphicFramePr>
          <p:xfrm>
            <a:off x="1057" y="3648"/>
            <a:ext cx="1020" cy="3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28" name="" r:id="rId7" imgW="557530" imgH="173990" progId="Equation.3">
                    <p:embed/>
                  </p:oleObj>
                </mc:Choice>
                <mc:Fallback>
                  <p:oleObj name="" r:id="rId7" imgW="557530" imgH="173990" progId="Equation.3">
                    <p:embed/>
                    <p:pic>
                      <p:nvPicPr>
                        <p:cNvPr id="0" name="图片 3127"/>
                        <p:cNvPicPr/>
                        <p:nvPr/>
                      </p:nvPicPr>
                      <p:blipFill>
                        <a:blip r:embed="rId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057" y="3648"/>
                          <a:ext cx="1020" cy="37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860" name="Text Box 18"/>
            <p:cNvSpPr txBox="1"/>
            <p:nvPr/>
          </p:nvSpPr>
          <p:spPr>
            <a:xfrm>
              <a:off x="482" y="3708"/>
              <a:ext cx="294" cy="276"/>
            </a:xfrm>
            <a:prstGeom prst="rect">
              <a:avLst/>
            </a:prstGeom>
            <a:noFill/>
            <a:ln w="9525">
              <a:noFill/>
            </a:ln>
            <a:effectLst>
              <a:prstShdw prst="shdw17" dist="17961" dir="2699999">
                <a:srgbClr val="999999"/>
              </a:prstShdw>
            </a:effectLst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则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109651" name="Text Box 83"/>
          <p:cNvSpPr txBox="1"/>
          <p:nvPr/>
        </p:nvSpPr>
        <p:spPr>
          <a:xfrm>
            <a:off x="1042988" y="4724400"/>
            <a:ext cx="6335712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代入初始值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t=0</a:t>
            </a:r>
            <a:r>
              <a:rPr lang="zh-CN" altLang="en-US" sz="2400" b="0" dirty="0">
                <a:latin typeface="Times New Roman" panose="02020603050405020304" pitchFamily="18" charset="0"/>
                <a:ea typeface="黑体" panose="02010609060101010101" pitchFamily="2" charset="-122"/>
              </a:rPr>
              <a:t>   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C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09652" name="AutoShape 84"/>
          <p:cNvSpPr/>
          <p:nvPr/>
        </p:nvSpPr>
        <p:spPr>
          <a:xfrm>
            <a:off x="1476375" y="5589588"/>
            <a:ext cx="792163" cy="215900"/>
          </a:xfrm>
          <a:prstGeom prst="rightArrow">
            <a:avLst>
              <a:gd name="adj1" fmla="val 50000"/>
              <a:gd name="adj2" fmla="val 91727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109653" name="Text Box 85"/>
          <p:cNvSpPr txBox="1"/>
          <p:nvPr/>
        </p:nvSpPr>
        <p:spPr>
          <a:xfrm>
            <a:off x="2555875" y="5445125"/>
            <a:ext cx="172720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09651" grpId="0"/>
      <p:bldP spid="109652" grpId="0" animBg="1"/>
      <p:bldP spid="1096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9891" name="Object 19"/>
          <p:cNvGraphicFramePr>
            <a:graphicFrameLocks noChangeAspect="1"/>
          </p:cNvGraphicFramePr>
          <p:nvPr/>
        </p:nvGraphicFramePr>
        <p:xfrm>
          <a:off x="1293813" y="2276475"/>
          <a:ext cx="648335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2089785" imgH="348615" progId="Equation.3">
                  <p:embed/>
                </p:oleObj>
              </mc:Choice>
              <mc:Fallback>
                <p:oleObj name="" r:id="rId1" imgW="2089785" imgH="348615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93813" y="2276475"/>
                        <a:ext cx="6483350" cy="1206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9" name="Object 37"/>
          <p:cNvGraphicFramePr>
            <a:graphicFrameLocks noChangeAspect="1"/>
          </p:cNvGraphicFramePr>
          <p:nvPr/>
        </p:nvGraphicFramePr>
        <p:xfrm>
          <a:off x="949325" y="3990975"/>
          <a:ext cx="7461250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2586355" imgH="348615" progId="Equation.3">
                  <p:embed/>
                </p:oleObj>
              </mc:Choice>
              <mc:Fallback>
                <p:oleObj name="" r:id="rId3" imgW="2586355" imgH="348615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49325" y="3990975"/>
                        <a:ext cx="7461250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24" name="Text Box 52"/>
          <p:cNvSpPr txBox="1"/>
          <p:nvPr/>
        </p:nvSpPr>
        <p:spPr>
          <a:xfrm>
            <a:off x="755650" y="3500438"/>
            <a:ext cx="5032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或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2" name="对象 1"/>
          <p:cNvGraphicFramePr/>
          <p:nvPr>
            <p:custDataLst>
              <p:tags r:id="rId5"/>
            </p:custDataLst>
          </p:nvPr>
        </p:nvGraphicFramePr>
        <p:xfrm>
          <a:off x="1115695" y="260350"/>
          <a:ext cx="7031990" cy="1572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6" imgW="4810760" imgH="1165225" progId="Equation.KSEE3">
                  <p:embed/>
                </p:oleObj>
              </mc:Choice>
              <mc:Fallback>
                <p:oleObj name="" r:id="rId6" imgW="4810760" imgH="116522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15695" y="260350"/>
                        <a:ext cx="7031990" cy="15722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799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8852" name="Group 4"/>
          <p:cNvGrpSpPr/>
          <p:nvPr/>
        </p:nvGrpSpPr>
        <p:grpSpPr>
          <a:xfrm>
            <a:off x="1042988" y="1771303"/>
            <a:ext cx="3263900" cy="2100956"/>
            <a:chOff x="3768" y="729"/>
            <a:chExt cx="1534" cy="1086"/>
          </a:xfrm>
        </p:grpSpPr>
        <p:sp>
          <p:nvSpPr>
            <p:cNvPr id="36895" name="Text Box 5"/>
            <p:cNvSpPr txBox="1"/>
            <p:nvPr/>
          </p:nvSpPr>
          <p:spPr>
            <a:xfrm>
              <a:off x="5169" y="1545"/>
              <a:ext cx="133" cy="2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896" name="Line 6"/>
            <p:cNvSpPr/>
            <p:nvPr/>
          </p:nvSpPr>
          <p:spPr>
            <a:xfrm>
              <a:off x="3951" y="1536"/>
              <a:ext cx="1344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97" name="Line 7"/>
            <p:cNvSpPr/>
            <p:nvPr/>
          </p:nvSpPr>
          <p:spPr>
            <a:xfrm flipV="1">
              <a:off x="4143" y="816"/>
              <a:ext cx="0" cy="96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98" name="Freeform 8"/>
            <p:cNvSpPr/>
            <p:nvPr/>
          </p:nvSpPr>
          <p:spPr>
            <a:xfrm>
              <a:off x="4143" y="1056"/>
              <a:ext cx="1008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899" name="Text Box 9"/>
            <p:cNvSpPr txBox="1"/>
            <p:nvPr/>
          </p:nvSpPr>
          <p:spPr>
            <a:xfrm>
              <a:off x="3768" y="778"/>
              <a:ext cx="354" cy="270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900" name="Text Box 10"/>
            <p:cNvSpPr txBox="1"/>
            <p:nvPr/>
          </p:nvSpPr>
          <p:spPr>
            <a:xfrm>
              <a:off x="4204" y="729"/>
              <a:ext cx="242" cy="2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901" name="Text Box 11"/>
            <p:cNvSpPr txBox="1"/>
            <p:nvPr/>
          </p:nvSpPr>
          <p:spPr>
            <a:xfrm>
              <a:off x="3972" y="1498"/>
              <a:ext cx="170" cy="27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902" name="Line 12"/>
            <p:cNvSpPr/>
            <p:nvPr/>
          </p:nvSpPr>
          <p:spPr>
            <a:xfrm>
              <a:off x="3871" y="1056"/>
              <a:ext cx="305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8861" name="Group 13"/>
          <p:cNvGrpSpPr/>
          <p:nvPr/>
        </p:nvGrpSpPr>
        <p:grpSpPr>
          <a:xfrm>
            <a:off x="5119053" y="3921012"/>
            <a:ext cx="3090238" cy="1911576"/>
            <a:chOff x="3918" y="1622"/>
            <a:chExt cx="1397" cy="1124"/>
          </a:xfrm>
        </p:grpSpPr>
        <p:sp>
          <p:nvSpPr>
            <p:cNvPr id="36886" name="Line 14"/>
            <p:cNvSpPr/>
            <p:nvPr/>
          </p:nvSpPr>
          <p:spPr>
            <a:xfrm>
              <a:off x="3967" y="2448"/>
              <a:ext cx="1344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7" name="Line 15"/>
            <p:cNvSpPr/>
            <p:nvPr/>
          </p:nvSpPr>
          <p:spPr>
            <a:xfrm flipV="1">
              <a:off x="4159" y="1728"/>
              <a:ext cx="0" cy="96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6888" name="Freeform 16"/>
            <p:cNvSpPr/>
            <p:nvPr/>
          </p:nvSpPr>
          <p:spPr>
            <a:xfrm>
              <a:off x="4159" y="1968"/>
              <a:ext cx="1008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40" y="240"/>
                </a:cxn>
                <a:cxn ang="0">
                  <a:pos x="672" y="384"/>
                </a:cxn>
                <a:cxn ang="0">
                  <a:pos x="1008" y="432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38100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6889" name="Text Box 17"/>
            <p:cNvSpPr txBox="1"/>
            <p:nvPr/>
          </p:nvSpPr>
          <p:spPr>
            <a:xfrm>
              <a:off x="3921" y="1790"/>
              <a:ext cx="188" cy="30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890" name="Text Box 18"/>
            <p:cNvSpPr txBox="1"/>
            <p:nvPr/>
          </p:nvSpPr>
          <p:spPr>
            <a:xfrm>
              <a:off x="5188" y="2439"/>
              <a:ext cx="127" cy="30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891" name="Text Box 19"/>
            <p:cNvSpPr txBox="1"/>
            <p:nvPr/>
          </p:nvSpPr>
          <p:spPr>
            <a:xfrm>
              <a:off x="4277" y="1622"/>
              <a:ext cx="127" cy="30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892" name="Text Box 20"/>
            <p:cNvSpPr txBox="1"/>
            <p:nvPr/>
          </p:nvSpPr>
          <p:spPr>
            <a:xfrm>
              <a:off x="3991" y="2391"/>
              <a:ext cx="163" cy="30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6893" name="Line 21"/>
            <p:cNvSpPr/>
            <p:nvPr/>
          </p:nvSpPr>
          <p:spPr>
            <a:xfrm flipV="1">
              <a:off x="4144" y="1968"/>
              <a:ext cx="0" cy="48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894" name="Line 22"/>
            <p:cNvSpPr/>
            <p:nvPr/>
          </p:nvSpPr>
          <p:spPr>
            <a:xfrm flipH="1" flipV="1">
              <a:off x="3918" y="2427"/>
              <a:ext cx="218" cy="1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78873" name="Text Box 25"/>
          <p:cNvSpPr txBox="1"/>
          <p:nvPr/>
        </p:nvSpPr>
        <p:spPr>
          <a:xfrm>
            <a:off x="323850" y="1124109"/>
            <a:ext cx="849630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电压、电流是随时间按同一指数规律衰减的函数；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8875" name="AutoShape 27" descr="羊皮纸"/>
          <p:cNvSpPr/>
          <p:nvPr/>
        </p:nvSpPr>
        <p:spPr>
          <a:xfrm>
            <a:off x="3348038" y="1916113"/>
            <a:ext cx="1152525" cy="1081087"/>
          </a:xfrm>
          <a:prstGeom prst="wedgeRoundRectCallout">
            <a:avLst>
              <a:gd name="adj1" fmla="val -168319"/>
              <a:gd name="adj2" fmla="val 806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连续函数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8876" name="AutoShape 28" descr="羊皮纸"/>
          <p:cNvSpPr/>
          <p:nvPr/>
        </p:nvSpPr>
        <p:spPr>
          <a:xfrm>
            <a:off x="6516370" y="3932555"/>
            <a:ext cx="1223963" cy="576263"/>
          </a:xfrm>
          <a:prstGeom prst="wedgeRoundRectCallout">
            <a:avLst>
              <a:gd name="adj1" fmla="val -115889"/>
              <a:gd name="adj2" fmla="val 38704"/>
              <a:gd name="adj3" fmla="val 16667"/>
            </a:avLst>
          </a:prstGeom>
          <a:blipFill rotWithShape="1">
            <a:blip r:embed="rId1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跃变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78890" name="Group 42"/>
          <p:cNvGrpSpPr/>
          <p:nvPr/>
        </p:nvGrpSpPr>
        <p:grpSpPr>
          <a:xfrm>
            <a:off x="395288" y="404813"/>
            <a:ext cx="1643063" cy="850900"/>
            <a:chOff x="385" y="3022"/>
            <a:chExt cx="1035" cy="536"/>
          </a:xfrm>
        </p:grpSpPr>
        <p:pic>
          <p:nvPicPr>
            <p:cNvPr id="36880" name="Picture 43" descr="1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6881" name="Text Box 44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表明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78873" grpId="0"/>
      <p:bldP spid="78875" grpId="0" animBg="1"/>
      <p:bldP spid="7887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71" name="Text Box 23"/>
          <p:cNvSpPr txBox="1"/>
          <p:nvPr/>
        </p:nvSpPr>
        <p:spPr>
          <a:xfrm>
            <a:off x="899795" y="2492375"/>
            <a:ext cx="7272338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令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RC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 ,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称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为一阶电路的时间常数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78872" name="Object 24"/>
          <p:cNvGraphicFramePr>
            <a:graphicFrameLocks noChangeAspect="1"/>
          </p:cNvGraphicFramePr>
          <p:nvPr/>
        </p:nvGraphicFramePr>
        <p:xfrm>
          <a:off x="361633" y="3140075"/>
          <a:ext cx="8386762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1" imgW="3413760" imgH="417830" progId="Equation.3">
                  <p:embed/>
                </p:oleObj>
              </mc:Choice>
              <mc:Fallback>
                <p:oleObj name="" r:id="rId1" imgW="3413760" imgH="41783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61633" y="3140075"/>
                        <a:ext cx="8386762" cy="1131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77" name="Text Box 29"/>
          <p:cNvSpPr txBox="1"/>
          <p:nvPr/>
        </p:nvSpPr>
        <p:spPr>
          <a:xfrm>
            <a:off x="251460" y="1196182"/>
            <a:ext cx="8748713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响应与初始状态成线性关系，其衰减快慢与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有关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;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8871" grpId="0"/>
      <p:bldP spid="7887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/>
          <p:nvPr/>
        </p:nvSpPr>
        <p:spPr>
          <a:xfrm>
            <a:off x="653415" y="1628299"/>
            <a:ext cx="7932420" cy="52324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时间常数</a:t>
            </a:r>
            <a:r>
              <a:rPr lang="zh-CN" altLang="en-US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的大小反映了电路过渡过程时间的长短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7827" name="Rectangle 3"/>
          <p:cNvSpPr/>
          <p:nvPr/>
        </p:nvSpPr>
        <p:spPr>
          <a:xfrm>
            <a:off x="900113" y="618173"/>
            <a:ext cx="1728787" cy="64643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 =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RC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7829" name="Text Box 5"/>
          <p:cNvSpPr txBox="1"/>
          <p:nvPr/>
        </p:nvSpPr>
        <p:spPr>
          <a:xfrm>
            <a:off x="827088" y="2318862"/>
            <a:ext cx="3640455" cy="52324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大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过渡过程时间长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7830" name="Text Box 6"/>
          <p:cNvSpPr txBox="1"/>
          <p:nvPr/>
        </p:nvSpPr>
        <p:spPr>
          <a:xfrm>
            <a:off x="827088" y="2923699"/>
            <a:ext cx="3640455" cy="52324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小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过渡过程时间短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77838" name="Group 14"/>
          <p:cNvGrpSpPr/>
          <p:nvPr/>
        </p:nvGrpSpPr>
        <p:grpSpPr>
          <a:xfrm>
            <a:off x="4627780" y="3410094"/>
            <a:ext cx="2907448" cy="2218229"/>
            <a:chOff x="3670" y="1122"/>
            <a:chExt cx="1444" cy="1067"/>
          </a:xfrm>
        </p:grpSpPr>
        <p:sp>
          <p:nvSpPr>
            <p:cNvPr id="37911" name="Line 15"/>
            <p:cNvSpPr/>
            <p:nvPr/>
          </p:nvSpPr>
          <p:spPr>
            <a:xfrm>
              <a:off x="3759" y="1920"/>
              <a:ext cx="1344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2" name="Line 16"/>
            <p:cNvSpPr/>
            <p:nvPr/>
          </p:nvSpPr>
          <p:spPr>
            <a:xfrm flipV="1">
              <a:off x="3951" y="1200"/>
              <a:ext cx="0" cy="96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3" name="Freeform 17"/>
            <p:cNvSpPr/>
            <p:nvPr/>
          </p:nvSpPr>
          <p:spPr>
            <a:xfrm>
              <a:off x="3936" y="1440"/>
              <a:ext cx="1041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3" y="3"/>
                </a:cxn>
                <a:cxn ang="0">
                  <a:pos x="957" y="5"/>
                </a:cxn>
                <a:cxn ang="0">
                  <a:pos x="1437" y="5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14" name="Text Box 18"/>
            <p:cNvSpPr txBox="1"/>
            <p:nvPr/>
          </p:nvSpPr>
          <p:spPr>
            <a:xfrm>
              <a:off x="3670" y="1363"/>
              <a:ext cx="276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5" name="Text Box 19"/>
            <p:cNvSpPr txBox="1"/>
            <p:nvPr/>
          </p:nvSpPr>
          <p:spPr>
            <a:xfrm>
              <a:off x="4974" y="1938"/>
              <a:ext cx="140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6" name="Text Box 20"/>
            <p:cNvSpPr txBox="1"/>
            <p:nvPr/>
          </p:nvSpPr>
          <p:spPr>
            <a:xfrm>
              <a:off x="4019" y="1122"/>
              <a:ext cx="230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7" name="Text Box 21"/>
            <p:cNvSpPr txBox="1"/>
            <p:nvPr/>
          </p:nvSpPr>
          <p:spPr>
            <a:xfrm>
              <a:off x="3774" y="1890"/>
              <a:ext cx="179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8" name="Line 22"/>
            <p:cNvSpPr/>
            <p:nvPr/>
          </p:nvSpPr>
          <p:spPr>
            <a:xfrm>
              <a:off x="3888" y="1440"/>
              <a:ext cx="96" cy="0"/>
            </a:xfrm>
            <a:prstGeom prst="line">
              <a:avLst/>
            </a:prstGeom>
            <a:ln w="254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9" name="Freeform 23"/>
            <p:cNvSpPr/>
            <p:nvPr/>
          </p:nvSpPr>
          <p:spPr>
            <a:xfrm>
              <a:off x="3936" y="1440"/>
              <a:ext cx="768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240"/>
                </a:cxn>
                <a:cxn ang="0">
                  <a:pos x="34" y="384"/>
                </a:cxn>
                <a:cxn ang="0">
                  <a:pos x="50" y="432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20" name="Text Box 24"/>
            <p:cNvSpPr txBox="1"/>
            <p:nvPr/>
          </p:nvSpPr>
          <p:spPr>
            <a:xfrm>
              <a:off x="4251" y="1890"/>
              <a:ext cx="38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小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921" name="Text Box 25"/>
            <p:cNvSpPr txBox="1"/>
            <p:nvPr/>
          </p:nvSpPr>
          <p:spPr>
            <a:xfrm>
              <a:off x="4635" y="1410"/>
              <a:ext cx="38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大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77851" name="Object 27"/>
          <p:cNvGraphicFramePr>
            <a:graphicFrameLocks noChangeAspect="1"/>
          </p:cNvGraphicFramePr>
          <p:nvPr/>
        </p:nvGraphicFramePr>
        <p:xfrm>
          <a:off x="3276600" y="476250"/>
          <a:ext cx="2576513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975360" imgH="348615" progId="Equation.3">
                  <p:embed/>
                </p:oleObj>
              </mc:Choice>
              <mc:Fallback>
                <p:oleObj name="" r:id="rId1" imgW="975360" imgH="348615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76600" y="476250"/>
                        <a:ext cx="2576513" cy="998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77826" grpId="0" build="p"/>
      <p:bldP spid="77827" grpId="0" animBg="1"/>
      <p:bldP spid="77829" grpId="0"/>
      <p:bldP spid="778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33" name="Text Box 9"/>
          <p:cNvSpPr txBox="1"/>
          <p:nvPr/>
        </p:nvSpPr>
        <p:spPr>
          <a:xfrm>
            <a:off x="3203575" y="3644424"/>
            <a:ext cx="3024188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电压初值一定：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7834" name="Text Box 10"/>
          <p:cNvSpPr txBox="1"/>
          <p:nvPr/>
        </p:nvSpPr>
        <p:spPr>
          <a:xfrm>
            <a:off x="490538" y="5155089"/>
            <a:ext cx="6316345" cy="58483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p>
            <a:pPr eaLnBrk="1" hangingPunct="1"/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R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大（ 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C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一定）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i=u/R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  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放电电流小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grpSp>
        <p:nvGrpSpPr>
          <p:cNvPr id="77835" name="Group 11"/>
          <p:cNvGrpSpPr/>
          <p:nvPr/>
        </p:nvGrpSpPr>
        <p:grpSpPr>
          <a:xfrm>
            <a:off x="6732588" y="4484688"/>
            <a:ext cx="2024062" cy="1249362"/>
            <a:chOff x="4272" y="2688"/>
            <a:chExt cx="1242" cy="624"/>
          </a:xfrm>
        </p:grpSpPr>
        <p:sp>
          <p:nvSpPr>
            <p:cNvPr id="37922" name="AutoShape 12"/>
            <p:cNvSpPr/>
            <p:nvPr/>
          </p:nvSpPr>
          <p:spPr>
            <a:xfrm>
              <a:off x="4272" y="2688"/>
              <a:ext cx="48" cy="624"/>
            </a:xfrm>
            <a:prstGeom prst="rightBrace">
              <a:avLst>
                <a:gd name="adj1" fmla="val 108333"/>
                <a:gd name="adj2" fmla="val 50000"/>
              </a:avLst>
            </a:prstGeom>
            <a:noFill/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7923" name="Text Box 13"/>
            <p:cNvSpPr txBox="1"/>
            <p:nvPr/>
          </p:nvSpPr>
          <p:spPr>
            <a:xfrm>
              <a:off x="4307" y="2893"/>
              <a:ext cx="1207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放电时间长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77838" name="Group 14"/>
          <p:cNvGrpSpPr/>
          <p:nvPr/>
        </p:nvGrpSpPr>
        <p:grpSpPr>
          <a:xfrm>
            <a:off x="2932965" y="247794"/>
            <a:ext cx="2907448" cy="2218229"/>
            <a:chOff x="3670" y="1122"/>
            <a:chExt cx="1444" cy="1067"/>
          </a:xfrm>
        </p:grpSpPr>
        <p:sp>
          <p:nvSpPr>
            <p:cNvPr id="37911" name="Line 15"/>
            <p:cNvSpPr/>
            <p:nvPr/>
          </p:nvSpPr>
          <p:spPr>
            <a:xfrm>
              <a:off x="3759" y="1920"/>
              <a:ext cx="1344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2" name="Line 16"/>
            <p:cNvSpPr/>
            <p:nvPr/>
          </p:nvSpPr>
          <p:spPr>
            <a:xfrm flipV="1">
              <a:off x="3951" y="1200"/>
              <a:ext cx="0" cy="96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7913" name="Freeform 17"/>
            <p:cNvSpPr/>
            <p:nvPr/>
          </p:nvSpPr>
          <p:spPr>
            <a:xfrm>
              <a:off x="3936" y="1440"/>
              <a:ext cx="1041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43" y="3"/>
                </a:cxn>
                <a:cxn ang="0">
                  <a:pos x="957" y="5"/>
                </a:cxn>
                <a:cxn ang="0">
                  <a:pos x="1437" y="5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14" name="Text Box 18"/>
            <p:cNvSpPr txBox="1"/>
            <p:nvPr/>
          </p:nvSpPr>
          <p:spPr>
            <a:xfrm>
              <a:off x="3670" y="1363"/>
              <a:ext cx="276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5" name="Text Box 19"/>
            <p:cNvSpPr txBox="1"/>
            <p:nvPr/>
          </p:nvSpPr>
          <p:spPr>
            <a:xfrm>
              <a:off x="4974" y="1938"/>
              <a:ext cx="140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6" name="Text Box 20"/>
            <p:cNvSpPr txBox="1"/>
            <p:nvPr/>
          </p:nvSpPr>
          <p:spPr>
            <a:xfrm>
              <a:off x="4019" y="1122"/>
              <a:ext cx="230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7" name="Text Box 21"/>
            <p:cNvSpPr txBox="1"/>
            <p:nvPr/>
          </p:nvSpPr>
          <p:spPr>
            <a:xfrm>
              <a:off x="3774" y="1890"/>
              <a:ext cx="179" cy="25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7918" name="Line 22"/>
            <p:cNvSpPr/>
            <p:nvPr/>
          </p:nvSpPr>
          <p:spPr>
            <a:xfrm>
              <a:off x="3888" y="1440"/>
              <a:ext cx="96" cy="0"/>
            </a:xfrm>
            <a:prstGeom prst="line">
              <a:avLst/>
            </a:prstGeom>
            <a:ln w="25400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7919" name="Freeform 23"/>
            <p:cNvSpPr/>
            <p:nvPr/>
          </p:nvSpPr>
          <p:spPr>
            <a:xfrm>
              <a:off x="3936" y="1440"/>
              <a:ext cx="768" cy="43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240"/>
                </a:cxn>
                <a:cxn ang="0">
                  <a:pos x="34" y="384"/>
                </a:cxn>
                <a:cxn ang="0">
                  <a:pos x="50" y="432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00FF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7920" name="Text Box 24"/>
            <p:cNvSpPr txBox="1"/>
            <p:nvPr/>
          </p:nvSpPr>
          <p:spPr>
            <a:xfrm>
              <a:off x="4251" y="1890"/>
              <a:ext cx="38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小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37921" name="Text Box 25"/>
            <p:cNvSpPr txBox="1"/>
            <p:nvPr/>
          </p:nvSpPr>
          <p:spPr>
            <a:xfrm>
              <a:off x="4635" y="1410"/>
              <a:ext cx="387" cy="25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大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77850" name="Text Box 26"/>
          <p:cNvSpPr txBox="1"/>
          <p:nvPr/>
        </p:nvSpPr>
        <p:spPr>
          <a:xfrm>
            <a:off x="478949" y="4434364"/>
            <a:ext cx="5873115" cy="58483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C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大（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一定）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W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Cu</a:t>
            </a:r>
            <a:r>
              <a: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/2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储能大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7852" name="Text Box 28"/>
          <p:cNvSpPr txBox="1"/>
          <p:nvPr/>
        </p:nvSpPr>
        <p:spPr>
          <a:xfrm>
            <a:off x="611188" y="3717925"/>
            <a:ext cx="1871662" cy="52197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物理含义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7853" name="AutoShape 29"/>
          <p:cNvSpPr/>
          <p:nvPr/>
        </p:nvSpPr>
        <p:spPr>
          <a:xfrm>
            <a:off x="2627313" y="3862388"/>
            <a:ext cx="647700" cy="21590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aphicFrame>
        <p:nvGraphicFramePr>
          <p:cNvPr id="79909" name="Object 37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95830" y="2716530"/>
          <a:ext cx="4319905" cy="630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2" imgW="2586355" imgH="348615" progId="Equation.3">
                  <p:embed/>
                </p:oleObj>
              </mc:Choice>
              <mc:Fallback>
                <p:oleObj name="" r:id="rId2" imgW="2586355" imgH="348615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5830" y="2716530"/>
                        <a:ext cx="4319905" cy="6305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77833" grpId="0" build="p"/>
      <p:bldP spid="77834" grpId="0" build="p"/>
      <p:bldP spid="77850" grpId="0" build="p"/>
      <p:bldP spid="77852" grpId="0" animBg="1"/>
      <p:bldP spid="778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4" name="Text Box 2"/>
          <p:cNvSpPr txBox="1"/>
          <p:nvPr/>
        </p:nvSpPr>
        <p:spPr>
          <a:xfrm>
            <a:off x="684213" y="4005263"/>
            <a:ext cx="8064500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.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: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电容电压衰减到原来电压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36.8%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所需的时间。工程上认为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经过 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3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－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5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过渡过程结束。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0625" name="Text Box 33"/>
          <p:cNvSpPr txBox="1"/>
          <p:nvPr/>
        </p:nvSpPr>
        <p:spPr>
          <a:xfrm>
            <a:off x="2339975" y="2403634"/>
            <a:ext cx="631063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0.368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    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0.135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   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0.05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     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0.007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</a:t>
            </a:r>
            <a:endParaRPr lang="en-US" altLang="zh-CN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10643" name="Group 51"/>
          <p:cNvGrpSpPr/>
          <p:nvPr/>
        </p:nvGrpSpPr>
        <p:grpSpPr>
          <a:xfrm>
            <a:off x="468313" y="676276"/>
            <a:ext cx="8297862" cy="2292349"/>
            <a:chOff x="340" y="571"/>
            <a:chExt cx="5227" cy="1444"/>
          </a:xfrm>
        </p:grpSpPr>
        <p:sp>
          <p:nvSpPr>
            <p:cNvPr id="38930" name="Line 34"/>
            <p:cNvSpPr/>
            <p:nvPr/>
          </p:nvSpPr>
          <p:spPr>
            <a:xfrm>
              <a:off x="340" y="1026"/>
              <a:ext cx="5183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1" name="Line 35"/>
            <p:cNvSpPr/>
            <p:nvPr/>
          </p:nvSpPr>
          <p:spPr>
            <a:xfrm>
              <a:off x="1429" y="572"/>
              <a:ext cx="0" cy="1443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32" name="Text Box 36"/>
            <p:cNvSpPr txBox="1"/>
            <p:nvPr/>
          </p:nvSpPr>
          <p:spPr>
            <a:xfrm>
              <a:off x="930" y="571"/>
              <a:ext cx="178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8933" name="Text Box 37"/>
            <p:cNvSpPr txBox="1"/>
            <p:nvPr/>
          </p:nvSpPr>
          <p:spPr>
            <a:xfrm>
              <a:off x="1610" y="617"/>
              <a:ext cx="3645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        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             2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           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   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    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5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38934" name="Object 38"/>
            <p:cNvGraphicFramePr>
              <a:graphicFrameLocks noChangeAspect="1"/>
            </p:cNvGraphicFramePr>
            <p:nvPr/>
          </p:nvGraphicFramePr>
          <p:xfrm>
            <a:off x="385" y="1071"/>
            <a:ext cx="1043" cy="4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" imgW="626745" imgH="252730" progId="Equation.3">
                    <p:embed/>
                  </p:oleObj>
                </mc:Choice>
                <mc:Fallback>
                  <p:oleObj name="" r:id="rId1" imgW="626745" imgH="25273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" y="1071"/>
                          <a:ext cx="1043" cy="4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935" name="Line 39"/>
            <p:cNvSpPr/>
            <p:nvPr/>
          </p:nvSpPr>
          <p:spPr>
            <a:xfrm flipV="1">
              <a:off x="340" y="1570"/>
              <a:ext cx="5227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0632" name="Text Box 40"/>
          <p:cNvSpPr txBox="1"/>
          <p:nvPr/>
        </p:nvSpPr>
        <p:spPr>
          <a:xfrm>
            <a:off x="2484438" y="1580674"/>
            <a:ext cx="613791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  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-1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-2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-3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e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-5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10644" name="Group 52"/>
          <p:cNvGrpSpPr/>
          <p:nvPr/>
        </p:nvGrpSpPr>
        <p:grpSpPr>
          <a:xfrm>
            <a:off x="684213" y="3213100"/>
            <a:ext cx="1643063" cy="850900"/>
            <a:chOff x="385" y="3022"/>
            <a:chExt cx="1035" cy="536"/>
          </a:xfrm>
        </p:grpSpPr>
        <p:pic>
          <p:nvPicPr>
            <p:cNvPr id="38924" name="Picture 53" descr="1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8925" name="Text Box 54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注意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10594" grpId="0" build="p"/>
      <p:bldP spid="110625" grpId="0"/>
      <p:bldP spid="1106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6" name="Text Box 6"/>
          <p:cNvSpPr txBox="1"/>
          <p:nvPr/>
        </p:nvSpPr>
        <p:spPr>
          <a:xfrm>
            <a:off x="2916238" y="4031139"/>
            <a:ext cx="2066925" cy="58483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＝</a:t>
            </a:r>
            <a:r>
              <a:rPr lang="zh-CN" altLang="en-US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6810" name="Text Box 10"/>
          <p:cNvSpPr txBox="1"/>
          <p:nvPr/>
        </p:nvSpPr>
        <p:spPr>
          <a:xfrm>
            <a:off x="611188" y="2017713"/>
            <a:ext cx="43910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时刻曲线的斜率等于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787400" y="2593975"/>
          <a:ext cx="7820025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2612390" imgH="382905" progId="Equation.3">
                  <p:embed/>
                </p:oleObj>
              </mc:Choice>
              <mc:Fallback>
                <p:oleObj name="" r:id="rId1" imgW="2612390" imgH="382905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7400" y="2593975"/>
                        <a:ext cx="7820025" cy="1316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851" name="Group 51"/>
          <p:cNvGrpSpPr/>
          <p:nvPr/>
        </p:nvGrpSpPr>
        <p:grpSpPr>
          <a:xfrm>
            <a:off x="483702" y="3816032"/>
            <a:ext cx="3389798" cy="2710744"/>
            <a:chOff x="395" y="2141"/>
            <a:chExt cx="1585" cy="1422"/>
          </a:xfrm>
        </p:grpSpPr>
        <p:sp>
          <p:nvSpPr>
            <p:cNvPr id="39958" name="Line 14"/>
            <p:cNvSpPr/>
            <p:nvPr/>
          </p:nvSpPr>
          <p:spPr>
            <a:xfrm>
              <a:off x="759" y="2677"/>
              <a:ext cx="0" cy="332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9959" name="Line 15"/>
            <p:cNvSpPr/>
            <p:nvPr/>
          </p:nvSpPr>
          <p:spPr>
            <a:xfrm>
              <a:off x="470" y="3036"/>
              <a:ext cx="1510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0" name="Line 16"/>
            <p:cNvSpPr/>
            <p:nvPr/>
          </p:nvSpPr>
          <p:spPr>
            <a:xfrm flipV="1">
              <a:off x="686" y="2223"/>
              <a:ext cx="0" cy="130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1" name="Freeform 17"/>
            <p:cNvSpPr/>
            <p:nvPr/>
          </p:nvSpPr>
          <p:spPr>
            <a:xfrm>
              <a:off x="686" y="2494"/>
              <a:ext cx="1151" cy="4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31" y="667"/>
                </a:cxn>
                <a:cxn ang="0">
                  <a:pos x="2889" y="1063"/>
                </a:cxn>
                <a:cxn ang="0">
                  <a:pos x="4336" y="1200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62" name="Text Box 18"/>
            <p:cNvSpPr txBox="1"/>
            <p:nvPr/>
          </p:nvSpPr>
          <p:spPr>
            <a:xfrm>
              <a:off x="395" y="2411"/>
              <a:ext cx="260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3" name="Text Box 19"/>
            <p:cNvSpPr txBox="1"/>
            <p:nvPr/>
          </p:nvSpPr>
          <p:spPr>
            <a:xfrm>
              <a:off x="1848" y="3062"/>
              <a:ext cx="132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4" name="Text Box 20"/>
            <p:cNvSpPr txBox="1"/>
            <p:nvPr/>
          </p:nvSpPr>
          <p:spPr>
            <a:xfrm>
              <a:off x="782" y="2141"/>
              <a:ext cx="217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5" name="Text Box 21"/>
            <p:cNvSpPr txBox="1"/>
            <p:nvPr/>
          </p:nvSpPr>
          <p:spPr>
            <a:xfrm>
              <a:off x="504" y="3007"/>
              <a:ext cx="169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6" name="Line 22"/>
            <p:cNvSpPr/>
            <p:nvPr/>
          </p:nvSpPr>
          <p:spPr>
            <a:xfrm>
              <a:off x="651" y="2494"/>
              <a:ext cx="5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7" name="Oval 23"/>
            <p:cNvSpPr/>
            <p:nvPr/>
          </p:nvSpPr>
          <p:spPr>
            <a:xfrm>
              <a:off x="725" y="2569"/>
              <a:ext cx="54" cy="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68" name="Line 24"/>
            <p:cNvSpPr/>
            <p:nvPr/>
          </p:nvSpPr>
          <p:spPr>
            <a:xfrm>
              <a:off x="1305" y="2880"/>
              <a:ext cx="0" cy="163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9969" name="Oval 25"/>
            <p:cNvSpPr/>
            <p:nvPr/>
          </p:nvSpPr>
          <p:spPr>
            <a:xfrm>
              <a:off x="1265" y="2840"/>
              <a:ext cx="53" cy="53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9970" name="Group 26"/>
            <p:cNvGrpSpPr/>
            <p:nvPr/>
          </p:nvGrpSpPr>
          <p:grpSpPr>
            <a:xfrm>
              <a:off x="745" y="3289"/>
              <a:ext cx="580" cy="274"/>
              <a:chOff x="1031" y="2910"/>
              <a:chExt cx="516" cy="243"/>
            </a:xfrm>
          </p:grpSpPr>
          <p:sp>
            <p:nvSpPr>
              <p:cNvPr id="39975" name="Line 27"/>
              <p:cNvSpPr/>
              <p:nvPr/>
            </p:nvSpPr>
            <p:spPr>
              <a:xfrm>
                <a:off x="1031" y="2977"/>
                <a:ext cx="0" cy="15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6" name="Line 28"/>
              <p:cNvSpPr/>
              <p:nvPr/>
            </p:nvSpPr>
            <p:spPr>
              <a:xfrm>
                <a:off x="1541" y="2989"/>
                <a:ext cx="6" cy="144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7" name="Line 29"/>
              <p:cNvSpPr/>
              <p:nvPr/>
            </p:nvSpPr>
            <p:spPr>
              <a:xfrm>
                <a:off x="1049" y="3067"/>
                <a:ext cx="108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8" name="Line 30"/>
              <p:cNvSpPr/>
              <p:nvPr/>
            </p:nvSpPr>
            <p:spPr>
              <a:xfrm>
                <a:off x="1451" y="3073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9" name="Text Box 31"/>
              <p:cNvSpPr txBox="1"/>
              <p:nvPr/>
            </p:nvSpPr>
            <p:spPr>
              <a:xfrm>
                <a:off x="1219" y="2910"/>
                <a:ext cx="139" cy="2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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39971" name="Oval 32"/>
            <p:cNvSpPr/>
            <p:nvPr/>
          </p:nvSpPr>
          <p:spPr>
            <a:xfrm>
              <a:off x="739" y="3002"/>
              <a:ext cx="54" cy="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2" name="Oval 33"/>
            <p:cNvSpPr/>
            <p:nvPr/>
          </p:nvSpPr>
          <p:spPr>
            <a:xfrm>
              <a:off x="1264" y="3009"/>
              <a:ext cx="54" cy="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3" name="Text Box 34"/>
            <p:cNvSpPr txBox="1"/>
            <p:nvPr/>
          </p:nvSpPr>
          <p:spPr>
            <a:xfrm>
              <a:off x="657" y="2976"/>
              <a:ext cx="186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74" name="Text Box 35"/>
            <p:cNvSpPr txBox="1"/>
            <p:nvPr/>
          </p:nvSpPr>
          <p:spPr>
            <a:xfrm>
              <a:off x="1156" y="2976"/>
              <a:ext cx="286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39942" name="Text Box 45"/>
          <p:cNvSpPr txBox="1"/>
          <p:nvPr/>
        </p:nvSpPr>
        <p:spPr>
          <a:xfrm>
            <a:off x="2429828" y="4342766"/>
            <a:ext cx="306070" cy="461645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99999"/>
            </a:prstShdw>
          </a:effectLst>
        </p:spPr>
        <p:txBody>
          <a:bodyPr wrap="none" lIns="90000" tIns="46800" rIns="90000" bIns="46800" anchor="ctr" anchorCtr="0">
            <a:spAutoFit/>
          </a:bodyPr>
          <a:p>
            <a:pPr algn="ctr" eaLnBrk="1" hangingPunct="1"/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6846" name="Object 46"/>
          <p:cNvGraphicFramePr>
            <a:graphicFrameLocks noChangeAspect="1"/>
          </p:cNvGraphicFramePr>
          <p:nvPr/>
        </p:nvGraphicFramePr>
        <p:xfrm>
          <a:off x="4587875" y="4897438"/>
          <a:ext cx="34972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3" imgW="1219200" imgH="147955" progId="Equation.3">
                  <p:embed/>
                </p:oleObj>
              </mc:Choice>
              <mc:Fallback>
                <p:oleObj name="" r:id="rId3" imgW="1219200" imgH="147955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87875" y="4897438"/>
                        <a:ext cx="3497263" cy="598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8" name="Rectangle 48"/>
          <p:cNvSpPr/>
          <p:nvPr/>
        </p:nvSpPr>
        <p:spPr>
          <a:xfrm>
            <a:off x="5795963" y="4090988"/>
            <a:ext cx="23279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次切距的长度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6849" name="AutoShape 49"/>
          <p:cNvSpPr/>
          <p:nvPr/>
        </p:nvSpPr>
        <p:spPr>
          <a:xfrm>
            <a:off x="5003800" y="4249738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6812" name="Line 12"/>
          <p:cNvSpPr/>
          <p:nvPr/>
        </p:nvSpPr>
        <p:spPr>
          <a:xfrm>
            <a:off x="1258888" y="4681538"/>
            <a:ext cx="1152525" cy="865187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6864" name="Object 64"/>
          <p:cNvGraphicFramePr>
            <a:graphicFrameLocks noChangeAspect="1"/>
          </p:cNvGraphicFramePr>
          <p:nvPr/>
        </p:nvGraphicFramePr>
        <p:xfrm>
          <a:off x="3548063" y="936625"/>
          <a:ext cx="21526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5" imgW="714375" imgH="252730" progId="Equation.3">
                  <p:embed/>
                </p:oleObj>
              </mc:Choice>
              <mc:Fallback>
                <p:oleObj name="" r:id="rId5" imgW="714375" imgH="25273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48063" y="936625"/>
                        <a:ext cx="215265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72" name="Text Box 72"/>
          <p:cNvSpPr txBox="1"/>
          <p:nvPr/>
        </p:nvSpPr>
        <p:spPr>
          <a:xfrm>
            <a:off x="468313" y="549275"/>
            <a:ext cx="78486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时间常数</a:t>
            </a:r>
            <a:r>
              <a:rPr lang="zh-CN" altLang="en-US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的几何意义：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6806" grpId="0"/>
      <p:bldP spid="76810" grpId="0" build="p"/>
      <p:bldP spid="76848" grpId="0"/>
      <p:bldP spid="76849" grpId="0" animBg="1"/>
      <p:bldP spid="7687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6" name="Text Box 6"/>
          <p:cNvSpPr txBox="1"/>
          <p:nvPr/>
        </p:nvSpPr>
        <p:spPr>
          <a:xfrm>
            <a:off x="2916238" y="4031139"/>
            <a:ext cx="2066925" cy="584835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＝</a:t>
            </a:r>
            <a:r>
              <a:rPr lang="zh-CN" altLang="en-US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6810" name="Text Box 10"/>
          <p:cNvSpPr txBox="1"/>
          <p:nvPr/>
        </p:nvSpPr>
        <p:spPr>
          <a:xfrm>
            <a:off x="611188" y="2017713"/>
            <a:ext cx="43910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aseline="-25000" dirty="0"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时刻曲线的斜率等于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6811" name="Object 11"/>
          <p:cNvGraphicFramePr>
            <a:graphicFrameLocks noChangeAspect="1"/>
          </p:cNvGraphicFramePr>
          <p:nvPr/>
        </p:nvGraphicFramePr>
        <p:xfrm>
          <a:off x="787400" y="2593975"/>
          <a:ext cx="7820025" cy="13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2612390" imgH="382905" progId="Equation.3">
                  <p:embed/>
                </p:oleObj>
              </mc:Choice>
              <mc:Fallback>
                <p:oleObj name="" r:id="rId1" imgW="2612390" imgH="382905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87400" y="2593975"/>
                        <a:ext cx="7820025" cy="13160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851" name="Group 51"/>
          <p:cNvGrpSpPr/>
          <p:nvPr/>
        </p:nvGrpSpPr>
        <p:grpSpPr>
          <a:xfrm>
            <a:off x="483702" y="3816032"/>
            <a:ext cx="3389798" cy="2710744"/>
            <a:chOff x="395" y="2141"/>
            <a:chExt cx="1585" cy="1422"/>
          </a:xfrm>
        </p:grpSpPr>
        <p:sp>
          <p:nvSpPr>
            <p:cNvPr id="39958" name="Line 14"/>
            <p:cNvSpPr/>
            <p:nvPr/>
          </p:nvSpPr>
          <p:spPr>
            <a:xfrm>
              <a:off x="759" y="2677"/>
              <a:ext cx="0" cy="332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9959" name="Line 15"/>
            <p:cNvSpPr/>
            <p:nvPr/>
          </p:nvSpPr>
          <p:spPr>
            <a:xfrm>
              <a:off x="470" y="3036"/>
              <a:ext cx="1510" cy="0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0" name="Line 16"/>
            <p:cNvSpPr/>
            <p:nvPr/>
          </p:nvSpPr>
          <p:spPr>
            <a:xfrm flipV="1">
              <a:off x="686" y="2223"/>
              <a:ext cx="0" cy="1307"/>
            </a:xfrm>
            <a:prstGeom prst="line">
              <a:avLst/>
            </a:prstGeom>
            <a:ln w="28575" cap="flat" cmpd="sng">
              <a:solidFill>
                <a:srgbClr val="FFFF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9961" name="Freeform 17"/>
            <p:cNvSpPr/>
            <p:nvPr/>
          </p:nvSpPr>
          <p:spPr>
            <a:xfrm>
              <a:off x="686" y="2494"/>
              <a:ext cx="1151" cy="47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31" y="667"/>
                </a:cxn>
                <a:cxn ang="0">
                  <a:pos x="2889" y="1063"/>
                </a:cxn>
                <a:cxn ang="0">
                  <a:pos x="4336" y="1200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9962" name="Text Box 18"/>
            <p:cNvSpPr txBox="1"/>
            <p:nvPr/>
          </p:nvSpPr>
          <p:spPr>
            <a:xfrm>
              <a:off x="395" y="2411"/>
              <a:ext cx="260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3" name="Text Box 19"/>
            <p:cNvSpPr txBox="1"/>
            <p:nvPr/>
          </p:nvSpPr>
          <p:spPr>
            <a:xfrm>
              <a:off x="1848" y="3062"/>
              <a:ext cx="132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4" name="Text Box 20"/>
            <p:cNvSpPr txBox="1"/>
            <p:nvPr/>
          </p:nvSpPr>
          <p:spPr>
            <a:xfrm>
              <a:off x="782" y="2141"/>
              <a:ext cx="217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5" name="Text Box 21"/>
            <p:cNvSpPr txBox="1"/>
            <p:nvPr/>
          </p:nvSpPr>
          <p:spPr>
            <a:xfrm>
              <a:off x="504" y="3007"/>
              <a:ext cx="169" cy="274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66" name="Line 22"/>
            <p:cNvSpPr/>
            <p:nvPr/>
          </p:nvSpPr>
          <p:spPr>
            <a:xfrm>
              <a:off x="651" y="2494"/>
              <a:ext cx="5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67" name="Oval 23"/>
            <p:cNvSpPr/>
            <p:nvPr/>
          </p:nvSpPr>
          <p:spPr>
            <a:xfrm>
              <a:off x="725" y="2569"/>
              <a:ext cx="54" cy="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68" name="Line 24"/>
            <p:cNvSpPr/>
            <p:nvPr/>
          </p:nvSpPr>
          <p:spPr>
            <a:xfrm>
              <a:off x="1305" y="2880"/>
              <a:ext cx="0" cy="163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9969" name="Oval 25"/>
            <p:cNvSpPr/>
            <p:nvPr/>
          </p:nvSpPr>
          <p:spPr>
            <a:xfrm>
              <a:off x="1265" y="2840"/>
              <a:ext cx="53" cy="53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39970" name="Group 26"/>
            <p:cNvGrpSpPr/>
            <p:nvPr/>
          </p:nvGrpSpPr>
          <p:grpSpPr>
            <a:xfrm>
              <a:off x="745" y="3289"/>
              <a:ext cx="580" cy="274"/>
              <a:chOff x="1031" y="2910"/>
              <a:chExt cx="516" cy="243"/>
            </a:xfrm>
          </p:grpSpPr>
          <p:sp>
            <p:nvSpPr>
              <p:cNvPr id="39975" name="Line 27"/>
              <p:cNvSpPr/>
              <p:nvPr/>
            </p:nvSpPr>
            <p:spPr>
              <a:xfrm>
                <a:off x="1031" y="2977"/>
                <a:ext cx="0" cy="15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6" name="Line 28"/>
              <p:cNvSpPr/>
              <p:nvPr/>
            </p:nvSpPr>
            <p:spPr>
              <a:xfrm>
                <a:off x="1541" y="2989"/>
                <a:ext cx="6" cy="144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7" name="Line 29"/>
              <p:cNvSpPr/>
              <p:nvPr/>
            </p:nvSpPr>
            <p:spPr>
              <a:xfrm>
                <a:off x="1049" y="3067"/>
                <a:ext cx="108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8" name="Line 30"/>
              <p:cNvSpPr/>
              <p:nvPr/>
            </p:nvSpPr>
            <p:spPr>
              <a:xfrm>
                <a:off x="1451" y="3073"/>
                <a:ext cx="96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9" name="Text Box 31"/>
              <p:cNvSpPr txBox="1"/>
              <p:nvPr/>
            </p:nvSpPr>
            <p:spPr>
              <a:xfrm>
                <a:off x="1219" y="2910"/>
                <a:ext cx="139" cy="2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90000" tIns="46800" rIns="90000" bIns="46800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  <a:sym typeface="Symbol" panose="05050102010706020507" pitchFamily="18" charset="2"/>
                  </a:rPr>
                  <a:t>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endParaRPr>
              </a:p>
            </p:txBody>
          </p:sp>
        </p:grpSp>
        <p:sp>
          <p:nvSpPr>
            <p:cNvPr id="39971" name="Oval 32"/>
            <p:cNvSpPr/>
            <p:nvPr/>
          </p:nvSpPr>
          <p:spPr>
            <a:xfrm>
              <a:off x="739" y="3002"/>
              <a:ext cx="54" cy="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2" name="Oval 33"/>
            <p:cNvSpPr/>
            <p:nvPr/>
          </p:nvSpPr>
          <p:spPr>
            <a:xfrm>
              <a:off x="1264" y="3009"/>
              <a:ext cx="54" cy="5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39973" name="Text Box 34"/>
            <p:cNvSpPr txBox="1"/>
            <p:nvPr/>
          </p:nvSpPr>
          <p:spPr>
            <a:xfrm>
              <a:off x="657" y="2976"/>
              <a:ext cx="186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39974" name="Text Box 35"/>
            <p:cNvSpPr txBox="1"/>
            <p:nvPr/>
          </p:nvSpPr>
          <p:spPr>
            <a:xfrm>
              <a:off x="1156" y="2976"/>
              <a:ext cx="286" cy="27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39942" name="Text Box 45"/>
          <p:cNvSpPr txBox="1"/>
          <p:nvPr/>
        </p:nvSpPr>
        <p:spPr>
          <a:xfrm>
            <a:off x="2429828" y="4342766"/>
            <a:ext cx="306070" cy="461645"/>
          </a:xfrm>
          <a:prstGeom prst="rect">
            <a:avLst/>
          </a:prstGeom>
          <a:noFill/>
          <a:ln w="9525">
            <a:noFill/>
          </a:ln>
          <a:effectLst>
            <a:prstShdw prst="shdw17" dist="17961" dir="2699999">
              <a:srgbClr val="999999"/>
            </a:prstShdw>
          </a:effectLst>
        </p:spPr>
        <p:txBody>
          <a:bodyPr wrap="none" lIns="90000" tIns="46800" rIns="90000" bIns="46800" anchor="ctr" anchorCtr="0">
            <a:spAutoFit/>
          </a:bodyPr>
          <a:p>
            <a:pPr algn="ctr" eaLnBrk="1" hangingPunct="1"/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6846" name="Object 46"/>
          <p:cNvGraphicFramePr>
            <a:graphicFrameLocks noChangeAspect="1"/>
          </p:cNvGraphicFramePr>
          <p:nvPr/>
        </p:nvGraphicFramePr>
        <p:xfrm>
          <a:off x="4587875" y="4897438"/>
          <a:ext cx="3497263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3" imgW="1219200" imgH="147955" progId="Equation.3">
                  <p:embed/>
                </p:oleObj>
              </mc:Choice>
              <mc:Fallback>
                <p:oleObj name="" r:id="rId3" imgW="1219200" imgH="147955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87875" y="4897438"/>
                        <a:ext cx="3497263" cy="598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48" name="Rectangle 48"/>
          <p:cNvSpPr/>
          <p:nvPr/>
        </p:nvSpPr>
        <p:spPr>
          <a:xfrm>
            <a:off x="5795963" y="4090988"/>
            <a:ext cx="232791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次切距的长度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6849" name="AutoShape 49"/>
          <p:cNvSpPr/>
          <p:nvPr/>
        </p:nvSpPr>
        <p:spPr>
          <a:xfrm>
            <a:off x="5003800" y="4249738"/>
            <a:ext cx="720725" cy="215900"/>
          </a:xfrm>
          <a:prstGeom prst="rightArrow">
            <a:avLst>
              <a:gd name="adj1" fmla="val 50000"/>
              <a:gd name="adj2" fmla="val 8345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6812" name="Line 12"/>
          <p:cNvSpPr/>
          <p:nvPr/>
        </p:nvSpPr>
        <p:spPr>
          <a:xfrm>
            <a:off x="1258888" y="4681538"/>
            <a:ext cx="1152525" cy="865187"/>
          </a:xfrm>
          <a:prstGeom prst="line">
            <a:avLst/>
          </a:prstGeom>
          <a:ln w="28575" cap="flat" cmpd="sng">
            <a:solidFill>
              <a:srgbClr val="00FFFF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6864" name="Object 64"/>
          <p:cNvGraphicFramePr>
            <a:graphicFrameLocks noChangeAspect="1"/>
          </p:cNvGraphicFramePr>
          <p:nvPr/>
        </p:nvGraphicFramePr>
        <p:xfrm>
          <a:off x="3548063" y="936625"/>
          <a:ext cx="2152650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" r:id="rId5" imgW="714375" imgH="252730" progId="Equation.3">
                  <p:embed/>
                </p:oleObj>
              </mc:Choice>
              <mc:Fallback>
                <p:oleObj name="" r:id="rId5" imgW="714375" imgH="252730" progId="Equation.3">
                  <p:embed/>
                  <p:pic>
                    <p:nvPicPr>
                      <p:cNvPr id="0" name="图片 3144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48063" y="936625"/>
                        <a:ext cx="2152650" cy="1009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72" name="Text Box 72"/>
          <p:cNvSpPr txBox="1"/>
          <p:nvPr/>
        </p:nvSpPr>
        <p:spPr>
          <a:xfrm>
            <a:off x="468313" y="549275"/>
            <a:ext cx="7848600" cy="6076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Clr>
                <a:srgbClr val="FFFF00"/>
              </a:buClr>
            </a:pP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b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时间常数</a:t>
            </a:r>
            <a:r>
              <a:rPr lang="zh-CN" altLang="en-US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的几何意义：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81540" y="225806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6806" grpId="0"/>
      <p:bldP spid="76810" grpId="0" build="p"/>
      <p:bldP spid="76848" grpId="0"/>
      <p:bldP spid="76849" grpId="0" animBg="1"/>
      <p:bldP spid="7687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8" name="Rectangle 2"/>
          <p:cNvSpPr/>
          <p:nvPr/>
        </p:nvSpPr>
        <p:spPr>
          <a:xfrm>
            <a:off x="381000" y="1342866"/>
            <a:ext cx="1008063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1619" name="Text Box 3"/>
          <p:cNvSpPr txBox="1"/>
          <p:nvPr/>
        </p:nvSpPr>
        <p:spPr>
          <a:xfrm>
            <a:off x="1244600" y="1268413"/>
            <a:ext cx="7705725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图示电路中的电容原充有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24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电压，求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闭合后，电容电压和各支路电流随时间变化的规律。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11689" name="Group 73"/>
          <p:cNvGrpSpPr/>
          <p:nvPr/>
        </p:nvGrpSpPr>
        <p:grpSpPr>
          <a:xfrm>
            <a:off x="6215063" y="3000693"/>
            <a:ext cx="2230438" cy="1512887"/>
            <a:chOff x="3879" y="1389"/>
            <a:chExt cx="1405" cy="953"/>
          </a:xfrm>
        </p:grpSpPr>
        <p:sp>
          <p:nvSpPr>
            <p:cNvPr id="42036" name="Line 7"/>
            <p:cNvSpPr/>
            <p:nvPr/>
          </p:nvSpPr>
          <p:spPr>
            <a:xfrm>
              <a:off x="4631" y="1480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7" name="Text Box 8"/>
            <p:cNvSpPr txBox="1"/>
            <p:nvPr/>
          </p:nvSpPr>
          <p:spPr>
            <a:xfrm>
              <a:off x="4242" y="1434"/>
              <a:ext cx="243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38" name="Line 9"/>
            <p:cNvSpPr/>
            <p:nvPr/>
          </p:nvSpPr>
          <p:spPr>
            <a:xfrm flipV="1">
              <a:off x="5213" y="1389"/>
              <a:ext cx="8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9" name="Line 10"/>
            <p:cNvSpPr/>
            <p:nvPr/>
          </p:nvSpPr>
          <p:spPr>
            <a:xfrm>
              <a:off x="4241" y="2341"/>
              <a:ext cx="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40" name="Group 11"/>
            <p:cNvGrpSpPr/>
            <p:nvPr/>
          </p:nvGrpSpPr>
          <p:grpSpPr>
            <a:xfrm rot="5400000">
              <a:off x="4195" y="1706"/>
              <a:ext cx="90" cy="273"/>
              <a:chOff x="4014" y="2387"/>
              <a:chExt cx="91" cy="227"/>
            </a:xfrm>
          </p:grpSpPr>
          <p:sp>
            <p:nvSpPr>
              <p:cNvPr id="42050" name="Line 12"/>
              <p:cNvSpPr/>
              <p:nvPr/>
            </p:nvSpPr>
            <p:spPr>
              <a:xfrm>
                <a:off x="4014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1" name="Line 13"/>
              <p:cNvSpPr/>
              <p:nvPr/>
            </p:nvSpPr>
            <p:spPr>
              <a:xfrm>
                <a:off x="4105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41" name="Rectangle 14"/>
            <p:cNvSpPr/>
            <p:nvPr/>
          </p:nvSpPr>
          <p:spPr>
            <a:xfrm>
              <a:off x="5169" y="1707"/>
              <a:ext cx="115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042" name="Text Box 15"/>
            <p:cNvSpPr txBox="1"/>
            <p:nvPr/>
          </p:nvSpPr>
          <p:spPr>
            <a:xfrm>
              <a:off x="4331" y="1687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43" name="Text Box 16"/>
            <p:cNvSpPr txBox="1"/>
            <p:nvPr/>
          </p:nvSpPr>
          <p:spPr>
            <a:xfrm>
              <a:off x="4810" y="1732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44" name="Text Box 17"/>
            <p:cNvSpPr txBox="1"/>
            <p:nvPr/>
          </p:nvSpPr>
          <p:spPr>
            <a:xfrm>
              <a:off x="3879" y="1479"/>
              <a:ext cx="35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45" name="Line 18"/>
            <p:cNvSpPr/>
            <p:nvPr/>
          </p:nvSpPr>
          <p:spPr>
            <a:xfrm>
              <a:off x="4241" y="1389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6" name="Line 19"/>
            <p:cNvSpPr/>
            <p:nvPr/>
          </p:nvSpPr>
          <p:spPr>
            <a:xfrm>
              <a:off x="4241" y="1888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7" name="Line 20"/>
            <p:cNvSpPr/>
            <p:nvPr/>
          </p:nvSpPr>
          <p:spPr>
            <a:xfrm>
              <a:off x="4241" y="1389"/>
              <a:ext cx="9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8" name="Text Box 21"/>
            <p:cNvSpPr txBox="1"/>
            <p:nvPr/>
          </p:nvSpPr>
          <p:spPr>
            <a:xfrm>
              <a:off x="4195" y="1896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9" name="Text Box 22"/>
            <p:cNvSpPr txBox="1"/>
            <p:nvPr/>
          </p:nvSpPr>
          <p:spPr>
            <a:xfrm>
              <a:off x="4651" y="1433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11687" name="Group 71"/>
          <p:cNvGrpSpPr/>
          <p:nvPr/>
        </p:nvGrpSpPr>
        <p:grpSpPr>
          <a:xfrm>
            <a:off x="4557713" y="3000693"/>
            <a:ext cx="1728787" cy="1200150"/>
            <a:chOff x="3061" y="1389"/>
            <a:chExt cx="1089" cy="756"/>
          </a:xfrm>
        </p:grpSpPr>
        <p:sp>
          <p:nvSpPr>
            <p:cNvPr id="42033" name="AutoShape 24"/>
            <p:cNvSpPr/>
            <p:nvPr/>
          </p:nvSpPr>
          <p:spPr>
            <a:xfrm rot="-5400000">
              <a:off x="3470" y="1343"/>
              <a:ext cx="136" cy="862"/>
            </a:xfrm>
            <a:prstGeom prst="downArrow">
              <a:avLst>
                <a:gd name="adj1" fmla="val 50000"/>
                <a:gd name="adj2" fmla="val 158455"/>
              </a:avLst>
            </a:prstGeom>
            <a:solidFill>
              <a:srgbClr val="0099FF"/>
            </a:solidFill>
            <a:ln w="9525">
              <a:noFill/>
            </a:ln>
          </p:spPr>
          <p:txBody>
            <a:bodyPr vert="eaVert"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034" name="Text Box 25"/>
            <p:cNvSpPr txBox="1"/>
            <p:nvPr/>
          </p:nvSpPr>
          <p:spPr>
            <a:xfrm>
              <a:off x="3224" y="1777"/>
              <a:ext cx="524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sz="32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&gt;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35" name="Text Box 26"/>
            <p:cNvSpPr txBox="1"/>
            <p:nvPr/>
          </p:nvSpPr>
          <p:spPr>
            <a:xfrm>
              <a:off x="3061" y="1389"/>
              <a:ext cx="10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等效电路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11657" name="Group 41"/>
          <p:cNvGrpSpPr/>
          <p:nvPr/>
        </p:nvGrpSpPr>
        <p:grpSpPr>
          <a:xfrm>
            <a:off x="742950" y="2278380"/>
            <a:ext cx="3454400" cy="2192338"/>
            <a:chOff x="3017" y="643"/>
            <a:chExt cx="2176" cy="1381"/>
          </a:xfrm>
        </p:grpSpPr>
        <p:sp>
          <p:nvSpPr>
            <p:cNvPr id="42000" name="Line 42"/>
            <p:cNvSpPr/>
            <p:nvPr/>
          </p:nvSpPr>
          <p:spPr>
            <a:xfrm>
              <a:off x="3923" y="1071"/>
              <a:ext cx="12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42001" name="Text Box 43"/>
            <p:cNvSpPr txBox="1"/>
            <p:nvPr/>
          </p:nvSpPr>
          <p:spPr>
            <a:xfrm>
              <a:off x="4233" y="1641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02" name="Text Box 44"/>
            <p:cNvSpPr txBox="1"/>
            <p:nvPr/>
          </p:nvSpPr>
          <p:spPr>
            <a:xfrm>
              <a:off x="3484" y="809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03" name="Text Box 45"/>
            <p:cNvSpPr txBox="1"/>
            <p:nvPr/>
          </p:nvSpPr>
          <p:spPr>
            <a:xfrm>
              <a:off x="4130" y="132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3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04" name="Line 46"/>
            <p:cNvSpPr/>
            <p:nvPr/>
          </p:nvSpPr>
          <p:spPr>
            <a:xfrm>
              <a:off x="4059" y="981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05" name="Line 47"/>
            <p:cNvSpPr/>
            <p:nvPr/>
          </p:nvSpPr>
          <p:spPr>
            <a:xfrm>
              <a:off x="3651" y="844"/>
              <a:ext cx="227" cy="227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06" name="Text Box 48"/>
            <p:cNvSpPr txBox="1"/>
            <p:nvPr/>
          </p:nvSpPr>
          <p:spPr>
            <a:xfrm>
              <a:off x="3335" y="1116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07" name="Line 49"/>
            <p:cNvSpPr/>
            <p:nvPr/>
          </p:nvSpPr>
          <p:spPr>
            <a:xfrm flipV="1">
              <a:off x="5140" y="1071"/>
              <a:ext cx="8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8" name="Line 50"/>
            <p:cNvSpPr/>
            <p:nvPr/>
          </p:nvSpPr>
          <p:spPr>
            <a:xfrm flipH="1">
              <a:off x="4558" y="1071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2009" name="Line 51"/>
            <p:cNvSpPr/>
            <p:nvPr/>
          </p:nvSpPr>
          <p:spPr>
            <a:xfrm>
              <a:off x="3334" y="2024"/>
              <a:ext cx="181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10" name="Group 52"/>
            <p:cNvGrpSpPr/>
            <p:nvPr/>
          </p:nvGrpSpPr>
          <p:grpSpPr>
            <a:xfrm rot="5400000">
              <a:off x="3288" y="1388"/>
              <a:ext cx="90" cy="273"/>
              <a:chOff x="4014" y="2387"/>
              <a:chExt cx="91" cy="227"/>
            </a:xfrm>
          </p:grpSpPr>
          <p:sp>
            <p:nvSpPr>
              <p:cNvPr id="42027" name="Line 53"/>
              <p:cNvSpPr/>
              <p:nvPr/>
            </p:nvSpPr>
            <p:spPr>
              <a:xfrm>
                <a:off x="4014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8" name="Line 54"/>
              <p:cNvSpPr/>
              <p:nvPr/>
            </p:nvSpPr>
            <p:spPr>
              <a:xfrm>
                <a:off x="4105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11" name="Text Box 55"/>
            <p:cNvSpPr txBox="1"/>
            <p:nvPr/>
          </p:nvSpPr>
          <p:spPr>
            <a:xfrm>
              <a:off x="3424" y="1369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12" name="Text Box 56"/>
            <p:cNvSpPr txBox="1"/>
            <p:nvPr/>
          </p:nvSpPr>
          <p:spPr>
            <a:xfrm>
              <a:off x="3994" y="1097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3" name="Text Box 57"/>
            <p:cNvSpPr txBox="1"/>
            <p:nvPr/>
          </p:nvSpPr>
          <p:spPr>
            <a:xfrm>
              <a:off x="4720" y="141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4" name="Text Box 58"/>
            <p:cNvSpPr txBox="1"/>
            <p:nvPr/>
          </p:nvSpPr>
          <p:spPr>
            <a:xfrm>
              <a:off x="3017" y="1161"/>
              <a:ext cx="35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5" name="Line 59"/>
            <p:cNvSpPr/>
            <p:nvPr/>
          </p:nvSpPr>
          <p:spPr>
            <a:xfrm>
              <a:off x="3334" y="1071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6" name="Line 60"/>
            <p:cNvSpPr/>
            <p:nvPr/>
          </p:nvSpPr>
          <p:spPr>
            <a:xfrm>
              <a:off x="3334" y="1570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42017" name="Line 61"/>
            <p:cNvSpPr/>
            <p:nvPr/>
          </p:nvSpPr>
          <p:spPr>
            <a:xfrm flipH="1">
              <a:off x="3696" y="845"/>
              <a:ext cx="273" cy="22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8" name="Rectangle 62"/>
            <p:cNvSpPr/>
            <p:nvPr/>
          </p:nvSpPr>
          <p:spPr>
            <a:xfrm>
              <a:off x="4513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19" name="Line 63"/>
            <p:cNvSpPr/>
            <p:nvPr/>
          </p:nvSpPr>
          <p:spPr>
            <a:xfrm>
              <a:off x="3334" y="1071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0" name="Text Box 64"/>
            <p:cNvSpPr txBox="1"/>
            <p:nvPr/>
          </p:nvSpPr>
          <p:spPr>
            <a:xfrm>
              <a:off x="3288" y="1578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1" name="Text Box 65"/>
            <p:cNvSpPr txBox="1"/>
            <p:nvPr/>
          </p:nvSpPr>
          <p:spPr>
            <a:xfrm>
              <a:off x="4732" y="1097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22" name="Text Box 66"/>
            <p:cNvSpPr txBox="1"/>
            <p:nvPr/>
          </p:nvSpPr>
          <p:spPr>
            <a:xfrm>
              <a:off x="4097" y="643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23" name="Line 67"/>
            <p:cNvSpPr/>
            <p:nvPr/>
          </p:nvSpPr>
          <p:spPr>
            <a:xfrm>
              <a:off x="4740" y="1162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4" name="Line 68"/>
            <p:cNvSpPr/>
            <p:nvPr/>
          </p:nvSpPr>
          <p:spPr>
            <a:xfrm>
              <a:off x="4468" y="1706"/>
              <a:ext cx="0" cy="22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5" name="Rectangle 69"/>
            <p:cNvSpPr/>
            <p:nvPr/>
          </p:nvSpPr>
          <p:spPr>
            <a:xfrm>
              <a:off x="5057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6" name="Rectangle 70"/>
            <p:cNvSpPr/>
            <p:nvPr/>
          </p:nvSpPr>
          <p:spPr>
            <a:xfrm rot="-5400000">
              <a:off x="4172" y="912"/>
              <a:ext cx="136" cy="363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vert="eaVert"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11618" grpId="0"/>
      <p:bldP spid="11161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20" name="Text Box 4"/>
          <p:cNvSpPr txBox="1"/>
          <p:nvPr/>
        </p:nvSpPr>
        <p:spPr>
          <a:xfrm>
            <a:off x="754063" y="3452972"/>
            <a:ext cx="504825" cy="521970"/>
          </a:xfrm>
          <a:prstGeom prst="rect">
            <a:avLst/>
          </a:prstGeom>
          <a:solidFill>
            <a:srgbClr val="66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1621" name="Text Box 5"/>
          <p:cNvSpPr txBox="1"/>
          <p:nvPr/>
        </p:nvSpPr>
        <p:spPr>
          <a:xfrm>
            <a:off x="1403350" y="3454400"/>
            <a:ext cx="69834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这是一个求一阶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RC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零输入响应问题，有：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11689" name="Group 73"/>
          <p:cNvGrpSpPr/>
          <p:nvPr/>
        </p:nvGrpSpPr>
        <p:grpSpPr>
          <a:xfrm>
            <a:off x="6084888" y="1509713"/>
            <a:ext cx="2230438" cy="1512887"/>
            <a:chOff x="3879" y="1389"/>
            <a:chExt cx="1405" cy="953"/>
          </a:xfrm>
        </p:grpSpPr>
        <p:sp>
          <p:nvSpPr>
            <p:cNvPr id="42036" name="Line 7"/>
            <p:cNvSpPr/>
            <p:nvPr/>
          </p:nvSpPr>
          <p:spPr>
            <a:xfrm>
              <a:off x="4631" y="1480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37" name="Text Box 8"/>
            <p:cNvSpPr txBox="1"/>
            <p:nvPr/>
          </p:nvSpPr>
          <p:spPr>
            <a:xfrm>
              <a:off x="4242" y="1434"/>
              <a:ext cx="243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38" name="Line 9"/>
            <p:cNvSpPr/>
            <p:nvPr/>
          </p:nvSpPr>
          <p:spPr>
            <a:xfrm flipV="1">
              <a:off x="5213" y="1389"/>
              <a:ext cx="8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9" name="Line 10"/>
            <p:cNvSpPr/>
            <p:nvPr/>
          </p:nvSpPr>
          <p:spPr>
            <a:xfrm>
              <a:off x="4241" y="2341"/>
              <a:ext cx="95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40" name="Group 11"/>
            <p:cNvGrpSpPr/>
            <p:nvPr/>
          </p:nvGrpSpPr>
          <p:grpSpPr>
            <a:xfrm rot="5400000">
              <a:off x="4195" y="1706"/>
              <a:ext cx="90" cy="273"/>
              <a:chOff x="4014" y="2387"/>
              <a:chExt cx="91" cy="227"/>
            </a:xfrm>
          </p:grpSpPr>
          <p:sp>
            <p:nvSpPr>
              <p:cNvPr id="42050" name="Line 12"/>
              <p:cNvSpPr/>
              <p:nvPr/>
            </p:nvSpPr>
            <p:spPr>
              <a:xfrm>
                <a:off x="4014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51" name="Line 13"/>
              <p:cNvSpPr/>
              <p:nvPr/>
            </p:nvSpPr>
            <p:spPr>
              <a:xfrm>
                <a:off x="4105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41" name="Rectangle 14"/>
            <p:cNvSpPr/>
            <p:nvPr/>
          </p:nvSpPr>
          <p:spPr>
            <a:xfrm>
              <a:off x="5169" y="1707"/>
              <a:ext cx="115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042" name="Text Box 15"/>
            <p:cNvSpPr txBox="1"/>
            <p:nvPr/>
          </p:nvSpPr>
          <p:spPr>
            <a:xfrm>
              <a:off x="4331" y="1687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43" name="Text Box 16"/>
            <p:cNvSpPr txBox="1"/>
            <p:nvPr/>
          </p:nvSpPr>
          <p:spPr>
            <a:xfrm>
              <a:off x="4810" y="1732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44" name="Text Box 17"/>
            <p:cNvSpPr txBox="1"/>
            <p:nvPr/>
          </p:nvSpPr>
          <p:spPr>
            <a:xfrm>
              <a:off x="3879" y="1479"/>
              <a:ext cx="35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45" name="Line 18"/>
            <p:cNvSpPr/>
            <p:nvPr/>
          </p:nvSpPr>
          <p:spPr>
            <a:xfrm>
              <a:off x="4241" y="1389"/>
              <a:ext cx="0" cy="40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6" name="Line 19"/>
            <p:cNvSpPr/>
            <p:nvPr/>
          </p:nvSpPr>
          <p:spPr>
            <a:xfrm>
              <a:off x="4241" y="1888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7" name="Line 20"/>
            <p:cNvSpPr/>
            <p:nvPr/>
          </p:nvSpPr>
          <p:spPr>
            <a:xfrm>
              <a:off x="4241" y="1389"/>
              <a:ext cx="9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8" name="Text Box 21"/>
            <p:cNvSpPr txBox="1"/>
            <p:nvPr/>
          </p:nvSpPr>
          <p:spPr>
            <a:xfrm>
              <a:off x="4195" y="1896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49" name="Text Box 22"/>
            <p:cNvSpPr txBox="1"/>
            <p:nvPr/>
          </p:nvSpPr>
          <p:spPr>
            <a:xfrm>
              <a:off x="4651" y="1433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11687" name="Group 71"/>
          <p:cNvGrpSpPr/>
          <p:nvPr/>
        </p:nvGrpSpPr>
        <p:grpSpPr>
          <a:xfrm>
            <a:off x="4427538" y="1509713"/>
            <a:ext cx="1728787" cy="1200150"/>
            <a:chOff x="3061" y="1389"/>
            <a:chExt cx="1089" cy="756"/>
          </a:xfrm>
        </p:grpSpPr>
        <p:sp>
          <p:nvSpPr>
            <p:cNvPr id="42033" name="AutoShape 24"/>
            <p:cNvSpPr/>
            <p:nvPr/>
          </p:nvSpPr>
          <p:spPr>
            <a:xfrm rot="-5400000">
              <a:off x="3470" y="1343"/>
              <a:ext cx="136" cy="862"/>
            </a:xfrm>
            <a:prstGeom prst="downArrow">
              <a:avLst>
                <a:gd name="adj1" fmla="val 50000"/>
                <a:gd name="adj2" fmla="val 158455"/>
              </a:avLst>
            </a:prstGeom>
            <a:solidFill>
              <a:srgbClr val="0099FF"/>
            </a:solidFill>
            <a:ln w="9525">
              <a:noFill/>
            </a:ln>
          </p:spPr>
          <p:txBody>
            <a:bodyPr vert="eaVert"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2034" name="Text Box 25"/>
            <p:cNvSpPr txBox="1"/>
            <p:nvPr/>
          </p:nvSpPr>
          <p:spPr>
            <a:xfrm>
              <a:off x="3224" y="1777"/>
              <a:ext cx="524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sz="32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&gt;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35" name="Text Box 26"/>
            <p:cNvSpPr txBox="1"/>
            <p:nvPr/>
          </p:nvSpPr>
          <p:spPr>
            <a:xfrm>
              <a:off x="3061" y="1389"/>
              <a:ext cx="108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等效电路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111643" name="Object 27"/>
          <p:cNvGraphicFramePr>
            <a:graphicFrameLocks noChangeAspect="1"/>
          </p:cNvGraphicFramePr>
          <p:nvPr/>
        </p:nvGraphicFramePr>
        <p:xfrm>
          <a:off x="1892300" y="3886200"/>
          <a:ext cx="3068638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1" imgW="1167130" imgH="252730" progId="Equation.3">
                  <p:embed/>
                </p:oleObj>
              </mc:Choice>
              <mc:Fallback>
                <p:oleObj name="" r:id="rId1" imgW="1167130" imgH="25273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92300" y="3886200"/>
                        <a:ext cx="3068638" cy="90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1657" name="Group 41"/>
          <p:cNvGrpSpPr/>
          <p:nvPr/>
        </p:nvGrpSpPr>
        <p:grpSpPr>
          <a:xfrm>
            <a:off x="612775" y="787400"/>
            <a:ext cx="3454400" cy="2192338"/>
            <a:chOff x="3017" y="643"/>
            <a:chExt cx="2176" cy="1381"/>
          </a:xfrm>
        </p:grpSpPr>
        <p:sp>
          <p:nvSpPr>
            <p:cNvPr id="42000" name="Line 42"/>
            <p:cNvSpPr/>
            <p:nvPr/>
          </p:nvSpPr>
          <p:spPr>
            <a:xfrm>
              <a:off x="3923" y="1071"/>
              <a:ext cx="12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42001" name="Text Box 43"/>
            <p:cNvSpPr txBox="1"/>
            <p:nvPr/>
          </p:nvSpPr>
          <p:spPr>
            <a:xfrm>
              <a:off x="4233" y="1641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02" name="Text Box 44"/>
            <p:cNvSpPr txBox="1"/>
            <p:nvPr/>
          </p:nvSpPr>
          <p:spPr>
            <a:xfrm>
              <a:off x="3484" y="809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03" name="Text Box 45"/>
            <p:cNvSpPr txBox="1"/>
            <p:nvPr/>
          </p:nvSpPr>
          <p:spPr>
            <a:xfrm>
              <a:off x="4130" y="132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3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04" name="Line 46"/>
            <p:cNvSpPr/>
            <p:nvPr/>
          </p:nvSpPr>
          <p:spPr>
            <a:xfrm>
              <a:off x="4059" y="981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05" name="Line 47"/>
            <p:cNvSpPr/>
            <p:nvPr/>
          </p:nvSpPr>
          <p:spPr>
            <a:xfrm>
              <a:off x="3651" y="844"/>
              <a:ext cx="227" cy="227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06" name="Text Box 48"/>
            <p:cNvSpPr txBox="1"/>
            <p:nvPr/>
          </p:nvSpPr>
          <p:spPr>
            <a:xfrm>
              <a:off x="3335" y="1116"/>
              <a:ext cx="24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07" name="Line 49"/>
            <p:cNvSpPr/>
            <p:nvPr/>
          </p:nvSpPr>
          <p:spPr>
            <a:xfrm flipV="1">
              <a:off x="5140" y="1071"/>
              <a:ext cx="8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8" name="Line 50"/>
            <p:cNvSpPr/>
            <p:nvPr/>
          </p:nvSpPr>
          <p:spPr>
            <a:xfrm flipH="1">
              <a:off x="4558" y="1071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2009" name="Line 51"/>
            <p:cNvSpPr/>
            <p:nvPr/>
          </p:nvSpPr>
          <p:spPr>
            <a:xfrm>
              <a:off x="3334" y="2024"/>
              <a:ext cx="181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2010" name="Group 52"/>
            <p:cNvGrpSpPr/>
            <p:nvPr/>
          </p:nvGrpSpPr>
          <p:grpSpPr>
            <a:xfrm rot="5400000">
              <a:off x="3288" y="1388"/>
              <a:ext cx="90" cy="273"/>
              <a:chOff x="4014" y="2387"/>
              <a:chExt cx="91" cy="227"/>
            </a:xfrm>
          </p:grpSpPr>
          <p:sp>
            <p:nvSpPr>
              <p:cNvPr id="42027" name="Line 53"/>
              <p:cNvSpPr/>
              <p:nvPr/>
            </p:nvSpPr>
            <p:spPr>
              <a:xfrm>
                <a:off x="4014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2028" name="Line 54"/>
              <p:cNvSpPr/>
              <p:nvPr/>
            </p:nvSpPr>
            <p:spPr>
              <a:xfrm>
                <a:off x="4105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2011" name="Text Box 55"/>
            <p:cNvSpPr txBox="1"/>
            <p:nvPr/>
          </p:nvSpPr>
          <p:spPr>
            <a:xfrm>
              <a:off x="3424" y="1369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12" name="Text Box 56"/>
            <p:cNvSpPr txBox="1"/>
            <p:nvPr/>
          </p:nvSpPr>
          <p:spPr>
            <a:xfrm>
              <a:off x="3994" y="1097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3" name="Text Box 57"/>
            <p:cNvSpPr txBox="1"/>
            <p:nvPr/>
          </p:nvSpPr>
          <p:spPr>
            <a:xfrm>
              <a:off x="4720" y="141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4" name="Text Box 58"/>
            <p:cNvSpPr txBox="1"/>
            <p:nvPr/>
          </p:nvSpPr>
          <p:spPr>
            <a:xfrm>
              <a:off x="3017" y="1161"/>
              <a:ext cx="35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2015" name="Line 59"/>
            <p:cNvSpPr/>
            <p:nvPr/>
          </p:nvSpPr>
          <p:spPr>
            <a:xfrm>
              <a:off x="3334" y="1071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6" name="Line 60"/>
            <p:cNvSpPr/>
            <p:nvPr/>
          </p:nvSpPr>
          <p:spPr>
            <a:xfrm>
              <a:off x="3334" y="1570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42017" name="Line 61"/>
            <p:cNvSpPr/>
            <p:nvPr/>
          </p:nvSpPr>
          <p:spPr>
            <a:xfrm flipH="1">
              <a:off x="3696" y="845"/>
              <a:ext cx="273" cy="22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8" name="Rectangle 62"/>
            <p:cNvSpPr/>
            <p:nvPr/>
          </p:nvSpPr>
          <p:spPr>
            <a:xfrm>
              <a:off x="4513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19" name="Line 63"/>
            <p:cNvSpPr/>
            <p:nvPr/>
          </p:nvSpPr>
          <p:spPr>
            <a:xfrm>
              <a:off x="3334" y="1071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0" name="Text Box 64"/>
            <p:cNvSpPr txBox="1"/>
            <p:nvPr/>
          </p:nvSpPr>
          <p:spPr>
            <a:xfrm>
              <a:off x="3288" y="1578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1" name="Text Box 65"/>
            <p:cNvSpPr txBox="1"/>
            <p:nvPr/>
          </p:nvSpPr>
          <p:spPr>
            <a:xfrm>
              <a:off x="4732" y="1097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22" name="Text Box 66"/>
            <p:cNvSpPr txBox="1"/>
            <p:nvPr/>
          </p:nvSpPr>
          <p:spPr>
            <a:xfrm>
              <a:off x="4097" y="643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2023" name="Line 67"/>
            <p:cNvSpPr/>
            <p:nvPr/>
          </p:nvSpPr>
          <p:spPr>
            <a:xfrm>
              <a:off x="4740" y="1162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4" name="Line 68"/>
            <p:cNvSpPr/>
            <p:nvPr/>
          </p:nvSpPr>
          <p:spPr>
            <a:xfrm>
              <a:off x="4468" y="1706"/>
              <a:ext cx="0" cy="22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2025" name="Rectangle 69"/>
            <p:cNvSpPr/>
            <p:nvPr/>
          </p:nvSpPr>
          <p:spPr>
            <a:xfrm>
              <a:off x="5057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026" name="Rectangle 70"/>
            <p:cNvSpPr/>
            <p:nvPr/>
          </p:nvSpPr>
          <p:spPr>
            <a:xfrm rot="-5400000">
              <a:off x="4172" y="912"/>
              <a:ext cx="136" cy="363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vert="eaVert"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aphicFrame>
        <p:nvGraphicFramePr>
          <p:cNvPr id="111688" name="Object 72"/>
          <p:cNvGraphicFramePr>
            <a:graphicFrameLocks noChangeAspect="1"/>
          </p:cNvGraphicFramePr>
          <p:nvPr/>
        </p:nvGraphicFramePr>
        <p:xfrm>
          <a:off x="1835150" y="4894263"/>
          <a:ext cx="49149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3" imgW="2055495" imgH="147955" progId="Equation.3">
                  <p:embed/>
                </p:oleObj>
              </mc:Choice>
              <mc:Fallback>
                <p:oleObj name="" r:id="rId3" imgW="2055495" imgH="147955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835150" y="4894263"/>
                        <a:ext cx="4914900" cy="571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11620" grpId="0" animBg="1"/>
      <p:bldP spid="1116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3010" name="Group 117"/>
          <p:cNvGrpSpPr/>
          <p:nvPr/>
        </p:nvGrpSpPr>
        <p:grpSpPr>
          <a:xfrm>
            <a:off x="5221288" y="908050"/>
            <a:ext cx="2230438" cy="1512888"/>
            <a:chOff x="3289" y="572"/>
            <a:chExt cx="1405" cy="953"/>
          </a:xfrm>
        </p:grpSpPr>
        <p:sp>
          <p:nvSpPr>
            <p:cNvPr id="43055" name="Line 62"/>
            <p:cNvSpPr/>
            <p:nvPr/>
          </p:nvSpPr>
          <p:spPr>
            <a:xfrm>
              <a:off x="4041" y="663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56" name="Text Box 64"/>
            <p:cNvSpPr txBox="1"/>
            <p:nvPr/>
          </p:nvSpPr>
          <p:spPr>
            <a:xfrm>
              <a:off x="3652" y="617"/>
              <a:ext cx="243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57" name="Line 65"/>
            <p:cNvSpPr/>
            <p:nvPr/>
          </p:nvSpPr>
          <p:spPr>
            <a:xfrm flipV="1">
              <a:off x="4623" y="572"/>
              <a:ext cx="8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58" name="Line 67"/>
            <p:cNvSpPr/>
            <p:nvPr/>
          </p:nvSpPr>
          <p:spPr>
            <a:xfrm>
              <a:off x="3651" y="1525"/>
              <a:ext cx="9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3059" name="Group 68"/>
            <p:cNvGrpSpPr/>
            <p:nvPr/>
          </p:nvGrpSpPr>
          <p:grpSpPr>
            <a:xfrm rot="5400000">
              <a:off x="3605" y="889"/>
              <a:ext cx="90" cy="273"/>
              <a:chOff x="4014" y="2387"/>
              <a:chExt cx="91" cy="227"/>
            </a:xfrm>
          </p:grpSpPr>
          <p:sp>
            <p:nvSpPr>
              <p:cNvPr id="43069" name="Line 69"/>
              <p:cNvSpPr/>
              <p:nvPr/>
            </p:nvSpPr>
            <p:spPr>
              <a:xfrm>
                <a:off x="4014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70" name="Line 70"/>
              <p:cNvSpPr/>
              <p:nvPr/>
            </p:nvSpPr>
            <p:spPr>
              <a:xfrm>
                <a:off x="4105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3060" name="Rectangle 72"/>
            <p:cNvSpPr/>
            <p:nvPr/>
          </p:nvSpPr>
          <p:spPr>
            <a:xfrm>
              <a:off x="4579" y="890"/>
              <a:ext cx="115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3061" name="Text Box 73"/>
            <p:cNvSpPr txBox="1"/>
            <p:nvPr/>
          </p:nvSpPr>
          <p:spPr>
            <a:xfrm>
              <a:off x="3741" y="870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62" name="Text Box 75"/>
            <p:cNvSpPr txBox="1"/>
            <p:nvPr/>
          </p:nvSpPr>
          <p:spPr>
            <a:xfrm>
              <a:off x="4220" y="915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63" name="Text Box 76"/>
            <p:cNvSpPr txBox="1"/>
            <p:nvPr/>
          </p:nvSpPr>
          <p:spPr>
            <a:xfrm>
              <a:off x="3289" y="662"/>
              <a:ext cx="35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64" name="Line 77"/>
            <p:cNvSpPr/>
            <p:nvPr/>
          </p:nvSpPr>
          <p:spPr>
            <a:xfrm>
              <a:off x="3651" y="572"/>
              <a:ext cx="0" cy="409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5" name="Line 78"/>
            <p:cNvSpPr/>
            <p:nvPr/>
          </p:nvSpPr>
          <p:spPr>
            <a:xfrm>
              <a:off x="3651" y="1071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6" name="Line 81"/>
            <p:cNvSpPr/>
            <p:nvPr/>
          </p:nvSpPr>
          <p:spPr>
            <a:xfrm>
              <a:off x="3651" y="572"/>
              <a:ext cx="98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67" name="Text Box 82"/>
            <p:cNvSpPr txBox="1"/>
            <p:nvPr/>
          </p:nvSpPr>
          <p:spPr>
            <a:xfrm>
              <a:off x="3605" y="1079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68" name="Text Box 84"/>
            <p:cNvSpPr txBox="1"/>
            <p:nvPr/>
          </p:nvSpPr>
          <p:spPr>
            <a:xfrm>
              <a:off x="4061" y="616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73820" name="Object 92"/>
          <p:cNvGraphicFramePr>
            <a:graphicFrameLocks noChangeAspect="1"/>
          </p:cNvGraphicFramePr>
          <p:nvPr/>
        </p:nvGraphicFramePr>
        <p:xfrm>
          <a:off x="2195513" y="2708275"/>
          <a:ext cx="3830637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471930" imgH="252730" progId="Equation.3">
                  <p:embed/>
                </p:oleObj>
              </mc:Choice>
              <mc:Fallback>
                <p:oleObj name="" r:id="rId1" imgW="1471930" imgH="25273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5513" y="2708275"/>
                        <a:ext cx="3830637" cy="90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821" name="Text Box 93"/>
          <p:cNvSpPr txBox="1"/>
          <p:nvPr/>
        </p:nvSpPr>
        <p:spPr>
          <a:xfrm>
            <a:off x="611188" y="4941888"/>
            <a:ext cx="1800225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分流得：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3823" name="Object 95"/>
          <p:cNvGraphicFramePr>
            <a:graphicFrameLocks noChangeAspect="1"/>
          </p:cNvGraphicFramePr>
          <p:nvPr/>
        </p:nvGraphicFramePr>
        <p:xfrm>
          <a:off x="2124075" y="3644900"/>
          <a:ext cx="3562350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3" imgW="1306195" imgH="252730" progId="Equation.3">
                  <p:embed/>
                </p:oleObj>
              </mc:Choice>
              <mc:Fallback>
                <p:oleObj name="" r:id="rId3" imgW="1306195" imgH="25273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3644900"/>
                        <a:ext cx="3562350" cy="9493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4" name="Object 96"/>
          <p:cNvGraphicFramePr>
            <a:graphicFrameLocks noChangeAspect="1"/>
          </p:cNvGraphicFramePr>
          <p:nvPr/>
        </p:nvGraphicFramePr>
        <p:xfrm>
          <a:off x="2124075" y="4638675"/>
          <a:ext cx="2952750" cy="109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5" imgW="1193165" imgH="348615" progId="Equation.3">
                  <p:embed/>
                </p:oleObj>
              </mc:Choice>
              <mc:Fallback>
                <p:oleObj name="" r:id="rId5" imgW="1193165" imgH="348615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24075" y="4638675"/>
                        <a:ext cx="2952750" cy="1095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825" name="Object 97"/>
          <p:cNvGraphicFramePr>
            <a:graphicFrameLocks noChangeAspect="1"/>
          </p:cNvGraphicFramePr>
          <p:nvPr/>
        </p:nvGraphicFramePr>
        <p:xfrm>
          <a:off x="5507038" y="4565650"/>
          <a:ext cx="2952750" cy="111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" r:id="rId7" imgW="1175385" imgH="348615" progId="Equation.3">
                  <p:embed/>
                </p:oleObj>
              </mc:Choice>
              <mc:Fallback>
                <p:oleObj name="" r:id="rId7" imgW="1175385" imgH="348615" progId="Equation.3">
                  <p:embed/>
                  <p:pic>
                    <p:nvPicPr>
                      <p:cNvPr id="0" name="图片 315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507038" y="4565650"/>
                        <a:ext cx="2952750" cy="1116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018" name="Group 116"/>
          <p:cNvGrpSpPr/>
          <p:nvPr/>
        </p:nvGrpSpPr>
        <p:grpSpPr>
          <a:xfrm>
            <a:off x="901700" y="331788"/>
            <a:ext cx="3454400" cy="2192338"/>
            <a:chOff x="3017" y="643"/>
            <a:chExt cx="2176" cy="1381"/>
          </a:xfrm>
        </p:grpSpPr>
        <p:sp>
          <p:nvSpPr>
            <p:cNvPr id="43022" name="Line 46"/>
            <p:cNvSpPr/>
            <p:nvPr/>
          </p:nvSpPr>
          <p:spPr>
            <a:xfrm>
              <a:off x="3923" y="1071"/>
              <a:ext cx="12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43023" name="Text Box 20"/>
            <p:cNvSpPr txBox="1"/>
            <p:nvPr/>
          </p:nvSpPr>
          <p:spPr>
            <a:xfrm>
              <a:off x="4233" y="1641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24" name="Text Box 23"/>
            <p:cNvSpPr txBox="1"/>
            <p:nvPr/>
          </p:nvSpPr>
          <p:spPr>
            <a:xfrm>
              <a:off x="3483" y="809"/>
              <a:ext cx="24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25" name="Text Box 24"/>
            <p:cNvSpPr txBox="1"/>
            <p:nvPr/>
          </p:nvSpPr>
          <p:spPr>
            <a:xfrm>
              <a:off x="4130" y="132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3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26" name="Line 25"/>
            <p:cNvSpPr/>
            <p:nvPr/>
          </p:nvSpPr>
          <p:spPr>
            <a:xfrm>
              <a:off x="4059" y="981"/>
              <a:ext cx="317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7" name="Line 27"/>
            <p:cNvSpPr/>
            <p:nvPr/>
          </p:nvSpPr>
          <p:spPr>
            <a:xfrm>
              <a:off x="3651" y="844"/>
              <a:ext cx="227" cy="227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28" name="Text Box 28"/>
            <p:cNvSpPr txBox="1"/>
            <p:nvPr/>
          </p:nvSpPr>
          <p:spPr>
            <a:xfrm>
              <a:off x="3335" y="1116"/>
              <a:ext cx="243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29" name="Line 29"/>
            <p:cNvSpPr/>
            <p:nvPr/>
          </p:nvSpPr>
          <p:spPr>
            <a:xfrm flipV="1">
              <a:off x="5140" y="1071"/>
              <a:ext cx="8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0" name="Line 30"/>
            <p:cNvSpPr/>
            <p:nvPr/>
          </p:nvSpPr>
          <p:spPr>
            <a:xfrm flipH="1">
              <a:off x="4558" y="1071"/>
              <a:ext cx="0" cy="95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3031" name="Line 31"/>
            <p:cNvSpPr/>
            <p:nvPr/>
          </p:nvSpPr>
          <p:spPr>
            <a:xfrm>
              <a:off x="3334" y="2024"/>
              <a:ext cx="181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3032" name="Group 50"/>
            <p:cNvGrpSpPr/>
            <p:nvPr/>
          </p:nvGrpSpPr>
          <p:grpSpPr>
            <a:xfrm rot="5400000">
              <a:off x="3288" y="1388"/>
              <a:ext cx="90" cy="273"/>
              <a:chOff x="4014" y="2387"/>
              <a:chExt cx="91" cy="227"/>
            </a:xfrm>
          </p:grpSpPr>
          <p:sp>
            <p:nvSpPr>
              <p:cNvPr id="43049" name="Line 32"/>
              <p:cNvSpPr/>
              <p:nvPr/>
            </p:nvSpPr>
            <p:spPr>
              <a:xfrm>
                <a:off x="4014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50" name="Line 33"/>
              <p:cNvSpPr/>
              <p:nvPr/>
            </p:nvSpPr>
            <p:spPr>
              <a:xfrm>
                <a:off x="4105" y="2387"/>
                <a:ext cx="0" cy="227"/>
              </a:xfrm>
              <a:prstGeom prst="line">
                <a:avLst/>
              </a:prstGeom>
              <a:ln w="5715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3033" name="Text Box 36"/>
            <p:cNvSpPr txBox="1"/>
            <p:nvPr/>
          </p:nvSpPr>
          <p:spPr>
            <a:xfrm>
              <a:off x="3424" y="1369"/>
              <a:ext cx="436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34" name="Text Box 37"/>
            <p:cNvSpPr txBox="1"/>
            <p:nvPr/>
          </p:nvSpPr>
          <p:spPr>
            <a:xfrm>
              <a:off x="3994" y="1097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35" name="Text Box 38"/>
            <p:cNvSpPr txBox="1"/>
            <p:nvPr/>
          </p:nvSpPr>
          <p:spPr>
            <a:xfrm>
              <a:off x="4720" y="1414"/>
              <a:ext cx="399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36" name="Text Box 39"/>
            <p:cNvSpPr txBox="1"/>
            <p:nvPr/>
          </p:nvSpPr>
          <p:spPr>
            <a:xfrm>
              <a:off x="3017" y="1161"/>
              <a:ext cx="35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5F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3037" name="Line 42"/>
            <p:cNvSpPr/>
            <p:nvPr/>
          </p:nvSpPr>
          <p:spPr>
            <a:xfrm>
              <a:off x="3334" y="1071"/>
              <a:ext cx="0" cy="36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8" name="Line 43"/>
            <p:cNvSpPr/>
            <p:nvPr/>
          </p:nvSpPr>
          <p:spPr>
            <a:xfrm>
              <a:off x="3334" y="1570"/>
              <a:ext cx="0" cy="45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9" name="Line 44"/>
            <p:cNvSpPr/>
            <p:nvPr/>
          </p:nvSpPr>
          <p:spPr>
            <a:xfrm flipH="1">
              <a:off x="3696" y="845"/>
              <a:ext cx="273" cy="227"/>
            </a:xfrm>
            <a:prstGeom prst="line">
              <a:avLst/>
            </a:prstGeom>
            <a:ln w="38100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0" name="Rectangle 45"/>
            <p:cNvSpPr/>
            <p:nvPr/>
          </p:nvSpPr>
          <p:spPr>
            <a:xfrm>
              <a:off x="4513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1" name="Line 47"/>
            <p:cNvSpPr/>
            <p:nvPr/>
          </p:nvSpPr>
          <p:spPr>
            <a:xfrm>
              <a:off x="3334" y="1071"/>
              <a:ext cx="40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2" name="Text Box 49"/>
            <p:cNvSpPr txBox="1"/>
            <p:nvPr/>
          </p:nvSpPr>
          <p:spPr>
            <a:xfrm>
              <a:off x="3288" y="1578"/>
              <a:ext cx="318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3" name="Text Box 51"/>
            <p:cNvSpPr txBox="1"/>
            <p:nvPr/>
          </p:nvSpPr>
          <p:spPr>
            <a:xfrm>
              <a:off x="4732" y="1097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44" name="Text Box 52"/>
            <p:cNvSpPr txBox="1"/>
            <p:nvPr/>
          </p:nvSpPr>
          <p:spPr>
            <a:xfrm>
              <a:off x="4097" y="643"/>
              <a:ext cx="250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3045" name="Line 53"/>
            <p:cNvSpPr/>
            <p:nvPr/>
          </p:nvSpPr>
          <p:spPr>
            <a:xfrm>
              <a:off x="4740" y="1162"/>
              <a:ext cx="317" cy="0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6" name="Line 54"/>
            <p:cNvSpPr/>
            <p:nvPr/>
          </p:nvSpPr>
          <p:spPr>
            <a:xfrm>
              <a:off x="4468" y="1706"/>
              <a:ext cx="0" cy="22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3047" name="Rectangle 113"/>
            <p:cNvSpPr/>
            <p:nvPr/>
          </p:nvSpPr>
          <p:spPr>
            <a:xfrm>
              <a:off x="5057" y="1389"/>
              <a:ext cx="136" cy="31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048" name="Rectangle 114"/>
            <p:cNvSpPr/>
            <p:nvPr/>
          </p:nvSpPr>
          <p:spPr>
            <a:xfrm rot="-5400000">
              <a:off x="4172" y="912"/>
              <a:ext cx="136" cy="363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5400">
              <a:noFill/>
            </a:ln>
          </p:spPr>
          <p:txBody>
            <a:bodyPr vert="eaVert" wrap="none" anchor="ctr" anchorCtr="0"/>
            <a:p>
              <a:pPr algn="ctr" eaLnBrk="1" hangingPunct="1"/>
              <a:endParaRPr lang="en-US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738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015" name="Rectangle 55"/>
          <p:cNvSpPr/>
          <p:nvPr/>
        </p:nvSpPr>
        <p:spPr>
          <a:xfrm>
            <a:off x="323850" y="1286351"/>
            <a:ext cx="935038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69016" name="Text Box 56"/>
          <p:cNvSpPr txBox="1"/>
          <p:nvPr/>
        </p:nvSpPr>
        <p:spPr>
          <a:xfrm>
            <a:off x="1116013" y="1211421"/>
            <a:ext cx="7705725" cy="1641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:(1)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图示电路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k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闭合后各元件的电压和电流随时间变化的规律，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(2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2" charset="-122"/>
              </a:rPr>
              <a:t>）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电容的初始储能和最终时刻的储能及电阻的耗能。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69062" name="Group 102"/>
          <p:cNvGrpSpPr/>
          <p:nvPr/>
        </p:nvGrpSpPr>
        <p:grpSpPr>
          <a:xfrm>
            <a:off x="2028825" y="2440940"/>
            <a:ext cx="6070600" cy="2600326"/>
            <a:chOff x="1278" y="1026"/>
            <a:chExt cx="3824" cy="1638"/>
          </a:xfrm>
        </p:grpSpPr>
        <p:sp>
          <p:nvSpPr>
            <p:cNvPr id="44044" name="Oval 58"/>
            <p:cNvSpPr/>
            <p:nvPr/>
          </p:nvSpPr>
          <p:spPr>
            <a:xfrm>
              <a:off x="3605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45" name="Line 59"/>
            <p:cNvSpPr/>
            <p:nvPr/>
          </p:nvSpPr>
          <p:spPr>
            <a:xfrm>
              <a:off x="4648" y="1389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6" name="Line 60"/>
            <p:cNvSpPr/>
            <p:nvPr/>
          </p:nvSpPr>
          <p:spPr>
            <a:xfrm>
              <a:off x="2426" y="2613"/>
              <a:ext cx="2222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7" name="Line 61"/>
            <p:cNvSpPr/>
            <p:nvPr/>
          </p:nvSpPr>
          <p:spPr>
            <a:xfrm>
              <a:off x="2426" y="1389"/>
              <a:ext cx="117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8" name="Line 62"/>
            <p:cNvSpPr/>
            <p:nvPr/>
          </p:nvSpPr>
          <p:spPr>
            <a:xfrm>
              <a:off x="2426" y="1389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9" name="Line 63"/>
            <p:cNvSpPr/>
            <p:nvPr/>
          </p:nvSpPr>
          <p:spPr>
            <a:xfrm>
              <a:off x="2426" y="1752"/>
              <a:ext cx="0" cy="49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0" name="Line 64"/>
            <p:cNvSpPr/>
            <p:nvPr/>
          </p:nvSpPr>
          <p:spPr>
            <a:xfrm flipV="1">
              <a:off x="2426" y="2342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51" name="Group 65"/>
            <p:cNvGrpSpPr/>
            <p:nvPr/>
          </p:nvGrpSpPr>
          <p:grpSpPr>
            <a:xfrm>
              <a:off x="2290" y="1661"/>
              <a:ext cx="318" cy="90"/>
              <a:chOff x="4059" y="1117"/>
              <a:chExt cx="318" cy="90"/>
            </a:xfrm>
          </p:grpSpPr>
          <p:sp>
            <p:nvSpPr>
              <p:cNvPr id="44075" name="Line 66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6" name="Line 67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2" name="Group 68"/>
            <p:cNvGrpSpPr/>
            <p:nvPr/>
          </p:nvGrpSpPr>
          <p:grpSpPr>
            <a:xfrm>
              <a:off x="2290" y="2251"/>
              <a:ext cx="318" cy="90"/>
              <a:chOff x="4059" y="1117"/>
              <a:chExt cx="318" cy="90"/>
            </a:xfrm>
          </p:grpSpPr>
          <p:sp>
            <p:nvSpPr>
              <p:cNvPr id="44073" name="Line 69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4" name="Line 70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4053" name="Text Box 71" descr="斜纹布"/>
            <p:cNvSpPr txBox="1"/>
            <p:nvPr/>
          </p:nvSpPr>
          <p:spPr>
            <a:xfrm>
              <a:off x="2563" y="2115"/>
              <a:ext cx="158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-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4" name="Text Box 72" descr="斜纹布"/>
            <p:cNvSpPr txBox="1"/>
            <p:nvPr/>
          </p:nvSpPr>
          <p:spPr>
            <a:xfrm>
              <a:off x="4648" y="1752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5" name="Text Box 73" descr="斜纹布"/>
            <p:cNvSpPr txBox="1"/>
            <p:nvPr/>
          </p:nvSpPr>
          <p:spPr>
            <a:xfrm>
              <a:off x="3333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S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6" name="Text Box 74" descr="斜纹布"/>
            <p:cNvSpPr txBox="1"/>
            <p:nvPr/>
          </p:nvSpPr>
          <p:spPr>
            <a:xfrm>
              <a:off x="1327" y="2114"/>
              <a:ext cx="9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=5F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7" name="Line 75"/>
            <p:cNvSpPr/>
            <p:nvPr/>
          </p:nvSpPr>
          <p:spPr>
            <a:xfrm>
              <a:off x="4104" y="1343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8" name="Text Box 76" descr="斜纹布"/>
            <p:cNvSpPr txBox="1"/>
            <p:nvPr/>
          </p:nvSpPr>
          <p:spPr>
            <a:xfrm>
              <a:off x="2562" y="2296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9" name="Text Box 77" descr="斜纹布"/>
            <p:cNvSpPr txBox="1"/>
            <p:nvPr/>
          </p:nvSpPr>
          <p:spPr>
            <a:xfrm>
              <a:off x="4648" y="1389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0" name="Text Box 78" descr="斜纹布"/>
            <p:cNvSpPr txBox="1"/>
            <p:nvPr/>
          </p:nvSpPr>
          <p:spPr>
            <a:xfrm>
              <a:off x="4694" y="2114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1" name="Text Box 79" descr="斜纹布"/>
            <p:cNvSpPr txBox="1"/>
            <p:nvPr/>
          </p:nvSpPr>
          <p:spPr>
            <a:xfrm>
              <a:off x="2562" y="1752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2" name="Text Box 80" descr="斜纹布"/>
            <p:cNvSpPr txBox="1"/>
            <p:nvPr/>
          </p:nvSpPr>
          <p:spPr>
            <a:xfrm>
              <a:off x="2562" y="1933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3" name="Text Box 81" descr="斜纹布"/>
            <p:cNvSpPr txBox="1"/>
            <p:nvPr/>
          </p:nvSpPr>
          <p:spPr>
            <a:xfrm>
              <a:off x="4013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4" name="Text Box 82" descr="斜纹布"/>
            <p:cNvSpPr txBox="1"/>
            <p:nvPr/>
          </p:nvSpPr>
          <p:spPr>
            <a:xfrm>
              <a:off x="1278" y="1545"/>
              <a:ext cx="99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=20F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5" name="Text Box 83" descr="斜纹布"/>
            <p:cNvSpPr txBox="1"/>
            <p:nvPr/>
          </p:nvSpPr>
          <p:spPr>
            <a:xfrm>
              <a:off x="2608" y="1515"/>
              <a:ext cx="158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-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=24V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6" name="Rectangle 84"/>
            <p:cNvSpPr/>
            <p:nvPr/>
          </p:nvSpPr>
          <p:spPr>
            <a:xfrm>
              <a:off x="4603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7" name="Line 85"/>
            <p:cNvSpPr/>
            <p:nvPr/>
          </p:nvSpPr>
          <p:spPr>
            <a:xfrm>
              <a:off x="3877" y="1389"/>
              <a:ext cx="7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8" name="Oval 86"/>
            <p:cNvSpPr/>
            <p:nvPr/>
          </p:nvSpPr>
          <p:spPr>
            <a:xfrm>
              <a:off x="3787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9" name="Text Box 87" descr="斜纹布"/>
            <p:cNvSpPr txBox="1"/>
            <p:nvPr/>
          </p:nvSpPr>
          <p:spPr>
            <a:xfrm>
              <a:off x="3877" y="1797"/>
              <a:ext cx="79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250k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70" name="Line 88"/>
            <p:cNvSpPr/>
            <p:nvPr/>
          </p:nvSpPr>
          <p:spPr>
            <a:xfrm flipV="1">
              <a:off x="3651" y="1207"/>
              <a:ext cx="181" cy="136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1" name="Line 89"/>
            <p:cNvSpPr/>
            <p:nvPr/>
          </p:nvSpPr>
          <p:spPr>
            <a:xfrm>
              <a:off x="3650" y="1162"/>
              <a:ext cx="182" cy="36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72" name="Text Box 100" descr="斜纹布"/>
            <p:cNvSpPr txBox="1"/>
            <p:nvPr/>
          </p:nvSpPr>
          <p:spPr>
            <a:xfrm>
              <a:off x="2562" y="1344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69015" grpId="0"/>
      <p:bldP spid="1690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050" name="Text Box 90"/>
          <p:cNvSpPr txBox="1"/>
          <p:nvPr/>
        </p:nvSpPr>
        <p:spPr>
          <a:xfrm>
            <a:off x="827088" y="3536157"/>
            <a:ext cx="504825" cy="521970"/>
          </a:xfrm>
          <a:prstGeom prst="rect">
            <a:avLst/>
          </a:prstGeom>
          <a:solidFill>
            <a:srgbClr val="660033"/>
          </a:solidFill>
          <a:ln w="9525">
            <a:noFill/>
          </a:ln>
        </p:spPr>
        <p:txBody>
          <a:bodyPr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sz="24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69051" name="Text Box 91"/>
          <p:cNvSpPr txBox="1"/>
          <p:nvPr/>
        </p:nvSpPr>
        <p:spPr>
          <a:xfrm>
            <a:off x="1476375" y="3537585"/>
            <a:ext cx="6983413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这是一个求一阶</a:t>
            </a: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RC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零输入响应问题，有：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69052" name="Object 92"/>
          <p:cNvGraphicFramePr>
            <a:graphicFrameLocks noChangeAspect="1"/>
          </p:cNvGraphicFramePr>
          <p:nvPr/>
        </p:nvGraphicFramePr>
        <p:xfrm>
          <a:off x="1227138" y="4186873"/>
          <a:ext cx="3416300" cy="116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" r:id="rId1" imgW="1149350" imgH="382905" progId="Equation.3">
                  <p:embed/>
                </p:oleObj>
              </mc:Choice>
              <mc:Fallback>
                <p:oleObj name="" r:id="rId1" imgW="1149350" imgH="382905" progId="Equation.3">
                  <p:embed/>
                  <p:pic>
                    <p:nvPicPr>
                      <p:cNvPr id="0" name="图片 3157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27138" y="4186873"/>
                        <a:ext cx="3416300" cy="11604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053" name="Text Box 93"/>
          <p:cNvSpPr txBox="1"/>
          <p:nvPr/>
        </p:nvSpPr>
        <p:spPr>
          <a:xfrm>
            <a:off x="5146675" y="4402773"/>
            <a:ext cx="33131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)=20V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69062" name="Group 102"/>
          <p:cNvGrpSpPr/>
          <p:nvPr/>
        </p:nvGrpSpPr>
        <p:grpSpPr>
          <a:xfrm>
            <a:off x="1725930" y="187960"/>
            <a:ext cx="6070600" cy="2600326"/>
            <a:chOff x="1278" y="1026"/>
            <a:chExt cx="3824" cy="1638"/>
          </a:xfrm>
        </p:grpSpPr>
        <p:sp>
          <p:nvSpPr>
            <p:cNvPr id="44044" name="Oval 58"/>
            <p:cNvSpPr/>
            <p:nvPr/>
          </p:nvSpPr>
          <p:spPr>
            <a:xfrm>
              <a:off x="3605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45" name="Line 59"/>
            <p:cNvSpPr/>
            <p:nvPr/>
          </p:nvSpPr>
          <p:spPr>
            <a:xfrm>
              <a:off x="4648" y="1389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6" name="Line 60"/>
            <p:cNvSpPr/>
            <p:nvPr/>
          </p:nvSpPr>
          <p:spPr>
            <a:xfrm>
              <a:off x="2426" y="2613"/>
              <a:ext cx="2222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7" name="Line 61"/>
            <p:cNvSpPr/>
            <p:nvPr/>
          </p:nvSpPr>
          <p:spPr>
            <a:xfrm>
              <a:off x="2426" y="1389"/>
              <a:ext cx="1179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8" name="Line 62"/>
            <p:cNvSpPr/>
            <p:nvPr/>
          </p:nvSpPr>
          <p:spPr>
            <a:xfrm>
              <a:off x="2426" y="1389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49" name="Line 63"/>
            <p:cNvSpPr/>
            <p:nvPr/>
          </p:nvSpPr>
          <p:spPr>
            <a:xfrm>
              <a:off x="2426" y="1752"/>
              <a:ext cx="0" cy="499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0" name="Line 64"/>
            <p:cNvSpPr/>
            <p:nvPr/>
          </p:nvSpPr>
          <p:spPr>
            <a:xfrm flipV="1">
              <a:off x="2426" y="2342"/>
              <a:ext cx="0" cy="272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4051" name="Group 65"/>
            <p:cNvGrpSpPr/>
            <p:nvPr/>
          </p:nvGrpSpPr>
          <p:grpSpPr>
            <a:xfrm>
              <a:off x="2290" y="1661"/>
              <a:ext cx="318" cy="90"/>
              <a:chOff x="4059" y="1117"/>
              <a:chExt cx="318" cy="90"/>
            </a:xfrm>
          </p:grpSpPr>
          <p:sp>
            <p:nvSpPr>
              <p:cNvPr id="44075" name="Line 66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6" name="Line 67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4052" name="Group 68"/>
            <p:cNvGrpSpPr/>
            <p:nvPr/>
          </p:nvGrpSpPr>
          <p:grpSpPr>
            <a:xfrm>
              <a:off x="2290" y="2251"/>
              <a:ext cx="318" cy="90"/>
              <a:chOff x="4059" y="1117"/>
              <a:chExt cx="318" cy="90"/>
            </a:xfrm>
          </p:grpSpPr>
          <p:sp>
            <p:nvSpPr>
              <p:cNvPr id="44073" name="Line 69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4074" name="Line 70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4053" name="Text Box 71" descr="斜纹布"/>
            <p:cNvSpPr txBox="1"/>
            <p:nvPr/>
          </p:nvSpPr>
          <p:spPr>
            <a:xfrm>
              <a:off x="2563" y="2115"/>
              <a:ext cx="158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-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4" name="Text Box 72" descr="斜纹布"/>
            <p:cNvSpPr txBox="1"/>
            <p:nvPr/>
          </p:nvSpPr>
          <p:spPr>
            <a:xfrm>
              <a:off x="4648" y="1752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5" name="Text Box 73" descr="斜纹布"/>
            <p:cNvSpPr txBox="1"/>
            <p:nvPr/>
          </p:nvSpPr>
          <p:spPr>
            <a:xfrm>
              <a:off x="3333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S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6" name="Text Box 74" descr="斜纹布"/>
            <p:cNvSpPr txBox="1"/>
            <p:nvPr/>
          </p:nvSpPr>
          <p:spPr>
            <a:xfrm>
              <a:off x="1327" y="2114"/>
              <a:ext cx="9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=5F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7" name="Line 75"/>
            <p:cNvSpPr/>
            <p:nvPr/>
          </p:nvSpPr>
          <p:spPr>
            <a:xfrm>
              <a:off x="4104" y="1343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58" name="Text Box 76" descr="斜纹布"/>
            <p:cNvSpPr txBox="1"/>
            <p:nvPr/>
          </p:nvSpPr>
          <p:spPr>
            <a:xfrm>
              <a:off x="2562" y="2296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59" name="Text Box 77" descr="斜纹布"/>
            <p:cNvSpPr txBox="1"/>
            <p:nvPr/>
          </p:nvSpPr>
          <p:spPr>
            <a:xfrm>
              <a:off x="4648" y="1389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0" name="Text Box 78" descr="斜纹布"/>
            <p:cNvSpPr txBox="1"/>
            <p:nvPr/>
          </p:nvSpPr>
          <p:spPr>
            <a:xfrm>
              <a:off x="4694" y="2114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1" name="Text Box 79" descr="斜纹布"/>
            <p:cNvSpPr txBox="1"/>
            <p:nvPr/>
          </p:nvSpPr>
          <p:spPr>
            <a:xfrm>
              <a:off x="2562" y="1752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2" name="Text Box 80" descr="斜纹布"/>
            <p:cNvSpPr txBox="1"/>
            <p:nvPr/>
          </p:nvSpPr>
          <p:spPr>
            <a:xfrm>
              <a:off x="2562" y="1933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3" name="Text Box 81" descr="斜纹布"/>
            <p:cNvSpPr txBox="1"/>
            <p:nvPr/>
          </p:nvSpPr>
          <p:spPr>
            <a:xfrm>
              <a:off x="4013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4" name="Text Box 82" descr="斜纹布"/>
            <p:cNvSpPr txBox="1"/>
            <p:nvPr/>
          </p:nvSpPr>
          <p:spPr>
            <a:xfrm>
              <a:off x="1278" y="1545"/>
              <a:ext cx="99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C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=20F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5" name="Text Box 83" descr="斜纹布"/>
            <p:cNvSpPr txBox="1"/>
            <p:nvPr/>
          </p:nvSpPr>
          <p:spPr>
            <a:xfrm>
              <a:off x="2608" y="1515"/>
              <a:ext cx="158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（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0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-</a:t>
              </a:r>
              <a:r>
                <a:rPr lang="zh-CN" altLang="en-US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）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=24V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66" name="Rectangle 84"/>
            <p:cNvSpPr/>
            <p:nvPr/>
          </p:nvSpPr>
          <p:spPr>
            <a:xfrm>
              <a:off x="4603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7" name="Line 85"/>
            <p:cNvSpPr/>
            <p:nvPr/>
          </p:nvSpPr>
          <p:spPr>
            <a:xfrm>
              <a:off x="3877" y="1389"/>
              <a:ext cx="7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8" name="Oval 86"/>
            <p:cNvSpPr/>
            <p:nvPr/>
          </p:nvSpPr>
          <p:spPr>
            <a:xfrm>
              <a:off x="3787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4069" name="Text Box 87" descr="斜纹布"/>
            <p:cNvSpPr txBox="1"/>
            <p:nvPr/>
          </p:nvSpPr>
          <p:spPr>
            <a:xfrm>
              <a:off x="3877" y="1797"/>
              <a:ext cx="79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250k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4070" name="Line 88"/>
            <p:cNvSpPr/>
            <p:nvPr/>
          </p:nvSpPr>
          <p:spPr>
            <a:xfrm flipV="1">
              <a:off x="3651" y="1207"/>
              <a:ext cx="181" cy="136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71" name="Line 89"/>
            <p:cNvSpPr/>
            <p:nvPr/>
          </p:nvSpPr>
          <p:spPr>
            <a:xfrm>
              <a:off x="3650" y="1162"/>
              <a:ext cx="182" cy="36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4072" name="Text Box 100" descr="斜纹布"/>
            <p:cNvSpPr txBox="1"/>
            <p:nvPr/>
          </p:nvSpPr>
          <p:spPr>
            <a:xfrm>
              <a:off x="2562" y="1344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69050" grpId="0" animBg="1"/>
      <p:bldP spid="169051" grpId="0"/>
      <p:bldP spid="16905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7991" name="Group 55"/>
          <p:cNvGrpSpPr/>
          <p:nvPr/>
        </p:nvGrpSpPr>
        <p:grpSpPr>
          <a:xfrm>
            <a:off x="2051685" y="557848"/>
            <a:ext cx="4537075" cy="2520950"/>
            <a:chOff x="1610" y="1026"/>
            <a:chExt cx="2858" cy="1588"/>
          </a:xfrm>
        </p:grpSpPr>
        <p:sp>
          <p:nvSpPr>
            <p:cNvPr id="45069" name="Oval 56"/>
            <p:cNvSpPr/>
            <p:nvPr/>
          </p:nvSpPr>
          <p:spPr>
            <a:xfrm>
              <a:off x="2971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0" name="Line 57"/>
            <p:cNvSpPr/>
            <p:nvPr/>
          </p:nvSpPr>
          <p:spPr>
            <a:xfrm>
              <a:off x="4014" y="1389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1" name="Line 58"/>
            <p:cNvSpPr/>
            <p:nvPr/>
          </p:nvSpPr>
          <p:spPr>
            <a:xfrm>
              <a:off x="2426" y="2613"/>
              <a:ext cx="1588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2" name="Line 59"/>
            <p:cNvSpPr/>
            <p:nvPr/>
          </p:nvSpPr>
          <p:spPr>
            <a:xfrm>
              <a:off x="2426" y="1389"/>
              <a:ext cx="545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3" name="Line 60"/>
            <p:cNvSpPr/>
            <p:nvPr/>
          </p:nvSpPr>
          <p:spPr>
            <a:xfrm>
              <a:off x="2426" y="1389"/>
              <a:ext cx="0" cy="544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4" name="Line 61"/>
            <p:cNvSpPr/>
            <p:nvPr/>
          </p:nvSpPr>
          <p:spPr>
            <a:xfrm flipV="1">
              <a:off x="2426" y="2024"/>
              <a:ext cx="0" cy="59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075" name="Group 62"/>
            <p:cNvGrpSpPr/>
            <p:nvPr/>
          </p:nvGrpSpPr>
          <p:grpSpPr>
            <a:xfrm>
              <a:off x="2290" y="1933"/>
              <a:ext cx="318" cy="90"/>
              <a:chOff x="4059" y="1117"/>
              <a:chExt cx="318" cy="90"/>
            </a:xfrm>
          </p:grpSpPr>
          <p:sp>
            <p:nvSpPr>
              <p:cNvPr id="45092" name="Line 63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93" name="Line 64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076" name="Text Box 65" descr="斜纹布"/>
            <p:cNvSpPr txBox="1"/>
            <p:nvPr/>
          </p:nvSpPr>
          <p:spPr>
            <a:xfrm>
              <a:off x="4014" y="1752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7" name="Text Box 66" descr="斜纹布"/>
            <p:cNvSpPr txBox="1"/>
            <p:nvPr/>
          </p:nvSpPr>
          <p:spPr>
            <a:xfrm>
              <a:off x="2699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k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8" name="Text Box 67" descr="斜纹布"/>
            <p:cNvSpPr txBox="1"/>
            <p:nvPr/>
          </p:nvSpPr>
          <p:spPr>
            <a:xfrm>
              <a:off x="1610" y="1797"/>
              <a:ext cx="9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4F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9" name="Line 68"/>
            <p:cNvSpPr/>
            <p:nvPr/>
          </p:nvSpPr>
          <p:spPr>
            <a:xfrm>
              <a:off x="3470" y="1343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80" name="Text Box 69" descr="斜纹布"/>
            <p:cNvSpPr txBox="1"/>
            <p:nvPr/>
          </p:nvSpPr>
          <p:spPr>
            <a:xfrm>
              <a:off x="2562" y="1434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1" name="Text Box 70" descr="斜纹布"/>
            <p:cNvSpPr txBox="1"/>
            <p:nvPr/>
          </p:nvSpPr>
          <p:spPr>
            <a:xfrm>
              <a:off x="4014" y="1389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2" name="Text Box 71" descr="斜纹布"/>
            <p:cNvSpPr txBox="1"/>
            <p:nvPr/>
          </p:nvSpPr>
          <p:spPr>
            <a:xfrm>
              <a:off x="4060" y="2114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3" name="Text Box 72" descr="斜纹布"/>
            <p:cNvSpPr txBox="1"/>
            <p:nvPr/>
          </p:nvSpPr>
          <p:spPr>
            <a:xfrm>
              <a:off x="2562" y="2205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4" name="Text Box 73" descr="斜纹布"/>
            <p:cNvSpPr txBox="1"/>
            <p:nvPr/>
          </p:nvSpPr>
          <p:spPr>
            <a:xfrm>
              <a:off x="3379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5" name="Text Box 74" descr="斜纹布"/>
            <p:cNvSpPr txBox="1"/>
            <p:nvPr/>
          </p:nvSpPr>
          <p:spPr>
            <a:xfrm>
              <a:off x="2653" y="1797"/>
              <a:ext cx="54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6" name="Rectangle 75"/>
            <p:cNvSpPr/>
            <p:nvPr/>
          </p:nvSpPr>
          <p:spPr>
            <a:xfrm>
              <a:off x="3969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7" name="Line 76"/>
            <p:cNvSpPr/>
            <p:nvPr/>
          </p:nvSpPr>
          <p:spPr>
            <a:xfrm>
              <a:off x="3243" y="1389"/>
              <a:ext cx="7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8" name="Oval 77"/>
            <p:cNvSpPr/>
            <p:nvPr/>
          </p:nvSpPr>
          <p:spPr>
            <a:xfrm>
              <a:off x="3153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9" name="Text Box 78" descr="斜纹布"/>
            <p:cNvSpPr txBox="1"/>
            <p:nvPr/>
          </p:nvSpPr>
          <p:spPr>
            <a:xfrm>
              <a:off x="3243" y="1797"/>
              <a:ext cx="79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250k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90" name="Line 79"/>
            <p:cNvSpPr/>
            <p:nvPr/>
          </p:nvSpPr>
          <p:spPr>
            <a:xfrm flipV="1">
              <a:off x="3017" y="1207"/>
              <a:ext cx="181" cy="136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1" name="Line 80"/>
            <p:cNvSpPr/>
            <p:nvPr/>
          </p:nvSpPr>
          <p:spPr>
            <a:xfrm>
              <a:off x="3016" y="1162"/>
              <a:ext cx="182" cy="36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168017" name="Object 81"/>
          <p:cNvGraphicFramePr>
            <a:graphicFrameLocks noChangeAspect="1"/>
          </p:cNvGraphicFramePr>
          <p:nvPr/>
        </p:nvGraphicFramePr>
        <p:xfrm>
          <a:off x="2728913" y="4360545"/>
          <a:ext cx="297021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" r:id="rId1" imgW="975360" imgH="173990" progId="Equation.DSMT4">
                  <p:embed/>
                </p:oleObj>
              </mc:Choice>
              <mc:Fallback>
                <p:oleObj name="" r:id="rId1" imgW="975360" imgH="173990" progId="Equation.DSMT4">
                  <p:embed/>
                  <p:pic>
                    <p:nvPicPr>
                      <p:cNvPr id="0" name="图片 3158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728913" y="4360545"/>
                        <a:ext cx="2970212" cy="63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018" name="Object 82"/>
          <p:cNvGraphicFramePr>
            <a:graphicFrameLocks noChangeAspect="1"/>
          </p:cNvGraphicFramePr>
          <p:nvPr/>
        </p:nvGraphicFramePr>
        <p:xfrm>
          <a:off x="2449513" y="3644583"/>
          <a:ext cx="42941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" r:id="rId3" imgW="1776730" imgH="139065" progId="Equation.3">
                  <p:embed/>
                </p:oleObj>
              </mc:Choice>
              <mc:Fallback>
                <p:oleObj name="" r:id="rId3" imgW="1776730" imgH="139065" progId="Equation.3">
                  <p:embed/>
                  <p:pic>
                    <p:nvPicPr>
                      <p:cNvPr id="0" name="图片 315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49513" y="3644583"/>
                        <a:ext cx="4294187" cy="511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019" name="Object 83"/>
          <p:cNvGraphicFramePr>
            <a:graphicFrameLocks noChangeAspect="1"/>
          </p:cNvGraphicFramePr>
          <p:nvPr/>
        </p:nvGraphicFramePr>
        <p:xfrm>
          <a:off x="2633663" y="4939983"/>
          <a:ext cx="395287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1" name="" r:id="rId5" imgW="1637030" imgH="348615" progId="Equation.DSMT4">
                  <p:embed/>
                </p:oleObj>
              </mc:Choice>
              <mc:Fallback>
                <p:oleObj name="" r:id="rId5" imgW="1637030" imgH="348615" progId="Equation.DSMT4">
                  <p:embed/>
                  <p:pic>
                    <p:nvPicPr>
                      <p:cNvPr id="0" name="图片 316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633663" y="4939983"/>
                        <a:ext cx="3952875" cy="1028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7991" name="Group 55"/>
          <p:cNvGrpSpPr/>
          <p:nvPr/>
        </p:nvGrpSpPr>
        <p:grpSpPr>
          <a:xfrm>
            <a:off x="2340610" y="342583"/>
            <a:ext cx="4537075" cy="2520950"/>
            <a:chOff x="1610" y="1026"/>
            <a:chExt cx="2858" cy="1588"/>
          </a:xfrm>
        </p:grpSpPr>
        <p:sp>
          <p:nvSpPr>
            <p:cNvPr id="45069" name="Oval 56"/>
            <p:cNvSpPr/>
            <p:nvPr/>
          </p:nvSpPr>
          <p:spPr>
            <a:xfrm>
              <a:off x="2971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70" name="Line 57"/>
            <p:cNvSpPr/>
            <p:nvPr/>
          </p:nvSpPr>
          <p:spPr>
            <a:xfrm>
              <a:off x="4014" y="1389"/>
              <a:ext cx="0" cy="122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1" name="Line 58"/>
            <p:cNvSpPr/>
            <p:nvPr/>
          </p:nvSpPr>
          <p:spPr>
            <a:xfrm>
              <a:off x="2426" y="2613"/>
              <a:ext cx="1588" cy="1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2" name="Line 59"/>
            <p:cNvSpPr/>
            <p:nvPr/>
          </p:nvSpPr>
          <p:spPr>
            <a:xfrm>
              <a:off x="2426" y="1389"/>
              <a:ext cx="545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3" name="Line 60"/>
            <p:cNvSpPr/>
            <p:nvPr/>
          </p:nvSpPr>
          <p:spPr>
            <a:xfrm>
              <a:off x="2426" y="1389"/>
              <a:ext cx="0" cy="544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74" name="Line 61"/>
            <p:cNvSpPr/>
            <p:nvPr/>
          </p:nvSpPr>
          <p:spPr>
            <a:xfrm flipV="1">
              <a:off x="2426" y="2024"/>
              <a:ext cx="0" cy="59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5075" name="Group 62"/>
            <p:cNvGrpSpPr/>
            <p:nvPr/>
          </p:nvGrpSpPr>
          <p:grpSpPr>
            <a:xfrm>
              <a:off x="2290" y="1933"/>
              <a:ext cx="318" cy="90"/>
              <a:chOff x="4059" y="1117"/>
              <a:chExt cx="318" cy="90"/>
            </a:xfrm>
          </p:grpSpPr>
          <p:sp>
            <p:nvSpPr>
              <p:cNvPr id="45092" name="Line 63"/>
              <p:cNvSpPr/>
              <p:nvPr/>
            </p:nvSpPr>
            <p:spPr>
              <a:xfrm>
                <a:off x="4059" y="111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93" name="Line 64"/>
              <p:cNvSpPr/>
              <p:nvPr/>
            </p:nvSpPr>
            <p:spPr>
              <a:xfrm>
                <a:off x="4059" y="1207"/>
                <a:ext cx="318" cy="0"/>
              </a:xfrm>
              <a:prstGeom prst="line">
                <a:avLst/>
              </a:prstGeom>
              <a:ln w="38100" cap="sq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5076" name="Text Box 65" descr="斜纹布"/>
            <p:cNvSpPr txBox="1"/>
            <p:nvPr/>
          </p:nvSpPr>
          <p:spPr>
            <a:xfrm>
              <a:off x="4014" y="1752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u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7" name="Text Box 66" descr="斜纹布"/>
            <p:cNvSpPr txBox="1"/>
            <p:nvPr/>
          </p:nvSpPr>
          <p:spPr>
            <a:xfrm>
              <a:off x="2699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k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8" name="Text Box 67" descr="斜纹布"/>
            <p:cNvSpPr txBox="1"/>
            <p:nvPr/>
          </p:nvSpPr>
          <p:spPr>
            <a:xfrm>
              <a:off x="1610" y="1797"/>
              <a:ext cx="9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4F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79" name="Line 68"/>
            <p:cNvSpPr/>
            <p:nvPr/>
          </p:nvSpPr>
          <p:spPr>
            <a:xfrm>
              <a:off x="3470" y="1343"/>
              <a:ext cx="317" cy="0"/>
            </a:xfrm>
            <a:prstGeom prst="line">
              <a:avLst/>
            </a:prstGeom>
            <a:ln w="28575" cap="sq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80" name="Text Box 69" descr="斜纹布"/>
            <p:cNvSpPr txBox="1"/>
            <p:nvPr/>
          </p:nvSpPr>
          <p:spPr>
            <a:xfrm>
              <a:off x="2562" y="1434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1" name="Text Box 70" descr="斜纹布"/>
            <p:cNvSpPr txBox="1"/>
            <p:nvPr/>
          </p:nvSpPr>
          <p:spPr>
            <a:xfrm>
              <a:off x="4014" y="1389"/>
              <a:ext cx="273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+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2" name="Text Box 71" descr="斜纹布"/>
            <p:cNvSpPr txBox="1"/>
            <p:nvPr/>
          </p:nvSpPr>
          <p:spPr>
            <a:xfrm>
              <a:off x="4060" y="2114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3" name="Text Box 72" descr="斜纹布"/>
            <p:cNvSpPr txBox="1"/>
            <p:nvPr/>
          </p:nvSpPr>
          <p:spPr>
            <a:xfrm>
              <a:off x="2562" y="2205"/>
              <a:ext cx="273" cy="365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3200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Symbol" panose="05050102010706020507" pitchFamily="18" charset="2"/>
                </a:rPr>
                <a:t>-</a:t>
              </a:r>
              <a:endParaRPr lang="en-US" altLang="zh-CN" sz="3200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4" name="Text Box 73" descr="斜纹布"/>
            <p:cNvSpPr txBox="1"/>
            <p:nvPr/>
          </p:nvSpPr>
          <p:spPr>
            <a:xfrm>
              <a:off x="3379" y="1026"/>
              <a:ext cx="45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i</a:t>
              </a:r>
              <a:endParaRPr lang="en-US" altLang="zh-CN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5" name="Text Box 74" descr="斜纹布"/>
            <p:cNvSpPr txBox="1"/>
            <p:nvPr/>
          </p:nvSpPr>
          <p:spPr>
            <a:xfrm>
              <a:off x="2653" y="1797"/>
              <a:ext cx="54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86" name="Rectangle 75"/>
            <p:cNvSpPr/>
            <p:nvPr/>
          </p:nvSpPr>
          <p:spPr>
            <a:xfrm>
              <a:off x="3969" y="1797"/>
              <a:ext cx="127" cy="318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7" name="Line 76"/>
            <p:cNvSpPr/>
            <p:nvPr/>
          </p:nvSpPr>
          <p:spPr>
            <a:xfrm>
              <a:off x="3243" y="1389"/>
              <a:ext cx="771" cy="0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88" name="Oval 77"/>
            <p:cNvSpPr/>
            <p:nvPr/>
          </p:nvSpPr>
          <p:spPr>
            <a:xfrm>
              <a:off x="3153" y="1343"/>
              <a:ext cx="71" cy="68"/>
            </a:xfrm>
            <a:prstGeom prst="ellipse">
              <a:avLst/>
            </a:prstGeom>
            <a:noFill/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5089" name="Text Box 78" descr="斜纹布"/>
            <p:cNvSpPr txBox="1"/>
            <p:nvPr/>
          </p:nvSpPr>
          <p:spPr>
            <a:xfrm>
              <a:off x="3243" y="1797"/>
              <a:ext cx="79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250k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5090" name="Line 79"/>
            <p:cNvSpPr/>
            <p:nvPr/>
          </p:nvSpPr>
          <p:spPr>
            <a:xfrm flipV="1">
              <a:off x="3017" y="1207"/>
              <a:ext cx="181" cy="136"/>
            </a:xfrm>
            <a:prstGeom prst="line">
              <a:avLst/>
            </a:prstGeom>
            <a:ln w="28575" cap="sq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5091" name="Line 80"/>
            <p:cNvSpPr/>
            <p:nvPr/>
          </p:nvSpPr>
          <p:spPr>
            <a:xfrm>
              <a:off x="3016" y="1162"/>
              <a:ext cx="182" cy="363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</p:grpSp>
      <p:graphicFrame>
        <p:nvGraphicFramePr>
          <p:cNvPr id="168020" name="Object 84"/>
          <p:cNvGraphicFramePr>
            <a:graphicFrameLocks noChangeAspect="1"/>
          </p:cNvGraphicFramePr>
          <p:nvPr/>
        </p:nvGraphicFramePr>
        <p:xfrm>
          <a:off x="1216025" y="3019425"/>
          <a:ext cx="6704013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" r:id="rId1" imgW="2368550" imgH="592455" progId="Equation.DSMT4">
                  <p:embed/>
                </p:oleObj>
              </mc:Choice>
              <mc:Fallback>
                <p:oleObj name="" r:id="rId1" imgW="2368550" imgH="592455" progId="Equation.DSMT4">
                  <p:embed/>
                  <p:pic>
                    <p:nvPicPr>
                      <p:cNvPr id="0" name="图片 316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16025" y="3019425"/>
                        <a:ext cx="6704013" cy="165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022" name="Object 86"/>
          <p:cNvGraphicFramePr>
            <a:graphicFrameLocks noChangeAspect="1"/>
          </p:cNvGraphicFramePr>
          <p:nvPr/>
        </p:nvGraphicFramePr>
        <p:xfrm>
          <a:off x="1130300" y="4675188"/>
          <a:ext cx="7097713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4" name="" r:id="rId3" imgW="2455545" imgH="592455" progId="Equation.DSMT4">
                  <p:embed/>
                </p:oleObj>
              </mc:Choice>
              <mc:Fallback>
                <p:oleObj name="" r:id="rId3" imgW="2455545" imgH="592455" progId="Equation.DSMT4">
                  <p:embed/>
                  <p:pic>
                    <p:nvPicPr>
                      <p:cNvPr id="0" name="图片 316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30300" y="4675188"/>
                        <a:ext cx="7097713" cy="165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0021" name="Object 37"/>
          <p:cNvGraphicFramePr>
            <a:graphicFrameLocks noChangeAspect="1"/>
          </p:cNvGraphicFramePr>
          <p:nvPr/>
        </p:nvGraphicFramePr>
        <p:xfrm>
          <a:off x="2484438" y="476250"/>
          <a:ext cx="4954587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" r:id="rId1" imgW="1724025" imgH="348615" progId="Equation.3">
                  <p:embed/>
                </p:oleObj>
              </mc:Choice>
              <mc:Fallback>
                <p:oleObj name="" r:id="rId1" imgW="1724025" imgH="348615" progId="Equation.3">
                  <p:embed/>
                  <p:pic>
                    <p:nvPicPr>
                      <p:cNvPr id="0" name="图片 316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4438" y="476250"/>
                        <a:ext cx="4954587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022" name="Object 38"/>
          <p:cNvGraphicFramePr>
            <a:graphicFrameLocks noChangeAspect="1"/>
          </p:cNvGraphicFramePr>
          <p:nvPr/>
        </p:nvGraphicFramePr>
        <p:xfrm>
          <a:off x="755650" y="5084763"/>
          <a:ext cx="3875088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5" name="" r:id="rId3" imgW="1306195" imgH="139065" progId="Equation.3">
                  <p:embed/>
                </p:oleObj>
              </mc:Choice>
              <mc:Fallback>
                <p:oleObj name="" r:id="rId3" imgW="1306195" imgH="139065" progId="Equation.3">
                  <p:embed/>
                  <p:pic>
                    <p:nvPicPr>
                      <p:cNvPr id="0" name="图片 3164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5084763"/>
                        <a:ext cx="3875088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23" name="Text Box 39"/>
          <p:cNvSpPr txBox="1"/>
          <p:nvPr/>
        </p:nvSpPr>
        <p:spPr>
          <a:xfrm>
            <a:off x="611188" y="765175"/>
            <a:ext cx="25209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初始储能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70024" name="Object 40"/>
          <p:cNvGraphicFramePr>
            <a:graphicFrameLocks noChangeAspect="1"/>
          </p:cNvGraphicFramePr>
          <p:nvPr/>
        </p:nvGraphicFramePr>
        <p:xfrm>
          <a:off x="2339975" y="1557338"/>
          <a:ext cx="5886450" cy="1042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6" name="" r:id="rId5" imgW="2055495" imgH="348615" progId="Equation.3">
                  <p:embed/>
                </p:oleObj>
              </mc:Choice>
              <mc:Fallback>
                <p:oleObj name="" r:id="rId5" imgW="2055495" imgH="348615" progId="Equation.3">
                  <p:embed/>
                  <p:pic>
                    <p:nvPicPr>
                      <p:cNvPr id="0" name="图片 316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339975" y="1557338"/>
                        <a:ext cx="5886450" cy="1042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25" name="Text Box 41"/>
          <p:cNvSpPr txBox="1"/>
          <p:nvPr/>
        </p:nvSpPr>
        <p:spPr>
          <a:xfrm>
            <a:off x="611188" y="2349500"/>
            <a:ext cx="25209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最终储能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70026" name="Object 42"/>
          <p:cNvGraphicFramePr>
            <a:graphicFrameLocks noChangeAspect="1"/>
          </p:cNvGraphicFramePr>
          <p:nvPr/>
        </p:nvGraphicFramePr>
        <p:xfrm>
          <a:off x="900113" y="2708275"/>
          <a:ext cx="7200900" cy="104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7" name="" r:id="rId7" imgW="2839085" imgH="348615" progId="Equation.DSMT4">
                  <p:embed/>
                </p:oleObj>
              </mc:Choice>
              <mc:Fallback>
                <p:oleObj name="" r:id="rId7" imgW="2839085" imgH="348615" progId="Equation.DSMT4">
                  <p:embed/>
                  <p:pic>
                    <p:nvPicPr>
                      <p:cNvPr id="0" name="图片 3166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00113" y="2708275"/>
                        <a:ext cx="7200900" cy="1042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0027" name="Text Box 43"/>
          <p:cNvSpPr txBox="1"/>
          <p:nvPr/>
        </p:nvSpPr>
        <p:spPr>
          <a:xfrm>
            <a:off x="611188" y="3644900"/>
            <a:ext cx="2520950" cy="52197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电阻耗能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170028" name="Object 44"/>
          <p:cNvGraphicFramePr>
            <a:graphicFrameLocks noChangeAspect="1"/>
          </p:cNvGraphicFramePr>
          <p:nvPr/>
        </p:nvGraphicFramePr>
        <p:xfrm>
          <a:off x="395288" y="4221163"/>
          <a:ext cx="8431212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9" imgW="2978150" imgH="217805" progId="Equation.3">
                  <p:embed/>
                </p:oleObj>
              </mc:Choice>
              <mc:Fallback>
                <p:oleObj name="" r:id="rId9" imgW="2978150" imgH="217805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95288" y="4221163"/>
                        <a:ext cx="8431212" cy="7445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170023" grpId="0"/>
      <p:bldP spid="170025" grpId="0"/>
      <p:bldP spid="17002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6" name="Text Box 4"/>
          <p:cNvSpPr txBox="1"/>
          <p:nvPr/>
        </p:nvSpPr>
        <p:spPr>
          <a:xfrm>
            <a:off x="539750" y="692150"/>
            <a:ext cx="4895850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2.</a:t>
            </a:r>
            <a:r>
              <a:rPr lang="en-US" altLang="zh-CN" sz="320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r>
              <a:rPr lang="zh-CN" altLang="zh-CN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电路的零输入响应</a:t>
            </a:r>
            <a:endParaRPr lang="zh-CN" altLang="en-US" sz="32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74920" name="Group 168"/>
          <p:cNvGrpSpPr/>
          <p:nvPr/>
        </p:nvGrpSpPr>
        <p:grpSpPr>
          <a:xfrm>
            <a:off x="2484438" y="2195513"/>
            <a:ext cx="3673475" cy="1728787"/>
            <a:chOff x="2835" y="1570"/>
            <a:chExt cx="2314" cy="1089"/>
          </a:xfrm>
        </p:grpSpPr>
        <p:sp>
          <p:nvSpPr>
            <p:cNvPr id="47145" name="Oval 169"/>
            <p:cNvSpPr/>
            <p:nvPr/>
          </p:nvSpPr>
          <p:spPr>
            <a:xfrm>
              <a:off x="2835" y="193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7146" name="Line 170"/>
            <p:cNvSpPr/>
            <p:nvPr/>
          </p:nvSpPr>
          <p:spPr>
            <a:xfrm>
              <a:off x="3016" y="1661"/>
              <a:ext cx="17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47" name="Line 171"/>
            <p:cNvSpPr/>
            <p:nvPr/>
          </p:nvSpPr>
          <p:spPr>
            <a:xfrm>
              <a:off x="4830" y="1661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48" name="Text Box 172"/>
            <p:cNvSpPr txBox="1"/>
            <p:nvPr/>
          </p:nvSpPr>
          <p:spPr>
            <a:xfrm>
              <a:off x="4469" y="1660"/>
              <a:ext cx="26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49" name="Text Box 173"/>
            <p:cNvSpPr txBox="1"/>
            <p:nvPr/>
          </p:nvSpPr>
          <p:spPr>
            <a:xfrm>
              <a:off x="3809" y="2035"/>
              <a:ext cx="72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50" name="Text Box 174"/>
            <p:cNvSpPr txBox="1"/>
            <p:nvPr/>
          </p:nvSpPr>
          <p:spPr>
            <a:xfrm>
              <a:off x="3154" y="1978"/>
              <a:ext cx="3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51" name="Text Box 175"/>
            <p:cNvSpPr txBox="1"/>
            <p:nvPr/>
          </p:nvSpPr>
          <p:spPr>
            <a:xfrm>
              <a:off x="4514" y="1978"/>
              <a:ext cx="22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47152" name="Group 176"/>
            <p:cNvGrpSpPr/>
            <p:nvPr/>
          </p:nvGrpSpPr>
          <p:grpSpPr>
            <a:xfrm>
              <a:off x="4831" y="1752"/>
              <a:ext cx="318" cy="765"/>
              <a:chOff x="1979" y="748"/>
              <a:chExt cx="308" cy="617"/>
            </a:xfrm>
          </p:grpSpPr>
          <p:grpSp>
            <p:nvGrpSpPr>
              <p:cNvPr id="47171" name="Group 177"/>
              <p:cNvGrpSpPr/>
              <p:nvPr/>
            </p:nvGrpSpPr>
            <p:grpSpPr>
              <a:xfrm>
                <a:off x="2071" y="748"/>
                <a:ext cx="216" cy="617"/>
                <a:chOff x="1639" y="1276"/>
                <a:chExt cx="216" cy="617"/>
              </a:xfrm>
            </p:grpSpPr>
            <p:sp>
              <p:nvSpPr>
                <p:cNvPr id="47173" name="Text Box 178"/>
                <p:cNvSpPr txBox="1"/>
                <p:nvPr/>
              </p:nvSpPr>
              <p:spPr>
                <a:xfrm>
                  <a:off x="1639" y="1276"/>
                  <a:ext cx="216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7174" name="Text Box 179"/>
                <p:cNvSpPr txBox="1"/>
                <p:nvPr/>
              </p:nvSpPr>
              <p:spPr>
                <a:xfrm>
                  <a:off x="1641" y="1659"/>
                  <a:ext cx="203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47172" name="Text Box 180"/>
              <p:cNvSpPr txBox="1"/>
              <p:nvPr/>
            </p:nvSpPr>
            <p:spPr>
              <a:xfrm>
                <a:off x="1979" y="900"/>
                <a:ext cx="302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24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47153" name="Line 181"/>
            <p:cNvSpPr/>
            <p:nvPr/>
          </p:nvSpPr>
          <p:spPr>
            <a:xfrm>
              <a:off x="3016" y="1661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4" name="Line 182"/>
            <p:cNvSpPr/>
            <p:nvPr/>
          </p:nvSpPr>
          <p:spPr>
            <a:xfrm flipV="1">
              <a:off x="3016" y="2659"/>
              <a:ext cx="17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5" name="Line 183"/>
            <p:cNvSpPr/>
            <p:nvPr/>
          </p:nvSpPr>
          <p:spPr>
            <a:xfrm flipV="1">
              <a:off x="4740" y="2341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6" name="Line 184"/>
            <p:cNvSpPr/>
            <p:nvPr/>
          </p:nvSpPr>
          <p:spPr>
            <a:xfrm>
              <a:off x="4740" y="1661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7" name="Line 185"/>
            <p:cNvSpPr/>
            <p:nvPr/>
          </p:nvSpPr>
          <p:spPr>
            <a:xfrm flipV="1">
              <a:off x="3803" y="1868"/>
              <a:ext cx="149" cy="2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8" name="Line 186"/>
            <p:cNvSpPr/>
            <p:nvPr/>
          </p:nvSpPr>
          <p:spPr>
            <a:xfrm flipH="1" flipV="1">
              <a:off x="3979" y="1890"/>
              <a:ext cx="148" cy="11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59" name="Text Box 187"/>
            <p:cNvSpPr txBox="1"/>
            <p:nvPr/>
          </p:nvSpPr>
          <p:spPr>
            <a:xfrm>
              <a:off x="4196" y="1705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60" name="Text Box 188"/>
            <p:cNvSpPr txBox="1"/>
            <p:nvPr/>
          </p:nvSpPr>
          <p:spPr>
            <a:xfrm>
              <a:off x="3290" y="1660"/>
              <a:ext cx="32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61" name="Line 189"/>
            <p:cNvSpPr/>
            <p:nvPr/>
          </p:nvSpPr>
          <p:spPr>
            <a:xfrm>
              <a:off x="3813" y="1695"/>
              <a:ext cx="0" cy="1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7162" name="Line 190"/>
            <p:cNvSpPr/>
            <p:nvPr/>
          </p:nvSpPr>
          <p:spPr>
            <a:xfrm>
              <a:off x="3803" y="2095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7163" name="Rectangle 191"/>
            <p:cNvSpPr/>
            <p:nvPr/>
          </p:nvSpPr>
          <p:spPr>
            <a:xfrm>
              <a:off x="4150" y="15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64" name="Rectangle 192"/>
            <p:cNvSpPr/>
            <p:nvPr/>
          </p:nvSpPr>
          <p:spPr>
            <a:xfrm>
              <a:off x="3243" y="15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65" name="Text Box 193"/>
            <p:cNvSpPr txBox="1"/>
            <p:nvPr/>
          </p:nvSpPr>
          <p:spPr>
            <a:xfrm>
              <a:off x="3016" y="1661"/>
              <a:ext cx="4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66" name="Text Box 194"/>
            <p:cNvSpPr txBox="1"/>
            <p:nvPr/>
          </p:nvSpPr>
          <p:spPr>
            <a:xfrm>
              <a:off x="3016" y="2296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7167" name="Group 195"/>
            <p:cNvGrpSpPr/>
            <p:nvPr/>
          </p:nvGrpSpPr>
          <p:grpSpPr>
            <a:xfrm>
              <a:off x="4740" y="1979"/>
              <a:ext cx="91" cy="363"/>
              <a:chOff x="2744" y="2931"/>
              <a:chExt cx="57" cy="283"/>
            </a:xfrm>
          </p:grpSpPr>
          <p:sp>
            <p:nvSpPr>
              <p:cNvPr id="47168" name="Arc 196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9" name="Arc 197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70" name="Arc 198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7475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4765" name="Object 13"/>
          <p:cNvGraphicFramePr>
            <a:graphicFrameLocks noChangeAspect="1"/>
          </p:cNvGraphicFramePr>
          <p:nvPr/>
        </p:nvGraphicFramePr>
        <p:xfrm>
          <a:off x="4499610" y="3432175"/>
          <a:ext cx="44069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" imgW="1724025" imgH="348615" progId="Equation.3">
                  <p:embed/>
                </p:oleObj>
              </mc:Choice>
              <mc:Fallback>
                <p:oleObj name="" r:id="rId1" imgW="1724025" imgH="348615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499610" y="3432175"/>
                        <a:ext cx="4406900" cy="995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4"/>
          <p:cNvGraphicFramePr>
            <a:graphicFrameLocks noChangeAspect="1"/>
          </p:cNvGraphicFramePr>
          <p:nvPr/>
        </p:nvGraphicFramePr>
        <p:xfrm>
          <a:off x="4571683" y="1611630"/>
          <a:ext cx="40608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3" imgW="1358265" imgH="348615" progId="Equation.3">
                  <p:embed/>
                </p:oleObj>
              </mc:Choice>
              <mc:Fallback>
                <p:oleObj name="" r:id="rId3" imgW="1358265" imgH="348615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571683" y="1611630"/>
                        <a:ext cx="4060825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4819" name="Group 67"/>
          <p:cNvGrpSpPr/>
          <p:nvPr/>
        </p:nvGrpSpPr>
        <p:grpSpPr>
          <a:xfrm>
            <a:off x="2411730" y="2711450"/>
            <a:ext cx="1003300" cy="811213"/>
            <a:chOff x="1520" y="1706"/>
            <a:chExt cx="755" cy="511"/>
          </a:xfrm>
        </p:grpSpPr>
        <p:sp>
          <p:nvSpPr>
            <p:cNvPr id="47179" name="AutoShape 64"/>
            <p:cNvSpPr/>
            <p:nvPr/>
          </p:nvSpPr>
          <p:spPr>
            <a:xfrm>
              <a:off x="1520" y="1706"/>
              <a:ext cx="181" cy="454"/>
            </a:xfrm>
            <a:prstGeom prst="downArrow">
              <a:avLst>
                <a:gd name="adj1" fmla="val 50000"/>
                <a:gd name="adj2" fmla="val 62707"/>
              </a:avLst>
            </a:prstGeom>
            <a:solidFill>
              <a:srgbClr val="0099FF"/>
            </a:solidFill>
            <a:ln w="9525">
              <a:noFill/>
            </a:ln>
          </p:spPr>
          <p:txBody>
            <a:bodyPr vert="eaVert"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80" name="Text Box 65"/>
            <p:cNvSpPr txBox="1"/>
            <p:nvPr/>
          </p:nvSpPr>
          <p:spPr>
            <a:xfrm>
              <a:off x="1650" y="1849"/>
              <a:ext cx="625" cy="368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 &gt;0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74920" name="Group 168"/>
          <p:cNvGrpSpPr/>
          <p:nvPr/>
        </p:nvGrpSpPr>
        <p:grpSpPr>
          <a:xfrm>
            <a:off x="467043" y="766763"/>
            <a:ext cx="3673475" cy="1728787"/>
            <a:chOff x="2835" y="1570"/>
            <a:chExt cx="2314" cy="1089"/>
          </a:xfrm>
        </p:grpSpPr>
        <p:sp>
          <p:nvSpPr>
            <p:cNvPr id="47145" name="Oval 169"/>
            <p:cNvSpPr/>
            <p:nvPr/>
          </p:nvSpPr>
          <p:spPr>
            <a:xfrm>
              <a:off x="2835" y="1933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en-US" sz="2400" b="0" dirty="0">
                <a:latin typeface="Arial" panose="020B0604020202020204" pitchFamily="34" charset="0"/>
                <a:ea typeface="仿宋_GB2312" pitchFamily="49" charset="-122"/>
              </a:endParaRPr>
            </a:p>
          </p:txBody>
        </p:sp>
        <p:sp>
          <p:nvSpPr>
            <p:cNvPr id="47146" name="Line 170"/>
            <p:cNvSpPr/>
            <p:nvPr/>
          </p:nvSpPr>
          <p:spPr>
            <a:xfrm>
              <a:off x="3016" y="1661"/>
              <a:ext cx="17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47" name="Line 171"/>
            <p:cNvSpPr/>
            <p:nvPr/>
          </p:nvSpPr>
          <p:spPr>
            <a:xfrm>
              <a:off x="4830" y="1661"/>
              <a:ext cx="0" cy="272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48" name="Text Box 172"/>
            <p:cNvSpPr txBox="1"/>
            <p:nvPr/>
          </p:nvSpPr>
          <p:spPr>
            <a:xfrm>
              <a:off x="4469" y="1660"/>
              <a:ext cx="266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49" name="Text Box 173"/>
            <p:cNvSpPr txBox="1"/>
            <p:nvPr/>
          </p:nvSpPr>
          <p:spPr>
            <a:xfrm>
              <a:off x="3809" y="2035"/>
              <a:ext cx="72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50" name="Text Box 174"/>
            <p:cNvSpPr txBox="1"/>
            <p:nvPr/>
          </p:nvSpPr>
          <p:spPr>
            <a:xfrm>
              <a:off x="3154" y="1978"/>
              <a:ext cx="35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51" name="Text Box 175"/>
            <p:cNvSpPr txBox="1"/>
            <p:nvPr/>
          </p:nvSpPr>
          <p:spPr>
            <a:xfrm>
              <a:off x="4514" y="1978"/>
              <a:ext cx="22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47152" name="Group 176"/>
            <p:cNvGrpSpPr/>
            <p:nvPr/>
          </p:nvGrpSpPr>
          <p:grpSpPr>
            <a:xfrm>
              <a:off x="4831" y="1752"/>
              <a:ext cx="318" cy="765"/>
              <a:chOff x="1979" y="748"/>
              <a:chExt cx="308" cy="617"/>
            </a:xfrm>
          </p:grpSpPr>
          <p:grpSp>
            <p:nvGrpSpPr>
              <p:cNvPr id="47171" name="Group 177"/>
              <p:cNvGrpSpPr/>
              <p:nvPr/>
            </p:nvGrpSpPr>
            <p:grpSpPr>
              <a:xfrm>
                <a:off x="2071" y="748"/>
                <a:ext cx="216" cy="617"/>
                <a:chOff x="1639" y="1276"/>
                <a:chExt cx="216" cy="617"/>
              </a:xfrm>
            </p:grpSpPr>
            <p:sp>
              <p:nvSpPr>
                <p:cNvPr id="47173" name="Text Box 178"/>
                <p:cNvSpPr txBox="1"/>
                <p:nvPr/>
              </p:nvSpPr>
              <p:spPr>
                <a:xfrm>
                  <a:off x="1639" y="1276"/>
                  <a:ext cx="216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7174" name="Text Box 179"/>
                <p:cNvSpPr txBox="1"/>
                <p:nvPr/>
              </p:nvSpPr>
              <p:spPr>
                <a:xfrm>
                  <a:off x="1641" y="1659"/>
                  <a:ext cx="203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b="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47172" name="Text Box 180"/>
              <p:cNvSpPr txBox="1"/>
              <p:nvPr/>
            </p:nvSpPr>
            <p:spPr>
              <a:xfrm>
                <a:off x="1979" y="900"/>
                <a:ext cx="302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24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24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47153" name="Line 181"/>
            <p:cNvSpPr/>
            <p:nvPr/>
          </p:nvSpPr>
          <p:spPr>
            <a:xfrm>
              <a:off x="3016" y="1661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4" name="Line 182"/>
            <p:cNvSpPr/>
            <p:nvPr/>
          </p:nvSpPr>
          <p:spPr>
            <a:xfrm flipV="1">
              <a:off x="3016" y="2659"/>
              <a:ext cx="172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5" name="Line 183"/>
            <p:cNvSpPr/>
            <p:nvPr/>
          </p:nvSpPr>
          <p:spPr>
            <a:xfrm flipV="1">
              <a:off x="4740" y="2341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6" name="Line 184"/>
            <p:cNvSpPr/>
            <p:nvPr/>
          </p:nvSpPr>
          <p:spPr>
            <a:xfrm>
              <a:off x="4740" y="1661"/>
              <a:ext cx="0" cy="31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7" name="Line 185"/>
            <p:cNvSpPr/>
            <p:nvPr/>
          </p:nvSpPr>
          <p:spPr>
            <a:xfrm flipV="1">
              <a:off x="3803" y="1868"/>
              <a:ext cx="149" cy="23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58" name="Line 186"/>
            <p:cNvSpPr/>
            <p:nvPr/>
          </p:nvSpPr>
          <p:spPr>
            <a:xfrm flipH="1" flipV="1">
              <a:off x="3979" y="1890"/>
              <a:ext cx="148" cy="11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59" name="Text Box 187"/>
            <p:cNvSpPr txBox="1"/>
            <p:nvPr/>
          </p:nvSpPr>
          <p:spPr>
            <a:xfrm>
              <a:off x="4196" y="1705"/>
              <a:ext cx="25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60" name="Text Box 188"/>
            <p:cNvSpPr txBox="1"/>
            <p:nvPr/>
          </p:nvSpPr>
          <p:spPr>
            <a:xfrm>
              <a:off x="3290" y="1660"/>
              <a:ext cx="325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61" name="Line 189"/>
            <p:cNvSpPr/>
            <p:nvPr/>
          </p:nvSpPr>
          <p:spPr>
            <a:xfrm>
              <a:off x="3813" y="1695"/>
              <a:ext cx="0" cy="18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7162" name="Line 190"/>
            <p:cNvSpPr/>
            <p:nvPr/>
          </p:nvSpPr>
          <p:spPr>
            <a:xfrm>
              <a:off x="3803" y="2095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47163" name="Rectangle 191"/>
            <p:cNvSpPr/>
            <p:nvPr/>
          </p:nvSpPr>
          <p:spPr>
            <a:xfrm>
              <a:off x="4150" y="15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64" name="Rectangle 192"/>
            <p:cNvSpPr/>
            <p:nvPr/>
          </p:nvSpPr>
          <p:spPr>
            <a:xfrm>
              <a:off x="3243" y="1570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7165" name="Text Box 193"/>
            <p:cNvSpPr txBox="1"/>
            <p:nvPr/>
          </p:nvSpPr>
          <p:spPr>
            <a:xfrm>
              <a:off x="3016" y="1661"/>
              <a:ext cx="499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66" name="Text Box 194"/>
            <p:cNvSpPr txBox="1"/>
            <p:nvPr/>
          </p:nvSpPr>
          <p:spPr>
            <a:xfrm>
              <a:off x="3016" y="2296"/>
              <a:ext cx="49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b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pSp>
          <p:nvGrpSpPr>
            <p:cNvPr id="47167" name="Group 195"/>
            <p:cNvGrpSpPr/>
            <p:nvPr/>
          </p:nvGrpSpPr>
          <p:grpSpPr>
            <a:xfrm>
              <a:off x="4740" y="1979"/>
              <a:ext cx="91" cy="363"/>
              <a:chOff x="2744" y="2931"/>
              <a:chExt cx="57" cy="283"/>
            </a:xfrm>
          </p:grpSpPr>
          <p:sp>
            <p:nvSpPr>
              <p:cNvPr id="47168" name="Arc 196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69" name="Arc 197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70" name="Arc 198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grpSp>
        <p:nvGrpSpPr>
          <p:cNvPr id="74951" name="Group 199"/>
          <p:cNvGrpSpPr/>
          <p:nvPr/>
        </p:nvGrpSpPr>
        <p:grpSpPr>
          <a:xfrm>
            <a:off x="1619568" y="3356806"/>
            <a:ext cx="2493962" cy="1880738"/>
            <a:chOff x="3969" y="2159"/>
            <a:chExt cx="1571" cy="1185"/>
          </a:xfrm>
        </p:grpSpPr>
        <p:grpSp>
          <p:nvGrpSpPr>
            <p:cNvPr id="47125" name="Group 200"/>
            <p:cNvGrpSpPr/>
            <p:nvPr/>
          </p:nvGrpSpPr>
          <p:grpSpPr>
            <a:xfrm>
              <a:off x="4740" y="2159"/>
              <a:ext cx="272" cy="410"/>
              <a:chOff x="1872" y="490"/>
              <a:chExt cx="240" cy="278"/>
            </a:xfrm>
          </p:grpSpPr>
          <p:sp>
            <p:nvSpPr>
              <p:cNvPr id="47143" name="Line 201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7144" name="Text Box 202"/>
              <p:cNvSpPr txBox="1"/>
              <p:nvPr/>
            </p:nvSpPr>
            <p:spPr>
              <a:xfrm>
                <a:off x="1882" y="490"/>
                <a:ext cx="164" cy="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47126" name="Text Box 203"/>
            <p:cNvSpPr txBox="1"/>
            <p:nvPr/>
          </p:nvSpPr>
          <p:spPr>
            <a:xfrm>
              <a:off x="4922" y="2805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47127" name="Group 204"/>
            <p:cNvGrpSpPr/>
            <p:nvPr/>
          </p:nvGrpSpPr>
          <p:grpSpPr>
            <a:xfrm>
              <a:off x="5205" y="2578"/>
              <a:ext cx="335" cy="765"/>
              <a:chOff x="1969" y="748"/>
              <a:chExt cx="325" cy="617"/>
            </a:xfrm>
          </p:grpSpPr>
          <p:grpSp>
            <p:nvGrpSpPr>
              <p:cNvPr id="47139" name="Group 205"/>
              <p:cNvGrpSpPr/>
              <p:nvPr/>
            </p:nvGrpSpPr>
            <p:grpSpPr>
              <a:xfrm>
                <a:off x="2069" y="748"/>
                <a:ext cx="218" cy="617"/>
                <a:chOff x="1637" y="1276"/>
                <a:chExt cx="218" cy="617"/>
              </a:xfrm>
            </p:grpSpPr>
            <p:sp>
              <p:nvSpPr>
                <p:cNvPr id="47141" name="Text Box 206"/>
                <p:cNvSpPr txBox="1"/>
                <p:nvPr/>
              </p:nvSpPr>
              <p:spPr>
                <a:xfrm>
                  <a:off x="1637" y="1276"/>
                  <a:ext cx="218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7142" name="Text Box 207"/>
                <p:cNvSpPr txBox="1"/>
                <p:nvPr/>
              </p:nvSpPr>
              <p:spPr>
                <a:xfrm>
                  <a:off x="1639" y="1659"/>
                  <a:ext cx="205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47140" name="Text Box 208"/>
              <p:cNvSpPr txBox="1"/>
              <p:nvPr/>
            </p:nvSpPr>
            <p:spPr>
              <a:xfrm>
                <a:off x="1969" y="899"/>
                <a:ext cx="325" cy="29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32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47128" name="Line 209"/>
            <p:cNvSpPr/>
            <p:nvPr/>
          </p:nvSpPr>
          <p:spPr>
            <a:xfrm flipV="1">
              <a:off x="5148" y="3067"/>
              <a:ext cx="0" cy="2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29" name="Text Box 210"/>
            <p:cNvSpPr txBox="1"/>
            <p:nvPr/>
          </p:nvSpPr>
          <p:spPr>
            <a:xfrm>
              <a:off x="4246" y="2624"/>
              <a:ext cx="23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7130" name="Line 211"/>
            <p:cNvSpPr/>
            <p:nvPr/>
          </p:nvSpPr>
          <p:spPr>
            <a:xfrm>
              <a:off x="3969" y="3305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1" name="Line 212"/>
            <p:cNvSpPr/>
            <p:nvPr/>
          </p:nvSpPr>
          <p:spPr>
            <a:xfrm>
              <a:off x="3969" y="2523"/>
              <a:ext cx="0" cy="7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2" name="Line 213"/>
            <p:cNvSpPr/>
            <p:nvPr/>
          </p:nvSpPr>
          <p:spPr>
            <a:xfrm>
              <a:off x="3969" y="2523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7133" name="Line 214"/>
            <p:cNvSpPr/>
            <p:nvPr/>
          </p:nvSpPr>
          <p:spPr>
            <a:xfrm>
              <a:off x="5148" y="2522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7134" name="Group 215"/>
            <p:cNvGrpSpPr/>
            <p:nvPr/>
          </p:nvGrpSpPr>
          <p:grpSpPr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47136" name="Arc 216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7" name="Arc 217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7138" name="Arc 218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7135" name="Rectangle 219"/>
            <p:cNvSpPr/>
            <p:nvPr/>
          </p:nvSpPr>
          <p:spPr>
            <a:xfrm>
              <a:off x="4241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7" name="Text Box 5"/>
          <p:cNvSpPr txBox="1"/>
          <p:nvPr/>
        </p:nvSpPr>
        <p:spPr>
          <a:xfrm>
            <a:off x="1663065" y="2709228"/>
            <a:ext cx="37449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特征方程</a:t>
            </a:r>
            <a:r>
              <a:rPr lang="zh-CN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Lp+R=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74813" name="Group 61"/>
          <p:cNvGrpSpPr/>
          <p:nvPr/>
        </p:nvGrpSpPr>
        <p:grpSpPr>
          <a:xfrm>
            <a:off x="1663065" y="3256915"/>
            <a:ext cx="3024188" cy="1108075"/>
            <a:chOff x="2744" y="2040"/>
            <a:chExt cx="1905" cy="698"/>
          </a:xfrm>
        </p:grpSpPr>
        <p:graphicFrame>
          <p:nvGraphicFramePr>
            <p:cNvPr id="47181" name="Object 7"/>
            <p:cNvGraphicFramePr>
              <a:graphicFrameLocks noChangeAspect="1"/>
            </p:cNvGraphicFramePr>
            <p:nvPr/>
          </p:nvGraphicFramePr>
          <p:xfrm>
            <a:off x="3579" y="2040"/>
            <a:ext cx="1070" cy="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" imgW="478790" imgH="348615" progId="Equation.3">
                    <p:embed/>
                  </p:oleObj>
                </mc:Choice>
                <mc:Fallback>
                  <p:oleObj name="" r:id="rId1" imgW="478790" imgH="348615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79" y="2040"/>
                          <a:ext cx="1070" cy="6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82" name="Text Box 8"/>
            <p:cNvSpPr txBox="1"/>
            <p:nvPr/>
          </p:nvSpPr>
          <p:spPr>
            <a:xfrm>
              <a:off x="2744" y="2296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特征根 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74765" name="Object 13"/>
          <p:cNvGraphicFramePr>
            <a:graphicFrameLocks noChangeAspect="1"/>
          </p:cNvGraphicFramePr>
          <p:nvPr/>
        </p:nvGraphicFramePr>
        <p:xfrm>
          <a:off x="1691640" y="764540"/>
          <a:ext cx="4406900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3" imgW="1724025" imgH="348615" progId="Equation.3">
                  <p:embed/>
                </p:oleObj>
              </mc:Choice>
              <mc:Fallback>
                <p:oleObj name="" r:id="rId3" imgW="1724025" imgH="348615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91640" y="764540"/>
                        <a:ext cx="4406900" cy="995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66" name="Object 14"/>
          <p:cNvGraphicFramePr>
            <a:graphicFrameLocks noChangeAspect="1"/>
          </p:cNvGraphicFramePr>
          <p:nvPr/>
        </p:nvGraphicFramePr>
        <p:xfrm>
          <a:off x="1591628" y="1701165"/>
          <a:ext cx="40608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5" imgW="1358265" imgH="348615" progId="Equation.3">
                  <p:embed/>
                </p:oleObj>
              </mc:Choice>
              <mc:Fallback>
                <p:oleObj name="" r:id="rId5" imgW="1358265" imgH="348615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591628" y="1701165"/>
                        <a:ext cx="4060825" cy="1014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11" name="Object 59"/>
          <p:cNvGraphicFramePr>
            <a:graphicFrameLocks noChangeAspect="1"/>
          </p:cNvGraphicFramePr>
          <p:nvPr/>
        </p:nvGraphicFramePr>
        <p:xfrm>
          <a:off x="4965065" y="3572828"/>
          <a:ext cx="21082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7" imgW="670560" imgH="173990" progId="Equation.3">
                  <p:embed/>
                </p:oleObj>
              </mc:Choice>
              <mc:Fallback>
                <p:oleObj name="" r:id="rId7" imgW="670560" imgH="17399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965065" y="3572828"/>
                        <a:ext cx="2108200" cy="661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7475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7" name="Text Box 5"/>
          <p:cNvSpPr txBox="1"/>
          <p:nvPr/>
        </p:nvSpPr>
        <p:spPr>
          <a:xfrm>
            <a:off x="1475740" y="1411923"/>
            <a:ext cx="3744913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特征方程</a:t>
            </a:r>
            <a:r>
              <a:rPr lang="zh-CN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Lp+R=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74813" name="Group 61"/>
          <p:cNvGrpSpPr/>
          <p:nvPr/>
        </p:nvGrpSpPr>
        <p:grpSpPr>
          <a:xfrm>
            <a:off x="1475740" y="1959610"/>
            <a:ext cx="3024188" cy="1108075"/>
            <a:chOff x="2744" y="2040"/>
            <a:chExt cx="1905" cy="698"/>
          </a:xfrm>
        </p:grpSpPr>
        <p:graphicFrame>
          <p:nvGraphicFramePr>
            <p:cNvPr id="47181" name="Object 7"/>
            <p:cNvGraphicFramePr>
              <a:graphicFrameLocks noChangeAspect="1"/>
            </p:cNvGraphicFramePr>
            <p:nvPr/>
          </p:nvGraphicFramePr>
          <p:xfrm>
            <a:off x="3579" y="2040"/>
            <a:ext cx="1070" cy="6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37" name="" r:id="rId1" imgW="478790" imgH="348615" progId="Equation.3">
                    <p:embed/>
                  </p:oleObj>
                </mc:Choice>
                <mc:Fallback>
                  <p:oleObj name="" r:id="rId1" imgW="478790" imgH="348615" progId="Equation.3">
                    <p:embed/>
                    <p:pic>
                      <p:nvPicPr>
                        <p:cNvPr id="0" name="图片 3136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79" y="2040"/>
                          <a:ext cx="1070" cy="6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82" name="Text Box 8"/>
            <p:cNvSpPr txBox="1"/>
            <p:nvPr/>
          </p:nvSpPr>
          <p:spPr>
            <a:xfrm>
              <a:off x="2744" y="2296"/>
              <a:ext cx="816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特征根 </a:t>
              </a:r>
              <a:endParaRPr lang="zh-CN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74761" name="Text Box 9"/>
          <p:cNvSpPr txBox="1"/>
          <p:nvPr/>
        </p:nvSpPr>
        <p:spPr>
          <a:xfrm>
            <a:off x="1474153" y="3066257"/>
            <a:ext cx="23050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代入初始值</a:t>
            </a:r>
            <a:endParaRPr lang="zh-CN" altLang="en-US" sz="240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4762" name="Text Box 10"/>
          <p:cNvSpPr txBox="1"/>
          <p:nvPr/>
        </p:nvSpPr>
        <p:spPr>
          <a:xfrm>
            <a:off x="4419441" y="3065622"/>
            <a:ext cx="2302510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A=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4811" name="Object 59"/>
          <p:cNvGraphicFramePr>
            <a:graphicFrameLocks noChangeAspect="1"/>
          </p:cNvGraphicFramePr>
          <p:nvPr/>
        </p:nvGraphicFramePr>
        <p:xfrm>
          <a:off x="4777740" y="2275523"/>
          <a:ext cx="21082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3" imgW="670560" imgH="173990" progId="Equation.3">
                  <p:embed/>
                </p:oleObj>
              </mc:Choice>
              <mc:Fallback>
                <p:oleObj name="" r:id="rId3" imgW="670560" imgH="17399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77740" y="2275523"/>
                        <a:ext cx="2108200" cy="6619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12" name="Object 60"/>
          <p:cNvGraphicFramePr>
            <a:graphicFrameLocks noChangeAspect="1"/>
          </p:cNvGraphicFramePr>
          <p:nvPr/>
        </p:nvGraphicFramePr>
        <p:xfrm>
          <a:off x="2483803" y="3715385"/>
          <a:ext cx="48768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5" imgW="1637030" imgH="252730" progId="Equation.3">
                  <p:embed/>
                </p:oleObj>
              </mc:Choice>
              <mc:Fallback>
                <p:oleObj name="" r:id="rId5" imgW="1637030" imgH="25273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483803" y="3715385"/>
                        <a:ext cx="4876800" cy="9255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814" name="AutoShape 62"/>
          <p:cNvSpPr/>
          <p:nvPr/>
        </p:nvSpPr>
        <p:spPr>
          <a:xfrm>
            <a:off x="3707765" y="3283585"/>
            <a:ext cx="649288" cy="144463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4879" name="AutoShape 127"/>
          <p:cNvSpPr/>
          <p:nvPr/>
        </p:nvSpPr>
        <p:spPr>
          <a:xfrm>
            <a:off x="1620203" y="4075748"/>
            <a:ext cx="649287" cy="144462"/>
          </a:xfrm>
          <a:prstGeom prst="rightArrow">
            <a:avLst>
              <a:gd name="adj1" fmla="val 50000"/>
              <a:gd name="adj2" fmla="val 112362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4757" grpId="0"/>
      <p:bldP spid="74761" grpId="0" build="p"/>
      <p:bldP spid="74762" grpId="0" build="p"/>
      <p:bldP spid="74814" grpId="0" animBg="1"/>
      <p:bldP spid="748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3666" name="Object 2"/>
          <p:cNvGraphicFramePr>
            <a:graphicFrameLocks noChangeAspect="1"/>
          </p:cNvGraphicFramePr>
          <p:nvPr/>
        </p:nvGraphicFramePr>
        <p:xfrm>
          <a:off x="1476375" y="1773238"/>
          <a:ext cx="4908550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" r:id="rId1" imgW="1724025" imgH="348615" progId="Equation.3">
                  <p:embed/>
                </p:oleObj>
              </mc:Choice>
              <mc:Fallback>
                <p:oleObj name="" r:id="rId1" imgW="1724025" imgH="348615" progId="Equation.3">
                  <p:embed/>
                  <p:pic>
                    <p:nvPicPr>
                      <p:cNvPr id="0" name="图片 3169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1773238"/>
                        <a:ext cx="4908550" cy="1065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7" name="Object 3"/>
          <p:cNvGraphicFramePr>
            <a:graphicFrameLocks noChangeAspect="1"/>
          </p:cNvGraphicFramePr>
          <p:nvPr/>
        </p:nvGraphicFramePr>
        <p:xfrm>
          <a:off x="1331913" y="549275"/>
          <a:ext cx="4313237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" r:id="rId3" imgW="1271270" imgH="252730" progId="Equation.3">
                  <p:embed/>
                </p:oleObj>
              </mc:Choice>
              <mc:Fallback>
                <p:oleObj name="" r:id="rId3" imgW="1271270" imgH="252730" progId="Equation.3">
                  <p:embed/>
                  <p:pic>
                    <p:nvPicPr>
                      <p:cNvPr id="0" name="图片 316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990033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49275"/>
                        <a:ext cx="4313237" cy="1104900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chemeClr val="accent1"/>
                          </a:gs>
                          <a:gs pos="100000">
                            <a:schemeClr val="bg1"/>
                          </a:gs>
                        </a:gsLst>
                        <a:lin ang="5400000" scaled="1"/>
                        <a:tileRect/>
                      </a:gra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3743" name="Group 79"/>
          <p:cNvGrpSpPr/>
          <p:nvPr/>
        </p:nvGrpSpPr>
        <p:grpSpPr>
          <a:xfrm>
            <a:off x="900113" y="3963988"/>
            <a:ext cx="2790824" cy="2098674"/>
            <a:chOff x="567" y="2497"/>
            <a:chExt cx="1758" cy="1322"/>
          </a:xfrm>
        </p:grpSpPr>
        <p:sp>
          <p:nvSpPr>
            <p:cNvPr id="48180" name="Text Box 14"/>
            <p:cNvSpPr txBox="1"/>
            <p:nvPr/>
          </p:nvSpPr>
          <p:spPr>
            <a:xfrm>
              <a:off x="2147" y="3490"/>
              <a:ext cx="17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8181" name="Line 15"/>
            <p:cNvSpPr/>
            <p:nvPr/>
          </p:nvSpPr>
          <p:spPr>
            <a:xfrm>
              <a:off x="775" y="3479"/>
              <a:ext cx="1527" cy="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82" name="Line 16"/>
            <p:cNvSpPr/>
            <p:nvPr/>
          </p:nvSpPr>
          <p:spPr>
            <a:xfrm flipV="1">
              <a:off x="993" y="2602"/>
              <a:ext cx="0" cy="1170"/>
            </a:xfrm>
            <a:prstGeom prst="line">
              <a:avLst/>
            </a:prstGeom>
            <a:ln w="2857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8183" name="Freeform 17"/>
            <p:cNvSpPr/>
            <p:nvPr/>
          </p:nvSpPr>
          <p:spPr>
            <a:xfrm>
              <a:off x="993" y="2894"/>
              <a:ext cx="1146" cy="52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83" y="2138"/>
                </a:cxn>
                <a:cxn ang="0">
                  <a:pos x="2758" y="3417"/>
                </a:cxn>
                <a:cxn ang="0">
                  <a:pos x="4135" y="3844"/>
                </a:cxn>
              </a:cxnLst>
              <a:pathLst>
                <a:path w="1008" h="432">
                  <a:moveTo>
                    <a:pt x="0" y="0"/>
                  </a:moveTo>
                  <a:cubicBezTo>
                    <a:pt x="64" y="88"/>
                    <a:pt x="128" y="176"/>
                    <a:pt x="240" y="240"/>
                  </a:cubicBezTo>
                  <a:cubicBezTo>
                    <a:pt x="352" y="304"/>
                    <a:pt x="544" y="352"/>
                    <a:pt x="672" y="384"/>
                  </a:cubicBezTo>
                  <a:cubicBezTo>
                    <a:pt x="800" y="416"/>
                    <a:pt x="952" y="424"/>
                    <a:pt x="1008" y="432"/>
                  </a:cubicBezTo>
                </a:path>
              </a:pathLst>
            </a:custGeom>
            <a:noFill/>
            <a:ln w="28575" cap="flat" cmpd="sng">
              <a:solidFill>
                <a:srgbClr val="FF33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184" name="Text Box 18"/>
            <p:cNvSpPr txBox="1"/>
            <p:nvPr/>
          </p:nvSpPr>
          <p:spPr>
            <a:xfrm>
              <a:off x="567" y="2555"/>
              <a:ext cx="402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8185" name="Text Box 19"/>
            <p:cNvSpPr txBox="1"/>
            <p:nvPr/>
          </p:nvSpPr>
          <p:spPr>
            <a:xfrm>
              <a:off x="1070" y="2497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8186" name="Text Box 20"/>
            <p:cNvSpPr txBox="1"/>
            <p:nvPr/>
          </p:nvSpPr>
          <p:spPr>
            <a:xfrm>
              <a:off x="781" y="3433"/>
              <a:ext cx="22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8187" name="Line 21"/>
            <p:cNvSpPr/>
            <p:nvPr/>
          </p:nvSpPr>
          <p:spPr>
            <a:xfrm flipV="1">
              <a:off x="703" y="2886"/>
              <a:ext cx="291" cy="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113686" name="AutoShape 22" descr="羊皮纸"/>
          <p:cNvSpPr/>
          <p:nvPr/>
        </p:nvSpPr>
        <p:spPr>
          <a:xfrm>
            <a:off x="3492500" y="4076700"/>
            <a:ext cx="1223963" cy="1081088"/>
          </a:xfrm>
          <a:prstGeom prst="wedgeRoundRectCallout">
            <a:avLst>
              <a:gd name="adj1" fmla="val -189819"/>
              <a:gd name="adj2" fmla="val -4625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连续函数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3687" name="AutoShape 23" descr="羊皮纸"/>
          <p:cNvSpPr/>
          <p:nvPr/>
        </p:nvSpPr>
        <p:spPr>
          <a:xfrm>
            <a:off x="7596188" y="5300663"/>
            <a:ext cx="1079500" cy="649287"/>
          </a:xfrm>
          <a:prstGeom prst="wedgeRoundRectCallout">
            <a:avLst>
              <a:gd name="adj1" fmla="val -235588"/>
              <a:gd name="adj2" fmla="val -133861"/>
              <a:gd name="adj3" fmla="val 16667"/>
            </a:avLst>
          </a:prstGeom>
          <a:blipFill rotWithShape="1">
            <a:blip r:embed="rId5"/>
          </a:blipFill>
          <a:ln w="9525">
            <a:noFill/>
          </a:ln>
        </p:spPr>
        <p:txBody>
          <a:bodyPr/>
          <a:p>
            <a:pPr algn="ctr" eaLnBrk="1" hangingPunct="1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跃变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3688" name="Text Box 24"/>
          <p:cNvSpPr txBox="1"/>
          <p:nvPr/>
        </p:nvSpPr>
        <p:spPr>
          <a:xfrm>
            <a:off x="539750" y="3283109"/>
            <a:ext cx="86042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电压、电流是随时间按同一指数规律衰减的函数；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113696" name="Group 32"/>
          <p:cNvGrpSpPr/>
          <p:nvPr/>
        </p:nvGrpSpPr>
        <p:grpSpPr>
          <a:xfrm>
            <a:off x="611188" y="2565400"/>
            <a:ext cx="1643063" cy="850900"/>
            <a:chOff x="385" y="3022"/>
            <a:chExt cx="1035" cy="536"/>
          </a:xfrm>
        </p:grpSpPr>
        <p:pic>
          <p:nvPicPr>
            <p:cNvPr id="48174" name="Picture 33" descr="12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48175" name="Text Box 34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表明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113700" name="Group 36"/>
          <p:cNvGrpSpPr/>
          <p:nvPr/>
        </p:nvGrpSpPr>
        <p:grpSpPr>
          <a:xfrm>
            <a:off x="4745667" y="3931707"/>
            <a:ext cx="3066421" cy="1991256"/>
            <a:chOff x="2989" y="2584"/>
            <a:chExt cx="1932" cy="1254"/>
          </a:xfrm>
        </p:grpSpPr>
        <p:grpSp>
          <p:nvGrpSpPr>
            <p:cNvPr id="48164" name="Group 4"/>
            <p:cNvGrpSpPr/>
            <p:nvPr/>
          </p:nvGrpSpPr>
          <p:grpSpPr>
            <a:xfrm>
              <a:off x="2989" y="2584"/>
              <a:ext cx="1932" cy="1254"/>
              <a:chOff x="3612" y="1140"/>
              <a:chExt cx="1612" cy="940"/>
            </a:xfrm>
          </p:grpSpPr>
          <p:sp>
            <p:nvSpPr>
              <p:cNvPr id="48166" name="Line 5"/>
              <p:cNvSpPr/>
              <p:nvPr/>
            </p:nvSpPr>
            <p:spPr>
              <a:xfrm>
                <a:off x="3880" y="1504"/>
                <a:ext cx="1344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8167" name="Line 6"/>
              <p:cNvSpPr/>
              <p:nvPr/>
            </p:nvSpPr>
            <p:spPr>
              <a:xfrm flipV="1">
                <a:off x="4024" y="1264"/>
                <a:ext cx="0" cy="816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8168" name="Freeform 7"/>
              <p:cNvSpPr/>
              <p:nvPr/>
            </p:nvSpPr>
            <p:spPr>
              <a:xfrm>
                <a:off x="4024" y="1552"/>
                <a:ext cx="912" cy="336"/>
              </a:xfrm>
              <a:custGeom>
                <a:avLst/>
                <a:gdLst/>
                <a:ahLst/>
                <a:cxnLst>
                  <a:cxn ang="0">
                    <a:pos x="0" y="336"/>
                  </a:cxn>
                  <a:cxn ang="0">
                    <a:pos x="250" y="115"/>
                  </a:cxn>
                  <a:cxn ang="0">
                    <a:pos x="528" y="19"/>
                  </a:cxn>
                  <a:cxn ang="0">
                    <a:pos x="912" y="0"/>
                  </a:cxn>
                </a:cxnLst>
                <a:pathLst>
                  <a:path w="912" h="336">
                    <a:moveTo>
                      <a:pt x="0" y="336"/>
                    </a:moveTo>
                    <a:cubicBezTo>
                      <a:pt x="42" y="299"/>
                      <a:pt x="162" y="168"/>
                      <a:pt x="250" y="115"/>
                    </a:cubicBezTo>
                    <a:cubicBezTo>
                      <a:pt x="338" y="62"/>
                      <a:pt x="418" y="38"/>
                      <a:pt x="528" y="19"/>
                    </a:cubicBezTo>
                    <a:cubicBezTo>
                      <a:pt x="638" y="0"/>
                      <a:pt x="832" y="4"/>
                      <a:pt x="912" y="0"/>
                    </a:cubicBezTo>
                  </a:path>
                </a:pathLst>
              </a:custGeom>
              <a:noFill/>
              <a:ln w="28575" cap="flat" cmpd="sng">
                <a:solidFill>
                  <a:srgbClr val="FF33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69" name="Text Box 8"/>
              <p:cNvSpPr txBox="1"/>
              <p:nvPr/>
            </p:nvSpPr>
            <p:spPr>
              <a:xfrm>
                <a:off x="3612" y="1764"/>
                <a:ext cx="395" cy="24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-</a:t>
                </a:r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RI</a:t>
                </a:r>
                <a:r>
                  <a:rPr lang="en-US" altLang="zh-CN" b="0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0</a:t>
                </a:r>
                <a:endPara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48170" name="Text Box 9"/>
              <p:cNvSpPr txBox="1"/>
              <p:nvPr/>
            </p:nvSpPr>
            <p:spPr>
              <a:xfrm>
                <a:off x="4085" y="1140"/>
                <a:ext cx="257" cy="24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48171" name="Text Box 10"/>
              <p:cNvSpPr txBox="1"/>
              <p:nvPr/>
            </p:nvSpPr>
            <p:spPr>
              <a:xfrm>
                <a:off x="5055" y="1524"/>
                <a:ext cx="148" cy="24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t</a:t>
                </a:r>
                <a:endPara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  <p:sp>
            <p:nvSpPr>
              <p:cNvPr id="48172" name="Line 11"/>
              <p:cNvSpPr/>
              <p:nvPr/>
            </p:nvSpPr>
            <p:spPr>
              <a:xfrm>
                <a:off x="3845" y="1500"/>
                <a:ext cx="173" cy="0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8173" name="Line 12"/>
              <p:cNvSpPr/>
              <p:nvPr/>
            </p:nvSpPr>
            <p:spPr>
              <a:xfrm>
                <a:off x="4018" y="1500"/>
                <a:ext cx="0" cy="382"/>
              </a:xfrm>
              <a:prstGeom prst="line">
                <a:avLst/>
              </a:prstGeom>
              <a:ln w="28575" cap="flat" cmpd="sng">
                <a:solidFill>
                  <a:srgbClr val="FF33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48165" name="Text Box 35"/>
            <p:cNvSpPr txBox="1"/>
            <p:nvPr/>
          </p:nvSpPr>
          <p:spPr>
            <a:xfrm>
              <a:off x="3243" y="2750"/>
              <a:ext cx="4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0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48140" name="Group 58"/>
          <p:cNvGrpSpPr/>
          <p:nvPr/>
        </p:nvGrpSpPr>
        <p:grpSpPr>
          <a:xfrm>
            <a:off x="6227763" y="546931"/>
            <a:ext cx="2493962" cy="1880738"/>
            <a:chOff x="3969" y="2159"/>
            <a:chExt cx="1571" cy="1185"/>
          </a:xfrm>
        </p:grpSpPr>
        <p:grpSp>
          <p:nvGrpSpPr>
            <p:cNvPr id="48144" name="Group 59"/>
            <p:cNvGrpSpPr/>
            <p:nvPr/>
          </p:nvGrpSpPr>
          <p:grpSpPr>
            <a:xfrm>
              <a:off x="4740" y="2159"/>
              <a:ext cx="272" cy="410"/>
              <a:chOff x="1872" y="490"/>
              <a:chExt cx="240" cy="278"/>
            </a:xfrm>
          </p:grpSpPr>
          <p:sp>
            <p:nvSpPr>
              <p:cNvPr id="48162" name="Line 60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48163" name="Text Box 61"/>
              <p:cNvSpPr txBox="1"/>
              <p:nvPr/>
            </p:nvSpPr>
            <p:spPr>
              <a:xfrm>
                <a:off x="1882" y="490"/>
                <a:ext cx="164" cy="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48145" name="Text Box 62"/>
            <p:cNvSpPr txBox="1"/>
            <p:nvPr/>
          </p:nvSpPr>
          <p:spPr>
            <a:xfrm>
              <a:off x="4922" y="2805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48146" name="Group 63"/>
            <p:cNvGrpSpPr/>
            <p:nvPr/>
          </p:nvGrpSpPr>
          <p:grpSpPr>
            <a:xfrm>
              <a:off x="5205" y="2578"/>
              <a:ext cx="335" cy="765"/>
              <a:chOff x="1969" y="748"/>
              <a:chExt cx="325" cy="617"/>
            </a:xfrm>
          </p:grpSpPr>
          <p:grpSp>
            <p:nvGrpSpPr>
              <p:cNvPr id="48158" name="Group 64"/>
              <p:cNvGrpSpPr/>
              <p:nvPr/>
            </p:nvGrpSpPr>
            <p:grpSpPr>
              <a:xfrm>
                <a:off x="2069" y="748"/>
                <a:ext cx="218" cy="617"/>
                <a:chOff x="1637" y="1276"/>
                <a:chExt cx="218" cy="617"/>
              </a:xfrm>
            </p:grpSpPr>
            <p:sp>
              <p:nvSpPr>
                <p:cNvPr id="48160" name="Text Box 65"/>
                <p:cNvSpPr txBox="1"/>
                <p:nvPr/>
              </p:nvSpPr>
              <p:spPr>
                <a:xfrm>
                  <a:off x="1637" y="1276"/>
                  <a:ext cx="218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48161" name="Text Box 66"/>
                <p:cNvSpPr txBox="1"/>
                <p:nvPr/>
              </p:nvSpPr>
              <p:spPr>
                <a:xfrm>
                  <a:off x="1639" y="1659"/>
                  <a:ext cx="205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48159" name="Text Box 67"/>
              <p:cNvSpPr txBox="1"/>
              <p:nvPr/>
            </p:nvSpPr>
            <p:spPr>
              <a:xfrm>
                <a:off x="1969" y="899"/>
                <a:ext cx="325" cy="29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32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48147" name="Line 68"/>
            <p:cNvSpPr/>
            <p:nvPr/>
          </p:nvSpPr>
          <p:spPr>
            <a:xfrm flipV="1">
              <a:off x="5148" y="3067"/>
              <a:ext cx="0" cy="2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48" name="Text Box 69"/>
            <p:cNvSpPr txBox="1"/>
            <p:nvPr/>
          </p:nvSpPr>
          <p:spPr>
            <a:xfrm>
              <a:off x="4246" y="2624"/>
              <a:ext cx="23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8149" name="Line 70"/>
            <p:cNvSpPr/>
            <p:nvPr/>
          </p:nvSpPr>
          <p:spPr>
            <a:xfrm>
              <a:off x="3969" y="3305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0" name="Line 71"/>
            <p:cNvSpPr/>
            <p:nvPr/>
          </p:nvSpPr>
          <p:spPr>
            <a:xfrm>
              <a:off x="3969" y="2523"/>
              <a:ext cx="0" cy="7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1" name="Line 72"/>
            <p:cNvSpPr/>
            <p:nvPr/>
          </p:nvSpPr>
          <p:spPr>
            <a:xfrm>
              <a:off x="3969" y="2523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8152" name="Line 73"/>
            <p:cNvSpPr/>
            <p:nvPr/>
          </p:nvSpPr>
          <p:spPr>
            <a:xfrm>
              <a:off x="5148" y="2522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48153" name="Group 74"/>
            <p:cNvGrpSpPr/>
            <p:nvPr/>
          </p:nvGrpSpPr>
          <p:grpSpPr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48155" name="Arc 75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6" name="Arc 76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48157" name="Arc 77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48154" name="Rectangle 78"/>
            <p:cNvSpPr/>
            <p:nvPr/>
          </p:nvSpPr>
          <p:spPr>
            <a:xfrm>
              <a:off x="4241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113686" grpId="0" animBg="1"/>
      <p:bldP spid="113687" grpId="0" animBg="1"/>
      <p:bldP spid="11368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61" name="Text Box 57"/>
          <p:cNvSpPr txBox="1"/>
          <p:nvPr/>
        </p:nvSpPr>
        <p:spPr>
          <a:xfrm>
            <a:off x="250825" y="547846"/>
            <a:ext cx="889317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响应与初始状态成线性关系，其衰减快慢与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L/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有关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;</a:t>
            </a:r>
            <a:endParaRPr lang="en-US" altLang="zh-CN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2778" name="Object 74"/>
          <p:cNvGraphicFramePr>
            <a:graphicFrameLocks noChangeAspect="1"/>
          </p:cNvGraphicFramePr>
          <p:nvPr/>
        </p:nvGraphicFramePr>
        <p:xfrm>
          <a:off x="755650" y="1905000"/>
          <a:ext cx="727233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" r:id="rId1" imgW="2813050" imgH="382905" progId="Equation.3">
                  <p:embed/>
                </p:oleObj>
              </mc:Choice>
              <mc:Fallback>
                <p:oleObj name="" r:id="rId1" imgW="2813050" imgH="382905" progId="Equation.3">
                  <p:embed/>
                  <p:pic>
                    <p:nvPicPr>
                      <p:cNvPr id="0" name="图片 3170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1905000"/>
                        <a:ext cx="7272338" cy="1141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92" name="Group 88"/>
          <p:cNvGrpSpPr/>
          <p:nvPr/>
        </p:nvGrpSpPr>
        <p:grpSpPr>
          <a:xfrm>
            <a:off x="468313" y="1116013"/>
            <a:ext cx="7054849" cy="708025"/>
            <a:chOff x="295" y="574"/>
            <a:chExt cx="4444" cy="446"/>
          </a:xfrm>
        </p:grpSpPr>
        <p:sp>
          <p:nvSpPr>
            <p:cNvPr id="49172" name="Text Box 73"/>
            <p:cNvSpPr txBox="1"/>
            <p:nvPr/>
          </p:nvSpPr>
          <p:spPr>
            <a:xfrm>
              <a:off x="989" y="617"/>
              <a:ext cx="3750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令        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        称为一阶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RL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电路时间常数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49173" name="Rectangle 75"/>
            <p:cNvSpPr/>
            <p:nvPr/>
          </p:nvSpPr>
          <p:spPr>
            <a:xfrm>
              <a:off x="295" y="574"/>
              <a:ext cx="1587" cy="446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algn="ctr" eaLnBrk="1" hangingPunct="1"/>
              <a:r>
                <a:rPr lang="en-US" altLang="zh-CN" sz="4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en-US" altLang="zh-CN" sz="4000" b="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 = </a:t>
              </a:r>
              <a:r>
                <a:rPr lang="en-US" altLang="zh-CN" sz="4000" b="0" i="1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L/R</a:t>
              </a:r>
              <a:endParaRPr lang="en-US" altLang="zh-CN" sz="40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72781" name="Rectangle 77"/>
          <p:cNvSpPr/>
          <p:nvPr/>
        </p:nvSpPr>
        <p:spPr>
          <a:xfrm>
            <a:off x="468313" y="3126899"/>
            <a:ext cx="8281987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时间常数</a:t>
            </a:r>
            <a:r>
              <a:rPr lang="zh-CN" altLang="en-US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zh-CN" altLang="en-US" b="0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的大小反映了电路过渡过程时间的长短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2786" name="Text Box 82"/>
          <p:cNvSpPr txBox="1"/>
          <p:nvPr/>
        </p:nvSpPr>
        <p:spPr>
          <a:xfrm>
            <a:off x="468313" y="3703162"/>
            <a:ext cx="3744912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/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大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过渡过程时间长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2787" name="Text Box 83"/>
          <p:cNvSpPr txBox="1"/>
          <p:nvPr/>
        </p:nvSpPr>
        <p:spPr>
          <a:xfrm>
            <a:off x="4572000" y="3703162"/>
            <a:ext cx="4176713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/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小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→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过渡过程时间短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2761" grpId="0"/>
      <p:bldP spid="72781" grpId="0" build="p"/>
      <p:bldP spid="72786" grpId="0"/>
      <p:bldP spid="7278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82" name="Text Box 78"/>
          <p:cNvSpPr txBox="1"/>
          <p:nvPr/>
        </p:nvSpPr>
        <p:spPr>
          <a:xfrm>
            <a:off x="512128" y="2729866"/>
            <a:ext cx="6048375" cy="104013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>
              <a:lnSpc>
                <a:spcPct val="110000"/>
              </a:lnSpc>
            </a:pP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大 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W=Li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/2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起始能量大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小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P=Ri</a:t>
            </a:r>
            <a:r>
              <a:rPr lang="en-US" altLang="zh-CN" b="0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r>
              <a:rPr lang="en-US" altLang="zh-CN" baseline="30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放电过程消耗能量小</a:t>
            </a:r>
            <a:endParaRPr lang="zh-CN" altLang="en-US" i="1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72791" name="Group 87"/>
          <p:cNvGrpSpPr/>
          <p:nvPr/>
        </p:nvGrpSpPr>
        <p:grpSpPr>
          <a:xfrm>
            <a:off x="6344603" y="2935605"/>
            <a:ext cx="2493962" cy="777875"/>
            <a:chOff x="3833" y="3158"/>
            <a:chExt cx="1571" cy="490"/>
          </a:xfrm>
        </p:grpSpPr>
        <p:sp>
          <p:nvSpPr>
            <p:cNvPr id="49170" name="AutoShape 80"/>
            <p:cNvSpPr/>
            <p:nvPr/>
          </p:nvSpPr>
          <p:spPr>
            <a:xfrm>
              <a:off x="3833" y="3158"/>
              <a:ext cx="82" cy="490"/>
            </a:xfrm>
            <a:prstGeom prst="rightBrace">
              <a:avLst>
                <a:gd name="adj1" fmla="val 49796"/>
                <a:gd name="adj2" fmla="val 50000"/>
              </a:avLst>
            </a:prstGeom>
            <a:noFill/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  <p:txBody>
            <a:bodyPr lIns="90000" tIns="46800" rIns="90000" bIns="46800" anchor="ctr" anchorCtr="0">
              <a:spAutoFit/>
            </a:bodyPr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49171" name="Text Box 81"/>
            <p:cNvSpPr txBox="1"/>
            <p:nvPr/>
          </p:nvSpPr>
          <p:spPr>
            <a:xfrm>
              <a:off x="3923" y="3248"/>
              <a:ext cx="1481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0000" tIns="46800" rIns="90000" bIns="46800" anchor="ctr" anchorCtr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放电慢，</a:t>
              </a:r>
              <a:r>
                <a:rPr lang="zh-CN" altLang="en-US" b="0" i="1" dirty="0"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</a:t>
              </a:r>
              <a:r>
                <a:rPr lang="zh-CN" altLang="en-US" i="1" dirty="0"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大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72788" name="Text Box 84"/>
          <p:cNvSpPr txBox="1"/>
          <p:nvPr/>
        </p:nvSpPr>
        <p:spPr>
          <a:xfrm>
            <a:off x="440690" y="2060893"/>
            <a:ext cx="1871663" cy="52197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物理含义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2789" name="AutoShape 85"/>
          <p:cNvSpPr/>
          <p:nvPr/>
        </p:nvSpPr>
        <p:spPr>
          <a:xfrm>
            <a:off x="2528253" y="2276793"/>
            <a:ext cx="647700" cy="153987"/>
          </a:xfrm>
          <a:prstGeom prst="rightArrow">
            <a:avLst>
              <a:gd name="adj1" fmla="val 50000"/>
              <a:gd name="adj2" fmla="val 105154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2790" name="Rectangle 86"/>
          <p:cNvSpPr/>
          <p:nvPr/>
        </p:nvSpPr>
        <p:spPr>
          <a:xfrm>
            <a:off x="3320415" y="2132330"/>
            <a:ext cx="3339465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电流初值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(0)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一定：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72782" grpId="0" build="p"/>
      <p:bldP spid="72788" grpId="0" animBg="1"/>
      <p:bldP spid="72789" grpId="0" animBg="1"/>
      <p:bldP spid="7279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62" name="Rectangle 6"/>
          <p:cNvSpPr/>
          <p:nvPr/>
        </p:nvSpPr>
        <p:spPr>
          <a:xfrm>
            <a:off x="684213" y="619284"/>
            <a:ext cx="2663825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能量关系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0663" name="Object 7"/>
          <p:cNvGraphicFramePr>
            <a:graphicFrameLocks noChangeAspect="1"/>
          </p:cNvGraphicFramePr>
          <p:nvPr/>
        </p:nvGraphicFramePr>
        <p:xfrm>
          <a:off x="755650" y="3560763"/>
          <a:ext cx="2736850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" r:id="rId1" imgW="809625" imgH="217805" progId="Equation.3">
                  <p:embed/>
                </p:oleObj>
              </mc:Choice>
              <mc:Fallback>
                <p:oleObj name="" r:id="rId1" imgW="809625" imgH="217805" progId="Equation.3">
                  <p:embed/>
                  <p:pic>
                    <p:nvPicPr>
                      <p:cNvPr id="0" name="图片 3171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55650" y="3560763"/>
                        <a:ext cx="2736850" cy="9001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Text Box 8"/>
          <p:cNvSpPr txBox="1"/>
          <p:nvPr/>
        </p:nvSpPr>
        <p:spPr>
          <a:xfrm>
            <a:off x="3635375" y="549275"/>
            <a:ext cx="5113338" cy="11245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电感不断释放能量被电阻吸收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  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直到全部消耗完毕。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0665" name="Text Box 9"/>
          <p:cNvSpPr txBox="1"/>
          <p:nvPr/>
        </p:nvSpPr>
        <p:spPr>
          <a:xfrm>
            <a:off x="3995738" y="1626077"/>
            <a:ext cx="3240087" cy="58483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/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设</a:t>
            </a:r>
            <a:r>
              <a:rPr lang="zh-CN" altLang="en-US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)=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0</a:t>
            </a:r>
            <a:endParaRPr lang="en-US" altLang="zh-CN" sz="3200" b="0" i="1" baseline="-25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70666" name="Text Box 10"/>
          <p:cNvSpPr txBox="1"/>
          <p:nvPr/>
        </p:nvSpPr>
        <p:spPr>
          <a:xfrm>
            <a:off x="3563938" y="2334737"/>
            <a:ext cx="3024187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电感放出能量：             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0667" name="Object 11"/>
          <p:cNvGraphicFramePr>
            <a:graphicFrameLocks noChangeAspect="1"/>
          </p:cNvGraphicFramePr>
          <p:nvPr/>
        </p:nvGraphicFramePr>
        <p:xfrm>
          <a:off x="6804025" y="2119313"/>
          <a:ext cx="1223963" cy="108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3" name="" r:id="rId3" imgW="313690" imgH="348615" progId="Equation.3">
                  <p:embed/>
                </p:oleObj>
              </mc:Choice>
              <mc:Fallback>
                <p:oleObj name="" r:id="rId3" imgW="313690" imgH="348615" progId="Equation.3">
                  <p:embed/>
                  <p:pic>
                    <p:nvPicPr>
                      <p:cNvPr id="0" name="图片 3172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804025" y="2119313"/>
                        <a:ext cx="1223963" cy="1089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8" name="Text Box 12"/>
          <p:cNvSpPr txBox="1"/>
          <p:nvPr/>
        </p:nvSpPr>
        <p:spPr>
          <a:xfrm>
            <a:off x="755650" y="3053874"/>
            <a:ext cx="4608513" cy="523240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电阻吸收（消耗）能量：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70669" name="Object 13"/>
          <p:cNvGraphicFramePr>
            <a:graphicFrameLocks noChangeAspect="1"/>
          </p:cNvGraphicFramePr>
          <p:nvPr/>
        </p:nvGraphicFramePr>
        <p:xfrm>
          <a:off x="3563938" y="3487738"/>
          <a:ext cx="3168650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" name="" r:id="rId5" imgW="1114425" imgH="278765" progId="Equation.3">
                  <p:embed/>
                </p:oleObj>
              </mc:Choice>
              <mc:Fallback>
                <p:oleObj name="" r:id="rId5" imgW="1114425" imgH="278765" progId="Equation.3">
                  <p:embed/>
                  <p:pic>
                    <p:nvPicPr>
                      <p:cNvPr id="0" name="图片 3175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563938" y="3487738"/>
                        <a:ext cx="3168650" cy="938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70" name="Object 14"/>
          <p:cNvGraphicFramePr>
            <a:graphicFrameLocks noChangeAspect="1"/>
          </p:cNvGraphicFramePr>
          <p:nvPr/>
        </p:nvGraphicFramePr>
        <p:xfrm>
          <a:off x="7164388" y="4581525"/>
          <a:ext cx="1511300" cy="1125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" name="" r:id="rId7" imgW="478790" imgH="348615" progId="Equation.3">
                  <p:embed/>
                </p:oleObj>
              </mc:Choice>
              <mc:Fallback>
                <p:oleObj name="" r:id="rId7" imgW="478790" imgH="348615" progId="Equation.3">
                  <p:embed/>
                  <p:pic>
                    <p:nvPicPr>
                      <p:cNvPr id="0" name="图片 3174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7164388" y="4581525"/>
                        <a:ext cx="1511300" cy="11255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8" name="Object 32"/>
          <p:cNvGraphicFramePr>
            <a:graphicFrameLocks noChangeAspect="1"/>
          </p:cNvGraphicFramePr>
          <p:nvPr/>
        </p:nvGraphicFramePr>
        <p:xfrm>
          <a:off x="539750" y="4652963"/>
          <a:ext cx="2900363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4" name="" r:id="rId9" imgW="992505" imgH="278765" progId="Equation.3">
                  <p:embed/>
                </p:oleObj>
              </mc:Choice>
              <mc:Fallback>
                <p:oleObj name="" r:id="rId9" imgW="992505" imgH="278765" progId="Equation.3">
                  <p:embed/>
                  <p:pic>
                    <p:nvPicPr>
                      <p:cNvPr id="0" name="图片 3173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39750" y="4652963"/>
                        <a:ext cx="2900363" cy="954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89" name="Object 33"/>
          <p:cNvGraphicFramePr>
            <a:graphicFrameLocks noChangeAspect="1"/>
          </p:cNvGraphicFramePr>
          <p:nvPr/>
        </p:nvGraphicFramePr>
        <p:xfrm>
          <a:off x="3492500" y="4652963"/>
          <a:ext cx="3594100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7" name="" r:id="rId11" imgW="1306195" imgH="348615" progId="Equation.3">
                  <p:embed/>
                </p:oleObj>
              </mc:Choice>
              <mc:Fallback>
                <p:oleObj name="" r:id="rId11" imgW="1306195" imgH="348615" progId="Equation.3">
                  <p:embed/>
                  <p:pic>
                    <p:nvPicPr>
                      <p:cNvPr id="0" name="图片 3176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92500" y="4652963"/>
                        <a:ext cx="3594100" cy="10636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90" name="AutoShape 34"/>
          <p:cNvSpPr/>
          <p:nvPr/>
        </p:nvSpPr>
        <p:spPr>
          <a:xfrm>
            <a:off x="2771775" y="836613"/>
            <a:ext cx="720725" cy="144462"/>
          </a:xfrm>
          <a:prstGeom prst="rightArrow">
            <a:avLst>
              <a:gd name="adj1" fmla="val 50000"/>
              <a:gd name="adj2" fmla="val 124725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0691" name="AutoShape 35"/>
          <p:cNvSpPr/>
          <p:nvPr/>
        </p:nvSpPr>
        <p:spPr>
          <a:xfrm>
            <a:off x="6084888" y="2552700"/>
            <a:ext cx="647700" cy="155575"/>
          </a:xfrm>
          <a:prstGeom prst="rightArrow">
            <a:avLst>
              <a:gd name="adj1" fmla="val 50000"/>
              <a:gd name="adj2" fmla="val 104081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0692" name="AutoShape 36"/>
          <p:cNvSpPr/>
          <p:nvPr/>
        </p:nvSpPr>
        <p:spPr>
          <a:xfrm>
            <a:off x="4643438" y="3271838"/>
            <a:ext cx="720725" cy="157162"/>
          </a:xfrm>
          <a:prstGeom prst="rightArrow">
            <a:avLst>
              <a:gd name="adj1" fmla="val 50000"/>
              <a:gd name="adj2" fmla="val 114646"/>
            </a:avLst>
          </a:prstGeom>
          <a:solidFill>
            <a:srgbClr val="0099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  <p:grpSp>
        <p:nvGrpSpPr>
          <p:cNvPr id="70750" name="Group 94"/>
          <p:cNvGrpSpPr/>
          <p:nvPr/>
        </p:nvGrpSpPr>
        <p:grpSpPr>
          <a:xfrm>
            <a:off x="827088" y="1123194"/>
            <a:ext cx="2493962" cy="1880738"/>
            <a:chOff x="3969" y="2159"/>
            <a:chExt cx="1571" cy="1185"/>
          </a:xfrm>
        </p:grpSpPr>
        <p:grpSp>
          <p:nvGrpSpPr>
            <p:cNvPr id="50198" name="Group 95"/>
            <p:cNvGrpSpPr/>
            <p:nvPr/>
          </p:nvGrpSpPr>
          <p:grpSpPr>
            <a:xfrm>
              <a:off x="4740" y="2159"/>
              <a:ext cx="272" cy="410"/>
              <a:chOff x="1872" y="490"/>
              <a:chExt cx="240" cy="278"/>
            </a:xfrm>
          </p:grpSpPr>
          <p:sp>
            <p:nvSpPr>
              <p:cNvPr id="50216" name="Line 96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0217" name="Text Box 97"/>
              <p:cNvSpPr txBox="1"/>
              <p:nvPr/>
            </p:nvSpPr>
            <p:spPr>
              <a:xfrm>
                <a:off x="1882" y="490"/>
                <a:ext cx="164" cy="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0199" name="Text Box 98"/>
            <p:cNvSpPr txBox="1"/>
            <p:nvPr/>
          </p:nvSpPr>
          <p:spPr>
            <a:xfrm>
              <a:off x="4922" y="2805"/>
              <a:ext cx="2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50200" name="Group 99"/>
            <p:cNvGrpSpPr/>
            <p:nvPr/>
          </p:nvGrpSpPr>
          <p:grpSpPr>
            <a:xfrm>
              <a:off x="5205" y="2578"/>
              <a:ext cx="335" cy="765"/>
              <a:chOff x="1969" y="748"/>
              <a:chExt cx="325" cy="617"/>
            </a:xfrm>
          </p:grpSpPr>
          <p:grpSp>
            <p:nvGrpSpPr>
              <p:cNvPr id="50212" name="Group 100"/>
              <p:cNvGrpSpPr/>
              <p:nvPr/>
            </p:nvGrpSpPr>
            <p:grpSpPr>
              <a:xfrm>
                <a:off x="2069" y="748"/>
                <a:ext cx="218" cy="617"/>
                <a:chOff x="1637" y="1276"/>
                <a:chExt cx="218" cy="617"/>
              </a:xfrm>
            </p:grpSpPr>
            <p:sp>
              <p:nvSpPr>
                <p:cNvPr id="50214" name="Text Box 101"/>
                <p:cNvSpPr txBox="1"/>
                <p:nvPr/>
              </p:nvSpPr>
              <p:spPr>
                <a:xfrm>
                  <a:off x="1637" y="1276"/>
                  <a:ext cx="218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0215" name="Text Box 102"/>
                <p:cNvSpPr txBox="1"/>
                <p:nvPr/>
              </p:nvSpPr>
              <p:spPr>
                <a:xfrm>
                  <a:off x="1639" y="1659"/>
                  <a:ext cx="205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50213" name="Text Box 103"/>
              <p:cNvSpPr txBox="1"/>
              <p:nvPr/>
            </p:nvSpPr>
            <p:spPr>
              <a:xfrm>
                <a:off x="1969" y="899"/>
                <a:ext cx="325" cy="29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32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0201" name="Line 104"/>
            <p:cNvSpPr/>
            <p:nvPr/>
          </p:nvSpPr>
          <p:spPr>
            <a:xfrm flipV="1">
              <a:off x="5148" y="3067"/>
              <a:ext cx="0" cy="23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2" name="Text Box 105"/>
            <p:cNvSpPr txBox="1"/>
            <p:nvPr/>
          </p:nvSpPr>
          <p:spPr>
            <a:xfrm>
              <a:off x="4246" y="2624"/>
              <a:ext cx="232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sz="24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0203" name="Line 106"/>
            <p:cNvSpPr/>
            <p:nvPr/>
          </p:nvSpPr>
          <p:spPr>
            <a:xfrm>
              <a:off x="3969" y="3305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4" name="Line 107"/>
            <p:cNvSpPr/>
            <p:nvPr/>
          </p:nvSpPr>
          <p:spPr>
            <a:xfrm>
              <a:off x="3969" y="2523"/>
              <a:ext cx="0" cy="7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5" name="Line 108"/>
            <p:cNvSpPr/>
            <p:nvPr/>
          </p:nvSpPr>
          <p:spPr>
            <a:xfrm>
              <a:off x="3969" y="2523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0206" name="Line 109"/>
            <p:cNvSpPr/>
            <p:nvPr/>
          </p:nvSpPr>
          <p:spPr>
            <a:xfrm>
              <a:off x="5148" y="2522"/>
              <a:ext cx="0" cy="18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0207" name="Group 110"/>
            <p:cNvGrpSpPr/>
            <p:nvPr/>
          </p:nvGrpSpPr>
          <p:grpSpPr>
            <a:xfrm>
              <a:off x="5148" y="2704"/>
              <a:ext cx="91" cy="363"/>
              <a:chOff x="2744" y="2931"/>
              <a:chExt cx="57" cy="283"/>
            </a:xfrm>
          </p:grpSpPr>
          <p:sp>
            <p:nvSpPr>
              <p:cNvPr id="50209" name="Arc 111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210" name="Arc 112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0211" name="Arc 113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0208" name="Rectangle 114"/>
            <p:cNvSpPr/>
            <p:nvPr/>
          </p:nvSpPr>
          <p:spPr>
            <a:xfrm>
              <a:off x="4241" y="2478"/>
              <a:ext cx="317" cy="136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70662" grpId="0"/>
      <p:bldP spid="70664" grpId="0"/>
      <p:bldP spid="70665" grpId="0" build="p"/>
      <p:bldP spid="70666" grpId="0"/>
      <p:bldP spid="70668" grpId="0" build="p"/>
      <p:bldP spid="70690" grpId="0" animBg="1"/>
      <p:bldP spid="70691" grpId="0" animBg="1"/>
      <p:bldP spid="7069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44" name="Text Box 12"/>
          <p:cNvSpPr txBox="1"/>
          <p:nvPr/>
        </p:nvSpPr>
        <p:spPr>
          <a:xfrm>
            <a:off x="3851593" y="2348706"/>
            <a:ext cx="90011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6964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44" name="Text Box 12"/>
          <p:cNvSpPr txBox="1"/>
          <p:nvPr/>
        </p:nvSpPr>
        <p:spPr>
          <a:xfrm>
            <a:off x="395288" y="474186"/>
            <a:ext cx="90011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9677" name="Text Box 45"/>
          <p:cNvSpPr txBox="1"/>
          <p:nvPr/>
        </p:nvSpPr>
        <p:spPr>
          <a:xfrm>
            <a:off x="1258888" y="474186"/>
            <a:ext cx="4968875" cy="58356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打开开关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v</a:t>
            </a:r>
            <a:endParaRPr lang="en-US" altLang="zh-CN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9680" name="Text Box 48"/>
          <p:cNvSpPr txBox="1"/>
          <p:nvPr/>
        </p:nvSpPr>
        <p:spPr>
          <a:xfrm>
            <a:off x="5076825" y="547846"/>
            <a:ext cx="3816350" cy="52197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。电压表量程：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50V</a:t>
            </a:r>
            <a:endParaRPr lang="en-US" altLang="zh-CN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9796" name="Group 164"/>
          <p:cNvGrpSpPr/>
          <p:nvPr/>
        </p:nvGrpSpPr>
        <p:grpSpPr>
          <a:xfrm>
            <a:off x="2443163" y="2018983"/>
            <a:ext cx="4329112" cy="2192338"/>
            <a:chOff x="363" y="753"/>
            <a:chExt cx="2727" cy="1381"/>
          </a:xfrm>
        </p:grpSpPr>
        <p:sp>
          <p:nvSpPr>
            <p:cNvPr id="51243" name="Oval 101"/>
            <p:cNvSpPr/>
            <p:nvPr/>
          </p:nvSpPr>
          <p:spPr>
            <a:xfrm>
              <a:off x="363" y="1453"/>
              <a:ext cx="362" cy="362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44" name="Line 102"/>
            <p:cNvSpPr/>
            <p:nvPr/>
          </p:nvSpPr>
          <p:spPr>
            <a:xfrm>
              <a:off x="1950" y="1272"/>
              <a:ext cx="318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45" name="Text Box 103"/>
            <p:cNvSpPr txBox="1"/>
            <p:nvPr/>
          </p:nvSpPr>
          <p:spPr>
            <a:xfrm>
              <a:off x="1634" y="1044"/>
              <a:ext cx="279" cy="368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46" name="Text Box 104"/>
            <p:cNvSpPr txBox="1"/>
            <p:nvPr/>
          </p:nvSpPr>
          <p:spPr>
            <a:xfrm>
              <a:off x="386" y="753"/>
              <a:ext cx="6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47" name="Text Box 106"/>
            <p:cNvSpPr txBox="1"/>
            <p:nvPr/>
          </p:nvSpPr>
          <p:spPr>
            <a:xfrm>
              <a:off x="612" y="1116"/>
              <a:ext cx="25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48" name="Text Box 107"/>
            <p:cNvSpPr txBox="1"/>
            <p:nvPr/>
          </p:nvSpPr>
          <p:spPr>
            <a:xfrm>
              <a:off x="567" y="1751"/>
              <a:ext cx="243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49" name="Text Box 108"/>
            <p:cNvSpPr txBox="1"/>
            <p:nvPr/>
          </p:nvSpPr>
          <p:spPr>
            <a:xfrm>
              <a:off x="1020" y="1252"/>
              <a:ext cx="377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50" name="Text Box 109"/>
            <p:cNvSpPr txBox="1"/>
            <p:nvPr/>
          </p:nvSpPr>
          <p:spPr>
            <a:xfrm>
              <a:off x="2450" y="1498"/>
              <a:ext cx="64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=4H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51" name="Text Box 110"/>
            <p:cNvSpPr txBox="1"/>
            <p:nvPr/>
          </p:nvSpPr>
          <p:spPr>
            <a:xfrm>
              <a:off x="1587" y="772"/>
              <a:ext cx="774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=10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52" name="Line 111"/>
            <p:cNvSpPr/>
            <p:nvPr/>
          </p:nvSpPr>
          <p:spPr>
            <a:xfrm flipH="1">
              <a:off x="1300" y="1090"/>
              <a:ext cx="1104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1253" name="Line 112"/>
            <p:cNvSpPr/>
            <p:nvPr/>
          </p:nvSpPr>
          <p:spPr>
            <a:xfrm flipH="1">
              <a:off x="544" y="1090"/>
              <a:ext cx="53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1254" name="Line 113"/>
            <p:cNvSpPr/>
            <p:nvPr/>
          </p:nvSpPr>
          <p:spPr>
            <a:xfrm>
              <a:off x="544" y="2134"/>
              <a:ext cx="1876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5" name="Line 114"/>
            <p:cNvSpPr/>
            <p:nvPr/>
          </p:nvSpPr>
          <p:spPr>
            <a:xfrm flipV="1">
              <a:off x="2404" y="1861"/>
              <a:ext cx="0" cy="273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6" name="Line 115"/>
            <p:cNvSpPr/>
            <p:nvPr/>
          </p:nvSpPr>
          <p:spPr>
            <a:xfrm>
              <a:off x="2404" y="1090"/>
              <a:ext cx="0" cy="3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7" name="Line 116"/>
            <p:cNvSpPr/>
            <p:nvPr/>
          </p:nvSpPr>
          <p:spPr>
            <a:xfrm flipV="1">
              <a:off x="544" y="1090"/>
              <a:ext cx="0" cy="10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58" name="Line 117"/>
            <p:cNvSpPr/>
            <p:nvPr/>
          </p:nvSpPr>
          <p:spPr>
            <a:xfrm>
              <a:off x="1496" y="1090"/>
              <a:ext cx="0" cy="10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259" name="Group 118"/>
            <p:cNvGrpSpPr/>
            <p:nvPr/>
          </p:nvGrpSpPr>
          <p:grpSpPr>
            <a:xfrm>
              <a:off x="1315" y="1408"/>
              <a:ext cx="363" cy="303"/>
              <a:chOff x="2160" y="2400"/>
              <a:chExt cx="255" cy="240"/>
            </a:xfrm>
          </p:grpSpPr>
          <p:sp>
            <p:nvSpPr>
              <p:cNvPr id="51269" name="Oval 119" descr="花束"/>
              <p:cNvSpPr/>
              <p:nvPr/>
            </p:nvSpPr>
            <p:spPr>
              <a:xfrm>
                <a:off x="2160" y="2400"/>
                <a:ext cx="240" cy="240"/>
              </a:xfrm>
              <a:prstGeom prst="ellipse">
                <a:avLst/>
              </a:prstGeom>
              <a:blipFill rotWithShape="1">
                <a:blip r:embed="rId1"/>
              </a:blip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lang="en-US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1270" name="Text Box 120"/>
              <p:cNvSpPr txBox="1"/>
              <p:nvPr/>
            </p:nvSpPr>
            <p:spPr>
              <a:xfrm>
                <a:off x="2160" y="2405"/>
                <a:ext cx="255" cy="230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V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1260" name="Text Box 121"/>
            <p:cNvSpPr txBox="1"/>
            <p:nvPr/>
          </p:nvSpPr>
          <p:spPr>
            <a:xfrm>
              <a:off x="1542" y="1427"/>
              <a:ext cx="623" cy="60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r>
                <a:rPr lang="en-US" altLang="zh-CN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10k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61" name="Text Box 122"/>
            <p:cNvSpPr txBox="1"/>
            <p:nvPr/>
          </p:nvSpPr>
          <p:spPr>
            <a:xfrm>
              <a:off x="658" y="1479"/>
              <a:ext cx="501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62" name="Line 123"/>
            <p:cNvSpPr/>
            <p:nvPr/>
          </p:nvSpPr>
          <p:spPr>
            <a:xfrm flipV="1">
              <a:off x="1066" y="1026"/>
              <a:ext cx="363" cy="4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63" name="Line 124"/>
            <p:cNvSpPr/>
            <p:nvPr/>
          </p:nvSpPr>
          <p:spPr>
            <a:xfrm flipH="1" flipV="1">
              <a:off x="1111" y="890"/>
              <a:ext cx="91" cy="272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51264" name="Group 125"/>
            <p:cNvGrpSpPr/>
            <p:nvPr/>
          </p:nvGrpSpPr>
          <p:grpSpPr>
            <a:xfrm rot="5400000">
              <a:off x="1950" y="1362"/>
              <a:ext cx="499" cy="590"/>
              <a:chOff x="476" y="663"/>
              <a:chExt cx="771" cy="862"/>
            </a:xfrm>
          </p:grpSpPr>
          <p:sp>
            <p:nvSpPr>
              <p:cNvPr id="51266" name="AutoShape 126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67" name="AutoShape 127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68" name="AutoShape 128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1265" name="Rectangle 129"/>
            <p:cNvSpPr/>
            <p:nvPr/>
          </p:nvSpPr>
          <p:spPr>
            <a:xfrm>
              <a:off x="1814" y="1045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69644" grpId="0"/>
      <p:bldP spid="69677" grpId="0"/>
      <p:bldP spid="6968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6" name="Text Box 4"/>
          <p:cNvSpPr txBox="1"/>
          <p:nvPr/>
        </p:nvSpPr>
        <p:spPr>
          <a:xfrm>
            <a:off x="1835785" y="620078"/>
            <a:ext cx="3851275" cy="5835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en-US" altLang="zh-CN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+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</a:t>
            </a:r>
            <a:r>
              <a:rPr lang="en-US" altLang="zh-CN" sz="3200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i</a:t>
            </a:r>
            <a:r>
              <a:rPr lang="en-US" altLang="zh-CN" sz="3200" b="0" i="1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L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(0</a:t>
            </a:r>
            <a:r>
              <a:rPr lang="zh-CN" altLang="en-US" sz="3200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－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 = 1 A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9788" name="Group 156"/>
          <p:cNvGrpSpPr/>
          <p:nvPr/>
        </p:nvGrpSpPr>
        <p:grpSpPr>
          <a:xfrm>
            <a:off x="1042988" y="4721225"/>
            <a:ext cx="3071812" cy="1211263"/>
            <a:chOff x="476" y="2485"/>
            <a:chExt cx="1935" cy="763"/>
          </a:xfrm>
        </p:grpSpPr>
        <p:sp>
          <p:nvSpPr>
            <p:cNvPr id="51275" name="Text Box 6"/>
            <p:cNvSpPr txBox="1"/>
            <p:nvPr/>
          </p:nvSpPr>
          <p:spPr>
            <a:xfrm>
              <a:off x="476" y="2485"/>
              <a:ext cx="1935" cy="76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p>
              <a:pPr eaLnBrk="1" hangingPunct="1">
                <a:lnSpc>
                  <a:spcPct val="130000"/>
                </a:lnSpc>
              </a:pPr>
              <a:r>
                <a:rPr lang="en-US" altLang="zh-CN" b="0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V</a:t>
              </a:r>
              <a:r>
                <a:rPr lang="en-US" altLang="zh-CN" b="0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b="0" baseline="-250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)=</a:t>
              </a:r>
              <a:r>
                <a:rPr lang="zh-CN" altLang="en-US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－ </a:t>
              </a:r>
              <a:r>
                <a:rPr lang="en-US" altLang="zh-CN" b="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10000V</a:t>
              </a:r>
              <a:r>
                <a:rPr lang="en-US" altLang="zh-CN" dirty="0">
                  <a:latin typeface="Times New Roman" panose="02020603050405020304" pitchFamily="18" charset="0"/>
                  <a:ea typeface="黑体" panose="02010609060101010101" pitchFamily="2" charset="-122"/>
                </a:rPr>
                <a:t>  </a:t>
              </a:r>
              <a:endParaRPr lang="en-US" altLang="zh-CN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  <a:p>
              <a:pPr eaLnBrk="1" hangingPunct="1">
                <a:lnSpc>
                  <a:spcPct val="130000"/>
                </a:lnSpc>
              </a:pP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造成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grpSp>
          <p:nvGrpSpPr>
            <p:cNvPr id="51276" name="Group 7"/>
            <p:cNvGrpSpPr/>
            <p:nvPr/>
          </p:nvGrpSpPr>
          <p:grpSpPr>
            <a:xfrm>
              <a:off x="1066" y="2931"/>
              <a:ext cx="363" cy="303"/>
              <a:chOff x="3264" y="3840"/>
              <a:chExt cx="255" cy="240"/>
            </a:xfrm>
          </p:grpSpPr>
          <p:sp>
            <p:nvSpPr>
              <p:cNvPr id="51278" name="Oval 8" descr="花束"/>
              <p:cNvSpPr/>
              <p:nvPr/>
            </p:nvSpPr>
            <p:spPr>
              <a:xfrm>
                <a:off x="3264" y="3840"/>
                <a:ext cx="240" cy="240"/>
              </a:xfrm>
              <a:prstGeom prst="ellipse">
                <a:avLst/>
              </a:prstGeom>
              <a:blipFill rotWithShape="1">
                <a:blip r:embed="rId1"/>
              </a:blipFill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endParaRPr lang="en-US" altLang="en-US" sz="2400" dirty="0">
                  <a:solidFill>
                    <a:schemeClr val="tx1"/>
                  </a:solidFill>
                  <a:latin typeface="Arial" panose="020B0604020202020204" pitchFamily="34" charset="0"/>
                  <a:ea typeface="仿宋_GB2312" pitchFamily="49" charset="-122"/>
                </a:endParaRPr>
              </a:p>
            </p:txBody>
          </p:sp>
          <p:sp>
            <p:nvSpPr>
              <p:cNvPr id="51279" name="Text Box 9"/>
              <p:cNvSpPr txBox="1"/>
              <p:nvPr/>
            </p:nvSpPr>
            <p:spPr>
              <a:xfrm>
                <a:off x="3264" y="3845"/>
                <a:ext cx="255" cy="23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>
                <a:spAutoFit/>
              </a:bodyPr>
              <a:p>
                <a:pPr algn="ctr" eaLnBrk="1" hangingPunct="1"/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V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1277" name="Text Box 10"/>
            <p:cNvSpPr txBox="1"/>
            <p:nvPr/>
          </p:nvSpPr>
          <p:spPr>
            <a:xfrm>
              <a:off x="1474" y="2930"/>
              <a:ext cx="80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p>
              <a:pPr algn="ctr" eaLnBrk="1" hangingPunct="1"/>
              <a:r>
                <a:rPr lang="zh-CN" altLang="en-US" sz="2400" dirty="0">
                  <a:latin typeface="Times New Roman" panose="02020603050405020304" pitchFamily="18" charset="0"/>
                  <a:ea typeface="黑体" panose="02010609060101010101" pitchFamily="2" charset="-122"/>
                </a:rPr>
                <a:t>损坏。</a:t>
              </a:r>
              <a:endParaRPr lang="zh-CN" altLang="en-US" sz="2400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69679" name="Object 47"/>
          <p:cNvGraphicFramePr>
            <a:graphicFrameLocks noChangeAspect="1"/>
          </p:cNvGraphicFramePr>
          <p:nvPr/>
        </p:nvGraphicFramePr>
        <p:xfrm>
          <a:off x="2194560" y="1412240"/>
          <a:ext cx="3024188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" name="" r:id="rId2" imgW="992505" imgH="173990" progId="Equation.3">
                  <p:embed/>
                </p:oleObj>
              </mc:Choice>
              <mc:Fallback>
                <p:oleObj name="" r:id="rId2" imgW="992505" imgH="173990" progId="Equation.3">
                  <p:embed/>
                  <p:pic>
                    <p:nvPicPr>
                      <p:cNvPr id="0" name="图片 3179"/>
                      <p:cNvPicPr/>
                      <p:nvPr/>
                    </p:nvPicPr>
                    <p:blipFill>
                      <a:blip r:embed="rId3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94560" y="1412240"/>
                        <a:ext cx="3024188" cy="665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81" name="Object 49"/>
          <p:cNvGraphicFramePr>
            <a:graphicFrameLocks noChangeAspect="1"/>
          </p:cNvGraphicFramePr>
          <p:nvPr/>
        </p:nvGraphicFramePr>
        <p:xfrm>
          <a:off x="1186498" y="2204403"/>
          <a:ext cx="43211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9" name="" r:id="rId4" imgW="1967865" imgH="348615" progId="Equation.3">
                  <p:embed/>
                </p:oleObj>
              </mc:Choice>
              <mc:Fallback>
                <p:oleObj name="" r:id="rId4" imgW="1967865" imgH="348615" progId="Equation.3">
                  <p:embed/>
                  <p:pic>
                    <p:nvPicPr>
                      <p:cNvPr id="0" name="图片 3178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6498" y="2204403"/>
                        <a:ext cx="4321175" cy="91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82" name="Object 50"/>
          <p:cNvGraphicFramePr>
            <a:graphicFrameLocks noChangeAspect="1"/>
          </p:cNvGraphicFramePr>
          <p:nvPr/>
        </p:nvGraphicFramePr>
        <p:xfrm>
          <a:off x="971550" y="4005263"/>
          <a:ext cx="5761038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" name="" r:id="rId6" imgW="2089785" imgH="173990" progId="Equation.3">
                  <p:embed/>
                </p:oleObj>
              </mc:Choice>
              <mc:Fallback>
                <p:oleObj name="" r:id="rId6" imgW="2089785" imgH="173990" progId="Equation.3">
                  <p:embed/>
                  <p:pic>
                    <p:nvPicPr>
                      <p:cNvPr id="0" name="图片 3177"/>
                      <p:cNvPicPr/>
                      <p:nvPr/>
                    </p:nvPicPr>
                    <p:blipFill>
                      <a:blip r:embed="rId7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971550" y="4005263"/>
                        <a:ext cx="5761038" cy="6143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83" name="Text Box 51"/>
          <p:cNvSpPr txBox="1"/>
          <p:nvPr/>
        </p:nvSpPr>
        <p:spPr>
          <a:xfrm>
            <a:off x="1043623" y="691039"/>
            <a:ext cx="576262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9762" name="Group 130"/>
          <p:cNvGrpSpPr/>
          <p:nvPr/>
        </p:nvGrpSpPr>
        <p:grpSpPr>
          <a:xfrm>
            <a:off x="5076825" y="4283130"/>
            <a:ext cx="3170238" cy="2025595"/>
            <a:chOff x="1791" y="2154"/>
            <a:chExt cx="1997" cy="1321"/>
          </a:xfrm>
        </p:grpSpPr>
        <p:sp>
          <p:nvSpPr>
            <p:cNvPr id="51218" name="Oval 131"/>
            <p:cNvSpPr/>
            <p:nvPr/>
          </p:nvSpPr>
          <p:spPr>
            <a:xfrm>
              <a:off x="1791" y="2794"/>
              <a:ext cx="363" cy="409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1219" name="Line 132"/>
            <p:cNvSpPr/>
            <p:nvPr/>
          </p:nvSpPr>
          <p:spPr>
            <a:xfrm>
              <a:off x="3379" y="2568"/>
              <a:ext cx="272" cy="0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20" name="Text Box 133"/>
            <p:cNvSpPr txBox="1"/>
            <p:nvPr/>
          </p:nvSpPr>
          <p:spPr>
            <a:xfrm>
              <a:off x="2931" y="2471"/>
              <a:ext cx="279" cy="381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sz="24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21" name="Text Box 134"/>
            <p:cNvSpPr txBox="1"/>
            <p:nvPr/>
          </p:nvSpPr>
          <p:spPr>
            <a:xfrm>
              <a:off x="3376" y="2815"/>
              <a:ext cx="240" cy="34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22" name="Text Box 135"/>
            <p:cNvSpPr txBox="1"/>
            <p:nvPr/>
          </p:nvSpPr>
          <p:spPr>
            <a:xfrm>
              <a:off x="3153" y="2154"/>
              <a:ext cx="252" cy="34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R</a:t>
              </a:r>
              <a:endPara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23" name="Line 136"/>
            <p:cNvSpPr/>
            <p:nvPr/>
          </p:nvSpPr>
          <p:spPr>
            <a:xfrm flipH="1">
              <a:off x="2517" y="2478"/>
              <a:ext cx="1171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4" name="Line 137"/>
            <p:cNvSpPr/>
            <p:nvPr/>
          </p:nvSpPr>
          <p:spPr>
            <a:xfrm flipH="1">
              <a:off x="1973" y="2478"/>
              <a:ext cx="377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1225" name="Line 138"/>
            <p:cNvSpPr/>
            <p:nvPr/>
          </p:nvSpPr>
          <p:spPr>
            <a:xfrm>
              <a:off x="1973" y="3475"/>
              <a:ext cx="1740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6" name="Line 139"/>
            <p:cNvSpPr/>
            <p:nvPr/>
          </p:nvSpPr>
          <p:spPr>
            <a:xfrm flipV="1">
              <a:off x="3696" y="3158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7" name="Line 140"/>
            <p:cNvSpPr/>
            <p:nvPr/>
          </p:nvSpPr>
          <p:spPr>
            <a:xfrm>
              <a:off x="3696" y="2478"/>
              <a:ext cx="0" cy="266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8" name="Line 141"/>
            <p:cNvSpPr/>
            <p:nvPr/>
          </p:nvSpPr>
          <p:spPr>
            <a:xfrm flipV="1">
              <a:off x="1973" y="2478"/>
              <a:ext cx="0" cy="9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9" name="Text Box 142"/>
            <p:cNvSpPr txBox="1"/>
            <p:nvPr/>
          </p:nvSpPr>
          <p:spPr>
            <a:xfrm>
              <a:off x="2110" y="2789"/>
              <a:ext cx="501" cy="34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10V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30" name="Line 143"/>
            <p:cNvSpPr/>
            <p:nvPr/>
          </p:nvSpPr>
          <p:spPr>
            <a:xfrm>
              <a:off x="2200" y="2432"/>
              <a:ext cx="329" cy="41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31" name="Line 144"/>
            <p:cNvSpPr/>
            <p:nvPr/>
          </p:nvSpPr>
          <p:spPr>
            <a:xfrm flipV="1">
              <a:off x="2336" y="2296"/>
              <a:ext cx="181" cy="166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1232" name="Line 145"/>
            <p:cNvSpPr/>
            <p:nvPr/>
          </p:nvSpPr>
          <p:spPr>
            <a:xfrm>
              <a:off x="2744" y="2478"/>
              <a:ext cx="0" cy="99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233" name="Group 146"/>
            <p:cNvGrpSpPr/>
            <p:nvPr/>
          </p:nvGrpSpPr>
          <p:grpSpPr>
            <a:xfrm rot="5400000">
              <a:off x="3243" y="2658"/>
              <a:ext cx="499" cy="590"/>
              <a:chOff x="476" y="663"/>
              <a:chExt cx="771" cy="862"/>
            </a:xfrm>
          </p:grpSpPr>
          <p:sp>
            <p:nvSpPr>
              <p:cNvPr id="51240" name="AutoShape 147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41" name="AutoShape 148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242" name="AutoShape 149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1234" name="Rectangle 150"/>
            <p:cNvSpPr/>
            <p:nvPr/>
          </p:nvSpPr>
          <p:spPr>
            <a:xfrm>
              <a:off x="3061" y="243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1235" name="Group 151"/>
            <p:cNvGrpSpPr/>
            <p:nvPr/>
          </p:nvGrpSpPr>
          <p:grpSpPr>
            <a:xfrm rot="10800000">
              <a:off x="2562" y="2840"/>
              <a:ext cx="363" cy="272"/>
              <a:chOff x="657" y="935"/>
              <a:chExt cx="363" cy="272"/>
            </a:xfrm>
          </p:grpSpPr>
          <p:sp>
            <p:nvSpPr>
              <p:cNvPr id="51238" name="Line 152"/>
              <p:cNvSpPr/>
              <p:nvPr/>
            </p:nvSpPr>
            <p:spPr>
              <a:xfrm>
                <a:off x="657" y="1207"/>
                <a:ext cx="363" cy="0"/>
              </a:xfrm>
              <a:prstGeom prst="line">
                <a:avLst/>
              </a:prstGeom>
              <a:ln w="38100" cap="flat" cmpd="sng">
                <a:solidFill>
                  <a:srgbClr val="FF99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785" name="AutoShape 153"/>
              <p:cNvSpPr>
                <a:spLocks noChangeArrowheads="1"/>
              </p:cNvSpPr>
              <p:nvPr/>
            </p:nvSpPr>
            <p:spPr bwMode="auto">
              <a:xfrm rot="10800000">
                <a:off x="657" y="943"/>
                <a:ext cx="363" cy="262"/>
              </a:xfrm>
              <a:prstGeom prst="triangle">
                <a:avLst>
                  <a:gd name="adj" fmla="val 50000"/>
                </a:avLst>
              </a:prstGeom>
              <a:gradFill rotWithShape="1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6275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38100">
                <a:solidFill>
                  <a:srgbClr val="FF99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1pPr>
                <a:lvl2pPr marL="742950" indent="-28575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2pPr>
                <a:lvl3pPr marL="1143000" indent="-22860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3pPr>
                <a:lvl4pPr marL="1600200" indent="-22860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4pPr>
                <a:lvl5pPr marL="2057400" indent="-228600"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rgbClr val="FFFF00"/>
                    </a:solidFill>
                    <a:latin typeface="Arial" panose="020B0604020202020204" pitchFamily="34" charset="0"/>
                    <a:ea typeface="楷体_GB2312" pitchFamily="49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2800" b="1" i="0" u="none" strike="noStrike" kern="1200" cap="none" spc="0" normalizeH="0" baseline="0" noProof="0" smtClean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endParaRPr>
              </a:p>
            </p:txBody>
          </p:sp>
        </p:grpSp>
        <p:sp>
          <p:nvSpPr>
            <p:cNvPr id="51236" name="Text Box 154"/>
            <p:cNvSpPr txBox="1"/>
            <p:nvPr/>
          </p:nvSpPr>
          <p:spPr>
            <a:xfrm>
              <a:off x="1973" y="2478"/>
              <a:ext cx="318" cy="34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1237" name="Text Box 155"/>
            <p:cNvSpPr txBox="1"/>
            <p:nvPr/>
          </p:nvSpPr>
          <p:spPr>
            <a:xfrm>
              <a:off x="1973" y="3113"/>
              <a:ext cx="318" cy="3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-</a:t>
              </a:r>
              <a:endPara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69636" grpId="0" build="p"/>
      <p:bldP spid="6968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2" name="Text Box 4"/>
          <p:cNvSpPr txBox="1"/>
          <p:nvPr/>
        </p:nvSpPr>
        <p:spPr>
          <a:xfrm>
            <a:off x="468313" y="517049"/>
            <a:ext cx="90011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8613" name="Text Box 5"/>
          <p:cNvSpPr txBox="1"/>
          <p:nvPr/>
        </p:nvSpPr>
        <p:spPr>
          <a:xfrm>
            <a:off x="1403350" y="472758"/>
            <a:ext cx="6989763" cy="95313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→2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电感电压和电流及开关两端电压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pSp>
        <p:nvGrpSpPr>
          <p:cNvPr id="68782" name="Group 174"/>
          <p:cNvGrpSpPr/>
          <p:nvPr/>
        </p:nvGrpSpPr>
        <p:grpSpPr>
          <a:xfrm>
            <a:off x="6249988" y="1268413"/>
            <a:ext cx="2643187" cy="2087562"/>
            <a:chOff x="2200" y="2251"/>
            <a:chExt cx="1665" cy="1315"/>
          </a:xfrm>
        </p:grpSpPr>
        <p:sp>
          <p:nvSpPr>
            <p:cNvPr id="52279" name="Line 175"/>
            <p:cNvSpPr/>
            <p:nvPr/>
          </p:nvSpPr>
          <p:spPr>
            <a:xfrm>
              <a:off x="2200" y="2568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2280" name="Group 176"/>
            <p:cNvGrpSpPr/>
            <p:nvPr/>
          </p:nvGrpSpPr>
          <p:grpSpPr>
            <a:xfrm>
              <a:off x="2336" y="2251"/>
              <a:ext cx="247" cy="373"/>
              <a:chOff x="1872" y="467"/>
              <a:chExt cx="240" cy="301"/>
            </a:xfrm>
          </p:grpSpPr>
          <p:sp>
            <p:nvSpPr>
              <p:cNvPr id="52297" name="Line 177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2298" name="Text Box 178"/>
              <p:cNvSpPr txBox="1"/>
              <p:nvPr/>
            </p:nvSpPr>
            <p:spPr>
              <a:xfrm>
                <a:off x="1873" y="467"/>
                <a:ext cx="181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2281" name="Group 179"/>
            <p:cNvGrpSpPr/>
            <p:nvPr/>
          </p:nvGrpSpPr>
          <p:grpSpPr>
            <a:xfrm>
              <a:off x="3017" y="2704"/>
              <a:ext cx="318" cy="765"/>
              <a:chOff x="1979" y="748"/>
              <a:chExt cx="308" cy="617"/>
            </a:xfrm>
          </p:grpSpPr>
          <p:grpSp>
            <p:nvGrpSpPr>
              <p:cNvPr id="52293" name="Group 180"/>
              <p:cNvGrpSpPr/>
              <p:nvPr/>
            </p:nvGrpSpPr>
            <p:grpSpPr>
              <a:xfrm>
                <a:off x="2069" y="748"/>
                <a:ext cx="218" cy="617"/>
                <a:chOff x="1637" y="1276"/>
                <a:chExt cx="218" cy="617"/>
              </a:xfrm>
            </p:grpSpPr>
            <p:sp>
              <p:nvSpPr>
                <p:cNvPr id="52295" name="Text Box 181"/>
                <p:cNvSpPr txBox="1"/>
                <p:nvPr/>
              </p:nvSpPr>
              <p:spPr>
                <a:xfrm>
                  <a:off x="1637" y="1276"/>
                  <a:ext cx="218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2296" name="Text Box 182"/>
                <p:cNvSpPr txBox="1"/>
                <p:nvPr/>
              </p:nvSpPr>
              <p:spPr>
                <a:xfrm>
                  <a:off x="1639" y="1659"/>
                  <a:ext cx="205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52294" name="Text Box 183"/>
              <p:cNvSpPr txBox="1"/>
              <p:nvPr/>
            </p:nvSpPr>
            <p:spPr>
              <a:xfrm>
                <a:off x="1979" y="900"/>
                <a:ext cx="302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24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2400" b="0" dirty="0"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2282" name="Line 184"/>
            <p:cNvSpPr/>
            <p:nvPr/>
          </p:nvSpPr>
          <p:spPr>
            <a:xfrm flipV="1">
              <a:off x="3379" y="3249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3" name="Line 185"/>
            <p:cNvSpPr/>
            <p:nvPr/>
          </p:nvSpPr>
          <p:spPr>
            <a:xfrm>
              <a:off x="3379" y="2568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4" name="Text Box 186"/>
            <p:cNvSpPr txBox="1"/>
            <p:nvPr/>
          </p:nvSpPr>
          <p:spPr>
            <a:xfrm>
              <a:off x="2562" y="2613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85" name="Line 187"/>
            <p:cNvSpPr/>
            <p:nvPr/>
          </p:nvSpPr>
          <p:spPr>
            <a:xfrm>
              <a:off x="2200" y="3566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6" name="Line 188"/>
            <p:cNvSpPr/>
            <p:nvPr/>
          </p:nvSpPr>
          <p:spPr>
            <a:xfrm>
              <a:off x="2200" y="256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7" name="Rectangle 189"/>
            <p:cNvSpPr/>
            <p:nvPr/>
          </p:nvSpPr>
          <p:spPr>
            <a:xfrm>
              <a:off x="2653" y="252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2288" name="Group 190"/>
            <p:cNvGrpSpPr/>
            <p:nvPr/>
          </p:nvGrpSpPr>
          <p:grpSpPr>
            <a:xfrm rot="5400000">
              <a:off x="2925" y="2749"/>
              <a:ext cx="499" cy="590"/>
              <a:chOff x="476" y="663"/>
              <a:chExt cx="771" cy="862"/>
            </a:xfrm>
          </p:grpSpPr>
          <p:sp>
            <p:nvSpPr>
              <p:cNvPr id="52290" name="AutoShape 191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1" name="AutoShape 192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2" name="AutoShape 193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2289" name="Text Box 194"/>
            <p:cNvSpPr txBox="1"/>
            <p:nvPr/>
          </p:nvSpPr>
          <p:spPr>
            <a:xfrm>
              <a:off x="3476" y="2885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H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68803" name="Group 195"/>
          <p:cNvGrpSpPr/>
          <p:nvPr/>
        </p:nvGrpSpPr>
        <p:grpSpPr>
          <a:xfrm>
            <a:off x="5294313" y="1698626"/>
            <a:ext cx="752475" cy="536574"/>
            <a:chOff x="1862" y="1822"/>
            <a:chExt cx="474" cy="338"/>
          </a:xfrm>
        </p:grpSpPr>
        <p:sp>
          <p:nvSpPr>
            <p:cNvPr id="52277" name="Text Box 196"/>
            <p:cNvSpPr txBox="1"/>
            <p:nvPr/>
          </p:nvSpPr>
          <p:spPr>
            <a:xfrm>
              <a:off x="1862" y="1822"/>
              <a:ext cx="47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&gt;0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52278" name="Line 197"/>
            <p:cNvSpPr/>
            <p:nvPr/>
          </p:nvSpPr>
          <p:spPr>
            <a:xfrm>
              <a:off x="1882" y="2160"/>
              <a:ext cx="454" cy="0"/>
            </a:xfrm>
            <a:prstGeom prst="line">
              <a:avLst/>
            </a:prstGeom>
            <a:ln w="76200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852" name="Group 244"/>
          <p:cNvGrpSpPr/>
          <p:nvPr/>
        </p:nvGrpSpPr>
        <p:grpSpPr>
          <a:xfrm>
            <a:off x="250825" y="1411287"/>
            <a:ext cx="5210175" cy="2378076"/>
            <a:chOff x="158" y="889"/>
            <a:chExt cx="3282" cy="1498"/>
          </a:xfrm>
        </p:grpSpPr>
        <p:sp>
          <p:nvSpPr>
            <p:cNvPr id="52240" name="Oval 200"/>
            <p:cNvSpPr/>
            <p:nvPr/>
          </p:nvSpPr>
          <p:spPr>
            <a:xfrm>
              <a:off x="657" y="14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41" name="Line 201"/>
            <p:cNvSpPr/>
            <p:nvPr/>
          </p:nvSpPr>
          <p:spPr>
            <a:xfrm>
              <a:off x="2290" y="1318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42" name="Text Box 202"/>
            <p:cNvSpPr txBox="1"/>
            <p:nvPr/>
          </p:nvSpPr>
          <p:spPr>
            <a:xfrm>
              <a:off x="2019" y="1271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3" name="Text Box 203"/>
            <p:cNvSpPr txBox="1"/>
            <p:nvPr/>
          </p:nvSpPr>
          <p:spPr>
            <a:xfrm>
              <a:off x="548" y="889"/>
              <a:ext cx="6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4" name="Text Box 204"/>
            <p:cNvSpPr txBox="1"/>
            <p:nvPr/>
          </p:nvSpPr>
          <p:spPr>
            <a:xfrm>
              <a:off x="475" y="1180"/>
              <a:ext cx="257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5" name="Text Box 205"/>
            <p:cNvSpPr txBox="1"/>
            <p:nvPr/>
          </p:nvSpPr>
          <p:spPr>
            <a:xfrm>
              <a:off x="475" y="1725"/>
              <a:ext cx="243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6" name="Text Box 206"/>
            <p:cNvSpPr txBox="1"/>
            <p:nvPr/>
          </p:nvSpPr>
          <p:spPr>
            <a:xfrm>
              <a:off x="158" y="1498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24V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7" name="Text Box 207"/>
            <p:cNvSpPr txBox="1"/>
            <p:nvPr/>
          </p:nvSpPr>
          <p:spPr>
            <a:xfrm>
              <a:off x="2427" y="1770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8" name="Text Box 208"/>
            <p:cNvSpPr txBox="1"/>
            <p:nvPr/>
          </p:nvSpPr>
          <p:spPr>
            <a:xfrm>
              <a:off x="2426" y="1252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9" name="Line 209"/>
            <p:cNvSpPr/>
            <p:nvPr/>
          </p:nvSpPr>
          <p:spPr>
            <a:xfrm flipH="1">
              <a:off x="1473" y="1227"/>
              <a:ext cx="15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0" name="Line 210"/>
            <p:cNvSpPr/>
            <p:nvPr/>
          </p:nvSpPr>
          <p:spPr>
            <a:xfrm flipH="1">
              <a:off x="838" y="1272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51" name="Line 211"/>
            <p:cNvSpPr/>
            <p:nvPr/>
          </p:nvSpPr>
          <p:spPr>
            <a:xfrm>
              <a:off x="838" y="2387"/>
              <a:ext cx="21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2" name="Line 212"/>
            <p:cNvSpPr/>
            <p:nvPr/>
          </p:nvSpPr>
          <p:spPr>
            <a:xfrm>
              <a:off x="2380" y="2115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2253" name="Line 213"/>
            <p:cNvSpPr/>
            <p:nvPr/>
          </p:nvSpPr>
          <p:spPr>
            <a:xfrm>
              <a:off x="2380" y="1227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54" name="Line 214"/>
            <p:cNvSpPr/>
            <p:nvPr/>
          </p:nvSpPr>
          <p:spPr>
            <a:xfrm>
              <a:off x="2970" y="1227"/>
              <a:ext cx="0" cy="11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5" name="Line 215"/>
            <p:cNvSpPr/>
            <p:nvPr/>
          </p:nvSpPr>
          <p:spPr>
            <a:xfrm>
              <a:off x="1518" y="1499"/>
              <a:ext cx="0" cy="8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56" name="Text Box 216"/>
            <p:cNvSpPr txBox="1"/>
            <p:nvPr/>
          </p:nvSpPr>
          <p:spPr>
            <a:xfrm>
              <a:off x="863" y="188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57" name="Line 217"/>
            <p:cNvSpPr/>
            <p:nvPr/>
          </p:nvSpPr>
          <p:spPr>
            <a:xfrm flipV="1">
              <a:off x="1156" y="1207"/>
              <a:ext cx="363" cy="1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2258" name="Line 218"/>
            <p:cNvSpPr/>
            <p:nvPr/>
          </p:nvSpPr>
          <p:spPr>
            <a:xfrm flipH="1" flipV="1">
              <a:off x="1292" y="1162"/>
              <a:ext cx="85" cy="22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2259" name="Line 219"/>
            <p:cNvSpPr/>
            <p:nvPr/>
          </p:nvSpPr>
          <p:spPr>
            <a:xfrm>
              <a:off x="838" y="1272"/>
              <a:ext cx="0" cy="11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0" name="Text Box 220"/>
            <p:cNvSpPr txBox="1"/>
            <p:nvPr/>
          </p:nvSpPr>
          <p:spPr>
            <a:xfrm>
              <a:off x="1564" y="1751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1" name="Text Box 221"/>
            <p:cNvSpPr txBox="1"/>
            <p:nvPr/>
          </p:nvSpPr>
          <p:spPr>
            <a:xfrm>
              <a:off x="3041" y="1570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2" name="Text Box 222"/>
            <p:cNvSpPr txBox="1"/>
            <p:nvPr/>
          </p:nvSpPr>
          <p:spPr>
            <a:xfrm>
              <a:off x="2063" y="1589"/>
              <a:ext cx="257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3" name="Text Box 223"/>
            <p:cNvSpPr txBox="1"/>
            <p:nvPr/>
          </p:nvSpPr>
          <p:spPr>
            <a:xfrm>
              <a:off x="2063" y="2043"/>
              <a:ext cx="2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4" name="Text Box 224"/>
            <p:cNvSpPr txBox="1"/>
            <p:nvPr/>
          </p:nvSpPr>
          <p:spPr>
            <a:xfrm>
              <a:off x="2044" y="1789"/>
              <a:ext cx="3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5" name="Text Box 225"/>
            <p:cNvSpPr txBox="1"/>
            <p:nvPr/>
          </p:nvSpPr>
          <p:spPr>
            <a:xfrm>
              <a:off x="1771" y="899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6" name="Text Box 226"/>
            <p:cNvSpPr txBox="1"/>
            <p:nvPr/>
          </p:nvSpPr>
          <p:spPr>
            <a:xfrm>
              <a:off x="975" y="1253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7" name="Text Box 227"/>
            <p:cNvSpPr txBox="1"/>
            <p:nvPr/>
          </p:nvSpPr>
          <p:spPr>
            <a:xfrm>
              <a:off x="1518" y="1272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8" name="Rectangle 228"/>
            <p:cNvSpPr/>
            <p:nvPr/>
          </p:nvSpPr>
          <p:spPr>
            <a:xfrm rot="5400000">
              <a:off x="2255" y="139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69" name="Rectangle 229"/>
            <p:cNvSpPr/>
            <p:nvPr/>
          </p:nvSpPr>
          <p:spPr>
            <a:xfrm rot="5400000">
              <a:off x="1393" y="187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70" name="Rectangle 230"/>
            <p:cNvSpPr/>
            <p:nvPr/>
          </p:nvSpPr>
          <p:spPr>
            <a:xfrm rot="5400000">
              <a:off x="2845" y="1670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71" name="Rectangle 231"/>
            <p:cNvSpPr/>
            <p:nvPr/>
          </p:nvSpPr>
          <p:spPr>
            <a:xfrm>
              <a:off x="1791" y="1181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72" name="Rectangle 232"/>
            <p:cNvSpPr/>
            <p:nvPr/>
          </p:nvSpPr>
          <p:spPr>
            <a:xfrm rot="5400000">
              <a:off x="667" y="198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2273" name="Group 233"/>
            <p:cNvGrpSpPr/>
            <p:nvPr/>
          </p:nvGrpSpPr>
          <p:grpSpPr>
            <a:xfrm>
              <a:off x="2380" y="1752"/>
              <a:ext cx="91" cy="363"/>
              <a:chOff x="2744" y="2931"/>
              <a:chExt cx="57" cy="283"/>
            </a:xfrm>
          </p:grpSpPr>
          <p:sp>
            <p:nvSpPr>
              <p:cNvPr id="52274" name="Arc 234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75" name="Arc 235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76" name="Arc 236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68612" grpId="0"/>
      <p:bldP spid="686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2" name="Text Box 4"/>
          <p:cNvSpPr txBox="1"/>
          <p:nvPr/>
        </p:nvSpPr>
        <p:spPr>
          <a:xfrm>
            <a:off x="468313" y="517049"/>
            <a:ext cx="900112" cy="583565"/>
          </a:xfrm>
          <a:prstGeom prst="rect">
            <a:avLst/>
          </a:prstGeom>
          <a:noFill/>
          <a:ln w="28575">
            <a:noFill/>
          </a:ln>
        </p:spPr>
        <p:txBody>
          <a:bodyPr anchor="ctr" anchorCtr="0"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32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例</a:t>
            </a:r>
            <a:r>
              <a: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2</a:t>
            </a:r>
            <a:endParaRPr lang="en-US" altLang="zh-CN" sz="3200" b="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68613" name="Text Box 5"/>
          <p:cNvSpPr txBox="1"/>
          <p:nvPr/>
        </p:nvSpPr>
        <p:spPr>
          <a:xfrm>
            <a:off x="1403350" y="472758"/>
            <a:ext cx="6989763" cy="95313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t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=0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时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开关</a:t>
            </a:r>
            <a:r>
              <a:rPr lang="en-US" altLang="zh-CN" b="0" dirty="0">
                <a:latin typeface="Times New Roman" panose="02020603050405020304" pitchFamily="18" charset="0"/>
                <a:ea typeface="黑体" panose="02010609060101010101" pitchFamily="2" charset="-122"/>
              </a:rPr>
              <a:t>S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由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cs typeface="Times New Roman" panose="02020603050405020304" pitchFamily="18" charset="0"/>
              </a:rPr>
              <a:t>→2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求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电感电压和电流及开关两端电压</a:t>
            </a:r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u</a:t>
            </a:r>
            <a:r>
              <a: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12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8665" name="Object 57"/>
          <p:cNvGraphicFramePr>
            <a:graphicFrameLocks noChangeAspect="1"/>
          </p:cNvGraphicFramePr>
          <p:nvPr/>
        </p:nvGraphicFramePr>
        <p:xfrm>
          <a:off x="5678488" y="5072063"/>
          <a:ext cx="2195512" cy="973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3" name="" r:id="rId1" imgW="870585" imgH="348615" progId="Equation.3">
                  <p:embed/>
                </p:oleObj>
              </mc:Choice>
              <mc:Fallback>
                <p:oleObj name="" r:id="rId1" imgW="870585" imgH="348615" progId="Equation.3">
                  <p:embed/>
                  <p:pic>
                    <p:nvPicPr>
                      <p:cNvPr id="0" name="图片 3182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678488" y="5072063"/>
                        <a:ext cx="2195512" cy="973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66" name="Text Box 58"/>
          <p:cNvSpPr txBox="1"/>
          <p:nvPr/>
        </p:nvSpPr>
        <p:spPr>
          <a:xfrm>
            <a:off x="468313" y="4147662"/>
            <a:ext cx="576262" cy="523240"/>
          </a:xfrm>
          <a:prstGeom prst="rect">
            <a:avLst/>
          </a:prstGeom>
          <a:solidFill>
            <a:srgbClr val="990033"/>
          </a:soli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解</a:t>
            </a:r>
            <a:endParaRPr lang="zh-CN" altLang="en-US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graphicFrame>
        <p:nvGraphicFramePr>
          <p:cNvPr id="68673" name="Object 65"/>
          <p:cNvGraphicFramePr>
            <a:graphicFrameLocks noChangeAspect="1"/>
          </p:cNvGraphicFramePr>
          <p:nvPr/>
        </p:nvGraphicFramePr>
        <p:xfrm>
          <a:off x="1430338" y="3846513"/>
          <a:ext cx="6426200" cy="1003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2" name="" r:id="rId3" imgW="2612390" imgH="348615" progId="Equation.3">
                  <p:embed/>
                </p:oleObj>
              </mc:Choice>
              <mc:Fallback>
                <p:oleObj name="" r:id="rId3" imgW="2612390" imgH="348615" progId="Equation.3">
                  <p:embed/>
                  <p:pic>
                    <p:nvPicPr>
                      <p:cNvPr id="0" name="图片 31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30338" y="3846513"/>
                        <a:ext cx="6426200" cy="1003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728" name="Object 120"/>
          <p:cNvGraphicFramePr>
            <a:graphicFrameLocks noChangeAspect="1"/>
          </p:cNvGraphicFramePr>
          <p:nvPr/>
        </p:nvGraphicFramePr>
        <p:xfrm>
          <a:off x="1331913" y="5300663"/>
          <a:ext cx="3843337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" name="" r:id="rId5" imgW="1497965" imgH="139065" progId="Equation.3">
                  <p:embed/>
                </p:oleObj>
              </mc:Choice>
              <mc:Fallback>
                <p:oleObj name="" r:id="rId5" imgW="1497965" imgH="139065" progId="Equation.3">
                  <p:embed/>
                  <p:pic>
                    <p:nvPicPr>
                      <p:cNvPr id="0" name="图片 31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31913" y="5300663"/>
                        <a:ext cx="3843337" cy="515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782" name="Group 174"/>
          <p:cNvGrpSpPr/>
          <p:nvPr/>
        </p:nvGrpSpPr>
        <p:grpSpPr>
          <a:xfrm>
            <a:off x="6249988" y="1268413"/>
            <a:ext cx="2643187" cy="2087562"/>
            <a:chOff x="2200" y="2251"/>
            <a:chExt cx="1665" cy="1315"/>
          </a:xfrm>
        </p:grpSpPr>
        <p:sp>
          <p:nvSpPr>
            <p:cNvPr id="52279" name="Line 175"/>
            <p:cNvSpPr/>
            <p:nvPr/>
          </p:nvSpPr>
          <p:spPr>
            <a:xfrm>
              <a:off x="2200" y="2568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2280" name="Group 176"/>
            <p:cNvGrpSpPr/>
            <p:nvPr/>
          </p:nvGrpSpPr>
          <p:grpSpPr>
            <a:xfrm>
              <a:off x="2336" y="2251"/>
              <a:ext cx="247" cy="373"/>
              <a:chOff x="1872" y="467"/>
              <a:chExt cx="240" cy="301"/>
            </a:xfrm>
          </p:grpSpPr>
          <p:sp>
            <p:nvSpPr>
              <p:cNvPr id="52297" name="Line 177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2298" name="Text Box 178"/>
              <p:cNvSpPr txBox="1"/>
              <p:nvPr/>
            </p:nvSpPr>
            <p:spPr>
              <a:xfrm>
                <a:off x="1873" y="467"/>
                <a:ext cx="181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2281" name="Group 179"/>
            <p:cNvGrpSpPr/>
            <p:nvPr/>
          </p:nvGrpSpPr>
          <p:grpSpPr>
            <a:xfrm>
              <a:off x="3017" y="2704"/>
              <a:ext cx="318" cy="765"/>
              <a:chOff x="1979" y="748"/>
              <a:chExt cx="308" cy="617"/>
            </a:xfrm>
          </p:grpSpPr>
          <p:grpSp>
            <p:nvGrpSpPr>
              <p:cNvPr id="52293" name="Group 180"/>
              <p:cNvGrpSpPr/>
              <p:nvPr/>
            </p:nvGrpSpPr>
            <p:grpSpPr>
              <a:xfrm>
                <a:off x="2069" y="748"/>
                <a:ext cx="218" cy="617"/>
                <a:chOff x="1637" y="1276"/>
                <a:chExt cx="218" cy="617"/>
              </a:xfrm>
            </p:grpSpPr>
            <p:sp>
              <p:nvSpPr>
                <p:cNvPr id="52295" name="Text Box 181"/>
                <p:cNvSpPr txBox="1"/>
                <p:nvPr/>
              </p:nvSpPr>
              <p:spPr>
                <a:xfrm>
                  <a:off x="1637" y="1276"/>
                  <a:ext cx="218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2296" name="Text Box 182"/>
                <p:cNvSpPr txBox="1"/>
                <p:nvPr/>
              </p:nvSpPr>
              <p:spPr>
                <a:xfrm>
                  <a:off x="1639" y="1659"/>
                  <a:ext cx="205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52294" name="Text Box 183"/>
              <p:cNvSpPr txBox="1"/>
              <p:nvPr/>
            </p:nvSpPr>
            <p:spPr>
              <a:xfrm>
                <a:off x="1979" y="900"/>
                <a:ext cx="302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24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2400" b="0" dirty="0"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2282" name="Line 184"/>
            <p:cNvSpPr/>
            <p:nvPr/>
          </p:nvSpPr>
          <p:spPr>
            <a:xfrm flipV="1">
              <a:off x="3379" y="3249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3" name="Line 185"/>
            <p:cNvSpPr/>
            <p:nvPr/>
          </p:nvSpPr>
          <p:spPr>
            <a:xfrm>
              <a:off x="3379" y="2568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4" name="Text Box 186"/>
            <p:cNvSpPr txBox="1"/>
            <p:nvPr/>
          </p:nvSpPr>
          <p:spPr>
            <a:xfrm>
              <a:off x="2562" y="2613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2285" name="Line 187"/>
            <p:cNvSpPr/>
            <p:nvPr/>
          </p:nvSpPr>
          <p:spPr>
            <a:xfrm>
              <a:off x="2200" y="3566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6" name="Line 188"/>
            <p:cNvSpPr/>
            <p:nvPr/>
          </p:nvSpPr>
          <p:spPr>
            <a:xfrm>
              <a:off x="2200" y="256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87" name="Rectangle 189"/>
            <p:cNvSpPr/>
            <p:nvPr/>
          </p:nvSpPr>
          <p:spPr>
            <a:xfrm>
              <a:off x="2653" y="252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2288" name="Group 190"/>
            <p:cNvGrpSpPr/>
            <p:nvPr/>
          </p:nvGrpSpPr>
          <p:grpSpPr>
            <a:xfrm rot="5400000">
              <a:off x="2925" y="2749"/>
              <a:ext cx="499" cy="590"/>
              <a:chOff x="476" y="663"/>
              <a:chExt cx="771" cy="862"/>
            </a:xfrm>
          </p:grpSpPr>
          <p:sp>
            <p:nvSpPr>
              <p:cNvPr id="52290" name="AutoShape 191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1" name="AutoShape 192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92" name="AutoShape 193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2289" name="Text Box 194"/>
            <p:cNvSpPr txBox="1"/>
            <p:nvPr/>
          </p:nvSpPr>
          <p:spPr>
            <a:xfrm>
              <a:off x="3476" y="2885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H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68803" name="Group 195"/>
          <p:cNvGrpSpPr/>
          <p:nvPr/>
        </p:nvGrpSpPr>
        <p:grpSpPr>
          <a:xfrm>
            <a:off x="5294313" y="1698626"/>
            <a:ext cx="752475" cy="536574"/>
            <a:chOff x="1862" y="1822"/>
            <a:chExt cx="474" cy="338"/>
          </a:xfrm>
        </p:grpSpPr>
        <p:sp>
          <p:nvSpPr>
            <p:cNvPr id="52277" name="Text Box 196"/>
            <p:cNvSpPr txBox="1"/>
            <p:nvPr/>
          </p:nvSpPr>
          <p:spPr>
            <a:xfrm>
              <a:off x="1862" y="1822"/>
              <a:ext cx="47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&gt;0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52278" name="Line 197"/>
            <p:cNvSpPr/>
            <p:nvPr/>
          </p:nvSpPr>
          <p:spPr>
            <a:xfrm>
              <a:off x="1882" y="2160"/>
              <a:ext cx="454" cy="0"/>
            </a:xfrm>
            <a:prstGeom prst="line">
              <a:avLst/>
            </a:prstGeom>
            <a:ln w="76200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852" name="Group 244"/>
          <p:cNvGrpSpPr/>
          <p:nvPr/>
        </p:nvGrpSpPr>
        <p:grpSpPr>
          <a:xfrm>
            <a:off x="250825" y="1411287"/>
            <a:ext cx="5210175" cy="2378076"/>
            <a:chOff x="158" y="889"/>
            <a:chExt cx="3282" cy="1498"/>
          </a:xfrm>
        </p:grpSpPr>
        <p:sp>
          <p:nvSpPr>
            <p:cNvPr id="52240" name="Oval 200"/>
            <p:cNvSpPr/>
            <p:nvPr/>
          </p:nvSpPr>
          <p:spPr>
            <a:xfrm>
              <a:off x="657" y="1454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41" name="Line 201"/>
            <p:cNvSpPr/>
            <p:nvPr/>
          </p:nvSpPr>
          <p:spPr>
            <a:xfrm>
              <a:off x="2290" y="1318"/>
              <a:ext cx="0" cy="317"/>
            </a:xfrm>
            <a:prstGeom prst="line">
              <a:avLst/>
            </a:prstGeom>
            <a:ln w="38100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2242" name="Text Box 202"/>
            <p:cNvSpPr txBox="1"/>
            <p:nvPr/>
          </p:nvSpPr>
          <p:spPr>
            <a:xfrm>
              <a:off x="2019" y="1271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3" name="Text Box 203"/>
            <p:cNvSpPr txBox="1"/>
            <p:nvPr/>
          </p:nvSpPr>
          <p:spPr>
            <a:xfrm>
              <a:off x="548" y="889"/>
              <a:ext cx="6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4" name="Text Box 204"/>
            <p:cNvSpPr txBox="1"/>
            <p:nvPr/>
          </p:nvSpPr>
          <p:spPr>
            <a:xfrm>
              <a:off x="475" y="1180"/>
              <a:ext cx="257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5" name="Text Box 205"/>
            <p:cNvSpPr txBox="1"/>
            <p:nvPr/>
          </p:nvSpPr>
          <p:spPr>
            <a:xfrm>
              <a:off x="475" y="1725"/>
              <a:ext cx="243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6" name="Text Box 206"/>
            <p:cNvSpPr txBox="1"/>
            <p:nvPr/>
          </p:nvSpPr>
          <p:spPr>
            <a:xfrm>
              <a:off x="158" y="1498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24V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7" name="Text Box 207"/>
            <p:cNvSpPr txBox="1"/>
            <p:nvPr/>
          </p:nvSpPr>
          <p:spPr>
            <a:xfrm>
              <a:off x="2427" y="1770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8" name="Text Box 208"/>
            <p:cNvSpPr txBox="1"/>
            <p:nvPr/>
          </p:nvSpPr>
          <p:spPr>
            <a:xfrm>
              <a:off x="2426" y="1252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49" name="Line 209"/>
            <p:cNvSpPr/>
            <p:nvPr/>
          </p:nvSpPr>
          <p:spPr>
            <a:xfrm flipH="1">
              <a:off x="1473" y="1227"/>
              <a:ext cx="15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0" name="Line 210"/>
            <p:cNvSpPr/>
            <p:nvPr/>
          </p:nvSpPr>
          <p:spPr>
            <a:xfrm flipH="1">
              <a:off x="838" y="1272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51" name="Line 211"/>
            <p:cNvSpPr/>
            <p:nvPr/>
          </p:nvSpPr>
          <p:spPr>
            <a:xfrm>
              <a:off x="838" y="2387"/>
              <a:ext cx="21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2" name="Line 212"/>
            <p:cNvSpPr/>
            <p:nvPr/>
          </p:nvSpPr>
          <p:spPr>
            <a:xfrm>
              <a:off x="2380" y="2115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2253" name="Line 213"/>
            <p:cNvSpPr/>
            <p:nvPr/>
          </p:nvSpPr>
          <p:spPr>
            <a:xfrm>
              <a:off x="2380" y="1227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2254" name="Line 214"/>
            <p:cNvSpPr/>
            <p:nvPr/>
          </p:nvSpPr>
          <p:spPr>
            <a:xfrm>
              <a:off x="2970" y="1227"/>
              <a:ext cx="0" cy="11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55" name="Line 215"/>
            <p:cNvSpPr/>
            <p:nvPr/>
          </p:nvSpPr>
          <p:spPr>
            <a:xfrm>
              <a:off x="1518" y="1499"/>
              <a:ext cx="0" cy="8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2256" name="Text Box 216"/>
            <p:cNvSpPr txBox="1"/>
            <p:nvPr/>
          </p:nvSpPr>
          <p:spPr>
            <a:xfrm>
              <a:off x="863" y="188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57" name="Line 217"/>
            <p:cNvSpPr/>
            <p:nvPr/>
          </p:nvSpPr>
          <p:spPr>
            <a:xfrm flipV="1">
              <a:off x="1156" y="1207"/>
              <a:ext cx="363" cy="13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2258" name="Line 218"/>
            <p:cNvSpPr/>
            <p:nvPr/>
          </p:nvSpPr>
          <p:spPr>
            <a:xfrm flipH="1" flipV="1">
              <a:off x="1292" y="1162"/>
              <a:ext cx="85" cy="22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2259" name="Line 219"/>
            <p:cNvSpPr/>
            <p:nvPr/>
          </p:nvSpPr>
          <p:spPr>
            <a:xfrm>
              <a:off x="838" y="1272"/>
              <a:ext cx="0" cy="11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2260" name="Text Box 220"/>
            <p:cNvSpPr txBox="1"/>
            <p:nvPr/>
          </p:nvSpPr>
          <p:spPr>
            <a:xfrm>
              <a:off x="1564" y="1751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1" name="Text Box 221"/>
            <p:cNvSpPr txBox="1"/>
            <p:nvPr/>
          </p:nvSpPr>
          <p:spPr>
            <a:xfrm>
              <a:off x="3041" y="1570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2" name="Text Box 222"/>
            <p:cNvSpPr txBox="1"/>
            <p:nvPr/>
          </p:nvSpPr>
          <p:spPr>
            <a:xfrm>
              <a:off x="2063" y="1589"/>
              <a:ext cx="257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3" name="Text Box 223"/>
            <p:cNvSpPr txBox="1"/>
            <p:nvPr/>
          </p:nvSpPr>
          <p:spPr>
            <a:xfrm>
              <a:off x="2063" y="2043"/>
              <a:ext cx="2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4" name="Text Box 224"/>
            <p:cNvSpPr txBox="1"/>
            <p:nvPr/>
          </p:nvSpPr>
          <p:spPr>
            <a:xfrm>
              <a:off x="2044" y="1789"/>
              <a:ext cx="3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5" name="Text Box 225"/>
            <p:cNvSpPr txBox="1"/>
            <p:nvPr/>
          </p:nvSpPr>
          <p:spPr>
            <a:xfrm>
              <a:off x="1771" y="899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2266" name="Text Box 226"/>
            <p:cNvSpPr txBox="1"/>
            <p:nvPr/>
          </p:nvSpPr>
          <p:spPr>
            <a:xfrm>
              <a:off x="975" y="1253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7" name="Text Box 227"/>
            <p:cNvSpPr txBox="1"/>
            <p:nvPr/>
          </p:nvSpPr>
          <p:spPr>
            <a:xfrm>
              <a:off x="1518" y="1272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2268" name="Rectangle 228"/>
            <p:cNvSpPr/>
            <p:nvPr/>
          </p:nvSpPr>
          <p:spPr>
            <a:xfrm rot="5400000">
              <a:off x="2255" y="1398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69" name="Rectangle 229"/>
            <p:cNvSpPr/>
            <p:nvPr/>
          </p:nvSpPr>
          <p:spPr>
            <a:xfrm rot="5400000">
              <a:off x="1393" y="187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70" name="Rectangle 230"/>
            <p:cNvSpPr/>
            <p:nvPr/>
          </p:nvSpPr>
          <p:spPr>
            <a:xfrm rot="5400000">
              <a:off x="2845" y="1670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71" name="Rectangle 231"/>
            <p:cNvSpPr/>
            <p:nvPr/>
          </p:nvSpPr>
          <p:spPr>
            <a:xfrm>
              <a:off x="1791" y="1181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2272" name="Rectangle 232"/>
            <p:cNvSpPr/>
            <p:nvPr/>
          </p:nvSpPr>
          <p:spPr>
            <a:xfrm rot="5400000">
              <a:off x="667" y="198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2273" name="Group 233"/>
            <p:cNvGrpSpPr/>
            <p:nvPr/>
          </p:nvGrpSpPr>
          <p:grpSpPr>
            <a:xfrm>
              <a:off x="2380" y="1752"/>
              <a:ext cx="91" cy="363"/>
              <a:chOff x="2744" y="2931"/>
              <a:chExt cx="57" cy="283"/>
            </a:xfrm>
          </p:grpSpPr>
          <p:sp>
            <p:nvSpPr>
              <p:cNvPr id="52274" name="Arc 234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75" name="Arc 235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2276" name="Arc 236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  <p:bldLst>
      <p:bldP spid="68612" grpId="0"/>
      <p:bldP spid="68613" grpId="0"/>
      <p:bldP spid="6866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4692" name="Object 4"/>
          <p:cNvGraphicFramePr>
            <a:graphicFrameLocks noChangeAspect="1"/>
          </p:cNvGraphicFramePr>
          <p:nvPr/>
        </p:nvGraphicFramePr>
        <p:xfrm>
          <a:off x="1187450" y="3284538"/>
          <a:ext cx="6824663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5" name="" r:id="rId1" imgW="2560320" imgH="348615" progId="Equation.3">
                  <p:embed/>
                </p:oleObj>
              </mc:Choice>
              <mc:Fallback>
                <p:oleObj name="" r:id="rId1" imgW="2560320" imgH="348615" progId="Equation.3">
                  <p:embed/>
                  <p:pic>
                    <p:nvPicPr>
                      <p:cNvPr id="0" name="图片 3184"/>
                      <p:cNvPicPr/>
                      <p:nvPr/>
                    </p:nvPicPr>
                    <p:blipFill>
                      <a:blip r:embed="rId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284538"/>
                        <a:ext cx="6824663" cy="1085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4765" name="Object 77"/>
          <p:cNvGraphicFramePr>
            <a:graphicFrameLocks noChangeAspect="1"/>
          </p:cNvGraphicFramePr>
          <p:nvPr/>
        </p:nvGraphicFramePr>
        <p:xfrm>
          <a:off x="1204913" y="4292600"/>
          <a:ext cx="5311775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4" name="" r:id="rId3" imgW="1784985" imgH="348615" progId="Equation.3">
                  <p:embed/>
                </p:oleObj>
              </mc:Choice>
              <mc:Fallback>
                <p:oleObj name="" r:id="rId3" imgW="1784985" imgH="348615" progId="Equation.3">
                  <p:embed/>
                  <p:pic>
                    <p:nvPicPr>
                      <p:cNvPr id="0" name="图片 3183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204913" y="4292600"/>
                        <a:ext cx="5311775" cy="1077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3254" name="Group 84"/>
          <p:cNvGrpSpPr/>
          <p:nvPr/>
        </p:nvGrpSpPr>
        <p:grpSpPr>
          <a:xfrm>
            <a:off x="6156325" y="836613"/>
            <a:ext cx="2643188" cy="2087562"/>
            <a:chOff x="2200" y="2251"/>
            <a:chExt cx="1665" cy="1315"/>
          </a:xfrm>
        </p:grpSpPr>
        <p:sp>
          <p:nvSpPr>
            <p:cNvPr id="53299" name="Line 85"/>
            <p:cNvSpPr/>
            <p:nvPr/>
          </p:nvSpPr>
          <p:spPr>
            <a:xfrm>
              <a:off x="2200" y="2568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3300" name="Group 86"/>
            <p:cNvGrpSpPr/>
            <p:nvPr/>
          </p:nvGrpSpPr>
          <p:grpSpPr>
            <a:xfrm>
              <a:off x="2336" y="2251"/>
              <a:ext cx="247" cy="373"/>
              <a:chOff x="1872" y="467"/>
              <a:chExt cx="240" cy="301"/>
            </a:xfrm>
          </p:grpSpPr>
          <p:sp>
            <p:nvSpPr>
              <p:cNvPr id="53317" name="Line 87"/>
              <p:cNvSpPr/>
              <p:nvPr/>
            </p:nvSpPr>
            <p:spPr>
              <a:xfrm>
                <a:off x="1872" y="768"/>
                <a:ext cx="240" cy="0"/>
              </a:xfrm>
              <a:prstGeom prst="line">
                <a:avLst/>
              </a:prstGeom>
              <a:ln w="28575" cap="flat" cmpd="sng">
                <a:solidFill>
                  <a:srgbClr val="00FFFF"/>
                </a:solidFill>
                <a:prstDash val="solid"/>
                <a:headEnd type="none" w="med" len="med"/>
                <a:tailEnd type="triangle" w="med" len="med"/>
              </a:ln>
            </p:spPr>
          </p:sp>
          <p:sp>
            <p:nvSpPr>
              <p:cNvPr id="53318" name="Text Box 88"/>
              <p:cNvSpPr txBox="1"/>
              <p:nvPr/>
            </p:nvSpPr>
            <p:spPr>
              <a:xfrm>
                <a:off x="1873" y="467"/>
                <a:ext cx="181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i</a:t>
                </a:r>
                <a:endPara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endParaRPr>
              </a:p>
            </p:txBody>
          </p:sp>
        </p:grpSp>
        <p:grpSp>
          <p:nvGrpSpPr>
            <p:cNvPr id="53301" name="Group 89"/>
            <p:cNvGrpSpPr/>
            <p:nvPr/>
          </p:nvGrpSpPr>
          <p:grpSpPr>
            <a:xfrm>
              <a:off x="3017" y="2704"/>
              <a:ext cx="318" cy="765"/>
              <a:chOff x="1979" y="748"/>
              <a:chExt cx="308" cy="617"/>
            </a:xfrm>
          </p:grpSpPr>
          <p:grpSp>
            <p:nvGrpSpPr>
              <p:cNvPr id="53313" name="Group 90"/>
              <p:cNvGrpSpPr/>
              <p:nvPr/>
            </p:nvGrpSpPr>
            <p:grpSpPr>
              <a:xfrm>
                <a:off x="2069" y="748"/>
                <a:ext cx="218" cy="617"/>
                <a:chOff x="1637" y="1276"/>
                <a:chExt cx="218" cy="617"/>
              </a:xfrm>
            </p:grpSpPr>
            <p:sp>
              <p:nvSpPr>
                <p:cNvPr id="53315" name="Text Box 91"/>
                <p:cNvSpPr txBox="1"/>
                <p:nvPr/>
              </p:nvSpPr>
              <p:spPr>
                <a:xfrm>
                  <a:off x="1637" y="1276"/>
                  <a:ext cx="218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+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  <p:sp>
              <p:nvSpPr>
                <p:cNvPr id="53316" name="Text Box 92"/>
                <p:cNvSpPr txBox="1"/>
                <p:nvPr/>
              </p:nvSpPr>
              <p:spPr>
                <a:xfrm>
                  <a:off x="1639" y="1659"/>
                  <a:ext cx="205" cy="234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none" anchor="ctr" anchorCtr="0">
                  <a:spAutoFit/>
                </a:bodyPr>
                <a:p>
                  <a:pPr algn="ctr" eaLnBrk="1" hangingPunct="1"/>
                  <a:r>
                    <a:rPr lang="en-US" altLang="zh-CN" sz="2400" dirty="0">
                      <a:solidFill>
                        <a:schemeClr val="bg1"/>
                      </a:solidFill>
                      <a:latin typeface="Times New Roman" panose="02020603050405020304" pitchFamily="18" charset="0"/>
                      <a:ea typeface="黑体" panose="02010609060101010101" pitchFamily="2" charset="-122"/>
                    </a:rPr>
                    <a:t>–</a:t>
                  </a:r>
                  <a:endParaRPr lang="en-US" altLang="zh-CN" sz="24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endParaRPr>
                </a:p>
              </p:txBody>
            </p:sp>
          </p:grpSp>
          <p:sp>
            <p:nvSpPr>
              <p:cNvPr id="53314" name="Text Box 93"/>
              <p:cNvSpPr txBox="1"/>
              <p:nvPr/>
            </p:nvSpPr>
            <p:spPr>
              <a:xfrm>
                <a:off x="1979" y="900"/>
                <a:ext cx="302" cy="29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anchor="ctr" anchorCtr="0">
                <a:spAutoFit/>
              </a:bodyPr>
              <a:p>
                <a:pPr algn="ctr" eaLnBrk="1" hangingPunct="1"/>
                <a:r>
                  <a:rPr lang="en-US" altLang="zh-CN" sz="3200" b="0" i="1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u</a:t>
                </a:r>
                <a:r>
                  <a:rPr lang="en-US" altLang="zh-CN" sz="2400" b="0" i="1" baseline="-25000" dirty="0">
                    <a:solidFill>
                      <a:schemeClr val="bg1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L</a:t>
                </a:r>
                <a:endParaRPr lang="en-US" altLang="zh-CN" sz="2400" b="0" dirty="0">
                  <a:latin typeface="Arial" panose="020B0604020202020204" pitchFamily="34" charset="0"/>
                  <a:ea typeface="黑体" panose="02010609060101010101" pitchFamily="2" charset="-122"/>
                </a:endParaRPr>
              </a:p>
            </p:txBody>
          </p:sp>
        </p:grpSp>
        <p:sp>
          <p:nvSpPr>
            <p:cNvPr id="53302" name="Line 94"/>
            <p:cNvSpPr/>
            <p:nvPr/>
          </p:nvSpPr>
          <p:spPr>
            <a:xfrm flipV="1">
              <a:off x="3379" y="3249"/>
              <a:ext cx="0" cy="317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3" name="Line 95"/>
            <p:cNvSpPr/>
            <p:nvPr/>
          </p:nvSpPr>
          <p:spPr>
            <a:xfrm>
              <a:off x="3379" y="2568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4" name="Text Box 96"/>
            <p:cNvSpPr txBox="1"/>
            <p:nvPr/>
          </p:nvSpPr>
          <p:spPr>
            <a:xfrm>
              <a:off x="2562" y="2613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53305" name="Line 97"/>
            <p:cNvSpPr/>
            <p:nvPr/>
          </p:nvSpPr>
          <p:spPr>
            <a:xfrm>
              <a:off x="2200" y="3566"/>
              <a:ext cx="1179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6" name="Line 98"/>
            <p:cNvSpPr/>
            <p:nvPr/>
          </p:nvSpPr>
          <p:spPr>
            <a:xfrm>
              <a:off x="2200" y="2568"/>
              <a:ext cx="0" cy="99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307" name="Rectangle 99"/>
            <p:cNvSpPr/>
            <p:nvPr/>
          </p:nvSpPr>
          <p:spPr>
            <a:xfrm>
              <a:off x="2653" y="252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3308" name="Group 100"/>
            <p:cNvGrpSpPr/>
            <p:nvPr/>
          </p:nvGrpSpPr>
          <p:grpSpPr>
            <a:xfrm rot="5400000">
              <a:off x="2925" y="2749"/>
              <a:ext cx="499" cy="590"/>
              <a:chOff x="476" y="663"/>
              <a:chExt cx="771" cy="862"/>
            </a:xfrm>
          </p:grpSpPr>
          <p:sp>
            <p:nvSpPr>
              <p:cNvPr id="53310" name="AutoShape 101"/>
              <p:cNvSpPr/>
              <p:nvPr/>
            </p:nvSpPr>
            <p:spPr>
              <a:xfrm>
                <a:off x="476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11" name="AutoShape 102"/>
              <p:cNvSpPr/>
              <p:nvPr/>
            </p:nvSpPr>
            <p:spPr>
              <a:xfrm>
                <a:off x="703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312" name="AutoShape 103"/>
              <p:cNvSpPr/>
              <p:nvPr/>
            </p:nvSpPr>
            <p:spPr>
              <a:xfrm>
                <a:off x="930" y="663"/>
                <a:ext cx="317" cy="862"/>
              </a:xfrm>
              <a:custGeom>
                <a:avLst/>
                <a:gdLst>
                  <a:gd name="txL" fmla="*/ 1295 w 21600"/>
                  <a:gd name="txT" fmla="*/ 0 h 21600"/>
                  <a:gd name="txR" fmla="*/ 20305 w 21600"/>
                  <a:gd name="txB" fmla="*/ 5713 h 2160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1600" h="21600">
                    <a:moveTo>
                      <a:pt x="2646" y="3717"/>
                    </a:moveTo>
                    <a:cubicBezTo>
                      <a:pt x="4698" y="1356"/>
                      <a:pt x="7672" y="-1"/>
                      <a:pt x="10800" y="0"/>
                    </a:cubicBezTo>
                    <a:cubicBezTo>
                      <a:pt x="13927" y="0"/>
                      <a:pt x="16901" y="1356"/>
                      <a:pt x="18953" y="3717"/>
                    </a:cubicBezTo>
                    <a:cubicBezTo>
                      <a:pt x="16901" y="1356"/>
                      <a:pt x="13927" y="-1"/>
                      <a:pt x="10799" y="0"/>
                    </a:cubicBezTo>
                    <a:cubicBezTo>
                      <a:pt x="7672" y="0"/>
                      <a:pt x="4698" y="1356"/>
                      <a:pt x="2646" y="3717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764700">
                      <a:alpha val="100000"/>
                    </a:srgbClr>
                  </a:gs>
                  <a:gs pos="50000">
                    <a:srgbClr val="FF9900">
                      <a:alpha val="100000"/>
                    </a:srgbClr>
                  </a:gs>
                  <a:gs pos="100000">
                    <a:srgbClr val="764700">
                      <a:alpha val="100000"/>
                    </a:srgbClr>
                  </a:gs>
                </a:gsLst>
                <a:lin ang="5400000" scaled="1"/>
                <a:tileRect/>
              </a:gradFill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53309" name="Text Box 104"/>
            <p:cNvSpPr txBox="1"/>
            <p:nvPr/>
          </p:nvSpPr>
          <p:spPr>
            <a:xfrm>
              <a:off x="3476" y="2885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H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  <a:sym typeface="Symbol" panose="05050102010706020507" pitchFamily="18" charset="2"/>
              </a:endParaRPr>
            </a:p>
          </p:txBody>
        </p:sp>
      </p:grpSp>
      <p:grpSp>
        <p:nvGrpSpPr>
          <p:cNvPr id="53255" name="Group 144"/>
          <p:cNvGrpSpPr/>
          <p:nvPr/>
        </p:nvGrpSpPr>
        <p:grpSpPr>
          <a:xfrm>
            <a:off x="5078413" y="1266826"/>
            <a:ext cx="752475" cy="536574"/>
            <a:chOff x="1862" y="1822"/>
            <a:chExt cx="474" cy="338"/>
          </a:xfrm>
        </p:grpSpPr>
        <p:sp>
          <p:nvSpPr>
            <p:cNvPr id="53297" name="Text Box 51"/>
            <p:cNvSpPr txBox="1"/>
            <p:nvPr/>
          </p:nvSpPr>
          <p:spPr>
            <a:xfrm>
              <a:off x="1862" y="1822"/>
              <a:ext cx="472" cy="329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/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&gt;0</a:t>
              </a:r>
              <a:endParaRPr lang="en-US" altLang="zh-CN" b="0" dirty="0">
                <a:latin typeface="Arial" panose="020B0604020202020204" pitchFamily="34" charset="0"/>
                <a:ea typeface="黑体" panose="02010609060101010101" pitchFamily="2" charset="-122"/>
              </a:endParaRPr>
            </a:p>
          </p:txBody>
        </p:sp>
        <p:sp>
          <p:nvSpPr>
            <p:cNvPr id="53298" name="Line 143"/>
            <p:cNvSpPr/>
            <p:nvPr/>
          </p:nvSpPr>
          <p:spPr>
            <a:xfrm>
              <a:off x="1882" y="2160"/>
              <a:ext cx="454" cy="0"/>
            </a:xfrm>
            <a:prstGeom prst="line">
              <a:avLst/>
            </a:prstGeom>
            <a:ln w="76200" cap="flat" cmpd="sng">
              <a:solidFill>
                <a:srgbClr val="0099FF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53256" name="Group 146"/>
          <p:cNvGrpSpPr/>
          <p:nvPr/>
        </p:nvGrpSpPr>
        <p:grpSpPr>
          <a:xfrm>
            <a:off x="179388" y="690562"/>
            <a:ext cx="5210175" cy="2378076"/>
            <a:chOff x="2064" y="1524"/>
            <a:chExt cx="3282" cy="1498"/>
          </a:xfrm>
        </p:grpSpPr>
        <p:sp>
          <p:nvSpPr>
            <p:cNvPr id="53260" name="Oval 147"/>
            <p:cNvSpPr/>
            <p:nvPr/>
          </p:nvSpPr>
          <p:spPr>
            <a:xfrm>
              <a:off x="2563" y="2089"/>
              <a:ext cx="363" cy="363"/>
            </a:xfrm>
            <a:prstGeom prst="ellipse">
              <a:avLst/>
            </a:prstGeom>
            <a:gradFill rotWithShape="1">
              <a:gsLst>
                <a:gs pos="0">
                  <a:srgbClr val="0099FF"/>
                </a:gs>
                <a:gs pos="100000">
                  <a:srgbClr val="004776"/>
                </a:gs>
              </a:gsLst>
              <a:path path="shape">
                <a:fillToRect l="50000" t="50000" r="50000" b="50000"/>
              </a:path>
              <a:tileRect/>
            </a:gradFill>
            <a:ln w="38100" cap="flat" cmpd="sng">
              <a:solidFill>
                <a:srgbClr val="FF99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3261" name="Line 148"/>
            <p:cNvSpPr/>
            <p:nvPr/>
          </p:nvSpPr>
          <p:spPr>
            <a:xfrm>
              <a:off x="4196" y="1953"/>
              <a:ext cx="0" cy="317"/>
            </a:xfrm>
            <a:prstGeom prst="line">
              <a:avLst/>
            </a:prstGeom>
            <a:ln w="28575" cap="flat" cmpd="sng">
              <a:solidFill>
                <a:srgbClr val="00FFFF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53262" name="Text Box 149"/>
            <p:cNvSpPr txBox="1"/>
            <p:nvPr/>
          </p:nvSpPr>
          <p:spPr>
            <a:xfrm>
              <a:off x="3925" y="1906"/>
              <a:ext cx="25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63" name="Text Box 150"/>
            <p:cNvSpPr txBox="1"/>
            <p:nvPr/>
          </p:nvSpPr>
          <p:spPr>
            <a:xfrm>
              <a:off x="2454" y="1524"/>
              <a:ext cx="6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S(</a:t>
              </a: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t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=0)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64" name="Text Box 151"/>
            <p:cNvSpPr txBox="1"/>
            <p:nvPr/>
          </p:nvSpPr>
          <p:spPr>
            <a:xfrm>
              <a:off x="2381" y="1815"/>
              <a:ext cx="257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65" name="Text Box 152"/>
            <p:cNvSpPr txBox="1"/>
            <p:nvPr/>
          </p:nvSpPr>
          <p:spPr>
            <a:xfrm>
              <a:off x="2381" y="2360"/>
              <a:ext cx="243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–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66" name="Text Box 153"/>
            <p:cNvSpPr txBox="1"/>
            <p:nvPr/>
          </p:nvSpPr>
          <p:spPr>
            <a:xfrm>
              <a:off x="2064" y="2133"/>
              <a:ext cx="590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24V</a:t>
              </a:r>
              <a:endParaRPr lang="en-US" altLang="zh-CN" b="0" baseline="-25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67" name="Text Box 154"/>
            <p:cNvSpPr txBox="1"/>
            <p:nvPr/>
          </p:nvSpPr>
          <p:spPr>
            <a:xfrm>
              <a:off x="4333" y="2405"/>
              <a:ext cx="38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6H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68" name="Text Box 155"/>
            <p:cNvSpPr txBox="1"/>
            <p:nvPr/>
          </p:nvSpPr>
          <p:spPr>
            <a:xfrm>
              <a:off x="4332" y="1887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3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69" name="Line 156"/>
            <p:cNvSpPr/>
            <p:nvPr/>
          </p:nvSpPr>
          <p:spPr>
            <a:xfrm flipH="1">
              <a:off x="3379" y="1862"/>
              <a:ext cx="1512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0" name="Line 157"/>
            <p:cNvSpPr/>
            <p:nvPr/>
          </p:nvSpPr>
          <p:spPr>
            <a:xfrm flipH="1">
              <a:off x="2744" y="1907"/>
              <a:ext cx="31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271" name="Line 158"/>
            <p:cNvSpPr/>
            <p:nvPr/>
          </p:nvSpPr>
          <p:spPr>
            <a:xfrm>
              <a:off x="2744" y="3022"/>
              <a:ext cx="2148" cy="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2" name="Line 159"/>
            <p:cNvSpPr/>
            <p:nvPr/>
          </p:nvSpPr>
          <p:spPr>
            <a:xfrm>
              <a:off x="4286" y="2750"/>
              <a:ext cx="0" cy="272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3273" name="Line 160"/>
            <p:cNvSpPr/>
            <p:nvPr/>
          </p:nvSpPr>
          <p:spPr>
            <a:xfrm>
              <a:off x="4286" y="1862"/>
              <a:ext cx="0" cy="544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none" w="med" len="med"/>
            </a:ln>
          </p:spPr>
        </p:sp>
        <p:sp>
          <p:nvSpPr>
            <p:cNvPr id="53274" name="Line 161"/>
            <p:cNvSpPr/>
            <p:nvPr/>
          </p:nvSpPr>
          <p:spPr>
            <a:xfrm>
              <a:off x="4876" y="1862"/>
              <a:ext cx="0" cy="1160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75" name="Line 162"/>
            <p:cNvSpPr/>
            <p:nvPr/>
          </p:nvSpPr>
          <p:spPr>
            <a:xfrm>
              <a:off x="3424" y="2134"/>
              <a:ext cx="0" cy="88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oval" w="med" len="med"/>
              <a:tailEnd type="oval" w="med" len="med"/>
            </a:ln>
          </p:spPr>
        </p:sp>
        <p:sp>
          <p:nvSpPr>
            <p:cNvPr id="53276" name="Text Box 163"/>
            <p:cNvSpPr txBox="1"/>
            <p:nvPr/>
          </p:nvSpPr>
          <p:spPr>
            <a:xfrm>
              <a:off x="2769" y="2522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77" name="Line 164"/>
            <p:cNvSpPr/>
            <p:nvPr/>
          </p:nvSpPr>
          <p:spPr>
            <a:xfrm>
              <a:off x="3016" y="1816"/>
              <a:ext cx="384" cy="48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oval" w="med" len="med"/>
            </a:ln>
          </p:spPr>
        </p:sp>
        <p:sp>
          <p:nvSpPr>
            <p:cNvPr id="53278" name="Line 165"/>
            <p:cNvSpPr/>
            <p:nvPr/>
          </p:nvSpPr>
          <p:spPr>
            <a:xfrm flipH="1" flipV="1">
              <a:off x="3107" y="1590"/>
              <a:ext cx="85" cy="226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triangle" w="med" len="med"/>
              <a:tailEnd type="none" w="med" len="med"/>
            </a:ln>
          </p:spPr>
        </p:sp>
        <p:sp>
          <p:nvSpPr>
            <p:cNvPr id="53279" name="Line 166"/>
            <p:cNvSpPr/>
            <p:nvPr/>
          </p:nvSpPr>
          <p:spPr>
            <a:xfrm>
              <a:off x="2744" y="1907"/>
              <a:ext cx="0" cy="1115"/>
            </a:xfrm>
            <a:prstGeom prst="line">
              <a:avLst/>
            </a:prstGeom>
            <a:ln w="28575" cap="flat" cmpd="sng">
              <a:solidFill>
                <a:srgbClr val="FFCC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80" name="Text Box 167"/>
            <p:cNvSpPr txBox="1"/>
            <p:nvPr/>
          </p:nvSpPr>
          <p:spPr>
            <a:xfrm>
              <a:off x="3470" y="2386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4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81" name="Text Box 168"/>
            <p:cNvSpPr txBox="1"/>
            <p:nvPr/>
          </p:nvSpPr>
          <p:spPr>
            <a:xfrm>
              <a:off x="4947" y="2205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6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82" name="Text Box 169"/>
            <p:cNvSpPr txBox="1"/>
            <p:nvPr/>
          </p:nvSpPr>
          <p:spPr>
            <a:xfrm>
              <a:off x="3969" y="2224"/>
              <a:ext cx="257" cy="290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endPara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83" name="Text Box 170"/>
            <p:cNvSpPr txBox="1"/>
            <p:nvPr/>
          </p:nvSpPr>
          <p:spPr>
            <a:xfrm>
              <a:off x="3969" y="2678"/>
              <a:ext cx="257" cy="288"/>
            </a:xfrm>
            <a:prstGeom prst="rect">
              <a:avLst/>
            </a:prstGeom>
            <a:noFill/>
            <a:ln w="28575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zh-CN" alt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－</a:t>
              </a:r>
              <a:endPara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4" name="Text Box 171"/>
            <p:cNvSpPr txBox="1"/>
            <p:nvPr/>
          </p:nvSpPr>
          <p:spPr>
            <a:xfrm>
              <a:off x="3949" y="2424"/>
              <a:ext cx="308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85" name="Text Box 172"/>
            <p:cNvSpPr txBox="1"/>
            <p:nvPr/>
          </p:nvSpPr>
          <p:spPr>
            <a:xfrm>
              <a:off x="3677" y="1534"/>
              <a:ext cx="399" cy="32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2</a:t>
              </a: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  <a:sym typeface="Symbol" panose="05050102010706020507" pitchFamily="18" charset="2"/>
                </a:rPr>
                <a:t>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3286" name="Text Box 173"/>
            <p:cNvSpPr txBox="1"/>
            <p:nvPr/>
          </p:nvSpPr>
          <p:spPr>
            <a:xfrm>
              <a:off x="2971" y="1888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7" name="Text Box 174"/>
            <p:cNvSpPr txBox="1"/>
            <p:nvPr/>
          </p:nvSpPr>
          <p:spPr>
            <a:xfrm>
              <a:off x="3424" y="1907"/>
              <a:ext cx="2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dirty="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en-US" altLang="zh-CN" b="0" dirty="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53288" name="Rectangle 175"/>
            <p:cNvSpPr/>
            <p:nvPr/>
          </p:nvSpPr>
          <p:spPr>
            <a:xfrm rot="5400000">
              <a:off x="4161" y="2033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3289" name="Rectangle 176"/>
            <p:cNvSpPr/>
            <p:nvPr/>
          </p:nvSpPr>
          <p:spPr>
            <a:xfrm rot="5400000">
              <a:off x="3299" y="2507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3290" name="Rectangle 177"/>
            <p:cNvSpPr/>
            <p:nvPr/>
          </p:nvSpPr>
          <p:spPr>
            <a:xfrm rot="5400000">
              <a:off x="4751" y="2305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3291" name="Rectangle 178"/>
            <p:cNvSpPr/>
            <p:nvPr/>
          </p:nvSpPr>
          <p:spPr>
            <a:xfrm>
              <a:off x="3697" y="1816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sp>
          <p:nvSpPr>
            <p:cNvPr id="53292" name="Rectangle 179"/>
            <p:cNvSpPr/>
            <p:nvPr/>
          </p:nvSpPr>
          <p:spPr>
            <a:xfrm rot="5400000">
              <a:off x="2573" y="2622"/>
              <a:ext cx="297" cy="137"/>
            </a:xfrm>
            <a:prstGeom prst="rect">
              <a:avLst/>
            </a:prstGeom>
            <a:gradFill rotWithShape="1">
              <a:gsLst>
                <a:gs pos="0">
                  <a:srgbClr val="764700"/>
                </a:gs>
                <a:gs pos="50000">
                  <a:srgbClr val="FF9900"/>
                </a:gs>
                <a:gs pos="100000">
                  <a:srgbClr val="764700"/>
                </a:gs>
              </a:gsLst>
              <a:lin ang="5400000" scaled="1"/>
              <a:tileRect/>
            </a:gradFill>
            <a:ln w="28575">
              <a:noFill/>
            </a:ln>
          </p:spPr>
          <p:txBody>
            <a:bodyPr wrap="none" anchor="ctr" anchorCtr="0"/>
            <a:p>
              <a:pPr eaLnBrk="1" hangingPunct="1"/>
              <a:endParaRPr lang="en-US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53293" name="Group 180"/>
            <p:cNvGrpSpPr/>
            <p:nvPr/>
          </p:nvGrpSpPr>
          <p:grpSpPr>
            <a:xfrm>
              <a:off x="4286" y="2387"/>
              <a:ext cx="91" cy="363"/>
              <a:chOff x="2744" y="2931"/>
              <a:chExt cx="57" cy="283"/>
            </a:xfrm>
          </p:grpSpPr>
          <p:sp>
            <p:nvSpPr>
              <p:cNvPr id="53294" name="Arc 181"/>
              <p:cNvSpPr/>
              <p:nvPr/>
            </p:nvSpPr>
            <p:spPr>
              <a:xfrm rot="10800000" flipH="1" flipV="1">
                <a:off x="2744" y="2931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95" name="Arc 182"/>
              <p:cNvSpPr/>
              <p:nvPr/>
            </p:nvSpPr>
            <p:spPr>
              <a:xfrm rot="10800000" flipH="1" flipV="1">
                <a:off x="2744" y="3027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3296" name="Arc 183"/>
              <p:cNvSpPr/>
              <p:nvPr/>
            </p:nvSpPr>
            <p:spPr>
              <a:xfrm rot="10800000" flipH="1" flipV="1">
                <a:off x="2744" y="3123"/>
                <a:ext cx="57" cy="9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pathLst>
                  <a:path w="22723" h="43200" fill="none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</a:path>
                  <a:path w="22723" h="43200" stroke="0">
                    <a:moveTo>
                      <a:pt x="1122" y="0"/>
                    </a:moveTo>
                    <a:cubicBezTo>
                      <a:pt x="13052" y="0"/>
                      <a:pt x="22723" y="9670"/>
                      <a:pt x="22723" y="21600"/>
                    </a:cubicBezTo>
                    <a:cubicBezTo>
                      <a:pt x="22723" y="33529"/>
                      <a:pt x="13052" y="43200"/>
                      <a:pt x="1123" y="43200"/>
                    </a:cubicBezTo>
                    <a:cubicBezTo>
                      <a:pt x="748" y="43200"/>
                      <a:pt x="374" y="43190"/>
                      <a:pt x="0" y="43170"/>
                    </a:cubicBezTo>
                    <a:lnTo>
                      <a:pt x="1123" y="21600"/>
                    </a:lnTo>
                    <a:lnTo>
                      <a:pt x="1122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FF99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2" name="文本框 1"/>
          <p:cNvSpPr txBox="1"/>
          <p:nvPr/>
        </p:nvSpPr>
        <p:spPr>
          <a:xfrm>
            <a:off x="9847580" y="4250055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90" name="Text Box 6"/>
          <p:cNvSpPr txBox="1"/>
          <p:nvPr/>
        </p:nvSpPr>
        <p:spPr>
          <a:xfrm>
            <a:off x="611188" y="1119982"/>
            <a:ext cx="7715250" cy="16414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一阶电路的零输入响应是由储能元件的初值引起的响应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都是由初始值衰减为零的指数衰减函数。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4275" name="Text Box 11"/>
          <p:cNvSpPr txBox="1"/>
          <p:nvPr/>
        </p:nvSpPr>
        <p:spPr>
          <a:xfrm>
            <a:off x="2374900" y="2352675"/>
            <a:ext cx="309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en-US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7609" name="Group 25"/>
          <p:cNvGrpSpPr/>
          <p:nvPr/>
        </p:nvGrpSpPr>
        <p:grpSpPr>
          <a:xfrm>
            <a:off x="1979613" y="4219576"/>
            <a:ext cx="4636505" cy="1316038"/>
            <a:chOff x="2880" y="1206"/>
            <a:chExt cx="2468" cy="829"/>
          </a:xfrm>
        </p:grpSpPr>
        <p:sp>
          <p:nvSpPr>
            <p:cNvPr id="54290" name="Text Box 15"/>
            <p:cNvSpPr txBox="1"/>
            <p:nvPr/>
          </p:nvSpPr>
          <p:spPr>
            <a:xfrm>
              <a:off x="3696" y="1614"/>
              <a:ext cx="1498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i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L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4291" name="Text Box 19"/>
            <p:cNvSpPr txBox="1"/>
            <p:nvPr/>
          </p:nvSpPr>
          <p:spPr>
            <a:xfrm>
              <a:off x="3822" y="1206"/>
              <a:ext cx="1526" cy="368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none" anchor="ctr" anchorCtr="0">
              <a:spAutoFit/>
            </a:bodyPr>
            <a:p>
              <a:pPr algn="ctr" eaLnBrk="1" hangingPunct="1">
                <a:spcBef>
                  <a:spcPct val="50000"/>
                </a:spcBef>
              </a:pP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+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 = </a:t>
              </a:r>
              <a:r>
                <a:rPr lang="en-US" altLang="zh-CN" sz="3200" b="0" i="1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u</a:t>
              </a:r>
              <a:r>
                <a:rPr lang="en-US" altLang="zh-CN" sz="3200" b="0" i="1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C</a:t>
              </a:r>
              <a:r>
                <a:rPr lang="en-US" altLang="zh-CN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 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(0</a:t>
              </a:r>
              <a:r>
                <a:rPr lang="zh-CN" altLang="en-US" sz="3200" b="0" baseline="-2500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－</a:t>
              </a:r>
              <a:r>
                <a:rPr lang="en-US" altLang="zh-CN" sz="3200" b="0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)</a:t>
              </a:r>
              <a:endParaRPr lang="en-US" altLang="zh-CN" sz="3200" b="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4292" name="Text Box 23"/>
            <p:cNvSpPr txBox="1"/>
            <p:nvPr/>
          </p:nvSpPr>
          <p:spPr>
            <a:xfrm>
              <a:off x="2925" y="1344"/>
              <a:ext cx="8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RC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电路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  <p:sp>
          <p:nvSpPr>
            <p:cNvPr id="54293" name="Text Box 24"/>
            <p:cNvSpPr txBox="1"/>
            <p:nvPr/>
          </p:nvSpPr>
          <p:spPr>
            <a:xfrm>
              <a:off x="2880" y="1706"/>
              <a:ext cx="861" cy="32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b="0" i="1" dirty="0">
                  <a:latin typeface="Times New Roman" panose="02020603050405020304" pitchFamily="18" charset="0"/>
                  <a:ea typeface="黑体" panose="02010609060101010101" pitchFamily="2" charset="-122"/>
                </a:rPr>
                <a:t>RL</a:t>
              </a:r>
              <a:r>
                <a:rPr lang="zh-CN" altLang="en-US" dirty="0">
                  <a:latin typeface="Times New Roman" panose="02020603050405020304" pitchFamily="18" charset="0"/>
                  <a:ea typeface="黑体" panose="02010609060101010101" pitchFamily="2" charset="-122"/>
                </a:rPr>
                <a:t>电路</a:t>
              </a:r>
              <a:endParaRPr lang="zh-CN" altLang="en-US" dirty="0"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pSp>
        <p:nvGrpSpPr>
          <p:cNvPr id="67622" name="Group 38"/>
          <p:cNvGrpSpPr/>
          <p:nvPr/>
        </p:nvGrpSpPr>
        <p:grpSpPr>
          <a:xfrm>
            <a:off x="611188" y="476250"/>
            <a:ext cx="1643063" cy="850900"/>
            <a:chOff x="385" y="3022"/>
            <a:chExt cx="1035" cy="536"/>
          </a:xfrm>
        </p:grpSpPr>
        <p:pic>
          <p:nvPicPr>
            <p:cNvPr id="54284" name="Picture 39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4285" name="Text Box 40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小结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graphicFrame>
        <p:nvGraphicFramePr>
          <p:cNvPr id="2" name="对象 1"/>
          <p:cNvGraphicFramePr/>
          <p:nvPr>
            <p:custDataLst>
              <p:tags r:id="rId2"/>
            </p:custDataLst>
          </p:nvPr>
        </p:nvGraphicFramePr>
        <p:xfrm>
          <a:off x="2411730" y="3068955"/>
          <a:ext cx="3216910" cy="5924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5081905" imgH="1147445" progId="Equation.KSEE3">
                  <p:embed/>
                </p:oleObj>
              </mc:Choice>
              <mc:Fallback>
                <p:oleObj name="" r:id="rId3" imgW="5081905" imgH="1147445" progId="Equation.KSEE3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30" y="3068955"/>
                        <a:ext cx="3216910" cy="59245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  <p:bldLst>
      <p:bldP spid="6759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5714" name="Text Box 2"/>
          <p:cNvSpPr txBox="1"/>
          <p:nvPr/>
        </p:nvSpPr>
        <p:spPr>
          <a:xfrm>
            <a:off x="900113" y="4539933"/>
            <a:ext cx="7099300" cy="112458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p>
            <a:pPr marL="342900" indent="-342900" eaLnBrk="1" hangingPunct="1">
              <a:lnSpc>
                <a:spcPct val="120000"/>
              </a:lnSpc>
              <a:buAutoNum type="circleNumDbPlain" startAt="4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</a:rPr>
              <a:t>一阶电路的零输入响应和初始值成正比，称为零输入线性。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5716" name="Text Box 4"/>
          <p:cNvSpPr txBox="1"/>
          <p:nvPr/>
        </p:nvSpPr>
        <p:spPr>
          <a:xfrm>
            <a:off x="900113" y="1301909"/>
            <a:ext cx="4629785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eaLnBrk="1" hangingPunct="1">
              <a:buAutoNum type="circleNumDbPlain" startAt="2"/>
            </a:pPr>
            <a:r>
              <a:rPr lang="zh-CN" altLang="zh-CN" dirty="0">
                <a:latin typeface="Times New Roman" panose="02020603050405020304" pitchFamily="18" charset="0"/>
                <a:ea typeface="黑体" panose="02010609060101010101" pitchFamily="2" charset="-122"/>
              </a:rPr>
              <a:t>衰减快慢取决于时间常数</a:t>
            </a:r>
            <a:r>
              <a:rPr lang="zh-CN" altLang="en-US" i="1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endParaRPr lang="zh-CN" altLang="en-US" b="0" dirty="0"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5717" name="Text Box 5"/>
          <p:cNvSpPr txBox="1"/>
          <p:nvPr/>
        </p:nvSpPr>
        <p:spPr>
          <a:xfrm>
            <a:off x="900113" y="3935572"/>
            <a:ext cx="733298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marL="342900" indent="-342900" eaLnBrk="1" hangingPunct="1">
              <a:buAutoNum type="circleNumDbPlain" startAt="3"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同一电路中所有响应具有相同的时间常数。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5301" name="Text Box 6"/>
          <p:cNvSpPr txBox="1"/>
          <p:nvPr/>
        </p:nvSpPr>
        <p:spPr>
          <a:xfrm>
            <a:off x="2374900" y="2530475"/>
            <a:ext cx="3098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en-US" altLang="en-US" sz="2400" b="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55304" name="Group 19"/>
          <p:cNvGrpSpPr/>
          <p:nvPr/>
        </p:nvGrpSpPr>
        <p:grpSpPr>
          <a:xfrm>
            <a:off x="468313" y="476250"/>
            <a:ext cx="1643063" cy="850900"/>
            <a:chOff x="385" y="3022"/>
            <a:chExt cx="1035" cy="536"/>
          </a:xfrm>
        </p:grpSpPr>
        <p:pic>
          <p:nvPicPr>
            <p:cNvPr id="55313" name="Picture 20" descr="12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85" y="3022"/>
              <a:ext cx="590" cy="53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55314" name="Text Box 21"/>
            <p:cNvSpPr txBox="1"/>
            <p:nvPr/>
          </p:nvSpPr>
          <p:spPr>
            <a:xfrm>
              <a:off x="793" y="3125"/>
              <a:ext cx="627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200" b="0" dirty="0">
                  <a:solidFill>
                    <a:srgbClr val="FA7748"/>
                  </a:solidFill>
                  <a:latin typeface="Times New Roman" panose="02020603050405020304" pitchFamily="18" charset="0"/>
                  <a:ea typeface="黑体" panose="02010609060101010101" pitchFamily="2" charset="-122"/>
                </a:rPr>
                <a:t>小结</a:t>
              </a:r>
              <a:endParaRPr lang="zh-CN" altLang="en-US" sz="3200" b="0" dirty="0">
                <a:solidFill>
                  <a:srgbClr val="FA7748"/>
                </a:solidFill>
                <a:latin typeface="Times New Roman" panose="02020603050405020304" pitchFamily="18" charset="0"/>
                <a:ea typeface="黑体" panose="02010609060101010101" pitchFamily="2" charset="-122"/>
              </a:endParaRPr>
            </a:p>
          </p:txBody>
        </p:sp>
      </p:grpSp>
      <p:sp>
        <p:nvSpPr>
          <p:cNvPr id="115734" name="Rectangle 22"/>
          <p:cNvSpPr/>
          <p:nvPr/>
        </p:nvSpPr>
        <p:spPr>
          <a:xfrm>
            <a:off x="2051050" y="1948498"/>
            <a:ext cx="2160588" cy="64643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 =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R C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5735" name="Rectangle 23"/>
          <p:cNvSpPr/>
          <p:nvPr/>
        </p:nvSpPr>
        <p:spPr>
          <a:xfrm>
            <a:off x="4500563" y="1948498"/>
            <a:ext cx="2303462" cy="64643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 lIns="90000" tIns="46800" rIns="90000" bIns="46800" anchor="ctr" anchorCtr="0">
            <a:spAutoFit/>
          </a:bodyPr>
          <a:p>
            <a:pPr algn="ctr" eaLnBrk="1" hangingPunct="1"/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</a:t>
            </a:r>
            <a:r>
              <a:rPr lang="en-US" altLang="zh-CN" sz="36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  = </a:t>
            </a:r>
            <a:r>
              <a:rPr lang="en-US" altLang="zh-CN" sz="3600" b="0" i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L/R</a:t>
            </a:r>
            <a:endParaRPr lang="en-US" altLang="zh-CN" sz="3600" b="0" i="1" dirty="0">
              <a:solidFill>
                <a:schemeClr val="tx1"/>
              </a:solidFill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5736" name="Rectangle 24"/>
          <p:cNvSpPr/>
          <p:nvPr/>
        </p:nvSpPr>
        <p:spPr>
          <a:xfrm>
            <a:off x="684213" y="3175000"/>
            <a:ext cx="755015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R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2" charset="-122"/>
                <a:sym typeface="Symbol" panose="05050102010706020507" pitchFamily="18" charset="2"/>
              </a:rPr>
              <a:t>为与动态元件相连的一端口电路的等效电阻。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5737" name="AutoShape 25"/>
          <p:cNvSpPr/>
          <p:nvPr/>
        </p:nvSpPr>
        <p:spPr>
          <a:xfrm>
            <a:off x="468313" y="1878013"/>
            <a:ext cx="1079500" cy="1008062"/>
          </a:xfrm>
          <a:prstGeom prst="wedgeRoundRectCallout">
            <a:avLst>
              <a:gd name="adj1" fmla="val 108972"/>
              <a:gd name="adj2" fmla="val -5435"/>
              <a:gd name="adj3" fmla="val 16667"/>
            </a:avLst>
          </a:prstGeom>
          <a:solidFill>
            <a:srgbClr val="009999"/>
          </a:solidFill>
          <a:ln w="9525">
            <a:noFill/>
          </a:ln>
        </p:spPr>
        <p:txBody>
          <a:bodyPr/>
          <a:p>
            <a:pPr algn="ctr"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RC</a:t>
            </a:r>
            <a:endParaRPr lang="en-US" altLang="zh-CN" b="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115738" name="AutoShape 26"/>
          <p:cNvSpPr/>
          <p:nvPr/>
        </p:nvSpPr>
        <p:spPr>
          <a:xfrm>
            <a:off x="7451725" y="2022475"/>
            <a:ext cx="1079500" cy="1008063"/>
          </a:xfrm>
          <a:prstGeom prst="wedgeRoundRectCallout">
            <a:avLst>
              <a:gd name="adj1" fmla="val -132500"/>
              <a:gd name="adj2" fmla="val -21023"/>
              <a:gd name="adj3" fmla="val 16667"/>
            </a:avLst>
          </a:prstGeom>
          <a:solidFill>
            <a:srgbClr val="009999"/>
          </a:solidFill>
          <a:ln w="9525">
            <a:noFill/>
          </a:ln>
        </p:spPr>
        <p:txBody>
          <a:bodyPr/>
          <a:p>
            <a:pPr algn="ctr" eaLnBrk="1" hangingPunct="1"/>
            <a:r>
              <a:rPr lang="en-US" altLang="zh-CN" b="0" i="1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RL</a:t>
            </a:r>
            <a:endParaRPr lang="en-US" altLang="zh-CN" b="0" i="1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/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115714" grpId="0"/>
      <p:bldP spid="115716" grpId="0"/>
      <p:bldP spid="115717" grpId="0"/>
      <p:bldP spid="115734" grpId="0" animBg="1"/>
      <p:bldP spid="115735" grpId="0" animBg="1"/>
      <p:bldP spid="115736" grpId="0"/>
      <p:bldP spid="115737" grpId="0" animBg="1"/>
      <p:bldP spid="11573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Box 1"/>
          <p:cNvSpPr txBox="1"/>
          <p:nvPr/>
        </p:nvSpPr>
        <p:spPr>
          <a:xfrm>
            <a:off x="395288" y="795338"/>
            <a:ext cx="8137525" cy="25533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第七章作业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1(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一阶电路零输入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)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：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《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》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第七章习题</a:t>
            </a:r>
            <a:endParaRPr lang="zh-CN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7-4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7-5</a:t>
            </a:r>
            <a:r>
              <a:rPr lang="zh-CN" altLang="en-US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，</a:t>
            </a:r>
            <a:r>
              <a:rPr lang="en-US" altLang="zh-CN" sz="4000" dirty="0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7-6, 7-8</a:t>
            </a:r>
            <a:endParaRPr lang="en-US" altLang="zh-CN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eaLnBrk="1" hangingPunct="1"/>
            <a:endParaRPr lang="en-US" altLang="en-US" sz="4000" dirty="0">
              <a:solidFill>
                <a:schemeClr val="bg1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PP_MARK_KEY" val="f0c92087-6c93-4081-8a25-06c0cd24e841"/>
  <p:tag name="COMMONDATA" val="eyJoZGlkIjoiZWFiZmIxYzk5ZDhiOTgyYWE1MWRkNTk0OTE4MjhmMTYifQ=="/>
  <p:tag name="FULLTEXTBEAUTIFYED" val="1"/>
  <p:tag name="commondata" val="eyJoZGlkIjoiYWY3YTgwYjBkZTEwOWQ3MWQ3N2E0NjBmNzcyNDg0MjM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800" b="1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Arial" panose="020B0604020202020204" pitchFamily="34" charset="0"/>
            <a:ea typeface="楷体_GB2312" pitchFamily="49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2121</Words>
  <Application>WPS 演示</Application>
  <PresentationFormat>全屏显示(4:3)</PresentationFormat>
  <Paragraphs>804</Paragraphs>
  <Slides>38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65</vt:i4>
      </vt:variant>
      <vt:variant>
        <vt:lpstr>幻灯片标题</vt:lpstr>
      </vt:variant>
      <vt:variant>
        <vt:i4>38</vt:i4>
      </vt:variant>
    </vt:vector>
  </HeadingPairs>
  <TitlesOfParts>
    <vt:vector size="117" baseType="lpstr">
      <vt:lpstr>Arial</vt:lpstr>
      <vt:lpstr>宋体</vt:lpstr>
      <vt:lpstr>Wingdings</vt:lpstr>
      <vt:lpstr>楷体_GB2312</vt:lpstr>
      <vt:lpstr>新宋体</vt:lpstr>
      <vt:lpstr>Times New Roman</vt:lpstr>
      <vt:lpstr>黑体</vt:lpstr>
      <vt:lpstr>Symbol</vt:lpstr>
      <vt:lpstr>微软雅黑</vt:lpstr>
      <vt:lpstr>Arial Unicode MS</vt:lpstr>
      <vt:lpstr>Calibri</vt:lpstr>
      <vt:lpstr>仿宋_GB2312</vt:lpstr>
      <vt:lpstr>仿宋</vt:lpstr>
      <vt:lpstr>默认设计模板</vt:lpstr>
      <vt:lpstr>Equation.3</vt:lpstr>
      <vt:lpstr>Equation.3</vt:lpstr>
      <vt:lpstr>Equation.KSEE3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Equation.KSEE3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wzy</dc:creator>
  <cp:lastModifiedBy>xmu</cp:lastModifiedBy>
  <cp:revision>479</cp:revision>
  <dcterms:created xsi:type="dcterms:W3CDTF">2002-08-11T02:46:00Z</dcterms:created>
  <dcterms:modified xsi:type="dcterms:W3CDTF">2025-04-01T03:49:26Z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A4D81B4636B34210B3F0CE0303BDACF0_13</vt:lpwstr>
  </property>
  <property fmtid="{D5CDD505-2E9C-101B-9397-08002B2CF9AE}" pid="3" name="KSOProductBuildVer">
    <vt:lpwstr>2052-12.1.0.16364</vt:lpwstr>
  </property>
</Properties>
</file>